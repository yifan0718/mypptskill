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preferSingleView="0" vertBarState="restored" horzBarState="restored">
    <p:restoredLeft sz="18000"/>
    <p:restoredTop sz="9000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来源：https://github.com/GordenSun/GordenPPTSkill/issues/4；原图：https://github.com/user-attachments/assets/69689f8c-a034-4712-9050-4fcb97aed87f。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:industry"/>
          <p:cNvSpPr txBox="1"/>
          <p:nvPr/>
        </p:nvSpPr>
        <p:spPr>
          <a:xfrm>
            <a:off x="355600" y="228600"/>
            <a:ext cx="11480800" cy="50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2223C"/>
                </a:solidFill>
                <a:latin typeface="Microsoft YaHei"/>
              </a:rPr>
              <a:t>行业落地：金融和政务先行，央国企与能源电信扩面</a:t>
            </a:r>
          </a:p>
        </p:txBody>
      </p:sp>
      <p:sp>
        <p:nvSpPr>
          <p:cNvPr id="3" name="divider:header"/>
          <p:cNvSpPr/>
          <p:nvPr/>
        </p:nvSpPr>
        <p:spPr>
          <a:xfrm>
            <a:off x="355600" y="850900"/>
            <a:ext cx="11480800" cy="12700"/>
          </a:xfrm>
          <a:prstGeom prst="rect">
            <a:avLst/>
          </a:prstGeom>
          <a:solidFill>
            <a:srgbClr val="CED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ration:title-tab"/>
          <p:cNvSpPr/>
          <p:nvPr/>
        </p:nvSpPr>
        <p:spPr>
          <a:xfrm>
            <a:off x="330200" y="812800"/>
            <a:ext cx="520700" cy="63500"/>
          </a:xfrm>
          <a:custGeom>
            <a:avLst/>
            <a:gdLst/>
            <a:ahLst/>
            <a:cxnLst/>
            <a:rect l="l" t="t" r="r" b="b"/>
            <a:pathLst>
              <a:path w="520700" h="63500">
                <a:moveTo>
                  <a:pt x="50800" y="0"/>
                </a:moveTo>
                <a:lnTo>
                  <a:pt x="520700" y="0"/>
                </a:lnTo>
                <a:lnTo>
                  <a:pt x="469900" y="63500"/>
                </a:lnTo>
                <a:lnTo>
                  <a:pt x="0" y="63500"/>
                </a:lnTo>
                <a:close/>
              </a:path>
            </a:pathLst>
          </a:cu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nel:行业热度图（当前落地热度）"/>
          <p:cNvSpPr/>
          <p:nvPr/>
        </p:nvSpPr>
        <p:spPr>
          <a:xfrm>
            <a:off x="355600" y="1016000"/>
            <a:ext cx="3581400" cy="4521200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0160">
            <a:solidFill>
              <a:srgbClr val="E1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nel:section-header"/>
          <p:cNvSpPr/>
          <p:nvPr/>
        </p:nvSpPr>
        <p:spPr>
          <a:xfrm>
            <a:off x="355600" y="1016000"/>
            <a:ext cx="3581400" cy="3810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ction:行业热度图（当前落地热度）"/>
          <p:cNvSpPr txBox="1"/>
          <p:nvPr/>
        </p:nvSpPr>
        <p:spPr>
          <a:xfrm>
            <a:off x="457200" y="1054100"/>
            <a:ext cx="33782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行业热度图（当前落地热度）</a:t>
            </a:r>
          </a:p>
        </p:txBody>
      </p:sp>
      <p:sp>
        <p:nvSpPr>
          <p:cNvPr id="8" name="panel:落地成熟度阶梯"/>
          <p:cNvSpPr/>
          <p:nvPr/>
        </p:nvSpPr>
        <p:spPr>
          <a:xfrm>
            <a:off x="4114800" y="1016000"/>
            <a:ext cx="3810000" cy="4521200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0160">
            <a:solidFill>
              <a:srgbClr val="E1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:section-header"/>
          <p:cNvSpPr/>
          <p:nvPr/>
        </p:nvSpPr>
        <p:spPr>
          <a:xfrm>
            <a:off x="4114800" y="1016000"/>
            <a:ext cx="3810000" cy="3810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ction:落地成熟度阶梯"/>
          <p:cNvSpPr txBox="1"/>
          <p:nvPr/>
        </p:nvSpPr>
        <p:spPr>
          <a:xfrm>
            <a:off x="4216400" y="1054100"/>
            <a:ext cx="36068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落地成熟度阶梯</a:t>
            </a:r>
          </a:p>
        </p:txBody>
      </p:sp>
      <p:sp>
        <p:nvSpPr>
          <p:cNvPr id="11" name="panel:典型落地场景"/>
          <p:cNvSpPr/>
          <p:nvPr/>
        </p:nvSpPr>
        <p:spPr>
          <a:xfrm>
            <a:off x="8102600" y="1016000"/>
            <a:ext cx="3733800" cy="4521200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0160">
            <a:solidFill>
              <a:srgbClr val="E1E8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nel:section-header"/>
          <p:cNvSpPr/>
          <p:nvPr/>
        </p:nvSpPr>
        <p:spPr>
          <a:xfrm>
            <a:off x="8102600" y="1016000"/>
            <a:ext cx="3733800" cy="3810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ction:典型落地场景"/>
          <p:cNvSpPr txBox="1"/>
          <p:nvPr/>
        </p:nvSpPr>
        <p:spPr>
          <a:xfrm>
            <a:off x="8204200" y="1054100"/>
            <a:ext cx="35306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典型落地场景</a:t>
            </a:r>
          </a:p>
        </p:txBody>
      </p:sp>
      <p:sp>
        <p:nvSpPr>
          <p:cNvPr id="14" name="label:industry-column"/>
          <p:cNvSpPr txBox="1"/>
          <p:nvPr/>
        </p:nvSpPr>
        <p:spPr>
          <a:xfrm>
            <a:off x="495300" y="1536700"/>
            <a:ext cx="9906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23C"/>
                </a:solidFill>
                <a:latin typeface="Microsoft YaHei"/>
              </a:rPr>
              <a:t>行业</a:t>
            </a:r>
          </a:p>
        </p:txBody>
      </p:sp>
      <p:sp>
        <p:nvSpPr>
          <p:cNvPr id="15" name="label:heat-column"/>
          <p:cNvSpPr txBox="1"/>
          <p:nvPr/>
        </p:nvSpPr>
        <p:spPr>
          <a:xfrm>
            <a:off x="1549400" y="1536700"/>
            <a:ext cx="2209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23C"/>
                </a:solidFill>
                <a:latin typeface="Microsoft YaHei"/>
              </a:rPr>
              <a:t>落地热度（低 → 高）</a:t>
            </a:r>
          </a:p>
        </p:txBody>
      </p:sp>
      <p:sp>
        <p:nvSpPr>
          <p:cNvPr id="16" name="divider:table-header"/>
          <p:cNvSpPr/>
          <p:nvPr/>
        </p:nvSpPr>
        <p:spPr>
          <a:xfrm>
            <a:off x="482600" y="1841500"/>
            <a:ext cx="3327400" cy="889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" name="icon:government"/>
          <p:cNvGrpSpPr/>
          <p:nvPr/>
        </p:nvGrpSpPr>
        <p:grpSpPr>
          <a:xfrm>
            <a:off x="534987" y="2056209"/>
            <a:ext cx="238125" cy="238124"/>
            <a:chOff x="534987" y="2056209"/>
            <a:chExt cx="238125" cy="238124"/>
          </a:xfrm>
        </p:grpSpPr>
        <p:sp>
          <p:nvSpPr>
            <p:cNvPr id="18" name="icon:part"/>
            <p:cNvSpPr/>
            <p:nvPr/>
          </p:nvSpPr>
          <p:spPr>
            <a:xfrm>
              <a:off x="544909" y="2056209"/>
              <a:ext cx="218281" cy="69453"/>
            </a:xfrm>
            <a:custGeom>
              <a:avLst/>
              <a:gdLst/>
              <a:ahLst/>
              <a:cxnLst/>
              <a:rect l="l" t="t" r="r" b="b"/>
              <a:pathLst>
                <a:path w="218281" h="69453">
                  <a:moveTo>
                    <a:pt x="0" y="69453"/>
                  </a:moveTo>
                  <a:lnTo>
                    <a:pt x="109141" y="0"/>
                  </a:lnTo>
                  <a:lnTo>
                    <a:pt x="218281" y="69453"/>
                  </a:lnTo>
                  <a:close/>
                </a:path>
              </a:pathLst>
            </a:cu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icon:part"/>
            <p:cNvSpPr/>
            <p:nvPr/>
          </p:nvSpPr>
          <p:spPr>
            <a:xfrm>
              <a:off x="544909" y="2135584"/>
              <a:ext cx="218281" cy="19843"/>
            </a:xfrm>
            <a:prstGeom prst="rect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con:part"/>
            <p:cNvSpPr/>
            <p:nvPr/>
          </p:nvSpPr>
          <p:spPr>
            <a:xfrm>
              <a:off x="564753" y="2165350"/>
              <a:ext cx="39687" cy="99218"/>
            </a:xfrm>
            <a:prstGeom prst="rect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con:part"/>
            <p:cNvSpPr/>
            <p:nvPr/>
          </p:nvSpPr>
          <p:spPr>
            <a:xfrm>
              <a:off x="634206" y="2165350"/>
              <a:ext cx="39687" cy="99218"/>
            </a:xfrm>
            <a:prstGeom prst="rect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con:part"/>
            <p:cNvSpPr/>
            <p:nvPr/>
          </p:nvSpPr>
          <p:spPr>
            <a:xfrm>
              <a:off x="703659" y="2165350"/>
              <a:ext cx="39687" cy="99218"/>
            </a:xfrm>
            <a:prstGeom prst="rect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con:part"/>
            <p:cNvSpPr/>
            <p:nvPr/>
          </p:nvSpPr>
          <p:spPr>
            <a:xfrm>
              <a:off x="534987" y="2274490"/>
              <a:ext cx="238125" cy="19843"/>
            </a:xfrm>
            <a:prstGeom prst="rect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con:part"/>
            <p:cNvSpPr/>
            <p:nvPr/>
          </p:nvSpPr>
          <p:spPr>
            <a:xfrm>
              <a:off x="564753" y="2254646"/>
              <a:ext cx="178593" cy="19843"/>
            </a:xfrm>
            <a:prstGeom prst="rect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industry:党政"/>
          <p:cNvSpPr txBox="1"/>
          <p:nvPr/>
        </p:nvSpPr>
        <p:spPr>
          <a:xfrm>
            <a:off x="914400" y="1981200"/>
            <a:ext cx="838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23C"/>
                </a:solidFill>
                <a:latin typeface="Microsoft YaHei"/>
              </a:rPr>
              <a:t>党政</a:t>
            </a:r>
          </a:p>
        </p:txBody>
      </p:sp>
      <p:sp>
        <p:nvSpPr>
          <p:cNvPr id="26" name="heat:党政:1"/>
          <p:cNvSpPr/>
          <p:nvPr/>
        </p:nvSpPr>
        <p:spPr>
          <a:xfrm>
            <a:off x="1778000" y="2070100"/>
            <a:ext cx="144780" cy="215900"/>
          </a:xfrm>
          <a:prstGeom prst="rect">
            <a:avLst/>
          </a:prstGeom>
          <a:solidFill>
            <a:srgbClr val="FB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at:党政:2"/>
          <p:cNvSpPr/>
          <p:nvPr/>
        </p:nvSpPr>
        <p:spPr>
          <a:xfrm>
            <a:off x="1948180" y="2070100"/>
            <a:ext cx="144780" cy="215900"/>
          </a:xfrm>
          <a:prstGeom prst="rect">
            <a:avLst/>
          </a:prstGeom>
          <a:solidFill>
            <a:srgbClr val="FA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at:党政:3"/>
          <p:cNvSpPr/>
          <p:nvPr/>
        </p:nvSpPr>
        <p:spPr>
          <a:xfrm>
            <a:off x="2118360" y="2070100"/>
            <a:ext cx="144780" cy="215900"/>
          </a:xfrm>
          <a:prstGeom prst="rect">
            <a:avLst/>
          </a:prstGeom>
          <a:solidFill>
            <a:srgbClr val="F9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at:党政:4"/>
          <p:cNvSpPr/>
          <p:nvPr/>
        </p:nvSpPr>
        <p:spPr>
          <a:xfrm>
            <a:off x="2288540" y="2070100"/>
            <a:ext cx="144780" cy="215900"/>
          </a:xfrm>
          <a:prstGeom prst="rect">
            <a:avLst/>
          </a:prstGeom>
          <a:solidFill>
            <a:srgbClr val="EF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at:党政:5"/>
          <p:cNvSpPr/>
          <p:nvPr/>
        </p:nvSpPr>
        <p:spPr>
          <a:xfrm>
            <a:off x="2458720" y="2070100"/>
            <a:ext cx="144780" cy="215900"/>
          </a:xfrm>
          <a:prstGeom prst="rect">
            <a:avLst/>
          </a:prstGeom>
          <a:solidFill>
            <a:srgbClr val="E7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t:党政:6"/>
          <p:cNvSpPr/>
          <p:nvPr/>
        </p:nvSpPr>
        <p:spPr>
          <a:xfrm>
            <a:off x="2628900" y="2070100"/>
            <a:ext cx="144780" cy="215900"/>
          </a:xfrm>
          <a:prstGeom prst="rect">
            <a:avLst/>
          </a:prstGeom>
          <a:solidFill>
            <a:srgbClr val="D9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eat:党政:7"/>
          <p:cNvSpPr/>
          <p:nvPr/>
        </p:nvSpPr>
        <p:spPr>
          <a:xfrm>
            <a:off x="2799080" y="2070100"/>
            <a:ext cx="144780" cy="215900"/>
          </a:xfrm>
          <a:prstGeom prst="rect">
            <a:avLst/>
          </a:prstGeom>
          <a:solidFill>
            <a:srgbClr val="D50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r:党政:1"/>
          <p:cNvSpPr/>
          <p:nvPr/>
        </p:nvSpPr>
        <p:spPr>
          <a:xfrm>
            <a:off x="3048000" y="21082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ar:党政:2"/>
          <p:cNvSpPr/>
          <p:nvPr/>
        </p:nvSpPr>
        <p:spPr>
          <a:xfrm>
            <a:off x="3195320" y="21082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r:党政:3"/>
          <p:cNvSpPr/>
          <p:nvPr/>
        </p:nvSpPr>
        <p:spPr>
          <a:xfrm>
            <a:off x="3342640" y="21082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r:党政:4"/>
          <p:cNvSpPr/>
          <p:nvPr/>
        </p:nvSpPr>
        <p:spPr>
          <a:xfrm>
            <a:off x="3489960" y="21082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ar:党政:5"/>
          <p:cNvSpPr/>
          <p:nvPr/>
        </p:nvSpPr>
        <p:spPr>
          <a:xfrm>
            <a:off x="3637279" y="21082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ivider:industry-row"/>
          <p:cNvSpPr/>
          <p:nvPr/>
        </p:nvSpPr>
        <p:spPr>
          <a:xfrm>
            <a:off x="482600" y="2438400"/>
            <a:ext cx="3327400" cy="762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9" name="icon:finance"/>
          <p:cNvGrpSpPr/>
          <p:nvPr/>
        </p:nvGrpSpPr>
        <p:grpSpPr>
          <a:xfrm>
            <a:off x="495300" y="2552700"/>
            <a:ext cx="317500" cy="317500"/>
            <a:chOff x="495300" y="2552700"/>
            <a:chExt cx="317500" cy="317500"/>
          </a:xfrm>
        </p:grpSpPr>
        <p:sp>
          <p:nvSpPr>
            <p:cNvPr id="40" name="icon:disc"/>
            <p:cNvSpPr/>
            <p:nvPr/>
          </p:nvSpPr>
          <p:spPr>
            <a:xfrm>
              <a:off x="495300" y="2552700"/>
              <a:ext cx="317500" cy="317500"/>
            </a:xfrm>
            <a:prstGeom prst="ellipse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con:currency"/>
            <p:cNvSpPr txBox="1"/>
            <p:nvPr/>
          </p:nvSpPr>
          <p:spPr>
            <a:xfrm>
              <a:off x="534987" y="2572543"/>
              <a:ext cx="238125" cy="2778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25" b="1">
                  <a:solidFill>
                    <a:srgbClr val="FFFFFF"/>
                  </a:solidFill>
                  <a:latin typeface="Microsoft YaHei"/>
                </a:rPr>
                <a:t>¥</a:t>
              </a:r>
            </a:p>
          </p:txBody>
        </p:sp>
      </p:grpSp>
      <p:sp>
        <p:nvSpPr>
          <p:cNvPr id="42" name="industry:金融"/>
          <p:cNvSpPr txBox="1"/>
          <p:nvPr/>
        </p:nvSpPr>
        <p:spPr>
          <a:xfrm>
            <a:off x="914400" y="2527300"/>
            <a:ext cx="838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23C"/>
                </a:solidFill>
                <a:latin typeface="Microsoft YaHei"/>
              </a:rPr>
              <a:t>金融</a:t>
            </a:r>
          </a:p>
        </p:txBody>
      </p:sp>
      <p:sp>
        <p:nvSpPr>
          <p:cNvPr id="43" name="heat:金融:1"/>
          <p:cNvSpPr/>
          <p:nvPr/>
        </p:nvSpPr>
        <p:spPr>
          <a:xfrm>
            <a:off x="1778000" y="2616200"/>
            <a:ext cx="144780" cy="215900"/>
          </a:xfrm>
          <a:prstGeom prst="rect">
            <a:avLst/>
          </a:prstGeom>
          <a:solidFill>
            <a:srgbClr val="FB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at:金融:2"/>
          <p:cNvSpPr/>
          <p:nvPr/>
        </p:nvSpPr>
        <p:spPr>
          <a:xfrm>
            <a:off x="1948180" y="2616200"/>
            <a:ext cx="144780" cy="215900"/>
          </a:xfrm>
          <a:prstGeom prst="rect">
            <a:avLst/>
          </a:prstGeom>
          <a:solidFill>
            <a:srgbClr val="FA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heat:金融:3"/>
          <p:cNvSpPr/>
          <p:nvPr/>
        </p:nvSpPr>
        <p:spPr>
          <a:xfrm>
            <a:off x="2118360" y="2616200"/>
            <a:ext cx="144780" cy="215900"/>
          </a:xfrm>
          <a:prstGeom prst="rect">
            <a:avLst/>
          </a:prstGeom>
          <a:solidFill>
            <a:srgbClr val="F9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at:金融:4"/>
          <p:cNvSpPr/>
          <p:nvPr/>
        </p:nvSpPr>
        <p:spPr>
          <a:xfrm>
            <a:off x="2288540" y="2616200"/>
            <a:ext cx="144780" cy="215900"/>
          </a:xfrm>
          <a:prstGeom prst="rect">
            <a:avLst/>
          </a:prstGeom>
          <a:solidFill>
            <a:srgbClr val="EF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heat:金融:5"/>
          <p:cNvSpPr/>
          <p:nvPr/>
        </p:nvSpPr>
        <p:spPr>
          <a:xfrm>
            <a:off x="2458720" y="2616200"/>
            <a:ext cx="144780" cy="215900"/>
          </a:xfrm>
          <a:prstGeom prst="rect">
            <a:avLst/>
          </a:prstGeom>
          <a:solidFill>
            <a:srgbClr val="E7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at:金融:6"/>
          <p:cNvSpPr/>
          <p:nvPr/>
        </p:nvSpPr>
        <p:spPr>
          <a:xfrm>
            <a:off x="2628900" y="2616200"/>
            <a:ext cx="144780" cy="215900"/>
          </a:xfrm>
          <a:prstGeom prst="rect">
            <a:avLst/>
          </a:prstGeom>
          <a:solidFill>
            <a:srgbClr val="D9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heat:金融:7"/>
          <p:cNvSpPr/>
          <p:nvPr/>
        </p:nvSpPr>
        <p:spPr>
          <a:xfrm>
            <a:off x="2799080" y="2616200"/>
            <a:ext cx="144780" cy="215900"/>
          </a:xfrm>
          <a:prstGeom prst="rect">
            <a:avLst/>
          </a:prstGeom>
          <a:solidFill>
            <a:srgbClr val="D50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r:金融:1"/>
          <p:cNvSpPr/>
          <p:nvPr/>
        </p:nvSpPr>
        <p:spPr>
          <a:xfrm>
            <a:off x="3048000" y="26543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tar:金融:2"/>
          <p:cNvSpPr/>
          <p:nvPr/>
        </p:nvSpPr>
        <p:spPr>
          <a:xfrm>
            <a:off x="3195320" y="26543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tar:金融:3"/>
          <p:cNvSpPr/>
          <p:nvPr/>
        </p:nvSpPr>
        <p:spPr>
          <a:xfrm>
            <a:off x="3342640" y="26543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tar:金融:4"/>
          <p:cNvSpPr/>
          <p:nvPr/>
        </p:nvSpPr>
        <p:spPr>
          <a:xfrm>
            <a:off x="3489960" y="26543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tar:金融:5"/>
          <p:cNvSpPr/>
          <p:nvPr/>
        </p:nvSpPr>
        <p:spPr>
          <a:xfrm>
            <a:off x="3637279" y="2654300"/>
            <a:ext cx="127000" cy="127000"/>
          </a:xfrm>
          <a:prstGeom prst="star5">
            <a:avLst/>
          </a:prstGeom>
          <a:solidFill>
            <a:srgbClr val="DC2635"/>
          </a:solidFill>
          <a:ln w="7620">
            <a:solidFill>
              <a:srgbClr val="DC2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ivider:industry-row"/>
          <p:cNvSpPr/>
          <p:nvPr/>
        </p:nvSpPr>
        <p:spPr>
          <a:xfrm>
            <a:off x="482600" y="2984500"/>
            <a:ext cx="3327400" cy="762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6" name="icon:telecom"/>
          <p:cNvGrpSpPr/>
          <p:nvPr/>
        </p:nvGrpSpPr>
        <p:grpSpPr>
          <a:xfrm>
            <a:off x="527617" y="3145461"/>
            <a:ext cx="252865" cy="233773"/>
            <a:chOff x="527617" y="3145461"/>
            <a:chExt cx="252865" cy="233773"/>
          </a:xfrm>
        </p:grpSpPr>
        <p:sp>
          <p:nvSpPr>
            <p:cNvPr id="57" name="icon:stroke"/>
            <p:cNvSpPr/>
            <p:nvPr/>
          </p:nvSpPr>
          <p:spPr>
            <a:xfrm>
              <a:off x="577104" y="3175552"/>
              <a:ext cx="84437" cy="203682"/>
            </a:xfrm>
            <a:custGeom>
              <a:avLst/>
              <a:gdLst/>
              <a:ahLst/>
              <a:cxnLst/>
              <a:rect l="l" t="t" r="r" b="b"/>
              <a:pathLst>
                <a:path w="84437" h="203682">
                  <a:moveTo>
                    <a:pt x="14984" y="203682"/>
                  </a:moveTo>
                  <a:lnTo>
                    <a:pt x="84437" y="5245"/>
                  </a:lnTo>
                  <a:lnTo>
                    <a:pt x="69454" y="0"/>
                  </a:lnTo>
                  <a:lnTo>
                    <a:pt x="0" y="198438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con:stroke"/>
            <p:cNvSpPr/>
            <p:nvPr/>
          </p:nvSpPr>
          <p:spPr>
            <a:xfrm>
              <a:off x="646558" y="3175552"/>
              <a:ext cx="84437" cy="203682"/>
            </a:xfrm>
            <a:custGeom>
              <a:avLst/>
              <a:gdLst/>
              <a:ahLst/>
              <a:cxnLst/>
              <a:rect l="l" t="t" r="r" b="b"/>
              <a:pathLst>
                <a:path w="84437" h="203682">
                  <a:moveTo>
                    <a:pt x="0" y="5245"/>
                  </a:moveTo>
                  <a:lnTo>
                    <a:pt x="69453" y="203682"/>
                  </a:lnTo>
                  <a:lnTo>
                    <a:pt x="84437" y="198438"/>
                  </a:lnTo>
                  <a:lnTo>
                    <a:pt x="14983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con:stroke"/>
            <p:cNvSpPr/>
            <p:nvPr/>
          </p:nvSpPr>
          <p:spPr>
            <a:xfrm>
              <a:off x="594518" y="3328987"/>
              <a:ext cx="109141" cy="15875"/>
            </a:xfrm>
            <a:custGeom>
              <a:avLst/>
              <a:gdLst/>
              <a:ahLst/>
              <a:cxnLst/>
              <a:rect l="l" t="t" r="r" b="b"/>
              <a:pathLst>
                <a:path w="109141" h="15875">
                  <a:moveTo>
                    <a:pt x="0" y="15875"/>
                  </a:moveTo>
                  <a:lnTo>
                    <a:pt x="109141" y="15875"/>
                  </a:lnTo>
                  <a:lnTo>
                    <a:pt x="1091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con:stroke"/>
            <p:cNvSpPr/>
            <p:nvPr/>
          </p:nvSpPr>
          <p:spPr>
            <a:xfrm>
              <a:off x="619670" y="3251090"/>
              <a:ext cx="78681" cy="62528"/>
            </a:xfrm>
            <a:custGeom>
              <a:avLst/>
              <a:gdLst/>
              <a:ahLst/>
              <a:cxnLst/>
              <a:rect l="l" t="t" r="r" b="b"/>
              <a:pathLst>
                <a:path w="78681" h="62528">
                  <a:moveTo>
                    <a:pt x="0" y="12919"/>
                  </a:moveTo>
                  <a:lnTo>
                    <a:pt x="69453" y="62528"/>
                  </a:lnTo>
                  <a:lnTo>
                    <a:pt x="78681" y="49610"/>
                  </a:lnTo>
                  <a:lnTo>
                    <a:pt x="9227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con:stroke"/>
            <p:cNvSpPr/>
            <p:nvPr/>
          </p:nvSpPr>
          <p:spPr>
            <a:xfrm>
              <a:off x="609748" y="3251090"/>
              <a:ext cx="78681" cy="62528"/>
            </a:xfrm>
            <a:custGeom>
              <a:avLst/>
              <a:gdLst/>
              <a:ahLst/>
              <a:cxnLst/>
              <a:rect l="l" t="t" r="r" b="b"/>
              <a:pathLst>
                <a:path w="78681" h="62528">
                  <a:moveTo>
                    <a:pt x="9228" y="62528"/>
                  </a:moveTo>
                  <a:lnTo>
                    <a:pt x="78681" y="12919"/>
                  </a:lnTo>
                  <a:lnTo>
                    <a:pt x="69454" y="0"/>
                  </a:lnTo>
                  <a:lnTo>
                    <a:pt x="0" y="4961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con:antenna"/>
            <p:cNvSpPr/>
            <p:nvPr/>
          </p:nvSpPr>
          <p:spPr>
            <a:xfrm>
              <a:off x="634206" y="3148409"/>
              <a:ext cx="39687" cy="39687"/>
            </a:xfrm>
            <a:prstGeom prst="ellipse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con:stroke"/>
            <p:cNvSpPr/>
            <p:nvPr/>
          </p:nvSpPr>
          <p:spPr>
            <a:xfrm>
              <a:off x="527617" y="3145461"/>
              <a:ext cx="34584" cy="55505"/>
            </a:xfrm>
            <a:custGeom>
              <a:avLst/>
              <a:gdLst/>
              <a:ahLst/>
              <a:cxnLst/>
              <a:rect l="l" t="t" r="r" b="b"/>
              <a:pathLst>
                <a:path w="34584" h="55505">
                  <a:moveTo>
                    <a:pt x="19844" y="0"/>
                  </a:moveTo>
                  <a:lnTo>
                    <a:pt x="0" y="49609"/>
                  </a:lnTo>
                  <a:lnTo>
                    <a:pt x="14740" y="55505"/>
                  </a:lnTo>
                  <a:lnTo>
                    <a:pt x="34584" y="5896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con:stroke"/>
            <p:cNvSpPr/>
            <p:nvPr/>
          </p:nvSpPr>
          <p:spPr>
            <a:xfrm>
              <a:off x="527617" y="3195070"/>
              <a:ext cx="34584" cy="55506"/>
            </a:xfrm>
            <a:custGeom>
              <a:avLst/>
              <a:gdLst/>
              <a:ahLst/>
              <a:cxnLst/>
              <a:rect l="l" t="t" r="r" b="b"/>
              <a:pathLst>
                <a:path w="34584" h="55506">
                  <a:moveTo>
                    <a:pt x="0" y="5896"/>
                  </a:moveTo>
                  <a:lnTo>
                    <a:pt x="19844" y="55506"/>
                  </a:lnTo>
                  <a:lnTo>
                    <a:pt x="34584" y="49610"/>
                  </a:lnTo>
                  <a:lnTo>
                    <a:pt x="14740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con:stroke"/>
            <p:cNvSpPr/>
            <p:nvPr/>
          </p:nvSpPr>
          <p:spPr>
            <a:xfrm>
              <a:off x="745898" y="3145461"/>
              <a:ext cx="34584" cy="55505"/>
            </a:xfrm>
            <a:custGeom>
              <a:avLst/>
              <a:gdLst/>
              <a:ahLst/>
              <a:cxnLst/>
              <a:rect l="l" t="t" r="r" b="b"/>
              <a:pathLst>
                <a:path w="34584" h="55505">
                  <a:moveTo>
                    <a:pt x="0" y="5896"/>
                  </a:moveTo>
                  <a:lnTo>
                    <a:pt x="19844" y="55505"/>
                  </a:lnTo>
                  <a:lnTo>
                    <a:pt x="34584" y="49609"/>
                  </a:lnTo>
                  <a:lnTo>
                    <a:pt x="14740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con:stroke"/>
            <p:cNvSpPr/>
            <p:nvPr/>
          </p:nvSpPr>
          <p:spPr>
            <a:xfrm>
              <a:off x="745898" y="3195070"/>
              <a:ext cx="34584" cy="55506"/>
            </a:xfrm>
            <a:custGeom>
              <a:avLst/>
              <a:gdLst/>
              <a:ahLst/>
              <a:cxnLst/>
              <a:rect l="l" t="t" r="r" b="b"/>
              <a:pathLst>
                <a:path w="34584" h="55506">
                  <a:moveTo>
                    <a:pt x="19844" y="0"/>
                  </a:moveTo>
                  <a:lnTo>
                    <a:pt x="0" y="49610"/>
                  </a:lnTo>
                  <a:lnTo>
                    <a:pt x="14740" y="55506"/>
                  </a:lnTo>
                  <a:lnTo>
                    <a:pt x="34584" y="5896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icon:stroke"/>
            <p:cNvSpPr/>
            <p:nvPr/>
          </p:nvSpPr>
          <p:spPr>
            <a:xfrm>
              <a:off x="567305" y="3145461"/>
              <a:ext cx="34583" cy="55505"/>
            </a:xfrm>
            <a:custGeom>
              <a:avLst/>
              <a:gdLst/>
              <a:ahLst/>
              <a:cxnLst/>
              <a:rect l="l" t="t" r="r" b="b"/>
              <a:pathLst>
                <a:path w="34583" h="55505">
                  <a:moveTo>
                    <a:pt x="19843" y="0"/>
                  </a:moveTo>
                  <a:lnTo>
                    <a:pt x="0" y="49609"/>
                  </a:lnTo>
                  <a:lnTo>
                    <a:pt x="14739" y="55505"/>
                  </a:lnTo>
                  <a:lnTo>
                    <a:pt x="34583" y="5896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con:stroke"/>
            <p:cNvSpPr/>
            <p:nvPr/>
          </p:nvSpPr>
          <p:spPr>
            <a:xfrm>
              <a:off x="567305" y="3195070"/>
              <a:ext cx="34583" cy="55506"/>
            </a:xfrm>
            <a:custGeom>
              <a:avLst/>
              <a:gdLst/>
              <a:ahLst/>
              <a:cxnLst/>
              <a:rect l="l" t="t" r="r" b="b"/>
              <a:pathLst>
                <a:path w="34583" h="55506">
                  <a:moveTo>
                    <a:pt x="0" y="5896"/>
                  </a:moveTo>
                  <a:lnTo>
                    <a:pt x="19843" y="55506"/>
                  </a:lnTo>
                  <a:lnTo>
                    <a:pt x="34583" y="49610"/>
                  </a:lnTo>
                  <a:lnTo>
                    <a:pt x="14739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con:stroke"/>
            <p:cNvSpPr/>
            <p:nvPr/>
          </p:nvSpPr>
          <p:spPr>
            <a:xfrm>
              <a:off x="706211" y="3145461"/>
              <a:ext cx="34583" cy="55505"/>
            </a:xfrm>
            <a:custGeom>
              <a:avLst/>
              <a:gdLst/>
              <a:ahLst/>
              <a:cxnLst/>
              <a:rect l="l" t="t" r="r" b="b"/>
              <a:pathLst>
                <a:path w="34583" h="55505">
                  <a:moveTo>
                    <a:pt x="0" y="5896"/>
                  </a:moveTo>
                  <a:lnTo>
                    <a:pt x="19844" y="55505"/>
                  </a:lnTo>
                  <a:lnTo>
                    <a:pt x="34583" y="49609"/>
                  </a:lnTo>
                  <a:lnTo>
                    <a:pt x="14740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icon:stroke"/>
            <p:cNvSpPr/>
            <p:nvPr/>
          </p:nvSpPr>
          <p:spPr>
            <a:xfrm>
              <a:off x="706211" y="3195070"/>
              <a:ext cx="34583" cy="55506"/>
            </a:xfrm>
            <a:custGeom>
              <a:avLst/>
              <a:gdLst/>
              <a:ahLst/>
              <a:cxnLst/>
              <a:rect l="l" t="t" r="r" b="b"/>
              <a:pathLst>
                <a:path w="34583" h="55506">
                  <a:moveTo>
                    <a:pt x="19844" y="0"/>
                  </a:moveTo>
                  <a:lnTo>
                    <a:pt x="0" y="49610"/>
                  </a:lnTo>
                  <a:lnTo>
                    <a:pt x="14740" y="55506"/>
                  </a:lnTo>
                  <a:lnTo>
                    <a:pt x="34583" y="5896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1" name="industry:电信"/>
          <p:cNvSpPr txBox="1"/>
          <p:nvPr/>
        </p:nvSpPr>
        <p:spPr>
          <a:xfrm>
            <a:off x="914400" y="3073400"/>
            <a:ext cx="838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23C"/>
                </a:solidFill>
                <a:latin typeface="Microsoft YaHei"/>
              </a:rPr>
              <a:t>电信</a:t>
            </a:r>
          </a:p>
        </p:txBody>
      </p:sp>
      <p:sp>
        <p:nvSpPr>
          <p:cNvPr id="72" name="heat:电信:1"/>
          <p:cNvSpPr/>
          <p:nvPr/>
        </p:nvSpPr>
        <p:spPr>
          <a:xfrm>
            <a:off x="1778000" y="3162300"/>
            <a:ext cx="144780" cy="215900"/>
          </a:xfrm>
          <a:prstGeom prst="rect">
            <a:avLst/>
          </a:prstGeom>
          <a:solidFill>
            <a:srgbClr val="FB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heat:电信:2"/>
          <p:cNvSpPr/>
          <p:nvPr/>
        </p:nvSpPr>
        <p:spPr>
          <a:xfrm>
            <a:off x="1948180" y="3162300"/>
            <a:ext cx="144780" cy="215900"/>
          </a:xfrm>
          <a:prstGeom prst="rect">
            <a:avLst/>
          </a:prstGeom>
          <a:solidFill>
            <a:srgbClr val="FA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heat:电信:3"/>
          <p:cNvSpPr/>
          <p:nvPr/>
        </p:nvSpPr>
        <p:spPr>
          <a:xfrm>
            <a:off x="2118360" y="3162300"/>
            <a:ext cx="144780" cy="215900"/>
          </a:xfrm>
          <a:prstGeom prst="rect">
            <a:avLst/>
          </a:prstGeom>
          <a:solidFill>
            <a:srgbClr val="F9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heat:电信:4"/>
          <p:cNvSpPr/>
          <p:nvPr/>
        </p:nvSpPr>
        <p:spPr>
          <a:xfrm>
            <a:off x="2288540" y="3162300"/>
            <a:ext cx="144780" cy="215900"/>
          </a:xfrm>
          <a:prstGeom prst="rect">
            <a:avLst/>
          </a:prstGeom>
          <a:solidFill>
            <a:srgbClr val="EF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eat:电信:5"/>
          <p:cNvSpPr/>
          <p:nvPr/>
        </p:nvSpPr>
        <p:spPr>
          <a:xfrm>
            <a:off x="2458720" y="3162300"/>
            <a:ext cx="144780" cy="215900"/>
          </a:xfrm>
          <a:prstGeom prst="rect">
            <a:avLst/>
          </a:prstGeom>
          <a:solidFill>
            <a:srgbClr val="E72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heat:电信:6"/>
          <p:cNvSpPr/>
          <p:nvPr/>
        </p:nvSpPr>
        <p:spPr>
          <a:xfrm>
            <a:off x="2628900" y="3162300"/>
            <a:ext cx="144780" cy="215900"/>
          </a:xfrm>
          <a:prstGeom prst="rect">
            <a:avLst/>
          </a:prstGeom>
          <a:solidFill>
            <a:srgbClr val="F05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heat:电信:7"/>
          <p:cNvSpPr/>
          <p:nvPr/>
        </p:nvSpPr>
        <p:spPr>
          <a:xfrm>
            <a:off x="2799080" y="3162300"/>
            <a:ext cx="144780" cy="215900"/>
          </a:xfrm>
          <a:prstGeom prst="rect">
            <a:avLst/>
          </a:prstGeom>
          <a:solidFill>
            <a:srgbClr val="F5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tar:电信:1"/>
          <p:cNvSpPr/>
          <p:nvPr/>
        </p:nvSpPr>
        <p:spPr>
          <a:xfrm>
            <a:off x="3048000" y="32004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tar:电信:2"/>
          <p:cNvSpPr/>
          <p:nvPr/>
        </p:nvSpPr>
        <p:spPr>
          <a:xfrm>
            <a:off x="3195320" y="32004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tar:电信:3"/>
          <p:cNvSpPr/>
          <p:nvPr/>
        </p:nvSpPr>
        <p:spPr>
          <a:xfrm>
            <a:off x="3342640" y="32004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tar:电信:4"/>
          <p:cNvSpPr/>
          <p:nvPr/>
        </p:nvSpPr>
        <p:spPr>
          <a:xfrm>
            <a:off x="3489960" y="32004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tar:电信:5"/>
          <p:cNvSpPr/>
          <p:nvPr/>
        </p:nvSpPr>
        <p:spPr>
          <a:xfrm>
            <a:off x="3637279" y="3200400"/>
            <a:ext cx="127000" cy="127000"/>
          </a:xfrm>
          <a:prstGeom prst="star5">
            <a:avLst/>
          </a:prstGeom>
          <a:solidFill>
            <a:srgbClr val="FFFFFF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divider:industry-row"/>
          <p:cNvSpPr/>
          <p:nvPr/>
        </p:nvSpPr>
        <p:spPr>
          <a:xfrm>
            <a:off x="482600" y="3530600"/>
            <a:ext cx="3327400" cy="762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5" name="icon:energy"/>
          <p:cNvGrpSpPr/>
          <p:nvPr/>
        </p:nvGrpSpPr>
        <p:grpSpPr>
          <a:xfrm>
            <a:off x="574675" y="3684587"/>
            <a:ext cx="168671" cy="248047"/>
            <a:chOff x="574675" y="3684587"/>
            <a:chExt cx="168671" cy="248047"/>
          </a:xfrm>
        </p:grpSpPr>
        <p:sp>
          <p:nvSpPr>
            <p:cNvPr id="86" name="icon:part"/>
            <p:cNvSpPr/>
            <p:nvPr/>
          </p:nvSpPr>
          <p:spPr>
            <a:xfrm>
              <a:off x="574675" y="3684587"/>
              <a:ext cx="168671" cy="248047"/>
            </a:xfrm>
            <a:custGeom>
              <a:avLst/>
              <a:gdLst/>
              <a:ahLst/>
              <a:cxnLst/>
              <a:rect l="l" t="t" r="r" b="b"/>
              <a:pathLst>
                <a:path w="168671" h="248047">
                  <a:moveTo>
                    <a:pt x="79375" y="0"/>
                  </a:moveTo>
                  <a:lnTo>
                    <a:pt x="0" y="138906"/>
                  </a:lnTo>
                  <a:lnTo>
                    <a:pt x="69453" y="138906"/>
                  </a:lnTo>
                  <a:lnTo>
                    <a:pt x="39687" y="248047"/>
                  </a:lnTo>
                  <a:lnTo>
                    <a:pt x="168671" y="79375"/>
                  </a:lnTo>
                  <a:lnTo>
                    <a:pt x="99218" y="79375"/>
                  </a:lnTo>
                  <a:lnTo>
                    <a:pt x="138906" y="0"/>
                  </a:lnTo>
                  <a:close/>
                </a:path>
              </a:pathLst>
            </a:custGeom>
            <a:solidFill>
              <a:srgbClr val="EE92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7" name="industry:能源"/>
          <p:cNvSpPr txBox="1"/>
          <p:nvPr/>
        </p:nvSpPr>
        <p:spPr>
          <a:xfrm>
            <a:off x="914400" y="3619500"/>
            <a:ext cx="838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23C"/>
                </a:solidFill>
                <a:latin typeface="Microsoft YaHei"/>
              </a:rPr>
              <a:t>能源</a:t>
            </a:r>
          </a:p>
        </p:txBody>
      </p:sp>
      <p:sp>
        <p:nvSpPr>
          <p:cNvPr id="88" name="heat:能源:1"/>
          <p:cNvSpPr/>
          <p:nvPr/>
        </p:nvSpPr>
        <p:spPr>
          <a:xfrm>
            <a:off x="1778000" y="3708400"/>
            <a:ext cx="144780" cy="215900"/>
          </a:xfrm>
          <a:prstGeom prst="rect">
            <a:avLst/>
          </a:prstGeom>
          <a:solidFill>
            <a:srgbClr val="FC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heat:能源:2"/>
          <p:cNvSpPr/>
          <p:nvPr/>
        </p:nvSpPr>
        <p:spPr>
          <a:xfrm>
            <a:off x="1948180" y="3708400"/>
            <a:ext cx="144780" cy="215900"/>
          </a:xfrm>
          <a:prstGeom prst="rect">
            <a:avLst/>
          </a:prstGeom>
          <a:solidFill>
            <a:srgbClr val="FBA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heat:能源:3"/>
          <p:cNvSpPr/>
          <p:nvPr/>
        </p:nvSpPr>
        <p:spPr>
          <a:xfrm>
            <a:off x="2118360" y="3708400"/>
            <a:ext cx="144780" cy="215900"/>
          </a:xfrm>
          <a:prstGeom prst="rect">
            <a:avLst/>
          </a:prstGeom>
          <a:solidFill>
            <a:srgbClr val="FB8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eat:能源:4"/>
          <p:cNvSpPr/>
          <p:nvPr/>
        </p:nvSpPr>
        <p:spPr>
          <a:xfrm>
            <a:off x="2288540" y="3708400"/>
            <a:ext cx="144780" cy="215900"/>
          </a:xfrm>
          <a:prstGeom prst="rect">
            <a:avLst/>
          </a:prstGeom>
          <a:solidFill>
            <a:srgbClr val="F57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heat:能源:5"/>
          <p:cNvSpPr/>
          <p:nvPr/>
        </p:nvSpPr>
        <p:spPr>
          <a:xfrm>
            <a:off x="2458720" y="3708400"/>
            <a:ext cx="144780" cy="215900"/>
          </a:xfrm>
          <a:prstGeom prst="rect">
            <a:avLst/>
          </a:prstGeom>
          <a:solidFill>
            <a:srgbClr val="F88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heat:能源:6"/>
          <p:cNvSpPr/>
          <p:nvPr/>
        </p:nvSpPr>
        <p:spPr>
          <a:xfrm>
            <a:off x="2628900" y="3708400"/>
            <a:ext cx="144780" cy="215900"/>
          </a:xfrm>
          <a:prstGeom prst="rect">
            <a:avLst/>
          </a:prstGeom>
          <a:solidFill>
            <a:srgbClr val="FFA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heat:能源:7"/>
          <p:cNvSpPr/>
          <p:nvPr/>
        </p:nvSpPr>
        <p:spPr>
          <a:xfrm>
            <a:off x="2799080" y="3708400"/>
            <a:ext cx="144780" cy="215900"/>
          </a:xfrm>
          <a:prstGeom prst="rect">
            <a:avLst/>
          </a:prstGeom>
          <a:solidFill>
            <a:srgbClr val="FFC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tar:能源:1"/>
          <p:cNvSpPr/>
          <p:nvPr/>
        </p:nvSpPr>
        <p:spPr>
          <a:xfrm>
            <a:off x="3048000" y="37465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tar:能源:2"/>
          <p:cNvSpPr/>
          <p:nvPr/>
        </p:nvSpPr>
        <p:spPr>
          <a:xfrm>
            <a:off x="3195320" y="37465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tar:能源:3"/>
          <p:cNvSpPr/>
          <p:nvPr/>
        </p:nvSpPr>
        <p:spPr>
          <a:xfrm>
            <a:off x="3342640" y="37465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ar:能源:4"/>
          <p:cNvSpPr/>
          <p:nvPr/>
        </p:nvSpPr>
        <p:spPr>
          <a:xfrm>
            <a:off x="3489960" y="37465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tar:能源:5"/>
          <p:cNvSpPr/>
          <p:nvPr/>
        </p:nvSpPr>
        <p:spPr>
          <a:xfrm>
            <a:off x="3637279" y="3746500"/>
            <a:ext cx="127000" cy="127000"/>
          </a:xfrm>
          <a:prstGeom prst="star5">
            <a:avLst/>
          </a:prstGeom>
          <a:solidFill>
            <a:srgbClr val="FFFFFF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ivider:industry-row"/>
          <p:cNvSpPr/>
          <p:nvPr/>
        </p:nvSpPr>
        <p:spPr>
          <a:xfrm>
            <a:off x="482600" y="4076700"/>
            <a:ext cx="3327400" cy="762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1" name="icon:transport"/>
          <p:cNvGrpSpPr/>
          <p:nvPr/>
        </p:nvGrpSpPr>
        <p:grpSpPr>
          <a:xfrm>
            <a:off x="538711" y="4240609"/>
            <a:ext cx="274088" cy="257969"/>
            <a:chOff x="538711" y="4240609"/>
            <a:chExt cx="274088" cy="257969"/>
          </a:xfrm>
        </p:grpSpPr>
        <p:sp>
          <p:nvSpPr>
            <p:cNvPr id="102" name="icon:train"/>
            <p:cNvSpPr/>
            <p:nvPr/>
          </p:nvSpPr>
          <p:spPr>
            <a:xfrm>
              <a:off x="544909" y="4240609"/>
              <a:ext cx="188515" cy="188515"/>
            </a:xfrm>
            <a:prstGeom prst="roundRect">
              <a:avLst>
                <a:gd name="adj" fmla="val 4000"/>
              </a:avLst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icon:window"/>
            <p:cNvSpPr/>
            <p:nvPr/>
          </p:nvSpPr>
          <p:spPr>
            <a:xfrm>
              <a:off x="564753" y="4270375"/>
              <a:ext cx="148828" cy="79375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icon:part"/>
            <p:cNvSpPr/>
            <p:nvPr/>
          </p:nvSpPr>
          <p:spPr>
            <a:xfrm>
              <a:off x="554831" y="4448968"/>
              <a:ext cx="178593" cy="19843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icon:stroke"/>
            <p:cNvSpPr/>
            <p:nvPr/>
          </p:nvSpPr>
          <p:spPr>
            <a:xfrm>
              <a:off x="538711" y="4424166"/>
              <a:ext cx="52084" cy="59526"/>
            </a:xfrm>
            <a:custGeom>
              <a:avLst/>
              <a:gdLst/>
              <a:ahLst/>
              <a:cxnLst/>
              <a:rect l="l" t="t" r="r" b="b"/>
              <a:pathLst>
                <a:path w="52084" h="59526">
                  <a:moveTo>
                    <a:pt x="39687" y="0"/>
                  </a:moveTo>
                  <a:lnTo>
                    <a:pt x="0" y="49609"/>
                  </a:lnTo>
                  <a:lnTo>
                    <a:pt x="12396" y="59526"/>
                  </a:lnTo>
                  <a:lnTo>
                    <a:pt x="52084" y="9917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icon:stroke"/>
            <p:cNvSpPr/>
            <p:nvPr/>
          </p:nvSpPr>
          <p:spPr>
            <a:xfrm>
              <a:off x="697461" y="4424166"/>
              <a:ext cx="52084" cy="59526"/>
            </a:xfrm>
            <a:custGeom>
              <a:avLst/>
              <a:gdLst/>
              <a:ahLst/>
              <a:cxnLst/>
              <a:rect l="l" t="t" r="r" b="b"/>
              <a:pathLst>
                <a:path w="52084" h="59526">
                  <a:moveTo>
                    <a:pt x="0" y="9917"/>
                  </a:moveTo>
                  <a:lnTo>
                    <a:pt x="39687" y="59526"/>
                  </a:lnTo>
                  <a:lnTo>
                    <a:pt x="52084" y="49609"/>
                  </a:lnTo>
                  <a:lnTo>
                    <a:pt x="12396" y="0"/>
                  </a:lnTo>
                  <a:close/>
                </a:path>
              </a:pathLst>
            </a:cu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icon:medical-separation"/>
            <p:cNvSpPr/>
            <p:nvPr/>
          </p:nvSpPr>
          <p:spPr>
            <a:xfrm>
              <a:off x="673893" y="4349750"/>
              <a:ext cx="138906" cy="1488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icon:part"/>
            <p:cNvSpPr/>
            <p:nvPr/>
          </p:nvSpPr>
          <p:spPr>
            <a:xfrm>
              <a:off x="723503" y="4359671"/>
              <a:ext cx="39687" cy="119062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icon:part"/>
            <p:cNvSpPr/>
            <p:nvPr/>
          </p:nvSpPr>
          <p:spPr>
            <a:xfrm>
              <a:off x="683815" y="4399359"/>
              <a:ext cx="119062" cy="39687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0" name="industry:交通医疗"/>
          <p:cNvSpPr txBox="1"/>
          <p:nvPr/>
        </p:nvSpPr>
        <p:spPr>
          <a:xfrm>
            <a:off x="914400" y="4165600"/>
            <a:ext cx="838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23C"/>
                </a:solidFill>
                <a:latin typeface="Microsoft YaHei"/>
              </a:rPr>
              <a:t>交通医疗</a:t>
            </a:r>
          </a:p>
        </p:txBody>
      </p:sp>
      <p:sp>
        <p:nvSpPr>
          <p:cNvPr id="111" name="heat:交通医疗:1"/>
          <p:cNvSpPr/>
          <p:nvPr/>
        </p:nvSpPr>
        <p:spPr>
          <a:xfrm>
            <a:off x="1778000" y="4254500"/>
            <a:ext cx="144780" cy="215900"/>
          </a:xfrm>
          <a:prstGeom prst="rect">
            <a:avLst/>
          </a:prstGeom>
          <a:solidFill>
            <a:srgbClr val="FC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heat:交通医疗:2"/>
          <p:cNvSpPr/>
          <p:nvPr/>
        </p:nvSpPr>
        <p:spPr>
          <a:xfrm>
            <a:off x="1948180" y="4254500"/>
            <a:ext cx="144780" cy="215900"/>
          </a:xfrm>
          <a:prstGeom prst="rect">
            <a:avLst/>
          </a:prstGeom>
          <a:solidFill>
            <a:srgbClr val="FBA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heat:交通医疗:3"/>
          <p:cNvSpPr/>
          <p:nvPr/>
        </p:nvSpPr>
        <p:spPr>
          <a:xfrm>
            <a:off x="2118360" y="4254500"/>
            <a:ext cx="144780" cy="215900"/>
          </a:xfrm>
          <a:prstGeom prst="rect">
            <a:avLst/>
          </a:prstGeom>
          <a:solidFill>
            <a:srgbClr val="FC9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heat:交通医疗:4"/>
          <p:cNvSpPr/>
          <p:nvPr/>
        </p:nvSpPr>
        <p:spPr>
          <a:xfrm>
            <a:off x="2288540" y="4254500"/>
            <a:ext cx="144780" cy="215900"/>
          </a:xfrm>
          <a:prstGeom prst="rect">
            <a:avLst/>
          </a:prstGeom>
          <a:solidFill>
            <a:srgbClr val="FA8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heat:交通医疗:5"/>
          <p:cNvSpPr/>
          <p:nvPr/>
        </p:nvSpPr>
        <p:spPr>
          <a:xfrm>
            <a:off x="2458720" y="4254500"/>
            <a:ext cx="144780" cy="215900"/>
          </a:xfrm>
          <a:prstGeom prst="rect">
            <a:avLst/>
          </a:prstGeom>
          <a:solidFill>
            <a:srgbClr val="F7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heat:交通医疗:6"/>
          <p:cNvSpPr/>
          <p:nvPr/>
        </p:nvSpPr>
        <p:spPr>
          <a:xfrm>
            <a:off x="2628900" y="4254500"/>
            <a:ext cx="144780" cy="215900"/>
          </a:xfrm>
          <a:prstGeom prst="rect">
            <a:avLst/>
          </a:prstGeom>
          <a:solidFill>
            <a:srgbClr val="FFE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heat:交通医疗:7"/>
          <p:cNvSpPr/>
          <p:nvPr/>
        </p:nvSpPr>
        <p:spPr>
          <a:xfrm>
            <a:off x="2799080" y="4254500"/>
            <a:ext cx="144780" cy="215900"/>
          </a:xfrm>
          <a:prstGeom prst="rect">
            <a:avLst/>
          </a:prstGeom>
          <a:solidFill>
            <a:srgbClr val="FFEA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tar:交通医疗:1"/>
          <p:cNvSpPr/>
          <p:nvPr/>
        </p:nvSpPr>
        <p:spPr>
          <a:xfrm>
            <a:off x="3048000" y="42926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tar:交通医疗:2"/>
          <p:cNvSpPr/>
          <p:nvPr/>
        </p:nvSpPr>
        <p:spPr>
          <a:xfrm>
            <a:off x="3195320" y="42926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tar:交通医疗:3"/>
          <p:cNvSpPr/>
          <p:nvPr/>
        </p:nvSpPr>
        <p:spPr>
          <a:xfrm>
            <a:off x="3342640" y="42926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tar:交通医疗:4"/>
          <p:cNvSpPr/>
          <p:nvPr/>
        </p:nvSpPr>
        <p:spPr>
          <a:xfrm>
            <a:off x="3489960" y="4292600"/>
            <a:ext cx="127000" cy="127000"/>
          </a:xfrm>
          <a:prstGeom prst="star5">
            <a:avLst/>
          </a:prstGeom>
          <a:solidFill>
            <a:srgbClr val="FFFFFF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tar:交通医疗:5"/>
          <p:cNvSpPr/>
          <p:nvPr/>
        </p:nvSpPr>
        <p:spPr>
          <a:xfrm>
            <a:off x="3637279" y="4292600"/>
            <a:ext cx="127000" cy="127000"/>
          </a:xfrm>
          <a:prstGeom prst="star5">
            <a:avLst/>
          </a:prstGeom>
          <a:solidFill>
            <a:srgbClr val="FFFFFF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divider:industry-row"/>
          <p:cNvSpPr/>
          <p:nvPr/>
        </p:nvSpPr>
        <p:spPr>
          <a:xfrm>
            <a:off x="482600" y="4622800"/>
            <a:ext cx="3327400" cy="762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24" name="icon:enterprise"/>
          <p:cNvGrpSpPr/>
          <p:nvPr/>
        </p:nvGrpSpPr>
        <p:grpSpPr>
          <a:xfrm>
            <a:off x="554831" y="4786709"/>
            <a:ext cx="208359" cy="238125"/>
            <a:chOff x="554831" y="4786709"/>
            <a:chExt cx="208359" cy="238125"/>
          </a:xfrm>
        </p:grpSpPr>
        <p:sp>
          <p:nvSpPr>
            <p:cNvPr id="125" name="icon:part"/>
            <p:cNvSpPr/>
            <p:nvPr/>
          </p:nvSpPr>
          <p:spPr>
            <a:xfrm>
              <a:off x="554831" y="4786709"/>
              <a:ext cx="119062" cy="238125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icon:part"/>
            <p:cNvSpPr/>
            <p:nvPr/>
          </p:nvSpPr>
          <p:spPr>
            <a:xfrm>
              <a:off x="683815" y="4856162"/>
              <a:ext cx="79375" cy="168671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icon:window"/>
            <p:cNvSpPr/>
            <p:nvPr/>
          </p:nvSpPr>
          <p:spPr>
            <a:xfrm>
              <a:off x="584596" y="4826396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icon:window"/>
            <p:cNvSpPr/>
            <p:nvPr/>
          </p:nvSpPr>
          <p:spPr>
            <a:xfrm>
              <a:off x="584596" y="4885928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icon:window"/>
            <p:cNvSpPr/>
            <p:nvPr/>
          </p:nvSpPr>
          <p:spPr>
            <a:xfrm>
              <a:off x="584596" y="4945459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icon:window"/>
            <p:cNvSpPr/>
            <p:nvPr/>
          </p:nvSpPr>
          <p:spPr>
            <a:xfrm>
              <a:off x="634206" y="4826396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icon:window"/>
            <p:cNvSpPr/>
            <p:nvPr/>
          </p:nvSpPr>
          <p:spPr>
            <a:xfrm>
              <a:off x="634206" y="4885928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icon:window"/>
            <p:cNvSpPr/>
            <p:nvPr/>
          </p:nvSpPr>
          <p:spPr>
            <a:xfrm>
              <a:off x="634206" y="4945459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icon:window"/>
            <p:cNvSpPr/>
            <p:nvPr/>
          </p:nvSpPr>
          <p:spPr>
            <a:xfrm>
              <a:off x="713581" y="4885928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icon:window"/>
            <p:cNvSpPr/>
            <p:nvPr/>
          </p:nvSpPr>
          <p:spPr>
            <a:xfrm>
              <a:off x="713581" y="4945459"/>
              <a:ext cx="19843" cy="297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5" name="industry:央国企"/>
          <p:cNvSpPr txBox="1"/>
          <p:nvPr/>
        </p:nvSpPr>
        <p:spPr>
          <a:xfrm>
            <a:off x="914400" y="4711700"/>
            <a:ext cx="8382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223C"/>
                </a:solidFill>
                <a:latin typeface="Microsoft YaHei"/>
              </a:rPr>
              <a:t>央国企</a:t>
            </a:r>
          </a:p>
        </p:txBody>
      </p:sp>
      <p:sp>
        <p:nvSpPr>
          <p:cNvPr id="136" name="heat:央国企:1"/>
          <p:cNvSpPr/>
          <p:nvPr/>
        </p:nvSpPr>
        <p:spPr>
          <a:xfrm>
            <a:off x="1778000" y="4800600"/>
            <a:ext cx="144780" cy="215900"/>
          </a:xfrm>
          <a:prstGeom prst="rect">
            <a:avLst/>
          </a:prstGeom>
          <a:solidFill>
            <a:srgbClr val="FC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heat:央国企:2"/>
          <p:cNvSpPr/>
          <p:nvPr/>
        </p:nvSpPr>
        <p:spPr>
          <a:xfrm>
            <a:off x="1948180" y="4800600"/>
            <a:ext cx="144780" cy="215900"/>
          </a:xfrm>
          <a:prstGeom prst="rect">
            <a:avLst/>
          </a:prstGeom>
          <a:solidFill>
            <a:srgbClr val="FBA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heat:央国企:3"/>
          <p:cNvSpPr/>
          <p:nvPr/>
        </p:nvSpPr>
        <p:spPr>
          <a:xfrm>
            <a:off x="2118360" y="4800600"/>
            <a:ext cx="144780" cy="215900"/>
          </a:xfrm>
          <a:prstGeom prst="rect">
            <a:avLst/>
          </a:prstGeom>
          <a:solidFill>
            <a:srgbClr val="FC9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heat:央国企:4"/>
          <p:cNvSpPr/>
          <p:nvPr/>
        </p:nvSpPr>
        <p:spPr>
          <a:xfrm>
            <a:off x="2288540" y="4800600"/>
            <a:ext cx="144780" cy="215900"/>
          </a:xfrm>
          <a:prstGeom prst="rect">
            <a:avLst/>
          </a:prstGeom>
          <a:solidFill>
            <a:srgbClr val="FA87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heat:央国企:5"/>
          <p:cNvSpPr/>
          <p:nvPr/>
        </p:nvSpPr>
        <p:spPr>
          <a:xfrm>
            <a:off x="2458720" y="4800600"/>
            <a:ext cx="144780" cy="215900"/>
          </a:xfrm>
          <a:prstGeom prst="rect">
            <a:avLst/>
          </a:prstGeom>
          <a:solidFill>
            <a:srgbClr val="F7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heat:央国企:6"/>
          <p:cNvSpPr/>
          <p:nvPr/>
        </p:nvSpPr>
        <p:spPr>
          <a:xfrm>
            <a:off x="2628900" y="4800600"/>
            <a:ext cx="144780" cy="215900"/>
          </a:xfrm>
          <a:prstGeom prst="rect">
            <a:avLst/>
          </a:prstGeom>
          <a:solidFill>
            <a:srgbClr val="FFB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heat:央国企:7"/>
          <p:cNvSpPr/>
          <p:nvPr/>
        </p:nvSpPr>
        <p:spPr>
          <a:xfrm>
            <a:off x="2799080" y="4800600"/>
            <a:ext cx="144780" cy="215900"/>
          </a:xfrm>
          <a:prstGeom prst="rect">
            <a:avLst/>
          </a:prstGeom>
          <a:solidFill>
            <a:srgbClr val="FFC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tar:央国企:1"/>
          <p:cNvSpPr/>
          <p:nvPr/>
        </p:nvSpPr>
        <p:spPr>
          <a:xfrm>
            <a:off x="3048000" y="48387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tar:央国企:2"/>
          <p:cNvSpPr/>
          <p:nvPr/>
        </p:nvSpPr>
        <p:spPr>
          <a:xfrm>
            <a:off x="3195320" y="48387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tar:央国企:3"/>
          <p:cNvSpPr/>
          <p:nvPr/>
        </p:nvSpPr>
        <p:spPr>
          <a:xfrm>
            <a:off x="3342640" y="48387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tar:央国企:4"/>
          <p:cNvSpPr/>
          <p:nvPr/>
        </p:nvSpPr>
        <p:spPr>
          <a:xfrm>
            <a:off x="3489960" y="4838700"/>
            <a:ext cx="127000" cy="127000"/>
          </a:xfrm>
          <a:prstGeom prst="star5">
            <a:avLst/>
          </a:prstGeom>
          <a:solidFill>
            <a:srgbClr val="F18522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tar:央国企:5"/>
          <p:cNvSpPr/>
          <p:nvPr/>
        </p:nvSpPr>
        <p:spPr>
          <a:xfrm>
            <a:off x="3637279" y="4838700"/>
            <a:ext cx="127000" cy="127000"/>
          </a:xfrm>
          <a:prstGeom prst="star5">
            <a:avLst/>
          </a:prstGeom>
          <a:solidFill>
            <a:srgbClr val="FFFFFF"/>
          </a:solidFill>
          <a:ln w="7620">
            <a:solidFill>
              <a:srgbClr val="F185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divider:industry-row"/>
          <p:cNvSpPr/>
          <p:nvPr/>
        </p:nvSpPr>
        <p:spPr>
          <a:xfrm>
            <a:off x="482600" y="5168900"/>
            <a:ext cx="3327400" cy="7620"/>
          </a:xfrm>
          <a:prstGeom prst="rect">
            <a:avLst/>
          </a:prstGeom>
          <a:solidFill>
            <a:srgbClr val="DD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label:heat-legend"/>
          <p:cNvSpPr txBox="1"/>
          <p:nvPr/>
        </p:nvSpPr>
        <p:spPr>
          <a:xfrm>
            <a:off x="495300" y="5295900"/>
            <a:ext cx="4572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图例</a:t>
            </a:r>
          </a:p>
        </p:txBody>
      </p:sp>
      <p:sp>
        <p:nvSpPr>
          <p:cNvPr id="150" name="legend:swatch"/>
          <p:cNvSpPr/>
          <p:nvPr/>
        </p:nvSpPr>
        <p:spPr>
          <a:xfrm>
            <a:off x="1016000" y="5334000"/>
            <a:ext cx="139700" cy="139700"/>
          </a:xfrm>
          <a:prstGeom prst="rect">
            <a:avLst/>
          </a:prstGeom>
          <a:solidFill>
            <a:srgbClr val="FB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legend:level"/>
          <p:cNvSpPr txBox="1"/>
          <p:nvPr/>
        </p:nvSpPr>
        <p:spPr>
          <a:xfrm>
            <a:off x="1206500" y="5295900"/>
            <a:ext cx="4064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低</a:t>
            </a:r>
          </a:p>
        </p:txBody>
      </p:sp>
      <p:sp>
        <p:nvSpPr>
          <p:cNvPr id="152" name="legend:swatch"/>
          <p:cNvSpPr/>
          <p:nvPr/>
        </p:nvSpPr>
        <p:spPr>
          <a:xfrm>
            <a:off x="1663700" y="5334000"/>
            <a:ext cx="139700" cy="139700"/>
          </a:xfrm>
          <a:prstGeom prst="rect">
            <a:avLst/>
          </a:prstGeom>
          <a:solidFill>
            <a:srgbClr val="FC98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legend:level"/>
          <p:cNvSpPr txBox="1"/>
          <p:nvPr/>
        </p:nvSpPr>
        <p:spPr>
          <a:xfrm>
            <a:off x="1854200" y="5295900"/>
            <a:ext cx="4064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中</a:t>
            </a:r>
          </a:p>
        </p:txBody>
      </p:sp>
      <p:sp>
        <p:nvSpPr>
          <p:cNvPr id="154" name="legend:swatch"/>
          <p:cNvSpPr/>
          <p:nvPr/>
        </p:nvSpPr>
        <p:spPr>
          <a:xfrm>
            <a:off x="2311400" y="5334000"/>
            <a:ext cx="139700" cy="139700"/>
          </a:xfrm>
          <a:prstGeom prst="rect">
            <a:avLst/>
          </a:prstGeom>
          <a:solidFill>
            <a:srgbClr val="F88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legend:level"/>
          <p:cNvSpPr txBox="1"/>
          <p:nvPr/>
        </p:nvSpPr>
        <p:spPr>
          <a:xfrm>
            <a:off x="2501900" y="5295900"/>
            <a:ext cx="4064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较高</a:t>
            </a:r>
          </a:p>
        </p:txBody>
      </p:sp>
      <p:sp>
        <p:nvSpPr>
          <p:cNvPr id="156" name="legend:swatch"/>
          <p:cNvSpPr/>
          <p:nvPr/>
        </p:nvSpPr>
        <p:spPr>
          <a:xfrm>
            <a:off x="3136900" y="5334000"/>
            <a:ext cx="139700" cy="139700"/>
          </a:xfrm>
          <a:prstGeom prst="rect">
            <a:avLst/>
          </a:prstGeom>
          <a:solidFill>
            <a:srgbClr val="D50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legend:level"/>
          <p:cNvSpPr txBox="1"/>
          <p:nvPr/>
        </p:nvSpPr>
        <p:spPr>
          <a:xfrm>
            <a:off x="3327400" y="5295900"/>
            <a:ext cx="406400" cy="20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高</a:t>
            </a:r>
          </a:p>
        </p:txBody>
      </p:sp>
      <p:sp>
        <p:nvSpPr>
          <p:cNvPr id="158" name="component:staircase-side"/>
          <p:cNvSpPr/>
          <p:nvPr/>
        </p:nvSpPr>
        <p:spPr>
          <a:xfrm>
            <a:off x="6934200" y="1930400"/>
            <a:ext cx="812800" cy="3429000"/>
          </a:xfrm>
          <a:custGeom>
            <a:avLst/>
            <a:gdLst/>
            <a:ahLst/>
            <a:cxnLst/>
            <a:rect l="l" t="t" r="r" b="b"/>
            <a:pathLst>
              <a:path w="812800" h="3429000">
                <a:moveTo>
                  <a:pt x="0" y="3238500"/>
                </a:moveTo>
                <a:lnTo>
                  <a:pt x="0" y="2844800"/>
                </a:lnTo>
                <a:lnTo>
                  <a:pt x="139700" y="2692400"/>
                </a:lnTo>
                <a:lnTo>
                  <a:pt x="139700" y="2171700"/>
                </a:lnTo>
                <a:lnTo>
                  <a:pt x="279400" y="2019300"/>
                </a:lnTo>
                <a:lnTo>
                  <a:pt x="279400" y="1498600"/>
                </a:lnTo>
                <a:lnTo>
                  <a:pt x="419100" y="1346200"/>
                </a:lnTo>
                <a:lnTo>
                  <a:pt x="419100" y="825500"/>
                </a:lnTo>
                <a:lnTo>
                  <a:pt x="558800" y="673100"/>
                </a:lnTo>
                <a:lnTo>
                  <a:pt x="558800" y="152400"/>
                </a:lnTo>
                <a:lnTo>
                  <a:pt x="812800" y="0"/>
                </a:lnTo>
                <a:lnTo>
                  <a:pt x="812800" y="3136900"/>
                </a:lnTo>
                <a:lnTo>
                  <a:pt x="0" y="3429000"/>
                </a:lnTo>
                <a:close/>
              </a:path>
            </a:pathLst>
          </a:custGeom>
          <a:solidFill>
            <a:srgbClr val="BDC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component:step-top-L5"/>
          <p:cNvSpPr/>
          <p:nvPr/>
        </p:nvSpPr>
        <p:spPr>
          <a:xfrm>
            <a:off x="6578600" y="1930400"/>
            <a:ext cx="1168400" cy="152400"/>
          </a:xfrm>
          <a:custGeom>
            <a:avLst/>
            <a:gdLst/>
            <a:ahLst/>
            <a:cxnLst/>
            <a:rect l="l" t="t" r="r" b="b"/>
            <a:pathLst>
              <a:path w="1168400" h="152400">
                <a:moveTo>
                  <a:pt x="0" y="152400"/>
                </a:moveTo>
                <a:lnTo>
                  <a:pt x="254000" y="0"/>
                </a:lnTo>
                <a:lnTo>
                  <a:pt x="1168400" y="0"/>
                </a:lnTo>
                <a:lnTo>
                  <a:pt x="914400" y="152400"/>
                </a:lnTo>
                <a:close/>
              </a:path>
            </a:pathLst>
          </a:custGeom>
          <a:solidFill>
            <a:srgbClr val="D8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node:stage-L5"/>
          <p:cNvSpPr/>
          <p:nvPr/>
        </p:nvSpPr>
        <p:spPr>
          <a:xfrm>
            <a:off x="6578600" y="2082800"/>
            <a:ext cx="914400" cy="3937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abel:stage-L5"/>
          <p:cNvSpPr txBox="1"/>
          <p:nvPr/>
        </p:nvSpPr>
        <p:spPr>
          <a:xfrm>
            <a:off x="6642100" y="2120900"/>
            <a:ext cx="7874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L5</a:t>
            </a:r>
          </a:p>
        </p:txBody>
      </p:sp>
      <p:sp>
        <p:nvSpPr>
          <p:cNvPr id="162" name="component:step-riser-L5"/>
          <p:cNvSpPr/>
          <p:nvPr/>
        </p:nvSpPr>
        <p:spPr>
          <a:xfrm>
            <a:off x="6438900" y="2476500"/>
            <a:ext cx="1054100" cy="279400"/>
          </a:xfrm>
          <a:prstGeom prst="rect">
            <a:avLst/>
          </a:prstGeom>
          <a:solidFill>
            <a:srgbClr val="F0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component:step-top-L4"/>
          <p:cNvSpPr/>
          <p:nvPr/>
        </p:nvSpPr>
        <p:spPr>
          <a:xfrm>
            <a:off x="6438900" y="2603500"/>
            <a:ext cx="1168400" cy="152400"/>
          </a:xfrm>
          <a:custGeom>
            <a:avLst/>
            <a:gdLst/>
            <a:ahLst/>
            <a:cxnLst/>
            <a:rect l="l" t="t" r="r" b="b"/>
            <a:pathLst>
              <a:path w="1168400" h="152400">
                <a:moveTo>
                  <a:pt x="0" y="152400"/>
                </a:moveTo>
                <a:lnTo>
                  <a:pt x="254000" y="0"/>
                </a:lnTo>
                <a:lnTo>
                  <a:pt x="1168400" y="0"/>
                </a:lnTo>
                <a:lnTo>
                  <a:pt x="914400" y="152400"/>
                </a:lnTo>
                <a:close/>
              </a:path>
            </a:pathLst>
          </a:custGeom>
          <a:solidFill>
            <a:srgbClr val="D8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node:stage-L4"/>
          <p:cNvSpPr/>
          <p:nvPr/>
        </p:nvSpPr>
        <p:spPr>
          <a:xfrm>
            <a:off x="6438900" y="2755900"/>
            <a:ext cx="914400" cy="3937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label:stage-L4"/>
          <p:cNvSpPr txBox="1"/>
          <p:nvPr/>
        </p:nvSpPr>
        <p:spPr>
          <a:xfrm>
            <a:off x="6502400" y="2794000"/>
            <a:ext cx="7874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L4</a:t>
            </a:r>
          </a:p>
        </p:txBody>
      </p:sp>
      <p:sp>
        <p:nvSpPr>
          <p:cNvPr id="166" name="component:step-riser-L4"/>
          <p:cNvSpPr/>
          <p:nvPr/>
        </p:nvSpPr>
        <p:spPr>
          <a:xfrm>
            <a:off x="6299200" y="3149600"/>
            <a:ext cx="1054100" cy="279400"/>
          </a:xfrm>
          <a:prstGeom prst="rect">
            <a:avLst/>
          </a:prstGeom>
          <a:solidFill>
            <a:srgbClr val="F0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component:step-top-L3"/>
          <p:cNvSpPr/>
          <p:nvPr/>
        </p:nvSpPr>
        <p:spPr>
          <a:xfrm>
            <a:off x="6299200" y="3276600"/>
            <a:ext cx="1168400" cy="152400"/>
          </a:xfrm>
          <a:custGeom>
            <a:avLst/>
            <a:gdLst/>
            <a:ahLst/>
            <a:cxnLst/>
            <a:rect l="l" t="t" r="r" b="b"/>
            <a:pathLst>
              <a:path w="1168400" h="152400">
                <a:moveTo>
                  <a:pt x="0" y="152400"/>
                </a:moveTo>
                <a:lnTo>
                  <a:pt x="254000" y="0"/>
                </a:lnTo>
                <a:lnTo>
                  <a:pt x="1168400" y="0"/>
                </a:lnTo>
                <a:lnTo>
                  <a:pt x="914400" y="152400"/>
                </a:lnTo>
                <a:close/>
              </a:path>
            </a:pathLst>
          </a:custGeom>
          <a:solidFill>
            <a:srgbClr val="D8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node:stage-L3"/>
          <p:cNvSpPr/>
          <p:nvPr/>
        </p:nvSpPr>
        <p:spPr>
          <a:xfrm>
            <a:off x="6299200" y="3429000"/>
            <a:ext cx="914400" cy="3937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label:stage-L3"/>
          <p:cNvSpPr txBox="1"/>
          <p:nvPr/>
        </p:nvSpPr>
        <p:spPr>
          <a:xfrm>
            <a:off x="6362700" y="3467100"/>
            <a:ext cx="7874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L3</a:t>
            </a:r>
          </a:p>
        </p:txBody>
      </p:sp>
      <p:sp>
        <p:nvSpPr>
          <p:cNvPr id="170" name="component:step-riser-L3"/>
          <p:cNvSpPr/>
          <p:nvPr/>
        </p:nvSpPr>
        <p:spPr>
          <a:xfrm>
            <a:off x="6159500" y="3822700"/>
            <a:ext cx="1054100" cy="279400"/>
          </a:xfrm>
          <a:prstGeom prst="rect">
            <a:avLst/>
          </a:prstGeom>
          <a:solidFill>
            <a:srgbClr val="F0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component:step-top-L2"/>
          <p:cNvSpPr/>
          <p:nvPr/>
        </p:nvSpPr>
        <p:spPr>
          <a:xfrm>
            <a:off x="6159500" y="3949700"/>
            <a:ext cx="1168400" cy="152400"/>
          </a:xfrm>
          <a:custGeom>
            <a:avLst/>
            <a:gdLst/>
            <a:ahLst/>
            <a:cxnLst/>
            <a:rect l="l" t="t" r="r" b="b"/>
            <a:pathLst>
              <a:path w="1168400" h="152400">
                <a:moveTo>
                  <a:pt x="0" y="152400"/>
                </a:moveTo>
                <a:lnTo>
                  <a:pt x="254000" y="0"/>
                </a:lnTo>
                <a:lnTo>
                  <a:pt x="1168400" y="0"/>
                </a:lnTo>
                <a:lnTo>
                  <a:pt x="914400" y="152400"/>
                </a:lnTo>
                <a:close/>
              </a:path>
            </a:pathLst>
          </a:custGeom>
          <a:solidFill>
            <a:srgbClr val="D8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node:stage-L2"/>
          <p:cNvSpPr/>
          <p:nvPr/>
        </p:nvSpPr>
        <p:spPr>
          <a:xfrm>
            <a:off x="6159500" y="4102100"/>
            <a:ext cx="914400" cy="3937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label:stage-L2"/>
          <p:cNvSpPr txBox="1"/>
          <p:nvPr/>
        </p:nvSpPr>
        <p:spPr>
          <a:xfrm>
            <a:off x="6223000" y="4140200"/>
            <a:ext cx="7874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L2</a:t>
            </a:r>
          </a:p>
        </p:txBody>
      </p:sp>
      <p:sp>
        <p:nvSpPr>
          <p:cNvPr id="174" name="component:step-riser-L2"/>
          <p:cNvSpPr/>
          <p:nvPr/>
        </p:nvSpPr>
        <p:spPr>
          <a:xfrm>
            <a:off x="6019800" y="4495800"/>
            <a:ext cx="1054100" cy="279400"/>
          </a:xfrm>
          <a:prstGeom prst="rect">
            <a:avLst/>
          </a:prstGeom>
          <a:solidFill>
            <a:srgbClr val="F0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component:step-top-L1"/>
          <p:cNvSpPr/>
          <p:nvPr/>
        </p:nvSpPr>
        <p:spPr>
          <a:xfrm>
            <a:off x="6019800" y="4622800"/>
            <a:ext cx="1168400" cy="152400"/>
          </a:xfrm>
          <a:custGeom>
            <a:avLst/>
            <a:gdLst/>
            <a:ahLst/>
            <a:cxnLst/>
            <a:rect l="l" t="t" r="r" b="b"/>
            <a:pathLst>
              <a:path w="1168400" h="152400">
                <a:moveTo>
                  <a:pt x="0" y="152400"/>
                </a:moveTo>
                <a:lnTo>
                  <a:pt x="254000" y="0"/>
                </a:lnTo>
                <a:lnTo>
                  <a:pt x="1168400" y="0"/>
                </a:lnTo>
                <a:lnTo>
                  <a:pt x="914400" y="152400"/>
                </a:lnTo>
                <a:close/>
              </a:path>
            </a:pathLst>
          </a:custGeom>
          <a:solidFill>
            <a:srgbClr val="D8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node:stage-L1"/>
          <p:cNvSpPr/>
          <p:nvPr/>
        </p:nvSpPr>
        <p:spPr>
          <a:xfrm>
            <a:off x="6019800" y="4775200"/>
            <a:ext cx="914400" cy="393700"/>
          </a:xfrm>
          <a:prstGeom prst="rect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bel:stage-L1"/>
          <p:cNvSpPr txBox="1"/>
          <p:nvPr/>
        </p:nvSpPr>
        <p:spPr>
          <a:xfrm>
            <a:off x="6083300" y="4813300"/>
            <a:ext cx="7874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L1</a:t>
            </a:r>
          </a:p>
        </p:txBody>
      </p:sp>
      <p:sp>
        <p:nvSpPr>
          <p:cNvPr id="178" name="icon:trophy-handle"/>
          <p:cNvSpPr/>
          <p:nvPr/>
        </p:nvSpPr>
        <p:spPr>
          <a:xfrm>
            <a:off x="6883400" y="1562100"/>
            <a:ext cx="215900" cy="228600"/>
          </a:xfrm>
          <a:prstGeom prst="ellipse">
            <a:avLst/>
          </a:prstGeom>
          <a:noFill/>
          <a:ln w="29209">
            <a:solidFill>
              <a:srgbClr val="F5A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icon:trophy-handle"/>
          <p:cNvSpPr/>
          <p:nvPr/>
        </p:nvSpPr>
        <p:spPr>
          <a:xfrm>
            <a:off x="7289800" y="1562100"/>
            <a:ext cx="215900" cy="228600"/>
          </a:xfrm>
          <a:prstGeom prst="ellipse">
            <a:avLst/>
          </a:prstGeom>
          <a:noFill/>
          <a:ln w="29209">
            <a:solidFill>
              <a:srgbClr val="F5A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icon:trophy-cup"/>
          <p:cNvSpPr/>
          <p:nvPr/>
        </p:nvSpPr>
        <p:spPr>
          <a:xfrm>
            <a:off x="6997700" y="1511300"/>
            <a:ext cx="393700" cy="368300"/>
          </a:xfrm>
          <a:custGeom>
            <a:avLst/>
            <a:gdLst/>
            <a:ahLst/>
            <a:cxnLst/>
            <a:rect l="l" t="t" r="r" b="b"/>
            <a:pathLst>
              <a:path w="393700" h="368300">
                <a:moveTo>
                  <a:pt x="0" y="0"/>
                </a:moveTo>
                <a:lnTo>
                  <a:pt x="393700" y="0"/>
                </a:lnTo>
                <a:lnTo>
                  <a:pt x="342900" y="279400"/>
                </a:lnTo>
                <a:lnTo>
                  <a:pt x="254000" y="368300"/>
                </a:lnTo>
                <a:lnTo>
                  <a:pt x="139700" y="368300"/>
                </a:lnTo>
                <a:lnTo>
                  <a:pt x="50800" y="279400"/>
                </a:lnTo>
                <a:close/>
              </a:path>
            </a:pathLst>
          </a:custGeom>
          <a:solidFill>
            <a:srgbClr val="F5A4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icon:trophy-stem"/>
          <p:cNvSpPr/>
          <p:nvPr/>
        </p:nvSpPr>
        <p:spPr>
          <a:xfrm>
            <a:off x="7162800" y="1841500"/>
            <a:ext cx="63500" cy="127000"/>
          </a:xfrm>
          <a:prstGeom prst="rect">
            <a:avLst/>
          </a:prstGeom>
          <a:solidFill>
            <a:srgbClr val="E58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icon:trophy-base"/>
          <p:cNvSpPr/>
          <p:nvPr/>
        </p:nvSpPr>
        <p:spPr>
          <a:xfrm>
            <a:off x="7073900" y="1955800"/>
            <a:ext cx="241300" cy="50800"/>
          </a:xfrm>
          <a:prstGeom prst="rect">
            <a:avLst/>
          </a:prstGeom>
          <a:solidFill>
            <a:srgbClr val="A85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tage-heading:L5"/>
          <p:cNvSpPr txBox="1"/>
          <p:nvPr/>
        </p:nvSpPr>
        <p:spPr>
          <a:xfrm>
            <a:off x="4241800" y="1625600"/>
            <a:ext cx="1193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753D8"/>
                </a:solidFill>
                <a:latin typeface="Microsoft YaHei"/>
              </a:rPr>
              <a:t>L5 体系化运营</a:t>
            </a:r>
          </a:p>
        </p:txBody>
      </p:sp>
      <p:sp>
        <p:nvSpPr>
          <p:cNvPr id="184" name="stage-description:L5"/>
          <p:cNvSpPr txBox="1"/>
          <p:nvPr/>
        </p:nvSpPr>
        <p:spPr>
          <a:xfrm>
            <a:off x="4241800" y="1892300"/>
            <a:ext cx="16764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全栈国产化，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生态协同，持续运营</a:t>
            </a:r>
          </a:p>
        </p:txBody>
      </p:sp>
      <p:sp>
        <p:nvSpPr>
          <p:cNvPr id="185" name="node:leader-start-L5"/>
          <p:cNvSpPr/>
          <p:nvPr/>
        </p:nvSpPr>
        <p:spPr>
          <a:xfrm>
            <a:off x="5461000" y="1720850"/>
            <a:ext cx="38100" cy="38100"/>
          </a:xfrm>
          <a:prstGeom prst="ellipse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:stage-callout-L5"/>
          <p:cNvCxnSpPr>
            <a:stCxn id="185" idx="3"/>
            <a:endCxn id="160" idx="1"/>
          </p:cNvCxnSpPr>
          <p:nvPr/>
        </p:nvCxnSpPr>
        <p:spPr>
          <a:xfrm>
            <a:off x="5499100" y="1739900"/>
            <a:ext cx="1079500" cy="539750"/>
          </a:xfrm>
          <a:prstGeom prst="bentConnector3">
            <a:avLst>
              <a:gd name="adj1" fmla="val 90588"/>
            </a:avLst>
          </a:prstGeom>
          <a:ln w="11430">
            <a:solidFill>
              <a:srgbClr val="8EA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stage-heading:L4"/>
          <p:cNvSpPr txBox="1"/>
          <p:nvPr/>
        </p:nvSpPr>
        <p:spPr>
          <a:xfrm>
            <a:off x="4241800" y="2387600"/>
            <a:ext cx="1016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753D8"/>
                </a:solidFill>
                <a:latin typeface="Microsoft YaHei"/>
              </a:rPr>
              <a:t>L4 规模替换</a:t>
            </a:r>
          </a:p>
        </p:txBody>
      </p:sp>
      <p:sp>
        <p:nvSpPr>
          <p:cNvPr id="188" name="stage-description:L4"/>
          <p:cNvSpPr txBox="1"/>
          <p:nvPr/>
        </p:nvSpPr>
        <p:spPr>
          <a:xfrm>
            <a:off x="4241800" y="2654300"/>
            <a:ext cx="16764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核心系统替换，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深度优化</a:t>
            </a:r>
          </a:p>
        </p:txBody>
      </p:sp>
      <p:sp>
        <p:nvSpPr>
          <p:cNvPr id="189" name="node:leader-start-L4"/>
          <p:cNvSpPr/>
          <p:nvPr/>
        </p:nvSpPr>
        <p:spPr>
          <a:xfrm>
            <a:off x="5283200" y="2482850"/>
            <a:ext cx="38100" cy="38100"/>
          </a:xfrm>
          <a:prstGeom prst="ellipse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:stage-callout-L4"/>
          <p:cNvCxnSpPr>
            <a:stCxn id="189" idx="3"/>
            <a:endCxn id="164" idx="1"/>
          </p:cNvCxnSpPr>
          <p:nvPr/>
        </p:nvCxnSpPr>
        <p:spPr>
          <a:xfrm>
            <a:off x="5321300" y="2501900"/>
            <a:ext cx="1117600" cy="450850"/>
          </a:xfrm>
          <a:prstGeom prst="bentConnector3">
            <a:avLst>
              <a:gd name="adj1" fmla="val 90909"/>
            </a:avLst>
          </a:prstGeom>
          <a:ln w="11430">
            <a:solidFill>
              <a:srgbClr val="8EA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stage-heading:L3"/>
          <p:cNvSpPr txBox="1"/>
          <p:nvPr/>
        </p:nvSpPr>
        <p:spPr>
          <a:xfrm>
            <a:off x="4241800" y="3149600"/>
            <a:ext cx="1016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753D8"/>
                </a:solidFill>
                <a:latin typeface="Microsoft YaHei"/>
              </a:rPr>
              <a:t>L3 扩大应用</a:t>
            </a:r>
          </a:p>
        </p:txBody>
      </p:sp>
      <p:sp>
        <p:nvSpPr>
          <p:cNvPr id="192" name="stage-description:L3"/>
          <p:cNvSpPr txBox="1"/>
          <p:nvPr/>
        </p:nvSpPr>
        <p:spPr>
          <a:xfrm>
            <a:off x="4241800" y="3416300"/>
            <a:ext cx="16764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多场景复制，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关键业务并行</a:t>
            </a:r>
          </a:p>
        </p:txBody>
      </p:sp>
      <p:sp>
        <p:nvSpPr>
          <p:cNvPr id="193" name="node:leader-start-L3"/>
          <p:cNvSpPr/>
          <p:nvPr/>
        </p:nvSpPr>
        <p:spPr>
          <a:xfrm>
            <a:off x="5283200" y="3244850"/>
            <a:ext cx="38100" cy="38100"/>
          </a:xfrm>
          <a:prstGeom prst="ellipse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:stage-callout-L3"/>
          <p:cNvCxnSpPr>
            <a:stCxn id="193" idx="3"/>
            <a:endCxn id="168" idx="1"/>
          </p:cNvCxnSpPr>
          <p:nvPr/>
        </p:nvCxnSpPr>
        <p:spPr>
          <a:xfrm>
            <a:off x="5321300" y="3263900"/>
            <a:ext cx="977900" cy="361950"/>
          </a:xfrm>
          <a:prstGeom prst="bentConnector3">
            <a:avLst>
              <a:gd name="adj1" fmla="val 89610"/>
            </a:avLst>
          </a:prstGeom>
          <a:ln w="11430">
            <a:solidFill>
              <a:srgbClr val="8EA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stage-heading:L2"/>
          <p:cNvSpPr txBox="1"/>
          <p:nvPr/>
        </p:nvSpPr>
        <p:spPr>
          <a:xfrm>
            <a:off x="4241800" y="3911600"/>
            <a:ext cx="1016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753D8"/>
                </a:solidFill>
                <a:latin typeface="Microsoft YaHei"/>
              </a:rPr>
              <a:t>L2 初步落地</a:t>
            </a:r>
          </a:p>
        </p:txBody>
      </p:sp>
      <p:sp>
        <p:nvSpPr>
          <p:cNvPr id="196" name="stage-description:L2"/>
          <p:cNvSpPr txBox="1"/>
          <p:nvPr/>
        </p:nvSpPr>
        <p:spPr>
          <a:xfrm>
            <a:off x="4241800" y="4178300"/>
            <a:ext cx="16764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边缘业务上线，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新增系统优先</a:t>
            </a:r>
          </a:p>
        </p:txBody>
      </p:sp>
      <p:sp>
        <p:nvSpPr>
          <p:cNvPr id="197" name="node:leader-start-L2"/>
          <p:cNvSpPr/>
          <p:nvPr/>
        </p:nvSpPr>
        <p:spPr>
          <a:xfrm>
            <a:off x="5283200" y="4006850"/>
            <a:ext cx="38100" cy="38100"/>
          </a:xfrm>
          <a:prstGeom prst="ellipse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:stage-callout-L2"/>
          <p:cNvCxnSpPr>
            <a:stCxn id="197" idx="3"/>
            <a:endCxn id="172" idx="1"/>
          </p:cNvCxnSpPr>
          <p:nvPr/>
        </p:nvCxnSpPr>
        <p:spPr>
          <a:xfrm>
            <a:off x="5321300" y="4025900"/>
            <a:ext cx="838200" cy="273050"/>
          </a:xfrm>
          <a:prstGeom prst="bentConnector3">
            <a:avLst>
              <a:gd name="adj1" fmla="val 87879"/>
            </a:avLst>
          </a:prstGeom>
          <a:ln w="11430">
            <a:solidFill>
              <a:srgbClr val="8EA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stage-heading:L1"/>
          <p:cNvSpPr txBox="1"/>
          <p:nvPr/>
        </p:nvSpPr>
        <p:spPr>
          <a:xfrm>
            <a:off x="4241800" y="4673600"/>
            <a:ext cx="10160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753D8"/>
                </a:solidFill>
                <a:latin typeface="Microsoft YaHei"/>
              </a:rPr>
              <a:t>L1 试点探索</a:t>
            </a:r>
          </a:p>
        </p:txBody>
      </p:sp>
      <p:sp>
        <p:nvSpPr>
          <p:cNvPr id="200" name="stage-description:L1"/>
          <p:cNvSpPr txBox="1"/>
          <p:nvPr/>
        </p:nvSpPr>
        <p:spPr>
          <a:xfrm>
            <a:off x="4241800" y="4940300"/>
            <a:ext cx="1676400" cy="406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单点验证、小范围试点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非核心业务</a:t>
            </a:r>
          </a:p>
        </p:txBody>
      </p:sp>
      <p:sp>
        <p:nvSpPr>
          <p:cNvPr id="201" name="node:leader-start-L1"/>
          <p:cNvSpPr/>
          <p:nvPr/>
        </p:nvSpPr>
        <p:spPr>
          <a:xfrm>
            <a:off x="5283200" y="4768850"/>
            <a:ext cx="38100" cy="38100"/>
          </a:xfrm>
          <a:prstGeom prst="ellipse">
            <a:avLst/>
          </a:prstGeom>
          <a:solidFill>
            <a:srgbClr val="075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2" name="connector:stage-callout-L1"/>
          <p:cNvCxnSpPr>
            <a:stCxn id="201" idx="3"/>
            <a:endCxn id="176" idx="1"/>
          </p:cNvCxnSpPr>
          <p:nvPr/>
        </p:nvCxnSpPr>
        <p:spPr>
          <a:xfrm>
            <a:off x="5321300" y="4787900"/>
            <a:ext cx="698500" cy="184150"/>
          </a:xfrm>
          <a:prstGeom prst="bentConnector3">
            <a:avLst>
              <a:gd name="adj1" fmla="val 85455"/>
            </a:avLst>
          </a:prstGeom>
          <a:ln w="11430">
            <a:solidFill>
              <a:srgbClr val="8EA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maturity-progression"/>
          <p:cNvCxnSpPr>
            <a:stCxn id="176" idx="3"/>
            <a:endCxn id="160" idx="3"/>
          </p:cNvCxnSpPr>
          <p:nvPr/>
        </p:nvCxnSpPr>
        <p:spPr>
          <a:xfrm flipV="1">
            <a:off x="6934200" y="2279650"/>
            <a:ext cx="558800" cy="2692400"/>
          </a:xfrm>
          <a:prstGeom prst="line">
            <a:avLst/>
          </a:prstGeom>
          <a:ln w="63500">
            <a:solidFill>
              <a:srgbClr val="DC26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scene-card:党政"/>
          <p:cNvSpPr/>
          <p:nvPr/>
        </p:nvSpPr>
        <p:spPr>
          <a:xfrm>
            <a:off x="8204200" y="1562100"/>
            <a:ext cx="353060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5" name="icon:government"/>
          <p:cNvGrpSpPr/>
          <p:nvPr/>
        </p:nvGrpSpPr>
        <p:grpSpPr>
          <a:xfrm>
            <a:off x="8293100" y="1651000"/>
            <a:ext cx="381000" cy="381000"/>
            <a:chOff x="8293100" y="1651000"/>
            <a:chExt cx="381000" cy="381000"/>
          </a:xfrm>
        </p:grpSpPr>
        <p:sp>
          <p:nvSpPr>
            <p:cNvPr id="206" name="icon:disc"/>
            <p:cNvSpPr/>
            <p:nvPr/>
          </p:nvSpPr>
          <p:spPr>
            <a:xfrm>
              <a:off x="8293100" y="1651000"/>
              <a:ext cx="381000" cy="381000"/>
            </a:xfrm>
            <a:prstGeom prst="ellipse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icon:part"/>
            <p:cNvSpPr/>
            <p:nvPr/>
          </p:nvSpPr>
          <p:spPr>
            <a:xfrm>
              <a:off x="8352631" y="1710531"/>
              <a:ext cx="261937" cy="83344"/>
            </a:xfrm>
            <a:custGeom>
              <a:avLst/>
              <a:gdLst/>
              <a:ahLst/>
              <a:cxnLst/>
              <a:rect l="l" t="t" r="r" b="b"/>
              <a:pathLst>
                <a:path w="261937" h="83344">
                  <a:moveTo>
                    <a:pt x="0" y="83344"/>
                  </a:moveTo>
                  <a:lnTo>
                    <a:pt x="130969" y="0"/>
                  </a:lnTo>
                  <a:lnTo>
                    <a:pt x="261937" y="833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icon:part"/>
            <p:cNvSpPr/>
            <p:nvPr/>
          </p:nvSpPr>
          <p:spPr>
            <a:xfrm>
              <a:off x="8352631" y="1805781"/>
              <a:ext cx="261937" cy="238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icon:part"/>
            <p:cNvSpPr/>
            <p:nvPr/>
          </p:nvSpPr>
          <p:spPr>
            <a:xfrm>
              <a:off x="8376443" y="1841500"/>
              <a:ext cx="47625" cy="119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icon:part"/>
            <p:cNvSpPr/>
            <p:nvPr/>
          </p:nvSpPr>
          <p:spPr>
            <a:xfrm>
              <a:off x="8459787" y="1841500"/>
              <a:ext cx="47625" cy="119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icon:part"/>
            <p:cNvSpPr/>
            <p:nvPr/>
          </p:nvSpPr>
          <p:spPr>
            <a:xfrm>
              <a:off x="8543131" y="1841500"/>
              <a:ext cx="47625" cy="1190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icon:part"/>
            <p:cNvSpPr/>
            <p:nvPr/>
          </p:nvSpPr>
          <p:spPr>
            <a:xfrm>
              <a:off x="8340725" y="1972468"/>
              <a:ext cx="285750" cy="238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icon:part"/>
            <p:cNvSpPr/>
            <p:nvPr/>
          </p:nvSpPr>
          <p:spPr>
            <a:xfrm>
              <a:off x="8376443" y="1948656"/>
              <a:ext cx="214312" cy="238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4" name="scene-text:党政"/>
          <p:cNvSpPr txBox="1"/>
          <p:nvPr/>
        </p:nvSpPr>
        <p:spPr>
          <a:xfrm>
            <a:off x="8788400" y="1625600"/>
            <a:ext cx="2844800" cy="43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35"/>
                </a:solidFill>
                <a:latin typeface="Microsoft YaHei"/>
              </a:rPr>
              <a:t>党政：</a:t>
            </a:r>
            <a:r>
              <a:rPr sz="1200" b="0">
                <a:solidFill>
                  <a:srgbClr val="12223C"/>
                </a:solidFill>
                <a:latin typeface="Microsoft YaHei"/>
              </a:rPr>
              <a:t>电子政务、数据共享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政务云、国产化替代</a:t>
            </a:r>
          </a:p>
        </p:txBody>
      </p:sp>
      <p:sp>
        <p:nvSpPr>
          <p:cNvPr id="215" name="scene-card:金融"/>
          <p:cNvSpPr/>
          <p:nvPr/>
        </p:nvSpPr>
        <p:spPr>
          <a:xfrm>
            <a:off x="8204200" y="2209800"/>
            <a:ext cx="353060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6" name="icon:finance"/>
          <p:cNvGrpSpPr/>
          <p:nvPr/>
        </p:nvGrpSpPr>
        <p:grpSpPr>
          <a:xfrm>
            <a:off x="8293100" y="2298700"/>
            <a:ext cx="381000" cy="381000"/>
            <a:chOff x="8293100" y="2298700"/>
            <a:chExt cx="381000" cy="381000"/>
          </a:xfrm>
        </p:grpSpPr>
        <p:sp>
          <p:nvSpPr>
            <p:cNvPr id="217" name="icon:disc"/>
            <p:cNvSpPr/>
            <p:nvPr/>
          </p:nvSpPr>
          <p:spPr>
            <a:xfrm>
              <a:off x="8293100" y="2298700"/>
              <a:ext cx="381000" cy="381000"/>
            </a:xfrm>
            <a:prstGeom prst="ellipse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icon:currency"/>
            <p:cNvSpPr txBox="1"/>
            <p:nvPr/>
          </p:nvSpPr>
          <p:spPr>
            <a:xfrm>
              <a:off x="8340725" y="2322512"/>
              <a:ext cx="285750" cy="333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10" b="1">
                  <a:solidFill>
                    <a:srgbClr val="FFFFFF"/>
                  </a:solidFill>
                  <a:latin typeface="Microsoft YaHei"/>
                </a:rPr>
                <a:t>¥</a:t>
              </a:r>
            </a:p>
          </p:txBody>
        </p:sp>
      </p:grpSp>
      <p:sp>
        <p:nvSpPr>
          <p:cNvPr id="219" name="scene-text:金融"/>
          <p:cNvSpPr txBox="1"/>
          <p:nvPr/>
        </p:nvSpPr>
        <p:spPr>
          <a:xfrm>
            <a:off x="8788400" y="2273300"/>
            <a:ext cx="2844800" cy="43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C2635"/>
                </a:solidFill>
                <a:latin typeface="Microsoft YaHei"/>
              </a:rPr>
              <a:t>金融：</a:t>
            </a:r>
            <a:r>
              <a:rPr sz="1200" b="0">
                <a:solidFill>
                  <a:srgbClr val="12223C"/>
                </a:solidFill>
                <a:latin typeface="Microsoft YaHei"/>
              </a:rPr>
              <a:t>核心交易、支付清算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风险控制、灾备多活</a:t>
            </a:r>
          </a:p>
        </p:txBody>
      </p:sp>
      <p:sp>
        <p:nvSpPr>
          <p:cNvPr id="220" name="scene-card:电信"/>
          <p:cNvSpPr/>
          <p:nvPr/>
        </p:nvSpPr>
        <p:spPr>
          <a:xfrm>
            <a:off x="8204200" y="2857500"/>
            <a:ext cx="353060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21" name="icon:telecom"/>
          <p:cNvGrpSpPr/>
          <p:nvPr/>
        </p:nvGrpSpPr>
        <p:grpSpPr>
          <a:xfrm>
            <a:off x="8293100" y="2946400"/>
            <a:ext cx="381000" cy="381000"/>
            <a:chOff x="8293100" y="2946400"/>
            <a:chExt cx="381000" cy="381000"/>
          </a:xfrm>
        </p:grpSpPr>
        <p:sp>
          <p:nvSpPr>
            <p:cNvPr id="222" name="icon:disc"/>
            <p:cNvSpPr/>
            <p:nvPr/>
          </p:nvSpPr>
          <p:spPr>
            <a:xfrm>
              <a:off x="8293100" y="2946400"/>
              <a:ext cx="381000" cy="381000"/>
            </a:xfrm>
            <a:prstGeom prst="ellipse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icon:stroke"/>
            <p:cNvSpPr/>
            <p:nvPr/>
          </p:nvSpPr>
          <p:spPr>
            <a:xfrm>
              <a:off x="8391265" y="3038503"/>
              <a:ext cx="101325" cy="244418"/>
            </a:xfrm>
            <a:custGeom>
              <a:avLst/>
              <a:gdLst/>
              <a:ahLst/>
              <a:cxnLst/>
              <a:rect l="l" t="t" r="r" b="b"/>
              <a:pathLst>
                <a:path w="101325" h="244418">
                  <a:moveTo>
                    <a:pt x="17981" y="244418"/>
                  </a:moveTo>
                  <a:lnTo>
                    <a:pt x="101325" y="6293"/>
                  </a:lnTo>
                  <a:lnTo>
                    <a:pt x="83344" y="0"/>
                  </a:lnTo>
                  <a:lnTo>
                    <a:pt x="0" y="2381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icon:stroke"/>
            <p:cNvSpPr/>
            <p:nvPr/>
          </p:nvSpPr>
          <p:spPr>
            <a:xfrm>
              <a:off x="8474609" y="3038503"/>
              <a:ext cx="101325" cy="244418"/>
            </a:xfrm>
            <a:custGeom>
              <a:avLst/>
              <a:gdLst/>
              <a:ahLst/>
              <a:cxnLst/>
              <a:rect l="l" t="t" r="r" b="b"/>
              <a:pathLst>
                <a:path w="101325" h="244418">
                  <a:moveTo>
                    <a:pt x="0" y="6293"/>
                  </a:moveTo>
                  <a:lnTo>
                    <a:pt x="83344" y="244418"/>
                  </a:lnTo>
                  <a:lnTo>
                    <a:pt x="101325" y="238125"/>
                  </a:lnTo>
                  <a:lnTo>
                    <a:pt x="179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icon:stroke"/>
            <p:cNvSpPr/>
            <p:nvPr/>
          </p:nvSpPr>
          <p:spPr>
            <a:xfrm>
              <a:off x="8412162" y="3222625"/>
              <a:ext cx="130969" cy="19050"/>
            </a:xfrm>
            <a:custGeom>
              <a:avLst/>
              <a:gdLst/>
              <a:ahLst/>
              <a:cxnLst/>
              <a:rect l="l" t="t" r="r" b="b"/>
              <a:pathLst>
                <a:path w="130969" h="19050">
                  <a:moveTo>
                    <a:pt x="0" y="19050"/>
                  </a:moveTo>
                  <a:lnTo>
                    <a:pt x="130969" y="19050"/>
                  </a:lnTo>
                  <a:lnTo>
                    <a:pt x="13096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icon:stroke"/>
            <p:cNvSpPr/>
            <p:nvPr/>
          </p:nvSpPr>
          <p:spPr>
            <a:xfrm>
              <a:off x="8442344" y="3129149"/>
              <a:ext cx="94417" cy="75033"/>
            </a:xfrm>
            <a:custGeom>
              <a:avLst/>
              <a:gdLst/>
              <a:ahLst/>
              <a:cxnLst/>
              <a:rect l="l" t="t" r="r" b="b"/>
              <a:pathLst>
                <a:path w="94417" h="75033">
                  <a:moveTo>
                    <a:pt x="0" y="15501"/>
                  </a:moveTo>
                  <a:lnTo>
                    <a:pt x="83344" y="75033"/>
                  </a:lnTo>
                  <a:lnTo>
                    <a:pt x="94417" y="59531"/>
                  </a:lnTo>
                  <a:lnTo>
                    <a:pt x="110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icon:stroke"/>
            <p:cNvSpPr/>
            <p:nvPr/>
          </p:nvSpPr>
          <p:spPr>
            <a:xfrm>
              <a:off x="8430438" y="3129149"/>
              <a:ext cx="94417" cy="75033"/>
            </a:xfrm>
            <a:custGeom>
              <a:avLst/>
              <a:gdLst/>
              <a:ahLst/>
              <a:cxnLst/>
              <a:rect l="l" t="t" r="r" b="b"/>
              <a:pathLst>
                <a:path w="94417" h="75033">
                  <a:moveTo>
                    <a:pt x="11073" y="75033"/>
                  </a:moveTo>
                  <a:lnTo>
                    <a:pt x="94417" y="15501"/>
                  </a:lnTo>
                  <a:lnTo>
                    <a:pt x="83344" y="0"/>
                  </a:lnTo>
                  <a:lnTo>
                    <a:pt x="0" y="595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icon:antenna"/>
            <p:cNvSpPr/>
            <p:nvPr/>
          </p:nvSpPr>
          <p:spPr>
            <a:xfrm>
              <a:off x="8459787" y="3005931"/>
              <a:ext cx="47625" cy="476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icon:stroke"/>
            <p:cNvSpPr/>
            <p:nvPr/>
          </p:nvSpPr>
          <p:spPr>
            <a:xfrm>
              <a:off x="8331881" y="3002393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23812" y="0"/>
                  </a:moveTo>
                  <a:lnTo>
                    <a:pt x="0" y="59532"/>
                  </a:lnTo>
                  <a:lnTo>
                    <a:pt x="17687" y="66606"/>
                  </a:lnTo>
                  <a:lnTo>
                    <a:pt x="41500" y="70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icon:stroke"/>
            <p:cNvSpPr/>
            <p:nvPr/>
          </p:nvSpPr>
          <p:spPr>
            <a:xfrm>
              <a:off x="8331881" y="3061925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0" y="7074"/>
                  </a:moveTo>
                  <a:lnTo>
                    <a:pt x="23812" y="66606"/>
                  </a:lnTo>
                  <a:lnTo>
                    <a:pt x="41500" y="59531"/>
                  </a:lnTo>
                  <a:lnTo>
                    <a:pt x="176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icon:stroke"/>
            <p:cNvSpPr/>
            <p:nvPr/>
          </p:nvSpPr>
          <p:spPr>
            <a:xfrm>
              <a:off x="8593818" y="3002393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0" y="7075"/>
                  </a:moveTo>
                  <a:lnTo>
                    <a:pt x="23813" y="66606"/>
                  </a:lnTo>
                  <a:lnTo>
                    <a:pt x="41500" y="59532"/>
                  </a:lnTo>
                  <a:lnTo>
                    <a:pt x="17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icon:stroke"/>
            <p:cNvSpPr/>
            <p:nvPr/>
          </p:nvSpPr>
          <p:spPr>
            <a:xfrm>
              <a:off x="8593818" y="3061925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23813" y="0"/>
                  </a:moveTo>
                  <a:lnTo>
                    <a:pt x="0" y="59531"/>
                  </a:lnTo>
                  <a:lnTo>
                    <a:pt x="17688" y="66606"/>
                  </a:lnTo>
                  <a:lnTo>
                    <a:pt x="41500" y="70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icon:stroke"/>
            <p:cNvSpPr/>
            <p:nvPr/>
          </p:nvSpPr>
          <p:spPr>
            <a:xfrm>
              <a:off x="8379506" y="3002393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23812" y="0"/>
                  </a:moveTo>
                  <a:lnTo>
                    <a:pt x="0" y="59532"/>
                  </a:lnTo>
                  <a:lnTo>
                    <a:pt x="17687" y="66606"/>
                  </a:lnTo>
                  <a:lnTo>
                    <a:pt x="41500" y="70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icon:stroke"/>
            <p:cNvSpPr/>
            <p:nvPr/>
          </p:nvSpPr>
          <p:spPr>
            <a:xfrm>
              <a:off x="8379506" y="3061925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0" y="7074"/>
                  </a:moveTo>
                  <a:lnTo>
                    <a:pt x="23812" y="66606"/>
                  </a:lnTo>
                  <a:lnTo>
                    <a:pt x="41500" y="59531"/>
                  </a:lnTo>
                  <a:lnTo>
                    <a:pt x="176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icon:stroke"/>
            <p:cNvSpPr/>
            <p:nvPr/>
          </p:nvSpPr>
          <p:spPr>
            <a:xfrm>
              <a:off x="8546193" y="3002393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0" y="7075"/>
                  </a:moveTo>
                  <a:lnTo>
                    <a:pt x="23813" y="66606"/>
                  </a:lnTo>
                  <a:lnTo>
                    <a:pt x="41500" y="59532"/>
                  </a:lnTo>
                  <a:lnTo>
                    <a:pt x="176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icon:stroke"/>
            <p:cNvSpPr/>
            <p:nvPr/>
          </p:nvSpPr>
          <p:spPr>
            <a:xfrm>
              <a:off x="8546193" y="3061925"/>
              <a:ext cx="41500" cy="66606"/>
            </a:xfrm>
            <a:custGeom>
              <a:avLst/>
              <a:gdLst/>
              <a:ahLst/>
              <a:cxnLst/>
              <a:rect l="l" t="t" r="r" b="b"/>
              <a:pathLst>
                <a:path w="41500" h="66606">
                  <a:moveTo>
                    <a:pt x="23813" y="0"/>
                  </a:moveTo>
                  <a:lnTo>
                    <a:pt x="0" y="59531"/>
                  </a:lnTo>
                  <a:lnTo>
                    <a:pt x="17688" y="66606"/>
                  </a:lnTo>
                  <a:lnTo>
                    <a:pt x="41500" y="70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37" name="scene-text:电信"/>
          <p:cNvSpPr txBox="1"/>
          <p:nvPr/>
        </p:nvSpPr>
        <p:spPr>
          <a:xfrm>
            <a:off x="8788400" y="2921000"/>
            <a:ext cx="2844800" cy="43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3D8"/>
                </a:solidFill>
                <a:latin typeface="Microsoft YaHei"/>
              </a:rPr>
              <a:t>电信：</a:t>
            </a:r>
            <a:r>
              <a:rPr sz="1200" b="0">
                <a:solidFill>
                  <a:srgbClr val="12223C"/>
                </a:solidFill>
                <a:latin typeface="Microsoft YaHei"/>
              </a:rPr>
              <a:t>计费、CRM、运营分析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实时数据平台</a:t>
            </a:r>
          </a:p>
        </p:txBody>
      </p:sp>
      <p:sp>
        <p:nvSpPr>
          <p:cNvPr id="238" name="scene-card:能源"/>
          <p:cNvSpPr/>
          <p:nvPr/>
        </p:nvSpPr>
        <p:spPr>
          <a:xfrm>
            <a:off x="8204200" y="3505200"/>
            <a:ext cx="353060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9" name="icon:energy"/>
          <p:cNvGrpSpPr/>
          <p:nvPr/>
        </p:nvGrpSpPr>
        <p:grpSpPr>
          <a:xfrm>
            <a:off x="8293100" y="3594100"/>
            <a:ext cx="381000" cy="381000"/>
            <a:chOff x="8293100" y="3594100"/>
            <a:chExt cx="381000" cy="381000"/>
          </a:xfrm>
        </p:grpSpPr>
        <p:sp>
          <p:nvSpPr>
            <p:cNvPr id="240" name="icon:disc"/>
            <p:cNvSpPr/>
            <p:nvPr/>
          </p:nvSpPr>
          <p:spPr>
            <a:xfrm>
              <a:off x="8293100" y="3594100"/>
              <a:ext cx="381000" cy="381000"/>
            </a:xfrm>
            <a:prstGeom prst="ellipse">
              <a:avLst/>
            </a:prstGeom>
            <a:solidFill>
              <a:srgbClr val="EE92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icon:part"/>
            <p:cNvSpPr/>
            <p:nvPr/>
          </p:nvSpPr>
          <p:spPr>
            <a:xfrm>
              <a:off x="8388350" y="3641725"/>
              <a:ext cx="202406" cy="297656"/>
            </a:xfrm>
            <a:custGeom>
              <a:avLst/>
              <a:gdLst/>
              <a:ahLst/>
              <a:cxnLst/>
              <a:rect l="l" t="t" r="r" b="b"/>
              <a:pathLst>
                <a:path w="202406" h="297656">
                  <a:moveTo>
                    <a:pt x="95250" y="0"/>
                  </a:moveTo>
                  <a:lnTo>
                    <a:pt x="0" y="166687"/>
                  </a:lnTo>
                  <a:lnTo>
                    <a:pt x="83343" y="166687"/>
                  </a:lnTo>
                  <a:lnTo>
                    <a:pt x="47625" y="297656"/>
                  </a:lnTo>
                  <a:lnTo>
                    <a:pt x="202406" y="95250"/>
                  </a:lnTo>
                  <a:lnTo>
                    <a:pt x="119062" y="95250"/>
                  </a:lnTo>
                  <a:lnTo>
                    <a:pt x="1666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2" name="scene-text:能源"/>
          <p:cNvSpPr txBox="1"/>
          <p:nvPr/>
        </p:nvSpPr>
        <p:spPr>
          <a:xfrm>
            <a:off x="8788400" y="3568700"/>
            <a:ext cx="2844800" cy="43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E9215"/>
                </a:solidFill>
                <a:latin typeface="Microsoft YaHei"/>
              </a:rPr>
              <a:t>能源：</a:t>
            </a:r>
            <a:r>
              <a:rPr sz="1200" b="0">
                <a:solidFill>
                  <a:srgbClr val="12223C"/>
                </a:solidFill>
                <a:latin typeface="Microsoft YaHei"/>
              </a:rPr>
              <a:t>生产调度、设备时序数据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集团管控、数据中台</a:t>
            </a:r>
          </a:p>
        </p:txBody>
      </p:sp>
      <p:sp>
        <p:nvSpPr>
          <p:cNvPr id="243" name="scene-card:交通医疗"/>
          <p:cNvSpPr/>
          <p:nvPr/>
        </p:nvSpPr>
        <p:spPr>
          <a:xfrm>
            <a:off x="8204200" y="4152900"/>
            <a:ext cx="353060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4" name="icon:transport"/>
          <p:cNvGrpSpPr/>
          <p:nvPr/>
        </p:nvGrpSpPr>
        <p:grpSpPr>
          <a:xfrm>
            <a:off x="8293100" y="4241800"/>
            <a:ext cx="381000" cy="381000"/>
            <a:chOff x="8293100" y="4241800"/>
            <a:chExt cx="381000" cy="381000"/>
          </a:xfrm>
        </p:grpSpPr>
        <p:sp>
          <p:nvSpPr>
            <p:cNvPr id="245" name="icon:disc"/>
            <p:cNvSpPr/>
            <p:nvPr/>
          </p:nvSpPr>
          <p:spPr>
            <a:xfrm>
              <a:off x="8293100" y="4241800"/>
              <a:ext cx="381000" cy="381000"/>
            </a:xfrm>
            <a:prstGeom prst="ellipse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icon:train"/>
            <p:cNvSpPr/>
            <p:nvPr/>
          </p:nvSpPr>
          <p:spPr>
            <a:xfrm>
              <a:off x="8352631" y="4301331"/>
              <a:ext cx="226218" cy="226218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icon:window"/>
            <p:cNvSpPr/>
            <p:nvPr/>
          </p:nvSpPr>
          <p:spPr>
            <a:xfrm>
              <a:off x="8376443" y="4337050"/>
              <a:ext cx="178593" cy="95250"/>
            </a:xfrm>
            <a:prstGeom prst="roundRect">
              <a:avLst>
                <a:gd name="adj" fmla="val 4000"/>
              </a:avLst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icon:part"/>
            <p:cNvSpPr/>
            <p:nvPr/>
          </p:nvSpPr>
          <p:spPr>
            <a:xfrm>
              <a:off x="8364537" y="4551362"/>
              <a:ext cx="214312" cy="238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icon:stroke"/>
            <p:cNvSpPr/>
            <p:nvPr/>
          </p:nvSpPr>
          <p:spPr>
            <a:xfrm>
              <a:off x="8345193" y="4521599"/>
              <a:ext cx="62501" cy="71432"/>
            </a:xfrm>
            <a:custGeom>
              <a:avLst/>
              <a:gdLst/>
              <a:ahLst/>
              <a:cxnLst/>
              <a:rect l="l" t="t" r="r" b="b"/>
              <a:pathLst>
                <a:path w="62501" h="71432">
                  <a:moveTo>
                    <a:pt x="47625" y="0"/>
                  </a:moveTo>
                  <a:lnTo>
                    <a:pt x="0" y="59532"/>
                  </a:lnTo>
                  <a:lnTo>
                    <a:pt x="14876" y="71432"/>
                  </a:lnTo>
                  <a:lnTo>
                    <a:pt x="62501" y="119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icon:stroke"/>
            <p:cNvSpPr/>
            <p:nvPr/>
          </p:nvSpPr>
          <p:spPr>
            <a:xfrm>
              <a:off x="8535693" y="4521599"/>
              <a:ext cx="62501" cy="71432"/>
            </a:xfrm>
            <a:custGeom>
              <a:avLst/>
              <a:gdLst/>
              <a:ahLst/>
              <a:cxnLst/>
              <a:rect l="l" t="t" r="r" b="b"/>
              <a:pathLst>
                <a:path w="62501" h="71432">
                  <a:moveTo>
                    <a:pt x="0" y="11901"/>
                  </a:moveTo>
                  <a:lnTo>
                    <a:pt x="47625" y="71432"/>
                  </a:lnTo>
                  <a:lnTo>
                    <a:pt x="62501" y="59532"/>
                  </a:lnTo>
                  <a:lnTo>
                    <a:pt x="148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icon:medical-separation"/>
            <p:cNvSpPr/>
            <p:nvPr/>
          </p:nvSpPr>
          <p:spPr>
            <a:xfrm>
              <a:off x="8507412" y="4432300"/>
              <a:ext cx="166687" cy="178593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icon:part"/>
            <p:cNvSpPr/>
            <p:nvPr/>
          </p:nvSpPr>
          <p:spPr>
            <a:xfrm>
              <a:off x="8566943" y="4444206"/>
              <a:ext cx="47625" cy="142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icon:part"/>
            <p:cNvSpPr/>
            <p:nvPr/>
          </p:nvSpPr>
          <p:spPr>
            <a:xfrm>
              <a:off x="8519318" y="4491831"/>
              <a:ext cx="142875" cy="476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4" name="scene-text:交通医疗"/>
          <p:cNvSpPr txBox="1"/>
          <p:nvPr/>
        </p:nvSpPr>
        <p:spPr>
          <a:xfrm>
            <a:off x="8788400" y="4216400"/>
            <a:ext cx="2844800" cy="43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3D8"/>
                </a:solidFill>
                <a:latin typeface="Microsoft YaHei"/>
              </a:rPr>
              <a:t>交通医疗：</a:t>
            </a:r>
            <a:r>
              <a:rPr sz="1200" b="0">
                <a:solidFill>
                  <a:srgbClr val="12223C"/>
                </a:solidFill>
                <a:latin typeface="Microsoft YaHei"/>
              </a:rPr>
              <a:t>高并发服务、区域平台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数据治理与安全合规</a:t>
            </a:r>
          </a:p>
        </p:txBody>
      </p:sp>
      <p:sp>
        <p:nvSpPr>
          <p:cNvPr id="255" name="scene-card:央国企"/>
          <p:cNvSpPr/>
          <p:nvPr/>
        </p:nvSpPr>
        <p:spPr>
          <a:xfrm>
            <a:off x="8204200" y="4800600"/>
            <a:ext cx="3530600" cy="55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3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56" name="icon:enterprise"/>
          <p:cNvGrpSpPr/>
          <p:nvPr/>
        </p:nvGrpSpPr>
        <p:grpSpPr>
          <a:xfrm>
            <a:off x="8293100" y="4889500"/>
            <a:ext cx="381000" cy="381000"/>
            <a:chOff x="8293100" y="4889500"/>
            <a:chExt cx="381000" cy="381000"/>
          </a:xfrm>
        </p:grpSpPr>
        <p:sp>
          <p:nvSpPr>
            <p:cNvPr id="257" name="icon:disc"/>
            <p:cNvSpPr/>
            <p:nvPr/>
          </p:nvSpPr>
          <p:spPr>
            <a:xfrm>
              <a:off x="8293100" y="4889500"/>
              <a:ext cx="381000" cy="381000"/>
            </a:xfrm>
            <a:prstGeom prst="ellipse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icon:part"/>
            <p:cNvSpPr/>
            <p:nvPr/>
          </p:nvSpPr>
          <p:spPr>
            <a:xfrm>
              <a:off x="8364537" y="4949031"/>
              <a:ext cx="142875" cy="285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icon:part"/>
            <p:cNvSpPr/>
            <p:nvPr/>
          </p:nvSpPr>
          <p:spPr>
            <a:xfrm>
              <a:off x="8519318" y="5032375"/>
              <a:ext cx="95250" cy="202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icon:window"/>
            <p:cNvSpPr/>
            <p:nvPr/>
          </p:nvSpPr>
          <p:spPr>
            <a:xfrm>
              <a:off x="8400256" y="4996656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icon:window"/>
            <p:cNvSpPr/>
            <p:nvPr/>
          </p:nvSpPr>
          <p:spPr>
            <a:xfrm>
              <a:off x="8400256" y="5068093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icon:window"/>
            <p:cNvSpPr/>
            <p:nvPr/>
          </p:nvSpPr>
          <p:spPr>
            <a:xfrm>
              <a:off x="8400256" y="5139531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icon:window"/>
            <p:cNvSpPr/>
            <p:nvPr/>
          </p:nvSpPr>
          <p:spPr>
            <a:xfrm>
              <a:off x="8459787" y="4996656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icon:window"/>
            <p:cNvSpPr/>
            <p:nvPr/>
          </p:nvSpPr>
          <p:spPr>
            <a:xfrm>
              <a:off x="8459787" y="5068093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icon:window"/>
            <p:cNvSpPr/>
            <p:nvPr/>
          </p:nvSpPr>
          <p:spPr>
            <a:xfrm>
              <a:off x="8459787" y="5139531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icon:window"/>
            <p:cNvSpPr/>
            <p:nvPr/>
          </p:nvSpPr>
          <p:spPr>
            <a:xfrm>
              <a:off x="8555037" y="5068093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icon:window"/>
            <p:cNvSpPr/>
            <p:nvPr/>
          </p:nvSpPr>
          <p:spPr>
            <a:xfrm>
              <a:off x="8555037" y="5139531"/>
              <a:ext cx="23812" cy="35718"/>
            </a:xfrm>
            <a:prstGeom prst="rect">
              <a:avLst/>
            </a:prstGeom>
            <a:solidFill>
              <a:srgbClr val="0753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68" name="scene-text:央国企"/>
          <p:cNvSpPr txBox="1"/>
          <p:nvPr/>
        </p:nvSpPr>
        <p:spPr>
          <a:xfrm>
            <a:off x="8788400" y="4864100"/>
            <a:ext cx="2844800" cy="431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753D8"/>
                </a:solidFill>
                <a:latin typeface="Microsoft YaHei"/>
              </a:rPr>
              <a:t>央国企：</a:t>
            </a:r>
            <a:r>
              <a:rPr sz="1200" b="0">
                <a:solidFill>
                  <a:srgbClr val="12223C"/>
                </a:solidFill>
                <a:latin typeface="Microsoft YaHei"/>
              </a:rPr>
              <a:t>集团级国产化替代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2223C"/>
                </a:solidFill>
                <a:latin typeface="Microsoft YaHei"/>
              </a:rPr>
              <a:t>统一技术栈、专有云数据库</a:t>
            </a:r>
          </a:p>
        </p:txBody>
      </p:sp>
      <p:sp>
        <p:nvSpPr>
          <p:cNvPr id="269" name="panel:conclusion"/>
          <p:cNvSpPr/>
          <p:nvPr/>
        </p:nvSpPr>
        <p:spPr>
          <a:xfrm>
            <a:off x="355600" y="5753100"/>
            <a:ext cx="11480800" cy="495300"/>
          </a:xfrm>
          <a:prstGeom prst="rect">
            <a:avLst/>
          </a:prstGeom>
          <a:solidFill>
            <a:srgbClr val="D92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70" name="icon:target"/>
          <p:cNvGrpSpPr/>
          <p:nvPr/>
        </p:nvGrpSpPr>
        <p:grpSpPr>
          <a:xfrm>
            <a:off x="469900" y="5816600"/>
            <a:ext cx="368300" cy="368300"/>
            <a:chOff x="469900" y="5816600"/>
            <a:chExt cx="368300" cy="368300"/>
          </a:xfrm>
        </p:grpSpPr>
        <p:sp>
          <p:nvSpPr>
            <p:cNvPr id="271" name="icon:disc"/>
            <p:cNvSpPr/>
            <p:nvPr/>
          </p:nvSpPr>
          <p:spPr>
            <a:xfrm>
              <a:off x="469900" y="5816600"/>
              <a:ext cx="368300" cy="368300"/>
            </a:xfrm>
            <a:prstGeom prst="ellipse">
              <a:avLst/>
            </a:prstGeom>
            <a:solidFill>
              <a:srgbClr val="DC26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icon:ring"/>
            <p:cNvSpPr/>
            <p:nvPr/>
          </p:nvSpPr>
          <p:spPr>
            <a:xfrm>
              <a:off x="515937" y="5862637"/>
              <a:ext cx="276225" cy="276225"/>
            </a:xfrm>
            <a:prstGeom prst="ellipse">
              <a:avLst/>
            </a:prstGeom>
            <a:noFill/>
            <a:ln w="17264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icon:ring"/>
            <p:cNvSpPr/>
            <p:nvPr/>
          </p:nvSpPr>
          <p:spPr>
            <a:xfrm>
              <a:off x="573484" y="5920184"/>
              <a:ext cx="161131" cy="161131"/>
            </a:xfrm>
            <a:prstGeom prst="ellipse">
              <a:avLst/>
            </a:prstGeom>
            <a:noFill/>
            <a:ln w="17264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icon:stroke"/>
            <p:cNvSpPr/>
            <p:nvPr/>
          </p:nvSpPr>
          <p:spPr>
            <a:xfrm>
              <a:off x="645097" y="5876704"/>
              <a:ext cx="132998" cy="132998"/>
            </a:xfrm>
            <a:custGeom>
              <a:avLst/>
              <a:gdLst/>
              <a:ahLst/>
              <a:cxnLst/>
              <a:rect l="l" t="t" r="r" b="b"/>
              <a:pathLst>
                <a:path w="132998" h="132998">
                  <a:moveTo>
                    <a:pt x="17905" y="132998"/>
                  </a:moveTo>
                  <a:lnTo>
                    <a:pt x="132998" y="17904"/>
                  </a:lnTo>
                  <a:lnTo>
                    <a:pt x="115094" y="0"/>
                  </a:lnTo>
                  <a:lnTo>
                    <a:pt x="0" y="1150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icon:part"/>
            <p:cNvSpPr/>
            <p:nvPr/>
          </p:nvSpPr>
          <p:spPr>
            <a:xfrm>
              <a:off x="734615" y="5851128"/>
              <a:ext cx="69056" cy="80565"/>
            </a:xfrm>
            <a:custGeom>
              <a:avLst/>
              <a:gdLst/>
              <a:ahLst/>
              <a:cxnLst/>
              <a:rect l="l" t="t" r="r" b="b"/>
              <a:pathLst>
                <a:path w="69056" h="80565">
                  <a:moveTo>
                    <a:pt x="0" y="23018"/>
                  </a:moveTo>
                  <a:lnTo>
                    <a:pt x="69056" y="0"/>
                  </a:lnTo>
                  <a:lnTo>
                    <a:pt x="46038" y="805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6" name="conclusion:industry"/>
          <p:cNvSpPr txBox="1"/>
          <p:nvPr/>
        </p:nvSpPr>
        <p:spPr>
          <a:xfrm>
            <a:off x="990600" y="5829300"/>
            <a:ext cx="105156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落地规律：先边缘后核心，先新增后替换，先单库后体系化迁移</a:t>
            </a:r>
          </a:p>
        </p:txBody>
      </p:sp>
      <p:sp>
        <p:nvSpPr>
          <p:cNvPr id="277" name="page-number:industry"/>
          <p:cNvSpPr txBox="1"/>
          <p:nvPr/>
        </p:nvSpPr>
        <p:spPr>
          <a:xfrm>
            <a:off x="11290300" y="6375400"/>
            <a:ext cx="546100" cy="152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18A"/>
                </a:solidFill>
                <a:latin typeface="Microsoft YaHei"/>
              </a:rPr>
              <a:t>1/1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行业落地：金融和政务先行，央国企与能源电信扩面</dc:title>
  <dc:subject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