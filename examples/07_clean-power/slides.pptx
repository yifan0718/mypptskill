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4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4" r:id="rId3"/>
    <p:sldMasterId id="2147483676" r:id="rId4"/>
  </p:sldMasterIdLst>
  <p:notesMasterIdLst>
    <p:notesMasterId r:id="rId47"/>
  </p:notesMasterIdLst>
  <p:handoutMasterIdLst>
    <p:handoutMasterId r:id="rId48"/>
  </p:handoutMasterIdLst>
  <p:sldIdLst>
    <p:sldId id="5908" r:id="rId25"/>
    <p:sldId id="5909" r:id="rId13"/>
    <p:sldId id="5910" r:id="rId14"/>
    <p:sldId id="5911" r:id="rId15"/>
    <p:sldId id="5912" r:id="rId16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67">
          <p15:clr>
            <a:srgbClr val="A4A3A4"/>
          </p15:clr>
        </p15:guide>
        <p15:guide id="2" pos="7433">
          <p15:clr>
            <a:srgbClr val="A4A3A4"/>
          </p15:clr>
        </p15:guide>
        <p15:guide id="3" orient="horz" pos="701">
          <p15:clr>
            <a:srgbClr val="A4A3A4"/>
          </p15:clr>
        </p15:guide>
        <p15:guide id="4" orient="horz" pos="39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1D24"/>
    <a:srgbClr val="44546A"/>
    <a:srgbClr val="C4C4C4"/>
    <a:srgbClr val="E6646B"/>
    <a:srgbClr val="5B0E13"/>
    <a:srgbClr val="88161C"/>
    <a:srgbClr val="ECEBEB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3" d="100"/>
          <a:sy n="123" d="100"/>
        </p:scale>
        <p:origin x="232" y="200"/>
      </p:cViewPr>
      <p:guideLst>
        <p:guide pos="167"/>
        <p:guide pos="7433"/>
        <p:guide orient="horz" pos="701"/>
        <p:guide orient="horz" pos="39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25" Type="http://schemas.openxmlformats.org/officeDocument/2006/relationships/slide" Target="slides/slide1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53" Type="http://schemas.openxmlformats.org/officeDocument/2006/relationships/tags" Target="tags/tag1.xml"/><Relationship Id="rId54" Type="http://schemas.openxmlformats.org/officeDocument/2006/relationships/presProps" Target="pres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A52524"/>
            </a:solidFill>
            <a:ln>
              <a:solidFill>
                <a:srgbClr val="A52524"/>
              </a:solidFill>
            </a:ln>
          </c:spPr>
          <c:cat>
            <c:strRef>
              <c:f>Sheet1!$A$2:$A$5</c:f>
              <c:strCache>
                <c:ptCount val="4"/>
                <c:pt idx="0">
                  <c:v>2024需求</c:v>
                </c:pt>
                <c:pt idx="1">
                  <c:v>2024清洁</c:v>
                </c:pt>
                <c:pt idx="2">
                  <c:v>2025需求</c:v>
                </c:pt>
                <c:pt idx="3">
                  <c:v>2025清洁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1264.89</c:v>
                </c:pt>
                <c:pt idx="1">
                  <c:v>0</c:v>
                </c:pt>
                <c:pt idx="2">
                  <c:v>849.14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光伏</c:v>
                </c:pt>
              </c:strCache>
            </c:strRef>
          </c:tx>
          <c:spPr>
            <a:solidFill>
              <a:srgbClr val="2D3955"/>
            </a:solidFill>
            <a:ln>
              <a:solidFill>
                <a:srgbClr val="2D3955"/>
              </a:solidFill>
            </a:ln>
          </c:spPr>
          <c:cat>
            <c:strRef>
              <c:f>Sheet1!$A$2:$A$5</c:f>
              <c:strCache>
                <c:ptCount val="4"/>
                <c:pt idx="0">
                  <c:v>2024需求</c:v>
                </c:pt>
                <c:pt idx="1">
                  <c:v>2024清洁</c:v>
                </c:pt>
                <c:pt idx="2">
                  <c:v>2025需求</c:v>
                </c:pt>
                <c:pt idx="3">
                  <c:v>2025清洁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478.51</c:v>
                </c:pt>
                <c:pt idx="2">
                  <c:v>0</c:v>
                </c:pt>
                <c:pt idx="3">
                  <c:v>635.52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风电</c:v>
                </c:pt>
              </c:strCache>
            </c:strRef>
          </c:tx>
          <c:spPr>
            <a:solidFill>
              <a:srgbClr val="708198"/>
            </a:solidFill>
            <a:ln>
              <a:solidFill>
                <a:srgbClr val="708198"/>
              </a:solidFill>
            </a:ln>
          </c:spPr>
          <c:cat>
            <c:strRef>
              <c:f>Sheet1!$A$2:$A$5</c:f>
              <c:strCache>
                <c:ptCount val="4"/>
                <c:pt idx="0">
                  <c:v>2024需求</c:v>
                </c:pt>
                <c:pt idx="1">
                  <c:v>2024清洁</c:v>
                </c:pt>
                <c:pt idx="2">
                  <c:v>2025需求</c:v>
                </c:pt>
                <c:pt idx="3">
                  <c:v>2025清洁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190.32</c:v>
                </c:pt>
                <c:pt idx="2">
                  <c:v>0</c:v>
                </c:pt>
                <c:pt idx="3">
                  <c:v>205.01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核电</c:v>
                </c:pt>
              </c:strCache>
            </c:strRef>
          </c:tx>
          <c:spPr>
            <a:solidFill>
              <a:srgbClr val="A5B1C2"/>
            </a:solidFill>
            <a:ln>
              <a:solidFill>
                <a:srgbClr val="A5B1C2"/>
              </a:solidFill>
            </a:ln>
          </c:spPr>
          <c:cat>
            <c:strRef>
              <c:f>Sheet1!$A$2:$A$5</c:f>
              <c:strCache>
                <c:ptCount val="4"/>
                <c:pt idx="0">
                  <c:v>2024需求</c:v>
                </c:pt>
                <c:pt idx="1">
                  <c:v>2024清洁</c:v>
                </c:pt>
                <c:pt idx="2">
                  <c:v>2025需求</c:v>
                </c:pt>
                <c:pt idx="3">
                  <c:v>2025清洁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79.37</c:v>
                </c:pt>
                <c:pt idx="2">
                  <c:v>0</c:v>
                </c:pt>
                <c:pt idx="3">
                  <c:v>35.03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水电等</c:v>
                </c:pt>
              </c:strCache>
            </c:strRef>
          </c:tx>
          <c:spPr>
            <a:solidFill>
              <a:srgbClr val="CFD5DD"/>
            </a:solidFill>
            <a:ln>
              <a:solidFill>
                <a:srgbClr val="CFD5DD"/>
              </a:solidFill>
            </a:ln>
          </c:spPr>
          <c:cat>
            <c:strRef>
              <c:f>Sheet1!$A$2:$A$5</c:f>
              <c:strCache>
                <c:ptCount val="4"/>
                <c:pt idx="0">
                  <c:v>2024需求</c:v>
                </c:pt>
                <c:pt idx="1">
                  <c:v>2024清洁</c:v>
                </c:pt>
                <c:pt idx="2">
                  <c:v>2025需求</c:v>
                </c:pt>
                <c:pt idx="3">
                  <c:v>2025清洁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213.33</c:v>
                </c:pt>
                <c:pt idx="2">
                  <c:v>0</c:v>
                </c:pt>
                <c:pt idx="3">
                  <c:v>11.38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.0"/>
          <c:min val="0.0"/>
        </c:scaling>
        <c:delete val="0"/>
        <c:axPos val="l"/>
        <c:majorGridlines>
          <c:spPr>
            <a:ln>
              <a:solidFill>
                <a:srgbClr val="E1E5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-2068027336"/>
        <c:crosses val="autoZero"/>
        <c:majorUnit val="350.0"/>
      </c:valAx>
    </c:plotArea>
    <c:legend>
      <c:legendPos val="b"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替代门槛 y=x</c:v>
                </c:pt>
              </c:strCache>
            </c:strRef>
          </c:tx>
          <c:spPr>
            <a:ln w="15240">
              <a:solidFill>
                <a:srgbClr val="AAB1BB"/>
              </a:solidFill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-1</c:v>
                </c:pt>
                <c:pt idx="1">
                  <c:v>6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-1</c:v>
                </c:pt>
                <c:pt idx="1">
                  <c:v>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中国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2D3955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>
                    <a:solidFill>
                      <a:srgbClr val="2D3955"/>
                    </a:solidFill>
                    <a:latin typeface="Microsoft YaHei"/>
                  </a:defRPr>
                </a:pPr>
              </a:p>
            </c:txPr>
            <c:dLblPos val="l"/>
            <c:showLegendKey val="0"/>
            <c:showVal val="0"/>
            <c:showCatName val="0"/>
            <c:showSerName val="1"/>
          </c:dLbls>
          <c:xVal>
            <c:numRef>
              <c:f>Sheet1!$A$6:$A$6</c:f>
              <c:numCache>
                <c:formatCode>General</c:formatCode>
                <c:ptCount val="1"/>
                <c:pt idx="0">
                  <c:v>4.991817181535431</c:v>
                </c:pt>
              </c:numCache>
            </c:numRef>
          </c:xVal>
          <c:yVal>
            <c:numRef>
              <c:f>Sheet1!$B$6:$B$6</c:f>
              <c:numCache>
                <c:formatCode>General</c:formatCode>
                <c:ptCount val="1"/>
                <c:pt idx="0">
                  <c:v>5.550413709001497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Sheet1!$B$8</c:f>
              <c:strCache>
                <c:ptCount val="1"/>
                <c:pt idx="0">
                  <c:v>印度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2D3955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>
                    <a:solidFill>
                      <a:srgbClr val="2D3955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1"/>
          </c:dLbls>
          <c:xVal>
            <c:numRef>
              <c:f>Sheet1!$A$9:$A$9</c:f>
              <c:numCache>
                <c:formatCode>General</c:formatCode>
                <c:ptCount val="1"/>
                <c:pt idx="0">
                  <c:v>2.3891221205179383</c:v>
                </c:pt>
              </c:numCache>
            </c:numRef>
          </c:xVal>
          <c:yVal>
            <c:numRef>
              <c:f>Sheet1!$B$9:$B$9</c:f>
              <c:numCache>
                <c:formatCode>General</c:formatCode>
                <c:ptCount val="1"/>
                <c:pt idx="0">
                  <c:v>4.927687270796668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</c:f>
              <c:strCache>
                <c:ptCount val="1"/>
                <c:pt idx="0">
                  <c:v>美国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A52524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>
                    <a:solidFill>
                      <a:srgbClr val="A52524"/>
                    </a:solidFill>
                    <a:latin typeface="Microsoft YaHei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</c:dLbls>
          <c:xVal>
            <c:numRef>
              <c:f>Sheet1!$A$12:$A$12</c:f>
              <c:numCache>
                <c:formatCode>General</c:formatCode>
                <c:ptCount val="1"/>
                <c:pt idx="0">
                  <c:v>2.973554030462015</c:v>
                </c:pt>
              </c:numCache>
            </c:numRef>
          </c:xVal>
          <c:yVal>
            <c:numRef>
              <c:f>Sheet1!$B$12:$B$12</c:f>
              <c:numCache>
                <c:formatCode>General</c:formatCode>
                <c:ptCount val="1"/>
                <c:pt idx="0">
                  <c:v>2.4359623413389393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Sheet1!$B$14</c:f>
              <c:strCache>
                <c:ptCount val="1"/>
                <c:pt idx="0">
                  <c:v>欧盟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A52524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>
                    <a:solidFill>
                      <a:srgbClr val="A52524"/>
                    </a:solidFill>
                    <a:latin typeface="Microsoft YaHei"/>
                  </a:defRPr>
                </a:pPr>
              </a:p>
            </c:txPr>
            <c:dLblPos val="b"/>
            <c:showLegendKey val="0"/>
            <c:showVal val="0"/>
            <c:showCatName val="0"/>
            <c:showSerName val="1"/>
          </c:dLbls>
          <c:xVal>
            <c:numRef>
              <c:f>Sheet1!$A$15:$A$15</c:f>
              <c:numCache>
                <c:formatCode>General</c:formatCode>
                <c:ptCount val="1"/>
                <c:pt idx="0">
                  <c:v>0.490419790647977</c:v>
                </c:pt>
              </c:numCache>
            </c:numRef>
          </c:xVal>
          <c:yVal>
            <c:numRef>
              <c:f>Sheet1!$B$15:$B$15</c:f>
              <c:numCache>
                <c:formatCode>General</c:formatCode>
                <c:ptCount val="1"/>
                <c:pt idx="0">
                  <c:v>-0.1445180919265457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Sheet1!$B$17</c:f>
              <c:strCache>
                <c:ptCount val="1"/>
                <c:pt idx="0">
                  <c:v>巴西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A52524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>
                    <a:solidFill>
                      <a:srgbClr val="A52524"/>
                    </a:solidFill>
                    <a:latin typeface="Microsoft YaHei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</c:dLbls>
          <c:xVal>
            <c:numRef>
              <c:f>Sheet1!$A$18:$A$18</c:f>
              <c:numCache>
                <c:formatCode>General</c:formatCode>
                <c:ptCount val="1"/>
                <c:pt idx="0">
                  <c:v>0.6351428080970805</c:v>
                </c:pt>
              </c:numCache>
            </c:numRef>
          </c:xVal>
          <c:yVal>
            <c:numRef>
              <c:f>Sheet1!$B$18:$B$18</c:f>
              <c:numCache>
                <c:formatCode>General</c:formatCode>
                <c:ptCount val="1"/>
                <c:pt idx="0">
                  <c:v>-0.15845558621964587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Sheet1!$B$20</c:f>
              <c:strCache>
                <c:ptCount val="1"/>
                <c:pt idx="0">
                  <c:v>日本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2D3955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>
                    <a:solidFill>
                      <a:srgbClr val="2D3955"/>
                    </a:solidFill>
                    <a:latin typeface="Microsoft YaHei"/>
                  </a:defRPr>
                </a:pPr>
              </a:p>
            </c:txPr>
            <c:dLblPos val="l"/>
            <c:showLegendKey val="0"/>
            <c:showVal val="0"/>
            <c:showCatName val="0"/>
            <c:showSerName val="1"/>
          </c:dLbls>
          <c:xVal>
            <c:numRef>
              <c:f>Sheet1!$A$21:$A$21</c:f>
              <c:numCache>
                <c:formatCode>General</c:formatCode>
                <c:ptCount val="1"/>
                <c:pt idx="0">
                  <c:v>1.317407687993782</c:v>
                </c:pt>
              </c:numCache>
            </c:numRef>
          </c:xVal>
          <c:yVal>
            <c:numRef>
              <c:f>Sheet1!$B$21:$B$21</c:f>
              <c:numCache>
                <c:formatCode>General</c:formatCode>
                <c:ptCount val="1"/>
                <c:pt idx="0">
                  <c:v>1.8014738437017286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Sheet1!$B$23</c:f>
              <c:strCache>
                <c:ptCount val="1"/>
                <c:pt idx="0">
                  <c:v>澳大利亚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2D3955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200">
                    <a:solidFill>
                      <a:srgbClr val="2D3955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0"/>
            <c:showCatName val="0"/>
            <c:showSerName val="1"/>
          </c:dLbls>
          <c:xVal>
            <c:numRef>
              <c:f>Sheet1!$A$24:$A$24</c:f>
              <c:numCache>
                <c:formatCode>General</c:formatCode>
                <c:ptCount val="1"/>
                <c:pt idx="0">
                  <c:v>1.654594517824173</c:v>
                </c:pt>
              </c:numCache>
            </c:numRef>
          </c:xVal>
          <c:yVal>
            <c:numRef>
              <c:f>Sheet1!$B$24:$B$24</c:f>
              <c:numCache>
                <c:formatCode>General</c:formatCode>
                <c:ptCount val="1"/>
                <c:pt idx="0">
                  <c:v>4.189745774747906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6.0"/>
          <c:min val="-1.0"/>
        </c:scaling>
        <c:delete val="0"/>
        <c:axPos val="b"/>
        <c:majorGridlines>
          <c:spPr>
            <a:ln>
              <a:solidFill>
                <a:srgbClr val="E1E5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6.0"/>
          <c:min val="-1.0"/>
        </c:scaling>
        <c:delete val="0"/>
        <c:axPos val="l"/>
        <c:majorGridlines>
          <c:spPr>
            <a:ln>
              <a:solidFill>
                <a:srgbClr val="E1E5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latin typeface="Microsoft YaHei"/>
              </a:defRPr>
            </a:pPr>
          </a:p>
        </c:txPr>
        <c:crossAx val="-2128940872"/>
        <c:crosses val="autoZero"/>
        <c:crossBetween val="midCat"/>
        <c:majorUnit val="1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A52524"/>
            </a:solidFill>
            <a:ln w="31750">
              <a:solidFill>
                <a:srgbClr val="A52524"/>
              </a:solidFill>
            </a:ln>
          </c:spPr>
          <c:marker>
            <c:symbol val="circle"/>
            <c:size val="6"/>
            <c:spPr>
              <a:solidFill>
                <a:srgbClr val="A52524"/>
              </a:solidFill>
              <a:ln>
                <a:solidFill>
                  <a:srgbClr val="A5252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757.99</c:v>
                </c:pt>
                <c:pt idx="1">
                  <c:v>315.74</c:v>
                </c:pt>
                <c:pt idx="2">
                  <c:v>603.61</c:v>
                </c:pt>
                <c:pt idx="3">
                  <c:v>630.51</c:v>
                </c:pt>
                <c:pt idx="4">
                  <c:v>502.67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D3955"/>
            </a:solidFill>
            <a:ln w="31750">
              <a:solidFill>
                <a:srgbClr val="2D3955"/>
              </a:solidFill>
            </a:ln>
          </c:spPr>
          <c:marker>
            <c:symbol val="circle"/>
            <c:size val="6"/>
            <c:spPr>
              <a:solidFill>
                <a:srgbClr val="2D3955"/>
              </a:solidFill>
              <a:ln>
                <a:solidFill>
                  <a:srgbClr val="2D395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305.09</c:v>
                </c:pt>
                <c:pt idx="1">
                  <c:v>232.14</c:v>
                </c:pt>
                <c:pt idx="2">
                  <c:v>240.5</c:v>
                </c:pt>
                <c:pt idx="3">
                  <c:v>520.74</c:v>
                </c:pt>
                <c:pt idx="4">
                  <c:v>561.38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/>
        <c:delete val="0"/>
        <c:axPos val="b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0.0"/>
          <c:min val="0.0"/>
        </c:scaling>
        <c:delete val="0"/>
        <c:axPos val="l"/>
        <c:majorGridlines>
          <c:spPr>
            <a:ln>
              <a:solidFill>
                <a:srgbClr val="E1E5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2118791784"/>
        <c:crosses val="autoZero"/>
        <c:majorUnit val="30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需求</c:v>
                </c:pt>
              </c:strCache>
            </c:strRef>
          </c:tx>
          <c:spPr>
            <a:solidFill>
              <a:srgbClr val="A52524"/>
            </a:solidFill>
            <a:ln w="31750">
              <a:solidFill>
                <a:srgbClr val="A52524"/>
              </a:solidFill>
            </a:ln>
          </c:spPr>
          <c:marker>
            <c:symbol val="circle"/>
            <c:size val="6"/>
            <c:spPr>
              <a:solidFill>
                <a:srgbClr val="A52524"/>
              </a:solidFill>
              <a:ln>
                <a:solidFill>
                  <a:srgbClr val="A5252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115.37</c:v>
                </c:pt>
                <c:pt idx="1">
                  <c:v>124.19</c:v>
                </c:pt>
                <c:pt idx="2">
                  <c:v>113.32</c:v>
                </c:pt>
                <c:pt idx="3">
                  <c:v>118.02</c:v>
                </c:pt>
                <c:pt idx="4">
                  <c:v>48.6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清洁</c:v>
                </c:pt>
              </c:strCache>
            </c:strRef>
          </c:tx>
          <c:spPr>
            <a:solidFill>
              <a:srgbClr val="2D3955"/>
            </a:solidFill>
            <a:ln w="31750">
              <a:solidFill>
                <a:srgbClr val="2D3955"/>
              </a:solidFill>
            </a:ln>
          </c:spPr>
          <c:marker>
            <c:symbol val="circle"/>
            <c:size val="6"/>
            <c:spPr>
              <a:solidFill>
                <a:srgbClr val="2D3955"/>
              </a:solidFill>
              <a:ln>
                <a:solidFill>
                  <a:srgbClr val="2D3955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17.6</c:v>
                </c:pt>
                <c:pt idx="1">
                  <c:v>51.17</c:v>
                </c:pt>
                <c:pt idx="2">
                  <c:v>7.63</c:v>
                </c:pt>
                <c:pt idx="3">
                  <c:v>39.92</c:v>
                </c:pt>
                <c:pt idx="4">
                  <c:v>96.72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/>
        <c:delete val="0"/>
        <c:axPos val="b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.0"/>
          <c:min val="0.0"/>
        </c:scaling>
        <c:delete val="0"/>
        <c:axPos val="l"/>
        <c:majorGridlines>
          <c:spPr>
            <a:ln>
              <a:solidFill>
                <a:srgbClr val="E1E5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2118791784"/>
        <c:crosses val="autoZero"/>
        <c:majorUnit val="50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电量变化</c:v>
                </c:pt>
              </c:strCache>
            </c:strRef>
          </c:tx>
          <c:spPr>
            <a:solidFill>
              <a:srgbClr val="2D3955"/>
            </a:solidFill>
            <a:ln>
              <a:solidFill>
                <a:srgbClr val="2D3955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A52524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A52524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光伏</c:v>
                </c:pt>
                <c:pt idx="1">
                  <c:v>风电</c:v>
                </c:pt>
                <c:pt idx="2">
                  <c:v>水电</c:v>
                </c:pt>
                <c:pt idx="3">
                  <c:v>核电</c:v>
                </c:pt>
                <c:pt idx="4">
                  <c:v>煤电</c:v>
                </c:pt>
                <c:pt idx="5">
                  <c:v>气电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85.07</c:v>
                </c:pt>
                <c:pt idx="1">
                  <c:v>12.49</c:v>
                </c:pt>
                <c:pt idx="2">
                  <c:v>4.66</c:v>
                </c:pt>
                <c:pt idx="3">
                  <c:v>2.92</c:v>
                </c:pt>
                <c:pt idx="4">
                  <c:v>84.99</c:v>
                </c:pt>
                <c:pt idx="5">
                  <c:v>-62.56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sz="1200">
                  <a:solidFill>
                    <a:srgbClr val="253249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-100.0"/>
        </c:scaling>
        <c:delete val="0"/>
        <c:axPos val="b"/>
        <c:majorGridlines>
          <c:spPr>
            <a:ln>
              <a:solidFill>
                <a:srgbClr val="E1E5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电量变化</c:v>
                </c:pt>
              </c:strCache>
            </c:strRef>
          </c:tx>
          <c:spPr>
            <a:solidFill>
              <a:srgbClr val="2D3955"/>
            </a:solidFill>
            <a:ln>
              <a:solidFill>
                <a:srgbClr val="2D3955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D3955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A52524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A52524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光伏</c:v>
                </c:pt>
                <c:pt idx="1">
                  <c:v>风电</c:v>
                </c:pt>
                <c:pt idx="2">
                  <c:v>水电</c:v>
                </c:pt>
                <c:pt idx="3">
                  <c:v>核电</c:v>
                </c:pt>
                <c:pt idx="4">
                  <c:v>煤电</c:v>
                </c:pt>
                <c:pt idx="5">
                  <c:v>气电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60.09</c:v>
                </c:pt>
                <c:pt idx="1">
                  <c:v>-12.41</c:v>
                </c:pt>
                <c:pt idx="2">
                  <c:v>-43.31</c:v>
                </c:pt>
                <c:pt idx="3">
                  <c:v>2.86</c:v>
                </c:pt>
                <c:pt idx="4">
                  <c:v>-14.16</c:v>
                </c:pt>
                <c:pt idx="5">
                  <c:v>34.35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sz="1200">
                  <a:solidFill>
                    <a:srgbClr val="253249"/>
                  </a:solidFill>
                  <a:latin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-100.0"/>
        </c:scaling>
        <c:delete val="0"/>
        <c:axPos val="b"/>
        <c:majorGridlines>
          <c:spPr>
            <a:ln>
              <a:solidFill>
                <a:srgbClr val="E1E5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A5ACB5"/>
            </a:solidFill>
          </a:ln>
        </c:spPr>
        <c:txPr>
          <a:bodyPr/>
          <a:lstStyle/>
          <a:p>
            <a:pPr>
              <a:defRPr sz="1200">
                <a:solidFill>
                  <a:srgbClr val="253249"/>
                </a:solidFill>
                <a:latin typeface="Microsoft YaHei"/>
              </a:defRPr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2026/5/27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‹#›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全球清洁增量886.94，需求849.14，化石−37.80；2024分别961.53、1264.89、303.36。世界跨境净进口为零。光伏占清洁增量635.52/886.94；风光覆盖需求840.53/849.14。</a:t>
            </a:r>
          </a:p>
          <a:p>
            <a:r>
              <a:t>https://ember-energy.org/latest-insights/global-electricity-review-2026/2025-in-review/</a:t>
            </a:r>
          </a:p>
          <a:p/>
          <a:p>
            <a:r>
              <a:t>数据：Ember, Global Electricity Review 2026（2026-04-21），固定报告CSV。</a:t>
            </a:r>
          </a:p>
          <a:p>
            <a:r>
              <a:t>https://ember-energy.org/app/uploads/2026/04/Global-Electricity-Review-2026-%E2%80%93-Report-dataset.csv</a:t>
            </a:r>
          </a:p>
          <a:p>
            <a:r>
              <a:t>方法：https://ember-energy.org/latest-insights/global-electricity-review-2026/supporting-materials/</a:t>
            </a:r>
          </a:p>
          <a:p>
            <a:r>
              <a:t>2025数据为按月度数据估计的毛发电量；清洁=可再生能源+核电；需求=毛发电量+净进口；年度变化单位TWh。来源中的两位小数用于计算，显示值按四舍五入取整。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散点x=需求年度增量/2024需求×100；y=(清洁增量+净进口增量)/2024需求×100；y−x=−化石增量/2024需求×100。中国、印度、美国、欧盟、巴西、日本、澳大利亚。源数据与计算保留两位小数；正文取整，因此分项可能相差1 TWh。</a:t>
            </a:r>
          </a:p>
          <a:p/>
          <a:p>
            <a:r>
              <a:t>数据：Ember, Global Electricity Review 2026（2026-04-21），固定报告CSV。</a:t>
            </a:r>
          </a:p>
          <a:p>
            <a:r>
              <a:t>https://ember-energy.org/app/uploads/2026/04/Global-Electricity-Review-2026-%E2%80%93-Report-dataset.csv</a:t>
            </a:r>
          </a:p>
          <a:p>
            <a:r>
              <a:t>方法：https://ember-energy.org/latest-insights/global-electricity-review-2026/supporting-materials/</a:t>
            </a:r>
          </a:p>
          <a:p>
            <a:r>
              <a:t>2025数据为按月度数据估计的毛发电量；清洁=可再生能源+核电；需求=毛发电量+净进口；年度变化单位TWh。来源中的两位小数用于计算，显示值按四舍五入取整。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中国2025太阳能335.89、风电138.41、清洁561.38 TWh。印度需求增长率2024为6.16%；2025为2.39%。Ember估计温和气温相对2024减少需求32 TWh，见报告第一章。两幅图分别使用0–900和0–200 TWh纵轴，突出各自跨越趋势；跨国量级比较见上页。</a:t>
            </a:r>
          </a:p>
          <a:p>
            <a:r>
              <a:t>https://ember-energy.org/latest-insights/global-electricity-review-2026/2025-in-review/</a:t>
            </a:r>
          </a:p>
          <a:p/>
          <a:p>
            <a:r>
              <a:t>数据：Ember, Global Electricity Review 2026（2026-04-21），固定报告CSV。</a:t>
            </a:r>
          </a:p>
          <a:p>
            <a:r>
              <a:t>https://ember-energy.org/app/uploads/2026/04/Global-Electricity-Review-2026-%E2%80%93-Report-dataset.csv</a:t>
            </a:r>
          </a:p>
          <a:p>
            <a:r>
              <a:t>方法：https://ember-energy.org/latest-insights/global-electricity-review-2026/supporting-materials/</a:t>
            </a:r>
          </a:p>
          <a:p>
            <a:r>
              <a:t>2025数据为按月度数据估计的毛发电量；清洁=可再生能源+核电；需求=毛发电量+净进口；年度变化单位TWh。来源中的两位小数用于计算，显示值按四舍五入取整。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美国与欧盟柱图为相同−100至+100 TWh尺度，各电源同比净变化。美国其余化石+1.25，因此84.99−62.56+1.25=23.68。欧盟其余化石−2.66，因此−14.16+34.35−2.66=17.53。欧盟净进口−10.14代表净出口增加。</a:t>
            </a:r>
          </a:p>
          <a:p>
            <a:r>
              <a:t>https://ember-energy.org/latest-insights/global-electricity-review-2026/electricity-demand-and-supply-trends/</a:t>
            </a:r>
          </a:p>
          <a:p/>
          <a:p>
            <a:r>
              <a:t>数据：Ember, Global Electricity Review 2026（2026-04-21），固定报告CSV。</a:t>
            </a:r>
          </a:p>
          <a:p>
            <a:r>
              <a:t>https://ember-energy.org/app/uploads/2026/04/Global-Electricity-Review-2026-%E2%80%93-Report-dataset.csv</a:t>
            </a:r>
          </a:p>
          <a:p>
            <a:r>
              <a:t>方法：https://ember-energy.org/latest-insights/global-electricity-review-2026/supporting-materials/</a:t>
            </a:r>
          </a:p>
          <a:p>
            <a:r>
              <a:t>2025数据为按月度数据估计的毛发电量；清洁=可再生能源+核电；需求=毛发电量+净进口；年度变化单位TWh。来源中的两位小数用于计算，显示值按四舍五入取整。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景为电量平衡演算：下一年需求增量=31779.37×增速；化石变化=需求增量−清洁增量。表格中的+800/+1000/+1200单位TWh，正数表示化石增加，负数表示减少。全球跨境净进口合计为零。临界增速886.94/31779.37=2.7909%。建议为从国家数据推导的系统管理判断。</a:t>
            </a:r>
          </a:p>
          <a:p/>
          <a:p>
            <a:r>
              <a:t>数据：Ember, Global Electricity Review 2026（2026-04-21），固定报告CSV。</a:t>
            </a:r>
          </a:p>
          <a:p>
            <a:r>
              <a:t>https://ember-energy.org/app/uploads/2026/04/Global-Electricity-Review-2026-%E2%80%93-Report-dataset.csv</a:t>
            </a:r>
          </a:p>
          <a:p>
            <a:r>
              <a:t>方法：https://ember-energy.org/latest-insights/global-electricity-review-2026/supporting-materials/</a:t>
            </a:r>
          </a:p>
          <a:p>
            <a:r>
              <a:t>2025数据为按月度数据估计的毛发电量；清洁=可再生能源+核电；需求=毛发电量+净进口；年度变化单位TWh。来源中的两位小数用于计算，显示值按四舍五入取整。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18.xml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:page"/>
          <p:cNvSpPr txBox="1"/>
          <p:nvPr/>
        </p:nvSpPr>
        <p:spPr>
          <a:xfrm>
            <a:off x="402336" y="228600"/>
            <a:ext cx="11365992" cy="438912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D3955"/>
                </a:solidFill>
                <a:latin typeface="Microsoft YaHei"/>
              </a:rPr>
              <a:t>全球化石发电微降，风光扩张与需求降速共同促成拐点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402336" y="786384"/>
            <a:ext cx="11365992" cy="0"/>
          </a:xfrm>
          <a:prstGeom prst="line">
            <a:avLst/>
          </a:prstGeom>
          <a:ln w="20320" cap="rnd">
            <a:solidFill>
              <a:srgbClr val="A52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nel:template-2"/>
          <p:cNvSpPr/>
          <p:nvPr/>
        </p:nvSpPr>
        <p:spPr>
          <a:xfrm>
            <a:off x="402336" y="1005840"/>
            <a:ext cx="6629400" cy="3886200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panel:template-5"/>
          <p:cNvSpPr/>
          <p:nvPr/>
        </p:nvSpPr>
        <p:spPr>
          <a:xfrm>
            <a:off x="7260336" y="1005840"/>
            <a:ext cx="4526280" cy="3886200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panel:template-25"/>
          <p:cNvSpPr/>
          <p:nvPr/>
        </p:nvSpPr>
        <p:spPr>
          <a:xfrm>
            <a:off x="402336" y="5120640"/>
            <a:ext cx="3639312" cy="987552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panel:template-26"/>
          <p:cNvSpPr/>
          <p:nvPr/>
        </p:nvSpPr>
        <p:spPr>
          <a:xfrm>
            <a:off x="4270248" y="5120640"/>
            <a:ext cx="3639312" cy="987552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panel:template-31"/>
          <p:cNvSpPr/>
          <p:nvPr/>
        </p:nvSpPr>
        <p:spPr>
          <a:xfrm>
            <a:off x="8138160" y="5120640"/>
            <a:ext cx="3648456" cy="987552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3" name="short:chart-title"/>
          <p:cNvSpPr txBox="1"/>
          <p:nvPr/>
        </p:nvSpPr>
        <p:spPr>
          <a:xfrm>
            <a:off x="612648" y="1170432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全球年度增量（TWh；2025 为估计值）</a:t>
            </a:r>
          </a:p>
        </p:txBody>
      </p:sp>
      <p:graphicFrame>
        <p:nvGraphicFramePr>
          <p:cNvPr id="34" name="chart:data"/>
          <p:cNvGraphicFramePr>
            <a:graphicFrameLocks noGrp="1"/>
          </p:cNvGraphicFramePr>
          <p:nvPr/>
        </p:nvGraphicFramePr>
        <p:xfrm>
          <a:off x="585216" y="1581912"/>
          <a:ext cx="6236208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short:coverage"/>
          <p:cNvSpPr txBox="1"/>
          <p:nvPr/>
        </p:nvSpPr>
        <p:spPr>
          <a:xfrm>
            <a:off x="7498079" y="1170432"/>
            <a:ext cx="404164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2025：清洁增量覆盖需求的 104.5%</a:t>
            </a:r>
          </a:p>
        </p:txBody>
      </p:sp>
      <p:graphicFrame>
        <p:nvGraphicFramePr>
          <p:cNvPr id="36" name="table:data"/>
          <p:cNvGraphicFramePr>
            <a:graphicFrameLocks noGrp="1"/>
          </p:cNvGraphicFramePr>
          <p:nvPr/>
        </p:nvGraphicFramePr>
        <p:xfrm>
          <a:off x="7498079" y="1719072"/>
          <a:ext cx="4041648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/>
                <a:gridCol w="1124712"/>
                <a:gridCol w="1124712"/>
              </a:tblGrid>
              <a:tr h="349758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全球增量（TWh）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2024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2025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</a:tr>
              <a:tr h="349758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需求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+1,265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+849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</a:tr>
              <a:tr h="349758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清洁发电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+962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+887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</a:tr>
              <a:tr h="349758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化石发电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+303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−38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37" name="body:global-interpretation"/>
          <p:cNvSpPr txBox="1"/>
          <p:nvPr/>
        </p:nvSpPr>
        <p:spPr>
          <a:xfrm>
            <a:off x="7498079" y="3383280"/>
            <a:ext cx="4041648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53249"/>
                </a:solidFill>
                <a:latin typeface="Microsoft YaHei"/>
              </a:rPr>
              <a:t>清洁发电增量同比少了 75 TWh；需求增量减少 416 TWh，供需差额因此跨过零点。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53249"/>
                </a:solidFill>
                <a:latin typeface="Microsoft YaHei"/>
              </a:rPr>
              <a:t>风光合计新增 841 TWh，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53249"/>
                </a:solidFill>
                <a:latin typeface="Microsoft YaHei"/>
              </a:rPr>
              <a:t>覆盖需求增量的 99.0%。</a:t>
            </a:r>
          </a:p>
        </p:txBody>
      </p:sp>
      <p:sp>
        <p:nvSpPr>
          <p:cNvPr id="38" name="body:solar"/>
          <p:cNvSpPr txBox="1"/>
          <p:nvPr/>
        </p:nvSpPr>
        <p:spPr>
          <a:xfrm>
            <a:off x="621792" y="5367528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光伏 +636 TWh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贡献清洁发电增量的 71.7%</a:t>
            </a:r>
          </a:p>
        </p:txBody>
      </p:sp>
      <p:sp>
        <p:nvSpPr>
          <p:cNvPr id="39" name="body:fossil-mix"/>
          <p:cNvSpPr txBox="1"/>
          <p:nvPr/>
        </p:nvSpPr>
        <p:spPr>
          <a:xfrm>
            <a:off x="4489704" y="5367528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煤电 −63，气电 +36 TWh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煤电下降被气电增长部分抵消</a:t>
            </a:r>
          </a:p>
        </p:txBody>
      </p:sp>
      <p:sp>
        <p:nvSpPr>
          <p:cNvPr id="40" name="body:level"/>
          <p:cNvSpPr txBox="1"/>
          <p:nvPr/>
        </p:nvSpPr>
        <p:spPr>
          <a:xfrm>
            <a:off x="8357616" y="5367528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2025 年化石发电 −0.21%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全球年发电量仍有 57.4% 来自化石</a:t>
            </a:r>
          </a:p>
        </p:txBody>
      </p:sp>
      <p:sp>
        <p:nvSpPr>
          <p:cNvPr id="32" name="page-number:actual"/>
          <p:cNvSpPr txBox="1"/>
          <p:nvPr/>
        </p:nvSpPr>
        <p:spPr>
          <a:xfrm>
            <a:off x="11219688" y="6336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2D3955"/>
                </a:solidFill>
                <a:latin typeface="Microsoft YaHei"/>
              </a:rPr>
              <a:t>1/5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:page"/>
          <p:cNvSpPr txBox="1"/>
          <p:nvPr/>
        </p:nvSpPr>
        <p:spPr>
          <a:xfrm>
            <a:off x="402336" y="228600"/>
            <a:ext cx="11365992" cy="438912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D3955"/>
                </a:solidFill>
                <a:latin typeface="Microsoft YaHei"/>
              </a:rPr>
              <a:t>中印跨过替代门槛，美欧仍由化石发电填补缺口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402336" y="786384"/>
            <a:ext cx="11365992" cy="0"/>
          </a:xfrm>
          <a:prstGeom prst="line">
            <a:avLst/>
          </a:prstGeom>
          <a:ln w="20320" cap="rnd">
            <a:solidFill>
              <a:srgbClr val="A52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nel:template-2"/>
          <p:cNvSpPr/>
          <p:nvPr/>
        </p:nvSpPr>
        <p:spPr>
          <a:xfrm>
            <a:off x="402336" y="1005840"/>
            <a:ext cx="6629400" cy="4425696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panel:template-5"/>
          <p:cNvSpPr/>
          <p:nvPr/>
        </p:nvSpPr>
        <p:spPr>
          <a:xfrm>
            <a:off x="7260336" y="1005840"/>
            <a:ext cx="4526280" cy="4425696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panel:template-25"/>
          <p:cNvSpPr/>
          <p:nvPr/>
        </p:nvSpPr>
        <p:spPr>
          <a:xfrm>
            <a:off x="402336" y="5660136"/>
            <a:ext cx="11384280" cy="448056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" name="short:scatter-title"/>
          <p:cNvSpPr txBox="1"/>
          <p:nvPr/>
        </p:nvSpPr>
        <p:spPr>
          <a:xfrm>
            <a:off x="612648" y="1170432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2025 增量占 2024 需求的比例（%）</a:t>
            </a:r>
          </a:p>
        </p:txBody>
      </p:sp>
      <p:sp>
        <p:nvSpPr>
          <p:cNvPr id="28" name="short:scatter-axes"/>
          <p:cNvSpPr txBox="1"/>
          <p:nvPr/>
        </p:nvSpPr>
        <p:spPr>
          <a:xfrm>
            <a:off x="612648" y="143560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纵轴：清洁发电＋净进口；横轴：需求</a:t>
            </a:r>
          </a:p>
        </p:txBody>
      </p:sp>
      <p:graphicFrame>
        <p:nvGraphicFramePr>
          <p:cNvPr id="29" name="chart:demand-versus-clean"/>
          <p:cNvGraphicFramePr>
            <a:graphicFrameLocks noGrp="1"/>
          </p:cNvGraphicFramePr>
          <p:nvPr/>
        </p:nvGraphicFramePr>
        <p:xfrm>
          <a:off x="603504" y="1810512"/>
          <a:ext cx="6190488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ort:table-title"/>
          <p:cNvSpPr txBox="1"/>
          <p:nvPr/>
        </p:nvSpPr>
        <p:spPr>
          <a:xfrm>
            <a:off x="7498079" y="1170432"/>
            <a:ext cx="4041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主要系统增量分解（TWh）</a:t>
            </a:r>
          </a:p>
        </p:txBody>
      </p:sp>
      <p:graphicFrame>
        <p:nvGraphicFramePr>
          <p:cNvPr id="31" name="table:data"/>
          <p:cNvGraphicFramePr>
            <a:graphicFrameLocks noGrp="1"/>
          </p:cNvGraphicFramePr>
          <p:nvPr/>
        </p:nvGraphicFramePr>
        <p:xfrm>
          <a:off x="7498079" y="1737360"/>
          <a:ext cx="404164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86384"/>
                <a:gridCol w="786384"/>
                <a:gridCol w="777240"/>
                <a:gridCol w="777240"/>
              </a:tblGrid>
              <a:tr h="402336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地区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需求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清洁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进口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化石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</a:tr>
              <a:tr h="402336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中国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+503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+561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−2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−56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</a:tr>
              <a:tr h="402336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印度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+49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+97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+4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−52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美国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+131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+105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+2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+24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</a:tr>
              <a:tr h="402336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欧盟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+14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+6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−10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+18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body:scatter-readout"/>
          <p:cNvSpPr txBox="1"/>
          <p:nvPr/>
        </p:nvSpPr>
        <p:spPr>
          <a:xfrm>
            <a:off x="7498079" y="4041648"/>
            <a:ext cx="404164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53249"/>
                </a:solidFill>
                <a:latin typeface="Microsoft YaHei"/>
              </a:rPr>
              <a:t>中印合计减少化石发电 108 TWh；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53249"/>
                </a:solidFill>
                <a:latin typeface="Microsoft YaHei"/>
              </a:rPr>
              <a:t>美欧合计增加 41 TWh。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53249"/>
                </a:solidFill>
                <a:latin typeface="Microsoft YaHei"/>
              </a:rPr>
              <a:t>对角线上方出现净替代，差距由清洁、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53249"/>
                </a:solidFill>
                <a:latin typeface="Microsoft YaHei"/>
              </a:rPr>
              <a:t>需求和跨境电力的变化共同决定。</a:t>
            </a:r>
          </a:p>
        </p:txBody>
      </p:sp>
      <p:sp>
        <p:nvSpPr>
          <p:cNvPr id="33" name="body:balance-equation"/>
          <p:cNvSpPr txBox="1"/>
          <p:nvPr/>
        </p:nvSpPr>
        <p:spPr>
          <a:xfrm>
            <a:off x="621792" y="5760720"/>
            <a:ext cx="109362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电量平衡：Δ化石 = Δ需求 − Δ清洁 − Δ净进口；净进口增加为正，净出口增加为负。</a:t>
            </a:r>
          </a:p>
        </p:txBody>
      </p:sp>
      <p:sp>
        <p:nvSpPr>
          <p:cNvPr id="26" name="page-number:actual"/>
          <p:cNvSpPr txBox="1"/>
          <p:nvPr/>
        </p:nvSpPr>
        <p:spPr>
          <a:xfrm>
            <a:off x="11219688" y="6336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2D3955"/>
                </a:solidFill>
                <a:latin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:page"/>
          <p:cNvSpPr txBox="1"/>
          <p:nvPr/>
        </p:nvSpPr>
        <p:spPr>
          <a:xfrm>
            <a:off x="402336" y="228600"/>
            <a:ext cx="11365992" cy="438912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D3955"/>
                </a:solidFill>
                <a:latin typeface="Microsoft YaHei"/>
              </a:rPr>
              <a:t>中国靠风光规模跨线，印度同时获得需求降速与水电助力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402336" y="786384"/>
            <a:ext cx="11365992" cy="0"/>
          </a:xfrm>
          <a:prstGeom prst="line">
            <a:avLst/>
          </a:prstGeom>
          <a:ln w="20320" cap="rnd">
            <a:solidFill>
              <a:srgbClr val="A52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nel:template-2"/>
          <p:cNvSpPr/>
          <p:nvPr/>
        </p:nvSpPr>
        <p:spPr>
          <a:xfrm>
            <a:off x="402336" y="1005840"/>
            <a:ext cx="5577840" cy="3456432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panel:template-5"/>
          <p:cNvSpPr/>
          <p:nvPr/>
        </p:nvSpPr>
        <p:spPr>
          <a:xfrm>
            <a:off x="6208776" y="1005840"/>
            <a:ext cx="5577840" cy="3456432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panel:template-25"/>
          <p:cNvSpPr/>
          <p:nvPr/>
        </p:nvSpPr>
        <p:spPr>
          <a:xfrm>
            <a:off x="402336" y="4690872"/>
            <a:ext cx="5577840" cy="1417320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panel:template-26"/>
          <p:cNvSpPr/>
          <p:nvPr/>
        </p:nvSpPr>
        <p:spPr>
          <a:xfrm>
            <a:off x="6208776" y="4690872"/>
            <a:ext cx="5577840" cy="1417320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" name="short:country-title"/>
          <p:cNvSpPr txBox="1"/>
          <p:nvPr/>
        </p:nvSpPr>
        <p:spPr>
          <a:xfrm>
            <a:off x="612648" y="1170432"/>
            <a:ext cx="51572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中国：年度电量增量（TWh）</a:t>
            </a:r>
          </a:p>
        </p:txBody>
      </p:sp>
      <p:graphicFrame>
        <p:nvGraphicFramePr>
          <p:cNvPr id="29" name="chart:data"/>
          <p:cNvGraphicFramePr>
            <a:graphicFrameLocks noGrp="1"/>
          </p:cNvGraphicFramePr>
          <p:nvPr/>
        </p:nvGraphicFramePr>
        <p:xfrm>
          <a:off x="566928" y="1627632"/>
          <a:ext cx="5248656" cy="2624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ort:country-title"/>
          <p:cNvSpPr txBox="1"/>
          <p:nvPr/>
        </p:nvSpPr>
        <p:spPr>
          <a:xfrm>
            <a:off x="6419088" y="1170432"/>
            <a:ext cx="51572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印度：年度电量增量（TWh）</a:t>
            </a:r>
          </a:p>
        </p:txBody>
      </p:sp>
      <p:graphicFrame>
        <p:nvGraphicFramePr>
          <p:cNvPr id="31" name="chart:data"/>
          <p:cNvGraphicFramePr>
            <a:graphicFrameLocks noGrp="1"/>
          </p:cNvGraphicFramePr>
          <p:nvPr/>
        </p:nvGraphicFramePr>
        <p:xfrm>
          <a:off x="6373368" y="1627632"/>
          <a:ext cx="5248656" cy="262432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body:china"/>
          <p:cNvSpPr txBox="1"/>
          <p:nvPr/>
        </p:nvSpPr>
        <p:spPr>
          <a:xfrm>
            <a:off x="621792" y="4882896"/>
            <a:ext cx="5138928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中国｜清洁 +561，需求 +503 TWh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光伏 +336、风电 +138，合占清洁增量 84%。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水电 +45、核电 +37；净出口增加 2.5 TWh。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最终化石发电减少 56 TWh。</a:t>
            </a:r>
          </a:p>
        </p:txBody>
      </p:sp>
      <p:sp>
        <p:nvSpPr>
          <p:cNvPr id="33" name="body:india"/>
          <p:cNvSpPr txBox="1"/>
          <p:nvPr/>
        </p:nvSpPr>
        <p:spPr>
          <a:xfrm>
            <a:off x="6428232" y="4882896"/>
            <a:ext cx="5138928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印度｜清洁 +97，需求 +49 TWh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光伏 +53、风电 +22、水电 +21 TWh。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需求增速从 6.2% 降至 2.4%，温和天气压低制冷需求。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净进口多 3.5 TWh，化石发电净减 52 TWh。</a:t>
            </a:r>
          </a:p>
        </p:txBody>
      </p:sp>
      <p:sp>
        <p:nvSpPr>
          <p:cNvPr id="27" name="page-number:actual"/>
          <p:cNvSpPr txBox="1"/>
          <p:nvPr/>
        </p:nvSpPr>
        <p:spPr>
          <a:xfrm>
            <a:off x="11219688" y="6336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2D3955"/>
                </a:solidFill>
                <a:latin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:page"/>
          <p:cNvSpPr txBox="1"/>
          <p:nvPr/>
        </p:nvSpPr>
        <p:spPr>
          <a:xfrm>
            <a:off x="402336" y="228600"/>
            <a:ext cx="11365992" cy="438912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D3955"/>
                </a:solidFill>
                <a:latin typeface="Microsoft YaHei"/>
              </a:rPr>
              <a:t>美国需求快于清洁增长，欧盟水电回落吞噬光伏增量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402336" y="786384"/>
            <a:ext cx="11365992" cy="0"/>
          </a:xfrm>
          <a:prstGeom prst="line">
            <a:avLst/>
          </a:prstGeom>
          <a:ln w="20320" cap="rnd">
            <a:solidFill>
              <a:srgbClr val="A52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nel:template-2"/>
          <p:cNvSpPr/>
          <p:nvPr/>
        </p:nvSpPr>
        <p:spPr>
          <a:xfrm>
            <a:off x="402336" y="1005840"/>
            <a:ext cx="5577840" cy="3566160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panel:template-5"/>
          <p:cNvSpPr/>
          <p:nvPr/>
        </p:nvSpPr>
        <p:spPr>
          <a:xfrm>
            <a:off x="6208776" y="1005840"/>
            <a:ext cx="5577840" cy="3566160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panel:template-25"/>
          <p:cNvSpPr/>
          <p:nvPr/>
        </p:nvSpPr>
        <p:spPr>
          <a:xfrm>
            <a:off x="402336" y="4800600"/>
            <a:ext cx="5577840" cy="1307592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panel:template-26"/>
          <p:cNvSpPr/>
          <p:nvPr/>
        </p:nvSpPr>
        <p:spPr>
          <a:xfrm>
            <a:off x="6208776" y="4800600"/>
            <a:ext cx="5577840" cy="1307592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" name="short:fuel-title"/>
          <p:cNvSpPr txBox="1"/>
          <p:nvPr/>
        </p:nvSpPr>
        <p:spPr>
          <a:xfrm>
            <a:off x="612648" y="1170432"/>
            <a:ext cx="51572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美国：2025 主要电源增减（TWh）</a:t>
            </a:r>
          </a:p>
        </p:txBody>
      </p:sp>
      <p:graphicFrame>
        <p:nvGraphicFramePr>
          <p:cNvPr id="29" name="chart:data"/>
          <p:cNvGraphicFramePr>
            <a:graphicFrameLocks noGrp="1"/>
          </p:cNvGraphicFramePr>
          <p:nvPr/>
        </p:nvGraphicFramePr>
        <p:xfrm>
          <a:off x="566928" y="1636776"/>
          <a:ext cx="5212080" cy="2724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ort:fuel-title"/>
          <p:cNvSpPr txBox="1"/>
          <p:nvPr/>
        </p:nvSpPr>
        <p:spPr>
          <a:xfrm>
            <a:off x="6419088" y="1170432"/>
            <a:ext cx="51572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欧盟：2025 主要电源增减（TWh）</a:t>
            </a:r>
          </a:p>
        </p:txBody>
      </p:sp>
      <p:graphicFrame>
        <p:nvGraphicFramePr>
          <p:cNvPr id="31" name="chart:data"/>
          <p:cNvGraphicFramePr>
            <a:graphicFrameLocks noGrp="1"/>
          </p:cNvGraphicFramePr>
          <p:nvPr/>
        </p:nvGraphicFramePr>
        <p:xfrm>
          <a:off x="6373368" y="1636776"/>
          <a:ext cx="5212080" cy="2724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body:usa"/>
          <p:cNvSpPr txBox="1"/>
          <p:nvPr/>
        </p:nvSpPr>
        <p:spPr>
          <a:xfrm>
            <a:off x="621792" y="4992624"/>
            <a:ext cx="5138928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美国｜需求 +131 &gt; 清洁 +105 TWh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光伏增加 85 TWh，覆盖约 65% 的需求增量。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煤电 +85、气电 −63 TWh，化石总量增加 24 TWh。</a:t>
            </a:r>
          </a:p>
        </p:txBody>
      </p:sp>
      <p:sp>
        <p:nvSpPr>
          <p:cNvPr id="33" name="body:eu"/>
          <p:cNvSpPr txBox="1"/>
          <p:nvPr/>
        </p:nvSpPr>
        <p:spPr>
          <a:xfrm>
            <a:off x="6428232" y="4992624"/>
            <a:ext cx="5138928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欧盟｜光伏 +60，被水电 −43 与风电 −12 抵消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清洁 +6、需求 +14、净出口 +10 TWh。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气电增加 34 TWh 补位，煤电减少 14 TWh。</a:t>
            </a:r>
          </a:p>
        </p:txBody>
      </p:sp>
      <p:sp>
        <p:nvSpPr>
          <p:cNvPr id="27" name="page-number:actual"/>
          <p:cNvSpPr txBox="1"/>
          <p:nvPr/>
        </p:nvSpPr>
        <p:spPr>
          <a:xfrm>
            <a:off x="11219688" y="6336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2D3955"/>
                </a:solidFill>
                <a:latin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itle:page"/>
          <p:cNvSpPr txBox="1"/>
          <p:nvPr/>
        </p:nvSpPr>
        <p:spPr>
          <a:xfrm>
            <a:off x="402336" y="228600"/>
            <a:ext cx="11365992" cy="438912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zh-CN">
                <a:solidFill>
                  <a:srgbClr val="2D3955"/>
                </a:solidFill>
                <a:latin typeface="Microsoft YaHei"/>
              </a:rPr>
              <a:t>持续替代要同时扩大清洁发电、管理需求并平滑时空错配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402336" y="786384"/>
            <a:ext cx="11365992" cy="0"/>
          </a:xfrm>
          <a:prstGeom prst="line">
            <a:avLst/>
          </a:prstGeom>
          <a:ln w="20320" cap="rnd">
            <a:solidFill>
              <a:srgbClr val="A52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nel:template-2"/>
          <p:cNvSpPr/>
          <p:nvPr/>
        </p:nvSpPr>
        <p:spPr>
          <a:xfrm>
            <a:off x="402336" y="1005840"/>
            <a:ext cx="5577840" cy="4425696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panel:template-5"/>
          <p:cNvSpPr/>
          <p:nvPr/>
        </p:nvSpPr>
        <p:spPr>
          <a:xfrm>
            <a:off x="6208776" y="1005840"/>
            <a:ext cx="5577840" cy="4425696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panel:template-25"/>
          <p:cNvSpPr/>
          <p:nvPr/>
        </p:nvSpPr>
        <p:spPr>
          <a:xfrm>
            <a:off x="402336" y="5660136"/>
            <a:ext cx="11384280" cy="448056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" name="short:scenario-title"/>
          <p:cNvSpPr txBox="1"/>
          <p:nvPr/>
        </p:nvSpPr>
        <p:spPr>
          <a:xfrm>
            <a:off x="612648" y="1170432"/>
            <a:ext cx="515721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全球下一年度化石发电变化（TWh）</a:t>
            </a:r>
          </a:p>
        </p:txBody>
      </p:sp>
      <p:sp>
        <p:nvSpPr>
          <p:cNvPr id="28" name="short:scenario-definition"/>
          <p:cNvSpPr txBox="1"/>
          <p:nvPr/>
        </p:nvSpPr>
        <p:spPr>
          <a:xfrm>
            <a:off x="612648" y="1453896"/>
            <a:ext cx="515721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D3955"/>
                </a:solidFill>
                <a:latin typeface="Microsoft YaHei"/>
              </a:rPr>
              <a:t>情景演算：2025 需求为基数；各列为清洁增量</a:t>
            </a:r>
          </a:p>
        </p:txBody>
      </p:sp>
      <p:graphicFrame>
        <p:nvGraphicFramePr>
          <p:cNvPr id="29" name="table:data"/>
          <p:cNvGraphicFramePr>
            <a:graphicFrameLocks noGrp="1"/>
          </p:cNvGraphicFramePr>
          <p:nvPr/>
        </p:nvGraphicFramePr>
        <p:xfrm>
          <a:off x="621792" y="1938528"/>
          <a:ext cx="5138928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280160"/>
                <a:gridCol w="1280160"/>
                <a:gridCol w="1280160"/>
              </a:tblGrid>
              <a:tr h="507492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需求增速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+800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+1,000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Microsoft YaHei"/>
                        </a:rPr>
                        <a:t>+1,200</a:t>
                      </a:r>
                    </a:p>
                  </a:txBody>
                  <a:tcPr marL="100584" marR="100584" marT="64008" marB="64008" anchor="ctr">
                    <a:solidFill>
                      <a:srgbClr val="2D3955"/>
                    </a:solidFill>
                  </a:tcPr>
                </a:tc>
              </a:tr>
              <a:tr h="507492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2%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2D3955"/>
                          </a:solidFill>
                          <a:latin typeface="Microsoft YaHei"/>
                        </a:rPr>
                        <a:t>−164</a:t>
                      </a:r>
                    </a:p>
                  </a:txBody>
                  <a:tcPr marL="100584" marR="100584" marT="64008" marB="64008" anchor="ctr">
                    <a:solidFill>
                      <a:srgbClr val="D0D9E4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2D3955"/>
                          </a:solidFill>
                          <a:latin typeface="Microsoft YaHei"/>
                        </a:rPr>
                        <a:t>−364</a:t>
                      </a:r>
                    </a:p>
                  </a:txBody>
                  <a:tcPr marL="100584" marR="100584" marT="64008" marB="64008" anchor="ctr">
                    <a:solidFill>
                      <a:srgbClr val="D0D9E4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2D3955"/>
                          </a:solidFill>
                          <a:latin typeface="Microsoft YaHei"/>
                        </a:rPr>
                        <a:t>−564</a:t>
                      </a:r>
                    </a:p>
                  </a:txBody>
                  <a:tcPr marL="100584" marR="100584" marT="64008" marB="64008" anchor="ctr">
                    <a:solidFill>
                      <a:srgbClr val="D0D9E4"/>
                    </a:solidFill>
                  </a:tcPr>
                </a:tc>
              </a:tr>
              <a:tr h="507492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3%</a:t>
                      </a:r>
                    </a:p>
                  </a:txBody>
                  <a:tcPr marL="100584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A52524"/>
                          </a:solidFill>
                          <a:latin typeface="Microsoft YaHei"/>
                        </a:rPr>
                        <a:t>+153</a:t>
                      </a:r>
                    </a:p>
                  </a:txBody>
                  <a:tcPr marL="100584" marR="100584" marT="64008" marB="64008" anchor="ctr">
                    <a:solidFill>
                      <a:srgbClr val="E9C6C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2D3955"/>
                          </a:solidFill>
                          <a:latin typeface="Microsoft YaHei"/>
                        </a:rPr>
                        <a:t>−47</a:t>
                      </a:r>
                    </a:p>
                  </a:txBody>
                  <a:tcPr marL="100584" marR="100584" marT="64008" marB="64008" anchor="ctr">
                    <a:solidFill>
                      <a:srgbClr val="D0D9E4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2D3955"/>
                          </a:solidFill>
                          <a:latin typeface="Microsoft YaHei"/>
                        </a:rPr>
                        <a:t>−247</a:t>
                      </a:r>
                    </a:p>
                  </a:txBody>
                  <a:tcPr marL="100584" marR="100584" marT="64008" marB="64008" anchor="ctr">
                    <a:solidFill>
                      <a:srgbClr val="D0D9E4"/>
                    </a:solidFill>
                  </a:tcPr>
                </a:tc>
              </a:tr>
              <a:tr h="507492">
                <a:tc>
                  <a:txBody>
                    <a:bodyPr lIns="0" rIns="0" tIns="0" bIns="0" wrap="square"/>
                    <a:lstStyle/>
                    <a:p>
                      <a:pPr algn="l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lang="zh-CN">
                          <a:solidFill>
                            <a:srgbClr val="253249"/>
                          </a:solidFill>
                          <a:latin typeface="Microsoft YaHei"/>
                        </a:rPr>
                        <a:t>4%</a:t>
                      </a:r>
                    </a:p>
                  </a:txBody>
                  <a:tcPr marL="100584" marR="100584" marT="64008" marB="64008" anchor="ctr">
                    <a:solidFill>
                      <a:srgbClr val="F0F2F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A52524"/>
                          </a:solidFill>
                          <a:latin typeface="Microsoft YaHei"/>
                        </a:rPr>
                        <a:t>+471</a:t>
                      </a:r>
                    </a:p>
                  </a:txBody>
                  <a:tcPr marL="100584" marR="100584" marT="64008" marB="64008" anchor="ctr">
                    <a:solidFill>
                      <a:srgbClr val="E9C6C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A52524"/>
                          </a:solidFill>
                          <a:latin typeface="Microsoft YaHei"/>
                        </a:rPr>
                        <a:t>+271</a:t>
                      </a:r>
                    </a:p>
                  </a:txBody>
                  <a:tcPr marL="100584" marR="100584" marT="64008" marB="64008" anchor="ctr">
                    <a:solidFill>
                      <a:srgbClr val="E9C6C5"/>
                    </a:solidFill>
                  </a:tcPr>
                </a:tc>
                <a:tc>
                  <a:txBody>
                    <a:bodyPr lIns="0" rIns="0" tIns="0" bIns="0" wrap="square"/>
                    <a:lstStyle/>
                    <a:p>
                      <a:pPr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 lang="zh-CN">
                          <a:solidFill>
                            <a:srgbClr val="A52524"/>
                          </a:solidFill>
                          <a:latin typeface="Microsoft YaHei"/>
                        </a:rPr>
                        <a:t>+71</a:t>
                      </a:r>
                    </a:p>
                  </a:txBody>
                  <a:tcPr marL="100584" marR="100584" marT="64008" marB="64008" anchor="ctr">
                    <a:solidFill>
                      <a:srgbClr val="E9C6C5"/>
                    </a:solidFill>
                  </a:tcPr>
                </a:tc>
              </a:tr>
            </a:tbl>
          </a:graphicData>
        </a:graphic>
      </p:graphicFrame>
      <p:sp>
        <p:nvSpPr>
          <p:cNvPr id="30" name="body:scenario-interpretation"/>
          <p:cNvSpPr txBox="1"/>
          <p:nvPr/>
        </p:nvSpPr>
        <p:spPr>
          <a:xfrm>
            <a:off x="621792" y="4251960"/>
            <a:ext cx="5138928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维持 2025 年的清洁增量（887 TWh）时，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全球需求增长 2.79% 即耗尽替代余量。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清洁每增加 100 TWh，或需求每减少 100 TWh，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化石发电就相应减少 100 TWh。</a:t>
            </a:r>
          </a:p>
        </p:txBody>
      </p:sp>
      <p:sp>
        <p:nvSpPr>
          <p:cNvPr id="31" name="short:actions"/>
          <p:cNvSpPr txBox="1"/>
          <p:nvPr/>
        </p:nvSpPr>
        <p:spPr>
          <a:xfrm>
            <a:off x="6428232" y="1170432"/>
            <a:ext cx="5129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D3955"/>
                </a:solidFill>
                <a:latin typeface="Microsoft YaHei"/>
              </a:rPr>
              <a:t>把年度新增量转成稳定的替代能力</a:t>
            </a:r>
          </a:p>
        </p:txBody>
      </p:sp>
      <p:sp>
        <p:nvSpPr>
          <p:cNvPr id="32" name="body:action1"/>
          <p:cNvSpPr txBox="1"/>
          <p:nvPr/>
        </p:nvSpPr>
        <p:spPr>
          <a:xfrm>
            <a:off x="6428232" y="1828800"/>
            <a:ext cx="512978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01  扩大有效发电量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中国风光新增 474 TWh 是全球替代的主力；建设进度应与并网、输电和利用小时一起管理。</a:t>
            </a:r>
          </a:p>
        </p:txBody>
      </p:sp>
      <p:sp>
        <p:nvSpPr>
          <p:cNvPr id="33" name="body:action2"/>
          <p:cNvSpPr txBox="1"/>
          <p:nvPr/>
        </p:nvSpPr>
        <p:spPr>
          <a:xfrm>
            <a:off x="6428232" y="3136392"/>
            <a:ext cx="512978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02  控制新增负荷的尖峰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印度较低需求增速帮助清洁电力覆盖增长；工业能效、制冷效率和可调负荷共同影响需求门槛。</a:t>
            </a:r>
          </a:p>
        </p:txBody>
      </p:sp>
      <p:sp>
        <p:nvSpPr>
          <p:cNvPr id="34" name="body:action3"/>
          <p:cNvSpPr txBox="1"/>
          <p:nvPr/>
        </p:nvSpPr>
        <p:spPr>
          <a:xfrm>
            <a:off x="6428232" y="4443984"/>
            <a:ext cx="512978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03  补足天气与小时缺口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欧盟水电少 43 TWh，跨区互济、储能和稳定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D3955"/>
                </a:solidFill>
                <a:latin typeface="Microsoft YaHei"/>
              </a:rPr>
              <a:t>清洁电源共同填补缺口，考核减少的煤气电量。</a:t>
            </a:r>
          </a:p>
        </p:txBody>
      </p:sp>
      <p:sp>
        <p:nvSpPr>
          <p:cNvPr id="35" name="body:final-rule"/>
          <p:cNvSpPr txBox="1"/>
          <p:nvPr/>
        </p:nvSpPr>
        <p:spPr>
          <a:xfrm>
            <a:off x="621792" y="5760720"/>
            <a:ext cx="109362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2D3955"/>
                </a:solidFill>
                <a:latin typeface="Microsoft YaHei"/>
              </a:rPr>
              <a:t>替代进度的核心读数：清洁增量 − 需求增量 + 净进口增量；全球净进口项为零。</a:t>
            </a:r>
          </a:p>
        </p:txBody>
      </p:sp>
      <p:sp>
        <p:nvSpPr>
          <p:cNvPr id="26" name="page-number:actual"/>
          <p:cNvSpPr txBox="1"/>
          <p:nvPr/>
        </p:nvSpPr>
        <p:spPr>
          <a:xfrm>
            <a:off x="11219688" y="633679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2D3955"/>
                </a:solidFill>
                <a:latin typeface="Microsoft YaHei"/>
              </a:rPr>
              <a:t>5/5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7d200efd-690f-4b00-820c-b6d44edefcb1&quot;,&quot;Name&quot;:&quot;自定义·&quot;,&quot;Kind&quot;:1,&quot;OldGuidesSetting&quot;:{&quot;HeaderHeight&quot;:0.0,&quot;FooterHeight&quot;:0.0,&quot;SideMargin&quot;:0.0,&quot;TopMargin&quot;:0.0,&quot;BottomMargin&quot;:0.0,&quot;IntervalMargin&quot;:0.0}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WPS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1D25"/>
      </a:accent1>
      <a:accent2>
        <a:srgbClr val="0563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51D25"/>
      </a:accent1>
      <a:accent2>
        <a:srgbClr val="44546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Bold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游ゴシック"/>
        <a:font script="Hang" typeface="맑은 고딕"/>
        <a:font script="Hans" typeface="思源黑体 CN Normal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9395</Words>
  <PresentationFormat>宽屏</PresentationFormat>
  <Paragraphs>1406</Paragraphs>
  <Slides>42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Arial</vt:lpstr>
      <vt:lpstr>Roboto</vt:lpstr>
      <vt:lpstr>思源黑体 CN Normal</vt:lpstr>
      <vt:lpstr>思源黑体 CN Bold</vt:lpstr>
      <vt:lpstr>WPS</vt:lpstr>
      <vt:lpstr>1_WPS</vt:lpstr>
      <vt:lpstr>2_Office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全球电力转型：新增清洁电力如何转化为化石发电替代</dc:title>
  <cp:lastModifiedBy>Sun guang</cp:lastModifiedBy>
  <cp:revision>1079</cp:revision>
  <dcterms:created xsi:type="dcterms:W3CDTF">2023-08-09T12:44:00Z</dcterms:created>
  <dcterms:modified xsi:type="dcterms:W3CDTF">2026-05-27T07:12:41Z</dcterms:modified>
  <dc:subject>全球及中国、印度、美国、欧盟2025电量增量分析</dc:subject>
  <cp:keywords>电力转型,Ember,清洁发电,化石替代,2025</cp:keywords>
  <dc:creator>SKILL应用测试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2052-11.1.0.11176</vt:lpwstr>
  </property>
</Properties>
</file>