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preferSingleView="0" vertBarState="restored" horzBarState="restored">
    <p:restoredLeft sz="18000"/>
    <p:restoredTop sz="9000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原访问</c:v>
                </c:pt>
              </c:strCache>
            </c:strRef>
          </c:tx>
          <c:spPr>
            <a:ln w="19050">
              <a:solidFill>
                <a:srgbClr val="244F76"/>
              </a:solidFill>
            </a:ln>
          </c:spPr>
          <c:marker>
            <c:symbol val="none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40</c:v>
                </c:pt>
                <c:pt idx="1">
                  <c:v>60</c:v>
                </c:pt>
                <c:pt idx="2">
                  <c:v>80</c:v>
                </c:pt>
                <c:pt idx="3">
                  <c:v>100</c:v>
                </c:pt>
                <c:pt idx="4">
                  <c:v>120</c:v>
                </c:pt>
                <c:pt idx="5">
                  <c:v>140</c:v>
                </c:pt>
                <c:pt idx="6">
                  <c:v>160</c:v>
                </c:pt>
                <c:pt idx="7">
                  <c:v>180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32.349015067415991</c:v>
                </c:pt>
                <c:pt idx="1">
                  <c:v>35.873530691174018</c:v>
                </c:pt>
                <c:pt idx="2">
                  <c:v>40.318807209298264</c:v>
                </c:pt>
                <c:pt idx="3">
                  <c:v>46.127450980392155</c:v>
                </c:pt>
                <c:pt idx="4">
                  <c:v>54.102604322022565</c:v>
                </c:pt>
                <c:pt idx="5">
                  <c:v>65.903451277808998</c:v>
                </c:pt>
                <c:pt idx="6">
                  <c:v>85.778764658075005</c:v>
                </c:pt>
                <c:pt idx="7">
                  <c:v>130.83502743457151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76B-4451-896E-F92BBE304218}"/>
            </c:ext>
          </c:extLst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鉴权缓存</c:v>
                </c:pt>
              </c:strCache>
            </c:strRef>
          </c:tx>
          <c:spPr>
            <a:ln w="19050">
              <a:solidFill>
                <a:srgbClr val="B86132"/>
              </a:solidFill>
            </a:ln>
          </c:spPr>
          <c:marker>
            <c:symbol val="none"/>
          </c:marker>
          <c:xVal>
            <c:numRef>
              <c:f>Sheet1!$A$12:$A$19</c:f>
              <c:numCache>
                <c:formatCode>General</c:formatCode>
                <c:ptCount val="8"/>
                <c:pt idx="0">
                  <c:v>40</c:v>
                </c:pt>
                <c:pt idx="1">
                  <c:v>60</c:v>
                </c:pt>
                <c:pt idx="2">
                  <c:v>80</c:v>
                </c:pt>
                <c:pt idx="3">
                  <c:v>100</c:v>
                </c:pt>
                <c:pt idx="4">
                  <c:v>120</c:v>
                </c:pt>
                <c:pt idx="5">
                  <c:v>140</c:v>
                </c:pt>
                <c:pt idx="6">
                  <c:v>160</c:v>
                </c:pt>
                <c:pt idx="7">
                  <c:v>180</c:v>
                </c:pt>
              </c:numCache>
            </c:numRef>
          </c:xVal>
          <c:yVal>
            <c:numRef>
              <c:f>Sheet1!$B$12:$B$19</c:f>
              <c:numCache>
                <c:formatCode>General</c:formatCode>
                <c:ptCount val="8"/>
                <c:pt idx="0">
                  <c:v>30.319794288195212</c:v>
                </c:pt>
                <c:pt idx="1">
                  <c:v>33.340602626331062</c:v>
                </c:pt>
                <c:pt idx="2">
                  <c:v>37.063598875964928</c:v>
                </c:pt>
                <c:pt idx="3">
                  <c:v>41.779624893435631</c:v>
                </c:pt>
                <c:pt idx="4">
                  <c:v>47.97515334163041</c:v>
                </c:pt>
                <c:pt idx="5">
                  <c:v>56.540155397659184</c:v>
                </c:pt>
                <c:pt idx="6">
                  <c:v>69.331396237022375</c:v>
                </c:pt>
                <c:pt idx="7">
                  <c:v>91.152487752031817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6B-4451-896E-F92BBE3042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80"/>
          <c:min val="4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6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200">
              <a:latin typeface="Microsoft YaHei"/>
              <a:ea typeface="Microsoft YaHei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Microsoft YaHei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原访问</c:v>
                </c:pt>
              </c:strCache>
            </c:strRef>
          </c:tx>
          <c:spPr>
            <a:ln w="19050">
              <a:noFill/>
            </a:ln>
          </c:spPr>
          <c:marker>
            <c:spPr>
              <a:solidFill>
                <a:srgbClr val="244F76"/>
              </a:solidFill>
              <a:ln>
                <a:solidFill>
                  <a:srgbClr val="244F76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100</c:v>
                </c:pt>
                <c:pt idx="1">
                  <c:v>110.00000000000001</c:v>
                </c:pt>
                <c:pt idx="2">
                  <c:v>120</c:v>
                </c:pt>
                <c:pt idx="3">
                  <c:v>130</c:v>
                </c:pt>
                <c:pt idx="4">
                  <c:v>140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257.33629397422504</c:v>
                </c:pt>
                <c:pt idx="1">
                  <c:v>191.50206498745325</c:v>
                </c:pt>
                <c:pt idx="2">
                  <c:v>153.43445884778839</c:v>
                </c:pt>
                <c:pt idx="3">
                  <c:v>128.32563603730549</c:v>
                </c:pt>
                <c:pt idx="4">
                  <c:v>110.42394992394993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088-430F-933C-671C3C72D44F}"/>
            </c:ext>
          </c:extLst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鉴权缓存</c:v>
                </c:pt>
              </c:strCache>
            </c:strRef>
          </c:tx>
          <c:spPr>
            <a:ln w="19050">
              <a:noFill/>
            </a:ln>
          </c:spPr>
          <c:marker>
            <c:spPr>
              <a:solidFill>
                <a:srgbClr val="B86132"/>
              </a:solidFill>
              <a:ln>
                <a:solidFill>
                  <a:srgbClr val="B86132"/>
                </a:solidFill>
              </a:ln>
            </c:spPr>
          </c:marker>
          <c:xVal>
            <c:numRef>
              <c:f>Sheet1!$A$9:$A$13</c:f>
              <c:numCache>
                <c:formatCode>General</c:formatCode>
                <c:ptCount val="5"/>
                <c:pt idx="0">
                  <c:v>100</c:v>
                </c:pt>
                <c:pt idx="1">
                  <c:v>110.00000000000001</c:v>
                </c:pt>
                <c:pt idx="2">
                  <c:v>120</c:v>
                </c:pt>
                <c:pt idx="3">
                  <c:v>130</c:v>
                </c:pt>
                <c:pt idx="4">
                  <c:v>140</c:v>
                </c:pt>
              </c:numCache>
            </c:numRef>
          </c:xVal>
          <c:yVal>
            <c:numRef>
              <c:f>Sheet1!$B$9:$B$13</c:f>
              <c:numCache>
                <c:formatCode>General</c:formatCode>
                <c:ptCount val="5"/>
                <c:pt idx="0">
                  <c:v>207.99418871106712</c:v>
                </c:pt>
                <c:pt idx="1">
                  <c:v>162.24674583851711</c:v>
                </c:pt>
                <c:pt idx="2">
                  <c:v>133.34517313350267</c:v>
                </c:pt>
                <c:pt idx="3">
                  <c:v>113.32563603730547</c:v>
                </c:pt>
                <c:pt idx="4">
                  <c:v>98.599625599625625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088-430F-933C-671C3C72D4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45"/>
          <c:min val="95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3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200">
              <a:latin typeface="Microsoft YaHei"/>
              <a:ea typeface="Microsoft YaHei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Microsoft YaHei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负载 λ</c:v>
                </c:pt>
              </c:strCache>
            </c:strRef>
          </c:tx>
          <c:spPr>
            <a:ln w="21590">
              <a:solidFill>
                <a:srgbClr val="233F62"/>
              </a:solidFill>
            </a:ln>
          </c:spPr>
          <c:marker>
            <c:spPr>
              <a:solidFill>
                <a:srgbClr val="233F62"/>
              </a:solidFill>
              <a:ln>
                <a:solidFill>
                  <a:srgbClr val="233F62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120</c:v>
                </c:pt>
                <c:pt idx="2">
                  <c:v>180</c:v>
                </c:pt>
                <c:pt idx="3">
                  <c:v>240</c:v>
                </c:pt>
                <c:pt idx="4">
                  <c:v>280</c:v>
                </c:pt>
                <c:pt idx="5">
                  <c:v>240</c:v>
                </c:pt>
                <c:pt idx="6">
                  <c:v>160</c:v>
                </c:pt>
                <c:pt idx="7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FC-4D13-9310-0C87C428CF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容量 nμ</c:v>
                </c:pt>
              </c:strCache>
            </c:strRef>
          </c:tx>
          <c:spPr>
            <a:ln w="21590">
              <a:solidFill>
                <a:srgbClr val="16857D"/>
              </a:solidFill>
            </a:ln>
          </c:spPr>
          <c:marker>
            <c:spPr>
              <a:solidFill>
                <a:srgbClr val="16857D"/>
              </a:solidFill>
              <a:ln>
                <a:solidFill>
                  <a:srgbClr val="16857D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400</c:v>
                </c:pt>
                <c:pt idx="6">
                  <c:v>300</c:v>
                </c:pt>
                <c:pt idx="7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FC-4D13-9310-0C87C428C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B5C4"/>
            </a:solidFill>
          </a:ln>
        </c:spPr>
        <c:txPr>
          <a:bodyPr/>
          <a:lstStyle/>
          <a:p>
            <a:pPr>
              <a:defRPr sz="1200">
                <a:solidFill>
                  <a:srgbClr val="233F62"/>
                </a:solidFill>
                <a:latin typeface="Arial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0"/>
          <c:min val="0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6B5C4"/>
            </a:solidFill>
          </a:ln>
        </c:spPr>
        <c:txPr>
          <a:bodyPr/>
          <a:lstStyle/>
          <a:p>
            <a:pPr>
              <a:defRPr sz="1200">
                <a:solidFill>
                  <a:srgbClr val="233F62"/>
                </a:solidFill>
                <a:latin typeface="Arial"/>
              </a:defRPr>
            </a:pPr>
            <a:endParaRPr lang="zh-CN"/>
          </a:p>
        </c:txPr>
        <c:crossAx val="2118791784"/>
        <c:crosses val="autoZero"/>
        <c:crossBetween val="between"/>
        <c:majorUnit val="250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233F62"/>
              </a:solidFill>
              <a:latin typeface="Microsoft YaHei"/>
              <a:ea typeface="Microsoft YaHei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Microsoft YaHei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服务</c:v>
                </c:pt>
              </c:strCache>
            </c:strRef>
          </c:tx>
          <c:spPr>
            <a:solidFill>
              <a:srgbClr val="233F62"/>
            </a:solidFill>
            <a:ln w="21590">
              <a:solidFill>
                <a:srgbClr val="233F62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n=6</c:v>
                </c:pt>
                <c:pt idx="1">
                  <c:v>n=8</c:v>
                </c:pt>
                <c:pt idx="2">
                  <c:v>n=10</c:v>
                </c:pt>
                <c:pt idx="3">
                  <c:v>n=12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1590">
                    <a:solidFill>
                      <a:srgbClr val="233F62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776-40F6-ACFA-897EE4E498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等待</c:v>
                </c:pt>
              </c:strCache>
            </c:strRef>
          </c:tx>
          <c:spPr>
            <a:solidFill>
              <a:srgbClr val="16857D"/>
            </a:solidFill>
            <a:ln w="21590">
              <a:solidFill>
                <a:srgbClr val="16857D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n=6</c:v>
                </c:pt>
                <c:pt idx="1">
                  <c:v>n=8</c:v>
                </c:pt>
                <c:pt idx="2">
                  <c:v>n=10</c:v>
                </c:pt>
                <c:pt idx="3">
                  <c:v>n=12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30</c:v>
                </c:pt>
                <c:pt idx="2">
                  <c:v>18.46153846153846</c:v>
                </c:pt>
                <c:pt idx="3">
                  <c:v>13.333333333333336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1590">
                    <a:solidFill>
                      <a:srgbClr val="16857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776-40F6-ACFA-897EE4E49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A6B5C4"/>
            </a:solidFill>
          </a:ln>
        </c:spPr>
        <c:txPr>
          <a:bodyPr/>
          <a:lstStyle/>
          <a:p>
            <a:pPr>
              <a:defRPr sz="1200">
                <a:solidFill>
                  <a:srgbClr val="233F62"/>
                </a:solidFill>
                <a:latin typeface="Arial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>
          <c:spPr>
            <a:ln>
              <a:solidFill>
                <a:srgbClr val="D9E1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6B5C4"/>
            </a:solidFill>
          </a:ln>
        </c:spPr>
        <c:txPr>
          <a:bodyPr/>
          <a:lstStyle/>
          <a:p>
            <a:pPr>
              <a:defRPr sz="1200">
                <a:solidFill>
                  <a:srgbClr val="233F62"/>
                </a:solidFill>
                <a:latin typeface="Arial"/>
              </a:defRPr>
            </a:pPr>
            <a:endParaRPr lang="zh-CN"/>
          </a:p>
        </c:txPr>
        <c:crossAx val="-2068027336"/>
        <c:crosses val="autoZero"/>
        <c:crossBetween val="between"/>
        <c:majorUnit val="50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233F62"/>
              </a:solidFill>
              <a:latin typeface="Microsoft YaHei"/>
              <a:ea typeface="Microsoft YaHei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200">
          <a:latin typeface="Microsoft YaHei"/>
        </a:defRPr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固定 n=6</c:v>
                </c:pt>
              </c:strCache>
            </c:strRef>
          </c:tx>
          <c:spPr>
            <a:ln w="21590">
              <a:solidFill>
                <a:srgbClr val="C56C35"/>
              </a:solidFill>
            </a:ln>
          </c:spPr>
          <c:marker>
            <c:spPr>
              <a:solidFill>
                <a:srgbClr val="C56C35"/>
              </a:solidFill>
              <a:ln>
                <a:solidFill>
                  <a:srgbClr val="C56C35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27.272727272727273</c:v>
                </c:pt>
                <c:pt idx="1">
                  <c:v>33.333333333333336</c:v>
                </c:pt>
                <c:pt idx="2">
                  <c:v>50</c:v>
                </c:pt>
                <c:pt idx="3">
                  <c:v>100</c:v>
                </c:pt>
                <c:pt idx="4">
                  <c:v>299.99999999999977</c:v>
                </c:pt>
                <c:pt idx="5">
                  <c:v>100</c:v>
                </c:pt>
                <c:pt idx="6">
                  <c:v>42.857142857142861</c:v>
                </c:pt>
                <c:pt idx="7">
                  <c:v>27.272727272727273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91-43FD-9A45-A55ED96A1C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自适应 n</c:v>
                </c:pt>
              </c:strCache>
            </c:strRef>
          </c:tx>
          <c:spPr>
            <a:ln w="21590">
              <a:solidFill>
                <a:srgbClr val="16857D"/>
              </a:solidFill>
            </a:ln>
          </c:spPr>
          <c:marker>
            <c:spPr>
              <a:solidFill>
                <a:srgbClr val="16857D"/>
              </a:solidFill>
              <a:ln>
                <a:solidFill>
                  <a:srgbClr val="16857D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42.857142857142861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45.454545454545453</c:v>
                </c:pt>
                <c:pt idx="5">
                  <c:v>50</c:v>
                </c:pt>
                <c:pt idx="6">
                  <c:v>42.857142857142861</c:v>
                </c:pt>
                <c:pt idx="7">
                  <c:v>42.857142857142861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91-43FD-9A45-A55ED96A1C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B5C4"/>
            </a:solidFill>
          </a:ln>
        </c:spPr>
        <c:txPr>
          <a:bodyPr/>
          <a:lstStyle/>
          <a:p>
            <a:pPr>
              <a:defRPr sz="1200">
                <a:solidFill>
                  <a:srgbClr val="233F62"/>
                </a:solidFill>
                <a:latin typeface="Arial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00"/>
          <c:min val="0"/>
        </c:scaling>
        <c:delete val="0"/>
        <c:axPos val="l"/>
        <c:majorGridlines>
          <c:spPr>
            <a:ln>
              <a:solidFill>
                <a:srgbClr val="D9E1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A6B5C4"/>
            </a:solidFill>
          </a:ln>
        </c:spPr>
        <c:txPr>
          <a:bodyPr/>
          <a:lstStyle/>
          <a:p>
            <a:pPr>
              <a:defRPr sz="1200">
                <a:solidFill>
                  <a:srgbClr val="233F62"/>
                </a:solidFill>
                <a:latin typeface="Arial"/>
              </a:defRPr>
            </a:pPr>
            <a:endParaRPr lang="zh-CN"/>
          </a:p>
        </c:txPr>
        <c:crossAx val="2118791784"/>
        <c:crosses val="autoZero"/>
        <c:crossBetween val="between"/>
        <c:majorUnit val="150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233F62"/>
              </a:solidFill>
              <a:latin typeface="Microsoft YaHei"/>
              <a:ea typeface="Microsoft YaHei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Microsoft YaHei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589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模拟数据。各服务为独立 M/M/1 近似，ρᵢ=λvᵢ/μᵢ；E[T]=1000Σvᵢ/(μᵢ−λvᵢ)，单位毫秒。D图为λ=160次/秒下的3倍均值延迟代理。容量成本指数按服务率同比增加。原访问比依次为1、0.90、0.70、0.60、0.45、0.35、0.25；鉴权缓存仅将第二项降至0.65。对应λ=160时均值85.8毫秒降至69.3毫秒。服务率依次为220、180、170、140、130、110、100次/秒。依赖图表示同步及旁路的技术依赖方向，边标签表示传递内容，访问比独立设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模拟模型：n 个独立 M/M/1 队列，均匀路由，μ=50 req/s。D=1000/(50−λ/n) ms；功率 P=120n+1.6λ W。各平台1 min，瞬时调度，忽略切换耗时。数据由给定公式计算。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72999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模拟模型：n 个独立 M/M/1 队列，均匀路由，μ=50 req/s。D=1000/(50−λ/n) ms；功率 P=120n+1.6λ W。各平台1 min，瞬时调度，忽略切换耗时。数据由给定公式计算。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21313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判断"/>
          <p:cNvSpPr txBox="1"/>
          <p:nvPr/>
        </p:nvSpPr>
        <p:spPr>
          <a:xfrm>
            <a:off x="406400" y="317500"/>
            <a:ext cx="11379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244F76"/>
                </a:solidFill>
                <a:latin typeface="Microsoft YaHei"/>
              </a:defRPr>
            </a:pPr>
            <a:r>
              <a:t>模拟网络：鉴权缓存降低高负载排队延迟</a:t>
            </a:r>
          </a:p>
        </p:txBody>
      </p:sp>
      <p:sp>
        <p:nvSpPr>
          <p:cNvPr id="3" name="short:图标题"/>
          <p:cNvSpPr txBox="1"/>
          <p:nvPr/>
        </p:nvSpPr>
        <p:spPr>
          <a:xfrm>
            <a:off x="406400" y="965200"/>
            <a:ext cx="55880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244F76"/>
                </a:solidFill>
                <a:latin typeface="Microsoft YaHei"/>
              </a:defRPr>
            </a:pPr>
            <a:r>
              <a:t>A 负载—延迟：缓存降低高负载排队</a:t>
            </a:r>
          </a:p>
        </p:txBody>
      </p:sp>
      <p:sp>
        <p:nvSpPr>
          <p:cNvPr id="4" name="short:图标题"/>
          <p:cNvSpPr txBox="1"/>
          <p:nvPr/>
        </p:nvSpPr>
        <p:spPr>
          <a:xfrm>
            <a:off x="6197600" y="965200"/>
            <a:ext cx="55880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244F76"/>
                </a:solidFill>
                <a:latin typeface="Microsoft YaHei"/>
              </a:defRPr>
            </a:pPr>
            <a:r>
              <a:t>B 服务利用率：鉴权先接近饱和</a:t>
            </a:r>
          </a:p>
        </p:txBody>
      </p:sp>
      <p:sp>
        <p:nvSpPr>
          <p:cNvPr id="5" name="short:图标题"/>
          <p:cNvSpPr txBox="1"/>
          <p:nvPr/>
        </p:nvSpPr>
        <p:spPr>
          <a:xfrm>
            <a:off x="406400" y="3632200"/>
            <a:ext cx="55880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244F76"/>
                </a:solidFill>
                <a:latin typeface="Microsoft YaHei"/>
              </a:defRPr>
            </a:pPr>
            <a:r>
              <a:t>C 请求依赖：同步链与旁路交织</a:t>
            </a:r>
          </a:p>
        </p:txBody>
      </p:sp>
      <p:sp>
        <p:nvSpPr>
          <p:cNvPr id="6" name="short:图标题"/>
          <p:cNvSpPr txBox="1"/>
          <p:nvPr/>
        </p:nvSpPr>
        <p:spPr>
          <a:xfrm>
            <a:off x="6197600" y="3632200"/>
            <a:ext cx="55880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244F76"/>
                </a:solidFill>
                <a:latin typeface="Microsoft YaHei"/>
              </a:defRPr>
            </a:pPr>
            <a:r>
              <a:t>D 容量选择：扩容降低两种策略的延迟</a:t>
            </a:r>
          </a:p>
        </p:txBody>
      </p:sp>
      <p:graphicFrame>
        <p:nvGraphicFramePr>
          <p:cNvPr id="7" name="chart:load"/>
          <p:cNvGraphicFramePr>
            <a:graphicFrameLocks noGrp="1"/>
          </p:cNvGraphicFramePr>
          <p:nvPr/>
        </p:nvGraphicFramePr>
        <p:xfrm>
          <a:off x="406400" y="1397000"/>
          <a:ext cx="5588000" cy="208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5" name="Picture 7" descr="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1397000"/>
            <a:ext cx="5588000" cy="2082800"/>
          </a:xfrm>
          <a:prstGeom prst="rect">
            <a:avLst/>
          </a:prstGeom>
        </p:spPr>
      </p:pic>
      <p:pic>
        <p:nvPicPr>
          <p:cNvPr id="14" name="Picture 8" descr="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4064000"/>
            <a:ext cx="5588000" cy="2082800"/>
          </a:xfrm>
          <a:prstGeom prst="rect">
            <a:avLst/>
          </a:prstGeom>
        </p:spPr>
      </p:pic>
      <p:graphicFrame>
        <p:nvGraphicFramePr>
          <p:cNvPr id="10" name="chart:capacity"/>
          <p:cNvGraphicFramePr>
            <a:graphicFrameLocks noGrp="1"/>
          </p:cNvGraphicFramePr>
          <p:nvPr/>
        </p:nvGraphicFramePr>
        <p:xfrm>
          <a:off x="6197600" y="4064000"/>
          <a:ext cx="5588000" cy="208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short:单位A"/>
          <p:cNvSpPr txBox="1"/>
          <p:nvPr/>
        </p:nvSpPr>
        <p:spPr>
          <a:xfrm>
            <a:off x="406400" y="1244600"/>
            <a:ext cx="5588000" cy="190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0">
                <a:solidFill>
                  <a:srgbClr val="244F76"/>
                </a:solidFill>
                <a:latin typeface="Microsoft YaHei"/>
              </a:defRPr>
            </a:pPr>
            <a:r>
              <a:t>均值 ms / 请求率 次·秒⁻¹；鉴权访问比 0.90→0.65</a:t>
            </a:r>
          </a:p>
        </p:txBody>
      </p:sp>
      <p:sp>
        <p:nvSpPr>
          <p:cNvPr id="12" name="short:单位D"/>
          <p:cNvSpPr txBox="1"/>
          <p:nvPr/>
        </p:nvSpPr>
        <p:spPr>
          <a:xfrm>
            <a:off x="6212840" y="3911600"/>
            <a:ext cx="5588000" cy="190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0">
                <a:solidFill>
                  <a:srgbClr val="244F76"/>
                </a:solidFill>
                <a:latin typeface="Microsoft YaHei"/>
              </a:defRPr>
            </a:pPr>
            <a:r>
              <a:t>λ=160；3×均值 ms / 容量成本指数（基准=100）</a:t>
            </a:r>
          </a:p>
        </p:txBody>
      </p:sp>
      <p:sp>
        <p:nvSpPr>
          <p:cNvPr id="13" name="page-number:merged"/>
          <p:cNvSpPr txBox="1"/>
          <p:nvPr/>
        </p:nvSpPr>
        <p:spPr>
          <a:xfrm>
            <a:off x="11455400" y="6311900"/>
            <a:ext cx="330200" cy="190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0">
                <a:solidFill>
                  <a:srgbClr val="244F76"/>
                </a:solidFill>
                <a:latin typeface="Microsoft YaHei"/>
              </a:defRPr>
            </a:pPr>
            <a:r>
              <a:t>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06400" y="279400"/>
            <a:ext cx="113792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33F62"/>
                </a:solidFill>
                <a:latin typeface="Microsoft YaHei"/>
              </a:rPr>
              <a:t>推理服务容量决策：负载与可靠性（模拟）</a:t>
            </a:r>
          </a:p>
        </p:txBody>
      </p:sp>
      <p:sp>
        <p:nvSpPr>
          <p:cNvPr id="3" name="short:panel-0"/>
          <p:cNvSpPr txBox="1"/>
          <p:nvPr/>
        </p:nvSpPr>
        <p:spPr>
          <a:xfrm>
            <a:off x="406400" y="850900"/>
            <a:ext cx="5461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3F62"/>
                </a:solidFill>
                <a:latin typeface="Microsoft YaHei"/>
              </a:rPr>
              <a:t>A 反馈调度与准入分支</a:t>
            </a:r>
          </a:p>
        </p:txBody>
      </p:sp>
      <p:pic>
        <p:nvPicPr>
          <p:cNvPr id="27" name="scientific:routing" descr="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219200"/>
            <a:ext cx="5461000" cy="2006600"/>
          </a:xfrm>
          <a:prstGeom prst="rect">
            <a:avLst/>
          </a:prstGeom>
        </p:spPr>
      </p:pic>
      <p:sp>
        <p:nvSpPr>
          <p:cNvPr id="5" name="short:panel-1"/>
          <p:cNvSpPr txBox="1"/>
          <p:nvPr/>
        </p:nvSpPr>
        <p:spPr>
          <a:xfrm>
            <a:off x="6324600" y="850900"/>
            <a:ext cx="5461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3F62"/>
                </a:solidFill>
                <a:latin typeface="Microsoft YaHei"/>
              </a:rPr>
              <a:t>B 平均延迟 ms；λ 单位 req/s；— 为失稳</a:t>
            </a:r>
          </a:p>
        </p:txBody>
      </p:sp>
      <p:pic>
        <p:nvPicPr>
          <p:cNvPr id="6" name="scientific:heatmap" descr="matplotlib-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219200"/>
            <a:ext cx="5461000" cy="2006600"/>
          </a:xfrm>
          <a:prstGeom prst="rect">
            <a:avLst/>
          </a:prstGeom>
        </p:spPr>
      </p:pic>
      <p:sp>
        <p:nvSpPr>
          <p:cNvPr id="7" name="short:panel-2"/>
          <p:cNvSpPr txBox="1"/>
          <p:nvPr/>
        </p:nvSpPr>
        <p:spPr>
          <a:xfrm>
            <a:off x="406400" y="3403600"/>
            <a:ext cx="5461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3F62"/>
                </a:solidFill>
                <a:latin typeface="Microsoft YaHei"/>
              </a:rPr>
              <a:t>C 服务容量与负载（req/s；横轴 min）</a:t>
            </a:r>
          </a:p>
        </p:txBody>
      </p:sp>
      <p:graphicFrame>
        <p:nvGraphicFramePr>
          <p:cNvPr id="8" name="chart:load"/>
          <p:cNvGraphicFramePr>
            <a:graphicFrameLocks noGrp="1"/>
          </p:cNvGraphicFramePr>
          <p:nvPr/>
        </p:nvGraphicFramePr>
        <p:xfrm>
          <a:off x="406400" y="3771900"/>
          <a:ext cx="5461000" cy="200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ort:panel-3"/>
          <p:cNvSpPr txBox="1"/>
          <p:nvPr/>
        </p:nvSpPr>
        <p:spPr>
          <a:xfrm>
            <a:off x="6324600" y="3403600"/>
            <a:ext cx="5461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3F62"/>
                </a:solidFill>
                <a:latin typeface="Microsoft YaHei"/>
              </a:rPr>
              <a:t>D 均匀路由的队列模型</a:t>
            </a:r>
          </a:p>
        </p:txBody>
      </p:sp>
      <p:sp>
        <p:nvSpPr>
          <p:cNvPr id="10" name="container:model-hierarchy"/>
          <p:cNvSpPr/>
          <p:nvPr/>
        </p:nvSpPr>
        <p:spPr>
          <a:xfrm>
            <a:off x="6324600" y="3771900"/>
            <a:ext cx="5461000" cy="2006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node:hierarchy-0"/>
          <p:cNvSpPr/>
          <p:nvPr/>
        </p:nvSpPr>
        <p:spPr>
          <a:xfrm>
            <a:off x="6426200" y="3928110"/>
            <a:ext cx="2153285" cy="289560"/>
          </a:xfrm>
          <a:prstGeom prst="rect">
            <a:avLst/>
          </a:prstGeom>
          <a:solidFill>
            <a:srgbClr val="E2EBF2"/>
          </a:solidFill>
          <a:ln w="10160">
            <a:solidFill>
              <a:srgbClr val="168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hierarchy:level-0"/>
          <p:cNvSpPr txBox="1"/>
          <p:nvPr/>
        </p:nvSpPr>
        <p:spPr>
          <a:xfrm>
            <a:off x="6502400" y="3966210"/>
            <a:ext cx="51054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3F62"/>
                </a:solidFill>
                <a:latin typeface="Microsoft YaHei"/>
              </a:rPr>
              <a:t>系统｜泊松到达；λ &lt; nμ</a:t>
            </a:r>
          </a:p>
        </p:txBody>
      </p:sp>
      <p:sp>
        <p:nvSpPr>
          <p:cNvPr id="12" name="hierarchy:detail-0"/>
          <p:cNvSpPr txBox="1"/>
          <p:nvPr/>
        </p:nvSpPr>
        <p:spPr>
          <a:xfrm>
            <a:off x="6494780" y="4232910"/>
            <a:ext cx="32004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33F62"/>
                </a:solidFill>
                <a:latin typeface="Microsoft YaHei"/>
              </a:rPr>
              <a:t>ρ = λ/(nμ)；D = 1000/(μ − λ/n) ms</a:t>
            </a:r>
          </a:p>
        </p:txBody>
      </p:sp>
      <p:sp>
        <p:nvSpPr>
          <p:cNvPr id="29" name="node:hierarchy-1"/>
          <p:cNvSpPr/>
          <p:nvPr/>
        </p:nvSpPr>
        <p:spPr>
          <a:xfrm>
            <a:off x="6654800" y="4512310"/>
            <a:ext cx="2616200" cy="289560"/>
          </a:xfrm>
          <a:prstGeom prst="rect">
            <a:avLst/>
          </a:prstGeom>
          <a:solidFill>
            <a:srgbClr val="E2EBF2"/>
          </a:solidFill>
          <a:ln w="10160">
            <a:solidFill>
              <a:srgbClr val="168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ierarchy:level-1"/>
          <p:cNvSpPr txBox="1"/>
          <p:nvPr/>
        </p:nvSpPr>
        <p:spPr>
          <a:xfrm>
            <a:off x="6731000" y="4550410"/>
            <a:ext cx="48768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3F62"/>
                </a:solidFill>
                <a:latin typeface="Microsoft YaHei"/>
              </a:rPr>
              <a:t>策略｜n = ⌈λ/30⌉，每分钟调整</a:t>
            </a:r>
          </a:p>
        </p:txBody>
      </p:sp>
      <p:sp>
        <p:nvSpPr>
          <p:cNvPr id="14" name="hierarchy:detail-1"/>
          <p:cNvSpPr txBox="1"/>
          <p:nvPr/>
        </p:nvSpPr>
        <p:spPr>
          <a:xfrm>
            <a:off x="6715759" y="4817110"/>
            <a:ext cx="29718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33F62"/>
                </a:solidFill>
                <a:latin typeface="Microsoft YaHei"/>
              </a:rPr>
              <a:t>1 min 平台、瞬时调度；比较稳态均值</a:t>
            </a:r>
          </a:p>
        </p:txBody>
      </p:sp>
      <p:sp>
        <p:nvSpPr>
          <p:cNvPr id="30" name="node:hierarchy-2"/>
          <p:cNvSpPr/>
          <p:nvPr/>
        </p:nvSpPr>
        <p:spPr>
          <a:xfrm>
            <a:off x="6883400" y="5096510"/>
            <a:ext cx="2647060" cy="289560"/>
          </a:xfrm>
          <a:prstGeom prst="rect">
            <a:avLst/>
          </a:prstGeom>
          <a:solidFill>
            <a:srgbClr val="E2EBF2"/>
          </a:solidFill>
          <a:ln w="10160">
            <a:solidFill>
              <a:srgbClr val="168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hierarchy:level-2"/>
          <p:cNvSpPr txBox="1"/>
          <p:nvPr/>
        </p:nvSpPr>
        <p:spPr>
          <a:xfrm>
            <a:off x="6959600" y="5134610"/>
            <a:ext cx="46482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33F62"/>
                </a:solidFill>
                <a:latin typeface="Microsoft YaHei"/>
              </a:rPr>
              <a:t>节点｜μ = 50 req/s，指数服务</a:t>
            </a:r>
          </a:p>
        </p:txBody>
      </p:sp>
      <p:sp>
        <p:nvSpPr>
          <p:cNvPr id="17" name="hierarchy:detail-2"/>
          <p:cNvSpPr txBox="1"/>
          <p:nvPr/>
        </p:nvSpPr>
        <p:spPr>
          <a:xfrm>
            <a:off x="6959600" y="5401310"/>
            <a:ext cx="27432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33F62"/>
                </a:solidFill>
                <a:latin typeface="Microsoft YaHei"/>
              </a:rPr>
              <a:t>均匀路由；功率 P = 120n + 1.6λ W</a:t>
            </a:r>
          </a:p>
        </p:txBody>
      </p:sp>
      <p:sp>
        <p:nvSpPr>
          <p:cNvPr id="19" name="metric:value-0"/>
          <p:cNvSpPr txBox="1"/>
          <p:nvPr/>
        </p:nvSpPr>
        <p:spPr>
          <a:xfrm>
            <a:off x="10642600" y="3935729"/>
            <a:ext cx="1016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33F62"/>
                </a:solidFill>
                <a:latin typeface="Microsoft YaHei"/>
              </a:rPr>
              <a:t>0.933</a:t>
            </a:r>
          </a:p>
        </p:txBody>
      </p:sp>
      <p:sp>
        <p:nvSpPr>
          <p:cNvPr id="20" name="metric:label-0"/>
          <p:cNvSpPr txBox="1"/>
          <p:nvPr/>
        </p:nvSpPr>
        <p:spPr>
          <a:xfrm>
            <a:off x="10642600" y="4232910"/>
            <a:ext cx="1016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33F62"/>
                </a:solidFill>
                <a:latin typeface="Microsoft YaHei"/>
              </a:rPr>
              <a:t>峰值 ρ｜n=6</a:t>
            </a:r>
          </a:p>
        </p:txBody>
      </p:sp>
      <p:sp>
        <p:nvSpPr>
          <p:cNvPr id="21" name="metric:value-1"/>
          <p:cNvSpPr txBox="1"/>
          <p:nvPr/>
        </p:nvSpPr>
        <p:spPr>
          <a:xfrm>
            <a:off x="10634980" y="4523740"/>
            <a:ext cx="1016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33F62"/>
                </a:solidFill>
                <a:latin typeface="Microsoft YaHei"/>
              </a:rPr>
              <a:t>10</a:t>
            </a:r>
          </a:p>
        </p:txBody>
      </p:sp>
      <p:sp>
        <p:nvSpPr>
          <p:cNvPr id="22" name="metric:label-1"/>
          <p:cNvSpPr txBox="1"/>
          <p:nvPr/>
        </p:nvSpPr>
        <p:spPr>
          <a:xfrm>
            <a:off x="10634980" y="4817110"/>
            <a:ext cx="1016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33F62"/>
                </a:solidFill>
                <a:latin typeface="Microsoft YaHei"/>
              </a:rPr>
              <a:t>自适应副本数</a:t>
            </a:r>
          </a:p>
        </p:txBody>
      </p:sp>
      <p:sp>
        <p:nvSpPr>
          <p:cNvPr id="23" name="metric:value-2"/>
          <p:cNvSpPr txBox="1"/>
          <p:nvPr/>
        </p:nvSpPr>
        <p:spPr>
          <a:xfrm>
            <a:off x="10642600" y="5100320"/>
            <a:ext cx="1016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33F62"/>
                </a:solidFill>
                <a:latin typeface="Microsoft YaHei"/>
              </a:rPr>
              <a:t>20 ms</a:t>
            </a:r>
          </a:p>
        </p:txBody>
      </p:sp>
      <p:sp>
        <p:nvSpPr>
          <p:cNvPr id="24" name="metric:label-2"/>
          <p:cNvSpPr txBox="1"/>
          <p:nvPr/>
        </p:nvSpPr>
        <p:spPr>
          <a:xfrm>
            <a:off x="10650220" y="5401310"/>
            <a:ext cx="1016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33F62"/>
                </a:solidFill>
                <a:latin typeface="Microsoft YaHei"/>
              </a:rPr>
              <a:t>单次服务均值</a:t>
            </a:r>
          </a:p>
        </p:txBody>
      </p:sp>
      <p:sp>
        <p:nvSpPr>
          <p:cNvPr id="25" name="conclusion:result"/>
          <p:cNvSpPr txBox="1"/>
          <p:nvPr/>
        </p:nvSpPr>
        <p:spPr>
          <a:xfrm>
            <a:off x="406400" y="6019800"/>
            <a:ext cx="11379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33F62"/>
                </a:solidFill>
                <a:latin typeface="Microsoft YaHei"/>
              </a:rPr>
              <a:t>λ = 280 req/s 时，固定 n = 6 的 ρ = 0.933；增至 n = 10 后 D 从 300 ms 降至 45.5 ms。</a:t>
            </a:r>
          </a:p>
        </p:txBody>
      </p:sp>
      <p:sp>
        <p:nvSpPr>
          <p:cNvPr id="26" name="page-number:merged"/>
          <p:cNvSpPr txBox="1"/>
          <p:nvPr/>
        </p:nvSpPr>
        <p:spPr>
          <a:xfrm>
            <a:off x="11455400" y="6311900"/>
            <a:ext cx="330200" cy="190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0">
                <a:solidFill>
                  <a:srgbClr val="244F76"/>
                </a:solidFill>
                <a:latin typeface="Microsoft YaHei"/>
              </a:defRPr>
            </a:pPr>
            <a:r>
              <a:t>2/3</a:t>
            </a:r>
          </a:p>
        </p:txBody>
      </p:sp>
      <p:cxnSp>
        <p:nvCxnSpPr>
          <p:cNvPr id="31" name="connector:hierarchy-1-1"/>
          <p:cNvCxnSpPr/>
          <p:nvPr/>
        </p:nvCxnSpPr>
        <p:spPr>
          <a:xfrm flipH="1">
            <a:off x="6350000" y="4072890"/>
            <a:ext cx="76200" cy="0"/>
          </a:xfrm>
          <a:prstGeom prst="line">
            <a:avLst/>
          </a:prstGeom>
          <a:ln w="12700">
            <a:solidFill>
              <a:srgbClr val="16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hierarchy-1-2"/>
          <p:cNvCxnSpPr/>
          <p:nvPr/>
        </p:nvCxnSpPr>
        <p:spPr>
          <a:xfrm>
            <a:off x="6350000" y="4072890"/>
            <a:ext cx="0" cy="584200"/>
          </a:xfrm>
          <a:prstGeom prst="line">
            <a:avLst/>
          </a:prstGeom>
          <a:ln w="12700">
            <a:solidFill>
              <a:srgbClr val="16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hierarchy-1-3"/>
          <p:cNvCxnSpPr/>
          <p:nvPr/>
        </p:nvCxnSpPr>
        <p:spPr>
          <a:xfrm>
            <a:off x="6350000" y="4657090"/>
            <a:ext cx="304800" cy="0"/>
          </a:xfrm>
          <a:prstGeom prst="line">
            <a:avLst/>
          </a:prstGeom>
          <a:ln w="12700">
            <a:solidFill>
              <a:srgbClr val="1685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hierarchy-2-1"/>
          <p:cNvCxnSpPr/>
          <p:nvPr/>
        </p:nvCxnSpPr>
        <p:spPr>
          <a:xfrm flipH="1">
            <a:off x="6578600" y="4745990"/>
            <a:ext cx="76200" cy="0"/>
          </a:xfrm>
          <a:prstGeom prst="line">
            <a:avLst/>
          </a:prstGeom>
          <a:ln w="12700">
            <a:solidFill>
              <a:srgbClr val="16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hierarchy-2-2"/>
          <p:cNvCxnSpPr/>
          <p:nvPr/>
        </p:nvCxnSpPr>
        <p:spPr>
          <a:xfrm>
            <a:off x="6578600" y="4745990"/>
            <a:ext cx="0" cy="495300"/>
          </a:xfrm>
          <a:prstGeom prst="line">
            <a:avLst/>
          </a:prstGeom>
          <a:ln w="12700">
            <a:solidFill>
              <a:srgbClr val="168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hierarchy-2-3"/>
          <p:cNvCxnSpPr/>
          <p:nvPr/>
        </p:nvCxnSpPr>
        <p:spPr>
          <a:xfrm>
            <a:off x="6578600" y="5241290"/>
            <a:ext cx="304800" cy="0"/>
          </a:xfrm>
          <a:prstGeom prst="line">
            <a:avLst/>
          </a:prstGeom>
          <a:ln w="12700">
            <a:solidFill>
              <a:srgbClr val="1685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09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:main"/>
          <p:cNvSpPr txBox="1"/>
          <p:nvPr/>
        </p:nvSpPr>
        <p:spPr>
          <a:xfrm>
            <a:off x="406400" y="279400"/>
            <a:ext cx="113792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33F62"/>
                </a:solidFill>
                <a:latin typeface="Microsoft YaHei"/>
              </a:rPr>
              <a:t>成本—延迟权衡：40 ms 目标需要 10 副本</a:t>
            </a:r>
          </a:p>
        </p:txBody>
      </p:sp>
      <p:sp>
        <p:nvSpPr>
          <p:cNvPr id="3" name="short:panel-0"/>
          <p:cNvSpPr txBox="1"/>
          <p:nvPr/>
        </p:nvSpPr>
        <p:spPr>
          <a:xfrm>
            <a:off x="406400" y="850900"/>
            <a:ext cx="5461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3F62"/>
                </a:solidFill>
                <a:latin typeface="Microsoft YaHei"/>
              </a:rPr>
              <a:t>E 功率 W → 延迟 ms；点标签为副本数</a:t>
            </a:r>
          </a:p>
        </p:txBody>
      </p:sp>
      <p:pic>
        <p:nvPicPr>
          <p:cNvPr id="4" name="scientific:frontier" descr="matlab-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219200"/>
            <a:ext cx="5461000" cy="2006600"/>
          </a:xfrm>
          <a:prstGeom prst="rect">
            <a:avLst/>
          </a:prstGeom>
        </p:spPr>
      </p:pic>
      <p:sp>
        <p:nvSpPr>
          <p:cNvPr id="5" name="short:panel-1"/>
          <p:cNvSpPr txBox="1"/>
          <p:nvPr/>
        </p:nvSpPr>
        <p:spPr>
          <a:xfrm>
            <a:off x="6324600" y="850900"/>
            <a:ext cx="5461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3F62"/>
                </a:solidFill>
                <a:latin typeface="Microsoft YaHei"/>
              </a:rPr>
              <a:t>F 延迟分解（ms）：服务时间为 20 ms</a:t>
            </a:r>
          </a:p>
        </p:txBody>
      </p:sp>
      <p:graphicFrame>
        <p:nvGraphicFramePr>
          <p:cNvPr id="6" name="chart:decomposition"/>
          <p:cNvGraphicFramePr>
            <a:graphicFrameLocks noGrp="1"/>
          </p:cNvGraphicFramePr>
          <p:nvPr/>
        </p:nvGraphicFramePr>
        <p:xfrm>
          <a:off x="6324600" y="1219200"/>
          <a:ext cx="5461000" cy="200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ort:panel-2"/>
          <p:cNvSpPr txBox="1"/>
          <p:nvPr/>
        </p:nvSpPr>
        <p:spPr>
          <a:xfrm>
            <a:off x="406400" y="3403600"/>
            <a:ext cx="5461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3F62"/>
                </a:solidFill>
                <a:latin typeface="Microsoft YaHei"/>
              </a:rPr>
              <a:t>G 平台平均延迟（ms；横轴 min）</a:t>
            </a:r>
          </a:p>
        </p:txBody>
      </p:sp>
      <p:graphicFrame>
        <p:nvGraphicFramePr>
          <p:cNvPr id="8" name="chart:delay"/>
          <p:cNvGraphicFramePr>
            <a:graphicFrameLocks noGrp="1"/>
          </p:cNvGraphicFramePr>
          <p:nvPr/>
        </p:nvGraphicFramePr>
        <p:xfrm>
          <a:off x="406400" y="3771900"/>
          <a:ext cx="5461000" cy="200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ort:panel-3"/>
          <p:cNvSpPr txBox="1"/>
          <p:nvPr/>
        </p:nvSpPr>
        <p:spPr>
          <a:xfrm>
            <a:off x="6324600" y="3403600"/>
            <a:ext cx="5461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3F62"/>
                </a:solidFill>
                <a:latin typeface="Microsoft YaHei"/>
              </a:rPr>
              <a:t>H 目标延迟决定最少副本数</a:t>
            </a:r>
          </a:p>
        </p:txBody>
      </p:sp>
      <p:graphicFrame>
        <p:nvGraphicFramePr>
          <p:cNvPr id="10" name="table:policy"/>
          <p:cNvGraphicFramePr>
            <a:graphicFrameLocks noGrp="1"/>
          </p:cNvGraphicFramePr>
          <p:nvPr/>
        </p:nvGraphicFramePr>
        <p:xfrm>
          <a:off x="6324600" y="3771900"/>
          <a:ext cx="5204456" cy="200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3F62"/>
                          </a:solidFill>
                          <a:latin typeface="Microsoft YaHei"/>
                        </a:rPr>
                        <a:t>目标 D</a:t>
                      </a:r>
                    </a:p>
                  </a:txBody>
                  <a:tcPr marL="38100" marR="38100" marT="12700" marB="127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3F62"/>
                          </a:solidFill>
                          <a:latin typeface="Microsoft YaHei"/>
                        </a:rPr>
                        <a:t>120/s</a:t>
                      </a:r>
                    </a:p>
                  </a:txBody>
                  <a:tcPr marL="38100" marR="38100" marT="12700" marB="127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3F62"/>
                          </a:solidFill>
                          <a:latin typeface="Microsoft YaHei"/>
                        </a:rPr>
                        <a:t>240/s</a:t>
                      </a:r>
                    </a:p>
                  </a:txBody>
                  <a:tcPr marL="38100" marR="38100" marT="12700" marB="127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3F62"/>
                          </a:solidFill>
                          <a:latin typeface="Microsoft YaHei"/>
                        </a:rPr>
                        <a:t>280/s</a:t>
                      </a:r>
                    </a:p>
                  </a:txBody>
                  <a:tcPr marL="38100" marR="38100" marT="12700" marB="12700" anchor="ctr"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40 ms</a:t>
                      </a:r>
                    </a:p>
                  </a:txBody>
                  <a:tcPr marL="38100" marR="38100" marT="12700" marB="127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38100" marR="38100" marT="12700" marB="127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38100" marR="38100" marT="12700" marB="127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38100" marR="38100" marT="12700" marB="1270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60 ms</a:t>
                      </a:r>
                    </a:p>
                  </a:txBody>
                  <a:tcPr marL="38100" marR="38100" marT="12700" marB="127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38100" marR="38100" marT="12700" marB="127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38100" marR="38100" marT="12700" marB="127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38100" marR="38100" marT="12700" marB="1270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100 ms</a:t>
                      </a:r>
                    </a:p>
                  </a:txBody>
                  <a:tcPr marL="38100" marR="38100" marT="12700" marB="12700" anchor="ctr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38100" marR="38100" marT="12700" marB="127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38100" marR="38100" marT="12700" marB="127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3F62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L="38100" marR="38100" marT="12700" marB="1270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onclusion:result"/>
          <p:cNvSpPr txBox="1"/>
          <p:nvPr/>
        </p:nvSpPr>
        <p:spPr>
          <a:xfrm>
            <a:off x="406400" y="6019800"/>
            <a:ext cx="11379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33F62"/>
                </a:solidFill>
                <a:latin typeface="Microsoft YaHei"/>
              </a:rPr>
              <a:t>λ = 240 req/s：n = 10 时 D = 38.5 ms、功率 1584 W；较 n = 6 增加 480 W，等待减少 61.5 ms。</a:t>
            </a:r>
          </a:p>
        </p:txBody>
      </p:sp>
      <p:sp>
        <p:nvSpPr>
          <p:cNvPr id="12" name="page-number:merged"/>
          <p:cNvSpPr txBox="1"/>
          <p:nvPr/>
        </p:nvSpPr>
        <p:spPr>
          <a:xfrm>
            <a:off x="11455400" y="6311900"/>
            <a:ext cx="330200" cy="190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0">
                <a:solidFill>
                  <a:srgbClr val="244F76"/>
                </a:solidFill>
                <a:latin typeface="Microsoft YaHei"/>
              </a:defRPr>
            </a:pPr>
            <a: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2731323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447</Words>
  <PresentationFormat>宽屏</PresentationFormat>
  <Paragraphs>53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dc:description>generated using python-pptx</dc:description>
  <cp:lastModifiedBy>益帆 刘</cp:lastModifiedBy>
  <cp:revision>2</cp:revision>
  <dcterms:created xsi:type="dcterms:W3CDTF">2013-01-27T09:14:16Z</dcterms:created>
  <dcterms:modified xsi:type="dcterms:W3CDTF">2026-10-18T12:02:19Z</dcterms:modified>
  <cp:category/>
  <dc:creator>SKILL应用测试</dc:creator>
</cp:coreProperties>
</file>