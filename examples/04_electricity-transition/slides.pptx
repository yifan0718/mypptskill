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2"/>
    <p:sldMasterId id="2147483661" r:id="rId3"/>
    <p:sldMasterId id="2147483663" r:id="rId4"/>
    <p:sldMasterId id="2147483675" r:id="rId5"/>
    <p:sldMasterId id="2147483690" r:id="rId6"/>
    <p:sldMasterId id="2147483696" r:id="rId7"/>
  </p:sldMasterIdLst>
  <p:notesMasterIdLst>
    <p:notesMasterId r:id="rId49"/>
  </p:notesMasterIdLst>
  <p:handoutMasterIdLst>
    <p:handoutMasterId r:id="rId50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3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orient="horz" pos="2167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49" Type="http://schemas.openxmlformats.org/officeDocument/2006/relationships/notesMaster" Target="notesMasters/notesMaster1.xml"/><Relationship Id="rId50" Type="http://schemas.openxmlformats.org/officeDocument/2006/relationships/handoutMaster" Target="handoutMasters/handoutMaster1.xml"/><Relationship Id="rId57" Type="http://schemas.openxmlformats.org/officeDocument/2006/relationships/presProps" Target="pres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8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煤炭</c:v>
                </c:pt>
              </c:strCache>
            </c:strRef>
          </c:tx>
          <c:spPr>
            <a:solidFill>
              <a:srgbClr val="536174"/>
            </a:solidFill>
            <a:ln w="25400">
              <a:solidFill>
                <a:srgbClr val="536174"/>
              </a:solidFill>
            </a:ln>
          </c:spP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5808.81</c:v>
                </c:pt>
                <c:pt idx="1">
                  <c:v>5890.67</c:v>
                </c:pt>
                <c:pt idx="2">
                  <c:v>6144.3</c:v>
                </c:pt>
                <c:pt idx="3">
                  <c:v>6574.95</c:v>
                </c:pt>
                <c:pt idx="4">
                  <c:v>6797.3</c:v>
                </c:pt>
                <c:pt idx="5">
                  <c:v>7167.21</c:v>
                </c:pt>
                <c:pt idx="6">
                  <c:v>7566.97</c:v>
                </c:pt>
                <c:pt idx="7">
                  <c:v>8051.83</c:v>
                </c:pt>
                <c:pt idx="8">
                  <c:v>8074.19</c:v>
                </c:pt>
                <c:pt idx="9">
                  <c:v>7950.77</c:v>
                </c:pt>
                <c:pt idx="10">
                  <c:v>8458.0</c:v>
                </c:pt>
                <c:pt idx="11">
                  <c:v>8911.04</c:v>
                </c:pt>
                <c:pt idx="12">
                  <c:v>8960.28</c:v>
                </c:pt>
                <c:pt idx="13">
                  <c:v>9423.85</c:v>
                </c:pt>
                <c:pt idx="14">
                  <c:v>9603.84</c:v>
                </c:pt>
                <c:pt idx="15">
                  <c:v>9283.61</c:v>
                </c:pt>
                <c:pt idx="16">
                  <c:v>9327.96</c:v>
                </c:pt>
                <c:pt idx="17">
                  <c:v>9655.05</c:v>
                </c:pt>
                <c:pt idx="18">
                  <c:v>10033.03</c:v>
                </c:pt>
                <c:pt idx="19">
                  <c:v>9826.39</c:v>
                </c:pt>
                <c:pt idx="20">
                  <c:v>9437.05</c:v>
                </c:pt>
                <c:pt idx="21">
                  <c:v>10156.49</c:v>
                </c:pt>
                <c:pt idx="22">
                  <c:v>10240.44</c:v>
                </c:pt>
                <c:pt idx="23">
                  <c:v>10395.94</c:v>
                </c:pt>
                <c:pt idx="24">
                  <c:v>10538.94</c:v>
                </c:pt>
                <c:pt idx="25">
                  <c:v>10476.42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天然气</c:v>
                </c:pt>
              </c:strCache>
            </c:strRef>
          </c:tx>
          <c:spPr>
            <a:solidFill>
              <a:srgbClr val="B1866C"/>
            </a:solidFill>
            <a:ln w="25400">
              <a:solidFill>
                <a:srgbClr val="B1866C"/>
              </a:solidFill>
            </a:ln>
          </c:spP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2745.57</c:v>
                </c:pt>
                <c:pt idx="1">
                  <c:v>2914.78</c:v>
                </c:pt>
                <c:pt idx="2">
                  <c:v>3104.81</c:v>
                </c:pt>
                <c:pt idx="3">
                  <c:v>3255.5</c:v>
                </c:pt>
                <c:pt idx="4">
                  <c:v>3503.08</c:v>
                </c:pt>
                <c:pt idx="5">
                  <c:v>3680.54</c:v>
                </c:pt>
                <c:pt idx="6">
                  <c:v>3900.59</c:v>
                </c:pt>
                <c:pt idx="7">
                  <c:v>4219.27</c:v>
                </c:pt>
                <c:pt idx="8">
                  <c:v>4360.99</c:v>
                </c:pt>
                <c:pt idx="9">
                  <c:v>4382.35</c:v>
                </c:pt>
                <c:pt idx="10">
                  <c:v>4807.86</c:v>
                </c:pt>
                <c:pt idx="11">
                  <c:v>4865.93</c:v>
                </c:pt>
                <c:pt idx="12">
                  <c:v>5161.35</c:v>
                </c:pt>
                <c:pt idx="13">
                  <c:v>5058.36</c:v>
                </c:pt>
                <c:pt idx="14">
                  <c:v>5214.12</c:v>
                </c:pt>
                <c:pt idx="15">
                  <c:v>5539.88</c:v>
                </c:pt>
                <c:pt idx="16">
                  <c:v>5849.92</c:v>
                </c:pt>
                <c:pt idx="17">
                  <c:v>5973.6</c:v>
                </c:pt>
                <c:pt idx="18">
                  <c:v>6224.56</c:v>
                </c:pt>
                <c:pt idx="19">
                  <c:v>6401.31</c:v>
                </c:pt>
                <c:pt idx="20">
                  <c:v>6382.94</c:v>
                </c:pt>
                <c:pt idx="21">
                  <c:v>6556.63</c:v>
                </c:pt>
                <c:pt idx="22">
                  <c:v>6628.27</c:v>
                </c:pt>
                <c:pt idx="23">
                  <c:v>6699.42</c:v>
                </c:pt>
                <c:pt idx="24">
                  <c:v>6882.73</c:v>
                </c:pt>
                <c:pt idx="25">
                  <c:v>6919.03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其他化石</c:v>
                </c:pt>
              </c:strCache>
            </c:strRef>
          </c:tx>
          <c:spPr>
            <a:solidFill>
              <a:srgbClr val="CABBA9"/>
            </a:solidFill>
            <a:ln w="25400">
              <a:solidFill>
                <a:srgbClr val="CABBA9"/>
              </a:solidFill>
            </a:ln>
          </c:spP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1324.32</c:v>
                </c:pt>
                <c:pt idx="1">
                  <c:v>1285.24</c:v>
                </c:pt>
                <c:pt idx="2">
                  <c:v>1271.84</c:v>
                </c:pt>
                <c:pt idx="3">
                  <c:v>1296.25</c:v>
                </c:pt>
                <c:pt idx="4">
                  <c:v>1263.66</c:v>
                </c:pt>
                <c:pt idx="5">
                  <c:v>1277.89</c:v>
                </c:pt>
                <c:pt idx="6">
                  <c:v>1175.78</c:v>
                </c:pt>
                <c:pt idx="7">
                  <c:v>1196.05</c:v>
                </c:pt>
                <c:pt idx="8">
                  <c:v>1171.72</c:v>
                </c:pt>
                <c:pt idx="9">
                  <c:v>1071.16</c:v>
                </c:pt>
                <c:pt idx="10">
                  <c:v>1078.66</c:v>
                </c:pt>
                <c:pt idx="11">
                  <c:v>1186.76</c:v>
                </c:pt>
                <c:pt idx="12">
                  <c:v>1238.6</c:v>
                </c:pt>
                <c:pt idx="13">
                  <c:v>1196.83</c:v>
                </c:pt>
                <c:pt idx="14">
                  <c:v>1143.66</c:v>
                </c:pt>
                <c:pt idx="15">
                  <c:v>1133.29</c:v>
                </c:pt>
                <c:pt idx="16">
                  <c:v>1085.11</c:v>
                </c:pt>
                <c:pt idx="17">
                  <c:v>993.83</c:v>
                </c:pt>
                <c:pt idx="18">
                  <c:v>908.6</c:v>
                </c:pt>
                <c:pt idx="19">
                  <c:v>855.03</c:v>
                </c:pt>
                <c:pt idx="20">
                  <c:v>775.88</c:v>
                </c:pt>
                <c:pt idx="21">
                  <c:v>842.25</c:v>
                </c:pt>
                <c:pt idx="22">
                  <c:v>887.42</c:v>
                </c:pt>
                <c:pt idx="23">
                  <c:v>876.79</c:v>
                </c:pt>
                <c:pt idx="24">
                  <c:v>853.84</c:v>
                </c:pt>
                <c:pt idx="25">
                  <c:v>842.26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核电</c:v>
                </c:pt>
              </c:strCache>
            </c:strRef>
          </c:tx>
          <c:spPr>
            <a:solidFill>
              <a:srgbClr val="786DA7"/>
            </a:solidFill>
            <a:ln w="25400">
              <a:solidFill>
                <a:srgbClr val="786DA7"/>
              </a:solidFill>
            </a:ln>
          </c:spP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2540.46</c:v>
                </c:pt>
                <c:pt idx="1">
                  <c:v>2613.17</c:v>
                </c:pt>
                <c:pt idx="2">
                  <c:v>2654.78</c:v>
                </c:pt>
                <c:pt idx="3">
                  <c:v>2601.05</c:v>
                </c:pt>
                <c:pt idx="4">
                  <c:v>2719.41</c:v>
                </c:pt>
                <c:pt idx="5">
                  <c:v>2726.97</c:v>
                </c:pt>
                <c:pt idx="6">
                  <c:v>2761.59</c:v>
                </c:pt>
                <c:pt idx="7">
                  <c:v>2703.49</c:v>
                </c:pt>
                <c:pt idx="8">
                  <c:v>2694.72</c:v>
                </c:pt>
                <c:pt idx="9">
                  <c:v>2656.76</c:v>
                </c:pt>
                <c:pt idx="10">
                  <c:v>2725.91</c:v>
                </c:pt>
                <c:pt idx="11">
                  <c:v>2610.34</c:v>
                </c:pt>
                <c:pt idx="12">
                  <c:v>2432.22</c:v>
                </c:pt>
                <c:pt idx="13">
                  <c:v>2448.52</c:v>
                </c:pt>
                <c:pt idx="14">
                  <c:v>2498.73</c:v>
                </c:pt>
                <c:pt idx="15">
                  <c:v>2532.93</c:v>
                </c:pt>
                <c:pt idx="16">
                  <c:v>2571.05</c:v>
                </c:pt>
                <c:pt idx="17">
                  <c:v>2594.23</c:v>
                </c:pt>
                <c:pt idx="18">
                  <c:v>2658.7</c:v>
                </c:pt>
                <c:pt idx="19">
                  <c:v>2754.08</c:v>
                </c:pt>
                <c:pt idx="20">
                  <c:v>2648.33</c:v>
                </c:pt>
                <c:pt idx="21">
                  <c:v>2762.44</c:v>
                </c:pt>
                <c:pt idx="22">
                  <c:v>2639.64</c:v>
                </c:pt>
                <c:pt idx="23">
                  <c:v>2697.74</c:v>
                </c:pt>
                <c:pt idx="24">
                  <c:v>2777.11</c:v>
                </c:pt>
                <c:pt idx="25">
                  <c:v>2812.14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水电</c:v>
                </c:pt>
              </c:strCache>
            </c:strRef>
          </c:tx>
          <c:spPr>
            <a:solidFill>
              <a:srgbClr val="3F92A8"/>
            </a:solidFill>
            <a:ln w="25400">
              <a:solidFill>
                <a:srgbClr val="3F92A8"/>
              </a:solidFill>
            </a:ln>
          </c:spP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2629.67</c:v>
                </c:pt>
                <c:pt idx="1">
                  <c:v>2563.72</c:v>
                </c:pt>
                <c:pt idx="2">
                  <c:v>2611.58</c:v>
                </c:pt>
                <c:pt idx="3">
                  <c:v>2611.97</c:v>
                </c:pt>
                <c:pt idx="4">
                  <c:v>2802.61</c:v>
                </c:pt>
                <c:pt idx="5">
                  <c:v>2911.77</c:v>
                </c:pt>
                <c:pt idx="6">
                  <c:v>3018.07</c:v>
                </c:pt>
                <c:pt idx="7">
                  <c:v>3062.78</c:v>
                </c:pt>
                <c:pt idx="8">
                  <c:v>3245.35</c:v>
                </c:pt>
                <c:pt idx="9">
                  <c:v>3241.27</c:v>
                </c:pt>
                <c:pt idx="10">
                  <c:v>3428.21</c:v>
                </c:pt>
                <c:pt idx="11">
                  <c:v>3488.07</c:v>
                </c:pt>
                <c:pt idx="12">
                  <c:v>3660.17</c:v>
                </c:pt>
                <c:pt idx="13">
                  <c:v>3790.79</c:v>
                </c:pt>
                <c:pt idx="14">
                  <c:v>3870.67</c:v>
                </c:pt>
                <c:pt idx="15">
                  <c:v>3882.13</c:v>
                </c:pt>
                <c:pt idx="16">
                  <c:v>4014.75</c:v>
                </c:pt>
                <c:pt idx="17">
                  <c:v>4054.03</c:v>
                </c:pt>
                <c:pt idx="18">
                  <c:v>4176.84</c:v>
                </c:pt>
                <c:pt idx="19">
                  <c:v>4227.76</c:v>
                </c:pt>
                <c:pt idx="20">
                  <c:v>4347.02</c:v>
                </c:pt>
                <c:pt idx="21">
                  <c:v>4288.7</c:v>
                </c:pt>
                <c:pt idx="22">
                  <c:v>4324.07</c:v>
                </c:pt>
                <c:pt idx="23">
                  <c:v>4240.11</c:v>
                </c:pt>
                <c:pt idx="24">
                  <c:v>4433.65</c:v>
                </c:pt>
                <c:pt idx="25">
                  <c:v>4436.5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生物能</c:v>
                </c:pt>
              </c:strCache>
            </c:strRef>
          </c:tx>
          <c:spPr>
            <a:solidFill>
              <a:srgbClr val="8A9D58"/>
            </a:solidFill>
            <a:ln w="25400">
              <a:solidFill>
                <a:srgbClr val="8A9D58"/>
              </a:solidFill>
            </a:ln>
          </c:spP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Sheet1!$G$2:$G$27</c:f>
              <c:numCache>
                <c:formatCode>General</c:formatCode>
                <c:ptCount val="26"/>
                <c:pt idx="0">
                  <c:v>154.13</c:v>
                </c:pt>
                <c:pt idx="1">
                  <c:v>149.55</c:v>
                </c:pt>
                <c:pt idx="2">
                  <c:v>162.81</c:v>
                </c:pt>
                <c:pt idx="3">
                  <c:v>176.37</c:v>
                </c:pt>
                <c:pt idx="4">
                  <c:v>192.41</c:v>
                </c:pt>
                <c:pt idx="5">
                  <c:v>212.76</c:v>
                </c:pt>
                <c:pt idx="6">
                  <c:v>226.61</c:v>
                </c:pt>
                <c:pt idx="7">
                  <c:v>249.29</c:v>
                </c:pt>
                <c:pt idx="8">
                  <c:v>266.38</c:v>
                </c:pt>
                <c:pt idx="9">
                  <c:v>286.46</c:v>
                </c:pt>
                <c:pt idx="10">
                  <c:v>327.19</c:v>
                </c:pt>
                <c:pt idx="11">
                  <c:v>345.27</c:v>
                </c:pt>
                <c:pt idx="12">
                  <c:v>374.02</c:v>
                </c:pt>
                <c:pt idx="13">
                  <c:v>406.47</c:v>
                </c:pt>
                <c:pt idx="14">
                  <c:v>442.68</c:v>
                </c:pt>
                <c:pt idx="15">
                  <c:v>471.79</c:v>
                </c:pt>
                <c:pt idx="16">
                  <c:v>482.08</c:v>
                </c:pt>
                <c:pt idx="17">
                  <c:v>507.39</c:v>
                </c:pt>
                <c:pt idx="18">
                  <c:v>537.74</c:v>
                </c:pt>
                <c:pt idx="19">
                  <c:v>566.0</c:v>
                </c:pt>
                <c:pt idx="20">
                  <c:v>601.17</c:v>
                </c:pt>
                <c:pt idx="21">
                  <c:v>655.3</c:v>
                </c:pt>
                <c:pt idx="22">
                  <c:v>669.2</c:v>
                </c:pt>
                <c:pt idx="23">
                  <c:v>683.62</c:v>
                </c:pt>
                <c:pt idx="24">
                  <c:v>703.37</c:v>
                </c:pt>
                <c:pt idx="25">
                  <c:v>711.01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其他可再生</c:v>
                </c:pt>
              </c:strCache>
            </c:strRef>
          </c:tx>
          <c:spPr>
            <a:solidFill>
              <a:srgbClr val="BCCB85"/>
            </a:solidFill>
            <a:ln w="25400">
              <a:solidFill>
                <a:srgbClr val="BCCB85"/>
              </a:solidFill>
            </a:ln>
          </c:spP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Sheet1!$H$2:$H$27</c:f>
              <c:numCache>
                <c:formatCode>General</c:formatCode>
                <c:ptCount val="26"/>
                <c:pt idx="0">
                  <c:v>43.65</c:v>
                </c:pt>
                <c:pt idx="1">
                  <c:v>44.15</c:v>
                </c:pt>
                <c:pt idx="2">
                  <c:v>45.83</c:v>
                </c:pt>
                <c:pt idx="3">
                  <c:v>46.61</c:v>
                </c:pt>
                <c:pt idx="4">
                  <c:v>48.26</c:v>
                </c:pt>
                <c:pt idx="5">
                  <c:v>48.59</c:v>
                </c:pt>
                <c:pt idx="6">
                  <c:v>50.76</c:v>
                </c:pt>
                <c:pt idx="7">
                  <c:v>52.81</c:v>
                </c:pt>
                <c:pt idx="8">
                  <c:v>56.59</c:v>
                </c:pt>
                <c:pt idx="9">
                  <c:v>58.66</c:v>
                </c:pt>
                <c:pt idx="10">
                  <c:v>59.72</c:v>
                </c:pt>
                <c:pt idx="11">
                  <c:v>61.08</c:v>
                </c:pt>
                <c:pt idx="12">
                  <c:v>62.84</c:v>
                </c:pt>
                <c:pt idx="13">
                  <c:v>64.32</c:v>
                </c:pt>
                <c:pt idx="14">
                  <c:v>69.53</c:v>
                </c:pt>
                <c:pt idx="15">
                  <c:v>73.08</c:v>
                </c:pt>
                <c:pt idx="16">
                  <c:v>75.87</c:v>
                </c:pt>
                <c:pt idx="17">
                  <c:v>78.82</c:v>
                </c:pt>
                <c:pt idx="18">
                  <c:v>81.72</c:v>
                </c:pt>
                <c:pt idx="19">
                  <c:v>82.95</c:v>
                </c:pt>
                <c:pt idx="20">
                  <c:v>86.12</c:v>
                </c:pt>
                <c:pt idx="21">
                  <c:v>86.33</c:v>
                </c:pt>
                <c:pt idx="22">
                  <c:v>87.94</c:v>
                </c:pt>
                <c:pt idx="23">
                  <c:v>88.4</c:v>
                </c:pt>
                <c:pt idx="24">
                  <c:v>88.44</c:v>
                </c:pt>
                <c:pt idx="25">
                  <c:v>89.33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风电</c:v>
                </c:pt>
              </c:strCache>
            </c:strRef>
          </c:tx>
          <c:spPr>
            <a:solidFill>
              <a:srgbClr val="66B8A7"/>
            </a:solidFill>
            <a:ln w="25400">
              <a:solidFill>
                <a:srgbClr val="66B8A7"/>
              </a:solidFill>
            </a:ln>
          </c:spP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Sheet1!$I$2:$I$27</c:f>
              <c:numCache>
                <c:formatCode>General</c:formatCode>
                <c:ptCount val="26"/>
                <c:pt idx="0">
                  <c:v>31.15</c:v>
                </c:pt>
                <c:pt idx="1">
                  <c:v>38.19</c:v>
                </c:pt>
                <c:pt idx="2">
                  <c:v>52.22</c:v>
                </c:pt>
                <c:pt idx="3">
                  <c:v>63.2</c:v>
                </c:pt>
                <c:pt idx="4">
                  <c:v>85.48</c:v>
                </c:pt>
                <c:pt idx="5">
                  <c:v>104.4</c:v>
                </c:pt>
                <c:pt idx="6">
                  <c:v>133.2</c:v>
                </c:pt>
                <c:pt idx="7">
                  <c:v>171.15</c:v>
                </c:pt>
                <c:pt idx="8">
                  <c:v>220.85</c:v>
                </c:pt>
                <c:pt idx="9">
                  <c:v>276.26</c:v>
                </c:pt>
                <c:pt idx="10">
                  <c:v>345.99</c:v>
                </c:pt>
                <c:pt idx="11">
                  <c:v>439.98</c:v>
                </c:pt>
                <c:pt idx="12">
                  <c:v>529.26</c:v>
                </c:pt>
                <c:pt idx="13">
                  <c:v>634.14</c:v>
                </c:pt>
                <c:pt idx="14">
                  <c:v>706.1</c:v>
                </c:pt>
                <c:pt idx="15">
                  <c:v>829.63</c:v>
                </c:pt>
                <c:pt idx="16">
                  <c:v>960.3</c:v>
                </c:pt>
                <c:pt idx="17">
                  <c:v>1139.44</c:v>
                </c:pt>
                <c:pt idx="18">
                  <c:v>1268.14</c:v>
                </c:pt>
                <c:pt idx="19">
                  <c:v>1420.96</c:v>
                </c:pt>
                <c:pt idx="20">
                  <c:v>1591.47</c:v>
                </c:pt>
                <c:pt idx="21">
                  <c:v>1856.94</c:v>
                </c:pt>
                <c:pt idx="22">
                  <c:v>2107.66</c:v>
                </c:pt>
                <c:pt idx="23">
                  <c:v>2319.18</c:v>
                </c:pt>
                <c:pt idx="24">
                  <c:v>2509.5</c:v>
                </c:pt>
                <c:pt idx="25">
                  <c:v>2714.51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太阳能</c:v>
                </c:pt>
              </c:strCache>
            </c:strRef>
          </c:tx>
          <c:spPr>
            <a:solidFill>
              <a:srgbClr val="E6B643"/>
            </a:solidFill>
            <a:ln w="25400">
              <a:solidFill>
                <a:srgbClr val="E6B643"/>
              </a:solidFill>
            </a:ln>
          </c:spP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Sheet1!$J$2:$J$27</c:f>
              <c:numCache>
                <c:formatCode>General</c:formatCode>
                <c:ptCount val="26"/>
                <c:pt idx="0">
                  <c:v>1.02</c:v>
                </c:pt>
                <c:pt idx="1">
                  <c:v>1.36</c:v>
                </c:pt>
                <c:pt idx="2">
                  <c:v>1.72</c:v>
                </c:pt>
                <c:pt idx="3">
                  <c:v>2.11</c:v>
                </c:pt>
                <c:pt idx="4">
                  <c:v>2.78</c:v>
                </c:pt>
                <c:pt idx="5">
                  <c:v>3.95</c:v>
                </c:pt>
                <c:pt idx="6">
                  <c:v>5.42</c:v>
                </c:pt>
                <c:pt idx="7">
                  <c:v>7.29</c:v>
                </c:pt>
                <c:pt idx="8">
                  <c:v>11.85</c:v>
                </c:pt>
                <c:pt idx="9">
                  <c:v>19.82</c:v>
                </c:pt>
                <c:pt idx="10">
                  <c:v>32.21</c:v>
                </c:pt>
                <c:pt idx="11">
                  <c:v>63.56</c:v>
                </c:pt>
                <c:pt idx="12">
                  <c:v>96.92</c:v>
                </c:pt>
                <c:pt idx="13">
                  <c:v>131.75</c:v>
                </c:pt>
                <c:pt idx="14">
                  <c:v>197.74</c:v>
                </c:pt>
                <c:pt idx="15">
                  <c:v>256.01</c:v>
                </c:pt>
                <c:pt idx="16">
                  <c:v>327.47</c:v>
                </c:pt>
                <c:pt idx="17">
                  <c:v>444.65</c:v>
                </c:pt>
                <c:pt idx="18">
                  <c:v>575.16</c:v>
                </c:pt>
                <c:pt idx="19">
                  <c:v>697.94</c:v>
                </c:pt>
                <c:pt idx="20">
                  <c:v>853.39</c:v>
                </c:pt>
                <c:pt idx="21">
                  <c:v>1053.99</c:v>
                </c:pt>
                <c:pt idx="22">
                  <c:v>1333.12</c:v>
                </c:pt>
                <c:pt idx="23">
                  <c:v>1664.14</c:v>
                </c:pt>
                <c:pt idx="24">
                  <c:v>2142.65</c:v>
                </c:pt>
                <c:pt idx="25">
                  <c:v>2778.17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需求增量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222.04999999999927</c:v>
                </c:pt>
                <c:pt idx="1">
                  <c:v>549.0599999999995</c:v>
                </c:pt>
                <c:pt idx="2">
                  <c:v>578.119999999999</c:v>
                </c:pt>
                <c:pt idx="3">
                  <c:v>786.9800000000032</c:v>
                </c:pt>
                <c:pt idx="4">
                  <c:v>719.0900000000001</c:v>
                </c:pt>
                <c:pt idx="5">
                  <c:v>704.9099999999999</c:v>
                </c:pt>
                <c:pt idx="6">
                  <c:v>874.9699999999975</c:v>
                </c:pt>
                <c:pt idx="7">
                  <c:v>388.6800000000003</c:v>
                </c:pt>
                <c:pt idx="8">
                  <c:v>-159.13000000000102</c:v>
                </c:pt>
                <c:pt idx="9">
                  <c:v>1320.2400000000016</c:v>
                </c:pt>
                <c:pt idx="10">
                  <c:v>708.2799999999988</c:v>
                </c:pt>
                <c:pt idx="11">
                  <c:v>543.630000000001</c:v>
                </c:pt>
                <c:pt idx="12">
                  <c:v>639.369999999999</c:v>
                </c:pt>
                <c:pt idx="13">
                  <c:v>592.0400000000009</c:v>
                </c:pt>
                <c:pt idx="14">
                  <c:v>255.27999999999884</c:v>
                </c:pt>
                <c:pt idx="15">
                  <c:v>692.1599999999999</c:v>
                </c:pt>
                <c:pt idx="16">
                  <c:v>746.5300000000025</c:v>
                </c:pt>
                <c:pt idx="17">
                  <c:v>1023.4500000000007</c:v>
                </c:pt>
                <c:pt idx="18">
                  <c:v>367.92999999999665</c:v>
                </c:pt>
                <c:pt idx="19">
                  <c:v>-109.04999999999927</c:v>
                </c:pt>
                <c:pt idx="20">
                  <c:v>1535.7000000000007</c:v>
                </c:pt>
                <c:pt idx="21">
                  <c:v>658.6899999999987</c:v>
                </c:pt>
                <c:pt idx="22">
                  <c:v>747.5800000000017</c:v>
                </c:pt>
                <c:pt idx="23">
                  <c:v>1264.8899999999994</c:v>
                </c:pt>
                <c:pt idx="24">
                  <c:v>849.1399999999994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清洁发电增量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10.0600000000004</c:v>
                </c:pt>
                <c:pt idx="1">
                  <c:v>118.79999999999927</c:v>
                </c:pt>
                <c:pt idx="2">
                  <c:v>-27.6299999999992</c:v>
                </c:pt>
                <c:pt idx="3">
                  <c:v>349.6399999999994</c:v>
                </c:pt>
                <c:pt idx="4">
                  <c:v>157.48999999999978</c:v>
                </c:pt>
                <c:pt idx="5">
                  <c:v>187.21000000000004</c:v>
                </c:pt>
                <c:pt idx="6">
                  <c:v>51.160000000000764</c:v>
                </c:pt>
                <c:pt idx="7">
                  <c:v>248.92999999999938</c:v>
                </c:pt>
                <c:pt idx="8">
                  <c:v>43.48999999999978</c:v>
                </c:pt>
                <c:pt idx="9">
                  <c:v>380.0</c:v>
                </c:pt>
                <c:pt idx="10">
                  <c:v>89.07000000000062</c:v>
                </c:pt>
                <c:pt idx="11">
                  <c:v>147.1300000000001</c:v>
                </c:pt>
                <c:pt idx="12">
                  <c:v>320.5599999999995</c:v>
                </c:pt>
                <c:pt idx="13">
                  <c:v>309.46000000000004</c:v>
                </c:pt>
                <c:pt idx="14">
                  <c:v>260.1199999999999</c:v>
                </c:pt>
                <c:pt idx="15">
                  <c:v>385.9500000000007</c:v>
                </c:pt>
                <c:pt idx="16">
                  <c:v>387.03999999999905</c:v>
                </c:pt>
                <c:pt idx="17">
                  <c:v>479.7399999999998</c:v>
                </c:pt>
                <c:pt idx="18">
                  <c:v>451.39000000000124</c:v>
                </c:pt>
                <c:pt idx="19">
                  <c:v>377.8099999999995</c:v>
                </c:pt>
                <c:pt idx="20">
                  <c:v>576.2000000000007</c:v>
                </c:pt>
                <c:pt idx="21">
                  <c:v>457.9299999999985</c:v>
                </c:pt>
                <c:pt idx="22">
                  <c:v>531.5600000000013</c:v>
                </c:pt>
                <c:pt idx="23">
                  <c:v>961.5299999999988</c:v>
                </c:pt>
                <c:pt idx="24">
                  <c:v>886.9400000000005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00.0"/>
          <c:min val="-50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清洁发电增量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非洲</c:v>
                </c:pt>
                <c:pt idx="1">
                  <c:v>亚洲</c:v>
                </c:pt>
                <c:pt idx="2">
                  <c:v>欧洲</c:v>
                </c:pt>
                <c:pt idx="3">
                  <c:v>拉美与加勒比</c:v>
                </c:pt>
                <c:pt idx="4">
                  <c:v>中东</c:v>
                </c:pt>
                <c:pt idx="5">
                  <c:v>北美</c:v>
                </c:pt>
                <c:pt idx="6">
                  <c:v>大洋洲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24.89000000000001</c:v>
                </c:pt>
                <c:pt idx="1">
                  <c:v>717.7999999999993</c:v>
                </c:pt>
                <c:pt idx="2">
                  <c:v>-9.519999999999982</c:v>
                </c:pt>
                <c:pt idx="3">
                  <c:v>25.24000000000001</c:v>
                </c:pt>
                <c:pt idx="4">
                  <c:v>3.509999999999991</c:v>
                </c:pt>
                <c:pt idx="5">
                  <c:v>112.57000000000016</c:v>
                </c:pt>
                <c:pt idx="6">
                  <c:v>12.449999999999989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化石发电增量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非洲</c:v>
                </c:pt>
                <c:pt idx="1">
                  <c:v>亚洲</c:v>
                </c:pt>
                <c:pt idx="2">
                  <c:v>欧洲</c:v>
                </c:pt>
                <c:pt idx="3">
                  <c:v>拉美与加勒比</c:v>
                </c:pt>
                <c:pt idx="4">
                  <c:v>中东</c:v>
                </c:pt>
                <c:pt idx="5">
                  <c:v>北美</c:v>
                </c:pt>
                <c:pt idx="6">
                  <c:v>大洋洲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5.689999999999941</c:v>
                </c:pt>
                <c:pt idx="1">
                  <c:v>-99.85000000000036</c:v>
                </c:pt>
                <c:pt idx="2">
                  <c:v>17.8900000000001</c:v>
                </c:pt>
                <c:pt idx="3">
                  <c:v>-9.540000000000076</c:v>
                </c:pt>
                <c:pt idx="4">
                  <c:v>24.46000000000004</c:v>
                </c:pt>
                <c:pt idx="5">
                  <c:v>31.840000000000146</c:v>
                </c:pt>
                <c:pt idx="6">
                  <c:v>-8.289999999999992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0.0"/>
          <c:min val="-15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105.48590692399699</c:v>
                </c:pt>
                <c:pt idx="2">
                  <c:v>113.60273967880816</c:v>
                </c:pt>
                <c:pt idx="3">
                  <c:v>123.24625052135936</c:v>
                </c:pt>
                <c:pt idx="4">
                  <c:v>129.0322191467286</c:v>
                </c:pt>
                <c:pt idx="5">
                  <c:v>133.77874370490886</c:v>
                </c:pt>
                <c:pt idx="6">
                  <c:v>146.8427166528212</c:v>
                </c:pt>
                <c:pt idx="7">
                  <c:v>152.28450192515174</c:v>
                </c:pt>
                <c:pt idx="8">
                  <c:v>162.68773245733473</c:v>
                </c:pt>
                <c:pt idx="9">
                  <c:v>173.55458503241906</c:v>
                </c:pt>
                <c:pt idx="10">
                  <c:v>182.21811262740985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110.92176557787661</c:v>
                </c:pt>
                <c:pt idx="2">
                  <c:v>122.37131319327301</c:v>
                </c:pt>
                <c:pt idx="3">
                  <c:v>136.12367735009968</c:v>
                </c:pt>
                <c:pt idx="4">
                  <c:v>151.00828093850637</c:v>
                </c:pt>
                <c:pt idx="5">
                  <c:v>163.01244696621174</c:v>
                </c:pt>
                <c:pt idx="6">
                  <c:v>182.50651740530594</c:v>
                </c:pt>
                <c:pt idx="7">
                  <c:v>197.33936512804786</c:v>
                </c:pt>
                <c:pt idx="8">
                  <c:v>212.7063845013546</c:v>
                </c:pt>
                <c:pt idx="9">
                  <c:v>245.97965547206462</c:v>
                </c:pt>
                <c:pt idx="10">
                  <c:v>281.8496651842765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103.47449370990742</c:v>
                </c:pt>
                <c:pt idx="2">
                  <c:v>110.34794354212455</c:v>
                </c:pt>
                <c:pt idx="3">
                  <c:v>118.50106129133977</c:v>
                </c:pt>
                <c:pt idx="4">
                  <c:v>120.95638586764686</c:v>
                </c:pt>
                <c:pt idx="5">
                  <c:v>123.02178588741369</c:v>
                </c:pt>
                <c:pt idx="6">
                  <c:v>133.61352052222125</c:v>
                </c:pt>
                <c:pt idx="7">
                  <c:v>135.5504360471957</c:v>
                </c:pt>
                <c:pt idx="8">
                  <c:v>144.19231257971452</c:v>
                </c:pt>
                <c:pt idx="9">
                  <c:v>146.7735331353511</c:v>
                </c:pt>
                <c:pt idx="10">
                  <c:v>145.44986045548458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100.08191468344793</c:v>
                </c:pt>
                <c:pt idx="2">
                  <c:v>98.98714903172025</c:v>
                </c:pt>
                <c:pt idx="3">
                  <c:v>102.29722501963543</c:v>
                </c:pt>
                <c:pt idx="4">
                  <c:v>101.12656782294864</c:v>
                </c:pt>
                <c:pt idx="5">
                  <c:v>98.55035102851113</c:v>
                </c:pt>
                <c:pt idx="6">
                  <c:v>101.01839225568948</c:v>
                </c:pt>
                <c:pt idx="7">
                  <c:v>104.27498277382395</c:v>
                </c:pt>
                <c:pt idx="8">
                  <c:v>102.9429054656368</c:v>
                </c:pt>
                <c:pt idx="9">
                  <c:v>106.12360443881215</c:v>
                </c:pt>
                <c:pt idx="10">
                  <c:v>109.27924715587403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105.68306899022654</c:v>
                </c:pt>
                <c:pt idx="2">
                  <c:v>111.7066936550267</c:v>
                </c:pt>
                <c:pt idx="3">
                  <c:v>113.78327066419436</c:v>
                </c:pt>
                <c:pt idx="4">
                  <c:v>115.99355825274993</c:v>
                </c:pt>
                <c:pt idx="5">
                  <c:v>119.03048748956539</c:v>
                </c:pt>
                <c:pt idx="6">
                  <c:v>121.24299127556937</c:v>
                </c:pt>
                <c:pt idx="7">
                  <c:v>127.77708008598844</c:v>
                </c:pt>
                <c:pt idx="8">
                  <c:v>128.5106414414148</c:v>
                </c:pt>
                <c:pt idx="9">
                  <c:v>135.81522823140057</c:v>
                </c:pt>
                <c:pt idx="10">
                  <c:v>143.57856789320883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97.31313545664977</c:v>
                </c:pt>
                <c:pt idx="2">
                  <c:v>93.03561487298192</c:v>
                </c:pt>
                <c:pt idx="3">
                  <c:v>97.47209118345103</c:v>
                </c:pt>
                <c:pt idx="4">
                  <c:v>94.79511559084649</c:v>
                </c:pt>
                <c:pt idx="5">
                  <c:v>89.07014562395617</c:v>
                </c:pt>
                <c:pt idx="6">
                  <c:v>92.01815171847988</c:v>
                </c:pt>
                <c:pt idx="7">
                  <c:v>93.65971754226611</c:v>
                </c:pt>
                <c:pt idx="8">
                  <c:v>92.08810688856984</c:v>
                </c:pt>
                <c:pt idx="9">
                  <c:v>93.48830906267396</c:v>
                </c:pt>
                <c:pt idx="10">
                  <c:v>94.35560666881537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106.34723228932208</c:v>
                </c:pt>
                <c:pt idx="2">
                  <c:v>111.45614771296684</c:v>
                </c:pt>
                <c:pt idx="3">
                  <c:v>119.62079884027008</c:v>
                </c:pt>
                <c:pt idx="4">
                  <c:v>121.91202838286345</c:v>
                </c:pt>
                <c:pt idx="5">
                  <c:v>119.27822073017205</c:v>
                </c:pt>
                <c:pt idx="6">
                  <c:v>128.0807233052302</c:v>
                </c:pt>
                <c:pt idx="7">
                  <c:v>137.5561744172739</c:v>
                </c:pt>
                <c:pt idx="8">
                  <c:v>146.20226605119598</c:v>
                </c:pt>
                <c:pt idx="9">
                  <c:v>155.20695837943003</c:v>
                </c:pt>
                <c:pt idx="10">
                  <c:v>158.91504215465608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104.05252630663537</c:v>
                </c:pt>
                <c:pt idx="2">
                  <c:v>114.51865379598227</c:v>
                </c:pt>
                <c:pt idx="3">
                  <c:v>128.3285503087225</c:v>
                </c:pt>
                <c:pt idx="4">
                  <c:v>142.27324115140448</c:v>
                </c:pt>
                <c:pt idx="5">
                  <c:v>148.60857465866596</c:v>
                </c:pt>
                <c:pt idx="6">
                  <c:v>156.26141403600315</c:v>
                </c:pt>
                <c:pt idx="7">
                  <c:v>178.51117488477263</c:v>
                </c:pt>
                <c:pt idx="8">
                  <c:v>181.82885468301592</c:v>
                </c:pt>
                <c:pt idx="9">
                  <c:v>199.18688581615794</c:v>
                </c:pt>
                <c:pt idx="10">
                  <c:v>241.24271675797894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106.94534416702143</c:v>
                </c:pt>
                <c:pt idx="2">
                  <c:v>110.96078032167911</c:v>
                </c:pt>
                <c:pt idx="3">
                  <c:v>118.13285457809695</c:v>
                </c:pt>
                <c:pt idx="4">
                  <c:v>117.87928704954747</c:v>
                </c:pt>
                <c:pt idx="5">
                  <c:v>113.05595143348943</c:v>
                </c:pt>
                <c:pt idx="6">
                  <c:v>122.09646671232115</c:v>
                </c:pt>
                <c:pt idx="7">
                  <c:v>129.0112717244443</c:v>
                </c:pt>
                <c:pt idx="8">
                  <c:v>138.8226693072239</c:v>
                </c:pt>
                <c:pt idx="9">
                  <c:v>146.07247959429196</c:v>
                </c:pt>
                <c:pt idx="10">
                  <c:v>141.2935645671769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101.94906666414114</c:v>
                </c:pt>
                <c:pt idx="2">
                  <c:v>102.3373646876095</c:v>
                </c:pt>
                <c:pt idx="3">
                  <c:v>103.85456818418584</c:v>
                </c:pt>
                <c:pt idx="4">
                  <c:v>104.15194764606161</c:v>
                </c:pt>
                <c:pt idx="5">
                  <c:v>101.77954142950496</c:v>
                </c:pt>
                <c:pt idx="6">
                  <c:v>107.56139370578374</c:v>
                </c:pt>
                <c:pt idx="7">
                  <c:v>108.96400193201943</c:v>
                </c:pt>
                <c:pt idx="8">
                  <c:v>110.02282434723314</c:v>
                </c:pt>
                <c:pt idx="9">
                  <c:v>112.97673053064239</c:v>
                </c:pt>
                <c:pt idx="10">
                  <c:v>111.38565570277206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104.9008039952803</c:v>
                </c:pt>
                <c:pt idx="2">
                  <c:v>106.87923606728316</c:v>
                </c:pt>
                <c:pt idx="3">
                  <c:v>108.82199599374364</c:v>
                </c:pt>
                <c:pt idx="4">
                  <c:v>111.19007765551683</c:v>
                </c:pt>
                <c:pt idx="5">
                  <c:v>118.58518782756636</c:v>
                </c:pt>
                <c:pt idx="6">
                  <c:v>121.45816754932359</c:v>
                </c:pt>
                <c:pt idx="7">
                  <c:v>117.66594407705185</c:v>
                </c:pt>
                <c:pt idx="8">
                  <c:v>117.02658946848503</c:v>
                </c:pt>
                <c:pt idx="9">
                  <c:v>119.24649452569767</c:v>
                </c:pt>
                <c:pt idx="10">
                  <c:v>116.79334851686194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100.79076117874615</c:v>
                </c:pt>
                <c:pt idx="2">
                  <c:v>99.79377631129822</c:v>
                </c:pt>
                <c:pt idx="3">
                  <c:v>101.3496984867448</c:v>
                </c:pt>
                <c:pt idx="4">
                  <c:v>101.39805438616453</c:v>
                </c:pt>
                <c:pt idx="5">
                  <c:v>92.9087495733303</c:v>
                </c:pt>
                <c:pt idx="6">
                  <c:v>101.6099670042098</c:v>
                </c:pt>
                <c:pt idx="7">
                  <c:v>104.97923540789624</c:v>
                </c:pt>
                <c:pt idx="8">
                  <c:v>106.9191603140289</c:v>
                </c:pt>
                <c:pt idx="9">
                  <c:v>110.18602798953236</c:v>
                </c:pt>
                <c:pt idx="10">
                  <c:v>109.10797587893958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103.25981439055644</c:v>
                </c:pt>
                <c:pt idx="2">
                  <c:v>104.53733545606336</c:v>
                </c:pt>
                <c:pt idx="3">
                  <c:v>105.12658719372503</c:v>
                </c:pt>
                <c:pt idx="4">
                  <c:v>101.67747446899394</c:v>
                </c:pt>
                <c:pt idx="5">
                  <c:v>98.1468178464645</c:v>
                </c:pt>
                <c:pt idx="6">
                  <c:v>100.44169611307423</c:v>
                </c:pt>
                <c:pt idx="7">
                  <c:v>101.01444491903857</c:v>
                </c:pt>
                <c:pt idx="8">
                  <c:v>97.72939075059217</c:v>
                </c:pt>
                <c:pt idx="9">
                  <c:v>98.6671455752728</c:v>
                </c:pt>
                <c:pt idx="10">
                  <c:v>99.96699413660545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106.8815440898196</c:v>
                </c:pt>
                <c:pt idx="2">
                  <c:v>121.33846347924815</c:v>
                </c:pt>
                <c:pt idx="3">
                  <c:v>141.57310457928597</c:v>
                </c:pt>
                <c:pt idx="4">
                  <c:v>152.67440393591525</c:v>
                </c:pt>
                <c:pt idx="5">
                  <c:v>148.87725495143184</c:v>
                </c:pt>
                <c:pt idx="6">
                  <c:v>169.90034060804845</c:v>
                </c:pt>
                <c:pt idx="7">
                  <c:v>167.1250157688911</c:v>
                </c:pt>
                <c:pt idx="8">
                  <c:v>189.4285353853917</c:v>
                </c:pt>
                <c:pt idx="9">
                  <c:v>200.59291030654722</c:v>
                </c:pt>
                <c:pt idx="10">
                  <c:v>212.1420461713132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102.60102342871566</c:v>
                </c:pt>
                <c:pt idx="2">
                  <c:v>101.48121801785264</c:v>
                </c:pt>
                <c:pt idx="3">
                  <c:v>98.49698249156702</c:v>
                </c:pt>
                <c:pt idx="4">
                  <c:v>92.40115652034237</c:v>
                </c:pt>
                <c:pt idx="5">
                  <c:v>88.91897473553776</c:v>
                </c:pt>
                <c:pt idx="6">
                  <c:v>87.80720071594116</c:v>
                </c:pt>
                <c:pt idx="7">
                  <c:v>88.9889625737167</c:v>
                </c:pt>
                <c:pt idx="8">
                  <c:v>81.0493586360403</c:v>
                </c:pt>
                <c:pt idx="9">
                  <c:v>80.12689598200969</c:v>
                </c:pt>
                <c:pt idx="10">
                  <c:v>79.5624039101402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100.6562276655188</c:v>
                </c:pt>
                <c:pt idx="2">
                  <c:v>101.62919888246378</c:v>
                </c:pt>
                <c:pt idx="3">
                  <c:v>103.36722760054577</c:v>
                </c:pt>
                <c:pt idx="4">
                  <c:v>106.92774998375674</c:v>
                </c:pt>
                <c:pt idx="5">
                  <c:v>106.14644922357222</c:v>
                </c:pt>
                <c:pt idx="6">
                  <c:v>110.3729452277305</c:v>
                </c:pt>
                <c:pt idx="7">
                  <c:v>112.08985770905076</c:v>
                </c:pt>
                <c:pt idx="8">
                  <c:v>117.47612240920017</c:v>
                </c:pt>
                <c:pt idx="9">
                  <c:v>123.01182509258656</c:v>
                </c:pt>
                <c:pt idx="10">
                  <c:v>123.79312585277111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107.99031476997578</c:v>
                </c:pt>
                <c:pt idx="2">
                  <c:v>108.23244552058111</c:v>
                </c:pt>
                <c:pt idx="3">
                  <c:v>114.55474845305353</c:v>
                </c:pt>
                <c:pt idx="4">
                  <c:v>119.17541027710519</c:v>
                </c:pt>
                <c:pt idx="5">
                  <c:v>120.38606403013183</c:v>
                </c:pt>
                <c:pt idx="6">
                  <c:v>117.1576540220608</c:v>
                </c:pt>
                <c:pt idx="7">
                  <c:v>136.41153259797326</c:v>
                </c:pt>
                <c:pt idx="8">
                  <c:v>144.5363644516187</c:v>
                </c:pt>
                <c:pt idx="9">
                  <c:v>149.54712581831225</c:v>
                </c:pt>
                <c:pt idx="10">
                  <c:v>149.278091650973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71.91152537357597</c:v>
                </c:pt>
                <c:pt idx="2">
                  <c:v>78.82822902796272</c:v>
                </c:pt>
                <c:pt idx="3">
                  <c:v>66.89599053114365</c:v>
                </c:pt>
                <c:pt idx="4">
                  <c:v>75.277407900577</c:v>
                </c:pt>
                <c:pt idx="5">
                  <c:v>67.90205651723628</c:v>
                </c:pt>
                <c:pt idx="6">
                  <c:v>99.00133155792278</c:v>
                </c:pt>
                <c:pt idx="7">
                  <c:v>50.82852492972333</c:v>
                </c:pt>
                <c:pt idx="8">
                  <c:v>46.92262168959905</c:v>
                </c:pt>
                <c:pt idx="9">
                  <c:v>58.203876313064065</c:v>
                </c:pt>
                <c:pt idx="10">
                  <c:v>62.64980026631159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100.29590225251435</c:v>
                </c:pt>
                <c:pt idx="2">
                  <c:v>100.92427894605602</c:v>
                </c:pt>
                <c:pt idx="3">
                  <c:v>101.90341617488157</c:v>
                </c:pt>
                <c:pt idx="4">
                  <c:v>101.17529714903168</c:v>
                </c:pt>
                <c:pt idx="5">
                  <c:v>99.45141717230489</c:v>
                </c:pt>
                <c:pt idx="6">
                  <c:v>100.59180450502869</c:v>
                </c:pt>
                <c:pt idx="7">
                  <c:v>101.89842905826616</c:v>
                </c:pt>
                <c:pt idx="8">
                  <c:v>102.00814562380518</c:v>
                </c:pt>
                <c:pt idx="9">
                  <c:v>103.7918709999169</c:v>
                </c:pt>
                <c:pt idx="10">
                  <c:v>107.32939905244785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101.58848491799519</c:v>
                </c:pt>
                <c:pt idx="2">
                  <c:v>103.44458462361892</c:v>
                </c:pt>
                <c:pt idx="3">
                  <c:v>101.9650571548725</c:v>
                </c:pt>
                <c:pt idx="4">
                  <c:v>101.15838972359217</c:v>
                </c:pt>
                <c:pt idx="5">
                  <c:v>102.13327216423902</c:v>
                </c:pt>
                <c:pt idx="6">
                  <c:v>100.80857896547771</c:v>
                </c:pt>
                <c:pt idx="7">
                  <c:v>103.05080857896549</c:v>
                </c:pt>
                <c:pt idx="8">
                  <c:v>97.08299881484879</c:v>
                </c:pt>
                <c:pt idx="9">
                  <c:v>94.57315441373247</c:v>
                </c:pt>
                <c:pt idx="10">
                  <c:v>96.00298199334787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98.36160649557779</c:v>
                </c:pt>
                <c:pt idx="2">
                  <c:v>92.93170943888647</c:v>
                </c:pt>
                <c:pt idx="3">
                  <c:v>92.63447875888068</c:v>
                </c:pt>
                <c:pt idx="4">
                  <c:v>91.70653907496012</c:v>
                </c:pt>
                <c:pt idx="5">
                  <c:v>88.14702044367117</c:v>
                </c:pt>
                <c:pt idx="6">
                  <c:v>90.64085834420763</c:v>
                </c:pt>
                <c:pt idx="7">
                  <c:v>90.60461070030449</c:v>
                </c:pt>
                <c:pt idx="8">
                  <c:v>96.78845875018123</c:v>
                </c:pt>
                <c:pt idx="9">
                  <c:v>102.97230680005799</c:v>
                </c:pt>
                <c:pt idx="10">
                  <c:v>108.8951718138321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102.4059875867105</c:v>
                </c:pt>
                <c:pt idx="2">
                  <c:v>105.22270901788974</c:v>
                </c:pt>
                <c:pt idx="3">
                  <c:v>108.23475721066083</c:v>
                </c:pt>
                <c:pt idx="4">
                  <c:v>107.11938663745893</c:v>
                </c:pt>
                <c:pt idx="5">
                  <c:v>105.35049288061337</c:v>
                </c:pt>
                <c:pt idx="6">
                  <c:v>110.94560058415482</c:v>
                </c:pt>
                <c:pt idx="7">
                  <c:v>113.65279299014239</c:v>
                </c:pt>
                <c:pt idx="8">
                  <c:v>112.72179627601315</c:v>
                </c:pt>
                <c:pt idx="9">
                  <c:v>114.16210295728368</c:v>
                </c:pt>
                <c:pt idx="10">
                  <c:v>114.03066812705367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100.08890864636587</c:v>
                </c:pt>
                <c:pt idx="2">
                  <c:v>94.88775283396309</c:v>
                </c:pt>
                <c:pt idx="3">
                  <c:v>89.63658590797955</c:v>
                </c:pt>
                <c:pt idx="4">
                  <c:v>99.4220937986219</c:v>
                </c:pt>
                <c:pt idx="5">
                  <c:v>111.4581018004001</c:v>
                </c:pt>
                <c:pt idx="6">
                  <c:v>114.5310068904201</c:v>
                </c:pt>
                <c:pt idx="7">
                  <c:v>128.66192487219382</c:v>
                </c:pt>
                <c:pt idx="8">
                  <c:v>133.1184707712825</c:v>
                </c:pt>
                <c:pt idx="9">
                  <c:v>138.6252500555679</c:v>
                </c:pt>
                <c:pt idx="10">
                  <c:v>138.69748833074016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103.53958242714225</c:v>
                </c:pt>
                <c:pt idx="2">
                  <c:v>110.27892561983472</c:v>
                </c:pt>
                <c:pt idx="3">
                  <c:v>117.33362331448458</c:v>
                </c:pt>
                <c:pt idx="4">
                  <c:v>110.88516746411483</c:v>
                </c:pt>
                <c:pt idx="5">
                  <c:v>102.36244019138756</c:v>
                </c:pt>
                <c:pt idx="6">
                  <c:v>109.19149630274032</c:v>
                </c:pt>
                <c:pt idx="7">
                  <c:v>106.3098086124402</c:v>
                </c:pt>
                <c:pt idx="8">
                  <c:v>102.74304045237062</c:v>
                </c:pt>
                <c:pt idx="9">
                  <c:v>102.19388864723796</c:v>
                </c:pt>
                <c:pt idx="10">
                  <c:v>101.96280991735537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100.01861598605493</c:v>
                </c:pt>
                <c:pt idx="2">
                  <c:v>100.18785222291797</c:v>
                </c:pt>
                <c:pt idx="3">
                  <c:v>98.75611365905668</c:v>
                </c:pt>
                <c:pt idx="4">
                  <c:v>96.02802552082451</c:v>
                </c:pt>
                <c:pt idx="5">
                  <c:v>92.69407165462269</c:v>
                </c:pt>
                <c:pt idx="6">
                  <c:v>94.81460170251654</c:v>
                </c:pt>
                <c:pt idx="7">
                  <c:v>91.3232581360321</c:v>
                </c:pt>
                <c:pt idx="8">
                  <c:v>87.31574404711539</c:v>
                </c:pt>
                <c:pt idx="9">
                  <c:v>88.38531706408976</c:v>
                </c:pt>
                <c:pt idx="10">
                  <c:v>88.04853695273232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97.79587754081376</c:v>
                </c:pt>
                <c:pt idx="2">
                  <c:v>104.31179223377272</c:v>
                </c:pt>
                <c:pt idx="3">
                  <c:v>106.7874111384989</c:v>
                </c:pt>
                <c:pt idx="4">
                  <c:v>112.9710999178366</c:v>
                </c:pt>
                <c:pt idx="5">
                  <c:v>112.83892401671847</c:v>
                </c:pt>
                <c:pt idx="6">
                  <c:v>107.75193798449611</c:v>
                </c:pt>
                <c:pt idx="7">
                  <c:v>102.25770728396384</c:v>
                </c:pt>
                <c:pt idx="8">
                  <c:v>101.56824920515844</c:v>
                </c:pt>
                <c:pt idx="9">
                  <c:v>103.90454756546279</c:v>
                </c:pt>
                <c:pt idx="10">
                  <c:v>105.64784053156147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102.37167353301413</c:v>
                </c:pt>
                <c:pt idx="2">
                  <c:v>98.11268232936197</c:v>
                </c:pt>
                <c:pt idx="3">
                  <c:v>92.793118806369</c:v>
                </c:pt>
                <c:pt idx="4">
                  <c:v>79.01402961808263</c:v>
                </c:pt>
                <c:pt idx="5">
                  <c:v>69.83632112236945</c:v>
                </c:pt>
                <c:pt idx="6">
                  <c:v>77.16289945440373</c:v>
                </c:pt>
                <c:pt idx="7">
                  <c:v>78.11769290724864</c:v>
                </c:pt>
                <c:pt idx="8">
                  <c:v>61.9084734439372</c:v>
                </c:pt>
                <c:pt idx="9">
                  <c:v>57.10110232713505</c:v>
                </c:pt>
                <c:pt idx="10">
                  <c:v>56.98975615187618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101.42330614805522</c:v>
                </c:pt>
                <c:pt idx="2">
                  <c:v>101.08414366373904</c:v>
                </c:pt>
                <c:pt idx="3">
                  <c:v>100.6253920953576</c:v>
                </c:pt>
                <c:pt idx="4">
                  <c:v>99.56281367628608</c:v>
                </c:pt>
                <c:pt idx="5">
                  <c:v>94.53615119196989</c:v>
                </c:pt>
                <c:pt idx="6">
                  <c:v>99.08641781681305</c:v>
                </c:pt>
                <c:pt idx="7">
                  <c:v>94.76748745294856</c:v>
                </c:pt>
                <c:pt idx="8">
                  <c:v>91.8052070263488</c:v>
                </c:pt>
                <c:pt idx="9">
                  <c:v>92.4952948557089</c:v>
                </c:pt>
                <c:pt idx="10">
                  <c:v>93.44808657465497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94.88540820375235</c:v>
                </c:pt>
                <c:pt idx="2">
                  <c:v>92.63136017533584</c:v>
                </c:pt>
                <c:pt idx="3">
                  <c:v>99.53143008294442</c:v>
                </c:pt>
                <c:pt idx="4">
                  <c:v>96.72001058061103</c:v>
                </c:pt>
                <c:pt idx="5">
                  <c:v>90.47556067791487</c:v>
                </c:pt>
                <c:pt idx="6">
                  <c:v>94.74559298656641</c:v>
                </c:pt>
                <c:pt idx="7">
                  <c:v>77.10620288321651</c:v>
                </c:pt>
                <c:pt idx="8">
                  <c:v>90.25450148317495</c:v>
                </c:pt>
                <c:pt idx="9">
                  <c:v>100.72741700833222</c:v>
                </c:pt>
                <c:pt idx="10">
                  <c:v>102.1463525232868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化石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2020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100.0</c:v>
                </c:pt>
                <c:pt idx="1">
                  <c:v>126.23133496768443</c:v>
                </c:pt>
                <c:pt idx="2">
                  <c:v>145.9104078448852</c:v>
                </c:pt>
                <c:pt idx="3">
                  <c:v>110.2072654334745</c:v>
                </c:pt>
                <c:pt idx="4">
                  <c:v>119.47849342545132</c:v>
                </c:pt>
                <c:pt idx="5">
                  <c:v>107.84488522398038</c:v>
                </c:pt>
                <c:pt idx="6">
                  <c:v>108.87006908847783</c:v>
                </c:pt>
                <c:pt idx="7">
                  <c:v>134.49966570091377</c:v>
                </c:pt>
                <c:pt idx="8">
                  <c:v>91.50880320927124</c:v>
                </c:pt>
                <c:pt idx="9">
                  <c:v>63.87341207934032</c:v>
                </c:pt>
                <c:pt idx="10">
                  <c:v>65.41118787608647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化石发电变化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invertIfNegative val="0"/>
          <c:cat>
            <c:strRef>
              <c:f>Sheet1!$A$2:$A$16</c:f>
              <c:strCache>
                <c:ptCount val="15"/>
                <c:pt idx="0">
                  <c:v>中国</c:v>
                </c:pt>
                <c:pt idx="1">
                  <c:v>印度</c:v>
                </c:pt>
                <c:pt idx="2">
                  <c:v>俄罗斯</c:v>
                </c:pt>
                <c:pt idx="3">
                  <c:v>越南</c:v>
                </c:pt>
                <c:pt idx="4">
                  <c:v>日本</c:v>
                </c:pt>
                <c:pt idx="5">
                  <c:v>墨西哥</c:v>
                </c:pt>
                <c:pt idx="6">
                  <c:v>韩国</c:v>
                </c:pt>
                <c:pt idx="7">
                  <c:v>德国</c:v>
                </c:pt>
                <c:pt idx="8">
                  <c:v>法国</c:v>
                </c:pt>
                <c:pt idx="9">
                  <c:v>英国</c:v>
                </c:pt>
                <c:pt idx="10">
                  <c:v>伊朗</c:v>
                </c:pt>
                <c:pt idx="11">
                  <c:v>巴西</c:v>
                </c:pt>
                <c:pt idx="12">
                  <c:v>加拿大</c:v>
                </c:pt>
                <c:pt idx="13">
                  <c:v>土耳其</c:v>
                </c:pt>
                <c:pt idx="14">
                  <c:v>美国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-56.25</c:v>
                </c:pt>
                <c:pt idx="1">
                  <c:v>-51.6400000000001</c:v>
                </c:pt>
                <c:pt idx="2">
                  <c:v>-7.580000000000041</c:v>
                </c:pt>
                <c:pt idx="3">
                  <c:v>-6.02000000000001</c:v>
                </c:pt>
                <c:pt idx="4">
                  <c:v>-4.919999999999959</c:v>
                </c:pt>
                <c:pt idx="5">
                  <c:v>-3.490000000000009</c:v>
                </c:pt>
                <c:pt idx="6">
                  <c:v>-0.8500000000000227</c:v>
                </c:pt>
                <c:pt idx="7">
                  <c:v>-0.4000000000000057</c:v>
                </c:pt>
                <c:pt idx="8">
                  <c:v>0.6900000000000013</c:v>
                </c:pt>
                <c:pt idx="9">
                  <c:v>4.359999999999999</c:v>
                </c:pt>
                <c:pt idx="10">
                  <c:v>5.830000000000041</c:v>
                </c:pt>
                <c:pt idx="11">
                  <c:v>6.009999999999991</c:v>
                </c:pt>
                <c:pt idx="12">
                  <c:v>8.170000000000016</c:v>
                </c:pt>
                <c:pt idx="13">
                  <c:v>15.20999999999998</c:v>
                </c:pt>
                <c:pt idx="14">
                  <c:v>23.67999999999984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  <c:min val="-70.0"/>
        </c:scaling>
        <c:delete val="0"/>
        <c:axPos val="b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总发电</c:v>
                </c:pt>
              </c:strCache>
            </c:strRef>
          </c:tx>
          <c:spPr>
            <a:solidFill>
              <a:srgbClr val="2C3E70"/>
            </a:solidFill>
            <a:ln w="25400">
              <a:solidFill>
                <a:srgbClr val="2C3E70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100.0</c:v>
                </c:pt>
                <c:pt idx="1">
                  <c:v>101.45332284383962</c:v>
                </c:pt>
                <c:pt idx="2">
                  <c:v>105.04693437565041</c:v>
                </c:pt>
                <c:pt idx="3">
                  <c:v>108.83074433953495</c:v>
                </c:pt>
                <c:pt idx="4">
                  <c:v>113.98154826497928</c:v>
                </c:pt>
                <c:pt idx="5">
                  <c:v>118.68801043015216</c:v>
                </c:pt>
                <c:pt idx="6">
                  <c:v>123.30166413810528</c:v>
                </c:pt>
                <c:pt idx="7">
                  <c:v>129.0283648301762</c:v>
                </c:pt>
                <c:pt idx="8">
                  <c:v>131.57228522172582</c:v>
                </c:pt>
                <c:pt idx="9">
                  <c:v>130.53077536295436</c:v>
                </c:pt>
                <c:pt idx="10">
                  <c:v>139.171779422179</c:v>
                </c:pt>
                <c:pt idx="11">
                  <c:v>143.80748986502846</c:v>
                </c:pt>
                <c:pt idx="12">
                  <c:v>147.3655619100478</c:v>
                </c:pt>
                <c:pt idx="13">
                  <c:v>151.5502546669302</c:v>
                </c:pt>
                <c:pt idx="14">
                  <c:v>155.42517138148463</c:v>
                </c:pt>
                <c:pt idx="15">
                  <c:v>157.09598541244785</c:v>
                </c:pt>
                <c:pt idx="16">
                  <c:v>161.6261900492055</c:v>
                </c:pt>
                <c:pt idx="17">
                  <c:v>166.5122477056414</c:v>
                </c:pt>
                <c:pt idx="18">
                  <c:v>173.21075373819116</c:v>
                </c:pt>
                <c:pt idx="19">
                  <c:v>175.6188648570108</c:v>
                </c:pt>
                <c:pt idx="20">
                  <c:v>174.9051298598448</c:v>
                </c:pt>
                <c:pt idx="21">
                  <c:v>184.9563250468951</c:v>
                </c:pt>
                <c:pt idx="22">
                  <c:v>189.26746769048313</c:v>
                </c:pt>
                <c:pt idx="23">
                  <c:v>194.16039762337044</c:v>
                </c:pt>
                <c:pt idx="24">
                  <c:v>202.4391345382288</c:v>
                </c:pt>
                <c:pt idx="25">
                  <c:v>207.99677722959555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发电排放</c:v>
                </c:pt>
              </c:strCache>
            </c:strRef>
          </c:tx>
          <c:spPr>
            <a:solidFill>
              <a:srgbClr val="B73E3E"/>
            </a:solidFill>
            <a:ln w="25400">
              <a:solidFill>
                <a:srgbClr val="B73E3E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100.0</c:v>
                </c:pt>
                <c:pt idx="1">
                  <c:v>101.83591921955436</c:v>
                </c:pt>
                <c:pt idx="2">
                  <c:v>106.04996828415409</c:v>
                </c:pt>
                <c:pt idx="3">
                  <c:v>112.39872342168668</c:v>
                </c:pt>
                <c:pt idx="4">
                  <c:v>116.61240008887887</c:v>
                </c:pt>
                <c:pt idx="5">
                  <c:v>122.31653531382558</c:v>
                </c:pt>
                <c:pt idx="6">
                  <c:v>127.77836395888235</c:v>
                </c:pt>
                <c:pt idx="7">
                  <c:v>135.73289671806168</c:v>
                </c:pt>
                <c:pt idx="8">
                  <c:v>136.67245537748062</c:v>
                </c:pt>
                <c:pt idx="9">
                  <c:v>134.54792816702272</c:v>
                </c:pt>
                <c:pt idx="10">
                  <c:v>143.5501389662993</c:v>
                </c:pt>
                <c:pt idx="11">
                  <c:v>150.06771426195178</c:v>
                </c:pt>
                <c:pt idx="12">
                  <c:v>153.20044538729954</c:v>
                </c:pt>
                <c:pt idx="13">
                  <c:v>157.61496838966673</c:v>
                </c:pt>
                <c:pt idx="14">
                  <c:v>160.5739140581263</c:v>
                </c:pt>
                <c:pt idx="15">
                  <c:v>158.91848344879722</c:v>
                </c:pt>
                <c:pt idx="16">
                  <c:v>161.0255079810971</c:v>
                </c:pt>
                <c:pt idx="17">
                  <c:v>164.863311531534</c:v>
                </c:pt>
                <c:pt idx="18">
                  <c:v>170.33482250918894</c:v>
                </c:pt>
                <c:pt idx="19">
                  <c:v>168.4550845280049</c:v>
                </c:pt>
                <c:pt idx="20">
                  <c:v>163.2433828083978</c:v>
                </c:pt>
                <c:pt idx="21">
                  <c:v>173.57306623336163</c:v>
                </c:pt>
                <c:pt idx="22">
                  <c:v>175.71944075839977</c:v>
                </c:pt>
                <c:pt idx="23">
                  <c:v>177.927384988164</c:v>
                </c:pt>
                <c:pt idx="24">
                  <c:v>180.8669659914274</c:v>
                </c:pt>
                <c:pt idx="25">
                  <c:v>180.79273477484236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排放强度</c:v>
                </c:pt>
              </c:strCache>
            </c:strRef>
          </c:tx>
          <c:spPr>
            <a:solidFill>
              <a:srgbClr val="237C72"/>
            </a:solidFill>
            <a:ln w="25400">
              <a:solidFill>
                <a:srgbClr val="237C72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100.0</c:v>
                </c:pt>
                <c:pt idx="1">
                  <c:v>100.37742290331147</c:v>
                </c:pt>
                <c:pt idx="2">
                  <c:v>100.95588514205514</c:v>
                </c:pt>
                <c:pt idx="3">
                  <c:v>103.2792170845503</c:v>
                </c:pt>
                <c:pt idx="4">
                  <c:v>102.30815916246254</c:v>
                </c:pt>
                <c:pt idx="5">
                  <c:v>103.05731517657324</c:v>
                </c:pt>
                <c:pt idx="6">
                  <c:v>103.63008762280468</c:v>
                </c:pt>
                <c:pt idx="7">
                  <c:v>105.19667716117284</c:v>
                </c:pt>
                <c:pt idx="8">
                  <c:v>103.87664529833481</c:v>
                </c:pt>
                <c:pt idx="9">
                  <c:v>103.0781777491181</c:v>
                </c:pt>
                <c:pt idx="10">
                  <c:v>103.1464552592649</c:v>
                </c:pt>
                <c:pt idx="11">
                  <c:v>104.35269127185829</c:v>
                </c:pt>
                <c:pt idx="12">
                  <c:v>103.9600955885142</c:v>
                </c:pt>
                <c:pt idx="13">
                  <c:v>104.0018207336039</c:v>
                </c:pt>
                <c:pt idx="14">
                  <c:v>103.31335583962371</c:v>
                </c:pt>
                <c:pt idx="15">
                  <c:v>101.16071767249555</c:v>
                </c:pt>
                <c:pt idx="16">
                  <c:v>99.62826688920077</c:v>
                </c:pt>
                <c:pt idx="17">
                  <c:v>99.00997610287145</c:v>
                </c:pt>
                <c:pt idx="18">
                  <c:v>98.34047718393202</c:v>
                </c:pt>
                <c:pt idx="19">
                  <c:v>95.9204187687289</c:v>
                </c:pt>
                <c:pt idx="20">
                  <c:v>93.33345977316694</c:v>
                </c:pt>
                <c:pt idx="21">
                  <c:v>93.84554109926792</c:v>
                </c:pt>
                <c:pt idx="22">
                  <c:v>92.84224101961081</c:v>
                </c:pt>
                <c:pt idx="23">
                  <c:v>91.63979820202557</c:v>
                </c:pt>
                <c:pt idx="24">
                  <c:v>89.34491522209157</c:v>
                </c:pt>
                <c:pt idx="25">
                  <c:v>86.92106361188029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50.0"/>
          <c:min val="0.0"/>
        </c:scaling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太阳能增量</c:v>
                </c:pt>
              </c:strCache>
            </c:strRef>
          </c:tx>
          <c:spPr>
            <a:solidFill>
              <a:srgbClr val="E6B643"/>
            </a:solidFill>
            <a:ln w="25400">
              <a:solidFill>
                <a:srgbClr val="E6B643"/>
              </a:solidFill>
            </a:ln>
          </c:spPr>
          <c:invertIfNegative val="0"/>
          <c:cat>
            <c:strRef>
              <c:f>Sheet1!$A$2:$A$11</c:f>
              <c:strCache>
                <c:ptCount val="10"/>
                <c:pt idx="0">
                  <c:v>中国</c:v>
                </c:pt>
                <c:pt idx="1">
                  <c:v>美国</c:v>
                </c:pt>
                <c:pt idx="2">
                  <c:v>印度</c:v>
                </c:pt>
                <c:pt idx="3">
                  <c:v>巴西</c:v>
                </c:pt>
                <c:pt idx="4">
                  <c:v>巴基斯坦</c:v>
                </c:pt>
                <c:pt idx="5">
                  <c:v>德国</c:v>
                </c:pt>
                <c:pt idx="6">
                  <c:v>土耳其</c:v>
                </c:pt>
                <c:pt idx="7">
                  <c:v>意大利</c:v>
                </c:pt>
                <c:pt idx="8">
                  <c:v>法国</c:v>
                </c:pt>
                <c:pt idx="9">
                  <c:v>荷兰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335.8900000000001</c:v>
                </c:pt>
                <c:pt idx="1">
                  <c:v>85.07</c:v>
                </c:pt>
                <c:pt idx="2">
                  <c:v>52.920000000000016</c:v>
                </c:pt>
                <c:pt idx="3">
                  <c:v>17.320000000000007</c:v>
                </c:pt>
                <c:pt idx="4">
                  <c:v>16.78</c:v>
                </c:pt>
                <c:pt idx="5">
                  <c:v>15.490000000000009</c:v>
                </c:pt>
                <c:pt idx="6">
                  <c:v>11.579999999999998</c:v>
                </c:pt>
                <c:pt idx="7">
                  <c:v>8.64</c:v>
                </c:pt>
                <c:pt idx="8">
                  <c:v>6.949999999999999</c:v>
                </c:pt>
                <c:pt idx="9">
                  <c:v>6.68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E8E8E8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8E8E8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2026/5/27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‹#›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BC069971-B1BC-4B27-94D7-B118D9E8002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/>
            </a:r>
          </a:p>
          <a:p>
            <a:pPr lvl="1"/>
            <a:r>
              <a:rPr lang="zh-CN" altLang="en-US"/>
              <a:t/>
            </a:r>
          </a:p>
          <a:p>
            <a:pPr lvl="2"/>
            <a:r>
              <a:rPr lang="zh-CN" altLang="en-US"/>
              <a:t/>
            </a:r>
          </a:p>
          <a:p>
            <a:pPr lvl="3"/>
            <a:r>
              <a:rPr lang="zh-CN" altLang="en-US"/>
              <a:t/>
            </a:r>
          </a:p>
          <a:p>
            <a:pPr lvl="4"/>
            <a:r>
              <a:rPr lang="zh-CN" altLang="en-US"/>
              <a:t/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A35B9FB7-9104-4377-ADBC-2A7A5FF4342E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清洁=可再生能源+核电。2025估算采用月度变化应用到最近年度基线。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全球需求等于总发电；逐年恒等式 Δ化石=Δ需求−Δ清洁。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七个互斥地理区域。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按2025需求量降序排列的25国。九个互斥能源类型占总发电的份额。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国家需求=发电+净进口，斜线为清洁增量等于需求增量。颜色依据化石发电实际变化；净进口变化会使颜色与斜线位置存在差异。气泡面积∝总发电。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指数按各国2015基期计算，2015—2025逐年序列，纵轴统一0–400。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清洁份额=清洁发电/总发电；变动以百分点计。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排放含生命周期温室气体CO2当量。总排放为九种能源排放之和；强度单位gCO2e/kWh。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各点为25个主要用电国家。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来源：Ember, Global Electricity Review 2026, supporting materials. </a:t>
            </a:r>
          </a:p>
          <a:p>
            <a:r>
              <a:t>https://ember-energy.org/latest-insights/global-electricity-review-2026/supporting-materials/</a:t>
            </a:r>
          </a:p>
          <a:p>
            <a:r>
              <a:t>https://ember-energy.org/data/yearly-electricity-data/</a:t>
            </a:r>
          </a:p>
          <a:p>
            <a:r>
              <a:t>全球电力转型判断来自当年发电量变化与需求平衡；2025全年数值为Ember估算。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7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7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7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7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7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slideMaster" Target="../slideMasters/slideMaster7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slideMaster" Target="../slideMasters/slideMaster7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2.xml"/><Relationship Id="rId3" Type="http://schemas.openxmlformats.org/officeDocument/2006/relationships/tags" Target="../tags/tag1.xml"/><Relationship Id="rId4" Type="http://schemas.openxmlformats.org/officeDocument/2006/relationships/tags" Target="../tags/tag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0.xml"/><Relationship Id="rId1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chart" Target="../charts/chart9.xml"/><Relationship Id="rId8" Type="http://schemas.openxmlformats.org/officeDocument/2006/relationships/chart" Target="../charts/chart10.xml"/><Relationship Id="rId9" Type="http://schemas.openxmlformats.org/officeDocument/2006/relationships/chart" Target="../charts/chart11.xml"/><Relationship Id="rId10" Type="http://schemas.openxmlformats.org/officeDocument/2006/relationships/chart" Target="../charts/chart12.xml"/><Relationship Id="rId11" Type="http://schemas.openxmlformats.org/officeDocument/2006/relationships/chart" Target="../charts/chart13.xml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全球电力转型：2000—2025</a:t>
            </a:r>
          </a:p>
        </p:txBody>
      </p:sp>
      <p:sp>
        <p:nvSpPr>
          <p:cNvPr id="3" name="text:2"/>
          <p:cNvSpPr txBox="1"/>
          <p:nvPr/>
        </p:nvSpPr>
        <p:spPr>
          <a:xfrm>
            <a:off x="444500" y="1371600"/>
            <a:ext cx="112395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300" b="1">
                <a:solidFill>
                  <a:srgbClr val="2C3E70"/>
                </a:solidFill>
                <a:latin typeface="Microsoft YaHei"/>
              </a:defRPr>
            </a:pPr>
            <a:r>
              <a:t>清洁电力能否同时覆盖需求增长</a:t>
            </a:r>
          </a:p>
          <a:p>
            <a:pPr>
              <a:spcAft>
                <a:spcPts val="0"/>
              </a:spcAft>
              <a:defRPr sz="3300" b="1">
                <a:solidFill>
                  <a:srgbClr val="2C3E70"/>
                </a:solidFill>
                <a:latin typeface="Microsoft YaHei"/>
              </a:defRPr>
            </a:pPr>
            <a:r>
              <a:t>并压低化石发电？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457200" y="3708400"/>
            <a:ext cx="11176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57083"/>
                </a:solidFill>
                <a:latin typeface="Microsoft YaHei"/>
              </a:defRPr>
            </a:pPr>
            <a:r>
              <a:t>2025 年估算 · 发电与需求增量</a:t>
            </a:r>
          </a:p>
        </p:txBody>
      </p:sp>
      <p:sp>
        <p:nvSpPr>
          <p:cNvPr id="6" name="text:5"/>
          <p:cNvSpPr txBox="1"/>
          <p:nvPr/>
        </p:nvSpPr>
        <p:spPr>
          <a:xfrm>
            <a:off x="403860" y="4267200"/>
            <a:ext cx="35052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237C72"/>
                </a:solidFill>
                <a:latin typeface="Microsoft YaHei"/>
              </a:defRPr>
            </a:pPr>
            <a:r>
              <a:t>+886.9 TWh</a:t>
            </a:r>
          </a:p>
        </p:txBody>
      </p:sp>
      <p:sp>
        <p:nvSpPr>
          <p:cNvPr id="7" name="text:6"/>
          <p:cNvSpPr txBox="1"/>
          <p:nvPr/>
        </p:nvSpPr>
        <p:spPr>
          <a:xfrm>
            <a:off x="457200" y="5067300"/>
            <a:ext cx="3505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43042"/>
                </a:solidFill>
                <a:latin typeface="Microsoft YaHei"/>
              </a:defRPr>
            </a:pPr>
            <a:r>
              <a:t>清洁发电增量</a:t>
            </a:r>
          </a:p>
        </p:txBody>
      </p:sp>
      <p:sp>
        <p:nvSpPr>
          <p:cNvPr id="8" name="text:7"/>
          <p:cNvSpPr txBox="1"/>
          <p:nvPr/>
        </p:nvSpPr>
        <p:spPr>
          <a:xfrm>
            <a:off x="4297681" y="4267200"/>
            <a:ext cx="35052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2C3E70"/>
                </a:solidFill>
                <a:latin typeface="Microsoft YaHei"/>
              </a:defRPr>
            </a:pPr>
            <a:r>
              <a:t>+849.1 TWh</a:t>
            </a:r>
          </a:p>
        </p:txBody>
      </p:sp>
      <p:sp>
        <p:nvSpPr>
          <p:cNvPr id="9" name="text:8"/>
          <p:cNvSpPr txBox="1"/>
          <p:nvPr/>
        </p:nvSpPr>
        <p:spPr>
          <a:xfrm>
            <a:off x="4343400" y="5067300"/>
            <a:ext cx="3505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43042"/>
                </a:solidFill>
                <a:latin typeface="Microsoft YaHei"/>
              </a:defRPr>
            </a:pPr>
            <a:r>
              <a:t>电力需求增量</a:t>
            </a:r>
          </a:p>
        </p:txBody>
      </p:sp>
      <p:sp>
        <p:nvSpPr>
          <p:cNvPr id="10" name="text:9"/>
          <p:cNvSpPr txBox="1"/>
          <p:nvPr/>
        </p:nvSpPr>
        <p:spPr>
          <a:xfrm>
            <a:off x="8176260" y="4267200"/>
            <a:ext cx="35052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700" b="1">
                <a:solidFill>
                  <a:srgbClr val="B73E3E"/>
                </a:solidFill>
                <a:latin typeface="Microsoft YaHei"/>
              </a:defRPr>
            </a:pPr>
            <a:r>
              <a:t>−37.8 TWh</a:t>
            </a:r>
          </a:p>
        </p:txBody>
      </p:sp>
      <p:sp>
        <p:nvSpPr>
          <p:cNvPr id="11" name="text:10"/>
          <p:cNvSpPr txBox="1"/>
          <p:nvPr/>
        </p:nvSpPr>
        <p:spPr>
          <a:xfrm>
            <a:off x="8229600" y="5067300"/>
            <a:ext cx="3505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43042"/>
                </a:solidFill>
                <a:latin typeface="Microsoft YaHei"/>
              </a:defRPr>
            </a:pPr>
            <a:r>
              <a:t>化石发电增量</a:t>
            </a:r>
          </a:p>
        </p:txBody>
      </p:sp>
      <p:sp>
        <p:nvSpPr>
          <p:cNvPr id="12" name="text:11"/>
          <p:cNvSpPr txBox="1"/>
          <p:nvPr/>
        </p:nvSpPr>
        <p:spPr>
          <a:xfrm>
            <a:off x="449580" y="57912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57083"/>
                </a:solidFill>
                <a:latin typeface="Microsoft YaHei"/>
              </a:defRPr>
            </a:pPr>
            <a:r>
              <a:t>SKILL应用测试</a:t>
            </a:r>
          </a:p>
        </p:txBody>
      </p:sp>
      <p:sp>
        <p:nvSpPr>
          <p:cNvPr id="13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清洁份额回升，化石发电量仍远高于 2000 年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全球发电结构 / TWh；2000—2024 年度数据，2025 年估算</a:t>
            </a:r>
          </a:p>
        </p:txBody>
      </p:sp>
      <p:graphicFrame>
        <p:nvGraphicFramePr>
          <p:cNvPr id="4" name="chart:3"/>
          <p:cNvGraphicFramePr>
            <a:graphicFrameLocks noGrp="1"/>
          </p:cNvGraphicFramePr>
          <p:nvPr/>
        </p:nvGraphicFramePr>
        <p:xfrm>
          <a:off x="457200" y="1356361"/>
          <a:ext cx="11277600" cy="431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onclusion:main"/>
          <p:cNvSpPr txBox="1"/>
          <p:nvPr/>
        </p:nvSpPr>
        <p:spPr>
          <a:xfrm>
            <a:off x="457200" y="5905500"/>
            <a:ext cx="1085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C3E70"/>
                </a:solidFill>
                <a:latin typeface="Microsoft YaHei"/>
              </a:defRPr>
            </a:pPr>
            <a:r>
              <a:t>清洁份额：35.3% → 42.6%；化石发电量同期增加 85%。</a:t>
            </a:r>
          </a:p>
        </p:txBody>
      </p:sp>
      <p:sp>
        <p:nvSpPr>
          <p:cNvPr id="6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2025 年清洁增量超过需求增量 37.8 TWh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全球 2024→2025 发电增长贡献 / TWh；2025 年估算</a:t>
            </a:r>
          </a:p>
        </p:txBody>
      </p:sp>
      <p:sp>
        <p:nvSpPr>
          <p:cNvPr id="4" name="graphic"/>
          <p:cNvSpPr/>
          <p:nvPr/>
        </p:nvSpPr>
        <p:spPr>
          <a:xfrm>
            <a:off x="1041400" y="2838440"/>
            <a:ext cx="685800" cy="2340620"/>
          </a:xfrm>
          <a:prstGeom prst="rect">
            <a:avLst/>
          </a:prstGeom>
          <a:solidFill>
            <a:srgbClr val="E6B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:4"/>
          <p:cNvSpPr txBox="1"/>
          <p:nvPr/>
        </p:nvSpPr>
        <p:spPr>
          <a:xfrm>
            <a:off x="939800" y="2533640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43042"/>
                </a:solidFill>
                <a:latin typeface="Microsoft YaHei"/>
              </a:defRPr>
            </a:pPr>
            <a:r>
              <a:t>+635.5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27200" y="2838440"/>
            <a:ext cx="317500" cy="0"/>
          </a:xfrm>
          <a:prstGeom prst="line">
            <a:avLst/>
          </a:prstGeom>
          <a:ln w="8890">
            <a:solidFill>
              <a:srgbClr val="65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:6"/>
          <p:cNvSpPr txBox="1"/>
          <p:nvPr/>
        </p:nvSpPr>
        <p:spPr>
          <a:xfrm>
            <a:off x="914400" y="5344161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太阳能</a:t>
            </a:r>
          </a:p>
        </p:txBody>
      </p:sp>
      <p:sp>
        <p:nvSpPr>
          <p:cNvPr id="8" name="graphic"/>
          <p:cNvSpPr/>
          <p:nvPr/>
        </p:nvSpPr>
        <p:spPr>
          <a:xfrm>
            <a:off x="2044700" y="2083389"/>
            <a:ext cx="685800" cy="755051"/>
          </a:xfrm>
          <a:prstGeom prst="rect">
            <a:avLst/>
          </a:prstGeom>
          <a:solidFill>
            <a:srgbClr val="66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8"/>
          <p:cNvSpPr txBox="1"/>
          <p:nvPr/>
        </p:nvSpPr>
        <p:spPr>
          <a:xfrm>
            <a:off x="1943100" y="1457961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43042"/>
                </a:solidFill>
                <a:latin typeface="Microsoft YaHei"/>
              </a:defRPr>
            </a:pPr>
            <a:r>
              <a:t>+205.0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0500" y="2083389"/>
            <a:ext cx="317500" cy="0"/>
          </a:xfrm>
          <a:prstGeom prst="line">
            <a:avLst/>
          </a:prstGeom>
          <a:ln w="8890">
            <a:solidFill>
              <a:srgbClr val="65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10"/>
          <p:cNvSpPr txBox="1"/>
          <p:nvPr/>
        </p:nvSpPr>
        <p:spPr>
          <a:xfrm>
            <a:off x="1917700" y="5344161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风电</a:t>
            </a:r>
          </a:p>
        </p:txBody>
      </p:sp>
      <p:sp>
        <p:nvSpPr>
          <p:cNvPr id="12" name="graphic"/>
          <p:cNvSpPr/>
          <p:nvPr/>
        </p:nvSpPr>
        <p:spPr>
          <a:xfrm>
            <a:off x="3048000" y="1954373"/>
            <a:ext cx="685800" cy="129015"/>
          </a:xfrm>
          <a:prstGeom prst="rect">
            <a:avLst/>
          </a:prstGeom>
          <a:solidFill>
            <a:srgbClr val="78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12"/>
          <p:cNvSpPr txBox="1"/>
          <p:nvPr/>
        </p:nvSpPr>
        <p:spPr>
          <a:xfrm>
            <a:off x="2946400" y="1457961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43042"/>
                </a:solidFill>
                <a:latin typeface="Microsoft YaHei"/>
              </a:defRPr>
            </a:pPr>
            <a:r>
              <a:t>+35.0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33800" y="1954373"/>
            <a:ext cx="317500" cy="0"/>
          </a:xfrm>
          <a:prstGeom prst="line">
            <a:avLst/>
          </a:prstGeom>
          <a:ln w="8890">
            <a:solidFill>
              <a:srgbClr val="65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14"/>
          <p:cNvSpPr txBox="1"/>
          <p:nvPr/>
        </p:nvSpPr>
        <p:spPr>
          <a:xfrm>
            <a:off x="2921000" y="5344161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核电</a:t>
            </a:r>
          </a:p>
        </p:txBody>
      </p:sp>
      <p:sp>
        <p:nvSpPr>
          <p:cNvPr id="16" name="graphic"/>
          <p:cNvSpPr/>
          <p:nvPr/>
        </p:nvSpPr>
        <p:spPr>
          <a:xfrm>
            <a:off x="4051300" y="1943876"/>
            <a:ext cx="685800" cy="10496"/>
          </a:xfrm>
          <a:prstGeom prst="rect">
            <a:avLst/>
          </a:prstGeom>
          <a:solidFill>
            <a:srgbClr val="3F9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16"/>
          <p:cNvSpPr txBox="1"/>
          <p:nvPr/>
        </p:nvSpPr>
        <p:spPr>
          <a:xfrm>
            <a:off x="3949700" y="1457961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43042"/>
                </a:solidFill>
                <a:latin typeface="Microsoft YaHei"/>
              </a:defRPr>
            </a:pPr>
            <a:r>
              <a:t>+2.9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37100" y="1943876"/>
            <a:ext cx="317500" cy="0"/>
          </a:xfrm>
          <a:prstGeom prst="line">
            <a:avLst/>
          </a:prstGeom>
          <a:ln w="8890">
            <a:solidFill>
              <a:srgbClr val="65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18"/>
          <p:cNvSpPr txBox="1"/>
          <p:nvPr/>
        </p:nvSpPr>
        <p:spPr>
          <a:xfrm>
            <a:off x="3924300" y="5344161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水电</a:t>
            </a:r>
          </a:p>
        </p:txBody>
      </p:sp>
      <p:sp>
        <p:nvSpPr>
          <p:cNvPr id="20" name="graphic"/>
          <p:cNvSpPr/>
          <p:nvPr/>
        </p:nvSpPr>
        <p:spPr>
          <a:xfrm>
            <a:off x="5054600" y="1915738"/>
            <a:ext cx="685800" cy="28138"/>
          </a:xfrm>
          <a:prstGeom prst="rect">
            <a:avLst/>
          </a:prstGeom>
          <a:solidFill>
            <a:srgbClr val="8A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20"/>
          <p:cNvSpPr txBox="1"/>
          <p:nvPr/>
        </p:nvSpPr>
        <p:spPr>
          <a:xfrm>
            <a:off x="4953000" y="1457961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43042"/>
                </a:solidFill>
                <a:latin typeface="Microsoft YaHei"/>
              </a:defRPr>
            </a:pPr>
            <a:r>
              <a:t>+7.6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40400" y="1915738"/>
            <a:ext cx="317500" cy="0"/>
          </a:xfrm>
          <a:prstGeom prst="line">
            <a:avLst/>
          </a:prstGeom>
          <a:ln w="8890">
            <a:solidFill>
              <a:srgbClr val="65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22"/>
          <p:cNvSpPr txBox="1"/>
          <p:nvPr/>
        </p:nvSpPr>
        <p:spPr>
          <a:xfrm>
            <a:off x="4927600" y="5344161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生物能</a:t>
            </a:r>
          </a:p>
        </p:txBody>
      </p:sp>
      <p:sp>
        <p:nvSpPr>
          <p:cNvPr id="24" name="graphic"/>
          <p:cNvSpPr/>
          <p:nvPr/>
        </p:nvSpPr>
        <p:spPr>
          <a:xfrm>
            <a:off x="6057900" y="1912460"/>
            <a:ext cx="685800" cy="3277"/>
          </a:xfrm>
          <a:prstGeom prst="rect">
            <a:avLst/>
          </a:prstGeom>
          <a:solidFill>
            <a:srgbClr val="BCC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24"/>
          <p:cNvSpPr txBox="1"/>
          <p:nvPr/>
        </p:nvSpPr>
        <p:spPr>
          <a:xfrm>
            <a:off x="5956300" y="1457961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43042"/>
                </a:solidFill>
                <a:latin typeface="Microsoft YaHei"/>
              </a:defRPr>
            </a:pPr>
            <a:r>
              <a:t>+0.9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43700" y="1912460"/>
            <a:ext cx="317500" cy="0"/>
          </a:xfrm>
          <a:prstGeom prst="line">
            <a:avLst/>
          </a:prstGeom>
          <a:ln w="8890">
            <a:solidFill>
              <a:srgbClr val="65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:26"/>
          <p:cNvSpPr txBox="1"/>
          <p:nvPr/>
        </p:nvSpPr>
        <p:spPr>
          <a:xfrm>
            <a:off x="5930900" y="5344161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其他可再生</a:t>
            </a:r>
          </a:p>
        </p:txBody>
      </p:sp>
      <p:sp>
        <p:nvSpPr>
          <p:cNvPr id="28" name="graphic"/>
          <p:cNvSpPr/>
          <p:nvPr/>
        </p:nvSpPr>
        <p:spPr>
          <a:xfrm>
            <a:off x="7061200" y="1912460"/>
            <a:ext cx="685800" cy="230261"/>
          </a:xfrm>
          <a:prstGeom prst="rect">
            <a:avLst/>
          </a:prstGeom>
          <a:solidFill>
            <a:srgbClr val="536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28"/>
          <p:cNvSpPr txBox="1"/>
          <p:nvPr/>
        </p:nvSpPr>
        <p:spPr>
          <a:xfrm>
            <a:off x="6959600" y="1457961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43042"/>
                </a:solidFill>
                <a:latin typeface="Microsoft YaHei"/>
              </a:defRPr>
            </a:pPr>
            <a:r>
              <a:t>-62.5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47000" y="2142722"/>
            <a:ext cx="317500" cy="0"/>
          </a:xfrm>
          <a:prstGeom prst="line">
            <a:avLst/>
          </a:prstGeom>
          <a:ln w="8890">
            <a:solidFill>
              <a:srgbClr val="65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30"/>
          <p:cNvSpPr txBox="1"/>
          <p:nvPr/>
        </p:nvSpPr>
        <p:spPr>
          <a:xfrm>
            <a:off x="6934200" y="5344161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煤炭</a:t>
            </a:r>
          </a:p>
        </p:txBody>
      </p:sp>
      <p:sp>
        <p:nvSpPr>
          <p:cNvPr id="32" name="graphic"/>
          <p:cNvSpPr/>
          <p:nvPr/>
        </p:nvSpPr>
        <p:spPr>
          <a:xfrm>
            <a:off x="8064500" y="2009029"/>
            <a:ext cx="685800" cy="133692"/>
          </a:xfrm>
          <a:prstGeom prst="rect">
            <a:avLst/>
          </a:prstGeom>
          <a:solidFill>
            <a:srgbClr val="B18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32"/>
          <p:cNvSpPr txBox="1"/>
          <p:nvPr/>
        </p:nvSpPr>
        <p:spPr>
          <a:xfrm>
            <a:off x="7962900" y="1457961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43042"/>
                </a:solidFill>
                <a:latin typeface="Microsoft YaHei"/>
              </a:defRPr>
            </a:pPr>
            <a:r>
              <a:t>+36.3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50300" y="2009029"/>
            <a:ext cx="317500" cy="0"/>
          </a:xfrm>
          <a:prstGeom prst="line">
            <a:avLst/>
          </a:prstGeom>
          <a:ln w="8890">
            <a:solidFill>
              <a:srgbClr val="65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:34"/>
          <p:cNvSpPr txBox="1"/>
          <p:nvPr/>
        </p:nvSpPr>
        <p:spPr>
          <a:xfrm>
            <a:off x="7937500" y="5344161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天然气</a:t>
            </a:r>
          </a:p>
        </p:txBody>
      </p:sp>
      <p:sp>
        <p:nvSpPr>
          <p:cNvPr id="36" name="graphic"/>
          <p:cNvSpPr/>
          <p:nvPr/>
        </p:nvSpPr>
        <p:spPr>
          <a:xfrm>
            <a:off x="9067800" y="2009029"/>
            <a:ext cx="685800" cy="42649"/>
          </a:xfrm>
          <a:prstGeom prst="rect">
            <a:avLst/>
          </a:prstGeom>
          <a:solidFill>
            <a:srgbClr val="CAB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36"/>
          <p:cNvSpPr txBox="1"/>
          <p:nvPr/>
        </p:nvSpPr>
        <p:spPr>
          <a:xfrm>
            <a:off x="8966200" y="1457961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43042"/>
                </a:solidFill>
                <a:latin typeface="Microsoft YaHei"/>
              </a:defRPr>
            </a:pPr>
            <a:r>
              <a:t>-11.6</a:t>
            </a:r>
          </a:p>
        </p:txBody>
      </p:sp>
      <p:sp>
        <p:nvSpPr>
          <p:cNvPr id="38" name="text:37"/>
          <p:cNvSpPr txBox="1"/>
          <p:nvPr/>
        </p:nvSpPr>
        <p:spPr>
          <a:xfrm>
            <a:off x="8940800" y="5344161"/>
            <a:ext cx="990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其他化石</a:t>
            </a:r>
          </a:p>
        </p:txBody>
      </p:sp>
      <p:sp>
        <p:nvSpPr>
          <p:cNvPr id="39" name="text:38"/>
          <p:cNvSpPr txBox="1"/>
          <p:nvPr/>
        </p:nvSpPr>
        <p:spPr>
          <a:xfrm>
            <a:off x="431800" y="507746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27100" y="5179061"/>
            <a:ext cx="93345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:40"/>
          <p:cNvSpPr txBox="1"/>
          <p:nvPr/>
        </p:nvSpPr>
        <p:spPr>
          <a:xfrm>
            <a:off x="431800" y="397256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300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7100" y="4074161"/>
            <a:ext cx="93345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:42"/>
          <p:cNvSpPr txBox="1"/>
          <p:nvPr/>
        </p:nvSpPr>
        <p:spPr>
          <a:xfrm>
            <a:off x="431800" y="286766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600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7100" y="2969261"/>
            <a:ext cx="93345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:44"/>
          <p:cNvSpPr txBox="1"/>
          <p:nvPr/>
        </p:nvSpPr>
        <p:spPr>
          <a:xfrm>
            <a:off x="431800" y="176276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900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7100" y="1864361"/>
            <a:ext cx="93345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46"/>
          <p:cNvSpPr txBox="1"/>
          <p:nvPr/>
        </p:nvSpPr>
        <p:spPr>
          <a:xfrm>
            <a:off x="10403840" y="1813561"/>
            <a:ext cx="11557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C3E70"/>
                </a:solidFill>
                <a:latin typeface="Microsoft YaHei"/>
              </a:defRPr>
            </a:pPr>
            <a:r>
              <a:t>净增量</a:t>
            </a:r>
          </a:p>
        </p:txBody>
      </p:sp>
      <p:sp>
        <p:nvSpPr>
          <p:cNvPr id="48" name="text:47"/>
          <p:cNvSpPr txBox="1"/>
          <p:nvPr/>
        </p:nvSpPr>
        <p:spPr>
          <a:xfrm>
            <a:off x="10391140" y="2232661"/>
            <a:ext cx="1333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C3E70"/>
                </a:solidFill>
                <a:latin typeface="Microsoft YaHei"/>
              </a:defRPr>
            </a:pPr>
            <a:r>
              <a:t>849.1</a:t>
            </a:r>
          </a:p>
        </p:txBody>
      </p:sp>
      <p:sp>
        <p:nvSpPr>
          <p:cNvPr id="49" name="text:48"/>
          <p:cNvSpPr txBox="1"/>
          <p:nvPr/>
        </p:nvSpPr>
        <p:spPr>
          <a:xfrm>
            <a:off x="10393680" y="3401061"/>
            <a:ext cx="13462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2C3E70"/>
                </a:solidFill>
                <a:latin typeface="Microsoft YaHei"/>
              </a:defRPr>
            </a:pPr>
            <a:r>
              <a:t>太阳能贡献</a:t>
            </a:r>
          </a:p>
          <a:p>
            <a:pPr>
              <a:spcAft>
                <a:spcPts val="0"/>
              </a:spcAft>
              <a:defRPr sz="1600" b="0">
                <a:solidFill>
                  <a:srgbClr val="2C3E70"/>
                </a:solidFill>
                <a:latin typeface="Microsoft YaHei"/>
              </a:defRPr>
            </a:pPr>
            <a:r>
              <a:t>总净增量的</a:t>
            </a:r>
          </a:p>
          <a:p>
            <a:pPr>
              <a:spcAft>
                <a:spcPts val="0"/>
              </a:spcAft>
              <a:defRPr sz="1600" b="0">
                <a:solidFill>
                  <a:srgbClr val="2C3E70"/>
                </a:solidFill>
                <a:latin typeface="Microsoft YaHei"/>
              </a:defRPr>
            </a:pPr>
            <a:r>
              <a:t>74.8%</a:t>
            </a:r>
          </a:p>
        </p:txBody>
      </p:sp>
      <p:sp>
        <p:nvSpPr>
          <p:cNvPr id="50" name="conclusion:main"/>
          <p:cNvSpPr txBox="1"/>
          <p:nvPr/>
        </p:nvSpPr>
        <p:spPr>
          <a:xfrm>
            <a:off x="457200" y="5905500"/>
            <a:ext cx="1085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C3E70"/>
                </a:solidFill>
                <a:latin typeface="Microsoft YaHei"/>
              </a:defRPr>
            </a:pPr>
            <a:r>
              <a:t>风光合计增加 840.5 TWh，煤电减少 62.5 TWh，天然气发电增加 36.3 TWh。</a:t>
            </a:r>
          </a:p>
        </p:txBody>
      </p:sp>
      <p:sp>
        <p:nvSpPr>
          <p:cNvPr id="51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从补增量到挤出化石：两条增长曲线的交叉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全球需求与清洁发电年度增量 / TWh；2001—2025，2025 年估算</a:t>
            </a:r>
          </a:p>
        </p:txBody>
      </p:sp>
      <p:graphicFrame>
        <p:nvGraphicFramePr>
          <p:cNvPr id="4" name="chart:3"/>
          <p:cNvGraphicFramePr>
            <a:graphicFrameLocks noGrp="1"/>
          </p:cNvGraphicFramePr>
          <p:nvPr/>
        </p:nvGraphicFramePr>
        <p:xfrm>
          <a:off x="457200" y="1322071"/>
          <a:ext cx="11277600" cy="431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onclusion:main"/>
          <p:cNvSpPr txBox="1"/>
          <p:nvPr/>
        </p:nvSpPr>
        <p:spPr>
          <a:xfrm>
            <a:off x="457200" y="5905500"/>
            <a:ext cx="1085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C3E70"/>
                </a:solidFill>
                <a:latin typeface="Microsoft YaHei"/>
              </a:defRPr>
            </a:pPr>
            <a:r>
              <a:t>清洁增量高于需求增量的年份，全球化石发电随之下降；2025 年差额为 37.8 TWh。</a:t>
            </a:r>
          </a:p>
        </p:txBody>
      </p:sp>
      <p:sp>
        <p:nvSpPr>
          <p:cNvPr id="6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亚洲主导清洁增量，北美化石发电仍在增加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2024→2025 发电变化 / TWh；2025 年估算</a:t>
            </a:r>
          </a:p>
        </p:txBody>
      </p:sp>
      <p:graphicFrame>
        <p:nvGraphicFramePr>
          <p:cNvPr id="4" name="chart:3"/>
          <p:cNvGraphicFramePr>
            <a:graphicFrameLocks noGrp="1"/>
          </p:cNvGraphicFramePr>
          <p:nvPr/>
        </p:nvGraphicFramePr>
        <p:xfrm>
          <a:off x="457200" y="1356361"/>
          <a:ext cx="11277600" cy="431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onclusion:main"/>
          <p:cNvSpPr txBox="1"/>
          <p:nvPr/>
        </p:nvSpPr>
        <p:spPr>
          <a:xfrm>
            <a:off x="457200" y="5905500"/>
            <a:ext cx="1085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C3E70"/>
                </a:solidFill>
                <a:latin typeface="Microsoft YaHei"/>
              </a:defRPr>
            </a:pPr>
            <a:r>
              <a:t>亚洲清洁发电增加 717.8 TWh，占全球增量 80.9%。</a:t>
            </a:r>
          </a:p>
        </p:txBody>
      </p:sp>
      <p:sp>
        <p:nvSpPr>
          <p:cNvPr id="6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25 个主要用电国家，转型路径并不相同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2025 年发电份额 / %（估算）；浅→深：0% → 100%；—：缺值</a:t>
            </a:r>
          </a:p>
        </p:txBody>
      </p:sp>
      <p:sp>
        <p:nvSpPr>
          <p:cNvPr id="4" name="text:3"/>
          <p:cNvSpPr txBox="1"/>
          <p:nvPr/>
        </p:nvSpPr>
        <p:spPr>
          <a:xfrm>
            <a:off x="2133600" y="1269999"/>
            <a:ext cx="1003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煤炭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3136900" y="1269999"/>
            <a:ext cx="1003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天然气</a:t>
            </a:r>
          </a:p>
        </p:txBody>
      </p:sp>
      <p:sp>
        <p:nvSpPr>
          <p:cNvPr id="6" name="text:5"/>
          <p:cNvSpPr txBox="1"/>
          <p:nvPr/>
        </p:nvSpPr>
        <p:spPr>
          <a:xfrm>
            <a:off x="4140200" y="1269999"/>
            <a:ext cx="1003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其他化石</a:t>
            </a:r>
          </a:p>
        </p:txBody>
      </p:sp>
      <p:sp>
        <p:nvSpPr>
          <p:cNvPr id="7" name="text:6"/>
          <p:cNvSpPr txBox="1"/>
          <p:nvPr/>
        </p:nvSpPr>
        <p:spPr>
          <a:xfrm>
            <a:off x="5143500" y="1269999"/>
            <a:ext cx="1003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核电</a:t>
            </a:r>
          </a:p>
        </p:txBody>
      </p:sp>
      <p:sp>
        <p:nvSpPr>
          <p:cNvPr id="8" name="text:7"/>
          <p:cNvSpPr txBox="1"/>
          <p:nvPr/>
        </p:nvSpPr>
        <p:spPr>
          <a:xfrm>
            <a:off x="6146800" y="1269999"/>
            <a:ext cx="1003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水电</a:t>
            </a:r>
          </a:p>
        </p:txBody>
      </p:sp>
      <p:sp>
        <p:nvSpPr>
          <p:cNvPr id="9" name="text:8"/>
          <p:cNvSpPr txBox="1"/>
          <p:nvPr/>
        </p:nvSpPr>
        <p:spPr>
          <a:xfrm>
            <a:off x="7150100" y="1269999"/>
            <a:ext cx="1003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生物能</a:t>
            </a:r>
          </a:p>
        </p:txBody>
      </p:sp>
      <p:sp>
        <p:nvSpPr>
          <p:cNvPr id="10" name="text:9"/>
          <p:cNvSpPr txBox="1"/>
          <p:nvPr/>
        </p:nvSpPr>
        <p:spPr>
          <a:xfrm>
            <a:off x="8130541" y="1269999"/>
            <a:ext cx="1003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其他可再生</a:t>
            </a:r>
          </a:p>
        </p:txBody>
      </p:sp>
      <p:sp>
        <p:nvSpPr>
          <p:cNvPr id="11" name="text:10"/>
          <p:cNvSpPr txBox="1"/>
          <p:nvPr/>
        </p:nvSpPr>
        <p:spPr>
          <a:xfrm>
            <a:off x="9156700" y="1269999"/>
            <a:ext cx="1003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风电</a:t>
            </a:r>
          </a:p>
        </p:txBody>
      </p:sp>
      <p:sp>
        <p:nvSpPr>
          <p:cNvPr id="12" name="text:11"/>
          <p:cNvSpPr txBox="1"/>
          <p:nvPr/>
        </p:nvSpPr>
        <p:spPr>
          <a:xfrm>
            <a:off x="10160000" y="1269999"/>
            <a:ext cx="1003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太阳能</a:t>
            </a:r>
          </a:p>
        </p:txBody>
      </p:sp>
      <p:sp>
        <p:nvSpPr>
          <p:cNvPr id="13" name="rowlabel:0"/>
          <p:cNvSpPr txBox="1"/>
          <p:nvPr/>
        </p:nvSpPr>
        <p:spPr>
          <a:xfrm>
            <a:off x="449580" y="15112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中国</a:t>
            </a:r>
          </a:p>
        </p:txBody>
      </p:sp>
      <p:sp>
        <p:nvSpPr>
          <p:cNvPr id="14" name="heatcell:0:0"/>
          <p:cNvSpPr/>
          <p:nvPr/>
        </p:nvSpPr>
        <p:spPr>
          <a:xfrm>
            <a:off x="2133600" y="1511299"/>
            <a:ext cx="965200" cy="171450"/>
          </a:xfrm>
          <a:prstGeom prst="rect">
            <a:avLst/>
          </a:prstGeom>
          <a:solidFill>
            <a:srgbClr val="879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atvalue:0:0"/>
          <p:cNvSpPr txBox="1"/>
          <p:nvPr/>
        </p:nvSpPr>
        <p:spPr>
          <a:xfrm>
            <a:off x="2133600" y="15112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54</a:t>
            </a:r>
          </a:p>
        </p:txBody>
      </p:sp>
      <p:sp>
        <p:nvSpPr>
          <p:cNvPr id="16" name="heatcell:0:1"/>
          <p:cNvSpPr/>
          <p:nvPr/>
        </p:nvSpPr>
        <p:spPr>
          <a:xfrm>
            <a:off x="3136900" y="1511299"/>
            <a:ext cx="965200" cy="171450"/>
          </a:xfrm>
          <a:prstGeom prst="rect">
            <a:avLst/>
          </a:prstGeom>
          <a:solidFill>
            <a:srgbClr val="E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tcell:0:2"/>
          <p:cNvSpPr/>
          <p:nvPr/>
        </p:nvSpPr>
        <p:spPr>
          <a:xfrm>
            <a:off x="4140200" y="1511299"/>
            <a:ext cx="965200" cy="17145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tcell:0:3"/>
          <p:cNvSpPr/>
          <p:nvPr/>
        </p:nvSpPr>
        <p:spPr>
          <a:xfrm>
            <a:off x="5143500" y="1511299"/>
            <a:ext cx="965200" cy="17145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tcell:0:4"/>
          <p:cNvSpPr/>
          <p:nvPr/>
        </p:nvSpPr>
        <p:spPr>
          <a:xfrm>
            <a:off x="6146800" y="1511299"/>
            <a:ext cx="965200" cy="171450"/>
          </a:xfrm>
          <a:prstGeom prst="rect">
            <a:avLst/>
          </a:prstGeom>
          <a:solidFill>
            <a:srgbClr val="DA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atvalue:0:4"/>
          <p:cNvSpPr txBox="1"/>
          <p:nvPr/>
        </p:nvSpPr>
        <p:spPr>
          <a:xfrm>
            <a:off x="6146800" y="15112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21" name="heatcell:0:5"/>
          <p:cNvSpPr/>
          <p:nvPr/>
        </p:nvSpPr>
        <p:spPr>
          <a:xfrm>
            <a:off x="7150100" y="1511299"/>
            <a:ext cx="965200" cy="171450"/>
          </a:xfrm>
          <a:prstGeom prst="rect">
            <a:avLst/>
          </a:prstGeom>
          <a:solidFill>
            <a:srgbClr val="F0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atcell:0:6"/>
          <p:cNvSpPr/>
          <p:nvPr/>
        </p:nvSpPr>
        <p:spPr>
          <a:xfrm>
            <a:off x="8153400" y="15112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atmissing:0:6"/>
          <p:cNvSpPr txBox="1"/>
          <p:nvPr/>
        </p:nvSpPr>
        <p:spPr>
          <a:xfrm>
            <a:off x="8153400" y="15112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4" name="heatcell:0:7"/>
          <p:cNvSpPr/>
          <p:nvPr/>
        </p:nvSpPr>
        <p:spPr>
          <a:xfrm>
            <a:off x="9156700" y="1511299"/>
            <a:ext cx="965200" cy="171450"/>
          </a:xfrm>
          <a:prstGeom prst="rect">
            <a:avLst/>
          </a:prstGeom>
          <a:solidFill>
            <a:srgbClr val="DF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atvalue:0:7"/>
          <p:cNvSpPr txBox="1"/>
          <p:nvPr/>
        </p:nvSpPr>
        <p:spPr>
          <a:xfrm>
            <a:off x="9156700" y="15112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6" name="heatcell:0:8"/>
          <p:cNvSpPr/>
          <p:nvPr/>
        </p:nvSpPr>
        <p:spPr>
          <a:xfrm>
            <a:off x="10160000" y="1511299"/>
            <a:ext cx="965200" cy="171450"/>
          </a:xfrm>
          <a:prstGeom prst="rect">
            <a:avLst/>
          </a:prstGeom>
          <a:solidFill>
            <a:srgbClr val="DE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atvalue:0:8"/>
          <p:cNvSpPr txBox="1"/>
          <p:nvPr/>
        </p:nvSpPr>
        <p:spPr>
          <a:xfrm>
            <a:off x="10160000" y="15112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8" name="rowlabel:1"/>
          <p:cNvSpPr txBox="1"/>
          <p:nvPr/>
        </p:nvSpPr>
        <p:spPr>
          <a:xfrm>
            <a:off x="457200" y="16954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美国</a:t>
            </a:r>
          </a:p>
        </p:txBody>
      </p:sp>
      <p:sp>
        <p:nvSpPr>
          <p:cNvPr id="29" name="heatcell:1:0"/>
          <p:cNvSpPr/>
          <p:nvPr/>
        </p:nvSpPr>
        <p:spPr>
          <a:xfrm>
            <a:off x="2133600" y="1695449"/>
            <a:ext cx="965200" cy="171450"/>
          </a:xfrm>
          <a:prstGeom prst="rect">
            <a:avLst/>
          </a:prstGeom>
          <a:solidFill>
            <a:srgbClr val="D4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atvalue:1:0"/>
          <p:cNvSpPr txBox="1"/>
          <p:nvPr/>
        </p:nvSpPr>
        <p:spPr>
          <a:xfrm>
            <a:off x="2133600" y="16954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31" name="heatcell:1:1"/>
          <p:cNvSpPr/>
          <p:nvPr/>
        </p:nvSpPr>
        <p:spPr>
          <a:xfrm>
            <a:off x="3136900" y="1695449"/>
            <a:ext cx="965200" cy="171450"/>
          </a:xfrm>
          <a:prstGeom prst="rect">
            <a:avLst/>
          </a:prstGeom>
          <a:solidFill>
            <a:srgbClr val="A4A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atvalue:1:1"/>
          <p:cNvSpPr txBox="1"/>
          <p:nvPr/>
        </p:nvSpPr>
        <p:spPr>
          <a:xfrm>
            <a:off x="3136900" y="16954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33" name="heatcell:1:2"/>
          <p:cNvSpPr/>
          <p:nvPr/>
        </p:nvSpPr>
        <p:spPr>
          <a:xfrm>
            <a:off x="4140200" y="1695449"/>
            <a:ext cx="965200" cy="171450"/>
          </a:xfrm>
          <a:prstGeom prst="rect">
            <a:avLst/>
          </a:prstGeom>
          <a:solidFill>
            <a:srgbClr val="F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atcell:1:3"/>
          <p:cNvSpPr/>
          <p:nvPr/>
        </p:nvSpPr>
        <p:spPr>
          <a:xfrm>
            <a:off x="5143500" y="1695449"/>
            <a:ext cx="965200" cy="171450"/>
          </a:xfrm>
          <a:prstGeom prst="rect">
            <a:avLst/>
          </a:prstGeom>
          <a:solidFill>
            <a:srgbClr val="D2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atvalue:1:3"/>
          <p:cNvSpPr txBox="1"/>
          <p:nvPr/>
        </p:nvSpPr>
        <p:spPr>
          <a:xfrm>
            <a:off x="5143500" y="16954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36" name="heatcell:1:4"/>
          <p:cNvSpPr/>
          <p:nvPr/>
        </p:nvSpPr>
        <p:spPr>
          <a:xfrm>
            <a:off x="6146800" y="1695449"/>
            <a:ext cx="965200" cy="171450"/>
          </a:xfrm>
          <a:prstGeom prst="rect">
            <a:avLst/>
          </a:prstGeom>
          <a:solidFill>
            <a:srgbClr val="EA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atcell:1:5"/>
          <p:cNvSpPr/>
          <p:nvPr/>
        </p:nvSpPr>
        <p:spPr>
          <a:xfrm>
            <a:off x="7150100" y="1695449"/>
            <a:ext cx="965200" cy="171450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atcell:1:6"/>
          <p:cNvSpPr/>
          <p:nvPr/>
        </p:nvSpPr>
        <p:spPr>
          <a:xfrm>
            <a:off x="8153400" y="169544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atcell:1:7"/>
          <p:cNvSpPr/>
          <p:nvPr/>
        </p:nvSpPr>
        <p:spPr>
          <a:xfrm>
            <a:off x="9156700" y="1695449"/>
            <a:ext cx="965200" cy="171450"/>
          </a:xfrm>
          <a:prstGeom prst="rect">
            <a:avLst/>
          </a:prstGeom>
          <a:solidFill>
            <a:srgbClr val="E0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atvalue:1:7"/>
          <p:cNvSpPr txBox="1"/>
          <p:nvPr/>
        </p:nvSpPr>
        <p:spPr>
          <a:xfrm>
            <a:off x="9156700" y="16954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1" name="heatcell:1:8"/>
          <p:cNvSpPr/>
          <p:nvPr/>
        </p:nvSpPr>
        <p:spPr>
          <a:xfrm>
            <a:off x="10160000" y="1695449"/>
            <a:ext cx="965200" cy="171450"/>
          </a:xfrm>
          <a:prstGeom prst="rect">
            <a:avLst/>
          </a:prstGeom>
          <a:solidFill>
            <a:srgbClr val="E3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wlabel:2"/>
          <p:cNvSpPr txBox="1"/>
          <p:nvPr/>
        </p:nvSpPr>
        <p:spPr>
          <a:xfrm>
            <a:off x="449580" y="18795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印度</a:t>
            </a:r>
          </a:p>
        </p:txBody>
      </p:sp>
      <p:sp>
        <p:nvSpPr>
          <p:cNvPr id="43" name="heatcell:2:0"/>
          <p:cNvSpPr/>
          <p:nvPr/>
        </p:nvSpPr>
        <p:spPr>
          <a:xfrm>
            <a:off x="2133600" y="1879599"/>
            <a:ext cx="965200" cy="171450"/>
          </a:xfrm>
          <a:prstGeom prst="rect">
            <a:avLst/>
          </a:prstGeom>
          <a:solidFill>
            <a:srgbClr val="66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eatvalue:2:0"/>
          <p:cNvSpPr txBox="1"/>
          <p:nvPr/>
        </p:nvSpPr>
        <p:spPr>
          <a:xfrm>
            <a:off x="2133600" y="18795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71</a:t>
            </a:r>
          </a:p>
        </p:txBody>
      </p:sp>
      <p:sp>
        <p:nvSpPr>
          <p:cNvPr id="45" name="heatcell:2:1"/>
          <p:cNvSpPr/>
          <p:nvPr/>
        </p:nvSpPr>
        <p:spPr>
          <a:xfrm>
            <a:off x="3136900" y="1879599"/>
            <a:ext cx="965200" cy="17145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eatcell:2:2"/>
          <p:cNvSpPr/>
          <p:nvPr/>
        </p:nvSpPr>
        <p:spPr>
          <a:xfrm>
            <a:off x="4140200" y="18795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eatcell:2:3"/>
          <p:cNvSpPr/>
          <p:nvPr/>
        </p:nvSpPr>
        <p:spPr>
          <a:xfrm>
            <a:off x="5143500" y="1879599"/>
            <a:ext cx="965200" cy="171450"/>
          </a:xfrm>
          <a:prstGeom prst="rect">
            <a:avLst/>
          </a:prstGeom>
          <a:solidFill>
            <a:srgbClr val="E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eatcell:2:4"/>
          <p:cNvSpPr/>
          <p:nvPr/>
        </p:nvSpPr>
        <p:spPr>
          <a:xfrm>
            <a:off x="6146800" y="1879599"/>
            <a:ext cx="965200" cy="171450"/>
          </a:xfrm>
          <a:prstGeom prst="rect">
            <a:avLst/>
          </a:prstGeom>
          <a:solidFill>
            <a:srgbClr val="E3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eatcell:2:5"/>
          <p:cNvSpPr/>
          <p:nvPr/>
        </p:nvSpPr>
        <p:spPr>
          <a:xfrm>
            <a:off x="7150100" y="1879599"/>
            <a:ext cx="965200" cy="171450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atcell:2:6"/>
          <p:cNvSpPr/>
          <p:nvPr/>
        </p:nvSpPr>
        <p:spPr>
          <a:xfrm>
            <a:off x="8153400" y="18795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heatmissing:2:6"/>
          <p:cNvSpPr txBox="1"/>
          <p:nvPr/>
        </p:nvSpPr>
        <p:spPr>
          <a:xfrm>
            <a:off x="8153400" y="18795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52" name="heatcell:2:7"/>
          <p:cNvSpPr/>
          <p:nvPr/>
        </p:nvSpPr>
        <p:spPr>
          <a:xfrm>
            <a:off x="9156700" y="1879599"/>
            <a:ext cx="965200" cy="171450"/>
          </a:xfrm>
          <a:prstGeom prst="rect">
            <a:avLst/>
          </a:prstGeom>
          <a:solidFill>
            <a:srgbClr val="E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heatcell:2:8"/>
          <p:cNvSpPr/>
          <p:nvPr/>
        </p:nvSpPr>
        <p:spPr>
          <a:xfrm>
            <a:off x="10160000" y="1879599"/>
            <a:ext cx="965200" cy="171450"/>
          </a:xfrm>
          <a:prstGeom prst="rect">
            <a:avLst/>
          </a:prstGeom>
          <a:solidFill>
            <a:srgbClr val="E2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wlabel:3"/>
          <p:cNvSpPr txBox="1"/>
          <p:nvPr/>
        </p:nvSpPr>
        <p:spPr>
          <a:xfrm>
            <a:off x="457200" y="20637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俄罗斯</a:t>
            </a:r>
          </a:p>
        </p:txBody>
      </p:sp>
      <p:sp>
        <p:nvSpPr>
          <p:cNvPr id="55" name="heatcell:3:0"/>
          <p:cNvSpPr/>
          <p:nvPr/>
        </p:nvSpPr>
        <p:spPr>
          <a:xfrm>
            <a:off x="2133600" y="2063749"/>
            <a:ext cx="965200" cy="171450"/>
          </a:xfrm>
          <a:prstGeom prst="rect">
            <a:avLst/>
          </a:prstGeom>
          <a:solidFill>
            <a:srgbClr val="D0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heatvalue:3:0"/>
          <p:cNvSpPr txBox="1"/>
          <p:nvPr/>
        </p:nvSpPr>
        <p:spPr>
          <a:xfrm>
            <a:off x="2133600" y="2063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7" name="heatcell:3:1"/>
          <p:cNvSpPr/>
          <p:nvPr/>
        </p:nvSpPr>
        <p:spPr>
          <a:xfrm>
            <a:off x="3136900" y="2063749"/>
            <a:ext cx="965200" cy="171450"/>
          </a:xfrm>
          <a:prstGeom prst="rect">
            <a:avLst/>
          </a:prstGeom>
          <a:solidFill>
            <a:srgbClr val="9BA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heatvalue:3:1"/>
          <p:cNvSpPr txBox="1"/>
          <p:nvPr/>
        </p:nvSpPr>
        <p:spPr>
          <a:xfrm>
            <a:off x="3136900" y="2063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45</a:t>
            </a:r>
          </a:p>
        </p:txBody>
      </p:sp>
      <p:sp>
        <p:nvSpPr>
          <p:cNvPr id="59" name="heatcell:3:2"/>
          <p:cNvSpPr/>
          <p:nvPr/>
        </p:nvSpPr>
        <p:spPr>
          <a:xfrm>
            <a:off x="4140200" y="2063749"/>
            <a:ext cx="965200" cy="171450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heatcell:3:3"/>
          <p:cNvSpPr/>
          <p:nvPr/>
        </p:nvSpPr>
        <p:spPr>
          <a:xfrm>
            <a:off x="5143500" y="2063749"/>
            <a:ext cx="965200" cy="171450"/>
          </a:xfrm>
          <a:prstGeom prst="rect">
            <a:avLst/>
          </a:prstGeom>
          <a:solidFill>
            <a:srgbClr val="D0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heatvalue:3:3"/>
          <p:cNvSpPr txBox="1"/>
          <p:nvPr/>
        </p:nvSpPr>
        <p:spPr>
          <a:xfrm>
            <a:off x="5143500" y="2063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62" name="heatcell:3:4"/>
          <p:cNvSpPr/>
          <p:nvPr/>
        </p:nvSpPr>
        <p:spPr>
          <a:xfrm>
            <a:off x="6146800" y="2063749"/>
            <a:ext cx="965200" cy="171450"/>
          </a:xfrm>
          <a:prstGeom prst="rect">
            <a:avLst/>
          </a:prstGeom>
          <a:solidFill>
            <a:srgbClr val="D3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heatvalue:3:4"/>
          <p:cNvSpPr txBox="1"/>
          <p:nvPr/>
        </p:nvSpPr>
        <p:spPr>
          <a:xfrm>
            <a:off x="6146800" y="2063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64" name="heatcell:3:5"/>
          <p:cNvSpPr/>
          <p:nvPr/>
        </p:nvSpPr>
        <p:spPr>
          <a:xfrm>
            <a:off x="7150100" y="206374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heatcell:3:6"/>
          <p:cNvSpPr/>
          <p:nvPr/>
        </p:nvSpPr>
        <p:spPr>
          <a:xfrm>
            <a:off x="8153400" y="20637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heatmissing:3:6"/>
          <p:cNvSpPr txBox="1"/>
          <p:nvPr/>
        </p:nvSpPr>
        <p:spPr>
          <a:xfrm>
            <a:off x="8153400" y="2063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67" name="heatcell:3:7"/>
          <p:cNvSpPr/>
          <p:nvPr/>
        </p:nvSpPr>
        <p:spPr>
          <a:xfrm>
            <a:off x="9156700" y="206374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heatcell:3:8"/>
          <p:cNvSpPr/>
          <p:nvPr/>
        </p:nvSpPr>
        <p:spPr>
          <a:xfrm>
            <a:off x="10160000" y="206374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wlabel:4"/>
          <p:cNvSpPr txBox="1"/>
          <p:nvPr/>
        </p:nvSpPr>
        <p:spPr>
          <a:xfrm>
            <a:off x="434341" y="22478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日本</a:t>
            </a:r>
          </a:p>
        </p:txBody>
      </p:sp>
      <p:sp>
        <p:nvSpPr>
          <p:cNvPr id="70" name="heatcell:4:0"/>
          <p:cNvSpPr/>
          <p:nvPr/>
        </p:nvSpPr>
        <p:spPr>
          <a:xfrm>
            <a:off x="2133600" y="2247899"/>
            <a:ext cx="965200" cy="171450"/>
          </a:xfrm>
          <a:prstGeom prst="rect">
            <a:avLst/>
          </a:prstGeom>
          <a:solidFill>
            <a:srgbClr val="B4B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heatvalue:4:0"/>
          <p:cNvSpPr txBox="1"/>
          <p:nvPr/>
        </p:nvSpPr>
        <p:spPr>
          <a:xfrm>
            <a:off x="2133600" y="22478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72" name="heatcell:4:1"/>
          <p:cNvSpPr/>
          <p:nvPr/>
        </p:nvSpPr>
        <p:spPr>
          <a:xfrm>
            <a:off x="3136900" y="2247899"/>
            <a:ext cx="965200" cy="171450"/>
          </a:xfrm>
          <a:prstGeom prst="rect">
            <a:avLst/>
          </a:prstGeom>
          <a:solidFill>
            <a:srgbClr val="B3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heatvalue:4:1"/>
          <p:cNvSpPr txBox="1"/>
          <p:nvPr/>
        </p:nvSpPr>
        <p:spPr>
          <a:xfrm>
            <a:off x="3136900" y="22478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74" name="heatcell:4:2"/>
          <p:cNvSpPr/>
          <p:nvPr/>
        </p:nvSpPr>
        <p:spPr>
          <a:xfrm>
            <a:off x="4140200" y="2247899"/>
            <a:ext cx="965200" cy="171450"/>
          </a:xfrm>
          <a:prstGeom prst="rect">
            <a:avLst/>
          </a:prstGeom>
          <a:solidFill>
            <a:srgbClr val="E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heatcell:4:3"/>
          <p:cNvSpPr/>
          <p:nvPr/>
        </p:nvSpPr>
        <p:spPr>
          <a:xfrm>
            <a:off x="5143500" y="2247899"/>
            <a:ext cx="965200" cy="171450"/>
          </a:xfrm>
          <a:prstGeom prst="rect">
            <a:avLst/>
          </a:prstGeom>
          <a:solidFill>
            <a:srgbClr val="E2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heatcell:4:4"/>
          <p:cNvSpPr/>
          <p:nvPr/>
        </p:nvSpPr>
        <p:spPr>
          <a:xfrm>
            <a:off x="6146800" y="2247899"/>
            <a:ext cx="965200" cy="171450"/>
          </a:xfrm>
          <a:prstGeom prst="rect">
            <a:avLst/>
          </a:prstGeom>
          <a:solidFill>
            <a:srgbClr val="E6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heatcell:4:5"/>
          <p:cNvSpPr/>
          <p:nvPr/>
        </p:nvSpPr>
        <p:spPr>
          <a:xfrm>
            <a:off x="7150100" y="2247899"/>
            <a:ext cx="965200" cy="171450"/>
          </a:xfrm>
          <a:prstGeom prst="rect">
            <a:avLst/>
          </a:prstGeom>
          <a:solidFill>
            <a:srgbClr val="EA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heatcell:4:6"/>
          <p:cNvSpPr/>
          <p:nvPr/>
        </p:nvSpPr>
        <p:spPr>
          <a:xfrm>
            <a:off x="8153400" y="22478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heatmissing:4:6"/>
          <p:cNvSpPr txBox="1"/>
          <p:nvPr/>
        </p:nvSpPr>
        <p:spPr>
          <a:xfrm>
            <a:off x="8153400" y="22478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80" name="heatcell:4:7"/>
          <p:cNvSpPr/>
          <p:nvPr/>
        </p:nvSpPr>
        <p:spPr>
          <a:xfrm>
            <a:off x="9156700" y="2247899"/>
            <a:ext cx="965200" cy="171450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heatcell:4:8"/>
          <p:cNvSpPr/>
          <p:nvPr/>
        </p:nvSpPr>
        <p:spPr>
          <a:xfrm>
            <a:off x="10160000" y="2247899"/>
            <a:ext cx="965200" cy="171450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wlabel:5"/>
          <p:cNvSpPr txBox="1"/>
          <p:nvPr/>
        </p:nvSpPr>
        <p:spPr>
          <a:xfrm>
            <a:off x="441960" y="24320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巴西</a:t>
            </a:r>
          </a:p>
        </p:txBody>
      </p:sp>
      <p:sp>
        <p:nvSpPr>
          <p:cNvPr id="83" name="heatcell:5:0"/>
          <p:cNvSpPr/>
          <p:nvPr/>
        </p:nvSpPr>
        <p:spPr>
          <a:xfrm>
            <a:off x="2133600" y="2432049"/>
            <a:ext cx="965200" cy="17145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heatcell:5:1"/>
          <p:cNvSpPr/>
          <p:nvPr/>
        </p:nvSpPr>
        <p:spPr>
          <a:xfrm>
            <a:off x="3136900" y="2432049"/>
            <a:ext cx="965200" cy="171450"/>
          </a:xfrm>
          <a:prstGeom prst="rect">
            <a:avLst/>
          </a:prstGeom>
          <a:solidFill>
            <a:srgbClr val="E6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heatcell:5:2"/>
          <p:cNvSpPr/>
          <p:nvPr/>
        </p:nvSpPr>
        <p:spPr>
          <a:xfrm>
            <a:off x="4140200" y="2432049"/>
            <a:ext cx="965200" cy="171450"/>
          </a:xfrm>
          <a:prstGeom prst="rect">
            <a:avLst/>
          </a:prstGeom>
          <a:solidFill>
            <a:srgbClr val="F1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heatcell:5:3"/>
          <p:cNvSpPr/>
          <p:nvPr/>
        </p:nvSpPr>
        <p:spPr>
          <a:xfrm>
            <a:off x="5143500" y="2432049"/>
            <a:ext cx="965200" cy="171450"/>
          </a:xfrm>
          <a:prstGeom prst="rect">
            <a:avLst/>
          </a:prstGeom>
          <a:solidFill>
            <a:srgbClr val="F0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heatcell:5:4"/>
          <p:cNvSpPr/>
          <p:nvPr/>
        </p:nvSpPr>
        <p:spPr>
          <a:xfrm>
            <a:off x="6146800" y="2432049"/>
            <a:ext cx="965200" cy="171450"/>
          </a:xfrm>
          <a:prstGeom prst="rect">
            <a:avLst/>
          </a:prstGeom>
          <a:solidFill>
            <a:srgbClr val="8C9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heatvalue:5:4"/>
          <p:cNvSpPr txBox="1"/>
          <p:nvPr/>
        </p:nvSpPr>
        <p:spPr>
          <a:xfrm>
            <a:off x="6146800" y="24320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52</a:t>
            </a:r>
          </a:p>
        </p:txBody>
      </p:sp>
      <p:sp>
        <p:nvSpPr>
          <p:cNvPr id="89" name="heatcell:5:5"/>
          <p:cNvSpPr/>
          <p:nvPr/>
        </p:nvSpPr>
        <p:spPr>
          <a:xfrm>
            <a:off x="7150100" y="2432049"/>
            <a:ext cx="965200" cy="171450"/>
          </a:xfrm>
          <a:prstGeom prst="rect">
            <a:avLst/>
          </a:prstGeom>
          <a:solidFill>
            <a:srgbClr val="E6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heatcell:5:6"/>
          <p:cNvSpPr/>
          <p:nvPr/>
        </p:nvSpPr>
        <p:spPr>
          <a:xfrm>
            <a:off x="8153400" y="24320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heatmissing:5:6"/>
          <p:cNvSpPr txBox="1"/>
          <p:nvPr/>
        </p:nvSpPr>
        <p:spPr>
          <a:xfrm>
            <a:off x="8153400" y="24320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92" name="heatcell:5:7"/>
          <p:cNvSpPr/>
          <p:nvPr/>
        </p:nvSpPr>
        <p:spPr>
          <a:xfrm>
            <a:off x="9156700" y="2432049"/>
            <a:ext cx="965200" cy="171450"/>
          </a:xfrm>
          <a:prstGeom prst="rect">
            <a:avLst/>
          </a:prstGeom>
          <a:solidFill>
            <a:srgbClr val="D5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heatvalue:5:7"/>
          <p:cNvSpPr txBox="1"/>
          <p:nvPr/>
        </p:nvSpPr>
        <p:spPr>
          <a:xfrm>
            <a:off x="9156700" y="24320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94" name="heatcell:5:8"/>
          <p:cNvSpPr/>
          <p:nvPr/>
        </p:nvSpPr>
        <p:spPr>
          <a:xfrm>
            <a:off x="10160000" y="2432049"/>
            <a:ext cx="965200" cy="171450"/>
          </a:xfrm>
          <a:prstGeom prst="rect">
            <a:avLst/>
          </a:prstGeom>
          <a:solidFill>
            <a:srgbClr val="DD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heatvalue:5:8"/>
          <p:cNvSpPr txBox="1"/>
          <p:nvPr/>
        </p:nvSpPr>
        <p:spPr>
          <a:xfrm>
            <a:off x="10160000" y="24320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96" name="rowlabel:6"/>
          <p:cNvSpPr txBox="1"/>
          <p:nvPr/>
        </p:nvSpPr>
        <p:spPr>
          <a:xfrm>
            <a:off x="457200" y="26161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加拿大</a:t>
            </a:r>
          </a:p>
        </p:txBody>
      </p:sp>
      <p:sp>
        <p:nvSpPr>
          <p:cNvPr id="97" name="heatcell:6:0"/>
          <p:cNvSpPr/>
          <p:nvPr/>
        </p:nvSpPr>
        <p:spPr>
          <a:xfrm>
            <a:off x="2133600" y="2616199"/>
            <a:ext cx="965200" cy="171450"/>
          </a:xfrm>
          <a:prstGeom prst="rect">
            <a:avLst/>
          </a:prstGeom>
          <a:solidFill>
            <a:srgbClr val="EC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heatcell:6:1"/>
          <p:cNvSpPr/>
          <p:nvPr/>
        </p:nvSpPr>
        <p:spPr>
          <a:xfrm>
            <a:off x="3136900" y="2616199"/>
            <a:ext cx="965200" cy="171450"/>
          </a:xfrm>
          <a:prstGeom prst="rect">
            <a:avLst/>
          </a:prstGeom>
          <a:solidFill>
            <a:srgbClr val="D1D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heatvalue:6:1"/>
          <p:cNvSpPr txBox="1"/>
          <p:nvPr/>
        </p:nvSpPr>
        <p:spPr>
          <a:xfrm>
            <a:off x="3136900" y="26161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00" name="heatcell:6:2"/>
          <p:cNvSpPr/>
          <p:nvPr/>
        </p:nvSpPr>
        <p:spPr>
          <a:xfrm>
            <a:off x="4140200" y="2616199"/>
            <a:ext cx="965200" cy="171450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heatcell:6:3"/>
          <p:cNvSpPr/>
          <p:nvPr/>
        </p:nvSpPr>
        <p:spPr>
          <a:xfrm>
            <a:off x="5143500" y="2616199"/>
            <a:ext cx="965200" cy="171450"/>
          </a:xfrm>
          <a:prstGeom prst="rect">
            <a:avLst/>
          </a:prstGeom>
          <a:solidFill>
            <a:srgbClr val="DA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heatvalue:6:3"/>
          <p:cNvSpPr txBox="1"/>
          <p:nvPr/>
        </p:nvSpPr>
        <p:spPr>
          <a:xfrm>
            <a:off x="5143500" y="26161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03" name="heatcell:6:4"/>
          <p:cNvSpPr/>
          <p:nvPr/>
        </p:nvSpPr>
        <p:spPr>
          <a:xfrm>
            <a:off x="6146800" y="2616199"/>
            <a:ext cx="965200" cy="171450"/>
          </a:xfrm>
          <a:prstGeom prst="rect">
            <a:avLst/>
          </a:prstGeom>
          <a:solidFill>
            <a:srgbClr val="8A9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heatvalue:6:4"/>
          <p:cNvSpPr txBox="1"/>
          <p:nvPr/>
        </p:nvSpPr>
        <p:spPr>
          <a:xfrm>
            <a:off x="6146800" y="26161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53</a:t>
            </a:r>
          </a:p>
        </p:txBody>
      </p:sp>
      <p:sp>
        <p:nvSpPr>
          <p:cNvPr id="105" name="heatcell:6:5"/>
          <p:cNvSpPr/>
          <p:nvPr/>
        </p:nvSpPr>
        <p:spPr>
          <a:xfrm>
            <a:off x="7150100" y="2616199"/>
            <a:ext cx="965200" cy="171450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heatcell:6:6"/>
          <p:cNvSpPr/>
          <p:nvPr/>
        </p:nvSpPr>
        <p:spPr>
          <a:xfrm>
            <a:off x="8153400" y="26161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heatmissing:6:6"/>
          <p:cNvSpPr txBox="1"/>
          <p:nvPr/>
        </p:nvSpPr>
        <p:spPr>
          <a:xfrm>
            <a:off x="8153400" y="26161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08" name="heatcell:6:7"/>
          <p:cNvSpPr/>
          <p:nvPr/>
        </p:nvSpPr>
        <p:spPr>
          <a:xfrm>
            <a:off x="9156700" y="2616199"/>
            <a:ext cx="965200" cy="171450"/>
          </a:xfrm>
          <a:prstGeom prst="rect">
            <a:avLst/>
          </a:prstGeom>
          <a:solidFill>
            <a:srgbClr val="E5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heatcell:6:8"/>
          <p:cNvSpPr/>
          <p:nvPr/>
        </p:nvSpPr>
        <p:spPr>
          <a:xfrm>
            <a:off x="10160000" y="2616199"/>
            <a:ext cx="965200" cy="171450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wlabel:7"/>
          <p:cNvSpPr txBox="1"/>
          <p:nvPr/>
        </p:nvSpPr>
        <p:spPr>
          <a:xfrm>
            <a:off x="457200" y="28003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韩国</a:t>
            </a:r>
          </a:p>
        </p:txBody>
      </p:sp>
      <p:sp>
        <p:nvSpPr>
          <p:cNvPr id="111" name="heatcell:7:0"/>
          <p:cNvSpPr/>
          <p:nvPr/>
        </p:nvSpPr>
        <p:spPr>
          <a:xfrm>
            <a:off x="2133600" y="2800349"/>
            <a:ext cx="965200" cy="171450"/>
          </a:xfrm>
          <a:prstGeom prst="rect">
            <a:avLst/>
          </a:prstGeom>
          <a:solidFill>
            <a:srgbClr val="B6B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heatvalue:7:0"/>
          <p:cNvSpPr txBox="1"/>
          <p:nvPr/>
        </p:nvSpPr>
        <p:spPr>
          <a:xfrm>
            <a:off x="2133600" y="28003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113" name="heatcell:7:1"/>
          <p:cNvSpPr/>
          <p:nvPr/>
        </p:nvSpPr>
        <p:spPr>
          <a:xfrm>
            <a:off x="3136900" y="2800349"/>
            <a:ext cx="965200" cy="171450"/>
          </a:xfrm>
          <a:prstGeom prst="rect">
            <a:avLst/>
          </a:prstGeom>
          <a:solidFill>
            <a:srgbClr val="BCC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heatvalue:7:1"/>
          <p:cNvSpPr txBox="1"/>
          <p:nvPr/>
        </p:nvSpPr>
        <p:spPr>
          <a:xfrm>
            <a:off x="3136900" y="28003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115" name="heatcell:7:2"/>
          <p:cNvSpPr/>
          <p:nvPr/>
        </p:nvSpPr>
        <p:spPr>
          <a:xfrm>
            <a:off x="4140200" y="2800349"/>
            <a:ext cx="965200" cy="17145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heatcell:7:3"/>
          <p:cNvSpPr/>
          <p:nvPr/>
        </p:nvSpPr>
        <p:spPr>
          <a:xfrm>
            <a:off x="5143500" y="2800349"/>
            <a:ext cx="965200" cy="171450"/>
          </a:xfrm>
          <a:prstGeom prst="rect">
            <a:avLst/>
          </a:prstGeom>
          <a:solidFill>
            <a:srgbClr val="B9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heatvalue:7:3"/>
          <p:cNvSpPr txBox="1"/>
          <p:nvPr/>
        </p:nvSpPr>
        <p:spPr>
          <a:xfrm>
            <a:off x="5143500" y="28003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118" name="heatcell:7:4"/>
          <p:cNvSpPr/>
          <p:nvPr/>
        </p:nvSpPr>
        <p:spPr>
          <a:xfrm>
            <a:off x="6146800" y="2800349"/>
            <a:ext cx="965200" cy="171450"/>
          </a:xfrm>
          <a:prstGeom prst="rect">
            <a:avLst/>
          </a:prstGeom>
          <a:solidFill>
            <a:srgbClr val="F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heatcell:7:5"/>
          <p:cNvSpPr/>
          <p:nvPr/>
        </p:nvSpPr>
        <p:spPr>
          <a:xfrm>
            <a:off x="7150100" y="2800349"/>
            <a:ext cx="965200" cy="171450"/>
          </a:xfrm>
          <a:prstGeom prst="rect">
            <a:avLst/>
          </a:prstGeom>
          <a:solidFill>
            <a:srgbClr val="E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heatcell:7:6"/>
          <p:cNvSpPr/>
          <p:nvPr/>
        </p:nvSpPr>
        <p:spPr>
          <a:xfrm>
            <a:off x="8153400" y="28003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heatmissing:7:6"/>
          <p:cNvSpPr txBox="1"/>
          <p:nvPr/>
        </p:nvSpPr>
        <p:spPr>
          <a:xfrm>
            <a:off x="8153400" y="28003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22" name="heatcell:7:7"/>
          <p:cNvSpPr/>
          <p:nvPr/>
        </p:nvSpPr>
        <p:spPr>
          <a:xfrm>
            <a:off x="9156700" y="2800349"/>
            <a:ext cx="965200" cy="171450"/>
          </a:xfrm>
          <a:prstGeom prst="rect">
            <a:avLst/>
          </a:prstGeom>
          <a:solidFill>
            <a:srgbClr val="F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heatcell:7:8"/>
          <p:cNvSpPr/>
          <p:nvPr/>
        </p:nvSpPr>
        <p:spPr>
          <a:xfrm>
            <a:off x="10160000" y="2800349"/>
            <a:ext cx="965200" cy="171450"/>
          </a:xfrm>
          <a:prstGeom prst="rect">
            <a:avLst/>
          </a:prstGeom>
          <a:solidFill>
            <a:srgbClr val="E8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wlabel:8"/>
          <p:cNvSpPr txBox="1"/>
          <p:nvPr/>
        </p:nvSpPr>
        <p:spPr>
          <a:xfrm>
            <a:off x="457200" y="29844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德国</a:t>
            </a:r>
          </a:p>
        </p:txBody>
      </p:sp>
      <p:sp>
        <p:nvSpPr>
          <p:cNvPr id="125" name="heatcell:8:0"/>
          <p:cNvSpPr/>
          <p:nvPr/>
        </p:nvSpPr>
        <p:spPr>
          <a:xfrm>
            <a:off x="2133600" y="2984499"/>
            <a:ext cx="965200" cy="171450"/>
          </a:xfrm>
          <a:prstGeom prst="rect">
            <a:avLst/>
          </a:prstGeom>
          <a:solidFill>
            <a:srgbClr val="CBC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heatvalue:8:0"/>
          <p:cNvSpPr txBox="1"/>
          <p:nvPr/>
        </p:nvSpPr>
        <p:spPr>
          <a:xfrm>
            <a:off x="2133600" y="29844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127" name="heatcell:8:1"/>
          <p:cNvSpPr/>
          <p:nvPr/>
        </p:nvSpPr>
        <p:spPr>
          <a:xfrm>
            <a:off x="3136900" y="2984499"/>
            <a:ext cx="965200" cy="171450"/>
          </a:xfrm>
          <a:prstGeom prst="rect">
            <a:avLst/>
          </a:prstGeom>
          <a:solidFill>
            <a:srgbClr val="D3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heatvalue:8:1"/>
          <p:cNvSpPr txBox="1"/>
          <p:nvPr/>
        </p:nvSpPr>
        <p:spPr>
          <a:xfrm>
            <a:off x="3136900" y="29844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29" name="heatcell:8:2"/>
          <p:cNvSpPr/>
          <p:nvPr/>
        </p:nvSpPr>
        <p:spPr>
          <a:xfrm>
            <a:off x="4140200" y="2984499"/>
            <a:ext cx="965200" cy="171450"/>
          </a:xfrm>
          <a:prstGeom prst="rect">
            <a:avLst/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heatcell:8:3"/>
          <p:cNvSpPr/>
          <p:nvPr/>
        </p:nvSpPr>
        <p:spPr>
          <a:xfrm>
            <a:off x="5143500" y="29844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heatcell:8:4"/>
          <p:cNvSpPr/>
          <p:nvPr/>
        </p:nvSpPr>
        <p:spPr>
          <a:xfrm>
            <a:off x="6146800" y="2984499"/>
            <a:ext cx="965200" cy="171450"/>
          </a:xfrm>
          <a:prstGeom prst="rect">
            <a:avLst/>
          </a:prstGeom>
          <a:solidFill>
            <a:srgbClr val="ED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heatcell:8:5"/>
          <p:cNvSpPr/>
          <p:nvPr/>
        </p:nvSpPr>
        <p:spPr>
          <a:xfrm>
            <a:off x="7150100" y="2984499"/>
            <a:ext cx="965200" cy="171450"/>
          </a:xfrm>
          <a:prstGeom prst="rect">
            <a:avLst/>
          </a:prstGeom>
          <a:solidFill>
            <a:srgbClr val="E0E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heatvalue:8:5"/>
          <p:cNvSpPr txBox="1"/>
          <p:nvPr/>
        </p:nvSpPr>
        <p:spPr>
          <a:xfrm>
            <a:off x="7150100" y="29844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34" name="heatcell:8:6"/>
          <p:cNvSpPr/>
          <p:nvPr/>
        </p:nvSpPr>
        <p:spPr>
          <a:xfrm>
            <a:off x="8153400" y="29844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heatcell:8:7"/>
          <p:cNvSpPr/>
          <p:nvPr/>
        </p:nvSpPr>
        <p:spPr>
          <a:xfrm>
            <a:off x="9156700" y="2984499"/>
            <a:ext cx="965200" cy="171450"/>
          </a:xfrm>
          <a:prstGeom prst="rect">
            <a:avLst/>
          </a:prstGeom>
          <a:solidFill>
            <a:srgbClr val="BEC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heatvalue:8:7"/>
          <p:cNvSpPr txBox="1"/>
          <p:nvPr/>
        </p:nvSpPr>
        <p:spPr>
          <a:xfrm>
            <a:off x="9156700" y="29844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137" name="heatcell:8:8"/>
          <p:cNvSpPr/>
          <p:nvPr/>
        </p:nvSpPr>
        <p:spPr>
          <a:xfrm>
            <a:off x="10160000" y="2984499"/>
            <a:ext cx="965200" cy="171450"/>
          </a:xfrm>
          <a:prstGeom prst="rect">
            <a:avLst/>
          </a:prstGeom>
          <a:solidFill>
            <a:srgbClr val="D1D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heatvalue:8:8"/>
          <p:cNvSpPr txBox="1"/>
          <p:nvPr/>
        </p:nvSpPr>
        <p:spPr>
          <a:xfrm>
            <a:off x="10160000" y="29844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39" name="rowlabel:9"/>
          <p:cNvSpPr txBox="1"/>
          <p:nvPr/>
        </p:nvSpPr>
        <p:spPr>
          <a:xfrm>
            <a:off x="457200" y="31686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法国</a:t>
            </a:r>
          </a:p>
        </p:txBody>
      </p:sp>
      <p:sp>
        <p:nvSpPr>
          <p:cNvPr id="140" name="heatcell:9:0"/>
          <p:cNvSpPr/>
          <p:nvPr/>
        </p:nvSpPr>
        <p:spPr>
          <a:xfrm>
            <a:off x="2133600" y="316864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heatcell:9:1"/>
          <p:cNvSpPr/>
          <p:nvPr/>
        </p:nvSpPr>
        <p:spPr>
          <a:xfrm>
            <a:off x="3136900" y="3168649"/>
            <a:ext cx="965200" cy="171450"/>
          </a:xfrm>
          <a:prstGeom prst="rect">
            <a:avLst/>
          </a:prstGeom>
          <a:solidFill>
            <a:srgbClr val="E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heatcell:9:2"/>
          <p:cNvSpPr/>
          <p:nvPr/>
        </p:nvSpPr>
        <p:spPr>
          <a:xfrm>
            <a:off x="4140200" y="3168649"/>
            <a:ext cx="965200" cy="171450"/>
          </a:xfrm>
          <a:prstGeom prst="rect">
            <a:avLst/>
          </a:prstGeom>
          <a:solidFill>
            <a:srgbClr val="F1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heatcell:9:3"/>
          <p:cNvSpPr/>
          <p:nvPr/>
        </p:nvSpPr>
        <p:spPr>
          <a:xfrm>
            <a:off x="5143500" y="3168649"/>
            <a:ext cx="965200" cy="171450"/>
          </a:xfrm>
          <a:prstGeom prst="rect">
            <a:avLst/>
          </a:prstGeom>
          <a:solidFill>
            <a:srgbClr val="6A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heatvalue:9:3"/>
          <p:cNvSpPr txBox="1"/>
          <p:nvPr/>
        </p:nvSpPr>
        <p:spPr>
          <a:xfrm>
            <a:off x="5143500" y="31686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69</a:t>
            </a:r>
          </a:p>
        </p:txBody>
      </p:sp>
      <p:sp>
        <p:nvSpPr>
          <p:cNvPr id="145" name="heatcell:9:4"/>
          <p:cNvSpPr/>
          <p:nvPr/>
        </p:nvSpPr>
        <p:spPr>
          <a:xfrm>
            <a:off x="6146800" y="3168649"/>
            <a:ext cx="965200" cy="171450"/>
          </a:xfrm>
          <a:prstGeom prst="rect">
            <a:avLst/>
          </a:prstGeom>
          <a:solidFill>
            <a:srgbClr val="E0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heatvalue:9:4"/>
          <p:cNvSpPr txBox="1"/>
          <p:nvPr/>
        </p:nvSpPr>
        <p:spPr>
          <a:xfrm>
            <a:off x="6146800" y="31686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47" name="heatcell:9:5"/>
          <p:cNvSpPr/>
          <p:nvPr/>
        </p:nvSpPr>
        <p:spPr>
          <a:xfrm>
            <a:off x="7150100" y="3168649"/>
            <a:ext cx="965200" cy="171450"/>
          </a:xfrm>
          <a:prstGeom prst="rect">
            <a:avLst/>
          </a:prstGeom>
          <a:solidFill>
            <a:srgbClr val="F1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heatcell:9:6"/>
          <p:cNvSpPr/>
          <p:nvPr/>
        </p:nvSpPr>
        <p:spPr>
          <a:xfrm>
            <a:off x="8153400" y="316864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heatcell:9:7"/>
          <p:cNvSpPr/>
          <p:nvPr/>
        </p:nvSpPr>
        <p:spPr>
          <a:xfrm>
            <a:off x="9156700" y="3168649"/>
            <a:ext cx="965200" cy="171450"/>
          </a:xfrm>
          <a:prstGeom prst="rect">
            <a:avLst/>
          </a:prstGeom>
          <a:solidFill>
            <a:srgbClr val="E4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heatcell:9:8"/>
          <p:cNvSpPr/>
          <p:nvPr/>
        </p:nvSpPr>
        <p:spPr>
          <a:xfrm>
            <a:off x="10160000" y="3168649"/>
            <a:ext cx="965200" cy="171450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wlabel:10"/>
          <p:cNvSpPr txBox="1"/>
          <p:nvPr/>
        </p:nvSpPr>
        <p:spPr>
          <a:xfrm>
            <a:off x="457200" y="33527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伊朗</a:t>
            </a:r>
          </a:p>
        </p:txBody>
      </p:sp>
      <p:sp>
        <p:nvSpPr>
          <p:cNvPr id="152" name="heatcell:10:0"/>
          <p:cNvSpPr/>
          <p:nvPr/>
        </p:nvSpPr>
        <p:spPr>
          <a:xfrm>
            <a:off x="2133600" y="33527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heatcell:10:1"/>
          <p:cNvSpPr/>
          <p:nvPr/>
        </p:nvSpPr>
        <p:spPr>
          <a:xfrm>
            <a:off x="3136900" y="3352799"/>
            <a:ext cx="965200" cy="171450"/>
          </a:xfrm>
          <a:prstGeom prst="rect">
            <a:avLst/>
          </a:prstGeom>
          <a:solidFill>
            <a:srgbClr val="415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heatvalue:10:1"/>
          <p:cNvSpPr txBox="1"/>
          <p:nvPr/>
        </p:nvSpPr>
        <p:spPr>
          <a:xfrm>
            <a:off x="3136900" y="33527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90</a:t>
            </a:r>
          </a:p>
        </p:txBody>
      </p:sp>
      <p:sp>
        <p:nvSpPr>
          <p:cNvPr id="155" name="heatcell:10:2"/>
          <p:cNvSpPr/>
          <p:nvPr/>
        </p:nvSpPr>
        <p:spPr>
          <a:xfrm>
            <a:off x="4140200" y="3352799"/>
            <a:ext cx="965200" cy="17145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heatcell:10:3"/>
          <p:cNvSpPr/>
          <p:nvPr/>
        </p:nvSpPr>
        <p:spPr>
          <a:xfrm>
            <a:off x="5143500" y="3352799"/>
            <a:ext cx="965200" cy="171450"/>
          </a:xfrm>
          <a:prstGeom prst="rect">
            <a:avLst/>
          </a:prstGeom>
          <a:solidFill>
            <a:srgbClr val="F1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heatcell:10:4"/>
          <p:cNvSpPr/>
          <p:nvPr/>
        </p:nvSpPr>
        <p:spPr>
          <a:xfrm>
            <a:off x="6146800" y="3352799"/>
            <a:ext cx="965200" cy="171450"/>
          </a:xfrm>
          <a:prstGeom prst="rect">
            <a:avLst/>
          </a:prstGeom>
          <a:solidFill>
            <a:srgbClr val="EE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heatcell:10:5"/>
          <p:cNvSpPr/>
          <p:nvPr/>
        </p:nvSpPr>
        <p:spPr>
          <a:xfrm>
            <a:off x="7150100" y="33527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heatcell:10:6"/>
          <p:cNvSpPr/>
          <p:nvPr/>
        </p:nvSpPr>
        <p:spPr>
          <a:xfrm>
            <a:off x="8153400" y="33527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heatmissing:10:6"/>
          <p:cNvSpPr txBox="1"/>
          <p:nvPr/>
        </p:nvSpPr>
        <p:spPr>
          <a:xfrm>
            <a:off x="8153400" y="33527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61" name="heatcell:10:7"/>
          <p:cNvSpPr/>
          <p:nvPr/>
        </p:nvSpPr>
        <p:spPr>
          <a:xfrm>
            <a:off x="9156700" y="33527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heatcell:10:8"/>
          <p:cNvSpPr/>
          <p:nvPr/>
        </p:nvSpPr>
        <p:spPr>
          <a:xfrm>
            <a:off x="10160000" y="33527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wlabel:11"/>
          <p:cNvSpPr txBox="1"/>
          <p:nvPr/>
        </p:nvSpPr>
        <p:spPr>
          <a:xfrm>
            <a:off x="457200" y="35369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墨西哥</a:t>
            </a:r>
          </a:p>
        </p:txBody>
      </p:sp>
      <p:sp>
        <p:nvSpPr>
          <p:cNvPr id="164" name="heatcell:11:0"/>
          <p:cNvSpPr/>
          <p:nvPr/>
        </p:nvSpPr>
        <p:spPr>
          <a:xfrm>
            <a:off x="2133600" y="3536949"/>
            <a:ext cx="965200" cy="171450"/>
          </a:xfrm>
          <a:prstGeom prst="rect">
            <a:avLst/>
          </a:prstGeom>
          <a:solidFill>
            <a:srgbClr val="E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heatcell:11:1"/>
          <p:cNvSpPr/>
          <p:nvPr/>
        </p:nvSpPr>
        <p:spPr>
          <a:xfrm>
            <a:off x="3136900" y="3536949"/>
            <a:ext cx="965200" cy="171450"/>
          </a:xfrm>
          <a:prstGeom prst="rect">
            <a:avLst/>
          </a:prstGeom>
          <a:solidFill>
            <a:srgbClr val="798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heatvalue:11:1"/>
          <p:cNvSpPr txBox="1"/>
          <p:nvPr/>
        </p:nvSpPr>
        <p:spPr>
          <a:xfrm>
            <a:off x="3136900" y="35369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62</a:t>
            </a:r>
          </a:p>
        </p:txBody>
      </p:sp>
      <p:sp>
        <p:nvSpPr>
          <p:cNvPr id="167" name="heatcell:11:2"/>
          <p:cNvSpPr/>
          <p:nvPr/>
        </p:nvSpPr>
        <p:spPr>
          <a:xfrm>
            <a:off x="4140200" y="3536949"/>
            <a:ext cx="965200" cy="171450"/>
          </a:xfrm>
          <a:prstGeom prst="rect">
            <a:avLst/>
          </a:prstGeom>
          <a:solidFill>
            <a:srgbClr val="E2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heatcell:11:3"/>
          <p:cNvSpPr/>
          <p:nvPr/>
        </p:nvSpPr>
        <p:spPr>
          <a:xfrm>
            <a:off x="5143500" y="3536949"/>
            <a:ext cx="965200" cy="17145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heatcell:11:4"/>
          <p:cNvSpPr/>
          <p:nvPr/>
        </p:nvSpPr>
        <p:spPr>
          <a:xfrm>
            <a:off x="6146800" y="3536949"/>
            <a:ext cx="965200" cy="171450"/>
          </a:xfrm>
          <a:prstGeom prst="rect">
            <a:avLst/>
          </a:prstGeom>
          <a:solidFill>
            <a:srgbClr val="E4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heatcell:11:5"/>
          <p:cNvSpPr/>
          <p:nvPr/>
        </p:nvSpPr>
        <p:spPr>
          <a:xfrm>
            <a:off x="7150100" y="3536949"/>
            <a:ext cx="965200" cy="171450"/>
          </a:xfrm>
          <a:prstGeom prst="rect">
            <a:avLst/>
          </a:prstGeom>
          <a:solidFill>
            <a:srgbClr val="F1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heatcell:11:6"/>
          <p:cNvSpPr/>
          <p:nvPr/>
        </p:nvSpPr>
        <p:spPr>
          <a:xfrm>
            <a:off x="8153400" y="35369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heatmissing:11:6"/>
          <p:cNvSpPr txBox="1"/>
          <p:nvPr/>
        </p:nvSpPr>
        <p:spPr>
          <a:xfrm>
            <a:off x="8153400" y="35369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73" name="heatcell:11:7"/>
          <p:cNvSpPr/>
          <p:nvPr/>
        </p:nvSpPr>
        <p:spPr>
          <a:xfrm>
            <a:off x="9156700" y="3536949"/>
            <a:ext cx="965200" cy="17145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heatcell:11:8"/>
          <p:cNvSpPr/>
          <p:nvPr/>
        </p:nvSpPr>
        <p:spPr>
          <a:xfrm>
            <a:off x="10160000" y="3536949"/>
            <a:ext cx="965200" cy="171450"/>
          </a:xfrm>
          <a:prstGeom prst="rect">
            <a:avLst/>
          </a:prstGeom>
          <a:solidFill>
            <a:srgbClr val="E6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wlabel:12"/>
          <p:cNvSpPr txBox="1"/>
          <p:nvPr/>
        </p:nvSpPr>
        <p:spPr>
          <a:xfrm>
            <a:off x="457200" y="37210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土耳其</a:t>
            </a:r>
          </a:p>
        </p:txBody>
      </p:sp>
      <p:sp>
        <p:nvSpPr>
          <p:cNvPr id="176" name="heatcell:12:0"/>
          <p:cNvSpPr/>
          <p:nvPr/>
        </p:nvSpPr>
        <p:spPr>
          <a:xfrm>
            <a:off x="2133600" y="3721099"/>
            <a:ext cx="965200" cy="171450"/>
          </a:xfrm>
          <a:prstGeom prst="rect">
            <a:avLst/>
          </a:prstGeom>
          <a:solidFill>
            <a:srgbClr val="B0B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heatvalue:12:0"/>
          <p:cNvSpPr txBox="1"/>
          <p:nvPr/>
        </p:nvSpPr>
        <p:spPr>
          <a:xfrm>
            <a:off x="2133600" y="37210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34</a:t>
            </a:r>
          </a:p>
        </p:txBody>
      </p:sp>
      <p:sp>
        <p:nvSpPr>
          <p:cNvPr id="178" name="heatcell:12:1"/>
          <p:cNvSpPr/>
          <p:nvPr/>
        </p:nvSpPr>
        <p:spPr>
          <a:xfrm>
            <a:off x="3136900" y="3721099"/>
            <a:ext cx="965200" cy="171450"/>
          </a:xfrm>
          <a:prstGeom prst="rect">
            <a:avLst/>
          </a:prstGeom>
          <a:solidFill>
            <a:srgbClr val="C8C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heatvalue:12:1"/>
          <p:cNvSpPr txBox="1"/>
          <p:nvPr/>
        </p:nvSpPr>
        <p:spPr>
          <a:xfrm>
            <a:off x="3136900" y="37210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180" name="heatcell:12:2"/>
          <p:cNvSpPr/>
          <p:nvPr/>
        </p:nvSpPr>
        <p:spPr>
          <a:xfrm>
            <a:off x="4140200" y="37210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heatcell:12:3"/>
          <p:cNvSpPr/>
          <p:nvPr/>
        </p:nvSpPr>
        <p:spPr>
          <a:xfrm>
            <a:off x="5143500" y="37210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heatcell:12:4"/>
          <p:cNvSpPr/>
          <p:nvPr/>
        </p:nvSpPr>
        <p:spPr>
          <a:xfrm>
            <a:off x="6146800" y="3721099"/>
            <a:ext cx="965200" cy="171450"/>
          </a:xfrm>
          <a:prstGeom prst="rect">
            <a:avLst/>
          </a:prstGeom>
          <a:solidFill>
            <a:srgbClr val="D4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heatvalue:12:4"/>
          <p:cNvSpPr txBox="1"/>
          <p:nvPr/>
        </p:nvSpPr>
        <p:spPr>
          <a:xfrm>
            <a:off x="6146800" y="37210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84" name="heatcell:12:5"/>
          <p:cNvSpPr/>
          <p:nvPr/>
        </p:nvSpPr>
        <p:spPr>
          <a:xfrm>
            <a:off x="7150100" y="3721099"/>
            <a:ext cx="965200" cy="17145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heatcell:12:6"/>
          <p:cNvSpPr/>
          <p:nvPr/>
        </p:nvSpPr>
        <p:spPr>
          <a:xfrm>
            <a:off x="8153400" y="3721099"/>
            <a:ext cx="965200" cy="171450"/>
          </a:xfrm>
          <a:prstGeom prst="rect">
            <a:avLst/>
          </a:prstGeom>
          <a:solidFill>
            <a:srgbClr val="E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heatcell:12:7"/>
          <p:cNvSpPr/>
          <p:nvPr/>
        </p:nvSpPr>
        <p:spPr>
          <a:xfrm>
            <a:off x="9156700" y="3721099"/>
            <a:ext cx="965200" cy="171450"/>
          </a:xfrm>
          <a:prstGeom prst="rect">
            <a:avLst/>
          </a:prstGeom>
          <a:solidFill>
            <a:srgbClr val="DE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heatvalue:12:7"/>
          <p:cNvSpPr txBox="1"/>
          <p:nvPr/>
        </p:nvSpPr>
        <p:spPr>
          <a:xfrm>
            <a:off x="9156700" y="37210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88" name="heatcell:12:8"/>
          <p:cNvSpPr/>
          <p:nvPr/>
        </p:nvSpPr>
        <p:spPr>
          <a:xfrm>
            <a:off x="10160000" y="3721099"/>
            <a:ext cx="965200" cy="171450"/>
          </a:xfrm>
          <a:prstGeom prst="rect">
            <a:avLst/>
          </a:prstGeom>
          <a:solidFill>
            <a:srgbClr val="DF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heatvalue:12:8"/>
          <p:cNvSpPr txBox="1"/>
          <p:nvPr/>
        </p:nvSpPr>
        <p:spPr>
          <a:xfrm>
            <a:off x="10160000" y="37210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90" name="rowlabel:13"/>
          <p:cNvSpPr txBox="1"/>
          <p:nvPr/>
        </p:nvSpPr>
        <p:spPr>
          <a:xfrm>
            <a:off x="457200" y="39052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英国</a:t>
            </a:r>
          </a:p>
        </p:txBody>
      </p:sp>
      <p:sp>
        <p:nvSpPr>
          <p:cNvPr id="191" name="heatcell:13:0"/>
          <p:cNvSpPr/>
          <p:nvPr/>
        </p:nvSpPr>
        <p:spPr>
          <a:xfrm>
            <a:off x="2133600" y="390524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heatcell:13:1"/>
          <p:cNvSpPr/>
          <p:nvPr/>
        </p:nvSpPr>
        <p:spPr>
          <a:xfrm>
            <a:off x="3136900" y="3905249"/>
            <a:ext cx="965200" cy="171450"/>
          </a:xfrm>
          <a:prstGeom prst="rect">
            <a:avLst/>
          </a:prstGeom>
          <a:solidFill>
            <a:srgbClr val="B6B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heatvalue:13:1"/>
          <p:cNvSpPr txBox="1"/>
          <p:nvPr/>
        </p:nvSpPr>
        <p:spPr>
          <a:xfrm>
            <a:off x="3136900" y="39052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194" name="heatcell:13:2"/>
          <p:cNvSpPr/>
          <p:nvPr/>
        </p:nvSpPr>
        <p:spPr>
          <a:xfrm>
            <a:off x="4140200" y="3905249"/>
            <a:ext cx="965200" cy="171450"/>
          </a:xfrm>
          <a:prstGeom prst="rect">
            <a:avLst/>
          </a:prstGeom>
          <a:solidFill>
            <a:srgbClr val="EC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heatcell:13:3"/>
          <p:cNvSpPr/>
          <p:nvPr/>
        </p:nvSpPr>
        <p:spPr>
          <a:xfrm>
            <a:off x="5143500" y="3905249"/>
            <a:ext cx="965200" cy="171450"/>
          </a:xfrm>
          <a:prstGeom prst="rect">
            <a:avLst/>
          </a:prstGeom>
          <a:solidFill>
            <a:srgbClr val="DC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heatvalue:13:3"/>
          <p:cNvSpPr txBox="1"/>
          <p:nvPr/>
        </p:nvSpPr>
        <p:spPr>
          <a:xfrm>
            <a:off x="5143500" y="39052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97" name="heatcell:13:4"/>
          <p:cNvSpPr/>
          <p:nvPr/>
        </p:nvSpPr>
        <p:spPr>
          <a:xfrm>
            <a:off x="6146800" y="3905249"/>
            <a:ext cx="965200" cy="171450"/>
          </a:xfrm>
          <a:prstGeom prst="rect">
            <a:avLst/>
          </a:prstGeom>
          <a:solidFill>
            <a:srgbClr val="F1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heatcell:13:5"/>
          <p:cNvSpPr/>
          <p:nvPr/>
        </p:nvSpPr>
        <p:spPr>
          <a:xfrm>
            <a:off x="7150100" y="3905249"/>
            <a:ext cx="965200" cy="171450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heatvalue:13:5"/>
          <p:cNvSpPr txBox="1"/>
          <p:nvPr/>
        </p:nvSpPr>
        <p:spPr>
          <a:xfrm>
            <a:off x="7150100" y="39052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200" name="heatcell:13:6"/>
          <p:cNvSpPr/>
          <p:nvPr/>
        </p:nvSpPr>
        <p:spPr>
          <a:xfrm>
            <a:off x="8153400" y="39052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heatmissing:13:6"/>
          <p:cNvSpPr txBox="1"/>
          <p:nvPr/>
        </p:nvSpPr>
        <p:spPr>
          <a:xfrm>
            <a:off x="8153400" y="39052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02" name="heatcell:13:7"/>
          <p:cNvSpPr/>
          <p:nvPr/>
        </p:nvSpPr>
        <p:spPr>
          <a:xfrm>
            <a:off x="9156700" y="3905249"/>
            <a:ext cx="965200" cy="171450"/>
          </a:xfrm>
          <a:prstGeom prst="rect">
            <a:avLst/>
          </a:prstGeom>
          <a:solidFill>
            <a:srgbClr val="B9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heatvalue:13:7"/>
          <p:cNvSpPr txBox="1"/>
          <p:nvPr/>
        </p:nvSpPr>
        <p:spPr>
          <a:xfrm>
            <a:off x="9156700" y="39052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204" name="heatcell:13:8"/>
          <p:cNvSpPr/>
          <p:nvPr/>
        </p:nvSpPr>
        <p:spPr>
          <a:xfrm>
            <a:off x="10160000" y="3905249"/>
            <a:ext cx="965200" cy="171450"/>
          </a:xfrm>
          <a:prstGeom prst="rect">
            <a:avLst/>
          </a:prstGeom>
          <a:solidFill>
            <a:srgbClr val="E7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wlabel:14"/>
          <p:cNvSpPr txBox="1"/>
          <p:nvPr/>
        </p:nvSpPr>
        <p:spPr>
          <a:xfrm>
            <a:off x="457200" y="40893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越南</a:t>
            </a:r>
          </a:p>
        </p:txBody>
      </p:sp>
      <p:sp>
        <p:nvSpPr>
          <p:cNvPr id="206" name="heatcell:14:0"/>
          <p:cNvSpPr/>
          <p:nvPr/>
        </p:nvSpPr>
        <p:spPr>
          <a:xfrm>
            <a:off x="2133600" y="4089399"/>
            <a:ext cx="965200" cy="171450"/>
          </a:xfrm>
          <a:prstGeom prst="rect">
            <a:avLst/>
          </a:prstGeom>
          <a:solidFill>
            <a:srgbClr val="94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heatvalue:14:0"/>
          <p:cNvSpPr txBox="1"/>
          <p:nvPr/>
        </p:nvSpPr>
        <p:spPr>
          <a:xfrm>
            <a:off x="2133600" y="40893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48</a:t>
            </a:r>
          </a:p>
        </p:txBody>
      </p:sp>
      <p:sp>
        <p:nvSpPr>
          <p:cNvPr id="208" name="heatcell:14:1"/>
          <p:cNvSpPr/>
          <p:nvPr/>
        </p:nvSpPr>
        <p:spPr>
          <a:xfrm>
            <a:off x="3136900" y="4089399"/>
            <a:ext cx="965200" cy="171450"/>
          </a:xfrm>
          <a:prstGeom prst="rect">
            <a:avLst/>
          </a:prstGeom>
          <a:solidFill>
            <a:srgbClr val="E8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heatcell:14:2"/>
          <p:cNvSpPr/>
          <p:nvPr/>
        </p:nvSpPr>
        <p:spPr>
          <a:xfrm>
            <a:off x="4140200" y="40893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eatcell:14:3"/>
          <p:cNvSpPr/>
          <p:nvPr/>
        </p:nvSpPr>
        <p:spPr>
          <a:xfrm>
            <a:off x="5143500" y="40893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eatcell:14:4"/>
          <p:cNvSpPr/>
          <p:nvPr/>
        </p:nvSpPr>
        <p:spPr>
          <a:xfrm>
            <a:off x="6146800" y="4089399"/>
            <a:ext cx="965200" cy="171450"/>
          </a:xfrm>
          <a:prstGeom prst="rect">
            <a:avLst/>
          </a:prstGeom>
          <a:solidFill>
            <a:srgbClr val="B2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heatvalue:14:4"/>
          <p:cNvSpPr txBox="1"/>
          <p:nvPr/>
        </p:nvSpPr>
        <p:spPr>
          <a:xfrm>
            <a:off x="6146800" y="40893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213" name="heatcell:14:5"/>
          <p:cNvSpPr/>
          <p:nvPr/>
        </p:nvSpPr>
        <p:spPr>
          <a:xfrm>
            <a:off x="7150100" y="40893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heatcell:14:6"/>
          <p:cNvSpPr/>
          <p:nvPr/>
        </p:nvSpPr>
        <p:spPr>
          <a:xfrm>
            <a:off x="8153400" y="40893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heatmissing:14:6"/>
          <p:cNvSpPr txBox="1"/>
          <p:nvPr/>
        </p:nvSpPr>
        <p:spPr>
          <a:xfrm>
            <a:off x="8153400" y="40893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16" name="heatcell:14:7"/>
          <p:cNvSpPr/>
          <p:nvPr/>
        </p:nvSpPr>
        <p:spPr>
          <a:xfrm>
            <a:off x="9156700" y="4089399"/>
            <a:ext cx="965200" cy="17145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heatcell:14:8"/>
          <p:cNvSpPr/>
          <p:nvPr/>
        </p:nvSpPr>
        <p:spPr>
          <a:xfrm>
            <a:off x="10160000" y="4089399"/>
            <a:ext cx="965200" cy="171450"/>
          </a:xfrm>
          <a:prstGeom prst="rect">
            <a:avLst/>
          </a:prstGeom>
          <a:solidFill>
            <a:srgbClr val="E6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wlabel:15"/>
          <p:cNvSpPr txBox="1"/>
          <p:nvPr/>
        </p:nvSpPr>
        <p:spPr>
          <a:xfrm>
            <a:off x="457200" y="42735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意大利</a:t>
            </a:r>
          </a:p>
        </p:txBody>
      </p:sp>
      <p:sp>
        <p:nvSpPr>
          <p:cNvPr id="219" name="heatcell:15:0"/>
          <p:cNvSpPr/>
          <p:nvPr/>
        </p:nvSpPr>
        <p:spPr>
          <a:xfrm>
            <a:off x="2133600" y="4273549"/>
            <a:ext cx="965200" cy="171450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heatcell:15:1"/>
          <p:cNvSpPr/>
          <p:nvPr/>
        </p:nvSpPr>
        <p:spPr>
          <a:xfrm>
            <a:off x="3136900" y="4273549"/>
            <a:ext cx="965200" cy="171450"/>
          </a:xfrm>
          <a:prstGeom prst="rect">
            <a:avLst/>
          </a:prstGeom>
          <a:solidFill>
            <a:srgbClr val="969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heatvalue:15:1"/>
          <p:cNvSpPr txBox="1"/>
          <p:nvPr/>
        </p:nvSpPr>
        <p:spPr>
          <a:xfrm>
            <a:off x="3136900" y="42735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47</a:t>
            </a:r>
          </a:p>
        </p:txBody>
      </p:sp>
      <p:sp>
        <p:nvSpPr>
          <p:cNvPr id="222" name="heatcell:15:2"/>
          <p:cNvSpPr/>
          <p:nvPr/>
        </p:nvSpPr>
        <p:spPr>
          <a:xfrm>
            <a:off x="4140200" y="4273549"/>
            <a:ext cx="965200" cy="171450"/>
          </a:xfrm>
          <a:prstGeom prst="rect">
            <a:avLst/>
          </a:prstGeom>
          <a:solidFill>
            <a:srgbClr val="E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heatcell:15:3"/>
          <p:cNvSpPr/>
          <p:nvPr/>
        </p:nvSpPr>
        <p:spPr>
          <a:xfrm>
            <a:off x="5143500" y="42735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heatcell:15:4"/>
          <p:cNvSpPr/>
          <p:nvPr/>
        </p:nvSpPr>
        <p:spPr>
          <a:xfrm>
            <a:off x="6146800" y="4273549"/>
            <a:ext cx="965200" cy="171450"/>
          </a:xfrm>
          <a:prstGeom prst="rect">
            <a:avLst/>
          </a:prstGeom>
          <a:solidFill>
            <a:srgbClr val="D5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heatvalue:15:4"/>
          <p:cNvSpPr txBox="1"/>
          <p:nvPr/>
        </p:nvSpPr>
        <p:spPr>
          <a:xfrm>
            <a:off x="6146800" y="42735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226" name="heatcell:15:5"/>
          <p:cNvSpPr/>
          <p:nvPr/>
        </p:nvSpPr>
        <p:spPr>
          <a:xfrm>
            <a:off x="7150100" y="4273549"/>
            <a:ext cx="965200" cy="171450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heatcell:15:6"/>
          <p:cNvSpPr/>
          <p:nvPr/>
        </p:nvSpPr>
        <p:spPr>
          <a:xfrm>
            <a:off x="8153400" y="4273549"/>
            <a:ext cx="965200" cy="171450"/>
          </a:xfrm>
          <a:prstGeom prst="rect">
            <a:avLst/>
          </a:prstGeom>
          <a:solidFill>
            <a:srgbClr val="F0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heatcell:15:7"/>
          <p:cNvSpPr/>
          <p:nvPr/>
        </p:nvSpPr>
        <p:spPr>
          <a:xfrm>
            <a:off x="9156700" y="4273549"/>
            <a:ext cx="965200" cy="171450"/>
          </a:xfrm>
          <a:prstGeom prst="rect">
            <a:avLst/>
          </a:prstGeom>
          <a:solidFill>
            <a:srgbClr val="E4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heatcell:15:8"/>
          <p:cNvSpPr/>
          <p:nvPr/>
        </p:nvSpPr>
        <p:spPr>
          <a:xfrm>
            <a:off x="10160000" y="4273549"/>
            <a:ext cx="965200" cy="171450"/>
          </a:xfrm>
          <a:prstGeom prst="rect">
            <a:avLst/>
          </a:prstGeom>
          <a:solidFill>
            <a:srgbClr val="D3D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heatvalue:15:8"/>
          <p:cNvSpPr txBox="1"/>
          <p:nvPr/>
        </p:nvSpPr>
        <p:spPr>
          <a:xfrm>
            <a:off x="10160000" y="42735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231" name="rowlabel:16"/>
          <p:cNvSpPr txBox="1"/>
          <p:nvPr/>
        </p:nvSpPr>
        <p:spPr>
          <a:xfrm>
            <a:off x="449580" y="44576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中国台湾</a:t>
            </a:r>
          </a:p>
        </p:txBody>
      </p:sp>
      <p:sp>
        <p:nvSpPr>
          <p:cNvPr id="232" name="heatcell:16:0"/>
          <p:cNvSpPr/>
          <p:nvPr/>
        </p:nvSpPr>
        <p:spPr>
          <a:xfrm>
            <a:off x="2133600" y="4457699"/>
            <a:ext cx="965200" cy="171450"/>
          </a:xfrm>
          <a:prstGeom prst="rect">
            <a:avLst/>
          </a:prstGeom>
          <a:solidFill>
            <a:srgbClr val="ACB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heatvalue:16:0"/>
          <p:cNvSpPr txBox="1"/>
          <p:nvPr/>
        </p:nvSpPr>
        <p:spPr>
          <a:xfrm>
            <a:off x="2133600" y="44576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36</a:t>
            </a:r>
          </a:p>
        </p:txBody>
      </p:sp>
      <p:sp>
        <p:nvSpPr>
          <p:cNvPr id="234" name="heatcell:16:1"/>
          <p:cNvSpPr/>
          <p:nvPr/>
        </p:nvSpPr>
        <p:spPr>
          <a:xfrm>
            <a:off x="3136900" y="4457699"/>
            <a:ext cx="965200" cy="171450"/>
          </a:xfrm>
          <a:prstGeom prst="rect">
            <a:avLst/>
          </a:prstGeom>
          <a:solidFill>
            <a:srgbClr val="92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heatvalue:16:1"/>
          <p:cNvSpPr txBox="1"/>
          <p:nvPr/>
        </p:nvSpPr>
        <p:spPr>
          <a:xfrm>
            <a:off x="3136900" y="44576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49</a:t>
            </a:r>
          </a:p>
        </p:txBody>
      </p:sp>
      <p:sp>
        <p:nvSpPr>
          <p:cNvPr id="236" name="heatcell:16:2"/>
          <p:cNvSpPr/>
          <p:nvPr/>
        </p:nvSpPr>
        <p:spPr>
          <a:xfrm>
            <a:off x="4140200" y="4457699"/>
            <a:ext cx="965200" cy="171450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heatcell:16:3"/>
          <p:cNvSpPr/>
          <p:nvPr/>
        </p:nvSpPr>
        <p:spPr>
          <a:xfrm>
            <a:off x="5143500" y="4457699"/>
            <a:ext cx="965200" cy="171450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heatcell:16:4"/>
          <p:cNvSpPr/>
          <p:nvPr/>
        </p:nvSpPr>
        <p:spPr>
          <a:xfrm>
            <a:off x="6146800" y="4457699"/>
            <a:ext cx="965200" cy="171450"/>
          </a:xfrm>
          <a:prstGeom prst="rect">
            <a:avLst/>
          </a:prstGeom>
          <a:solidFill>
            <a:srgbClr val="F1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heatcell:16:5"/>
          <p:cNvSpPr/>
          <p:nvPr/>
        </p:nvSpPr>
        <p:spPr>
          <a:xfrm>
            <a:off x="7150100" y="4457699"/>
            <a:ext cx="965200" cy="171450"/>
          </a:xfrm>
          <a:prstGeom prst="rect">
            <a:avLst/>
          </a:prstGeom>
          <a:solidFill>
            <a:srgbClr val="F3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heatcell:16:6"/>
          <p:cNvSpPr/>
          <p:nvPr/>
        </p:nvSpPr>
        <p:spPr>
          <a:xfrm>
            <a:off x="8153400" y="44576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heatmissing:16:6"/>
          <p:cNvSpPr txBox="1"/>
          <p:nvPr/>
        </p:nvSpPr>
        <p:spPr>
          <a:xfrm>
            <a:off x="8153400" y="44576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42" name="heatcell:16:7"/>
          <p:cNvSpPr/>
          <p:nvPr/>
        </p:nvSpPr>
        <p:spPr>
          <a:xfrm>
            <a:off x="9156700" y="4457699"/>
            <a:ext cx="965200" cy="171450"/>
          </a:xfrm>
          <a:prstGeom prst="rect">
            <a:avLst/>
          </a:prstGeom>
          <a:solidFill>
            <a:srgbClr val="EC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heatcell:16:8"/>
          <p:cNvSpPr/>
          <p:nvPr/>
        </p:nvSpPr>
        <p:spPr>
          <a:xfrm>
            <a:off x="10160000" y="4457699"/>
            <a:ext cx="965200" cy="171450"/>
          </a:xfrm>
          <a:prstGeom prst="rect">
            <a:avLst/>
          </a:prstGeom>
          <a:solidFill>
            <a:srgbClr val="EA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owlabel:17"/>
          <p:cNvSpPr txBox="1"/>
          <p:nvPr/>
        </p:nvSpPr>
        <p:spPr>
          <a:xfrm>
            <a:off x="457200" y="46418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澳大利亚</a:t>
            </a:r>
          </a:p>
        </p:txBody>
      </p:sp>
      <p:sp>
        <p:nvSpPr>
          <p:cNvPr id="245" name="heatcell:17:0"/>
          <p:cNvSpPr/>
          <p:nvPr/>
        </p:nvSpPr>
        <p:spPr>
          <a:xfrm>
            <a:off x="2133600" y="4641849"/>
            <a:ext cx="965200" cy="171450"/>
          </a:xfrm>
          <a:prstGeom prst="rect">
            <a:avLst/>
          </a:prstGeom>
          <a:solidFill>
            <a:srgbClr val="9FA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heatvalue:17:0"/>
          <p:cNvSpPr txBox="1"/>
          <p:nvPr/>
        </p:nvSpPr>
        <p:spPr>
          <a:xfrm>
            <a:off x="2133600" y="46418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43</a:t>
            </a:r>
          </a:p>
        </p:txBody>
      </p:sp>
      <p:sp>
        <p:nvSpPr>
          <p:cNvPr id="247" name="heatcell:17:1"/>
          <p:cNvSpPr/>
          <p:nvPr/>
        </p:nvSpPr>
        <p:spPr>
          <a:xfrm>
            <a:off x="3136900" y="4641849"/>
            <a:ext cx="965200" cy="171450"/>
          </a:xfrm>
          <a:prstGeom prst="rect">
            <a:avLst/>
          </a:prstGeom>
          <a:solidFill>
            <a:srgbClr val="D3D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heatvalue:17:1"/>
          <p:cNvSpPr txBox="1"/>
          <p:nvPr/>
        </p:nvSpPr>
        <p:spPr>
          <a:xfrm>
            <a:off x="3136900" y="46418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249" name="heatcell:17:2"/>
          <p:cNvSpPr/>
          <p:nvPr/>
        </p:nvSpPr>
        <p:spPr>
          <a:xfrm>
            <a:off x="4140200" y="4641849"/>
            <a:ext cx="965200" cy="17145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heatcell:17:3"/>
          <p:cNvSpPr/>
          <p:nvPr/>
        </p:nvSpPr>
        <p:spPr>
          <a:xfrm>
            <a:off x="5143500" y="46418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heatmissing:17:3"/>
          <p:cNvSpPr txBox="1"/>
          <p:nvPr/>
        </p:nvSpPr>
        <p:spPr>
          <a:xfrm>
            <a:off x="5143500" y="46418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52" name="heatcell:17:4"/>
          <p:cNvSpPr/>
          <p:nvPr/>
        </p:nvSpPr>
        <p:spPr>
          <a:xfrm>
            <a:off x="6146800" y="4641849"/>
            <a:ext cx="965200" cy="171450"/>
          </a:xfrm>
          <a:prstGeom prst="rect">
            <a:avLst/>
          </a:prstGeom>
          <a:solidFill>
            <a:srgbClr val="EC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heatcell:17:5"/>
          <p:cNvSpPr/>
          <p:nvPr/>
        </p:nvSpPr>
        <p:spPr>
          <a:xfrm>
            <a:off x="7150100" y="4641849"/>
            <a:ext cx="965200" cy="171450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heatcell:17:6"/>
          <p:cNvSpPr/>
          <p:nvPr/>
        </p:nvSpPr>
        <p:spPr>
          <a:xfrm>
            <a:off x="8153400" y="46418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heatmissing:17:6"/>
          <p:cNvSpPr txBox="1"/>
          <p:nvPr/>
        </p:nvSpPr>
        <p:spPr>
          <a:xfrm>
            <a:off x="8153400" y="46418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56" name="heatcell:17:7"/>
          <p:cNvSpPr/>
          <p:nvPr/>
        </p:nvSpPr>
        <p:spPr>
          <a:xfrm>
            <a:off x="9156700" y="4641849"/>
            <a:ext cx="965200" cy="171450"/>
          </a:xfrm>
          <a:prstGeom prst="rect">
            <a:avLst/>
          </a:prstGeom>
          <a:solidFill>
            <a:srgbClr val="D9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heatvalue:17:7"/>
          <p:cNvSpPr txBox="1"/>
          <p:nvPr/>
        </p:nvSpPr>
        <p:spPr>
          <a:xfrm>
            <a:off x="9156700" y="46418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258" name="heatcell:17:8"/>
          <p:cNvSpPr/>
          <p:nvPr/>
        </p:nvSpPr>
        <p:spPr>
          <a:xfrm>
            <a:off x="10160000" y="4641849"/>
            <a:ext cx="965200" cy="171450"/>
          </a:xfrm>
          <a:prstGeom prst="rect">
            <a:avLst/>
          </a:prstGeom>
          <a:solidFill>
            <a:srgbClr val="CDD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heatvalue:17:8"/>
          <p:cNvSpPr txBox="1"/>
          <p:nvPr/>
        </p:nvSpPr>
        <p:spPr>
          <a:xfrm>
            <a:off x="10160000" y="46418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260" name="rowlabel:18"/>
          <p:cNvSpPr txBox="1"/>
          <p:nvPr/>
        </p:nvSpPr>
        <p:spPr>
          <a:xfrm>
            <a:off x="457200" y="48259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西班牙</a:t>
            </a:r>
          </a:p>
        </p:txBody>
      </p:sp>
      <p:sp>
        <p:nvSpPr>
          <p:cNvPr id="261" name="heatcell:18:0"/>
          <p:cNvSpPr/>
          <p:nvPr/>
        </p:nvSpPr>
        <p:spPr>
          <a:xfrm>
            <a:off x="2133600" y="48259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heatcell:18:1"/>
          <p:cNvSpPr/>
          <p:nvPr/>
        </p:nvSpPr>
        <p:spPr>
          <a:xfrm>
            <a:off x="3136900" y="4825999"/>
            <a:ext cx="965200" cy="171450"/>
          </a:xfrm>
          <a:prstGeom prst="rect">
            <a:avLst/>
          </a:prstGeom>
          <a:solidFill>
            <a:srgbClr val="C9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heatvalue:18:1"/>
          <p:cNvSpPr txBox="1"/>
          <p:nvPr/>
        </p:nvSpPr>
        <p:spPr>
          <a:xfrm>
            <a:off x="3136900" y="48259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264" name="heatcell:18:2"/>
          <p:cNvSpPr/>
          <p:nvPr/>
        </p:nvSpPr>
        <p:spPr>
          <a:xfrm>
            <a:off x="4140200" y="4825999"/>
            <a:ext cx="965200" cy="171450"/>
          </a:xfrm>
          <a:prstGeom prst="rect">
            <a:avLst/>
          </a:prstGeom>
          <a:solidFill>
            <a:srgbClr val="ED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heatcell:18:3"/>
          <p:cNvSpPr/>
          <p:nvPr/>
        </p:nvSpPr>
        <p:spPr>
          <a:xfrm>
            <a:off x="5143500" y="4825999"/>
            <a:ext cx="965200" cy="171450"/>
          </a:xfrm>
          <a:prstGeom prst="rect">
            <a:avLst/>
          </a:prstGeom>
          <a:solidFill>
            <a:srgbClr val="C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heatvalue:18:3"/>
          <p:cNvSpPr txBox="1"/>
          <p:nvPr/>
        </p:nvSpPr>
        <p:spPr>
          <a:xfrm>
            <a:off x="5143500" y="48259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267" name="heatcell:18:4"/>
          <p:cNvSpPr/>
          <p:nvPr/>
        </p:nvSpPr>
        <p:spPr>
          <a:xfrm>
            <a:off x="6146800" y="4825999"/>
            <a:ext cx="965200" cy="171450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heatvalue:18:4"/>
          <p:cNvSpPr txBox="1"/>
          <p:nvPr/>
        </p:nvSpPr>
        <p:spPr>
          <a:xfrm>
            <a:off x="6146800" y="48259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69" name="heatcell:18:5"/>
          <p:cNvSpPr/>
          <p:nvPr/>
        </p:nvSpPr>
        <p:spPr>
          <a:xfrm>
            <a:off x="7150100" y="4825999"/>
            <a:ext cx="965200" cy="17145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heatcell:18:6"/>
          <p:cNvSpPr/>
          <p:nvPr/>
        </p:nvSpPr>
        <p:spPr>
          <a:xfrm>
            <a:off x="8153400" y="48259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heatcell:18:7"/>
          <p:cNvSpPr/>
          <p:nvPr/>
        </p:nvSpPr>
        <p:spPr>
          <a:xfrm>
            <a:off x="9156700" y="4825999"/>
            <a:ext cx="965200" cy="171450"/>
          </a:xfrm>
          <a:prstGeom prst="rect">
            <a:avLst/>
          </a:prstGeom>
          <a:solidFill>
            <a:srgbClr val="CBC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heatvalue:18:7"/>
          <p:cNvSpPr txBox="1"/>
          <p:nvPr/>
        </p:nvSpPr>
        <p:spPr>
          <a:xfrm>
            <a:off x="9156700" y="48259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273" name="heatcell:18:8"/>
          <p:cNvSpPr/>
          <p:nvPr/>
        </p:nvSpPr>
        <p:spPr>
          <a:xfrm>
            <a:off x="10160000" y="4825999"/>
            <a:ext cx="965200" cy="171450"/>
          </a:xfrm>
          <a:prstGeom prst="rect">
            <a:avLst/>
          </a:prstGeom>
          <a:solidFill>
            <a:srgbClr val="C9C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heatvalue:18:8"/>
          <p:cNvSpPr txBox="1"/>
          <p:nvPr/>
        </p:nvSpPr>
        <p:spPr>
          <a:xfrm>
            <a:off x="10160000" y="48259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275" name="rowlabel:19"/>
          <p:cNvSpPr txBox="1"/>
          <p:nvPr/>
        </p:nvSpPr>
        <p:spPr>
          <a:xfrm>
            <a:off x="457200" y="50101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埃及</a:t>
            </a:r>
          </a:p>
        </p:txBody>
      </p:sp>
      <p:sp>
        <p:nvSpPr>
          <p:cNvPr id="276" name="heatcell:19:0"/>
          <p:cNvSpPr/>
          <p:nvPr/>
        </p:nvSpPr>
        <p:spPr>
          <a:xfrm>
            <a:off x="2133600" y="50101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heatcell:19:1"/>
          <p:cNvSpPr/>
          <p:nvPr/>
        </p:nvSpPr>
        <p:spPr>
          <a:xfrm>
            <a:off x="3136900" y="5010149"/>
            <a:ext cx="965200" cy="171450"/>
          </a:xfrm>
          <a:prstGeom prst="rect">
            <a:avLst/>
          </a:prstGeom>
          <a:solidFill>
            <a:srgbClr val="556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heatvalue:19:1"/>
          <p:cNvSpPr txBox="1"/>
          <p:nvPr/>
        </p:nvSpPr>
        <p:spPr>
          <a:xfrm>
            <a:off x="3136900" y="50101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79</a:t>
            </a:r>
          </a:p>
        </p:txBody>
      </p:sp>
      <p:sp>
        <p:nvSpPr>
          <p:cNvPr id="279" name="heatcell:19:2"/>
          <p:cNvSpPr/>
          <p:nvPr/>
        </p:nvSpPr>
        <p:spPr>
          <a:xfrm>
            <a:off x="4140200" y="5010149"/>
            <a:ext cx="965200" cy="171450"/>
          </a:xfrm>
          <a:prstGeom prst="rect">
            <a:avLst/>
          </a:prstGeom>
          <a:solidFill>
            <a:srgbClr val="E6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heatcell:19:3"/>
          <p:cNvSpPr/>
          <p:nvPr/>
        </p:nvSpPr>
        <p:spPr>
          <a:xfrm>
            <a:off x="5143500" y="50101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heatmissing:19:3"/>
          <p:cNvSpPr txBox="1"/>
          <p:nvPr/>
        </p:nvSpPr>
        <p:spPr>
          <a:xfrm>
            <a:off x="5143500" y="50101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82" name="heatcell:19:4"/>
          <p:cNvSpPr/>
          <p:nvPr/>
        </p:nvSpPr>
        <p:spPr>
          <a:xfrm>
            <a:off x="6146800" y="5010149"/>
            <a:ext cx="965200" cy="171450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heatcell:19:5"/>
          <p:cNvSpPr/>
          <p:nvPr/>
        </p:nvSpPr>
        <p:spPr>
          <a:xfrm>
            <a:off x="7150100" y="50101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heatcell:19:6"/>
          <p:cNvSpPr/>
          <p:nvPr/>
        </p:nvSpPr>
        <p:spPr>
          <a:xfrm>
            <a:off x="8153400" y="50101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heatmissing:19:6"/>
          <p:cNvSpPr txBox="1"/>
          <p:nvPr/>
        </p:nvSpPr>
        <p:spPr>
          <a:xfrm>
            <a:off x="8153400" y="50101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86" name="heatcell:19:7"/>
          <p:cNvSpPr/>
          <p:nvPr/>
        </p:nvSpPr>
        <p:spPr>
          <a:xfrm>
            <a:off x="9156700" y="5010149"/>
            <a:ext cx="965200" cy="171450"/>
          </a:xfrm>
          <a:prstGeom prst="rect">
            <a:avLst/>
          </a:prstGeom>
          <a:solidFill>
            <a:srgbClr val="EC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heatcell:19:8"/>
          <p:cNvSpPr/>
          <p:nvPr/>
        </p:nvSpPr>
        <p:spPr>
          <a:xfrm>
            <a:off x="10160000" y="5010149"/>
            <a:ext cx="965200" cy="171450"/>
          </a:xfrm>
          <a:prstGeom prst="rect">
            <a:avLst/>
          </a:prstGeom>
          <a:solidFill>
            <a:srgbClr val="EE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owlabel:20"/>
          <p:cNvSpPr txBox="1"/>
          <p:nvPr/>
        </p:nvSpPr>
        <p:spPr>
          <a:xfrm>
            <a:off x="457200" y="51942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南非</a:t>
            </a:r>
          </a:p>
        </p:txBody>
      </p:sp>
      <p:sp>
        <p:nvSpPr>
          <p:cNvPr id="289" name="heatcell:20:0"/>
          <p:cNvSpPr/>
          <p:nvPr/>
        </p:nvSpPr>
        <p:spPr>
          <a:xfrm>
            <a:off x="2133600" y="5194299"/>
            <a:ext cx="965200" cy="171450"/>
          </a:xfrm>
          <a:prstGeom prst="rect">
            <a:avLst/>
          </a:prstGeom>
          <a:solidFill>
            <a:srgbClr val="516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heatvalue:20:0"/>
          <p:cNvSpPr txBox="1"/>
          <p:nvPr/>
        </p:nvSpPr>
        <p:spPr>
          <a:xfrm>
            <a:off x="2133600" y="51942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81</a:t>
            </a:r>
          </a:p>
        </p:txBody>
      </p:sp>
      <p:sp>
        <p:nvSpPr>
          <p:cNvPr id="291" name="heatcell:20:1"/>
          <p:cNvSpPr/>
          <p:nvPr/>
        </p:nvSpPr>
        <p:spPr>
          <a:xfrm>
            <a:off x="3136900" y="51942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heatcell:20:2"/>
          <p:cNvSpPr/>
          <p:nvPr/>
        </p:nvSpPr>
        <p:spPr>
          <a:xfrm>
            <a:off x="4140200" y="5194299"/>
            <a:ext cx="965200" cy="17145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heatcell:20:3"/>
          <p:cNvSpPr/>
          <p:nvPr/>
        </p:nvSpPr>
        <p:spPr>
          <a:xfrm>
            <a:off x="5143500" y="5194299"/>
            <a:ext cx="965200" cy="171450"/>
          </a:xfrm>
          <a:prstGeom prst="rect">
            <a:avLst/>
          </a:prstGeom>
          <a:solidFill>
            <a:srgbClr val="EC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heatcell:20:4"/>
          <p:cNvSpPr/>
          <p:nvPr/>
        </p:nvSpPr>
        <p:spPr>
          <a:xfrm>
            <a:off x="6146800" y="5194299"/>
            <a:ext cx="965200" cy="17145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heatcell:20:5"/>
          <p:cNvSpPr/>
          <p:nvPr/>
        </p:nvSpPr>
        <p:spPr>
          <a:xfrm>
            <a:off x="7150100" y="51942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heatcell:20:6"/>
          <p:cNvSpPr/>
          <p:nvPr/>
        </p:nvSpPr>
        <p:spPr>
          <a:xfrm>
            <a:off x="8153400" y="51942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heatmissing:20:6"/>
          <p:cNvSpPr txBox="1"/>
          <p:nvPr/>
        </p:nvSpPr>
        <p:spPr>
          <a:xfrm>
            <a:off x="8153400" y="51942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98" name="heatcell:20:7"/>
          <p:cNvSpPr/>
          <p:nvPr/>
        </p:nvSpPr>
        <p:spPr>
          <a:xfrm>
            <a:off x="9156700" y="5194299"/>
            <a:ext cx="965200" cy="17145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heatcell:20:8"/>
          <p:cNvSpPr/>
          <p:nvPr/>
        </p:nvSpPr>
        <p:spPr>
          <a:xfrm>
            <a:off x="10160000" y="5194299"/>
            <a:ext cx="965200" cy="171450"/>
          </a:xfrm>
          <a:prstGeom prst="rect">
            <a:avLst/>
          </a:prstGeom>
          <a:solidFill>
            <a:srgbClr val="E4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wlabel:21"/>
          <p:cNvSpPr txBox="1"/>
          <p:nvPr/>
        </p:nvSpPr>
        <p:spPr>
          <a:xfrm>
            <a:off x="457200" y="53784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泰国</a:t>
            </a:r>
          </a:p>
        </p:txBody>
      </p:sp>
      <p:sp>
        <p:nvSpPr>
          <p:cNvPr id="301" name="heatcell:21:0"/>
          <p:cNvSpPr/>
          <p:nvPr/>
        </p:nvSpPr>
        <p:spPr>
          <a:xfrm>
            <a:off x="2133600" y="5378449"/>
            <a:ext cx="965200" cy="171450"/>
          </a:xfrm>
          <a:prstGeom prst="rect">
            <a:avLst/>
          </a:prstGeom>
          <a:solidFill>
            <a:srgbClr val="D1D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heatvalue:21:0"/>
          <p:cNvSpPr txBox="1"/>
          <p:nvPr/>
        </p:nvSpPr>
        <p:spPr>
          <a:xfrm>
            <a:off x="2133600" y="53784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303" name="heatcell:21:1"/>
          <p:cNvSpPr/>
          <p:nvPr/>
        </p:nvSpPr>
        <p:spPr>
          <a:xfrm>
            <a:off x="3136900" y="5378449"/>
            <a:ext cx="965200" cy="171450"/>
          </a:xfrm>
          <a:prstGeom prst="rect">
            <a:avLst/>
          </a:prstGeom>
          <a:solidFill>
            <a:srgbClr val="71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heatvalue:21:1"/>
          <p:cNvSpPr txBox="1"/>
          <p:nvPr/>
        </p:nvSpPr>
        <p:spPr>
          <a:xfrm>
            <a:off x="3136900" y="53784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65</a:t>
            </a:r>
          </a:p>
        </p:txBody>
      </p:sp>
      <p:sp>
        <p:nvSpPr>
          <p:cNvPr id="305" name="heatcell:21:2"/>
          <p:cNvSpPr/>
          <p:nvPr/>
        </p:nvSpPr>
        <p:spPr>
          <a:xfrm>
            <a:off x="4140200" y="537844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heatcell:21:3"/>
          <p:cNvSpPr/>
          <p:nvPr/>
        </p:nvSpPr>
        <p:spPr>
          <a:xfrm>
            <a:off x="5143500" y="53784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heatmissing:21:3"/>
          <p:cNvSpPr txBox="1"/>
          <p:nvPr/>
        </p:nvSpPr>
        <p:spPr>
          <a:xfrm>
            <a:off x="5143500" y="53784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08" name="heatcell:21:4"/>
          <p:cNvSpPr/>
          <p:nvPr/>
        </p:nvSpPr>
        <p:spPr>
          <a:xfrm>
            <a:off x="6146800" y="5378449"/>
            <a:ext cx="965200" cy="171450"/>
          </a:xfrm>
          <a:prstGeom prst="rect">
            <a:avLst/>
          </a:prstGeom>
          <a:solidFill>
            <a:srgbClr val="EC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heatcell:21:5"/>
          <p:cNvSpPr/>
          <p:nvPr/>
        </p:nvSpPr>
        <p:spPr>
          <a:xfrm>
            <a:off x="7150100" y="5378449"/>
            <a:ext cx="965200" cy="171450"/>
          </a:xfrm>
          <a:prstGeom prst="rect">
            <a:avLst/>
          </a:prstGeom>
          <a:solidFill>
            <a:srgbClr val="E9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heatcell:21:6"/>
          <p:cNvSpPr/>
          <p:nvPr/>
        </p:nvSpPr>
        <p:spPr>
          <a:xfrm>
            <a:off x="8153400" y="53784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heatmissing:21:6"/>
          <p:cNvSpPr txBox="1"/>
          <p:nvPr/>
        </p:nvSpPr>
        <p:spPr>
          <a:xfrm>
            <a:off x="8153400" y="53784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12" name="heatcell:21:7"/>
          <p:cNvSpPr/>
          <p:nvPr/>
        </p:nvSpPr>
        <p:spPr>
          <a:xfrm>
            <a:off x="9156700" y="5378449"/>
            <a:ext cx="965200" cy="171450"/>
          </a:xfrm>
          <a:prstGeom prst="rect">
            <a:avLst/>
          </a:prstGeom>
          <a:solidFill>
            <a:srgbClr val="F1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heatcell:21:8"/>
          <p:cNvSpPr/>
          <p:nvPr/>
        </p:nvSpPr>
        <p:spPr>
          <a:xfrm>
            <a:off x="10160000" y="5378449"/>
            <a:ext cx="965200" cy="171450"/>
          </a:xfrm>
          <a:prstGeom prst="rect">
            <a:avLst/>
          </a:prstGeom>
          <a:solidFill>
            <a:srgbClr val="EB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owlabel:22"/>
          <p:cNvSpPr txBox="1"/>
          <p:nvPr/>
        </p:nvSpPr>
        <p:spPr>
          <a:xfrm>
            <a:off x="457200" y="55625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马来西亚</a:t>
            </a:r>
          </a:p>
        </p:txBody>
      </p:sp>
      <p:sp>
        <p:nvSpPr>
          <p:cNvPr id="315" name="heatcell:22:0"/>
          <p:cNvSpPr/>
          <p:nvPr/>
        </p:nvSpPr>
        <p:spPr>
          <a:xfrm>
            <a:off x="2133600" y="5562599"/>
            <a:ext cx="965200" cy="171450"/>
          </a:xfrm>
          <a:prstGeom prst="rect">
            <a:avLst/>
          </a:prstGeom>
          <a:solidFill>
            <a:srgbClr val="9BA3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heatvalue:22:0"/>
          <p:cNvSpPr txBox="1"/>
          <p:nvPr/>
        </p:nvSpPr>
        <p:spPr>
          <a:xfrm>
            <a:off x="2133600" y="55625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45</a:t>
            </a:r>
          </a:p>
        </p:txBody>
      </p:sp>
      <p:sp>
        <p:nvSpPr>
          <p:cNvPr id="317" name="heatcell:22:1"/>
          <p:cNvSpPr/>
          <p:nvPr/>
        </p:nvSpPr>
        <p:spPr>
          <a:xfrm>
            <a:off x="3136900" y="5562599"/>
            <a:ext cx="965200" cy="171450"/>
          </a:xfrm>
          <a:prstGeom prst="rect">
            <a:avLst/>
          </a:prstGeom>
          <a:solidFill>
            <a:srgbClr val="B1B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heatvalue:22:1"/>
          <p:cNvSpPr txBox="1"/>
          <p:nvPr/>
        </p:nvSpPr>
        <p:spPr>
          <a:xfrm>
            <a:off x="3136900" y="55625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34</a:t>
            </a:r>
          </a:p>
        </p:txBody>
      </p:sp>
      <p:sp>
        <p:nvSpPr>
          <p:cNvPr id="319" name="heatcell:22:2"/>
          <p:cNvSpPr/>
          <p:nvPr/>
        </p:nvSpPr>
        <p:spPr>
          <a:xfrm>
            <a:off x="4140200" y="5562599"/>
            <a:ext cx="965200" cy="171450"/>
          </a:xfrm>
          <a:prstGeom prst="rect">
            <a:avLst/>
          </a:prstGeom>
          <a:solidFill>
            <a:srgbClr val="F2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heatcell:22:3"/>
          <p:cNvSpPr/>
          <p:nvPr/>
        </p:nvSpPr>
        <p:spPr>
          <a:xfrm>
            <a:off x="5143500" y="55625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heatmissing:22:3"/>
          <p:cNvSpPr txBox="1"/>
          <p:nvPr/>
        </p:nvSpPr>
        <p:spPr>
          <a:xfrm>
            <a:off x="5143500" y="55625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22" name="heatcell:22:4"/>
          <p:cNvSpPr/>
          <p:nvPr/>
        </p:nvSpPr>
        <p:spPr>
          <a:xfrm>
            <a:off x="6146800" y="5562599"/>
            <a:ext cx="965200" cy="171450"/>
          </a:xfrm>
          <a:prstGeom prst="rect">
            <a:avLst/>
          </a:prstGeom>
          <a:solidFill>
            <a:srgbClr val="D1D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heatvalue:22:4"/>
          <p:cNvSpPr txBox="1"/>
          <p:nvPr/>
        </p:nvSpPr>
        <p:spPr>
          <a:xfrm>
            <a:off x="6146800" y="55625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324" name="heatcell:22:5"/>
          <p:cNvSpPr/>
          <p:nvPr/>
        </p:nvSpPr>
        <p:spPr>
          <a:xfrm>
            <a:off x="7150100" y="5562599"/>
            <a:ext cx="965200" cy="17145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heatcell:22:6"/>
          <p:cNvSpPr/>
          <p:nvPr/>
        </p:nvSpPr>
        <p:spPr>
          <a:xfrm>
            <a:off x="8153400" y="55625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heatmissing:22:6"/>
          <p:cNvSpPr txBox="1"/>
          <p:nvPr/>
        </p:nvSpPr>
        <p:spPr>
          <a:xfrm>
            <a:off x="8153400" y="55625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27" name="heatcell:22:7"/>
          <p:cNvSpPr/>
          <p:nvPr/>
        </p:nvSpPr>
        <p:spPr>
          <a:xfrm>
            <a:off x="9156700" y="55625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heatcell:22:8"/>
          <p:cNvSpPr/>
          <p:nvPr/>
        </p:nvSpPr>
        <p:spPr>
          <a:xfrm>
            <a:off x="10160000" y="5562599"/>
            <a:ext cx="965200" cy="17145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owlabel:23"/>
          <p:cNvSpPr txBox="1"/>
          <p:nvPr/>
        </p:nvSpPr>
        <p:spPr>
          <a:xfrm>
            <a:off x="441960" y="574674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巴基斯坦</a:t>
            </a:r>
          </a:p>
        </p:txBody>
      </p:sp>
      <p:sp>
        <p:nvSpPr>
          <p:cNvPr id="330" name="heatcell:23:0"/>
          <p:cNvSpPr/>
          <p:nvPr/>
        </p:nvSpPr>
        <p:spPr>
          <a:xfrm>
            <a:off x="2133600" y="5746749"/>
            <a:ext cx="965200" cy="171450"/>
          </a:xfrm>
          <a:prstGeom prst="rect">
            <a:avLst/>
          </a:prstGeom>
          <a:solidFill>
            <a:srgbClr val="D7D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heatvalue:23:0"/>
          <p:cNvSpPr txBox="1"/>
          <p:nvPr/>
        </p:nvSpPr>
        <p:spPr>
          <a:xfrm>
            <a:off x="2133600" y="5746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332" name="heatcell:23:1"/>
          <p:cNvSpPr/>
          <p:nvPr/>
        </p:nvSpPr>
        <p:spPr>
          <a:xfrm>
            <a:off x="3136900" y="5746749"/>
            <a:ext cx="965200" cy="171450"/>
          </a:xfrm>
          <a:prstGeom prst="rect">
            <a:avLst/>
          </a:prstGeom>
          <a:solidFill>
            <a:srgbClr val="CAC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heatvalue:23:1"/>
          <p:cNvSpPr txBox="1"/>
          <p:nvPr/>
        </p:nvSpPr>
        <p:spPr>
          <a:xfrm>
            <a:off x="3136900" y="5746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334" name="heatcell:23:2"/>
          <p:cNvSpPr/>
          <p:nvPr/>
        </p:nvSpPr>
        <p:spPr>
          <a:xfrm>
            <a:off x="4140200" y="5746749"/>
            <a:ext cx="965200" cy="171450"/>
          </a:xfrm>
          <a:prstGeom prst="rect">
            <a:avLst/>
          </a:prstGeom>
          <a:solidFill>
            <a:srgbClr val="E2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heatcell:23:3"/>
          <p:cNvSpPr/>
          <p:nvPr/>
        </p:nvSpPr>
        <p:spPr>
          <a:xfrm>
            <a:off x="5143500" y="5746749"/>
            <a:ext cx="965200" cy="171450"/>
          </a:xfrm>
          <a:prstGeom prst="rect">
            <a:avLst/>
          </a:prstGeom>
          <a:solidFill>
            <a:srgbClr val="DC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heatvalue:23:3"/>
          <p:cNvSpPr txBox="1"/>
          <p:nvPr/>
        </p:nvSpPr>
        <p:spPr>
          <a:xfrm>
            <a:off x="5143500" y="5746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37" name="heatcell:23:4"/>
          <p:cNvSpPr/>
          <p:nvPr/>
        </p:nvSpPr>
        <p:spPr>
          <a:xfrm>
            <a:off x="6146800" y="5746749"/>
            <a:ext cx="965200" cy="171450"/>
          </a:xfrm>
          <a:prstGeom prst="rect">
            <a:avLst/>
          </a:prstGeom>
          <a:solidFill>
            <a:srgbClr val="CC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heatvalue:23:4"/>
          <p:cNvSpPr txBox="1"/>
          <p:nvPr/>
        </p:nvSpPr>
        <p:spPr>
          <a:xfrm>
            <a:off x="6146800" y="5746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339" name="heatcell:23:5"/>
          <p:cNvSpPr/>
          <p:nvPr/>
        </p:nvSpPr>
        <p:spPr>
          <a:xfrm>
            <a:off x="7150100" y="5746749"/>
            <a:ext cx="965200" cy="17145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heatcell:23:6"/>
          <p:cNvSpPr/>
          <p:nvPr/>
        </p:nvSpPr>
        <p:spPr>
          <a:xfrm>
            <a:off x="8153400" y="574674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heatcell:23:7"/>
          <p:cNvSpPr/>
          <p:nvPr/>
        </p:nvSpPr>
        <p:spPr>
          <a:xfrm>
            <a:off x="9156700" y="5746749"/>
            <a:ext cx="965200" cy="171450"/>
          </a:xfrm>
          <a:prstGeom prst="rect">
            <a:avLst/>
          </a:prstGeom>
          <a:solidFill>
            <a:srgbClr val="E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heatcell:23:8"/>
          <p:cNvSpPr/>
          <p:nvPr/>
        </p:nvSpPr>
        <p:spPr>
          <a:xfrm>
            <a:off x="10160000" y="5746749"/>
            <a:ext cx="965200" cy="171450"/>
          </a:xfrm>
          <a:prstGeom prst="rect">
            <a:avLst/>
          </a:prstGeom>
          <a:solidFill>
            <a:srgbClr val="CF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heatvalue:23:8"/>
          <p:cNvSpPr txBox="1"/>
          <p:nvPr/>
        </p:nvSpPr>
        <p:spPr>
          <a:xfrm>
            <a:off x="10160000" y="574674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344" name="rowlabel:24"/>
          <p:cNvSpPr txBox="1"/>
          <p:nvPr/>
        </p:nvSpPr>
        <p:spPr>
          <a:xfrm>
            <a:off x="457200" y="5930899"/>
            <a:ext cx="15875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43042"/>
                </a:solidFill>
                <a:latin typeface="Microsoft YaHei"/>
              </a:defRPr>
            </a:pPr>
            <a:r>
              <a:t>波兰</a:t>
            </a:r>
          </a:p>
        </p:txBody>
      </p:sp>
      <p:sp>
        <p:nvSpPr>
          <p:cNvPr id="345" name="heatcell:24:0"/>
          <p:cNvSpPr/>
          <p:nvPr/>
        </p:nvSpPr>
        <p:spPr>
          <a:xfrm>
            <a:off x="2133600" y="5930899"/>
            <a:ext cx="965200" cy="171450"/>
          </a:xfrm>
          <a:prstGeom prst="rect">
            <a:avLst/>
          </a:prstGeom>
          <a:solidFill>
            <a:srgbClr val="8F9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heatvalue:24:0"/>
          <p:cNvSpPr txBox="1"/>
          <p:nvPr/>
        </p:nvSpPr>
        <p:spPr>
          <a:xfrm>
            <a:off x="2133600" y="59308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50</a:t>
            </a:r>
          </a:p>
        </p:txBody>
      </p:sp>
      <p:sp>
        <p:nvSpPr>
          <p:cNvPr id="347" name="heatcell:24:1"/>
          <p:cNvSpPr/>
          <p:nvPr/>
        </p:nvSpPr>
        <p:spPr>
          <a:xfrm>
            <a:off x="3136900" y="5930899"/>
            <a:ext cx="965200" cy="171450"/>
          </a:xfrm>
          <a:prstGeom prst="rect">
            <a:avLst/>
          </a:prstGeom>
          <a:solidFill>
            <a:srgbClr val="D8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heatvalue:24:1"/>
          <p:cNvSpPr txBox="1"/>
          <p:nvPr/>
        </p:nvSpPr>
        <p:spPr>
          <a:xfrm>
            <a:off x="3136900" y="59308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49" name="heatcell:24:2"/>
          <p:cNvSpPr/>
          <p:nvPr/>
        </p:nvSpPr>
        <p:spPr>
          <a:xfrm>
            <a:off x="4140200" y="5930899"/>
            <a:ext cx="965200" cy="171450"/>
          </a:xfrm>
          <a:prstGeom prst="rect">
            <a:avLst/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heatcell:24:3"/>
          <p:cNvSpPr/>
          <p:nvPr/>
        </p:nvSpPr>
        <p:spPr>
          <a:xfrm>
            <a:off x="5143500" y="5930899"/>
            <a:ext cx="965200" cy="1714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heatcell:24:4"/>
          <p:cNvSpPr/>
          <p:nvPr/>
        </p:nvSpPr>
        <p:spPr>
          <a:xfrm>
            <a:off x="6146800" y="5930899"/>
            <a:ext cx="965200" cy="17145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heatcell:24:5"/>
          <p:cNvSpPr/>
          <p:nvPr/>
        </p:nvSpPr>
        <p:spPr>
          <a:xfrm>
            <a:off x="7150100" y="5930899"/>
            <a:ext cx="965200" cy="17145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heatcell:24:6"/>
          <p:cNvSpPr/>
          <p:nvPr/>
        </p:nvSpPr>
        <p:spPr>
          <a:xfrm>
            <a:off x="8153400" y="5930899"/>
            <a:ext cx="965200" cy="17145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heatcell:24:7"/>
          <p:cNvSpPr/>
          <p:nvPr/>
        </p:nvSpPr>
        <p:spPr>
          <a:xfrm>
            <a:off x="9156700" y="5930899"/>
            <a:ext cx="965200" cy="171450"/>
          </a:xfrm>
          <a:prstGeom prst="rect">
            <a:avLst/>
          </a:prstGeom>
          <a:solidFill>
            <a:srgbClr val="D8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heatvalue:24:7"/>
          <p:cNvSpPr txBox="1"/>
          <p:nvPr/>
        </p:nvSpPr>
        <p:spPr>
          <a:xfrm>
            <a:off x="9156700" y="59308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56" name="heatcell:24:8"/>
          <p:cNvSpPr/>
          <p:nvPr/>
        </p:nvSpPr>
        <p:spPr>
          <a:xfrm>
            <a:off x="10160000" y="5930899"/>
            <a:ext cx="965200" cy="171450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heatvalue:24:8"/>
          <p:cNvSpPr txBox="1"/>
          <p:nvPr/>
        </p:nvSpPr>
        <p:spPr>
          <a:xfrm>
            <a:off x="10160000" y="5930899"/>
            <a:ext cx="965200" cy="184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58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需求增长与清洁增量决定化石发电方向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2025 年 30 国估算；横轴需求增幅 / %，纵轴清洁增量占上年需求 / %；气泡面积代表总发电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14500" y="1587500"/>
            <a:ext cx="0" cy="38735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:4"/>
          <p:cNvSpPr txBox="1"/>
          <p:nvPr/>
        </p:nvSpPr>
        <p:spPr>
          <a:xfrm>
            <a:off x="1524000" y="55499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-4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00500" y="1587500"/>
            <a:ext cx="0" cy="38735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:6"/>
          <p:cNvSpPr txBox="1"/>
          <p:nvPr/>
        </p:nvSpPr>
        <p:spPr>
          <a:xfrm>
            <a:off x="3810000" y="55499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86500" y="1587500"/>
            <a:ext cx="0" cy="38735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8"/>
          <p:cNvSpPr txBox="1"/>
          <p:nvPr/>
        </p:nvSpPr>
        <p:spPr>
          <a:xfrm>
            <a:off x="6096000" y="55499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72500" y="1587500"/>
            <a:ext cx="0" cy="38735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10"/>
          <p:cNvSpPr txBox="1"/>
          <p:nvPr/>
        </p:nvSpPr>
        <p:spPr>
          <a:xfrm>
            <a:off x="8382000" y="55499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858500" y="1587500"/>
            <a:ext cx="0" cy="38735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:12"/>
          <p:cNvSpPr txBox="1"/>
          <p:nvPr/>
        </p:nvSpPr>
        <p:spPr>
          <a:xfrm>
            <a:off x="10668000" y="55499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43000" y="5207000"/>
            <a:ext cx="99695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14"/>
          <p:cNvSpPr txBox="1"/>
          <p:nvPr/>
        </p:nvSpPr>
        <p:spPr>
          <a:xfrm>
            <a:off x="525780" y="51054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-2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4699000"/>
            <a:ext cx="99695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16"/>
          <p:cNvSpPr txBox="1"/>
          <p:nvPr/>
        </p:nvSpPr>
        <p:spPr>
          <a:xfrm>
            <a:off x="525780" y="45974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43000" y="3683000"/>
            <a:ext cx="99695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18"/>
          <p:cNvSpPr txBox="1"/>
          <p:nvPr/>
        </p:nvSpPr>
        <p:spPr>
          <a:xfrm>
            <a:off x="533400" y="35814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2667000"/>
            <a:ext cx="99695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20"/>
          <p:cNvSpPr txBox="1"/>
          <p:nvPr/>
        </p:nvSpPr>
        <p:spPr>
          <a:xfrm>
            <a:off x="525780" y="25654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1651000"/>
            <a:ext cx="99695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22"/>
          <p:cNvSpPr txBox="1"/>
          <p:nvPr/>
        </p:nvSpPr>
        <p:spPr>
          <a:xfrm>
            <a:off x="518160" y="15494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12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857500" y="1651000"/>
            <a:ext cx="8001000" cy="3556000"/>
          </a:xfrm>
          <a:prstGeom prst="line">
            <a:avLst/>
          </a:prstGeom>
          <a:ln w="12700">
            <a:solidFill>
              <a:srgbClr val="6570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618054" y="3047720"/>
            <a:ext cx="470538" cy="470538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25"/>
          <p:cNvSpPr txBox="1"/>
          <p:nvPr/>
        </p:nvSpPr>
        <p:spPr>
          <a:xfrm>
            <a:off x="7094623" y="2978189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中国</a:t>
            </a:r>
          </a:p>
        </p:txBody>
      </p:sp>
      <p:sp>
        <p:nvSpPr>
          <p:cNvPr id="27" name="Oval 26"/>
          <p:cNvSpPr/>
          <p:nvPr/>
        </p:nvSpPr>
        <p:spPr>
          <a:xfrm>
            <a:off x="5546199" y="3939322"/>
            <a:ext cx="307372" cy="307372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27"/>
          <p:cNvSpPr txBox="1"/>
          <p:nvPr/>
        </p:nvSpPr>
        <p:spPr>
          <a:xfrm>
            <a:off x="5941186" y="3966009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美国</a:t>
            </a:r>
          </a:p>
        </p:txBody>
      </p:sp>
      <p:sp>
        <p:nvSpPr>
          <p:cNvPr id="29" name="Oval 28"/>
          <p:cNvSpPr/>
          <p:nvPr/>
        </p:nvSpPr>
        <p:spPr>
          <a:xfrm>
            <a:off x="5261585" y="3387021"/>
            <a:ext cx="208595" cy="208595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29"/>
          <p:cNvSpPr txBox="1"/>
          <p:nvPr/>
        </p:nvSpPr>
        <p:spPr>
          <a:xfrm>
            <a:off x="5607183" y="3364319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印度</a:t>
            </a:r>
          </a:p>
        </p:txBody>
      </p:sp>
      <p:sp>
        <p:nvSpPr>
          <p:cNvPr id="31" name="Oval 30"/>
          <p:cNvSpPr/>
          <p:nvPr/>
        </p:nvSpPr>
        <p:spPr>
          <a:xfrm>
            <a:off x="3116693" y="4810403"/>
            <a:ext cx="157902" cy="157902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80040" y="4168067"/>
            <a:ext cx="146716" cy="146716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00857" y="4676620"/>
            <a:ext cx="125253" cy="125253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89946" y="4336310"/>
            <a:ext cx="116782" cy="116782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77568" y="4636585"/>
            <a:ext cx="114268" cy="114268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31597" y="4410521"/>
            <a:ext cx="102281" cy="102281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34624" y="4240112"/>
            <a:ext cx="109153" cy="109153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276081" y="5030592"/>
            <a:ext cx="90956" cy="90956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245579" y="4277890"/>
            <a:ext cx="86381" cy="86381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21063" y="4848602"/>
            <a:ext cx="86004" cy="86004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40"/>
          <p:cNvSpPr txBox="1"/>
          <p:nvPr/>
        </p:nvSpPr>
        <p:spPr>
          <a:xfrm>
            <a:off x="6205365" y="4764605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土耳其</a:t>
            </a:r>
          </a:p>
        </p:txBody>
      </p:sp>
      <p:sp>
        <p:nvSpPr>
          <p:cNvPr id="42" name="Oval 41"/>
          <p:cNvSpPr/>
          <p:nvPr/>
        </p:nvSpPr>
        <p:spPr>
          <a:xfrm>
            <a:off x="4771767" y="4318923"/>
            <a:ext cx="78230" cy="78230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152814" y="3630943"/>
            <a:ext cx="80497" cy="80497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714676" y="5070842"/>
            <a:ext cx="74384" cy="74384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28010" y="5112618"/>
            <a:ext cx="77641" cy="77641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07420" y="3596124"/>
            <a:ext cx="77360" cy="77360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88492" y="4728706"/>
            <a:ext cx="77574" cy="77574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11542" y="4012105"/>
            <a:ext cx="71444" cy="71444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778413" y="4195039"/>
            <a:ext cx="71229" cy="71229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49"/>
          <p:cNvSpPr txBox="1"/>
          <p:nvPr/>
        </p:nvSpPr>
        <p:spPr>
          <a:xfrm>
            <a:off x="2055328" y="4103654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南非</a:t>
            </a:r>
          </a:p>
        </p:txBody>
      </p:sp>
      <p:sp>
        <p:nvSpPr>
          <p:cNvPr id="51" name="Oval 50"/>
          <p:cNvSpPr/>
          <p:nvPr/>
        </p:nvSpPr>
        <p:spPr>
          <a:xfrm>
            <a:off x="2103799" y="4482545"/>
            <a:ext cx="62744" cy="62744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00505" y="4514471"/>
            <a:ext cx="64833" cy="64833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506425" y="1898903"/>
            <a:ext cx="63849" cy="63849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53"/>
          <p:cNvSpPr txBox="1"/>
          <p:nvPr/>
        </p:nvSpPr>
        <p:spPr>
          <a:xfrm>
            <a:off x="10779650" y="1803828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2C3E70"/>
                </a:solidFill>
                <a:latin typeface="Microsoft YaHei"/>
              </a:defRPr>
            </a:pPr>
            <a:r>
              <a:t>巴基斯坦</a:t>
            </a:r>
          </a:p>
        </p:txBody>
      </p:sp>
      <p:sp>
        <p:nvSpPr>
          <p:cNvPr id="55" name="Oval 54"/>
          <p:cNvSpPr/>
          <p:nvPr/>
        </p:nvSpPr>
        <p:spPr>
          <a:xfrm>
            <a:off x="4042631" y="4525926"/>
            <a:ext cx="60180" cy="60180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40852" y="4541888"/>
            <a:ext cx="56578" cy="56578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75866" y="3886049"/>
            <a:ext cx="57977" cy="57977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311414" y="4932818"/>
            <a:ext cx="59735" cy="59735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23281" y="4600056"/>
            <a:ext cx="50847" cy="50847"/>
          </a:xfrm>
          <a:prstGeom prst="ellipse">
            <a:avLst/>
          </a:prstGeom>
          <a:solidFill>
            <a:srgbClr val="B7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491865" y="4002683"/>
            <a:ext cx="50730" cy="50730"/>
          </a:xfrm>
          <a:prstGeom prst="ellipse">
            <a:avLst/>
          </a:prstGeom>
          <a:solidFill>
            <a:srgbClr val="23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60"/>
          <p:cNvSpPr txBox="1"/>
          <p:nvPr/>
        </p:nvSpPr>
        <p:spPr>
          <a:xfrm>
            <a:off x="1397000" y="19177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237C72"/>
                </a:solidFill>
                <a:latin typeface="Microsoft YaHei"/>
              </a:defRPr>
            </a:pPr>
            <a:r>
              <a:t>清洁增量 &gt; 需求增量</a:t>
            </a:r>
          </a:p>
        </p:txBody>
      </p:sp>
      <p:sp>
        <p:nvSpPr>
          <p:cNvPr id="62" name="text:61"/>
          <p:cNvSpPr txBox="1"/>
          <p:nvPr/>
        </p:nvSpPr>
        <p:spPr>
          <a:xfrm>
            <a:off x="5588000" y="13208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绿：化石发电下降    红：化石发电上升</a:t>
            </a:r>
          </a:p>
        </p:txBody>
      </p:sp>
      <p:sp>
        <p:nvSpPr>
          <p:cNvPr id="63" name="conclusion:main"/>
          <p:cNvSpPr txBox="1"/>
          <p:nvPr/>
        </p:nvSpPr>
        <p:spPr>
          <a:xfrm>
            <a:off x="457200" y="5905500"/>
            <a:ext cx="1085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C3E70"/>
                </a:solidFill>
                <a:latin typeface="Microsoft YaHei"/>
              </a:defRPr>
            </a:pPr>
            <a:r>
              <a:t>中国、印度的清洁增量超过新增需求；美国清洁增量落后于需求增量。</a:t>
            </a:r>
          </a:p>
        </p:txBody>
      </p:sp>
      <p:sp>
        <p:nvSpPr>
          <p:cNvPr id="64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十国十年：清洁增长速度与化石轨迹分化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2015=100；蓝：需求，绿：清洁发电，红：化石发电；2025 年估算</a:t>
            </a:r>
          </a:p>
        </p:txBody>
      </p:sp>
      <p:sp>
        <p:nvSpPr>
          <p:cNvPr id="4" name="text:3"/>
          <p:cNvSpPr txBox="1"/>
          <p:nvPr/>
        </p:nvSpPr>
        <p:spPr>
          <a:xfrm>
            <a:off x="406400" y="15176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中国</a:t>
            </a:r>
          </a:p>
        </p:txBody>
      </p:sp>
      <p:graphicFrame>
        <p:nvGraphicFramePr>
          <p:cNvPr id="5" name="chart:4"/>
          <p:cNvGraphicFramePr>
            <a:graphicFrameLocks noGrp="1"/>
          </p:cNvGraphicFramePr>
          <p:nvPr/>
        </p:nvGraphicFramePr>
        <p:xfrm>
          <a:off x="406400" y="1835150"/>
          <a:ext cx="2159000" cy="184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:5"/>
          <p:cNvSpPr txBox="1"/>
          <p:nvPr/>
        </p:nvSpPr>
        <p:spPr>
          <a:xfrm>
            <a:off x="2705100" y="15176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美国</a:t>
            </a:r>
          </a:p>
        </p:txBody>
      </p:sp>
      <p:graphicFrame>
        <p:nvGraphicFramePr>
          <p:cNvPr id="7" name="chart:6"/>
          <p:cNvGraphicFramePr>
            <a:graphicFrameLocks noGrp="1"/>
          </p:cNvGraphicFramePr>
          <p:nvPr/>
        </p:nvGraphicFramePr>
        <p:xfrm>
          <a:off x="2705100" y="1835150"/>
          <a:ext cx="2159000" cy="1841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:7"/>
          <p:cNvSpPr txBox="1"/>
          <p:nvPr/>
        </p:nvSpPr>
        <p:spPr>
          <a:xfrm>
            <a:off x="5003800" y="15176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印度</a:t>
            </a:r>
          </a:p>
        </p:txBody>
      </p:sp>
      <p:graphicFrame>
        <p:nvGraphicFramePr>
          <p:cNvPr id="9" name="chart:8"/>
          <p:cNvGraphicFramePr>
            <a:graphicFrameLocks noGrp="1"/>
          </p:cNvGraphicFramePr>
          <p:nvPr/>
        </p:nvGraphicFramePr>
        <p:xfrm>
          <a:off x="5003800" y="1835150"/>
          <a:ext cx="2159000" cy="18415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:9"/>
          <p:cNvSpPr txBox="1"/>
          <p:nvPr/>
        </p:nvSpPr>
        <p:spPr>
          <a:xfrm>
            <a:off x="7302500" y="15176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俄罗斯</a:t>
            </a:r>
          </a:p>
        </p:txBody>
      </p:sp>
      <p:graphicFrame>
        <p:nvGraphicFramePr>
          <p:cNvPr id="11" name="chart:10"/>
          <p:cNvGraphicFramePr>
            <a:graphicFrameLocks noGrp="1"/>
          </p:cNvGraphicFramePr>
          <p:nvPr/>
        </p:nvGraphicFramePr>
        <p:xfrm>
          <a:off x="7302500" y="1835150"/>
          <a:ext cx="2159000" cy="18415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" name="text:11"/>
          <p:cNvSpPr txBox="1"/>
          <p:nvPr/>
        </p:nvSpPr>
        <p:spPr>
          <a:xfrm>
            <a:off x="9601200" y="15176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日本</a:t>
            </a:r>
          </a:p>
        </p:txBody>
      </p:sp>
      <p:graphicFrame>
        <p:nvGraphicFramePr>
          <p:cNvPr id="13" name="chart:12"/>
          <p:cNvGraphicFramePr>
            <a:graphicFrameLocks noGrp="1"/>
          </p:cNvGraphicFramePr>
          <p:nvPr/>
        </p:nvGraphicFramePr>
        <p:xfrm>
          <a:off x="9601200" y="1835150"/>
          <a:ext cx="2159000" cy="18415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4" name="text:13"/>
          <p:cNvSpPr txBox="1"/>
          <p:nvPr/>
        </p:nvSpPr>
        <p:spPr>
          <a:xfrm>
            <a:off x="406400" y="38163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巴西</a:t>
            </a:r>
          </a:p>
        </p:txBody>
      </p:sp>
      <p:graphicFrame>
        <p:nvGraphicFramePr>
          <p:cNvPr id="15" name="chart:14"/>
          <p:cNvGraphicFramePr>
            <a:graphicFrameLocks noGrp="1"/>
          </p:cNvGraphicFramePr>
          <p:nvPr/>
        </p:nvGraphicFramePr>
        <p:xfrm>
          <a:off x="406400" y="4133850"/>
          <a:ext cx="2159000" cy="18415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6" name="text:15"/>
          <p:cNvSpPr txBox="1"/>
          <p:nvPr/>
        </p:nvSpPr>
        <p:spPr>
          <a:xfrm>
            <a:off x="2705100" y="38163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加拿大</a:t>
            </a:r>
          </a:p>
        </p:txBody>
      </p:sp>
      <p:graphicFrame>
        <p:nvGraphicFramePr>
          <p:cNvPr id="17" name="chart:16"/>
          <p:cNvGraphicFramePr>
            <a:graphicFrameLocks noGrp="1"/>
          </p:cNvGraphicFramePr>
          <p:nvPr/>
        </p:nvGraphicFramePr>
        <p:xfrm>
          <a:off x="2705100" y="4133850"/>
          <a:ext cx="2159000" cy="18415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8" name="text:17"/>
          <p:cNvSpPr txBox="1"/>
          <p:nvPr/>
        </p:nvSpPr>
        <p:spPr>
          <a:xfrm>
            <a:off x="5003800" y="38163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韩国</a:t>
            </a:r>
          </a:p>
        </p:txBody>
      </p:sp>
      <p:graphicFrame>
        <p:nvGraphicFramePr>
          <p:cNvPr id="19" name="chart:18"/>
          <p:cNvGraphicFramePr>
            <a:graphicFrameLocks noGrp="1"/>
          </p:cNvGraphicFramePr>
          <p:nvPr/>
        </p:nvGraphicFramePr>
        <p:xfrm>
          <a:off x="5003800" y="4133850"/>
          <a:ext cx="2159000" cy="184150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20" name="text:19"/>
          <p:cNvSpPr txBox="1"/>
          <p:nvPr/>
        </p:nvSpPr>
        <p:spPr>
          <a:xfrm>
            <a:off x="7302500" y="38163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德国</a:t>
            </a:r>
          </a:p>
        </p:txBody>
      </p:sp>
      <p:graphicFrame>
        <p:nvGraphicFramePr>
          <p:cNvPr id="21" name="chart:20"/>
          <p:cNvGraphicFramePr>
            <a:graphicFrameLocks noGrp="1"/>
          </p:cNvGraphicFramePr>
          <p:nvPr/>
        </p:nvGraphicFramePr>
        <p:xfrm>
          <a:off x="7302500" y="4133850"/>
          <a:ext cx="2159000" cy="184150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22" name="text:21"/>
          <p:cNvSpPr txBox="1"/>
          <p:nvPr/>
        </p:nvSpPr>
        <p:spPr>
          <a:xfrm>
            <a:off x="9601200" y="3816350"/>
            <a:ext cx="21336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C3E70"/>
                </a:solidFill>
                <a:latin typeface="Microsoft YaHei"/>
              </a:defRPr>
            </a:pPr>
            <a:r>
              <a:t>法国</a:t>
            </a:r>
          </a:p>
        </p:txBody>
      </p:sp>
      <p:graphicFrame>
        <p:nvGraphicFramePr>
          <p:cNvPr id="23" name="chart:22"/>
          <p:cNvGraphicFramePr>
            <a:graphicFrameLocks noGrp="1"/>
          </p:cNvGraphicFramePr>
          <p:nvPr/>
        </p:nvGraphicFramePr>
        <p:xfrm>
          <a:off x="9601200" y="4133850"/>
          <a:ext cx="2159000" cy="184150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24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清洁份额的十年变化：同一终点，路径不同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2015 → 2025 清洁发电份额 / %；灰点2015，蓝点2025；2025 年估算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946400" y="1320800"/>
            <a:ext cx="0" cy="4152900"/>
          </a:xfrm>
          <a:prstGeom prst="line">
            <a:avLst/>
          </a:prstGeom>
          <a:ln w="889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:4"/>
          <p:cNvSpPr txBox="1"/>
          <p:nvPr/>
        </p:nvSpPr>
        <p:spPr>
          <a:xfrm>
            <a:off x="2794000" y="55372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495800" y="1320800"/>
            <a:ext cx="0" cy="4152900"/>
          </a:xfrm>
          <a:prstGeom prst="line">
            <a:avLst/>
          </a:prstGeom>
          <a:ln w="889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:6"/>
          <p:cNvSpPr txBox="1"/>
          <p:nvPr/>
        </p:nvSpPr>
        <p:spPr>
          <a:xfrm>
            <a:off x="4343400" y="55372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45200" y="1320800"/>
            <a:ext cx="0" cy="4152900"/>
          </a:xfrm>
          <a:prstGeom prst="line">
            <a:avLst/>
          </a:prstGeom>
          <a:ln w="889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8"/>
          <p:cNvSpPr txBox="1"/>
          <p:nvPr/>
        </p:nvSpPr>
        <p:spPr>
          <a:xfrm>
            <a:off x="5892800" y="55372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94600" y="1320800"/>
            <a:ext cx="0" cy="4152900"/>
          </a:xfrm>
          <a:prstGeom prst="line">
            <a:avLst/>
          </a:prstGeom>
          <a:ln w="889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10"/>
          <p:cNvSpPr txBox="1"/>
          <p:nvPr/>
        </p:nvSpPr>
        <p:spPr>
          <a:xfrm>
            <a:off x="7442200" y="55372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60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1320800"/>
            <a:ext cx="0" cy="4152900"/>
          </a:xfrm>
          <a:prstGeom prst="line">
            <a:avLst/>
          </a:prstGeom>
          <a:ln w="889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:12"/>
          <p:cNvSpPr txBox="1"/>
          <p:nvPr/>
        </p:nvSpPr>
        <p:spPr>
          <a:xfrm>
            <a:off x="8991600" y="55372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80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93400" y="1320800"/>
            <a:ext cx="0" cy="4152900"/>
          </a:xfrm>
          <a:prstGeom prst="line">
            <a:avLst/>
          </a:prstGeom>
          <a:ln w="889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14"/>
          <p:cNvSpPr txBox="1"/>
          <p:nvPr/>
        </p:nvSpPr>
        <p:spPr>
          <a:xfrm>
            <a:off x="10541000" y="55372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16" name="text:15"/>
          <p:cNvSpPr txBox="1"/>
          <p:nvPr/>
        </p:nvSpPr>
        <p:spPr>
          <a:xfrm>
            <a:off x="457200" y="13208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伊朗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387989" y="1435100"/>
            <a:ext cx="25873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63062" y="13843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24489" y="13716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19"/>
          <p:cNvSpPr txBox="1"/>
          <p:nvPr/>
        </p:nvSpPr>
        <p:spPr>
          <a:xfrm>
            <a:off x="10919460" y="13208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5.7%</a:t>
            </a:r>
          </a:p>
        </p:txBody>
      </p:sp>
      <p:sp>
        <p:nvSpPr>
          <p:cNvPr id="21" name="text:20"/>
          <p:cNvSpPr txBox="1"/>
          <p:nvPr/>
        </p:nvSpPr>
        <p:spPr>
          <a:xfrm>
            <a:off x="457200" y="1663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墨西哥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39587" y="1778000"/>
            <a:ext cx="516210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388787" y="17272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92297" y="17145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24"/>
          <p:cNvSpPr txBox="1"/>
          <p:nvPr/>
        </p:nvSpPr>
        <p:spPr>
          <a:xfrm>
            <a:off x="10927080" y="16637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25.9%</a:t>
            </a:r>
          </a:p>
        </p:txBody>
      </p:sp>
      <p:sp>
        <p:nvSpPr>
          <p:cNvPr id="26" name="text:25"/>
          <p:cNvSpPr txBox="1"/>
          <p:nvPr/>
        </p:nvSpPr>
        <p:spPr>
          <a:xfrm>
            <a:off x="449580" y="20066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印度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05860" y="2120900"/>
            <a:ext cx="705352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255060" y="20701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47712" y="20574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29"/>
          <p:cNvSpPr txBox="1"/>
          <p:nvPr/>
        </p:nvSpPr>
        <p:spPr>
          <a:xfrm>
            <a:off x="10927080" y="20066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26.7%</a:t>
            </a:r>
          </a:p>
        </p:txBody>
      </p:sp>
      <p:sp>
        <p:nvSpPr>
          <p:cNvPr id="31" name="text:30"/>
          <p:cNvSpPr txBox="1"/>
          <p:nvPr/>
        </p:nvSpPr>
        <p:spPr>
          <a:xfrm>
            <a:off x="434341" y="23495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日本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38697" y="2463800"/>
            <a:ext cx="1337902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087897" y="24130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13099" y="24003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34"/>
          <p:cNvSpPr txBox="1"/>
          <p:nvPr/>
        </p:nvSpPr>
        <p:spPr>
          <a:xfrm>
            <a:off x="10927080" y="23495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32.7%</a:t>
            </a:r>
          </a:p>
        </p:txBody>
      </p:sp>
      <p:sp>
        <p:nvSpPr>
          <p:cNvPr id="36" name="text:35"/>
          <p:cNvSpPr txBox="1"/>
          <p:nvPr/>
        </p:nvSpPr>
        <p:spPr>
          <a:xfrm>
            <a:off x="457200" y="26924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俄罗斯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590996" y="2806700"/>
            <a:ext cx="119809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540196" y="27559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47305" y="27432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39"/>
          <p:cNvSpPr txBox="1"/>
          <p:nvPr/>
        </p:nvSpPr>
        <p:spPr>
          <a:xfrm>
            <a:off x="10927080" y="26924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35.7%</a:t>
            </a:r>
          </a:p>
        </p:txBody>
      </p:sp>
      <p:sp>
        <p:nvSpPr>
          <p:cNvPr id="41" name="text:40"/>
          <p:cNvSpPr txBox="1"/>
          <p:nvPr/>
        </p:nvSpPr>
        <p:spPr>
          <a:xfrm>
            <a:off x="457200" y="30353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韩国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91398" y="3149600"/>
            <a:ext cx="550527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440598" y="30988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78425" y="30861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44"/>
          <p:cNvSpPr txBox="1"/>
          <p:nvPr/>
        </p:nvSpPr>
        <p:spPr>
          <a:xfrm>
            <a:off x="10934700" y="30353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40.0%</a:t>
            </a:r>
          </a:p>
        </p:txBody>
      </p:sp>
      <p:sp>
        <p:nvSpPr>
          <p:cNvPr id="46" name="text:45"/>
          <p:cNvSpPr txBox="1"/>
          <p:nvPr/>
        </p:nvSpPr>
        <p:spPr>
          <a:xfrm>
            <a:off x="441960" y="33782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中国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31566" y="3492500"/>
            <a:ext cx="1141084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980766" y="34417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109150" y="34290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49"/>
          <p:cNvSpPr txBox="1"/>
          <p:nvPr/>
        </p:nvSpPr>
        <p:spPr>
          <a:xfrm>
            <a:off x="10934700" y="33782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41.6%</a:t>
            </a:r>
          </a:p>
        </p:txBody>
      </p:sp>
      <p:sp>
        <p:nvSpPr>
          <p:cNvPr id="51" name="text:50"/>
          <p:cNvSpPr txBox="1"/>
          <p:nvPr/>
        </p:nvSpPr>
        <p:spPr>
          <a:xfrm>
            <a:off x="457200" y="37211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美国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514202" y="3835400"/>
            <a:ext cx="763528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5463402" y="37846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14230" y="37719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54"/>
          <p:cNvSpPr txBox="1"/>
          <p:nvPr/>
        </p:nvSpPr>
        <p:spPr>
          <a:xfrm>
            <a:off x="10934700" y="37211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43.0%</a:t>
            </a:r>
          </a:p>
        </p:txBody>
      </p:sp>
      <p:sp>
        <p:nvSpPr>
          <p:cNvPr id="56" name="text:55"/>
          <p:cNvSpPr txBox="1"/>
          <p:nvPr/>
        </p:nvSpPr>
        <p:spPr>
          <a:xfrm>
            <a:off x="457200" y="40640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德国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339265" y="4178300"/>
            <a:ext cx="1185027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6288465" y="41275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460792" y="41148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59"/>
          <p:cNvSpPr txBox="1"/>
          <p:nvPr/>
        </p:nvSpPr>
        <p:spPr>
          <a:xfrm>
            <a:off x="10919460" y="40640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59.1%</a:t>
            </a:r>
          </a:p>
        </p:txBody>
      </p:sp>
      <p:sp>
        <p:nvSpPr>
          <p:cNvPr id="61" name="text:60"/>
          <p:cNvSpPr txBox="1"/>
          <p:nvPr/>
        </p:nvSpPr>
        <p:spPr>
          <a:xfrm>
            <a:off x="457200" y="44069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加拿大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8909823" y="4521200"/>
            <a:ext cx="167099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9026122" y="44704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46323" y="44577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64"/>
          <p:cNvSpPr txBox="1"/>
          <p:nvPr/>
        </p:nvSpPr>
        <p:spPr>
          <a:xfrm>
            <a:off x="10927080" y="44069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77.0%</a:t>
            </a:r>
          </a:p>
        </p:txBody>
      </p:sp>
      <p:sp>
        <p:nvSpPr>
          <p:cNvPr id="66" name="text:65"/>
          <p:cNvSpPr txBox="1"/>
          <p:nvPr/>
        </p:nvSpPr>
        <p:spPr>
          <a:xfrm>
            <a:off x="441960" y="47498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巴西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891604" y="4864100"/>
            <a:ext cx="927622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840804" y="48133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755726" y="48006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:69"/>
          <p:cNvSpPr txBox="1"/>
          <p:nvPr/>
        </p:nvSpPr>
        <p:spPr>
          <a:xfrm>
            <a:off x="10927080" y="47498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88.7%</a:t>
            </a:r>
          </a:p>
        </p:txBody>
      </p:sp>
      <p:sp>
        <p:nvSpPr>
          <p:cNvPr id="71" name="text:70"/>
          <p:cNvSpPr txBox="1"/>
          <p:nvPr/>
        </p:nvSpPr>
        <p:spPr>
          <a:xfrm>
            <a:off x="457200" y="5092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2C3E70"/>
                </a:solidFill>
                <a:latin typeface="Microsoft YaHei"/>
              </a:defRPr>
            </a:pPr>
            <a:r>
              <a:t>法国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087959" y="5207000"/>
            <a:ext cx="206524" cy="0"/>
          </a:xfrm>
          <a:prstGeom prst="line">
            <a:avLst/>
          </a:prstGeom>
          <a:ln w="38100">
            <a:solidFill>
              <a:srgbClr val="237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0037159" y="5156200"/>
            <a:ext cx="101600" cy="101600"/>
          </a:xfrm>
          <a:prstGeom prst="ellipse">
            <a:avLst/>
          </a:prstGeom>
          <a:solidFill>
            <a:srgbClr val="B5B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230983" y="514350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:74"/>
          <p:cNvSpPr txBox="1"/>
          <p:nvPr/>
        </p:nvSpPr>
        <p:spPr>
          <a:xfrm>
            <a:off x="10927080" y="50927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2C3E70"/>
                </a:solidFill>
                <a:latin typeface="Microsoft YaHei"/>
              </a:defRPr>
            </a:pPr>
            <a:r>
              <a:t>94.9%</a:t>
            </a:r>
          </a:p>
        </p:txBody>
      </p:sp>
      <p:sp>
        <p:nvSpPr>
          <p:cNvPr id="76" name="conclusion:main"/>
          <p:cNvSpPr txBox="1"/>
          <p:nvPr/>
        </p:nvSpPr>
        <p:spPr>
          <a:xfrm>
            <a:off x="457200" y="5905500"/>
            <a:ext cx="1085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C3E70"/>
                </a:solidFill>
                <a:latin typeface="Microsoft YaHei"/>
              </a:defRPr>
            </a:pPr>
            <a:r>
              <a:t>风光扩张推动多数主要用电国家提升清洁份额；核电与水电决定各国起点。</a:t>
            </a:r>
          </a:p>
        </p:txBody>
      </p:sp>
      <p:sp>
        <p:nvSpPr>
          <p:cNvPr id="77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39116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中国与印度合计压低化石发电 107.9 TWh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2024→2025 化石发电变化 / TWh；主要用电国家，2025 年估算</a:t>
            </a:r>
          </a:p>
        </p:txBody>
      </p:sp>
      <p:graphicFrame>
        <p:nvGraphicFramePr>
          <p:cNvPr id="4" name="chart:3"/>
          <p:cNvGraphicFramePr>
            <a:graphicFrameLocks noGrp="1"/>
          </p:cNvGraphicFramePr>
          <p:nvPr/>
        </p:nvGraphicFramePr>
        <p:xfrm>
          <a:off x="469900" y="1329690"/>
          <a:ext cx="11277600" cy="431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onclusion:main"/>
          <p:cNvSpPr txBox="1"/>
          <p:nvPr/>
        </p:nvSpPr>
        <p:spPr>
          <a:xfrm>
            <a:off x="457200" y="5905500"/>
            <a:ext cx="1085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C3E70"/>
                </a:solidFill>
                <a:latin typeface="Microsoft YaHei"/>
              </a:defRPr>
            </a:pPr>
            <a:r>
              <a:t>中国 −56.3、印度 −51.6 TWh 的降幅，被美国 +23.7 TWh 等增长部分抵消。</a:t>
            </a:r>
          </a:p>
        </p:txBody>
      </p:sp>
      <p:sp>
        <p:nvSpPr>
          <p:cNvPr id="6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排放强度下降，发电扩张抵消了大部分收益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全球发电、排放与排放强度；2000=100，2025 年估算</a:t>
            </a:r>
          </a:p>
        </p:txBody>
      </p:sp>
      <p:graphicFrame>
        <p:nvGraphicFramePr>
          <p:cNvPr id="4" name="chart:3"/>
          <p:cNvGraphicFramePr>
            <a:graphicFrameLocks noGrp="1"/>
          </p:cNvGraphicFramePr>
          <p:nvPr/>
        </p:nvGraphicFramePr>
        <p:xfrm>
          <a:off x="457200" y="1356361"/>
          <a:ext cx="11277600" cy="431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onclusion:main"/>
          <p:cNvSpPr txBox="1"/>
          <p:nvPr/>
        </p:nvSpPr>
        <p:spPr>
          <a:xfrm>
            <a:off x="457200" y="5905500"/>
            <a:ext cx="1085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C3E70"/>
                </a:solidFill>
                <a:latin typeface="Microsoft YaHei"/>
              </a:defRPr>
            </a:pPr>
            <a:r>
              <a:t>2025 年排放强度 458.3 gCO₂e/kWh，电力排放 14.56 GtCO₂e。</a:t>
            </a:r>
          </a:p>
        </p:txBody>
      </p:sp>
      <p:sp>
        <p:nvSpPr>
          <p:cNvPr id="6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煤电份额解释了主要国家排放强度的差异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2025 年 25 国估算；横轴煤电份额 / %，纵轴排放强度 / gCO₂e/kWh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70000" y="1388110"/>
            <a:ext cx="0" cy="39624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:4"/>
          <p:cNvSpPr txBox="1"/>
          <p:nvPr/>
        </p:nvSpPr>
        <p:spPr>
          <a:xfrm>
            <a:off x="1117600" y="547751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6800" y="1388110"/>
            <a:ext cx="0" cy="39624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:6"/>
          <p:cNvSpPr txBox="1"/>
          <p:nvPr/>
        </p:nvSpPr>
        <p:spPr>
          <a:xfrm>
            <a:off x="3454400" y="547751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1388110"/>
            <a:ext cx="0" cy="39624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8"/>
          <p:cNvSpPr txBox="1"/>
          <p:nvPr/>
        </p:nvSpPr>
        <p:spPr>
          <a:xfrm>
            <a:off x="5791200" y="547751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80400" y="1388110"/>
            <a:ext cx="0" cy="39624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10"/>
          <p:cNvSpPr txBox="1"/>
          <p:nvPr/>
        </p:nvSpPr>
        <p:spPr>
          <a:xfrm>
            <a:off x="8128000" y="547751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60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617200" y="1388110"/>
            <a:ext cx="0" cy="396240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:12"/>
          <p:cNvSpPr txBox="1"/>
          <p:nvPr/>
        </p:nvSpPr>
        <p:spPr>
          <a:xfrm>
            <a:off x="10464800" y="5477510"/>
            <a:ext cx="38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80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70000" y="5350510"/>
            <a:ext cx="97663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14"/>
          <p:cNvSpPr txBox="1"/>
          <p:nvPr/>
        </p:nvSpPr>
        <p:spPr>
          <a:xfrm>
            <a:off x="508000" y="524891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70000" y="4486910"/>
            <a:ext cx="97663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16"/>
          <p:cNvSpPr txBox="1"/>
          <p:nvPr/>
        </p:nvSpPr>
        <p:spPr>
          <a:xfrm>
            <a:off x="508000" y="438531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200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70000" y="3623310"/>
            <a:ext cx="97663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18"/>
          <p:cNvSpPr txBox="1"/>
          <p:nvPr/>
        </p:nvSpPr>
        <p:spPr>
          <a:xfrm>
            <a:off x="508000" y="352171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400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70000" y="2759709"/>
            <a:ext cx="97663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20"/>
          <p:cNvSpPr txBox="1"/>
          <p:nvPr/>
        </p:nvSpPr>
        <p:spPr>
          <a:xfrm>
            <a:off x="508000" y="2658109"/>
            <a:ext cx="57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600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70000" y="1896110"/>
            <a:ext cx="9766300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22"/>
          <p:cNvSpPr txBox="1"/>
          <p:nvPr/>
        </p:nvSpPr>
        <p:spPr>
          <a:xfrm>
            <a:off x="508000" y="179451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657083"/>
                </a:solidFill>
                <a:latin typeface="Microsoft YaHei"/>
              </a:defRPr>
            </a:pPr>
            <a:r>
              <a:t>800</a:t>
            </a:r>
          </a:p>
        </p:txBody>
      </p:sp>
      <p:sp>
        <p:nvSpPr>
          <p:cNvPr id="24" name="Oval 23"/>
          <p:cNvSpPr/>
          <p:nvPr/>
        </p:nvSpPr>
        <p:spPr>
          <a:xfrm>
            <a:off x="7556999" y="3018332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24"/>
          <p:cNvSpPr txBox="1"/>
          <p:nvPr/>
        </p:nvSpPr>
        <p:spPr>
          <a:xfrm>
            <a:off x="7734799" y="3107232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中国</a:t>
            </a:r>
          </a:p>
        </p:txBody>
      </p:sp>
      <p:sp>
        <p:nvSpPr>
          <p:cNvPr id="26" name="Oval 25"/>
          <p:cNvSpPr/>
          <p:nvPr/>
        </p:nvSpPr>
        <p:spPr>
          <a:xfrm>
            <a:off x="3112088" y="3627170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26"/>
          <p:cNvSpPr txBox="1"/>
          <p:nvPr/>
        </p:nvSpPr>
        <p:spPr>
          <a:xfrm>
            <a:off x="3289888" y="347477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美国</a:t>
            </a:r>
          </a:p>
        </p:txBody>
      </p:sp>
      <p:sp>
        <p:nvSpPr>
          <p:cNvPr id="28" name="Oval 27"/>
          <p:cNvSpPr/>
          <p:nvPr/>
        </p:nvSpPr>
        <p:spPr>
          <a:xfrm>
            <a:off x="9480889" y="2393388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28"/>
          <p:cNvSpPr txBox="1"/>
          <p:nvPr/>
        </p:nvSpPr>
        <p:spPr>
          <a:xfrm>
            <a:off x="9036389" y="2583888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印度</a:t>
            </a:r>
          </a:p>
        </p:txBody>
      </p:sp>
      <p:sp>
        <p:nvSpPr>
          <p:cNvPr id="30" name="Oval 29"/>
          <p:cNvSpPr/>
          <p:nvPr/>
        </p:nvSpPr>
        <p:spPr>
          <a:xfrm>
            <a:off x="3356812" y="3345075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46405" y="3225726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31"/>
          <p:cNvSpPr txBox="1"/>
          <p:nvPr/>
        </p:nvSpPr>
        <p:spPr>
          <a:xfrm>
            <a:off x="5111505" y="3047926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日本</a:t>
            </a:r>
          </a:p>
        </p:txBody>
      </p:sp>
      <p:sp>
        <p:nvSpPr>
          <p:cNvPr id="33" name="Oval 32"/>
          <p:cNvSpPr/>
          <p:nvPr/>
        </p:nvSpPr>
        <p:spPr>
          <a:xfrm>
            <a:off x="1474108" y="4812245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33"/>
          <p:cNvSpPr txBox="1"/>
          <p:nvPr/>
        </p:nvSpPr>
        <p:spPr>
          <a:xfrm>
            <a:off x="1690008" y="4786845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巴西</a:t>
            </a:r>
          </a:p>
        </p:txBody>
      </p:sp>
      <p:sp>
        <p:nvSpPr>
          <p:cNvPr id="35" name="Oval 34"/>
          <p:cNvSpPr/>
          <p:nvPr/>
        </p:nvSpPr>
        <p:spPr>
          <a:xfrm>
            <a:off x="1684289" y="4463481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45101" y="3486144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36"/>
          <p:cNvSpPr txBox="1"/>
          <p:nvPr/>
        </p:nvSpPr>
        <p:spPr>
          <a:xfrm>
            <a:off x="5010201" y="3575044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韩国</a:t>
            </a:r>
          </a:p>
        </p:txBody>
      </p:sp>
      <p:sp>
        <p:nvSpPr>
          <p:cNvPr id="38" name="Oval 37"/>
          <p:cNvSpPr/>
          <p:nvPr/>
        </p:nvSpPr>
        <p:spPr>
          <a:xfrm>
            <a:off x="3614645" y="3863581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42168" y="5108072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39"/>
          <p:cNvSpPr txBox="1"/>
          <p:nvPr/>
        </p:nvSpPr>
        <p:spPr>
          <a:xfrm>
            <a:off x="1407268" y="5108072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法国</a:t>
            </a:r>
          </a:p>
        </p:txBody>
      </p:sp>
      <p:sp>
        <p:nvSpPr>
          <p:cNvPr id="41" name="Oval 40"/>
          <p:cNvSpPr/>
          <p:nvPr/>
        </p:nvSpPr>
        <p:spPr>
          <a:xfrm>
            <a:off x="1228050" y="2439159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41"/>
          <p:cNvSpPr txBox="1"/>
          <p:nvPr/>
        </p:nvSpPr>
        <p:spPr>
          <a:xfrm>
            <a:off x="1393150" y="2312159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伊朗</a:t>
            </a:r>
          </a:p>
        </p:txBody>
      </p:sp>
      <p:sp>
        <p:nvSpPr>
          <p:cNvPr id="43" name="Oval 42"/>
          <p:cNvSpPr/>
          <p:nvPr/>
        </p:nvSpPr>
        <p:spPr>
          <a:xfrm>
            <a:off x="1562613" y="3240191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43"/>
          <p:cNvSpPr txBox="1"/>
          <p:nvPr/>
        </p:nvSpPr>
        <p:spPr>
          <a:xfrm>
            <a:off x="1727713" y="3354491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墨西哥</a:t>
            </a:r>
          </a:p>
        </p:txBody>
      </p:sp>
      <p:sp>
        <p:nvSpPr>
          <p:cNvPr id="45" name="Oval 44"/>
          <p:cNvSpPr/>
          <p:nvPr/>
        </p:nvSpPr>
        <p:spPr>
          <a:xfrm>
            <a:off x="5214971" y="3237082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19669" y="4349615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31585" y="3297577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71144" y="4057329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42299" y="2552809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197604" y="3019585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50"/>
          <p:cNvSpPr txBox="1"/>
          <p:nvPr/>
        </p:nvSpPr>
        <p:spPr>
          <a:xfrm>
            <a:off x="6362704" y="2829085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澳大利亚</a:t>
            </a:r>
          </a:p>
        </p:txBody>
      </p:sp>
      <p:sp>
        <p:nvSpPr>
          <p:cNvPr id="52" name="Oval 51"/>
          <p:cNvSpPr/>
          <p:nvPr/>
        </p:nvSpPr>
        <p:spPr>
          <a:xfrm>
            <a:off x="1243838" y="4623765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6500" y="2864439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712747" y="2267518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54"/>
          <p:cNvSpPr txBox="1"/>
          <p:nvPr/>
        </p:nvSpPr>
        <p:spPr>
          <a:xfrm>
            <a:off x="10395247" y="2038918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南非</a:t>
            </a:r>
          </a:p>
        </p:txBody>
      </p:sp>
      <p:sp>
        <p:nvSpPr>
          <p:cNvPr id="56" name="Oval 55"/>
          <p:cNvSpPr/>
          <p:nvPr/>
        </p:nvSpPr>
        <p:spPr>
          <a:xfrm>
            <a:off x="3288453" y="2928086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12558" y="2687703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938461" y="3790563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095030" y="2745435"/>
            <a:ext cx="127000" cy="127000"/>
          </a:xfrm>
          <a:prstGeom prst="ellipse">
            <a:avLst/>
          </a:prstGeom>
          <a:solidFill>
            <a:srgbClr val="2C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59"/>
          <p:cNvSpPr txBox="1"/>
          <p:nvPr/>
        </p:nvSpPr>
        <p:spPr>
          <a:xfrm>
            <a:off x="7260130" y="2605735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C3E70"/>
                </a:solidFill>
                <a:latin typeface="Microsoft YaHei"/>
              </a:defRPr>
            </a:pPr>
            <a:r>
              <a:t>波兰</a:t>
            </a:r>
          </a:p>
        </p:txBody>
      </p:sp>
      <p:sp>
        <p:nvSpPr>
          <p:cNvPr id="61" name="conclusion:main"/>
          <p:cNvSpPr txBox="1"/>
          <p:nvPr/>
        </p:nvSpPr>
        <p:spPr>
          <a:xfrm>
            <a:off x="457200" y="5905500"/>
            <a:ext cx="1085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C3E70"/>
                </a:solidFill>
                <a:latin typeface="Microsoft YaHei"/>
              </a:defRPr>
            </a:pPr>
            <a:r>
              <a:t>煤电占比高的国家集中在高排放强度区；水电、核电占比高的法国和巴西位于低位。</a:t>
            </a:r>
          </a:p>
        </p:txBody>
      </p:sp>
      <p:sp>
        <p:nvSpPr>
          <p:cNvPr id="62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太阳能贡献全球新增发电的四分之三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2024→2025 太阳能发电增量 / TWh；2025 年估算</a:t>
            </a:r>
          </a:p>
        </p:txBody>
      </p:sp>
      <p:graphicFrame>
        <p:nvGraphicFramePr>
          <p:cNvPr id="4" name="chart:3"/>
          <p:cNvGraphicFramePr>
            <a:graphicFrameLocks noGrp="1"/>
          </p:cNvGraphicFramePr>
          <p:nvPr/>
        </p:nvGraphicFramePr>
        <p:xfrm>
          <a:off x="444500" y="1502410"/>
          <a:ext cx="72390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:4"/>
          <p:cNvSpPr txBox="1"/>
          <p:nvPr/>
        </p:nvSpPr>
        <p:spPr>
          <a:xfrm>
            <a:off x="8232141" y="1565910"/>
            <a:ext cx="3429000" cy="596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2C3E70"/>
                </a:solidFill>
                <a:latin typeface="Microsoft YaHei"/>
              </a:defRPr>
            </a:pPr>
            <a:r>
              <a:t>635.5 TWh</a:t>
            </a:r>
          </a:p>
        </p:txBody>
      </p:sp>
      <p:sp>
        <p:nvSpPr>
          <p:cNvPr id="6" name="text:5"/>
          <p:cNvSpPr txBox="1"/>
          <p:nvPr/>
        </p:nvSpPr>
        <p:spPr>
          <a:xfrm>
            <a:off x="8247380" y="2239010"/>
            <a:ext cx="3429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57083"/>
                </a:solidFill>
                <a:latin typeface="Microsoft YaHei"/>
              </a:defRPr>
            </a:pPr>
            <a:r>
              <a:t>全球太阳能发电增量</a:t>
            </a:r>
          </a:p>
        </p:txBody>
      </p:sp>
      <p:sp>
        <p:nvSpPr>
          <p:cNvPr id="7" name="text:6"/>
          <p:cNvSpPr txBox="1"/>
          <p:nvPr/>
        </p:nvSpPr>
        <p:spPr>
          <a:xfrm>
            <a:off x="8232141" y="3204210"/>
            <a:ext cx="3429000" cy="596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237C72"/>
                </a:solidFill>
                <a:latin typeface="Microsoft YaHei"/>
              </a:defRPr>
            </a:pPr>
            <a:r>
              <a:t>74.8%</a:t>
            </a:r>
          </a:p>
        </p:txBody>
      </p:sp>
      <p:sp>
        <p:nvSpPr>
          <p:cNvPr id="8" name="text:7"/>
          <p:cNvSpPr txBox="1"/>
          <p:nvPr/>
        </p:nvSpPr>
        <p:spPr>
          <a:xfrm>
            <a:off x="8255000" y="3877310"/>
            <a:ext cx="3429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657083"/>
                </a:solidFill>
                <a:latin typeface="Microsoft YaHei"/>
              </a:defRPr>
            </a:pPr>
            <a:r>
              <a:t>相当于全球新增需求的比例</a:t>
            </a:r>
          </a:p>
        </p:txBody>
      </p:sp>
      <p:sp>
        <p:nvSpPr>
          <p:cNvPr id="9" name="text:8"/>
          <p:cNvSpPr txBox="1"/>
          <p:nvPr/>
        </p:nvSpPr>
        <p:spPr>
          <a:xfrm>
            <a:off x="8232141" y="484251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2C3E70"/>
                </a:solidFill>
                <a:latin typeface="Microsoft YaHei"/>
              </a:defRPr>
            </a:pPr>
            <a:r>
              <a:t>29.7%</a:t>
            </a:r>
          </a:p>
        </p:txBody>
      </p:sp>
      <p:sp>
        <p:nvSpPr>
          <p:cNvPr id="10" name="text:9"/>
          <p:cNvSpPr txBox="1"/>
          <p:nvPr/>
        </p:nvSpPr>
        <p:spPr>
          <a:xfrm>
            <a:off x="8255000" y="5464810"/>
            <a:ext cx="3429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657083"/>
                </a:solidFill>
                <a:latin typeface="Microsoft YaHei"/>
              </a:defRPr>
            </a:pPr>
            <a:r>
              <a:t>太阳能发电同比增速</a:t>
            </a:r>
          </a:p>
        </p:txBody>
      </p:sp>
      <p:sp>
        <p:nvSpPr>
          <p:cNvPr id="11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:main"/>
          <p:cNvSpPr txBox="1"/>
          <p:nvPr/>
        </p:nvSpPr>
        <p:spPr>
          <a:xfrm>
            <a:off x="406400" y="317500"/>
            <a:ext cx="113792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2C3E70"/>
                </a:solidFill>
                <a:latin typeface="Microsoft YaHei"/>
              </a:defRPr>
            </a:pPr>
            <a:r>
              <a:t>清洁电力已覆盖新增需求，深度减排需要更大净增量</a:t>
            </a:r>
          </a:p>
        </p:txBody>
      </p:sp>
      <p:sp>
        <p:nvSpPr>
          <p:cNvPr id="3" name="subtitle:main"/>
          <p:cNvSpPr txBox="1"/>
          <p:nvPr/>
        </p:nvSpPr>
        <p:spPr>
          <a:xfrm>
            <a:off x="406400" y="876300"/>
            <a:ext cx="113792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657083"/>
                </a:solidFill>
                <a:latin typeface="Microsoft YaHei"/>
              </a:defRPr>
            </a:pPr>
            <a:r>
              <a:t>2025 年全球清洁增量 / 需求增量 = 104.5%；2025 年估算</a:t>
            </a:r>
          </a:p>
        </p:txBody>
      </p:sp>
      <p:sp>
        <p:nvSpPr>
          <p:cNvPr id="4" name="text:3"/>
          <p:cNvSpPr txBox="1"/>
          <p:nvPr/>
        </p:nvSpPr>
        <p:spPr>
          <a:xfrm>
            <a:off x="457200" y="1656079"/>
            <a:ext cx="787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37C7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:4"/>
          <p:cNvSpPr txBox="1"/>
          <p:nvPr/>
        </p:nvSpPr>
        <p:spPr>
          <a:xfrm>
            <a:off x="1524000" y="1713229"/>
            <a:ext cx="990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2C3E70"/>
                </a:solidFill>
                <a:latin typeface="Microsoft YaHei"/>
              </a:defRPr>
            </a:pPr>
            <a:r>
              <a:t>维持增长领先</a:t>
            </a:r>
          </a:p>
        </p:txBody>
      </p:sp>
      <p:sp>
        <p:nvSpPr>
          <p:cNvPr id="6" name="text:5"/>
          <p:cNvSpPr txBox="1"/>
          <p:nvPr/>
        </p:nvSpPr>
        <p:spPr>
          <a:xfrm>
            <a:off x="1524000" y="2170429"/>
            <a:ext cx="9906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43042"/>
                </a:solidFill>
                <a:latin typeface="Microsoft YaHei"/>
              </a:defRPr>
            </a:pPr>
            <a:r>
              <a:t>清洁发电增加 886.9 TWh，超过需求增量 37.8 TWh。</a:t>
            </a:r>
          </a:p>
        </p:txBody>
      </p:sp>
      <p:sp>
        <p:nvSpPr>
          <p:cNvPr id="7" name="text:6"/>
          <p:cNvSpPr txBox="1"/>
          <p:nvPr/>
        </p:nvSpPr>
        <p:spPr>
          <a:xfrm>
            <a:off x="1524000" y="2576829"/>
            <a:ext cx="9906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43042"/>
                </a:solidFill>
                <a:latin typeface="Microsoft YaHei"/>
              </a:defRPr>
            </a:pPr>
            <a:r>
              <a:t>化石发电因此下降 0.21%；扩大两者差额才能加快下降。</a:t>
            </a:r>
          </a:p>
        </p:txBody>
      </p:sp>
      <p:sp>
        <p:nvSpPr>
          <p:cNvPr id="8" name="text:7"/>
          <p:cNvSpPr txBox="1"/>
          <p:nvPr/>
        </p:nvSpPr>
        <p:spPr>
          <a:xfrm>
            <a:off x="457200" y="3078479"/>
            <a:ext cx="787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37C7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:8"/>
          <p:cNvSpPr txBox="1"/>
          <p:nvPr/>
        </p:nvSpPr>
        <p:spPr>
          <a:xfrm>
            <a:off x="1524000" y="3135629"/>
            <a:ext cx="990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2C3E70"/>
                </a:solidFill>
                <a:latin typeface="Microsoft YaHei"/>
              </a:defRPr>
            </a:pPr>
            <a:r>
              <a:t>抓住大国分化</a:t>
            </a:r>
          </a:p>
        </p:txBody>
      </p:sp>
      <p:sp>
        <p:nvSpPr>
          <p:cNvPr id="10" name="text:9"/>
          <p:cNvSpPr txBox="1"/>
          <p:nvPr/>
        </p:nvSpPr>
        <p:spPr>
          <a:xfrm>
            <a:off x="1508760" y="3592829"/>
            <a:ext cx="9906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43042"/>
                </a:solidFill>
                <a:latin typeface="Microsoft YaHei"/>
              </a:defRPr>
            </a:pPr>
            <a:r>
              <a:t>中国与印度合计减少化石发电 107.9 TWh。</a:t>
            </a:r>
          </a:p>
        </p:txBody>
      </p:sp>
      <p:sp>
        <p:nvSpPr>
          <p:cNvPr id="11" name="text:10"/>
          <p:cNvSpPr txBox="1"/>
          <p:nvPr/>
        </p:nvSpPr>
        <p:spPr>
          <a:xfrm>
            <a:off x="1524000" y="3999229"/>
            <a:ext cx="9906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43042"/>
                </a:solidFill>
                <a:latin typeface="Microsoft YaHei"/>
              </a:defRPr>
            </a:pPr>
            <a:r>
              <a:t>美国需求增加 131.0 TWh，清洁增量 105.1 TWh，化石发电回升。</a:t>
            </a:r>
          </a:p>
        </p:txBody>
      </p:sp>
      <p:sp>
        <p:nvSpPr>
          <p:cNvPr id="12" name="text:11"/>
          <p:cNvSpPr txBox="1"/>
          <p:nvPr/>
        </p:nvSpPr>
        <p:spPr>
          <a:xfrm>
            <a:off x="457200" y="4500879"/>
            <a:ext cx="787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237C7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:12"/>
          <p:cNvSpPr txBox="1"/>
          <p:nvPr/>
        </p:nvSpPr>
        <p:spPr>
          <a:xfrm>
            <a:off x="1524000" y="4558029"/>
            <a:ext cx="990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2C3E70"/>
                </a:solidFill>
                <a:latin typeface="Microsoft YaHei"/>
              </a:defRPr>
            </a:pPr>
            <a:r>
              <a:t>把低碳供给转成替代量</a:t>
            </a:r>
          </a:p>
        </p:txBody>
      </p:sp>
      <p:sp>
        <p:nvSpPr>
          <p:cNvPr id="14" name="text:13"/>
          <p:cNvSpPr txBox="1"/>
          <p:nvPr/>
        </p:nvSpPr>
        <p:spPr>
          <a:xfrm>
            <a:off x="1524000" y="5015229"/>
            <a:ext cx="9906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43042"/>
                </a:solidFill>
                <a:latin typeface="Microsoft YaHei"/>
              </a:defRPr>
            </a:pPr>
            <a:r>
              <a:t>全球风光增加 840.5 TWh，水电仅增加 2.9 TWh。</a:t>
            </a:r>
          </a:p>
        </p:txBody>
      </p:sp>
      <p:sp>
        <p:nvSpPr>
          <p:cNvPr id="15" name="text:14"/>
          <p:cNvSpPr txBox="1"/>
          <p:nvPr/>
        </p:nvSpPr>
        <p:spPr>
          <a:xfrm>
            <a:off x="1524000" y="5421629"/>
            <a:ext cx="9906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243042"/>
                </a:solidFill>
                <a:latin typeface="Microsoft YaHei"/>
              </a:defRPr>
            </a:pPr>
            <a:r>
              <a:t>持续扩张风光、核电与其他清洁供给，才能共同覆盖新增负荷。</a:t>
            </a:r>
          </a:p>
        </p:txBody>
      </p:sp>
      <p:sp>
        <p:nvSpPr>
          <p:cNvPr id="16" name="page-number:main"/>
          <p:cNvSpPr txBox="1"/>
          <p:nvPr/>
        </p:nvSpPr>
        <p:spPr>
          <a:xfrm>
            <a:off x="11150600" y="6299200"/>
            <a:ext cx="63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57083"/>
                </a:solidFill>
                <a:latin typeface="Microsoft YaHe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150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1D4273"/>
      </a:accent1>
      <a:accent2>
        <a:srgbClr val="A13422"/>
      </a:accent2>
      <a:accent3>
        <a:srgbClr val="1D4273"/>
      </a:accent3>
      <a:accent4>
        <a:srgbClr val="A13422"/>
      </a:accent4>
      <a:accent5>
        <a:srgbClr val="1D4273"/>
      </a:accent5>
      <a:accent6>
        <a:srgbClr val="A13422"/>
      </a:accent6>
      <a:hlink>
        <a:srgbClr val="1D4273"/>
      </a:hlink>
      <a:folHlink>
        <a:srgbClr val="A13422"/>
      </a:folHlink>
    </a:clrScheme>
    <a:fontScheme name="自定义 35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7042</Words>
  <PresentationFormat>宽屏</PresentationFormat>
  <Paragraphs>1718</Paragraphs>
  <Slides>41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Roboto</vt:lpstr>
      <vt:lpstr>思源黑体 CN Normal</vt:lpstr>
      <vt:lpstr>Wingdings</vt:lpstr>
      <vt:lpstr>思源黑体 CN Bold</vt:lpstr>
      <vt:lpstr>3_WPS</vt:lpstr>
      <vt:lpstr>自定义设计方案</vt:lpstr>
      <vt:lpstr>3_Office 主题​​</vt:lpstr>
      <vt:lpstr>1_WPS</vt:lpstr>
      <vt:lpstr>2_Office 主题​​</vt:lpstr>
      <vt:lpstr>2_WPS</vt:lpstr>
      <vt:lpstr>4_Office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全球电力转型：2000—2025</dc:title>
  <cp:lastModifiedBy>Sun guang</cp:lastModifiedBy>
  <cp:revision>19</cp:revision>
  <dcterms:created xsi:type="dcterms:W3CDTF">2025-10-30T15:22:00Z</dcterms:created>
  <dcterms:modified xsi:type="dcterms:W3CDTF">2026-05-27T07:23:51Z</dcterms:modified>
  <dc:subject>Ember 2026 global electricity data analysis</dc:subject>
  <dc:creator>SKILL应用测试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DF38599D262943318C4801E6EB113D3F_13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v1.0_mb_IpbY6fRBQgubiwoxMjUV8w==</vt:lpwstr>
  </property>
</Properties>
</file>