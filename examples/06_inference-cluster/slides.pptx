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1.xml" ContentType="application/vnd.openxmlformats-officedocument.drawingml.chart+xml"/>
  <Override PartName="/ppt/charts/chart13.xml" ContentType="application/vnd.openxmlformats-officedocument.drawingml.chart+xml"/>
  <Override PartName="/ppt/charts/chart36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9.xml" ContentType="application/vnd.openxmlformats-officedocument.drawingml.chart+xml"/>
  <Override PartName="/ppt/charts/colors11.xml" ContentType="application/vnd.ms-office.chartcolorstyle+xml"/>
  <Override PartName="/ppt/charts/colors13.xml" ContentType="application/vnd.ms-office.chartcolorstyle+xml"/>
  <Override PartName="/ppt/charts/colors35.xml" ContentType="application/vnd.ms-office.chartcolorstyle+xml"/>
  <Override PartName="/ppt/charts/colors38.xml" ContentType="application/vnd.ms-office.chartcolorstyle+xml"/>
  <Override PartName="/ppt/charts/colors9.xml" ContentType="application/vnd.ms-office.chartcolorstyle+xml"/>
  <Override PartName="/ppt/charts/style11.xml" ContentType="application/vnd.ms-office.chartstyle+xml"/>
  <Override PartName="/ppt/charts/style13.xml" ContentType="application/vnd.ms-office.chartstyle+xml"/>
  <Override PartName="/ppt/charts/style35.xml" ContentType="application/vnd.ms-office.chartstyle+xml"/>
  <Override PartName="/ppt/charts/style3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83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2"/>
    <p:sldMasterId id="2147483661" r:id="rId3"/>
    <p:sldMasterId id="2147483663" r:id="rId4"/>
    <p:sldMasterId id="2147483675" r:id="rId5"/>
    <p:sldMasterId id="2147483690" r:id="rId6"/>
    <p:sldMasterId id="2147483696" r:id="rId7"/>
  </p:sldMasterIdLst>
  <p:notesMasterIdLst>
    <p:notesMasterId r:id="rId49"/>
  </p:notesMasterIdLst>
  <p:handoutMasterIdLst>
    <p:handoutMasterId r:id="rId50"/>
  </p:handoutMasterIdLst>
  <p:sldIdLst>
    <p:sldId id="420" r:id="rId16"/>
    <p:sldId id="288" r:id="rId28"/>
    <p:sldId id="350" r:id="rId33"/>
    <p:sldId id="290" r:id="rId30"/>
    <p:sldId id="42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1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16" Type="http://schemas.openxmlformats.org/officeDocument/2006/relationships/slide" Target="slides/slide1.xml"/><Relationship Id="rId17" Type="http://schemas.openxmlformats.org/officeDocument/2006/relationships/slide" Target="slides/slide5.xml"/><Relationship Id="rId28" Type="http://schemas.openxmlformats.org/officeDocument/2006/relationships/slide" Target="slides/slide2.xml"/><Relationship Id="rId30" Type="http://schemas.openxmlformats.org/officeDocument/2006/relationships/slide" Target="slides/slide4.xml"/><Relationship Id="rId33" Type="http://schemas.openxmlformats.org/officeDocument/2006/relationships/slide" Target="slides/slide3.xml"/><Relationship Id="rId49" Type="http://schemas.openxmlformats.org/officeDocument/2006/relationships/notesMaster" Target="notesMasters/notesMaster1.xml"/><Relationship Id="rId50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8" Type="http://schemas.openxmlformats.org/officeDocument/2006/relationships/viewProps" Target="viewProps.xm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___8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___10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___12.xlsx"/></Relationships>
</file>

<file path=ppt/charts/_rels/chart36.xml.rels><?xml version='1.0' encoding='UTF-8' standalone='yes'?>
<Relationships xmlns="http://schemas.openxmlformats.org/package/2006/relationships"><Relationship Id="rId1" Type="http://schemas.microsoft.com/office/2011/relationships/chartStyle" Target="style35.xml"/><Relationship Id="rId2" Type="http://schemas.microsoft.com/office/2011/relationships/chartColorStyle" Target="colors35.xml"/><Relationship Id="rId3" Type="http://schemas.openxmlformats.org/officeDocument/2006/relationships/package" Target="../embeddings/Microsoft_Excel____35.xlsx"/></Relationships>
</file>

<file path=ppt/charts/_rels/chart39.xml.rels><?xml version='1.0' encoding='UTF-8' standalone='yes'?>
<Relationships xmlns="http://schemas.openxmlformats.org/package/2006/relationships"><Relationship Id="rId1" Type="http://schemas.microsoft.com/office/2011/relationships/chartStyle" Target="style38.xml"/><Relationship Id="rId2" Type="http://schemas.microsoft.com/office/2011/relationships/chartColorStyle" Target="colors38.xml"/><Relationship Id="rId3" Type="http://schemas.openxmlformats.org/officeDocument/2006/relationships/package" Target="../embeddings/Microsoft_Excel____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3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TP=2</c:v>
                </c:pt>
              </c:strCache>
            </c:strRef>
          </c:tx>
          <c:spPr>
            <a:solidFill>
              <a:srgbClr val="E8E8E8"/>
            </a:solidFill>
            <a:ln w="25400">
              <a:solidFill>
                <a:srgbClr val="E8E8E8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32k</c:v>
                </c:pt>
                <c:pt idx="1">
                  <c:v>64k</c:v>
                </c:pt>
                <c:pt idx="2">
                  <c:v>128k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TP=4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32k</c:v>
                </c:pt>
                <c:pt idx="1">
                  <c:v>64k</c:v>
                </c:pt>
                <c:pt idx="2">
                  <c:v>128k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TP=8</c:v>
                </c:pt>
              </c:strCache>
            </c:strRef>
          </c:tx>
          <c:spPr>
            <a:solidFill>
              <a:srgbClr val="2C3E70"/>
            </a:solidFill>
            <a:ln w="25400" cap="rnd">
              <a:solidFill>
                <a:srgbClr val="2C3E70"/>
              </a:solidFill>
              <a:round/>
            </a:ln>
            <a:effectLst>
              <a:outerShdw blurRad="50800" dist="50800" dir="5400000" algn="ctr" rotWithShape="0">
                <a:srgbClr val="000000">
                  <a:alpha val="20000"/>
                </a:srgbClr>
              </a:outerShdw>
            </a:effectLst>
          </c:spPr>
          <c:cat>
            <c:strRef>
              <c:f>Sheet1!$A$2:$A$4</c:f>
              <c:strCache>
                <c:ptCount val="3"/>
                <c:pt idx="0">
                  <c:v>32k</c:v>
                </c:pt>
                <c:pt idx="1">
                  <c:v>64k</c:v>
                </c:pt>
                <c:pt idx="2">
                  <c:v>128k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gapWidth val="80"/>
        <c:overlap val="-27"/>
        <c:axId val="89684128"/>
        <c:axId val="89684544"/>
      </c:barChart>
      <c:catAx>
        <c:axId val="896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  <c:crossAx val="89684544"/>
        <c:crosses val="autoZero"/>
        <c:auto val="1"/>
        <c:lblAlgn val="ctr"/>
        <c:lblOffset val="100"/>
        <c:noMultiLvlLbl val="0"/>
      </c:catAx>
      <c:valAx>
        <c:axId val="89684544"/>
        <c:scaling>
          <c:orientation val="minMax"/>
          <c:max val="45.0"/>
          <c:min val="0.0"/>
        </c:scaling>
        <c:delete val="0"/>
        <c:axPos val="l"/>
        <c:majorGridlines>
          <c:spPr>
            <a:ln w="6350">
              <a:solidFill>
                <a:srgbClr val="DCE1E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  <c:crossAx val="89684128"/>
        <c:crosses val="autoZero"/>
        <c:crossBetween val="between"/>
        <c:majorUnit val="15.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 sz="1200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>
          <a:solidFill>
            <a:srgbClr val="202B3E"/>
          </a:solidFill>
          <a:latin typeface="Microsoft YaHei"/>
          <a:ea typeface="+mn-ea"/>
        </a:defRPr>
      </a:pPr>
      <a:endParaRPr lang="zh-CN" sz="1200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显存预算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130.385160446167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运行预留</c:v>
                </c:pt>
              </c:strCache>
            </c:strRef>
          </c:tx>
          <c:spPr>
            <a:solidFill>
              <a:srgbClr val="E8E8E8"/>
            </a:solidFill>
            <a:ln w="25400">
              <a:solidFill>
                <a:srgbClr val="E8E8E8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显存预算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KV 缓存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显存预算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135.63806343078613</c:v>
                </c:pt>
              </c:numCache>
            </c:numRef>
          </c:val>
        </c:ser>
        <c:gapWidth val="50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  <c:max val="300.0"/>
          <c:min val="0.0"/>
        </c:scaling>
        <c:delete val="0"/>
        <c:axPos val="t"/>
        <c:majorGridlines>
          <c:spPr>
            <a:ln w="6350">
              <a:solidFill>
                <a:srgbClr val="DCE1E9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1600644015"/>
        <c:crosses val="autoZero"/>
        <c:crossBetween val="between"/>
        <c:majorUnit val="100.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>
          <a:solidFill>
            <a:srgbClr val="202B3E"/>
          </a:solidFill>
          <a:latin typeface="Microsoft YaHei"/>
          <a:ea typeface="+mn-ea"/>
        </a:defRPr>
      </a:pPr>
      <a:endParaRPr lang="zh-CN" sz="1200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 副本</c:v>
                </c:pt>
              </c:strCache>
            </c:strRef>
          </c:tx>
          <c:spPr>
            <a:solidFill>
              <a:srgbClr val="B73E3E"/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</c:dPt>
          <c:xVal>
            <c:numRef>
              <c:f>Sheet1!$A$2:$A$2</c:f>
              <c:numCache>
                <c:formatCode>General</c:formatCode>
                <c:ptCount val="1"/>
                <c:pt idx="0">
                  <c:v>11.078399999999998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85.33333333333333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4 副本</c:v>
                </c:pt>
              </c:strCache>
            </c:strRef>
          </c:tx>
          <c:spPr>
            <a:solidFill>
              <a:srgbClr val="2C3E70"/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</c:dPt>
          <c:xVal>
            <c:numRef>
              <c:f>Sheet1!$A$5:$A$5</c:f>
              <c:numCache>
                <c:formatCode>General</c:formatCode>
                <c:ptCount val="1"/>
                <c:pt idx="0">
                  <c:v>12.5184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64.0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12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5 副本</c:v>
                </c:pt>
              </c:strCache>
            </c:strRef>
          </c:tx>
          <c:spPr>
            <a:solidFill>
              <a:srgbClr val="5B7DBB"/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</c:dPt>
          <c:xVal>
            <c:numRef>
              <c:f>Sheet1!$A$8:$A$8</c:f>
              <c:numCache>
                <c:formatCode>General</c:formatCode>
                <c:ptCount val="1"/>
                <c:pt idx="0">
                  <c:v>13.9584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51.2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15</c:v>
                </c:pt>
              </c:numCache>
            </c:numRef>
          </c:bubbleSize>
          <c:bubble3D val="0"/>
        </c:ser>
        <c:bubbleScale val="100"/>
        <c:showNegBubbles val="0"/>
        <c:axId val="208310736"/>
        <c:axId val="208323216"/>
      </c:bubbleChart>
      <c:valAx>
        <c:axId val="208310736"/>
        <c:scaling>
          <c:orientation val="minMax"/>
          <c:max val="15.0"/>
          <c:min val="10.0"/>
        </c:scaling>
        <c:delete val="0"/>
        <c:axPos val="b"/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8323216"/>
        <c:crosses val="autoZero"/>
        <c:crossBetween val="midCat"/>
        <c:majorUnit val="1.0"/>
      </c:valAx>
      <c:valAx>
        <c:axId val="208323216"/>
        <c:scaling>
          <c:orientation val="minMax"/>
          <c:max val="100.0"/>
          <c:min val="4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8310736"/>
        <c:crosses val="autoZero"/>
        <c:crossBetween val="midCat"/>
        <c:majorUnit val="20.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>
          <a:solidFill>
            <a:schemeClr val="tx1"/>
          </a:solidFill>
          <a:latin typeface="Microsoft YaHei"/>
          <a:ea typeface="+mn-ea"/>
        </a:defRPr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 副本</c:v>
                </c:pt>
              </c:strCache>
            </c:strRef>
          </c:tx>
          <c:spPr>
            <a:solidFill>
              <a:srgbClr val="B73E3E"/>
            </a:solidFill>
            <a:ln w="25400" cap="rnd">
              <a:solidFill>
                <a:srgbClr val="B73E3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73E3E"/>
              </a:solidFill>
              <a:ln w="25400">
                <a:solidFill>
                  <a:srgbClr val="B73E3E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0.14</c:v>
                </c:pt>
                <c:pt idx="1">
                  <c:v>0.17</c:v>
                </c:pt>
                <c:pt idx="2">
                  <c:v>0.20</c:v>
                </c:pt>
                <c:pt idx="3">
                  <c:v>0.23</c:v>
                </c:pt>
                <c:pt idx="4">
                  <c:v>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8.091504305031537</c:v>
                </c:pt>
                <c:pt idx="2">
                  <c:v>20.39617086494922</c:v>
                </c:pt>
                <c:pt idx="3">
                  <c:v>43.81855542564734</c:v>
                </c:pt>
                <c:pt idx="4">
                  <c:v>127.80891025689645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副本</c:v>
                </c:pt>
              </c:strCache>
            </c:strRef>
          </c:tx>
          <c:spPr>
            <a:solidFill>
              <a:srgbClr val="2C3E70"/>
            </a:solidFill>
            <a:ln w="25400" cap="rnd">
              <a:solidFill>
                <a:srgbClr val="2C3E7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2C3E70"/>
              </a:solidFill>
              <a:ln w="25400">
                <a:solidFill>
                  <a:srgbClr val="2C3E70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0.14</c:v>
                </c:pt>
                <c:pt idx="1">
                  <c:v>0.17</c:v>
                </c:pt>
                <c:pt idx="2">
                  <c:v>0.20</c:v>
                </c:pt>
                <c:pt idx="3">
                  <c:v>0.23</c:v>
                </c:pt>
                <c:pt idx="4">
                  <c:v>0.26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3.697078966731538</c:v>
                </c:pt>
                <c:pt idx="4">
                  <c:v>10.864629029916568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 副本</c:v>
                </c:pt>
              </c:strCache>
            </c:strRef>
          </c:tx>
          <c:spPr>
            <a:solidFill>
              <a:srgbClr val="5B7DBB"/>
            </a:solidFill>
            <a:ln w="25400" cap="rnd">
              <a:solidFill>
                <a:srgbClr val="5B7DB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5B7DBB"/>
              </a:solidFill>
              <a:ln w="25400">
                <a:solidFill>
                  <a:srgbClr val="5B7DBB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0.14</c:v>
                </c:pt>
                <c:pt idx="1">
                  <c:v>0.17</c:v>
                </c:pt>
                <c:pt idx="2">
                  <c:v>0.20</c:v>
                </c:pt>
                <c:pt idx="3">
                  <c:v>0.23</c:v>
                </c:pt>
                <c:pt idx="4">
                  <c:v>0.26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marker val="1"/>
        <c:smooth val="0"/>
        <c:axId val="1031853583"/>
        <c:axId val="1624482592"/>
      </c:lineChart>
      <c:catAx>
        <c:axId val="103185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  <c:crossAx val="1624482592"/>
        <c:crosses val="autoZero"/>
        <c:auto val="1"/>
        <c:lblAlgn val="ctr"/>
        <c:lblOffset val="100"/>
        <c:noMultiLvlLbl val="0"/>
      </c:catAx>
      <c:valAx>
        <c:axId val="1624482592"/>
        <c:scaling>
          <c:orientation val="minMax"/>
          <c:max val="130.0"/>
          <c:min val="0.0"/>
        </c:scaling>
        <c:delete val="0"/>
        <c:axPos val="l"/>
        <c:majorGridlines>
          <c:spPr>
            <a:ln w="6350">
              <a:solidFill>
                <a:srgbClr val="DCE1E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  <c:crossAx val="1031853583"/>
        <c:crosses val="autoZero"/>
        <c:crossBetween val="between"/>
        <c:majorUnit val="26.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>
          <a:solidFill>
            <a:srgbClr val="202B3E"/>
          </a:solidFill>
          <a:latin typeface="Microsoft YaHei"/>
        </a:defRPr>
      </a:pPr>
      <a:endParaRPr lang="zh-CN" sz="1200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底耗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 副本</c:v>
                </c:pt>
                <c:pt idx="1">
                  <c:v>4 副本</c:v>
                </c:pt>
                <c:pt idx="2">
                  <c:v>5 副本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1.7999999999999998</c:v>
                </c:pt>
                <c:pt idx="1">
                  <c:v>2.4</c:v>
                </c:pt>
                <c:pt idx="2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动态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 副本</c:v>
                </c:pt>
                <c:pt idx="1">
                  <c:v>4 副本</c:v>
                </c:pt>
                <c:pt idx="2">
                  <c:v>5 副本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5.632</c:v>
                </c:pt>
                <c:pt idx="1">
                  <c:v>5.632000000000001</c:v>
                </c:pt>
                <c:pt idx="2">
                  <c:v>5.632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主机</c:v>
                </c:pt>
              </c:strCache>
            </c:strRef>
          </c:tx>
          <c:spPr>
            <a:solidFill>
              <a:srgbClr val="5B7DBB"/>
            </a:solidFill>
            <a:ln w="25400">
              <a:solidFill>
                <a:srgbClr val="5B7DBB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 副本</c:v>
                </c:pt>
                <c:pt idx="1">
                  <c:v>4 副本</c:v>
                </c:pt>
                <c:pt idx="2">
                  <c:v>5 副本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1.7999999999999998</c:v>
                </c:pt>
                <c:pt idx="1">
                  <c:v>2.4</c:v>
                </c:pt>
                <c:pt idx="2">
                  <c:v>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设施附加</c:v>
                </c:pt>
              </c:strCache>
            </c:strRef>
          </c:tx>
          <c:spPr>
            <a:solidFill>
              <a:srgbClr val="E8E8E8"/>
            </a:solidFill>
            <a:ln w="25400">
              <a:solidFill>
                <a:srgbClr val="E8E8E8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 副本</c:v>
                </c:pt>
                <c:pt idx="1">
                  <c:v>4 副本</c:v>
                </c:pt>
                <c:pt idx="2">
                  <c:v>5 副本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1.8464</c:v>
                </c:pt>
                <c:pt idx="1">
                  <c:v>2.0864000000000003</c:v>
                </c:pt>
                <c:pt idx="2">
                  <c:v>2.3264</c:v>
                </c:pt>
              </c:numCache>
            </c:numRef>
          </c:val>
        </c:ser>
        <c:gapWidth val="86"/>
        <c:overlap val="100"/>
        <c:axId val="1118122719"/>
        <c:axId val="1118132799"/>
      </c:barChart>
      <c:catAx>
        <c:axId val="111812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 sz="1200"/>
          </a:p>
        </c:txPr>
        <c:crossAx val="1118132799"/>
        <c:crosses val="autoZero"/>
        <c:auto val="1"/>
        <c:lblAlgn val="ctr"/>
        <c:lblOffset val="100"/>
        <c:noMultiLvlLbl val="0"/>
      </c:catAx>
      <c:valAx>
        <c:axId val="1118132799"/>
        <c:scaling>
          <c:orientation val="minMax"/>
          <c:max val="16.0"/>
          <c:min val="0.0"/>
        </c:scaling>
        <c:delete val="0"/>
        <c:axPos val="l"/>
        <c:majorGridlines>
          <c:spPr>
            <a:ln w="6350">
              <a:solidFill>
                <a:srgbClr val="DCE1E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1118122719"/>
        <c:crosses val="autoZero"/>
        <c:crossBetween val="between"/>
        <c:majorUnit val="4.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>
          <a:solidFill>
            <a:srgbClr val="202B3E"/>
          </a:solidFill>
          <a:latin typeface="Microsoft YaHei"/>
        </a:defRPr>
      </a:pPr>
      <a:endParaRPr lang="zh-CN" sz="1200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功率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dPt>
            <c:idx val="0"/>
            <c:spPr>
              <a:solidFill>
                <a:srgbClr val="2C3E70"/>
              </a:solidFill>
              <a:ln>
                <a:noFill/>
              </a:ln>
            </c:spPr>
          </c:dPt>
          <c:dPt>
            <c:idx val="1"/>
            <c:spPr>
              <a:solidFill>
                <a:srgbClr val="B73E3E"/>
              </a:solidFill>
              <a:ln>
                <a:noFill/>
              </a:ln>
            </c:spPr>
          </c:dPt>
          <c:dPt>
            <c:idx val="2"/>
            <c:spPr>
              <a:solidFill>
                <a:srgbClr val="5B7DBB"/>
              </a:solidFill>
              <a:ln>
                <a:noFill/>
              </a:ln>
            </c:spPr>
          </c:dPt>
          <c:dPt>
            <c:idx val="3"/>
            <c:spPr>
              <a:solidFill>
                <a:srgbClr val="E8E8E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GPU 底耗</c:v>
                </c:pt>
                <c:pt idx="1">
                  <c:v>GPU 动态</c:v>
                </c:pt>
                <c:pt idx="2">
                  <c:v>主机</c:v>
                </c:pt>
                <c:pt idx="3">
                  <c:v>设施附加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5.632000000000001</c:v>
                </c:pt>
                <c:pt idx="2">
                  <c:v>2.4</c:v>
                </c:pt>
                <c:pt idx="3">
                  <c:v>2.0864000000000003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200">
          <a:solidFill>
            <a:srgbClr val="202B3E"/>
          </a:solidFill>
          <a:latin typeface="Microsoft YaHei"/>
        </a:defRPr>
      </a:pPr>
      <a:endParaRPr lang="zh-CN" sz="1200"/>
    </a:p>
  </c:txPr>
  <c:externalData r:id="rId1">
    <c:autoUpdate val="0"/>
  </c:externalData>
</c:chartSpac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2026/5/27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‹#›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 H100 SXM公开规格给出最高700W可配置TDP：https://www.nvidia.com/en-us/data-center/h100/ 。该值用于模型上界。规划假设：GPU闲置0.15kW，动态增量0.55×ρ，主机0.6kW/4GPU副本，设施PUE1.2。功率模型假设ρ可代理GPU占用，生产回放必须用电表或遥测拟合P(ρ)。固定λ，全部稳定完成且无重试，所以E=P/(3.6λ) kWh/千请求。3/4/5副本功率为11.0784/12.5184/13.9584kW；能耗为12.8222/14.4889/16.1556 kWh/千请求。</a:t>
            </a:r>
          </a:p>
          <a:p>
            <a:r>
              <a:t>4副本构成为GPU底耗2.4、GPU动态5.632、主机2.4、设施附加2.0864kW。排队增长使SLO失败请求增多；实际业务应以达标请求数计算有用能耗。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公开规格：Meta Llama 3.1 70B 架构 dim=8192,n_layers=80,n_heads=64,n_kv_heads=8，head_dim=128。https://github.com/meta-llama/llama-models/blob/main/models/sku_list.py</a:t>
            </a:r>
          </a:p>
          <a:p>
            <a:r>
              <a:t>NVIDIA H100 SXM：80GB HBM，最高700W。https://www.nvidia.com/en-us/data-center/h100/</a:t>
            </a:r>
          </a:p>
          <a:p>
            <a:r>
              <a:t>工程假设：140×10^9 byte权重预算，每GPU预留8GiB供运行时/临时激活；按GPU显存标称80×10^9 byte计算。1GiB=2^30 byte；k=1024，序列长度含输入与最大输出，KV均匀按TP分片，无前缀共享。实际框架的块对齐、碎片和显存实测值应替换预算。TP=2的剩余KV为2.63GiB，无法接纳一条32k序列；TP=8为401.66GiB。并发矩阵= floor((N×80e9−140e9−N×8×2^30)/(L×327680))。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/M/c工程筛选模型：Poisson到达、FCFS、c个独立指数服务槽，均值32s；各副本3槽，服务时长已包含三路并发下的完整请求驻留。该32s是规划假设，需以固定128k与真实输出长度回放校准；连续批处理的槽间干扰和突发流量通过回放修正。</a:t>
            </a:r>
          </a:p>
          <a:p>
            <a:r>
              <a:t>Erlang C：a=λS，ρ=a/c，C=[a^c/(c!(1−ρ))]/[Σ(k=0..c−1)a^k/k! + a^c/(c!(1−ρ))]。Wq是进入服务前的等待，不是TTFT或端到端延迟。</a:t>
            </a:r>
          </a:p>
          <a:p>
            <a:r>
              <a:t>λ=.24,S=32：[{"replicas": 3, "rho": 0.8533333333333333, "C": 0.5587626177695812, "q95": 58.513981148669394, "power_kw": 11.078399999999998, "energy_kwh_1k": 12.822222222222221}, {"replicas": 4, "rho": 0.64, "C": 0.11031005291819487, "q95": 5.861274505745056, "power_kw": 12.5184, "energy_kwh_1k": 14.488888888888889}, {"replicas": 5, "rho": 0.512, "C": 0.013788980561003559, "q95": 0, "power_kw": 13.9584, "energy_kwh_1k": 16.155555555555555}]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DistServe机制与公开论文：https://www.usenix.org/conference/osdi24/presentation/zhong-yinmin ，2024。研究分离预填充与解码、联合优化阶段资源与并行策略，并按带宽放置，避免互相干扰。</a:t>
            </a:r>
          </a:p>
          <a:p>
            <a:r>
              <a:t>vLLM前缀缓存复用已处理的相同前缀KV，减少prompt重复计算：https://docs.vllm.ai/en/latest/features/automatic_prefix_caching/ 。</a:t>
            </a:r>
          </a:p>
          <a:p>
            <a:r>
              <a:t>传输模型假设一次完整KV全量跨池、带宽利用率70%、无重叠隐藏；总长度128k的完整KV=131072×327680=42949672960 byte。100/200/400Gb/s分别乘1e9/8×0.7得到有效byte/s。平均流量=KV×0.24×8/1e9=82.463Gb/s，二倍突发164.927。400Gb/s的70%有效带宽为280Gb/s；200Gb/s的140Gb/s无法覆盖该突发。实际P/D实现若按TP分片多链路或KV重用，应替换对应链路汇聚带宽与传输字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一工程算例采用前四页的公开结构参数与规划假设。目标为队列等待p95≤10秒与设施功率≤13kW。四副本共有12槽，rho=.64，P=12.5184kW。三副本9槽、rho=.853333，p95较高；五副本15槽、rho=.512，功率13.9584kW。N−1保障需要五副本，使丢失一副本后剩四副本继续满足相同输入的等待约束。电力预算需涵盖五副本运行，约14kW；真实峰值预算应再按机柜供电与实测峰值规划。</a:t>
            </a:r>
          </a:p>
          <a:p>
            <a:r>
              <a:t>请求长度含输入与输出，调短上下文会改变业务质量与服务时长，因此需重新回放。气泡图纵轴为服务槽占用率ρ，表格给出相应的队列等待p95。四副本功率约束的接纳率上限为0.257102/s，等待p95=10s的阈值约0.25685/s；同时满足两约束时，取0.256/s作为三位小数的保守接纳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7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7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7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7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7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7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slideLayout" Target="../slideLayouts/slideLayout12.xml"/><Relationship Id="rId11" Type="http://schemas.openxmlformats.org/officeDocument/2006/relationships/chart" Target="../charts/chart9.xml"/><Relationship Id="rId13" Type="http://schemas.openxmlformats.org/officeDocument/2006/relationships/chart" Target="../charts/chart11.xml"/><Relationship Id="rId18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slideLayout" Target="../slideLayouts/slideLayout25.xml"/><Relationship Id="rId7" Type="http://schemas.openxmlformats.org/officeDocument/2006/relationships/chart" Target="../charts/chart36.xml"/><Relationship Id="rId9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Relationship Id="rId10" Type="http://schemas.openxmlformats.org/officeDocument/2006/relationships/slideLayout" Target="../slideLayouts/slideLayout26.xml"/><Relationship Id="rId11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slideLayout" Target="../slideLayouts/slideLayout25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Relationship Id="rId7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slideLayout" Target="../slideLayouts/slideLayout12.xml"/><Relationship Id="rId13" Type="http://schemas.openxmlformats.org/officeDocument/2006/relationships/chart" Target="../charts/chart13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小红书平北职场PPT10"/>
          <p:cNvGraphicFramePr/>
          <p:nvPr/>
        </p:nvGraphicFramePr>
        <p:xfrm>
          <a:off x="457200" y="3987800"/>
          <a:ext cx="6985000" cy="140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1" name="小红书平北职场PPT17"/>
          <p:cNvGraphicFramePr/>
          <p:nvPr/>
        </p:nvGraphicFramePr>
        <p:xfrm>
          <a:off x="457200" y="1892300"/>
          <a:ext cx="6985000" cy="11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2" name="title:main"/>
          <p:cNvSpPr txBox="1"/>
          <p:nvPr/>
        </p:nvSpPr>
        <p:spPr>
          <a:xfrm>
            <a:off x="457200" y="254000"/>
            <a:ext cx="11277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E70"/>
                </a:solidFill>
                <a:latin typeface="Microsoft YaHei"/>
              </a:rPr>
              <a:t>容量：128k 上下文把显存并发压至 3 路</a:t>
            </a:r>
          </a:p>
        </p:txBody>
      </p:sp>
      <p:sp>
        <p:nvSpPr>
          <p:cNvPr id="43" name="rule"/>
          <p:cNvSpPr/>
          <p:nvPr/>
        </p:nvSpPr>
        <p:spPr>
          <a:xfrm>
            <a:off x="457200" y="800100"/>
            <a:ext cx="11277600" cy="127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ubtitle:context"/>
          <p:cNvSpPr txBox="1"/>
          <p:nvPr/>
        </p:nvSpPr>
        <p:spPr>
          <a:xfrm>
            <a:off x="457200" y="9652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长上下文推理集群：容量、排队与能耗如何共同决定部署方案  ·  SKILL应用测试</a:t>
            </a:r>
          </a:p>
        </p:txBody>
      </p:sp>
      <p:sp>
        <p:nvSpPr>
          <p:cNvPr id="45" name="page-number:main"/>
          <p:cNvSpPr txBox="1"/>
          <p:nvPr/>
        </p:nvSpPr>
        <p:spPr>
          <a:xfrm>
            <a:off x="111760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083"/>
                </a:solidFill>
                <a:latin typeface="Microsoft YaHei"/>
              </a:rPr>
              <a:t>1/5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57200" y="1524000"/>
            <a:ext cx="711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一副本 = 4 × H100 SXM；BF16 权重预算 140 GB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457200" y="3086100"/>
            <a:ext cx="152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GiB / 副本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457200" y="36195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可同时驻留的完整序列数</a:t>
            </a:r>
          </a:p>
        </p:txBody>
      </p:sp>
      <p:sp>
        <p:nvSpPr>
          <p:cNvPr id="49" name="panel"/>
          <p:cNvSpPr/>
          <p:nvPr/>
        </p:nvSpPr>
        <p:spPr>
          <a:xfrm>
            <a:off x="7747000" y="1371600"/>
            <a:ext cx="3987800" cy="19177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"/>
          <p:cNvSpPr txBox="1"/>
          <p:nvPr/>
        </p:nvSpPr>
        <p:spPr>
          <a:xfrm>
            <a:off x="7917180" y="1524000"/>
            <a:ext cx="36322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KV 随总长度线性增长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924800" y="1943100"/>
            <a:ext cx="3632200" cy="119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2 × 80 层 × 8 KV 头 × 128 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× 2 byte = 320 KiB / token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32k / 64k / 128k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每序列占 10 / 20 / 40 GiB</a:t>
            </a:r>
          </a:p>
        </p:txBody>
      </p:sp>
      <p:sp>
        <p:nvSpPr>
          <p:cNvPr id="52" name="panel"/>
          <p:cNvSpPr/>
          <p:nvPr/>
        </p:nvSpPr>
        <p:spPr>
          <a:xfrm>
            <a:off x="7747000" y="3467100"/>
            <a:ext cx="3987800" cy="1930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"/>
          <p:cNvSpPr txBox="1"/>
          <p:nvPr/>
        </p:nvSpPr>
        <p:spPr>
          <a:xfrm>
            <a:off x="7924800" y="3619500"/>
            <a:ext cx="36322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接纳规则直接绑定显存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7924800" y="4038600"/>
            <a:ext cx="36322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可用 KV = 4 × 80 GB − 140 GB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− 4 × 8 GiB = 135.6 GiB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并发上限 = floor(135.6 / 40)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128k：3 路；留存余量 15.6 GiB</a:t>
            </a:r>
          </a:p>
        </p:txBody>
      </p:sp>
      <p:sp>
        <p:nvSpPr>
          <p:cNvPr id="55" name="decision-band"/>
          <p:cNvSpPr/>
          <p:nvPr/>
        </p:nvSpPr>
        <p:spPr>
          <a:xfrm>
            <a:off x="457200" y="5626100"/>
            <a:ext cx="11277600" cy="4826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"/>
          <p:cNvSpPr txBox="1"/>
          <p:nvPr/>
        </p:nvSpPr>
        <p:spPr>
          <a:xfrm>
            <a:off x="635000" y="57404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部署含义：先按“输入 + 最大输出”预留 KV；TP=4 的 128k 请求每副本最多接纳 3 路。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图表 72"/>
          <p:cNvGraphicFramePr/>
          <p:nvPr/>
        </p:nvGraphicFramePr>
        <p:xfrm>
          <a:off x="457200" y="1879600"/>
          <a:ext cx="72136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4" name="title:main"/>
          <p:cNvSpPr txBox="1"/>
          <p:nvPr/>
        </p:nvSpPr>
        <p:spPr>
          <a:xfrm>
            <a:off x="457200" y="254000"/>
            <a:ext cx="11277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E70"/>
                </a:solidFill>
                <a:latin typeface="Microsoft YaHei"/>
              </a:rPr>
              <a:t>排队：85% 占用率已把尾部等待放大</a:t>
            </a:r>
          </a:p>
        </p:txBody>
      </p:sp>
      <p:sp>
        <p:nvSpPr>
          <p:cNvPr id="75" name="rule"/>
          <p:cNvSpPr/>
          <p:nvPr/>
        </p:nvSpPr>
        <p:spPr>
          <a:xfrm>
            <a:off x="457200" y="800100"/>
            <a:ext cx="11277600" cy="127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ubtitle:context"/>
          <p:cNvSpPr txBox="1"/>
          <p:nvPr/>
        </p:nvSpPr>
        <p:spPr>
          <a:xfrm>
            <a:off x="457200" y="9652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128k 固定长度规划情景：每副本 3 个服务槽；平均驻留 32 s；到达率 λ = 0.24 请求/s</a:t>
            </a:r>
          </a:p>
        </p:txBody>
      </p:sp>
      <p:sp>
        <p:nvSpPr>
          <p:cNvPr id="77" name="page-number:main"/>
          <p:cNvSpPr txBox="1"/>
          <p:nvPr/>
        </p:nvSpPr>
        <p:spPr>
          <a:xfrm>
            <a:off x="111760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083"/>
                </a:solidFill>
                <a:latin typeface="Microsoft YaHei"/>
              </a:rPr>
              <a:t>2/5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457200" y="1460500"/>
            <a:ext cx="728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队列等待 p95（秒）随流量陡升</a:t>
            </a:r>
          </a:p>
        </p:txBody>
      </p:sp>
      <p:sp>
        <p:nvSpPr>
          <p:cNvPr id="79" name="text"/>
          <p:cNvSpPr txBox="1"/>
          <p:nvPr/>
        </p:nvSpPr>
        <p:spPr>
          <a:xfrm>
            <a:off x="627380" y="5172710"/>
            <a:ext cx="711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横轴：到达率（请求/s）   ·   目标：队列等待 p95 ≤ 10 s</a:t>
            </a:r>
          </a:p>
        </p:txBody>
      </p:sp>
      <p:sp>
        <p:nvSpPr>
          <p:cNvPr id="80" name="panel"/>
          <p:cNvSpPr/>
          <p:nvPr/>
        </p:nvSpPr>
        <p:spPr>
          <a:xfrm>
            <a:off x="8001000" y="1308100"/>
            <a:ext cx="3733800" cy="378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"/>
          <p:cNvSpPr txBox="1"/>
          <p:nvPr/>
        </p:nvSpPr>
        <p:spPr>
          <a:xfrm>
            <a:off x="8178800" y="1460500"/>
            <a:ext cx="33782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扩容应在排队拐点之前</a:t>
            </a:r>
          </a:p>
        </p:txBody>
      </p:sp>
      <p:graphicFrame>
        <p:nvGraphicFramePr>
          <p:cNvPr id="82" name="table:data"/>
          <p:cNvGraphicFramePr>
            <a:graphicFrameLocks noGrp="1"/>
          </p:cNvGraphicFramePr>
          <p:nvPr/>
        </p:nvGraphicFramePr>
        <p:xfrm>
          <a:off x="8178800" y="1892300"/>
          <a:ext cx="3378200" cy="156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990600"/>
                <a:gridCol w="1117600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副本 / GPU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占用率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等待 p95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3 / 12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85.3%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58.5 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4 / 16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64.0%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5.9 s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 / 20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51.2%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0.0 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text"/>
          <p:cNvSpPr txBox="1"/>
          <p:nvPr/>
        </p:nvSpPr>
        <p:spPr>
          <a:xfrm>
            <a:off x="8178800" y="3683000"/>
            <a:ext cx="3378200" cy="1257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E"/>
                </a:solidFill>
                <a:latin typeface="Microsoft YaHei"/>
              </a:rPr>
              <a:t>M/M/c：c = 3r；ρ = λ × 32 / 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E"/>
                </a:solidFill>
                <a:latin typeface="Microsoft YaHei"/>
              </a:rPr>
              <a:t>P(Wq&gt;t)=C·exp[−(c/32−λ)t]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E"/>
                </a:solidFill>
                <a:latin typeface="Microsoft YaHei"/>
              </a:rPr>
              <a:t>Wq95=max[0,ln(C/0.05)/(c/32−λ)]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E"/>
                </a:solidFill>
                <a:latin typeface="Microsoft YaHei"/>
              </a:rPr>
              <a:t>C 为 Erlang C 等待概率。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E"/>
                </a:solidFill>
                <a:latin typeface="Microsoft YaHei"/>
              </a:rPr>
              <a:t>Poisson 到达；指数服务；FCFS。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E"/>
                </a:solidFill>
                <a:latin typeface="Microsoft YaHei"/>
              </a:rPr>
              <a:t>32 s 驻留须用并发回放校准。</a:t>
            </a:r>
          </a:p>
        </p:txBody>
      </p:sp>
      <p:sp>
        <p:nvSpPr>
          <p:cNvPr id="84" name="decision-band"/>
          <p:cNvSpPr/>
          <p:nvPr/>
        </p:nvSpPr>
        <p:spPr>
          <a:xfrm>
            <a:off x="457200" y="5626100"/>
            <a:ext cx="11277600" cy="4826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"/>
          <p:cNvSpPr txBox="1"/>
          <p:nvPr/>
        </p:nvSpPr>
        <p:spPr>
          <a:xfrm>
            <a:off x="635000" y="57404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4 副本把占用率降至 64%，p95 等待降至 5.9 s；流量 +20% 时应重算接纳与副本数。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"/>
          <p:cNvSpPr/>
          <p:nvPr/>
        </p:nvSpPr>
        <p:spPr>
          <a:xfrm>
            <a:off x="457200" y="1371600"/>
            <a:ext cx="5207000" cy="4025900"/>
          </a:xfrm>
          <a:prstGeom prst="roundRect">
            <a:avLst>
              <a:gd name="adj" fmla="val 3785"/>
            </a:avLst>
          </a:prstGeom>
          <a:solidFill>
            <a:srgbClr val="F2F4F7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3" name="矩形: 圆角 2"/>
          <p:cNvSpPr/>
          <p:nvPr/>
        </p:nvSpPr>
        <p:spPr>
          <a:xfrm>
            <a:off x="5969000" y="1371600"/>
            <a:ext cx="5765800" cy="4025900"/>
          </a:xfrm>
          <a:prstGeom prst="roundRect">
            <a:avLst>
              <a:gd name="adj" fmla="val 3785"/>
            </a:avLst>
          </a:prstGeom>
          <a:solidFill>
            <a:srgbClr val="F2F4F7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4" name="title:main"/>
          <p:cNvSpPr txBox="1"/>
          <p:nvPr/>
        </p:nvSpPr>
        <p:spPr>
          <a:xfrm>
            <a:off x="457200" y="254000"/>
            <a:ext cx="11277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E70"/>
                </a:solidFill>
                <a:latin typeface="Microsoft YaHei"/>
              </a:rPr>
              <a:t>架构：拆分预填充前，先算 KV 搬运时间</a:t>
            </a:r>
          </a:p>
        </p:txBody>
      </p:sp>
      <p:sp>
        <p:nvSpPr>
          <p:cNvPr id="35" name="rule"/>
          <p:cNvSpPr/>
          <p:nvPr/>
        </p:nvSpPr>
        <p:spPr>
          <a:xfrm>
            <a:off x="457200" y="800100"/>
            <a:ext cx="11277600" cy="127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btitle:context"/>
          <p:cNvSpPr txBox="1"/>
          <p:nvPr/>
        </p:nvSpPr>
        <p:spPr>
          <a:xfrm>
            <a:off x="457200" y="9652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DistServe（OSDI 2024）分离 Prefill / Decode，以减少阶段干扰；新成本是 KV 传输与额外权重副本</a:t>
            </a:r>
          </a:p>
        </p:txBody>
      </p:sp>
      <p:sp>
        <p:nvSpPr>
          <p:cNvPr id="37" name="page-number:main"/>
          <p:cNvSpPr txBox="1"/>
          <p:nvPr/>
        </p:nvSpPr>
        <p:spPr>
          <a:xfrm>
            <a:off x="111760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083"/>
                </a:solidFill>
                <a:latin typeface="Microsoft YaHei"/>
              </a:rPr>
              <a:t>3/5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635000" y="15367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路由、接纳与两阶段资源池</a:t>
            </a:r>
          </a:p>
        </p:txBody>
      </p:sp>
      <p:sp>
        <p:nvSpPr>
          <p:cNvPr id="39" name="flow-node"/>
          <p:cNvSpPr/>
          <p:nvPr/>
        </p:nvSpPr>
        <p:spPr>
          <a:xfrm>
            <a:off x="812800" y="2006600"/>
            <a:ext cx="4495800" cy="7493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990600" y="2108200"/>
            <a:ext cx="4140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接纳 / 路由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990600" y="2425700"/>
            <a:ext cx="414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按长度分池；预留最大 KV</a:t>
            </a:r>
          </a:p>
        </p:txBody>
      </p:sp>
      <p:sp>
        <p:nvSpPr>
          <p:cNvPr id="42" name="flow-node"/>
          <p:cNvSpPr/>
          <p:nvPr/>
        </p:nvSpPr>
        <p:spPr>
          <a:xfrm>
            <a:off x="812800" y="3073400"/>
            <a:ext cx="4495800" cy="7493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975360" y="3175000"/>
            <a:ext cx="4140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Prefill 池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990600" y="3492500"/>
            <a:ext cx="414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分块预填充；缓存公共前缀</a:t>
            </a:r>
          </a:p>
        </p:txBody>
      </p:sp>
      <p:sp>
        <p:nvSpPr>
          <p:cNvPr id="45" name="flow-node"/>
          <p:cNvSpPr/>
          <p:nvPr/>
        </p:nvSpPr>
        <p:spPr>
          <a:xfrm>
            <a:off x="812800" y="4140200"/>
            <a:ext cx="4495800" cy="749300"/>
          </a:xfrm>
          <a:prstGeom prst="rect">
            <a:avLst/>
          </a:prstGeom>
          <a:solidFill>
            <a:srgbClr val="B7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975360" y="4241800"/>
            <a:ext cx="4140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Decode 池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990600" y="4559300"/>
            <a:ext cx="414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维持 TPOT；按 KV 余量接纳</a:t>
            </a:r>
          </a:p>
        </p:txBody>
      </p:sp>
      <p:cxnSp>
        <p:nvCxnSpPr>
          <p:cNvPr id="48" name="flow:next"/>
          <p:cNvCxnSpPr/>
          <p:nvPr/>
        </p:nvCxnSpPr>
        <p:spPr>
          <a:xfrm>
            <a:off x="3060700" y="2755900"/>
            <a:ext cx="0" cy="317500"/>
          </a:xfrm>
          <a:prstGeom prst="line">
            <a:avLst/>
          </a:prstGeom>
          <a:ln w="22860">
            <a:solidFill>
              <a:srgbClr val="2C3E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flow:next"/>
          <p:cNvCxnSpPr/>
          <p:nvPr/>
        </p:nvCxnSpPr>
        <p:spPr>
          <a:xfrm>
            <a:off x="3060700" y="3822700"/>
            <a:ext cx="0" cy="317500"/>
          </a:xfrm>
          <a:prstGeom prst="line">
            <a:avLst/>
          </a:prstGeom>
          <a:ln w="22860">
            <a:solidFill>
              <a:srgbClr val="2C3E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"/>
          <p:cNvSpPr txBox="1"/>
          <p:nvPr/>
        </p:nvSpPr>
        <p:spPr>
          <a:xfrm>
            <a:off x="982980" y="506730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KV 传输：Prefill 完成后进入 Decode 池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146800" y="15367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一次完整 KV 搬运的时间（秒）</a:t>
            </a:r>
          </a:p>
        </p:txBody>
      </p:sp>
      <p:graphicFrame>
        <p:nvGraphicFramePr>
          <p:cNvPr id="52" name="table:data"/>
          <p:cNvGraphicFramePr>
            <a:graphicFrameLocks noGrp="1"/>
          </p:cNvGraphicFramePr>
          <p:nvPr/>
        </p:nvGraphicFramePr>
        <p:xfrm>
          <a:off x="6146800" y="2006600"/>
          <a:ext cx="5410200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422400"/>
                <a:gridCol w="1422400"/>
                <a:gridCol w="142240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总长度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100 Gb/s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200 Gb/s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400 Gb/s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32k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1.23</a:t>
                      </a:r>
                    </a:p>
                  </a:txBody>
                  <a:tcPr marL="114300" marR="114300" marT="76200" marB="76200" anchor="ctr">
                    <a:solidFill>
                      <a:srgbClr val="E3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0.61</a:t>
                      </a:r>
                    </a:p>
                  </a:txBody>
                  <a:tcPr marL="114300" marR="114300" marT="76200" marB="76200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0.31</a:t>
                      </a:r>
                    </a:p>
                  </a:txBody>
                  <a:tcPr marL="114300" marR="114300" marT="76200" marB="76200" anchor="ctr">
                    <a:solidFill>
                      <a:srgbClr val="EDF1F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64k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2.45</a:t>
                      </a:r>
                    </a:p>
                  </a:txBody>
                  <a:tcPr marL="114300" marR="114300" marT="76200" marB="76200" anchor="ctr">
                    <a:solidFill>
                      <a:srgbClr val="E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1.23</a:t>
                      </a:r>
                    </a:p>
                  </a:txBody>
                  <a:tcPr marL="114300" marR="114300" marT="76200" marB="76200" anchor="ctr">
                    <a:solidFill>
                      <a:srgbClr val="E3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0.61</a:t>
                      </a:r>
                    </a:p>
                  </a:txBody>
                  <a:tcPr marL="114300" marR="114300" marT="76200" marB="76200" anchor="ctr">
                    <a:solidFill>
                      <a:srgbClr val="EDF1F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128k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4.91</a:t>
                      </a:r>
                    </a:p>
                  </a:txBody>
                  <a:tcPr marL="114300" marR="114300" marT="76200" marB="76200" anchor="ctr">
                    <a:solidFill>
                      <a:srgbClr val="F3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2.45</a:t>
                      </a:r>
                    </a:p>
                  </a:txBody>
                  <a:tcPr marL="114300" marR="114300" marT="76200" marB="76200" anchor="ctr">
                    <a:solidFill>
                      <a:srgbClr val="E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1.23</a:t>
                      </a:r>
                    </a:p>
                  </a:txBody>
                  <a:tcPr marL="114300" marR="114300" marT="76200" marB="76200" anchor="ctr">
                    <a:solidFill>
                      <a:srgbClr val="E3E8F1"/>
                    </a:solidFill>
                  </a:tcPr>
                </a:tc>
              </a:tr>
            </a:tbl>
          </a:graphicData>
        </a:graphic>
      </p:graphicFrame>
      <p:sp>
        <p:nvSpPr>
          <p:cNvPr id="53" name="text"/>
          <p:cNvSpPr txBox="1"/>
          <p:nvPr/>
        </p:nvSpPr>
        <p:spPr>
          <a:xfrm>
            <a:off x="6146800" y="4178300"/>
            <a:ext cx="5410200" cy="1041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T = KV字节 / (带宽 ÷ 8 × 70%)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128k：42.95 GB / 35 GB/s = 1.23 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λ = 0.24 时平均搬运 82.5 Gb/s；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2 倍突发需 164.9 Gb/s 有效吞吐。</a:t>
            </a:r>
          </a:p>
        </p:txBody>
      </p:sp>
      <p:sp>
        <p:nvSpPr>
          <p:cNvPr id="54" name="decision-band"/>
          <p:cNvSpPr/>
          <p:nvPr/>
        </p:nvSpPr>
        <p:spPr>
          <a:xfrm>
            <a:off x="457200" y="5626100"/>
            <a:ext cx="11277600" cy="4826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"/>
          <p:cNvSpPr txBox="1"/>
          <p:nvPr/>
        </p:nvSpPr>
        <p:spPr>
          <a:xfrm>
            <a:off x="635000" y="57404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若 TTFT 预算为 2 s，400 Gb/s 搬运已占 1.23 s；先测阶段干扰，再决定拆分与缓存复用。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图表 51"/>
          <p:cNvGraphicFramePr/>
          <p:nvPr/>
        </p:nvGraphicFramePr>
        <p:xfrm>
          <a:off x="457200" y="1841500"/>
          <a:ext cx="6858000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5" name="图表 54"/>
          <p:cNvGraphicFramePr/>
          <p:nvPr/>
        </p:nvGraphicFramePr>
        <p:xfrm>
          <a:off x="8001000" y="1841500"/>
          <a:ext cx="3733800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6" name="title:main"/>
          <p:cNvSpPr txBox="1"/>
          <p:nvPr/>
        </p:nvSpPr>
        <p:spPr>
          <a:xfrm>
            <a:off x="457200" y="254000"/>
            <a:ext cx="11277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E70"/>
                </a:solidFill>
                <a:latin typeface="Microsoft YaHei"/>
              </a:rPr>
              <a:t>能耗：16 张卡落在延迟与电力交集</a:t>
            </a:r>
          </a:p>
        </p:txBody>
      </p:sp>
      <p:sp>
        <p:nvSpPr>
          <p:cNvPr id="57" name="rule"/>
          <p:cNvSpPr/>
          <p:nvPr/>
        </p:nvSpPr>
        <p:spPr>
          <a:xfrm>
            <a:off x="457200" y="800100"/>
            <a:ext cx="11277600" cy="127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ubtitle:context"/>
          <p:cNvSpPr txBox="1"/>
          <p:nvPr/>
        </p:nvSpPr>
        <p:spPr>
          <a:xfrm>
            <a:off x="457200" y="9652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同一到达率 0.24 请求/s；功率随占用线性变化；GPU 150–700 W、主机 0.6 kW/副本、PUE = 1.20（假设）</a:t>
            </a:r>
          </a:p>
        </p:txBody>
      </p:sp>
      <p:sp>
        <p:nvSpPr>
          <p:cNvPr id="59" name="page-number:main"/>
          <p:cNvSpPr txBox="1"/>
          <p:nvPr/>
        </p:nvSpPr>
        <p:spPr>
          <a:xfrm>
            <a:off x="111760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083"/>
                </a:solidFill>
                <a:latin typeface="Microsoft YaHei"/>
              </a:rPr>
              <a:t>4/5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457200" y="14097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副本越多，闲置与主机底耗越高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640080" y="4667885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设施侧功率（kW） · 电力上限 13 kW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8001000" y="14097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4 副本：电力构成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8724900" y="296037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3E70"/>
                </a:solidFill>
                <a:latin typeface="Microsoft YaHei"/>
              </a:rPr>
              <a:t>12.52 kW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8064500" y="4635500"/>
            <a:ext cx="3606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14.49 kWh / 千请求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627380" y="51181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P = 1.2 × r × [4 × (0.15 + 0.55ρ) + 0.6] kW；每千请求用电 E = P / (3.6λ)。</a:t>
            </a:r>
          </a:p>
        </p:txBody>
      </p:sp>
      <p:sp>
        <p:nvSpPr>
          <p:cNvPr id="66" name="decision-band"/>
          <p:cNvSpPr/>
          <p:nvPr/>
        </p:nvSpPr>
        <p:spPr>
          <a:xfrm>
            <a:off x="457200" y="5626100"/>
            <a:ext cx="11277600" cy="4826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"/>
          <p:cNvSpPr txBox="1"/>
          <p:nvPr/>
        </p:nvSpPr>
        <p:spPr>
          <a:xfrm>
            <a:off x="635000" y="57404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 副本超出等待 SLO；5 副本需 13.96 kW；4 副本在本情景满足 10 s 等待与 13 kW 电力约束。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小红书平北职场PPT10"/>
          <p:cNvGraphicFramePr/>
          <p:nvPr/>
        </p:nvGraphicFramePr>
        <p:xfrm>
          <a:off x="457200" y="1879600"/>
          <a:ext cx="53975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63" name="title:main"/>
          <p:cNvSpPr txBox="1"/>
          <p:nvPr/>
        </p:nvSpPr>
        <p:spPr>
          <a:xfrm>
            <a:off x="457200" y="254000"/>
            <a:ext cx="11277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E70"/>
                </a:solidFill>
                <a:latin typeface="Microsoft YaHei"/>
              </a:rPr>
              <a:t>部署：以 4 副本起步，把容错预算单列</a:t>
            </a:r>
          </a:p>
        </p:txBody>
      </p:sp>
      <p:sp>
        <p:nvSpPr>
          <p:cNvPr id="64" name="rule"/>
          <p:cNvSpPr/>
          <p:nvPr/>
        </p:nvSpPr>
        <p:spPr>
          <a:xfrm>
            <a:off x="457200" y="800100"/>
            <a:ext cx="11277600" cy="127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ubtitle:context"/>
          <p:cNvSpPr txBox="1"/>
          <p:nvPr/>
        </p:nvSpPr>
        <p:spPr>
          <a:xfrm>
            <a:off x="457200" y="9652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容量、等待与功率共用同一输入：128k、3 槽/副本、32 s 驻留、0.24 请求/s；气泡面积代表服务槽数</a:t>
            </a:r>
          </a:p>
        </p:txBody>
      </p:sp>
      <p:sp>
        <p:nvSpPr>
          <p:cNvPr id="66" name="page-number:main"/>
          <p:cNvSpPr txBox="1"/>
          <p:nvPr/>
        </p:nvSpPr>
        <p:spPr>
          <a:xfrm>
            <a:off x="111760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7083"/>
                </a:solidFill>
                <a:latin typeface="Microsoft YaHei"/>
              </a:rPr>
              <a:t>5/5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457200" y="14605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占用率—功率决策平面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635000" y="5176520"/>
            <a:ext cx="5346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083"/>
                </a:solidFill>
                <a:latin typeface="Microsoft YaHei"/>
              </a:rPr>
              <a:t>纵轴：槽占用率（%） · 横轴：设施功率（kW）</a:t>
            </a:r>
          </a:p>
        </p:txBody>
      </p:sp>
      <p:sp>
        <p:nvSpPr>
          <p:cNvPr id="69" name="panel"/>
          <p:cNvSpPr/>
          <p:nvPr/>
        </p:nvSpPr>
        <p:spPr>
          <a:xfrm>
            <a:off x="6172200" y="1308100"/>
            <a:ext cx="5562600" cy="378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"/>
          <p:cNvSpPr txBox="1"/>
          <p:nvPr/>
        </p:nvSpPr>
        <p:spPr>
          <a:xfrm>
            <a:off x="6350000" y="1460500"/>
            <a:ext cx="520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3E70"/>
                </a:solidFill>
                <a:latin typeface="Microsoft YaHei"/>
              </a:rPr>
              <a:t>上线闸门：回放与容错一起过</a:t>
            </a:r>
          </a:p>
        </p:txBody>
      </p:sp>
      <p:graphicFrame>
        <p:nvGraphicFramePr>
          <p:cNvPr id="71" name="table:data"/>
          <p:cNvGraphicFramePr>
            <a:graphicFrameLocks noGrp="1"/>
          </p:cNvGraphicFramePr>
          <p:nvPr/>
        </p:nvGraphicFramePr>
        <p:xfrm>
          <a:off x="6350000" y="1892300"/>
          <a:ext cx="5207000" cy="156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635000"/>
                <a:gridCol w="1206500"/>
                <a:gridCol w="1016000"/>
                <a:gridCol w="1397000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GPU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等待 p95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功率/kW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判断</a:t>
                      </a:r>
                    </a:p>
                  </a:txBody>
                  <a:tcPr marL="114300" marR="114300" marT="76200" marB="76200" anchor="ctr">
                    <a:solidFill>
                      <a:srgbClr val="2C3E7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3 副本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58.5 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11.08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等待超标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4 副本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5.9 s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12.52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正常推荐</a:t>
                      </a:r>
                    </a:p>
                  </a:txBody>
                  <a:tcPr marL="114300" marR="114300" marT="76200" marB="76200" anchor="ctr">
                    <a:solidFill>
                      <a:srgbClr val="F2F4F7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5 副本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0.0 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13.96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B3E"/>
                          </a:solidFill>
                          <a:latin typeface="Microsoft YaHei"/>
                        </a:rPr>
                        <a:t>电力超标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text"/>
          <p:cNvSpPr txBox="1"/>
          <p:nvPr/>
        </p:nvSpPr>
        <p:spPr>
          <a:xfrm>
            <a:off x="6350000" y="3683000"/>
            <a:ext cx="5207000" cy="128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① 按 32k / 64k / 128k 分桶回放，核对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    TTFT、TPOT、KV 峰值与达标吞吐。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② N−1 需 5 副本、约 14 kW 电力预算。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③ +20% 流量使 4 副本等待 20.6 s、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B3E"/>
                </a:solidFill>
                <a:latin typeface="Microsoft YaHei"/>
              </a:rPr>
              <a:t>    功率 13.87 kW；13 kW 下限流 0.256/s。</a:t>
            </a:r>
          </a:p>
        </p:txBody>
      </p:sp>
      <p:sp>
        <p:nvSpPr>
          <p:cNvPr id="73" name="decision-band"/>
          <p:cNvSpPr/>
          <p:nvPr/>
        </p:nvSpPr>
        <p:spPr>
          <a:xfrm>
            <a:off x="457200" y="5626100"/>
            <a:ext cx="11277600" cy="482600"/>
          </a:xfrm>
          <a:prstGeom prst="rect">
            <a:avLst/>
          </a:prstGeom>
          <a:solidFill>
            <a:srgbClr val="2C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"/>
          <p:cNvSpPr txBox="1"/>
          <p:nvPr/>
        </p:nvSpPr>
        <p:spPr>
          <a:xfrm>
            <a:off x="635000" y="57404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决策顺序：长度预算决定槽数；回放校准驻留时间；排队选副本；最后同时校验功率与 N−1。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7042</Words>
  <PresentationFormat>宽屏</PresentationFormat>
  <Paragraphs>1718</Paragraphs>
  <Slides>41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Roboto</vt:lpstr>
      <vt:lpstr>思源黑体 CN Normal</vt:lpstr>
      <vt:lpstr>Wingdings</vt:lpstr>
      <vt:lpstr>思源黑体 CN Bold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长上下文推理集群：容量、排队与能耗如何共同决定部署方案</dc:title>
  <cp:lastModifiedBy/>
  <cp:revision>19</cp:revision>
  <dcterms:created xsi:type="dcterms:W3CDTF">2025-10-30T15:22:00Z</dcterms:created>
  <dcterms:modified xsi:type="dcterms:W3CDTF">2026-05-27T07:23:51Z</dcterms:modified>
  <dc:subject>128k上下文推理的容量、排队、网络与能耗工程模型</dc:subject>
  <dc:description/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DF38599D262943318C4801E6EB113D3F_13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v1.0_mb_IpbY6fRBQgubiwoxMjUV8w==</vt:lpwstr>
  </property>
</Properties>
</file>