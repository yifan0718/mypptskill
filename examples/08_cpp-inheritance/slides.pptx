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45"/>
  </p:notesMasterIdLst>
  <p:handoutMasterIdLst>
    <p:handoutMasterId r:id="rId46"/>
  </p:handoutMasterIdLst>
  <p:sldIdLst>
    <p:sldId id="778" r:id="rId20"/>
    <p:sldId id="814" r:id="rId24"/>
    <p:sldId id="830" r:id="rId29"/>
    <p:sldId id="845" r:id="rId38"/>
    <p:sldId id="868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  <a:srgbClr val="F9F9F9"/>
    <a:srgbClr val="FE7E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328" y="168"/>
      </p:cViewPr>
      <p:guideLst>
        <p:guide orient="horz" pos="2161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7" d="100"/>
        <a:sy n="107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20" Type="http://schemas.openxmlformats.org/officeDocument/2006/relationships/slide" Target="slides/slide1.xml"/><Relationship Id="rId24" Type="http://schemas.openxmlformats.org/officeDocument/2006/relationships/slide" Target="slides/slide2.xml"/><Relationship Id="rId29" Type="http://schemas.openxmlformats.org/officeDocument/2006/relationships/slide" Target="slides/slide3.xml"/><Relationship Id="rId38" Type="http://schemas.openxmlformats.org/officeDocument/2006/relationships/slide" Target="slides/slide4.xml"/><Relationship Id="rId43" Type="http://schemas.openxmlformats.org/officeDocument/2006/relationships/slide" Target="slides/slide5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53" Type="http://schemas.openxmlformats.org/officeDocument/2006/relationships/presProps" Target="pres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2026/5/27</a:t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‹#›</a:t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C1017405-55BE-4362-88E1-BA68B5BD23CF}" type="datetimeFigureOut">
              <a:rPr lang="zh-CN" altLang="en-US" smtClean="0"/>
              <a:t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/>
            </a:r>
          </a:p>
          <a:p>
            <a:pPr lvl="1"/>
            <a:r>
              <a:rPr lang="zh-CN" altLang="en-US" dirty="0"/>
              <a:t/>
            </a:r>
          </a:p>
          <a:p>
            <a:pPr lvl="2"/>
            <a:r>
              <a:rPr lang="zh-CN" altLang="en-US" dirty="0"/>
              <a:t/>
            </a:r>
          </a:p>
          <a:p>
            <a:pPr lvl="3"/>
            <a:r>
              <a:rPr lang="zh-CN" altLang="en-US" dirty="0"/>
              <a:t/>
            </a:r>
          </a:p>
          <a:p>
            <a:pPr lvl="4"/>
            <a:r>
              <a:rPr lang="zh-CN" altLang="en-US" dirty="0"/>
              <a:t/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23EB11D7-82F1-4B2E-8B4A-14F87C299330}" type="slidenum">
              <a:rPr lang="zh-CN" altLang="en-US" smtClean="0"/>
              <a:t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C++17。类定义与 main 内片段来自 01_inheritance_dispatch.cpp。对象图表示逻辑子对象组成。public 且无歧义的基类允许指针转换和引用绑定。r.score 编译错误见 error_reference_interface.cpp。</a:t>
            </a:r>
          </a:p>
          <a:p>
            <a:r>
              <a:t>来源：https://eel.is/c++draft/class.derived ，https://eel.is/c++draft/class.virtual 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C++17。代码包含 &lt;iostream&gt; 并在 main 内执行 D d;。</a:t>
            </a:r>
          </a:p>
          <a:p>
            <a:r>
              <a:t>D 的直接基类按声明顺序 B,C 构造；构造 B 前先构造其 A(1)，构造 C 前先构造其 A(2)，最后执行 D 构造函数体。d.B::id 与 d.C::id 返回 1 和 2。A 指针经 B/C 路径取得的值不相等。</a:t>
            </a:r>
          </a:p>
          <a:p>
            <a:r>
              <a:t>来源：https://eel.is/c++draft/class.derived ，https://eel.is/c++draft/class.base.init 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C++17。代码包含 &lt;iostream&gt; 并在 main 内执行 D d;。</a:t>
            </a:r>
          </a:p>
          <a:p>
            <a:r>
              <a:t>虚基类首先初始化，再按声明次序构造直接非虚基类，然后按声明次序构造成员，最后执行构造函数体。本例 D 的直接基类顺序为 B,C。D 是最派生类，负责 A(9)；单独构造 B 时 B 是最派生类，负责 A(1)。A 无默认构造函数，D 不指定 A(9) 则编译失败。</a:t>
            </a:r>
          </a:p>
          <a:p>
            <a:r>
              <a:t>来源：https://eel.is/c++draft/class.derived ，https://eel.is/c++draft/class.base.init 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C++17。类型沿用上一页。返回值对应 01_inheritance_dispatch.cpp。Base copy=d 生成独立的 Base 对象。override 保证声明确实覆盖基类虚函数。</a:t>
            </a:r>
          </a:p>
          <a:p>
            <a:r>
              <a:t>来源：https://eel.is/c++draft/expr.call ，https://eel.is/c++draft/class.virtual ，https://eel.is/c++draft/expr.delete 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C++17。示例来自 04_final_overrider.cpp。D d; 后 A&amp;、B&amp;、C&amp; 的 f() 都返回 D；d.B::f() 返回 B。删除 D::f 的错误例子位于 error_non_unique_overrider.cpp。</a:t>
            </a:r>
          </a:p>
          <a:p>
            <a:r>
              <a:t>来源：https://eel.is/c++draft/class.virtual ，https://eel.is/c++draft/class.derived 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Layout" Target="../slideLayouts/slideLayout35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slideLayout" Target="../slideLayouts/slideLayout35.xml"/><Relationship Id="rId4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tags" Target="../tags/tag62.xml"/><Relationship Id="rId3" Type="http://schemas.openxmlformats.org/officeDocument/2006/relationships/slideLayout" Target="../slideLayouts/slideLayout35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slideLayout" Target="../slideLayouts/slideLayout35.xm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9.xml"/><Relationship Id="rId2" Type="http://schemas.openxmlformats.org/officeDocument/2006/relationships/tags" Target="../tags/tag90.xml"/><Relationship Id="rId3" Type="http://schemas.openxmlformats.org/officeDocument/2006/relationships/slideLayout" Target="../slideLayouts/slideLayout35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06400" y="317500"/>
            <a:ext cx="113792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3A93"/>
                </a:solidFill>
                <a:latin typeface="Microsoft YaHei"/>
              </a:rPr>
              <a:t>继承先建立子对象，再提供基类视图</a:t>
            </a:r>
          </a:p>
        </p:txBody>
      </p:sp>
      <p:sp>
        <p:nvSpPr>
          <p:cNvPr id="3" name="template-divider"/>
          <p:cNvSpPr/>
          <p:nvPr/>
        </p:nvSpPr>
        <p:spPr>
          <a:xfrm>
            <a:off x="406400" y="927100"/>
            <a:ext cx="11379200" cy="25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ort:C++17 · 类定义"/>
          <p:cNvSpPr txBox="1"/>
          <p:nvPr/>
        </p:nvSpPr>
        <p:spPr>
          <a:xfrm>
            <a:off x="4064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C++17 · 类定义</a:t>
            </a:r>
          </a:p>
        </p:txBody>
      </p:sp>
      <p:sp>
        <p:nvSpPr>
          <p:cNvPr id="5" name="class-defs-panel"/>
          <p:cNvSpPr/>
          <p:nvPr/>
        </p:nvSpPr>
        <p:spPr>
          <a:xfrm>
            <a:off x="406400" y="1511300"/>
            <a:ext cx="5334000" cy="30988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:class-defs"/>
          <p:cNvSpPr txBox="1"/>
          <p:nvPr/>
        </p:nvSpPr>
        <p:spPr>
          <a:xfrm>
            <a:off x="584200" y="1689100"/>
            <a:ext cx="4978400" cy="274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int</a:t>
            </a:r>
            <a:r>
              <a:rPr sz="1200">
                <a:solidFill>
                  <a:srgbClr val="263248"/>
                </a:solidFill>
                <a:latin typeface="Consolas"/>
              </a:rPr>
              <a:t> id = </a:t>
            </a:r>
            <a:r>
              <a:rPr sz="1200">
                <a:solidFill>
                  <a:srgbClr val="8F4A11"/>
                </a:solidFill>
                <a:latin typeface="Consolas"/>
              </a:rPr>
              <a:t>7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kind()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{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"Base"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speak()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 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"Base"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~</a:t>
            </a: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() = </a:t>
            </a:r>
            <a:r>
              <a:rPr sz="1200">
                <a:solidFill>
                  <a:srgbClr val="6A3E93"/>
                </a:solidFill>
                <a:latin typeface="Consolas"/>
              </a:rPr>
              <a:t>default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Derived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6A3E93"/>
                </a:solidFill>
                <a:latin typeface="Consolas"/>
              </a:rPr>
              <a:t>public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int</a:t>
            </a:r>
            <a:r>
              <a:rPr sz="1200">
                <a:solidFill>
                  <a:srgbClr val="263248"/>
                </a:solidFill>
                <a:latin typeface="Consolas"/>
              </a:rPr>
              <a:t> score = </a:t>
            </a:r>
            <a:r>
              <a:rPr sz="1200">
                <a:solidFill>
                  <a:srgbClr val="8F4A11"/>
                </a:solidFill>
                <a:latin typeface="Consolas"/>
              </a:rPr>
              <a:t>90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kind()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{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"Derived"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speak()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override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 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"Derived"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</p:txBody>
      </p:sp>
      <p:sp>
        <p:nvSpPr>
          <p:cNvPr id="7" name="short:main 内：引用和指针绑定同一个对象"/>
          <p:cNvSpPr txBox="1"/>
          <p:nvPr/>
        </p:nvSpPr>
        <p:spPr>
          <a:xfrm>
            <a:off x="406400" y="47879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main 内：引用和指针绑定同一个对象</a:t>
            </a:r>
          </a:p>
        </p:txBody>
      </p:sp>
      <p:sp>
        <p:nvSpPr>
          <p:cNvPr id="8" name="reference-bind-panel"/>
          <p:cNvSpPr/>
          <p:nvPr/>
        </p:nvSpPr>
        <p:spPr>
          <a:xfrm>
            <a:off x="406400" y="5143500"/>
            <a:ext cx="5334000" cy="904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:reference-bind"/>
          <p:cNvSpPr txBox="1"/>
          <p:nvPr/>
        </p:nvSpPr>
        <p:spPr>
          <a:xfrm>
            <a:off x="584200" y="5321300"/>
            <a:ext cx="49784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Derived</a:t>
            </a:r>
            <a:r>
              <a:rPr sz="1200">
                <a:solidFill>
                  <a:srgbClr val="263248"/>
                </a:solidFill>
                <a:latin typeface="Consolas"/>
              </a:rPr>
              <a:t> 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&amp; r = 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* p = &amp;d;</a:t>
            </a:r>
          </a:p>
        </p:txBody>
      </p:sp>
      <p:sp>
        <p:nvSpPr>
          <p:cNvPr id="10" name="short:类关系：派生类指向基类"/>
          <p:cNvSpPr txBox="1"/>
          <p:nvPr/>
        </p:nvSpPr>
        <p:spPr>
          <a:xfrm>
            <a:off x="61976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类关系：派生类指向基类</a:t>
            </a:r>
          </a:p>
        </p:txBody>
      </p:sp>
      <p:sp>
        <p:nvSpPr>
          <p:cNvPr id="11" name="Base-class"/>
          <p:cNvSpPr/>
          <p:nvPr/>
        </p:nvSpPr>
        <p:spPr>
          <a:xfrm>
            <a:off x="6197600" y="1587500"/>
            <a:ext cx="1905000" cy="508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Base</a:t>
            </a:r>
          </a:p>
        </p:txBody>
      </p:sp>
      <p:sp>
        <p:nvSpPr>
          <p:cNvPr id="12" name="Derived-class"/>
          <p:cNvSpPr/>
          <p:nvPr/>
        </p:nvSpPr>
        <p:spPr>
          <a:xfrm>
            <a:off x="9779000" y="1587500"/>
            <a:ext cx="2006600" cy="508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Derived</a:t>
            </a:r>
          </a:p>
        </p:txBody>
      </p:sp>
      <p:cxnSp>
        <p:nvCxnSpPr>
          <p:cNvPr id="13" name="inherits-Base"/>
          <p:cNvCxnSpPr/>
          <p:nvPr/>
        </p:nvCxnSpPr>
        <p:spPr>
          <a:xfrm flipH="1">
            <a:off x="8102600" y="1841500"/>
            <a:ext cx="16764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hort:d 的逻辑子对象结构"/>
          <p:cNvSpPr txBox="1"/>
          <p:nvPr/>
        </p:nvSpPr>
        <p:spPr>
          <a:xfrm>
            <a:off x="6197600" y="23876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d 的逻辑子对象结构</a:t>
            </a:r>
          </a:p>
        </p:txBody>
      </p:sp>
      <p:sp>
        <p:nvSpPr>
          <p:cNvPr id="15" name="Derived-object"/>
          <p:cNvSpPr/>
          <p:nvPr/>
        </p:nvSpPr>
        <p:spPr>
          <a:xfrm>
            <a:off x="6197600" y="2743200"/>
            <a:ext cx="5588000" cy="1701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"/>
          <p:cNvSpPr txBox="1"/>
          <p:nvPr/>
        </p:nvSpPr>
        <p:spPr>
          <a:xfrm>
            <a:off x="6426200" y="29083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完整对象：Derived d</a:t>
            </a:r>
          </a:p>
        </p:txBody>
      </p:sp>
      <p:sp>
        <p:nvSpPr>
          <p:cNvPr id="17" name="Base-subobject"/>
          <p:cNvSpPr/>
          <p:nvPr/>
        </p:nvSpPr>
        <p:spPr>
          <a:xfrm>
            <a:off x="6426200" y="3365500"/>
            <a:ext cx="22860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Base 子对象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id = 7</a:t>
            </a:r>
          </a:p>
        </p:txBody>
      </p:sp>
      <p:sp>
        <p:nvSpPr>
          <p:cNvPr id="18" name="Derived-member"/>
          <p:cNvSpPr/>
          <p:nvPr/>
        </p:nvSpPr>
        <p:spPr>
          <a:xfrm>
            <a:off x="9017000" y="3365500"/>
            <a:ext cx="25400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Derived 成员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score = 90</a:t>
            </a:r>
          </a:p>
        </p:txBody>
      </p:sp>
      <p:sp>
        <p:nvSpPr>
          <p:cNvPr id="19" name="Base-reference"/>
          <p:cNvSpPr/>
          <p:nvPr/>
        </p:nvSpPr>
        <p:spPr>
          <a:xfrm>
            <a:off x="6426200" y="4902200"/>
            <a:ext cx="2286000" cy="508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78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Base&amp; r = d;</a:t>
            </a:r>
          </a:p>
        </p:txBody>
      </p:sp>
      <p:cxnSp>
        <p:nvCxnSpPr>
          <p:cNvPr id="20" name="ref-to-subobject"/>
          <p:cNvCxnSpPr/>
          <p:nvPr/>
        </p:nvCxnSpPr>
        <p:spPr>
          <a:xfrm flipV="1">
            <a:off x="7569200" y="4191000"/>
            <a:ext cx="0" cy="7112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dy"/>
          <p:cNvSpPr txBox="1"/>
          <p:nvPr/>
        </p:nvSpPr>
        <p:spPr>
          <a:xfrm>
            <a:off x="9017000" y="4940300"/>
            <a:ext cx="27686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静态类型：Base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动态类型：Derived</a:t>
            </a:r>
          </a:p>
        </p:txBody>
      </p:sp>
      <p:sp>
        <p:nvSpPr>
          <p:cNvPr id="22" name="body"/>
          <p:cNvSpPr txBox="1"/>
          <p:nvPr/>
        </p:nvSpPr>
        <p:spPr>
          <a:xfrm>
            <a:off x="6197600" y="5676900"/>
            <a:ext cx="5588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r.score 编译错误：成员查找使用 Base 接口。</a:t>
            </a:r>
          </a:p>
        </p:txBody>
      </p:sp>
      <p:sp>
        <p:nvSpPr>
          <p:cNvPr id="23" name="page-number:main"/>
          <p:cNvSpPr txBox="1"/>
          <p:nvPr/>
        </p:nvSpPr>
        <p:spPr>
          <a:xfrm>
            <a:off x="112268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075"/>
                </a:solidFill>
                <a:latin typeface="Microsoft YaHei"/>
              </a:rPr>
              <a:t>1/5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06400" y="317500"/>
            <a:ext cx="113792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3A93"/>
                </a:solidFill>
                <a:latin typeface="Microsoft YaHei"/>
              </a:rPr>
              <a:t>虚调用选择实现，按值复制改变对象</a:t>
            </a:r>
          </a:p>
        </p:txBody>
      </p:sp>
      <p:sp>
        <p:nvSpPr>
          <p:cNvPr id="3" name="template-divider"/>
          <p:cNvSpPr/>
          <p:nvPr/>
        </p:nvSpPr>
        <p:spPr>
          <a:xfrm>
            <a:off x="406400" y="927100"/>
            <a:ext cx="11379200" cy="25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ort:main 内：沿用上一页的 Base / Derived"/>
          <p:cNvSpPr txBox="1"/>
          <p:nvPr/>
        </p:nvSpPr>
        <p:spPr>
          <a:xfrm>
            <a:off x="4064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main 内：沿用上一页的 Base / Derived</a:t>
            </a:r>
          </a:p>
        </p:txBody>
      </p:sp>
      <p:sp>
        <p:nvSpPr>
          <p:cNvPr id="5" name="dispatch-calls-panel"/>
          <p:cNvSpPr/>
          <p:nvPr/>
        </p:nvSpPr>
        <p:spPr>
          <a:xfrm>
            <a:off x="406400" y="1511300"/>
            <a:ext cx="5334000" cy="20015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:dispatch-calls"/>
          <p:cNvSpPr txBox="1"/>
          <p:nvPr/>
        </p:nvSpPr>
        <p:spPr>
          <a:xfrm>
            <a:off x="584200" y="1689100"/>
            <a:ext cx="49784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Derived</a:t>
            </a:r>
            <a:r>
              <a:rPr sz="1200">
                <a:solidFill>
                  <a:srgbClr val="263248"/>
                </a:solidFill>
                <a:latin typeface="Consolas"/>
              </a:rPr>
              <a:t> 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&amp; r = 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* p = &amp;d;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r.kind();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r.speak();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p-&gt;speak();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r.</a:t>
            </a: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::speak();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Base</a:t>
            </a:r>
            <a:r>
              <a:rPr sz="1200">
                <a:solidFill>
                  <a:srgbClr val="263248"/>
                </a:solidFill>
                <a:latin typeface="Consolas"/>
              </a:rPr>
              <a:t> copy = 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copy.speak();</a:t>
            </a:r>
          </a:p>
        </p:txBody>
      </p:sp>
      <p:sp>
        <p:nvSpPr>
          <p:cNvPr id="7" name="short:表达式的返回值与选择依据"/>
          <p:cNvSpPr txBox="1"/>
          <p:nvPr/>
        </p:nvSpPr>
        <p:spPr>
          <a:xfrm>
            <a:off x="61976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表达式的返回值与选择依据</a:t>
            </a:r>
          </a:p>
        </p:txBody>
      </p:sp>
      <p:graphicFrame>
        <p:nvGraphicFramePr>
          <p:cNvPr id="8" name="dispatch-result-table"/>
          <p:cNvGraphicFramePr>
            <a:graphicFrameLocks noGrp="1"/>
          </p:cNvGraphicFramePr>
          <p:nvPr/>
        </p:nvGraphicFramePr>
        <p:xfrm>
          <a:off x="6197600" y="1511300"/>
          <a:ext cx="5588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65200"/>
                <a:gridCol w="2794000"/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表达式</a:t>
                      </a:r>
                    </a:p>
                  </a:txBody>
                  <a:tcPr marL="114300" marR="114300" marT="101600" marB="101600"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返回</a:t>
                      </a:r>
                    </a:p>
                  </a:txBody>
                  <a:tcPr marL="114300" marR="114300" marT="101600" marB="101600"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选择依据</a:t>
                      </a:r>
                    </a:p>
                  </a:txBody>
                  <a:tcPr marL="114300" marR="114300" marT="101600" marB="101600">
                    <a:solidFill>
                      <a:srgbClr val="1F3A9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r.kind()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Base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Microsoft YaHei"/>
                        </a:rPr>
                        <a:t>非虚，按 Base 类型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r.speak()</a:t>
                      </a:r>
                    </a:p>
                  </a:txBody>
                  <a:tcPr marL="114300" marR="114300" marT="101600" marB="101600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Derived</a:t>
                      </a:r>
                    </a:p>
                  </a:txBody>
                  <a:tcPr marL="114300" marR="114300" marT="101600" marB="101600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Microsoft YaHei"/>
                        </a:rPr>
                        <a:t>虚调用，动态类型是 Derived</a:t>
                      </a:r>
                    </a:p>
                  </a:txBody>
                  <a:tcPr marL="114300" marR="114300" marT="101600" marB="101600">
                    <a:solidFill>
                      <a:srgbClr val="E1ECF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p-&gt;speak()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Derived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Microsoft YaHei"/>
                        </a:rPr>
                        <a:t>同一个 d，经指针调用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r.Base::speak()</a:t>
                      </a:r>
                    </a:p>
                  </a:txBody>
                  <a:tcPr marL="114300" marR="114300" marT="101600" marB="101600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Base</a:t>
                      </a:r>
                    </a:p>
                  </a:txBody>
                  <a:tcPr marL="114300" marR="114300" marT="101600" marB="101600">
                    <a:solidFill>
                      <a:srgbClr val="E1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Microsoft YaHei"/>
                        </a:rPr>
                        <a:t>显式限定，调用 Base 实现</a:t>
                      </a:r>
                    </a:p>
                  </a:txBody>
                  <a:tcPr marL="114300" marR="114300" marT="101600" marB="101600">
                    <a:solidFill>
                      <a:srgbClr val="E1ECF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copy.speak()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Consolas"/>
                        </a:rPr>
                        <a:t>Base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3248"/>
                          </a:solidFill>
                          <a:latin typeface="Microsoft YaHei"/>
                        </a:rPr>
                        <a:t>copy 是独立 Base 对象</a:t>
                      </a:r>
                    </a:p>
                  </a:txBody>
                  <a:tcPr marL="114300" marR="114300" marT="101600" marB="10160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short:按值复制会切片"/>
          <p:cNvSpPr txBox="1"/>
          <p:nvPr/>
        </p:nvSpPr>
        <p:spPr>
          <a:xfrm>
            <a:off x="406400" y="38989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按值复制会切片</a:t>
            </a:r>
          </a:p>
        </p:txBody>
      </p:sp>
      <p:sp>
        <p:nvSpPr>
          <p:cNvPr id="10" name="slicing-source"/>
          <p:cNvSpPr/>
          <p:nvPr/>
        </p:nvSpPr>
        <p:spPr>
          <a:xfrm>
            <a:off x="406400" y="4318000"/>
            <a:ext cx="2413000" cy="787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d：Derived 对象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Base 部分 + score</a:t>
            </a:r>
          </a:p>
        </p:txBody>
      </p:sp>
      <p:sp>
        <p:nvSpPr>
          <p:cNvPr id="11" name="sliced-copy"/>
          <p:cNvSpPr/>
          <p:nvPr/>
        </p:nvSpPr>
        <p:spPr>
          <a:xfrm>
            <a:off x="3937000" y="4318000"/>
            <a:ext cx="1803400" cy="787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copy：Base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id = 7</a:t>
            </a:r>
          </a:p>
        </p:txBody>
      </p:sp>
      <p:cxnSp>
        <p:nvCxnSpPr>
          <p:cNvPr id="12" name="slice-copy"/>
          <p:cNvCxnSpPr/>
          <p:nvPr/>
        </p:nvCxnSpPr>
        <p:spPr>
          <a:xfrm>
            <a:off x="2819400" y="4711700"/>
            <a:ext cx="11176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ody"/>
          <p:cNvSpPr txBox="1"/>
          <p:nvPr/>
        </p:nvSpPr>
        <p:spPr>
          <a:xfrm>
            <a:off x="2959100" y="4356100"/>
            <a:ext cx="838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075"/>
                </a:solidFill>
                <a:latin typeface="Microsoft YaHei"/>
              </a:rPr>
              <a:t>按值复制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6197600" y="4610100"/>
            <a:ext cx="5588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成员查找先检查静态类型的接口。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未显式限定的虚调用，再选择动态类型的最终覆盖者。</a:t>
            </a:r>
          </a:p>
        </p:txBody>
      </p:sp>
      <p:sp>
        <p:nvSpPr>
          <p:cNvPr id="15" name="body"/>
          <p:cNvSpPr txBox="1"/>
          <p:nvPr/>
        </p:nvSpPr>
        <p:spPr>
          <a:xfrm>
            <a:off x="406400" y="5499100"/>
            <a:ext cx="533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override 核对覆盖签名；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参数或 const 不匹配会触发编译诊断。</a:t>
            </a:r>
          </a:p>
        </p:txBody>
      </p:sp>
      <p:sp>
        <p:nvSpPr>
          <p:cNvPr id="16" name="body"/>
          <p:cNvSpPr txBox="1"/>
          <p:nvPr/>
        </p:nvSpPr>
        <p:spPr>
          <a:xfrm>
            <a:off x="6197600" y="5499100"/>
            <a:ext cx="5588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经 Base* 删除动态创建的 Derived 时，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63248"/>
                </a:solidFill>
                <a:latin typeface="Microsoft YaHei"/>
              </a:rPr>
              <a:t>虚析构使派生析构链执行。</a:t>
            </a:r>
          </a:p>
        </p:txBody>
      </p:sp>
      <p:sp>
        <p:nvSpPr>
          <p:cNvPr id="17" name="page-number:main"/>
          <p:cNvSpPr txBox="1"/>
          <p:nvPr/>
        </p:nvSpPr>
        <p:spPr>
          <a:xfrm>
            <a:off x="112268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075"/>
                </a:solidFill>
                <a:latin typeface="Microsoft YaHei"/>
              </a:rPr>
              <a:t>2/5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06400" y="317500"/>
            <a:ext cx="113792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3A93"/>
                </a:solidFill>
                <a:latin typeface="Microsoft YaHei"/>
              </a:rPr>
              <a:t>普通菱形：两条路径保留两份 A</a:t>
            </a:r>
          </a:p>
        </p:txBody>
      </p:sp>
      <p:sp>
        <p:nvSpPr>
          <p:cNvPr id="3" name="template-divider"/>
          <p:cNvSpPr/>
          <p:nvPr/>
        </p:nvSpPr>
        <p:spPr>
          <a:xfrm>
            <a:off x="406400" y="927100"/>
            <a:ext cx="11379200" cy="25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ort:C++17 · 类定义与构造日志（包含 &lt;iostream&gt;）"/>
          <p:cNvSpPr txBox="1"/>
          <p:nvPr/>
        </p:nvSpPr>
        <p:spPr>
          <a:xfrm>
            <a:off x="4064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C++17 · 类定义与构造日志（包含 &lt;iostream&gt;）</a:t>
            </a:r>
          </a:p>
        </p:txBody>
      </p:sp>
      <p:sp>
        <p:nvSpPr>
          <p:cNvPr id="5" name="plain-diamond-panel"/>
          <p:cNvSpPr/>
          <p:nvPr/>
        </p:nvSpPr>
        <p:spPr>
          <a:xfrm>
            <a:off x="406400" y="1511300"/>
            <a:ext cx="5334000" cy="30988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:plain-diamond"/>
          <p:cNvSpPr txBox="1"/>
          <p:nvPr/>
        </p:nvSpPr>
        <p:spPr>
          <a:xfrm>
            <a:off x="584200" y="1689100"/>
            <a:ext cx="4978400" cy="274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int</a:t>
            </a:r>
            <a:r>
              <a:rPr sz="1200">
                <a:solidFill>
                  <a:srgbClr val="263248"/>
                </a:solidFill>
                <a:latin typeface="Consolas"/>
              </a:rPr>
              <a:t> id;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explicit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</a:t>
            </a:r>
            <a:r>
              <a:rPr sz="1200">
                <a:solidFill>
                  <a:srgbClr val="6A3E93"/>
                </a:solidFill>
                <a:latin typeface="Consolas"/>
              </a:rPr>
              <a:t>int</a:t>
            </a:r>
            <a:r>
              <a:rPr sz="1200">
                <a:solidFill>
                  <a:srgbClr val="263248"/>
                </a:solidFill>
                <a:latin typeface="Consolas"/>
              </a:rPr>
              <a:t> n) : id(n)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 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"A("</a:t>
            </a:r>
            <a:r>
              <a:rPr sz="1200">
                <a:solidFill>
                  <a:srgbClr val="263248"/>
                </a:solidFill>
                <a:latin typeface="Consolas"/>
              </a:rPr>
              <a:t> &lt;&lt; id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") "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() :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</a:t>
            </a:r>
            <a:r>
              <a:rPr sz="1200">
                <a:solidFill>
                  <a:srgbClr val="8F4A11"/>
                </a:solidFill>
                <a:latin typeface="Consolas"/>
              </a:rPr>
              <a:t>1</a:t>
            </a:r>
            <a:r>
              <a:rPr sz="1200">
                <a:solidFill>
                  <a:srgbClr val="263248"/>
                </a:solidFill>
                <a:latin typeface="Consolas"/>
              </a:rPr>
              <a:t>) {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"B 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() :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</a:t>
            </a:r>
            <a:r>
              <a:rPr sz="1200">
                <a:solidFill>
                  <a:srgbClr val="8F4A11"/>
                </a:solidFill>
                <a:latin typeface="Consolas"/>
              </a:rPr>
              <a:t>2</a:t>
            </a:r>
            <a:r>
              <a:rPr sz="1200">
                <a:solidFill>
                  <a:srgbClr val="263248"/>
                </a:solidFill>
                <a:latin typeface="Consolas"/>
              </a:rPr>
              <a:t>) {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"C 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D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,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1F3A93"/>
                </a:solidFill>
                <a:latin typeface="Consolas"/>
              </a:rPr>
              <a:t>D</a:t>
            </a:r>
            <a:r>
              <a:rPr sz="1200">
                <a:solidFill>
                  <a:srgbClr val="263248"/>
                </a:solidFill>
                <a:latin typeface="Consolas"/>
              </a:rPr>
              <a:t>() {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"D\n"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</p:txBody>
      </p:sp>
      <p:sp>
        <p:nvSpPr>
          <p:cNvPr id="7" name="short:继承关系：箭头由派生类指向基类"/>
          <p:cNvSpPr txBox="1"/>
          <p:nvPr/>
        </p:nvSpPr>
        <p:spPr>
          <a:xfrm>
            <a:off x="61976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继承关系：箭头由派生类指向基类</a:t>
            </a:r>
          </a:p>
        </p:txBody>
      </p:sp>
      <p:sp>
        <p:nvSpPr>
          <p:cNvPr id="8" name="diamond-A"/>
          <p:cNvSpPr/>
          <p:nvPr/>
        </p:nvSpPr>
        <p:spPr>
          <a:xfrm>
            <a:off x="8356600" y="1511300"/>
            <a:ext cx="1270000" cy="431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9" name="diamond-B"/>
          <p:cNvSpPr/>
          <p:nvPr/>
        </p:nvSpPr>
        <p:spPr>
          <a:xfrm>
            <a:off x="6502400" y="2387600"/>
            <a:ext cx="1422400" cy="431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B</a:t>
            </a:r>
          </a:p>
        </p:txBody>
      </p:sp>
      <p:sp>
        <p:nvSpPr>
          <p:cNvPr id="10" name="diamond-C"/>
          <p:cNvSpPr/>
          <p:nvPr/>
        </p:nvSpPr>
        <p:spPr>
          <a:xfrm>
            <a:off x="10058400" y="2387600"/>
            <a:ext cx="1422400" cy="431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C</a:t>
            </a:r>
          </a:p>
        </p:txBody>
      </p:sp>
      <p:sp>
        <p:nvSpPr>
          <p:cNvPr id="11" name="diamond-D"/>
          <p:cNvSpPr/>
          <p:nvPr/>
        </p:nvSpPr>
        <p:spPr>
          <a:xfrm>
            <a:off x="8356600" y="3263900"/>
            <a:ext cx="1270000" cy="431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cxnSp>
        <p:nvCxnSpPr>
          <p:cNvPr id="12" name="B-to-A"/>
          <p:cNvCxnSpPr/>
          <p:nvPr/>
        </p:nvCxnSpPr>
        <p:spPr>
          <a:xfrm flipV="1">
            <a:off x="7213600" y="17272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-to-A"/>
          <p:cNvCxnSpPr/>
          <p:nvPr/>
        </p:nvCxnSpPr>
        <p:spPr>
          <a:xfrm flipH="1" flipV="1">
            <a:off x="9626600" y="17272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-to-B"/>
          <p:cNvCxnSpPr/>
          <p:nvPr/>
        </p:nvCxnSpPr>
        <p:spPr>
          <a:xfrm flipH="1" flipV="1">
            <a:off x="7213600" y="28194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-to-C"/>
          <p:cNvCxnSpPr/>
          <p:nvPr/>
        </p:nvCxnSpPr>
        <p:spPr>
          <a:xfrm flipV="1">
            <a:off x="9626600" y="28194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ody"/>
          <p:cNvSpPr txBox="1"/>
          <p:nvPr/>
        </p:nvSpPr>
        <p:spPr>
          <a:xfrm>
            <a:off x="6197600" y="3949700"/>
            <a:ext cx="558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按声明顺序构造 B、C；各自先构造自己的 A。</a:t>
            </a:r>
          </a:p>
        </p:txBody>
      </p:sp>
      <p:sp>
        <p:nvSpPr>
          <p:cNvPr id="17" name="plain-object"/>
          <p:cNvSpPr/>
          <p:nvPr/>
        </p:nvSpPr>
        <p:spPr>
          <a:xfrm>
            <a:off x="6197600" y="4419600"/>
            <a:ext cx="5588000" cy="660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"/>
          <p:cNvSpPr txBox="1"/>
          <p:nvPr/>
        </p:nvSpPr>
        <p:spPr>
          <a:xfrm>
            <a:off x="6197600" y="46355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93"/>
                </a:solidFill>
                <a:latin typeface="Microsoft YaHei"/>
              </a:rPr>
              <a:t>B::A：id = 1</a:t>
            </a:r>
          </a:p>
        </p:txBody>
      </p:sp>
      <p:sp>
        <p:nvSpPr>
          <p:cNvPr id="19" name="body"/>
          <p:cNvSpPr txBox="1"/>
          <p:nvPr/>
        </p:nvSpPr>
        <p:spPr>
          <a:xfrm>
            <a:off x="8991600" y="46355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93"/>
                </a:solidFill>
                <a:latin typeface="Microsoft YaHei"/>
              </a:rPr>
              <a:t>C::A：id = 2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406400" y="4927600"/>
            <a:ext cx="5334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编译错误：A&amp; a = d;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原因：从 D 到 A 的基类转换有歧义。</a:t>
            </a:r>
          </a:p>
        </p:txBody>
      </p:sp>
      <p:sp>
        <p:nvSpPr>
          <p:cNvPr id="21" name="body"/>
          <p:cNvSpPr txBox="1"/>
          <p:nvPr/>
        </p:nvSpPr>
        <p:spPr>
          <a:xfrm>
            <a:off x="396240" y="5720080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D d; 的输出</a:t>
            </a:r>
          </a:p>
        </p:txBody>
      </p:sp>
      <p:sp>
        <p:nvSpPr>
          <p:cNvPr id="22" name="constructor-A(1)"/>
          <p:cNvSpPr/>
          <p:nvPr/>
        </p:nvSpPr>
        <p:spPr>
          <a:xfrm>
            <a:off x="2616200" y="5588000"/>
            <a:ext cx="13208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A(1)</a:t>
            </a:r>
          </a:p>
        </p:txBody>
      </p:sp>
      <p:sp>
        <p:nvSpPr>
          <p:cNvPr id="23" name="constructor-B"/>
          <p:cNvSpPr/>
          <p:nvPr/>
        </p:nvSpPr>
        <p:spPr>
          <a:xfrm>
            <a:off x="4394200" y="5588000"/>
            <a:ext cx="13208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4" name="constructor-A(2)"/>
          <p:cNvSpPr/>
          <p:nvPr/>
        </p:nvSpPr>
        <p:spPr>
          <a:xfrm>
            <a:off x="6172200" y="5588000"/>
            <a:ext cx="13208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A(2)</a:t>
            </a:r>
          </a:p>
        </p:txBody>
      </p:sp>
      <p:sp>
        <p:nvSpPr>
          <p:cNvPr id="25" name="constructor-C"/>
          <p:cNvSpPr/>
          <p:nvPr/>
        </p:nvSpPr>
        <p:spPr>
          <a:xfrm>
            <a:off x="7950200" y="5588000"/>
            <a:ext cx="13208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26" name="constructor-D"/>
          <p:cNvSpPr/>
          <p:nvPr/>
        </p:nvSpPr>
        <p:spPr>
          <a:xfrm>
            <a:off x="9728200" y="5588000"/>
            <a:ext cx="13208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cxnSp>
        <p:nvCxnSpPr>
          <p:cNvPr id="27" name="construction-order"/>
          <p:cNvCxnSpPr/>
          <p:nvPr/>
        </p:nvCxnSpPr>
        <p:spPr>
          <a:xfrm>
            <a:off x="3937000" y="5829300"/>
            <a:ext cx="4572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struction-order"/>
          <p:cNvCxnSpPr/>
          <p:nvPr/>
        </p:nvCxnSpPr>
        <p:spPr>
          <a:xfrm>
            <a:off x="5715000" y="5829300"/>
            <a:ext cx="4572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struction-order"/>
          <p:cNvCxnSpPr/>
          <p:nvPr/>
        </p:nvCxnSpPr>
        <p:spPr>
          <a:xfrm>
            <a:off x="7493000" y="5829300"/>
            <a:ext cx="4572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struction-order"/>
          <p:cNvCxnSpPr/>
          <p:nvPr/>
        </p:nvCxnSpPr>
        <p:spPr>
          <a:xfrm>
            <a:off x="9271000" y="5829300"/>
            <a:ext cx="4572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age-number:main"/>
          <p:cNvSpPr txBox="1"/>
          <p:nvPr/>
        </p:nvSpPr>
        <p:spPr>
          <a:xfrm>
            <a:off x="112268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075"/>
                </a:solidFill>
                <a:latin typeface="Microsoft YaHei"/>
              </a:rPr>
              <a:t>3/5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06400" y="317500"/>
            <a:ext cx="113792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3A93"/>
                </a:solidFill>
                <a:latin typeface="Microsoft YaHei"/>
              </a:rPr>
              <a:t>虚继承：共享 A，由最派生类初始化</a:t>
            </a:r>
          </a:p>
        </p:txBody>
      </p:sp>
      <p:sp>
        <p:nvSpPr>
          <p:cNvPr id="3" name="template-divider"/>
          <p:cNvSpPr/>
          <p:nvPr/>
        </p:nvSpPr>
        <p:spPr>
          <a:xfrm>
            <a:off x="406400" y="927100"/>
            <a:ext cx="11379200" cy="25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ort:C++17 · 类定义与构造日志（包含 &lt;iostream&gt;）"/>
          <p:cNvSpPr txBox="1"/>
          <p:nvPr/>
        </p:nvSpPr>
        <p:spPr>
          <a:xfrm>
            <a:off x="4064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C++17 · 类定义与构造日志（包含 &lt;iostream&gt;）</a:t>
            </a:r>
          </a:p>
        </p:txBody>
      </p:sp>
      <p:sp>
        <p:nvSpPr>
          <p:cNvPr id="5" name="virtual-diamond-panel"/>
          <p:cNvSpPr/>
          <p:nvPr/>
        </p:nvSpPr>
        <p:spPr>
          <a:xfrm>
            <a:off x="406400" y="1511300"/>
            <a:ext cx="5334000" cy="30988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:virtual-diamond"/>
          <p:cNvSpPr txBox="1"/>
          <p:nvPr/>
        </p:nvSpPr>
        <p:spPr>
          <a:xfrm>
            <a:off x="584200" y="1689100"/>
            <a:ext cx="4978400" cy="274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int</a:t>
            </a:r>
            <a:r>
              <a:rPr sz="1200">
                <a:solidFill>
                  <a:srgbClr val="263248"/>
                </a:solidFill>
                <a:latin typeface="Consolas"/>
              </a:rPr>
              <a:t> id;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explicit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</a:t>
            </a:r>
            <a:r>
              <a:rPr sz="1200">
                <a:solidFill>
                  <a:srgbClr val="6A3E93"/>
                </a:solidFill>
                <a:latin typeface="Consolas"/>
              </a:rPr>
              <a:t>int</a:t>
            </a:r>
            <a:r>
              <a:rPr sz="1200">
                <a:solidFill>
                  <a:srgbClr val="263248"/>
                </a:solidFill>
                <a:latin typeface="Consolas"/>
              </a:rPr>
              <a:t> n) : id(n)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 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"A("</a:t>
            </a:r>
            <a:r>
              <a:rPr sz="1200">
                <a:solidFill>
                  <a:srgbClr val="263248"/>
                </a:solidFill>
                <a:latin typeface="Consolas"/>
              </a:rPr>
              <a:t> &lt;&lt; id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") "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() :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</a:t>
            </a:r>
            <a:r>
              <a:rPr sz="1200">
                <a:solidFill>
                  <a:srgbClr val="8F4A11"/>
                </a:solidFill>
                <a:latin typeface="Consolas"/>
              </a:rPr>
              <a:t>1</a:t>
            </a:r>
            <a:r>
              <a:rPr sz="1200">
                <a:solidFill>
                  <a:srgbClr val="263248"/>
                </a:solidFill>
                <a:latin typeface="Consolas"/>
              </a:rPr>
              <a:t>) {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"B 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() :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</a:t>
            </a:r>
            <a:r>
              <a:rPr sz="1200">
                <a:solidFill>
                  <a:srgbClr val="8F4A11"/>
                </a:solidFill>
                <a:latin typeface="Consolas"/>
              </a:rPr>
              <a:t>2</a:t>
            </a:r>
            <a:r>
              <a:rPr sz="1200">
                <a:solidFill>
                  <a:srgbClr val="263248"/>
                </a:solidFill>
                <a:latin typeface="Consolas"/>
              </a:rPr>
              <a:t>) {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"C 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D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,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1F3A93"/>
                </a:solidFill>
                <a:latin typeface="Consolas"/>
              </a:rPr>
              <a:t>D</a:t>
            </a:r>
            <a:r>
              <a:rPr sz="1200">
                <a:solidFill>
                  <a:srgbClr val="263248"/>
                </a:solidFill>
                <a:latin typeface="Consolas"/>
              </a:rPr>
              <a:t>() :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</a:t>
            </a:r>
            <a:r>
              <a:rPr sz="1200">
                <a:solidFill>
                  <a:srgbClr val="8F4A11"/>
                </a:solidFill>
                <a:latin typeface="Consolas"/>
              </a:rPr>
              <a:t>9</a:t>
            </a:r>
            <a:r>
              <a:rPr sz="1200">
                <a:solidFill>
                  <a:srgbClr val="263248"/>
                </a:solidFill>
                <a:latin typeface="Consolas"/>
              </a:rPr>
              <a:t>) { std::cout &lt;&lt; </a:t>
            </a:r>
            <a:r>
              <a:rPr sz="1200">
                <a:solidFill>
                  <a:srgbClr val="226343"/>
                </a:solidFill>
                <a:latin typeface="Consolas"/>
              </a:rPr>
              <a:t>"D\n"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</p:txBody>
      </p:sp>
      <p:sp>
        <p:nvSpPr>
          <p:cNvPr id="7" name="short:继承关系：箭头由派生类指向基类"/>
          <p:cNvSpPr txBox="1"/>
          <p:nvPr/>
        </p:nvSpPr>
        <p:spPr>
          <a:xfrm>
            <a:off x="61976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继承关系：箭头由派生类指向基类</a:t>
            </a:r>
          </a:p>
        </p:txBody>
      </p:sp>
      <p:sp>
        <p:nvSpPr>
          <p:cNvPr id="8" name="diamond-A"/>
          <p:cNvSpPr/>
          <p:nvPr/>
        </p:nvSpPr>
        <p:spPr>
          <a:xfrm>
            <a:off x="8356600" y="1511300"/>
            <a:ext cx="1270000" cy="431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9" name="diamond-B"/>
          <p:cNvSpPr/>
          <p:nvPr/>
        </p:nvSpPr>
        <p:spPr>
          <a:xfrm>
            <a:off x="6502400" y="2387600"/>
            <a:ext cx="1422400" cy="431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B</a:t>
            </a:r>
          </a:p>
        </p:txBody>
      </p:sp>
      <p:sp>
        <p:nvSpPr>
          <p:cNvPr id="10" name="diamond-C"/>
          <p:cNvSpPr/>
          <p:nvPr/>
        </p:nvSpPr>
        <p:spPr>
          <a:xfrm>
            <a:off x="10058400" y="2387600"/>
            <a:ext cx="1422400" cy="431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C</a:t>
            </a:r>
          </a:p>
        </p:txBody>
      </p:sp>
      <p:sp>
        <p:nvSpPr>
          <p:cNvPr id="11" name="diamond-D"/>
          <p:cNvSpPr/>
          <p:nvPr/>
        </p:nvSpPr>
        <p:spPr>
          <a:xfrm>
            <a:off x="8356600" y="3263900"/>
            <a:ext cx="1270000" cy="431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cxnSp>
        <p:nvCxnSpPr>
          <p:cNvPr id="12" name="B-to-A"/>
          <p:cNvCxnSpPr/>
          <p:nvPr/>
        </p:nvCxnSpPr>
        <p:spPr>
          <a:xfrm flipV="1">
            <a:off x="7213600" y="17272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-to-A"/>
          <p:cNvCxnSpPr/>
          <p:nvPr/>
        </p:nvCxnSpPr>
        <p:spPr>
          <a:xfrm flipH="1" flipV="1">
            <a:off x="9626600" y="17272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-to-B"/>
          <p:cNvCxnSpPr/>
          <p:nvPr/>
        </p:nvCxnSpPr>
        <p:spPr>
          <a:xfrm flipH="1" flipV="1">
            <a:off x="7213600" y="28194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-to-C"/>
          <p:cNvCxnSpPr/>
          <p:nvPr/>
        </p:nvCxnSpPr>
        <p:spPr>
          <a:xfrm flipV="1">
            <a:off x="9626600" y="2819400"/>
            <a:ext cx="1143000" cy="660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ody"/>
          <p:cNvSpPr txBox="1"/>
          <p:nvPr/>
        </p:nvSpPr>
        <p:spPr>
          <a:xfrm>
            <a:off x="6197600" y="3949700"/>
            <a:ext cx="558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先构造虚基类 A，再按声明顺序构造 B、C。</a:t>
            </a:r>
          </a:p>
        </p:txBody>
      </p:sp>
      <p:sp>
        <p:nvSpPr>
          <p:cNvPr id="17" name="virtual-object"/>
          <p:cNvSpPr/>
          <p:nvPr/>
        </p:nvSpPr>
        <p:spPr>
          <a:xfrm>
            <a:off x="6197600" y="4419600"/>
            <a:ext cx="5588000" cy="660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共享 A：id = 9；经 B、C 转成 A* 后指针相等</a:t>
            </a:r>
          </a:p>
        </p:txBody>
      </p:sp>
      <p:sp>
        <p:nvSpPr>
          <p:cNvPr id="18" name="body"/>
          <p:cNvSpPr txBox="1"/>
          <p:nvPr/>
        </p:nvSpPr>
        <p:spPr>
          <a:xfrm>
            <a:off x="406400" y="4927600"/>
            <a:ext cx="5334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D 构造时，B/C 的 A 初始化器被忽略。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单独构造 B：A(1) 生效。</a:t>
            </a:r>
          </a:p>
        </p:txBody>
      </p:sp>
      <p:sp>
        <p:nvSpPr>
          <p:cNvPr id="19" name="body"/>
          <p:cNvSpPr txBox="1"/>
          <p:nvPr/>
        </p:nvSpPr>
        <p:spPr>
          <a:xfrm>
            <a:off x="396240" y="5720080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D d; 的输出</a:t>
            </a:r>
          </a:p>
        </p:txBody>
      </p:sp>
      <p:sp>
        <p:nvSpPr>
          <p:cNvPr id="20" name="constructor-A(9)"/>
          <p:cNvSpPr/>
          <p:nvPr/>
        </p:nvSpPr>
        <p:spPr>
          <a:xfrm>
            <a:off x="2616200" y="5588000"/>
            <a:ext cx="15240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A(9)</a:t>
            </a:r>
          </a:p>
        </p:txBody>
      </p:sp>
      <p:sp>
        <p:nvSpPr>
          <p:cNvPr id="21" name="constructor-B"/>
          <p:cNvSpPr/>
          <p:nvPr/>
        </p:nvSpPr>
        <p:spPr>
          <a:xfrm>
            <a:off x="4673600" y="5588000"/>
            <a:ext cx="15240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2" name="constructor-C"/>
          <p:cNvSpPr/>
          <p:nvPr/>
        </p:nvSpPr>
        <p:spPr>
          <a:xfrm>
            <a:off x="6731000" y="5588000"/>
            <a:ext cx="15240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23" name="constructor-D"/>
          <p:cNvSpPr/>
          <p:nvPr/>
        </p:nvSpPr>
        <p:spPr>
          <a:xfrm>
            <a:off x="8788400" y="5588000"/>
            <a:ext cx="1524000" cy="4826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cxnSp>
        <p:nvCxnSpPr>
          <p:cNvPr id="24" name="construction-order"/>
          <p:cNvCxnSpPr/>
          <p:nvPr/>
        </p:nvCxnSpPr>
        <p:spPr>
          <a:xfrm>
            <a:off x="4140200" y="5829300"/>
            <a:ext cx="5334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struction-order"/>
          <p:cNvCxnSpPr/>
          <p:nvPr/>
        </p:nvCxnSpPr>
        <p:spPr>
          <a:xfrm>
            <a:off x="6197600" y="5829300"/>
            <a:ext cx="5334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struction-order"/>
          <p:cNvCxnSpPr/>
          <p:nvPr/>
        </p:nvCxnSpPr>
        <p:spPr>
          <a:xfrm>
            <a:off x="8255000" y="5829300"/>
            <a:ext cx="533400" cy="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age-number:main"/>
          <p:cNvSpPr txBox="1"/>
          <p:nvPr/>
        </p:nvSpPr>
        <p:spPr>
          <a:xfrm>
            <a:off x="112268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075"/>
                </a:solidFill>
                <a:latin typeface="Microsoft YaHei"/>
              </a:rPr>
              <a:t>4/5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06400" y="317500"/>
            <a:ext cx="113792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3A93"/>
                </a:solidFill>
                <a:latin typeface="Microsoft YaHei"/>
              </a:rPr>
              <a:t>共享 A 的虚函数需要唯一最终覆盖者</a:t>
            </a:r>
          </a:p>
        </p:txBody>
      </p:sp>
      <p:sp>
        <p:nvSpPr>
          <p:cNvPr id="3" name="template-divider"/>
          <p:cNvSpPr/>
          <p:nvPr/>
        </p:nvSpPr>
        <p:spPr>
          <a:xfrm>
            <a:off x="406400" y="927100"/>
            <a:ext cx="11379200" cy="254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ort:C++17 · A 提供虚函数，D 统一覆盖"/>
          <p:cNvSpPr txBox="1"/>
          <p:nvPr/>
        </p:nvSpPr>
        <p:spPr>
          <a:xfrm>
            <a:off x="4064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C++17 · A 提供虚函数，D 统一覆盖</a:t>
            </a:r>
          </a:p>
        </p:txBody>
      </p:sp>
      <p:sp>
        <p:nvSpPr>
          <p:cNvPr id="5" name="final-overrider-panel"/>
          <p:cNvSpPr/>
          <p:nvPr/>
        </p:nvSpPr>
        <p:spPr>
          <a:xfrm>
            <a:off x="406400" y="1511300"/>
            <a:ext cx="5334000" cy="273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:final-overrider"/>
          <p:cNvSpPr txBox="1"/>
          <p:nvPr/>
        </p:nvSpPr>
        <p:spPr>
          <a:xfrm>
            <a:off x="584200" y="1689100"/>
            <a:ext cx="4978400" cy="2377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f()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{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"A"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~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() = </a:t>
            </a:r>
            <a:r>
              <a:rPr sz="1200">
                <a:solidFill>
                  <a:srgbClr val="6A3E93"/>
                </a:solidFill>
                <a:latin typeface="Consolas"/>
              </a:rPr>
              <a:t>default</a:t>
            </a:r>
            <a:r>
              <a:rPr sz="1200">
                <a:solidFill>
                  <a:srgbClr val="263248"/>
                </a:solidFill>
                <a:latin typeface="Consolas"/>
              </a:rPr>
              <a:t>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f()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override</a:t>
            </a:r>
            <a:r>
              <a:rPr sz="1200">
                <a:solidFill>
                  <a:srgbClr val="263248"/>
                </a:solidFill>
                <a:latin typeface="Consolas"/>
              </a:rPr>
              <a:t> {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"B"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6A3E93"/>
                </a:solidFill>
                <a:latin typeface="Consolas"/>
              </a:rPr>
              <a:t>virtual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A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f()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override</a:t>
            </a:r>
            <a:r>
              <a:rPr sz="1200">
                <a:solidFill>
                  <a:srgbClr val="263248"/>
                </a:solidFill>
                <a:latin typeface="Consolas"/>
              </a:rPr>
              <a:t> {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"C"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3E93"/>
                </a:solidFill>
                <a:latin typeface="Consolas"/>
              </a:rPr>
              <a:t>struct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1F3A93"/>
                </a:solidFill>
                <a:latin typeface="Consolas"/>
              </a:rPr>
              <a:t>D</a:t>
            </a:r>
            <a:r>
              <a:rPr sz="1200">
                <a:solidFill>
                  <a:srgbClr val="263248"/>
                </a:solidFill>
                <a:latin typeface="Consolas"/>
              </a:rPr>
              <a:t> : 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, </a:t>
            </a:r>
            <a:r>
              <a:rPr sz="1200">
                <a:solidFill>
                  <a:srgbClr val="1F3A93"/>
                </a:solidFill>
                <a:latin typeface="Consolas"/>
              </a:rPr>
              <a:t>C</a:t>
            </a:r>
            <a:r>
              <a:rPr sz="1200">
                <a:solidFill>
                  <a:srgbClr val="263248"/>
                </a:solidFill>
                <a:latin typeface="Consolas"/>
              </a:rPr>
              <a:t> {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 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char</a:t>
            </a:r>
            <a:r>
              <a:rPr sz="1200">
                <a:solidFill>
                  <a:srgbClr val="263248"/>
                </a:solidFill>
                <a:latin typeface="Consolas"/>
              </a:rPr>
              <a:t>* f() </a:t>
            </a:r>
            <a:r>
              <a:rPr sz="1200">
                <a:solidFill>
                  <a:srgbClr val="6A3E93"/>
                </a:solidFill>
                <a:latin typeface="Consolas"/>
              </a:rPr>
              <a:t>const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6A3E93"/>
                </a:solidFill>
                <a:latin typeface="Consolas"/>
              </a:rPr>
              <a:t>override</a:t>
            </a:r>
            <a:r>
              <a:rPr sz="1200">
                <a:solidFill>
                  <a:srgbClr val="263248"/>
                </a:solidFill>
                <a:latin typeface="Consolas"/>
              </a:rPr>
              <a:t> { </a:t>
            </a:r>
            <a:r>
              <a:rPr sz="1200">
                <a:solidFill>
                  <a:srgbClr val="6A3E93"/>
                </a:solidFill>
                <a:latin typeface="Consolas"/>
              </a:rPr>
              <a:t>return</a:t>
            </a:r>
            <a:r>
              <a:rPr sz="1200">
                <a:solidFill>
                  <a:srgbClr val="263248"/>
                </a:solidFill>
                <a:latin typeface="Consolas"/>
              </a:rPr>
              <a:t> </a:t>
            </a:r>
            <a:r>
              <a:rPr sz="1200">
                <a:solidFill>
                  <a:srgbClr val="226343"/>
                </a:solidFill>
                <a:latin typeface="Consolas"/>
              </a:rPr>
              <a:t>"D"</a:t>
            </a:r>
            <a:r>
              <a:rPr sz="1200">
                <a:solidFill>
                  <a:srgbClr val="263248"/>
                </a:solidFill>
                <a:latin typeface="Consolas"/>
              </a:rPr>
              <a:t>; }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};</a:t>
            </a:r>
          </a:p>
        </p:txBody>
      </p:sp>
      <p:sp>
        <p:nvSpPr>
          <p:cNvPr id="7" name="short:同一个 D 对象，三种基类引用"/>
          <p:cNvSpPr txBox="1"/>
          <p:nvPr/>
        </p:nvSpPr>
        <p:spPr>
          <a:xfrm>
            <a:off x="6197600" y="11557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同一个 D 对象，三种基类引用</a:t>
            </a:r>
          </a:p>
        </p:txBody>
      </p:sp>
      <p:sp>
        <p:nvSpPr>
          <p:cNvPr id="8" name="caller-A"/>
          <p:cNvSpPr/>
          <p:nvPr/>
        </p:nvSpPr>
        <p:spPr>
          <a:xfrm>
            <a:off x="6197600" y="1612900"/>
            <a:ext cx="1524000" cy="558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3A93"/>
                </a:solidFill>
                <a:latin typeface="Consolas"/>
              </a:rPr>
              <a:t>A&amp; a = d;</a:t>
            </a:r>
          </a:p>
        </p:txBody>
      </p:sp>
      <p:sp>
        <p:nvSpPr>
          <p:cNvPr id="9" name="caller-B"/>
          <p:cNvSpPr/>
          <p:nvPr/>
        </p:nvSpPr>
        <p:spPr>
          <a:xfrm>
            <a:off x="8229600" y="1612900"/>
            <a:ext cx="1524000" cy="558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3A93"/>
                </a:solidFill>
                <a:latin typeface="Consolas"/>
              </a:rPr>
              <a:t>B&amp; b = d;</a:t>
            </a:r>
          </a:p>
        </p:txBody>
      </p:sp>
      <p:sp>
        <p:nvSpPr>
          <p:cNvPr id="10" name="caller-C"/>
          <p:cNvSpPr/>
          <p:nvPr/>
        </p:nvSpPr>
        <p:spPr>
          <a:xfrm>
            <a:off x="10261600" y="1612900"/>
            <a:ext cx="1524000" cy="558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3A93"/>
                </a:solidFill>
                <a:latin typeface="Consolas"/>
              </a:rPr>
              <a:t>C&amp; c = d;</a:t>
            </a:r>
          </a:p>
        </p:txBody>
      </p:sp>
      <p:sp>
        <p:nvSpPr>
          <p:cNvPr id="11" name="unique-D-f"/>
          <p:cNvSpPr/>
          <p:nvPr/>
        </p:nvSpPr>
        <p:spPr>
          <a:xfrm>
            <a:off x="8077200" y="2997200"/>
            <a:ext cx="1828800" cy="685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D::f()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返回 "D"</a:t>
            </a:r>
          </a:p>
        </p:txBody>
      </p:sp>
      <p:cxnSp>
        <p:nvCxnSpPr>
          <p:cNvPr id="12" name="call-a-f"/>
          <p:cNvCxnSpPr/>
          <p:nvPr/>
        </p:nvCxnSpPr>
        <p:spPr>
          <a:xfrm>
            <a:off x="6959600" y="2171700"/>
            <a:ext cx="1117600" cy="1168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all-b-f"/>
          <p:cNvCxnSpPr/>
          <p:nvPr/>
        </p:nvCxnSpPr>
        <p:spPr>
          <a:xfrm>
            <a:off x="8991600" y="2171700"/>
            <a:ext cx="0" cy="8255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all-c-f"/>
          <p:cNvCxnSpPr/>
          <p:nvPr/>
        </p:nvCxnSpPr>
        <p:spPr>
          <a:xfrm flipH="1">
            <a:off x="9906000" y="2171700"/>
            <a:ext cx="1117600" cy="1168400"/>
          </a:xfrm>
          <a:prstGeom prst="line">
            <a:avLst/>
          </a:prstGeom>
          <a:ln w="1905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body"/>
          <p:cNvSpPr txBox="1"/>
          <p:nvPr/>
        </p:nvSpPr>
        <p:spPr>
          <a:xfrm>
            <a:off x="6197600" y="4032250"/>
            <a:ext cx="558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若 D 没有覆盖 f，B::f 与 C::f 同时成为候选；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248"/>
                </a:solidFill>
                <a:latin typeface="Microsoft YaHei"/>
              </a:rPr>
              <a:t>共享 A 的最终覆盖者不唯一，类定义编译失败。</a:t>
            </a:r>
          </a:p>
        </p:txBody>
      </p:sp>
      <p:sp>
        <p:nvSpPr>
          <p:cNvPr id="16" name="short:显式限定可直接调用某一路实现"/>
          <p:cNvSpPr txBox="1"/>
          <p:nvPr/>
        </p:nvSpPr>
        <p:spPr>
          <a:xfrm>
            <a:off x="406400" y="4419600"/>
            <a:ext cx="533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显式限定可直接调用某一路实现</a:t>
            </a:r>
          </a:p>
        </p:txBody>
      </p:sp>
      <p:sp>
        <p:nvSpPr>
          <p:cNvPr id="17" name="qualified-call-panel"/>
          <p:cNvSpPr/>
          <p:nvPr/>
        </p:nvSpPr>
        <p:spPr>
          <a:xfrm>
            <a:off x="406400" y="4775200"/>
            <a:ext cx="5334000" cy="721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de:qualified-call"/>
          <p:cNvSpPr txBox="1"/>
          <p:nvPr/>
        </p:nvSpPr>
        <p:spPr>
          <a:xfrm>
            <a:off x="584200" y="4953000"/>
            <a:ext cx="4978400" cy="365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D</a:t>
            </a:r>
            <a:r>
              <a:rPr sz="1200">
                <a:solidFill>
                  <a:srgbClr val="263248"/>
                </a:solidFill>
                <a:latin typeface="Consolas"/>
              </a:rPr>
              <a:t> d;</a:t>
            </a:r>
          </a:p>
          <a:p>
            <a:p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3248"/>
                </a:solidFill>
                <a:latin typeface="Consolas"/>
              </a:rPr>
              <a:t>d.</a:t>
            </a:r>
            <a:r>
              <a:rPr sz="1200">
                <a:solidFill>
                  <a:srgbClr val="1F3A93"/>
                </a:solidFill>
                <a:latin typeface="Consolas"/>
              </a:rPr>
              <a:t>B</a:t>
            </a:r>
            <a:r>
              <a:rPr sz="1200">
                <a:solidFill>
                  <a:srgbClr val="263248"/>
                </a:solidFill>
                <a:latin typeface="Consolas"/>
              </a:rPr>
              <a:t>::f();  </a:t>
            </a:r>
            <a:r>
              <a:rPr sz="1200">
                <a:solidFill>
                  <a:srgbClr val="536075"/>
                </a:solidFill>
                <a:latin typeface="Consolas"/>
              </a:rPr>
              <a:t>// returns "B"</a:t>
            </a:r>
          </a:p>
        </p:txBody>
      </p:sp>
      <p:sp>
        <p:nvSpPr>
          <p:cNvPr id="19" name="virtual-function-role"/>
          <p:cNvSpPr/>
          <p:nvPr/>
        </p:nvSpPr>
        <p:spPr>
          <a:xfrm>
            <a:off x="6197600" y="4813300"/>
            <a:ext cx="2667000" cy="812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virtual 函数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选择调用实现</a:t>
            </a:r>
          </a:p>
        </p:txBody>
      </p:sp>
      <p:sp>
        <p:nvSpPr>
          <p:cNvPr id="20" name="virtual-base-role"/>
          <p:cNvSpPr/>
          <p:nvPr/>
        </p:nvSpPr>
        <p:spPr>
          <a:xfrm>
            <a:off x="9118600" y="4813300"/>
            <a:ext cx="2667000" cy="812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3500" bIns="635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virtual 继承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3A93"/>
                </a:solidFill>
                <a:latin typeface="Microsoft YaHei"/>
              </a:rPr>
              <a:t>共享基类子对象</a:t>
            </a:r>
          </a:p>
        </p:txBody>
      </p:sp>
      <p:sp>
        <p:nvSpPr>
          <p:cNvPr id="21" name="body"/>
          <p:cNvSpPr txBox="1"/>
          <p:nvPr/>
        </p:nvSpPr>
        <p:spPr>
          <a:xfrm>
            <a:off x="406400" y="5803900"/>
            <a:ext cx="11379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93"/>
                </a:solidFill>
                <a:latin typeface="Microsoft YaHei"/>
              </a:rPr>
              <a:t>先辨认“有几份基类子对象”，再检查“虚函数最终由谁覆盖”。</a:t>
            </a:r>
          </a:p>
        </p:txBody>
      </p:sp>
      <p:sp>
        <p:nvSpPr>
          <p:cNvPr id="22" name="page-number:main"/>
          <p:cNvSpPr txBox="1"/>
          <p:nvPr/>
        </p:nvSpPr>
        <p:spPr>
          <a:xfrm>
            <a:off x="11226800" y="6350000"/>
            <a:ext cx="558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075"/>
                </a:solidFill>
                <a:latin typeface="Microsoft YaHei"/>
              </a:rPr>
              <a:t>5/5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heme/theme1.xml><?xml version="1.0" encoding="utf-8"?>
<a:theme xmlns:a="http://schemas.openxmlformats.org/drawingml/2006/main" name="1_Office 主题​​">
  <a:themeElements>
    <a:clrScheme name="深蓝配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4480FB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2013 - 2022 主题">
  <a:themeElements>
    <a:clrScheme name="01-【经典蓝】配色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00319B"/>
      </a:accent2>
      <a:accent3>
        <a:srgbClr val="00319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lIns="0" tIns="0" rIns="0" bIns="0" rtlCol="0" anchor="ctr">
        <a:noAutofit/>
      </a:bodyPr>
      <a:lstStyle>
        <a:defPPr algn="ctr" defTabSz="731520">
          <a:lnSpc>
            <a:spcPct val="130000"/>
          </a:lnSpc>
          <a:defRPr sz="1400" dirty="0" smtClean="0">
            <a:solidFill>
              <a:schemeClr val="bg1"/>
            </a:solidFill>
            <a:latin typeface="+mn-ea"/>
            <a:cs typeface="OPPOSans L" panose="00020600040101010101" pitchFamily="18" charset="-122"/>
          </a:defRPr>
        </a:defPPr>
      </a:lstStyle>
    </a:spDef>
    <a:txDef>
      <a:spPr>
        <a:noFill/>
      </a:spPr>
      <a:bodyPr wrap="none" lIns="0" tIns="0" rIns="0" bIns="0" rtlCol="0">
        <a:no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6736</Words>
  <PresentationFormat>宽屏</PresentationFormat>
  <Paragraphs>1686</Paragraphs>
  <Slides>40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思源黑体 CN Normal</vt:lpstr>
      <vt:lpstr>Roboto</vt:lpstr>
      <vt:lpstr>思源黑体 CN Bold</vt:lpstr>
      <vt:lpstr>1_Office 主题​​</vt:lpstr>
      <vt:lpstr>Office 主题</vt:lpstr>
      <vt:lpstr>2_Office 主题​​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继承、多态与虚继承</dc:title>
  <cp:lastModifiedBy>Sun guang</cp:lastModifiedBy>
  <cp:revision>60</cp:revision>
  <dcterms:created xsi:type="dcterms:W3CDTF">2025-08-13T07:51:00Z</dcterms:created>
  <dcterms:modified xsi:type="dcterms:W3CDTF">2026-05-27T07:17:50Z</dcterms:modified>
  <dc:subject>C++17 教学</dc:subject>
  <cp:keywords>C++,继承,虚函数,多态,虚继承</cp:keywords>
  <dc:description/>
  <dc:creator>SKILL应用测试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46A8C56490164DF9BD00D095B18F7440_12</vt:lpwstr>
  </property>
  <property fmtid="{D5CDD505-2E9C-101B-9397-08002B2CF9AE}" pid="3" name="KSOProductBuildVer">
    <vt:lpwstr>2052-11.1.0.11176</vt:lpwstr>
  </property>
</Properties>
</file>