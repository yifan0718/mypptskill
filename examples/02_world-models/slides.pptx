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45"/>
  </p:notesMasterIdLst>
  <p:handoutMasterIdLst>
    <p:handoutMasterId r:id="rId4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  <a:srgbClr val="F9F9F9"/>
    <a:srgbClr val="FE7E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328" y="168"/>
      </p:cViewPr>
      <p:guideLst>
        <p:guide orient="horz" pos="2161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7" d="100"/>
        <a:sy n="107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53" Type="http://schemas.openxmlformats.org/officeDocument/2006/relationships/presProps" Target="pres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月费</c:v>
                </c:pt>
              </c:strCache>
            </c:strRef>
          </c:tx>
          <c:spPr>
            <a:solidFill>
              <a:srgbClr val="3F6F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Standard</c:v>
                </c:pt>
                <c:pt idx="1">
                  <c:v>Pro</c:v>
                </c:pt>
                <c:pt idx="2">
                  <c:v>Max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35</c:v>
                </c:pt>
                <c:pt idx="2">
                  <c:v>95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最多世界数</c:v>
                </c:pt>
              </c:strCache>
            </c:strRef>
          </c:tx>
          <c:spPr>
            <a:solidFill>
              <a:srgbClr val="3F6F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Standard</c:v>
                </c:pt>
                <c:pt idx="1">
                  <c:v>Pro</c:v>
                </c:pt>
                <c:pt idx="2">
                  <c:v>Max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25</c:v>
                </c:pt>
                <c:pt idx="2">
                  <c:v>75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2026/5/27</a:t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‹#›</a:t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DeepMind, Genie 3, 2025-08-05. https://deepmind.google/blog/genie-3-a-new-frontier-for-world-models/</a:t>
            </a:r>
          </a:p>
          <a:p>
            <a:r>
              <a:t>Meta, V-JEPA 2, 2025-06-11. https://ai.meta.com/research/publications/v-jepa-2-self-supervised-video-models-enable-understanding-prediction-and-planning/</a:t>
            </a:r>
          </a:p>
          <a:p>
            <a:r>
              <a:t>Waymo, The Waymo World Model, 2026-02-06. https://waymo.com/blog/2026/02/the-waymo-world-model-a-new-frontier-for-autonomous-driving-simulation/</a:t>
            </a:r>
          </a:p>
          <a:p>
            <a:r>
              <a:t>NVIDIA, Cosmos 3, 2026-05-31. https://nvidianews.nvidia.com/news/nvidia-launches-cosmos-3-the-open-frontier-foundation-model-for-physical-ai</a:t>
            </a:r>
          </a:p>
          <a:p>
            <a:r>
              <a:t>World Labs, Marble: A Multimodal World Model, 2025-11-12. https://www.worldlabs.ai/blog/marble-world-model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DeepMind, Genie 3, 2025-08-05. https://deepmind.google/blog/genie-3-a-new-frontier-for-world-models/</a:t>
            </a:r>
          </a:p>
          <a:p>
            <a:r>
              <a:t>Meta, V-JEPA 2, 2025-06-11. https://ai.meta.com/research/publications/v-jepa-2-self-supervised-video-models-enable-understanding-prediction-and-planning/</a:t>
            </a:r>
          </a:p>
          <a:p>
            <a:r>
              <a:t>World Labs, Marble: A Multimodal World Model, 2025-11-12. https://www.worldlabs.ai/blog/marble-world-model</a:t>
            </a:r>
          </a:p>
          <a:p>
            <a:r>
              <a:t>Waymo, The Waymo World Model, 2026-02-06. https://waymo.com/blog/2026/02/the-waymo-world-model-a-new-frontier-for-autonomous-driving-simulation/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Meta, V-JEPA 2, 2025-06-11. https://ai.meta.com/research/publications/v-jepa-2-self-supervised-video-models-enable-understanding-prediction-and-planning/</a:t>
            </a:r>
          </a:p>
          <a:p>
            <a:r>
              <a:t>Google DeepMind, Genie 3, 2025-08-05. https://deepmind.google/blog/genie-3-a-new-frontier-for-world-models/</a:t>
            </a:r>
          </a:p>
          <a:p>
            <a:r>
              <a:t>World Labs, Marble: A Multimodal World Model, 2025-11-12. https://www.worldlabs.ai/blog/marble-world-model</a:t>
            </a:r>
          </a:p>
          <a:p>
            <a:r>
              <a:t>Google, Project Genie, 2026-01-29. https://blog.google/innovation-and-ai/models-and-research/google-deepmind/project-genie/</a:t>
            </a:r>
          </a:p>
          <a:p>
            <a:r>
              <a:t>Waymo, The Waymo World Model, 2026-02-06. https://waymo.com/blog/2026/02/the-waymo-world-model-a-new-frontier-for-autonomous-driving-simulation/</a:t>
            </a:r>
          </a:p>
          <a:p>
            <a:r>
              <a:t>NVIDIA, Cosmos 3, 2026-05-31. https://nvidianews.nvidia.com/news/nvidia-launches-cosmos-3-the-open-frontier-foundation-model-for-physical-ai</a:t>
            </a:r>
          </a:p>
          <a:p>
            <a:r>
              <a:t>World Labs is Joining AMD, 2026-09-28. Signed definitive agreement; expected close by end of 2026 subject to approvals. https://www.worldlabs.ai/blog/amd-announcement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NVIDIA, Cosmos 3, 2026-05-31. https://nvidianews.nvidia.com/news/nvidia-launches-cosmos-3-the-open-frontier-foundation-model-for-physical-ai</a:t>
            </a:r>
          </a:p>
          <a:p>
            <a:r>
              <a:t>NVIDIA Cosmos LLM Info, updated August 2026. https://www.nvidia.com/en-us/ai/cosmos/llm-info/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Meta, V-JEPA 2, 2025-06-11. https://ai.meta.com/research/publications/v-jepa-2-self-supervised-video-models-enable-understanding-prediction-and-planning/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Waymo, The Waymo World Model, 2026-02-06. https://waymo.com/blog/2026/02/the-waymo-world-model-a-new-frontier-for-autonomous-driving-simulation/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World Labs, Marble: A Multimodal World Model, 2025-11-12. https://www.worldlabs.ai/blog/marble-world-model</a:t>
            </a:r>
          </a:p>
          <a:p>
            <a:r>
              <a:t>World Labs, Marble pricing, accessed 2026-10-17. https://marble.worldlabs.ai/pricing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Google, Project Genie, 2026-01-29. https://blog.google/innovation-and-ai/models-and-research/google-deepmind/project-genie/</a:t>
            </a:r>
          </a:p>
          <a:p>
            <a:r>
              <a:t>World Labs, Marble: A Multimodal World Model, 2025-11-12. https://www.worldlabs.ai/blog/marble-world-model</a:t>
            </a:r>
          </a:p>
          <a:p>
            <a:r>
              <a:t>Waymo, The Waymo World Model, 2026-02-06. https://waymo.com/blog/2026/02/the-waymo-world-model-a-new-frontier-for-autonomous-driving-simulation/</a:t>
            </a:r>
          </a:p>
          <a:p>
            <a:r>
              <a:t>NVIDIA, Cosmos 3, 2026-05-31. https://nvidianews.nvidia.com/news/nvidia-launches-cosmos-3-the-open-frontier-foundation-model-for-physical-ai</a:t>
            </a:r>
          </a:p>
          <a:p>
            <a:r>
              <a:t>Meta, V-JEPA 2, 2025-06-11. https://ai.meta.com/research/publications/v-jepa-2-self-supervised-video-models-enable-understanding-prediction-and-planning/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DeepMind, Genie 3, 2025-08-05. https://deepmind.google/blog/genie-3-a-new-frontier-for-world-models/</a:t>
            </a:r>
          </a:p>
          <a:p>
            <a:r>
              <a:t>Google, Project Genie, 2026-01-29. https://blog.google/innovation-and-ai/models-and-research/google-deepmind/project-genie/</a:t>
            </a:r>
          </a:p>
          <a:p>
            <a:r>
              <a:t>Waymo, The Waymo World Model, 2026-02-06. https://waymo.com/blog/2026/02/the-waymo-world-model-a-new-frontier-for-autonomous-driving-simulation/</a:t>
            </a:r>
          </a:p>
          <a:p>
            <a:r>
              <a:t>Meta, V-JEPA 2, 2025-06-11. https://ai.meta.com/research/publications/v-jepa-2-self-supervised-video-models-enable-understanding-prediction-and-planning/</a:t>
            </a:r>
          </a:p>
          <a:p>
            <a:r>
              <a:t>NVIDIA, Cosmos 3, 2026-05-31. https://nvidianews.nvidia.com/news/nvidia-launches-cosmos-3-the-open-frontier-foundation-model-for-physical-ai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Waymo, The Waymo World Model, 2026-02-06. https://waymo.com/blog/2026/02/the-waymo-world-model-a-new-frontier-for-autonomous-driving-simulation/</a:t>
            </a:r>
          </a:p>
          <a:p>
            <a:r>
              <a:t>Meta, V-JEPA 2, 2025-06-11. https://ai.meta.com/research/publications/v-jepa-2-self-supervised-video-models-enable-understanding-prediction-and-planning/</a:t>
            </a:r>
          </a:p>
          <a:p>
            <a:r>
              <a:t>World Labs, Marble: A Multimodal World Model, 2025-11-12. https://www.worldlabs.ai/blog/marble-world-model</a:t>
            </a:r>
          </a:p>
          <a:p>
            <a:r>
              <a:t>NVIDIA, Cosmos 3, 2026-05-31. https://nvidianews.nvidia.com/news/nvidia-launches-cosmos-3-the-open-frontier-foundation-model-for-physical-ai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5"/>
          <p:cNvSpPr/>
          <p:nvPr userDrawn="1">
            <p:custDataLst>
              <p:tags r:id="rId1"/>
            </p:custDataLst>
          </p:nvPr>
        </p:nvSpPr>
        <p:spPr>
          <a:xfrm>
            <a:off x="434974" y="862700"/>
            <a:ext cx="11340000" cy="61705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23888F2F-F518-6245-AE99-FC24448EDFDB}" type="datetimeFigureOut">
              <a:rPr kumimoji="1" lang="zh-CN" altLang="en-US" smtClean="0"/>
              <a:t>2026/5/27</a:t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8F216E3A-9B37-D941-B935-22FFC28C44CB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2pPr>
            <a:lvl3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3pPr>
            <a:lvl4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4pPr>
            <a:lvl5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:title"/>
          <p:cNvSpPr txBox="1"/>
          <p:nvPr/>
        </p:nvSpPr>
        <p:spPr>
          <a:xfrm>
            <a:off x="508000" y="787400"/>
            <a:ext cx="685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F3A93"/>
                </a:solidFill>
                <a:latin typeface="微软雅黑"/>
              </a:defRPr>
            </a:pPr>
            <a:r>
              <a:t>世界模型 2026</a:t>
            </a:r>
          </a:p>
        </p:txBody>
      </p:sp>
      <p:sp>
        <p:nvSpPr>
          <p:cNvPr id="3" name="cover:question"/>
          <p:cNvSpPr txBox="1"/>
          <p:nvPr/>
        </p:nvSpPr>
        <p:spPr>
          <a:xfrm>
            <a:off x="508000" y="1587500"/>
            <a:ext cx="685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233047"/>
                </a:solidFill>
                <a:latin typeface="微软雅黑"/>
              </a:defRPr>
            </a:pPr>
            <a:r>
              <a:t>从视频预测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233047"/>
                </a:solidFill>
                <a:latin typeface="微软雅黑"/>
              </a:defRPr>
            </a:pPr>
            <a:r>
              <a:t>到可行动的仿真环境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8000" y="3213100"/>
            <a:ext cx="660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B6678"/>
                </a:solidFill>
                <a:latin typeface="微软雅黑"/>
              </a:defRPr>
            </a:pPr>
            <a:r>
              <a:t>技术已进入产品与工程系统，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B6678"/>
                </a:solidFill>
                <a:latin typeface="微软雅黑"/>
              </a:defRPr>
            </a:pPr>
            <a:r>
              <a:t>价值取决于任务成功和现实验证。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08000" y="4533900"/>
            <a:ext cx="6604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B6678"/>
                </a:solidFill>
                <a:latin typeface="微软雅黑"/>
              </a:defRPr>
            </a:pPr>
            <a:r>
              <a:t>SKILL应用测试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B6678"/>
                </a:solidFill>
                <a:latin typeface="微软雅黑"/>
              </a:defRPr>
            </a:pPr>
            <a:r>
              <a:t>2026 年 10 月 17 日</a:t>
            </a:r>
          </a:p>
        </p:txBody>
      </p:sp>
      <p:sp>
        <p:nvSpPr>
          <p:cNvPr id="6" name="node:观察世界"/>
          <p:cNvSpPr/>
          <p:nvPr/>
        </p:nvSpPr>
        <p:spPr>
          <a:xfrm>
            <a:off x="8128000" y="1206500"/>
            <a:ext cx="3048000" cy="914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观察世界</a:t>
            </a:r>
          </a:p>
        </p:txBody>
      </p:sp>
      <p:sp>
        <p:nvSpPr>
          <p:cNvPr id="7" name="node:预测后果"/>
          <p:cNvSpPr/>
          <p:nvPr/>
        </p:nvSpPr>
        <p:spPr>
          <a:xfrm>
            <a:off x="8128000" y="2616200"/>
            <a:ext cx="3048000" cy="914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预测后果</a:t>
            </a:r>
          </a:p>
        </p:txBody>
      </p:sp>
      <p:sp>
        <p:nvSpPr>
          <p:cNvPr id="8" name="node:选择行动"/>
          <p:cNvSpPr/>
          <p:nvPr/>
        </p:nvSpPr>
        <p:spPr>
          <a:xfrm>
            <a:off x="8128000" y="4025900"/>
            <a:ext cx="3048000" cy="914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选择行动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52000" y="2120900"/>
            <a:ext cx="0" cy="4953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52000" y="3530600"/>
            <a:ext cx="0" cy="4953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76000" y="4483100"/>
            <a:ext cx="381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57000" y="1663700"/>
            <a:ext cx="0" cy="28194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176000" y="1663700"/>
            <a:ext cx="381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0800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世界模型的价值，来自动作改变未来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把“生成什么”与“如何验证行动结果”连接起来，才形成可用的仿真系统。</a:t>
            </a:r>
          </a:p>
        </p:txBody>
      </p:sp>
      <p:sp>
        <p:nvSpPr>
          <p:cNvPr id="4" name="node:交互视频"/>
          <p:cNvSpPr/>
          <p:nvPr/>
        </p:nvSpPr>
        <p:spPr>
          <a:xfrm>
            <a:off x="508000" y="1244600"/>
            <a:ext cx="1778000" cy="736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交互视频</a:t>
            </a:r>
          </a:p>
        </p:txBody>
      </p:sp>
      <p:sp>
        <p:nvSpPr>
          <p:cNvPr id="5" name="node:画面 + 控制输入"/>
          <p:cNvSpPr/>
          <p:nvPr/>
        </p:nvSpPr>
        <p:spPr>
          <a:xfrm>
            <a:off x="2692400" y="1244600"/>
            <a:ext cx="24130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画面 + 控制输入</a:t>
            </a:r>
          </a:p>
        </p:txBody>
      </p:sp>
      <p:sp>
        <p:nvSpPr>
          <p:cNvPr id="6" name="node:预测后续画面"/>
          <p:cNvSpPr/>
          <p:nvPr/>
        </p:nvSpPr>
        <p:spPr>
          <a:xfrm>
            <a:off x="5511800" y="1244600"/>
            <a:ext cx="24130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预测后续画面</a:t>
            </a:r>
          </a:p>
        </p:txBody>
      </p:sp>
      <p:sp>
        <p:nvSpPr>
          <p:cNvPr id="7" name="node:人或代理探索"/>
          <p:cNvSpPr/>
          <p:nvPr/>
        </p:nvSpPr>
        <p:spPr>
          <a:xfrm>
            <a:off x="8331200" y="1244600"/>
            <a:ext cx="33528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人或代理探索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6129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05400" y="16129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24800" y="16129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dy"/>
          <p:cNvSpPr txBox="1"/>
          <p:nvPr/>
        </p:nvSpPr>
        <p:spPr>
          <a:xfrm>
            <a:off x="622300" y="2209800"/>
            <a:ext cx="8991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B6678"/>
                </a:solidFill>
                <a:latin typeface="微软雅黑"/>
              </a:defRPr>
            </a:pPr>
            <a:r>
              <a:t>Genie 3：720p、24 FPS</a:t>
            </a:r>
          </a:p>
        </p:txBody>
      </p:sp>
      <p:sp>
        <p:nvSpPr>
          <p:cNvPr id="12" name="node:潜在状态"/>
          <p:cNvSpPr/>
          <p:nvPr/>
        </p:nvSpPr>
        <p:spPr>
          <a:xfrm>
            <a:off x="508000" y="2679700"/>
            <a:ext cx="1778000" cy="736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潜在状态</a:t>
            </a:r>
          </a:p>
        </p:txBody>
      </p:sp>
      <p:sp>
        <p:nvSpPr>
          <p:cNvPr id="13" name="node:观察 + 动作序列"/>
          <p:cNvSpPr/>
          <p:nvPr/>
        </p:nvSpPr>
        <p:spPr>
          <a:xfrm>
            <a:off x="2692400" y="2679700"/>
            <a:ext cx="24130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观察 + 动作序列</a:t>
            </a:r>
          </a:p>
        </p:txBody>
      </p:sp>
      <p:sp>
        <p:nvSpPr>
          <p:cNvPr id="14" name="node:预测未来表征"/>
          <p:cNvSpPr/>
          <p:nvPr/>
        </p:nvSpPr>
        <p:spPr>
          <a:xfrm>
            <a:off x="5511800" y="2679700"/>
            <a:ext cx="24130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预测未来表征</a:t>
            </a:r>
          </a:p>
        </p:txBody>
      </p:sp>
      <p:sp>
        <p:nvSpPr>
          <p:cNvPr id="15" name="node:规划器选择动作"/>
          <p:cNvSpPr/>
          <p:nvPr/>
        </p:nvSpPr>
        <p:spPr>
          <a:xfrm>
            <a:off x="8331200" y="2679700"/>
            <a:ext cx="33528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规划器选择动作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30480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05400" y="30480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24800" y="30480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dy"/>
          <p:cNvSpPr txBox="1"/>
          <p:nvPr/>
        </p:nvSpPr>
        <p:spPr>
          <a:xfrm>
            <a:off x="629920" y="3644900"/>
            <a:ext cx="8991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B6678"/>
                </a:solidFill>
                <a:latin typeface="微软雅黑"/>
              </a:defRPr>
            </a:pPr>
            <a:r>
              <a:t>V-JEPA 2-AC：目标图像规划</a:t>
            </a:r>
          </a:p>
        </p:txBody>
      </p:sp>
      <p:sp>
        <p:nvSpPr>
          <p:cNvPr id="20" name="node:持久三维"/>
          <p:cNvSpPr/>
          <p:nvPr/>
        </p:nvSpPr>
        <p:spPr>
          <a:xfrm>
            <a:off x="508000" y="4114800"/>
            <a:ext cx="1778000" cy="736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持久三维</a:t>
            </a:r>
          </a:p>
        </p:txBody>
      </p:sp>
      <p:sp>
        <p:nvSpPr>
          <p:cNvPr id="21" name="node:文本、图像、视频"/>
          <p:cNvSpPr/>
          <p:nvPr/>
        </p:nvSpPr>
        <p:spPr>
          <a:xfrm>
            <a:off x="2692400" y="4114800"/>
            <a:ext cx="24130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文本、图像、视频</a:t>
            </a:r>
          </a:p>
        </p:txBody>
      </p:sp>
      <p:sp>
        <p:nvSpPr>
          <p:cNvPr id="22" name="node:生成可编辑空间"/>
          <p:cNvSpPr/>
          <p:nvPr/>
        </p:nvSpPr>
        <p:spPr>
          <a:xfrm>
            <a:off x="5511800" y="4114800"/>
            <a:ext cx="24130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生成可编辑空间</a:t>
            </a:r>
          </a:p>
        </p:txBody>
      </p:sp>
      <p:sp>
        <p:nvSpPr>
          <p:cNvPr id="23" name="node:引擎渲染与交互"/>
          <p:cNvSpPr/>
          <p:nvPr/>
        </p:nvSpPr>
        <p:spPr>
          <a:xfrm>
            <a:off x="8331200" y="4114800"/>
            <a:ext cx="3352800" cy="736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引擎渲染与交互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86000" y="44831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05400" y="44831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24800" y="4483100"/>
            <a:ext cx="406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dy"/>
          <p:cNvSpPr txBox="1"/>
          <p:nvPr/>
        </p:nvSpPr>
        <p:spPr>
          <a:xfrm>
            <a:off x="614680" y="5080000"/>
            <a:ext cx="8991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B6678"/>
                </a:solidFill>
                <a:latin typeface="微软雅黑"/>
              </a:defRPr>
            </a:pPr>
            <a:r>
              <a:t>Marble：导出 splat 与 mesh</a:t>
            </a:r>
          </a:p>
        </p:txBody>
      </p:sp>
      <p:sp>
        <p:nvSpPr>
          <p:cNvPr id="28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0038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2025—2026：研究演示走向可访问的系统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交互入口、领域适配与工具链正在形成产品；任务成功率与复现能力决定工程价值。</a:t>
            </a:r>
          </a:p>
        </p:txBody>
      </p:sp>
      <p:sp>
        <p:nvSpPr>
          <p:cNvPr id="4" name="body"/>
          <p:cNvSpPr/>
          <p:nvPr/>
        </p:nvSpPr>
        <p:spPr>
          <a:xfrm>
            <a:off x="508000" y="1244600"/>
            <a:ext cx="355600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2025.06  V-JEPA 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视频预训练连接机器人规划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64000" y="1930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ody"/>
          <p:cNvSpPr/>
          <p:nvPr/>
        </p:nvSpPr>
        <p:spPr>
          <a:xfrm>
            <a:off x="4318000" y="1244600"/>
            <a:ext cx="355600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2025.08  Genie 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实时生成可探索环境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74000" y="1930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ody"/>
          <p:cNvSpPr/>
          <p:nvPr/>
        </p:nvSpPr>
        <p:spPr>
          <a:xfrm>
            <a:off x="8128000" y="1244600"/>
            <a:ext cx="355600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2025.11  Marble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开放生成与三维资产导出</a:t>
            </a:r>
          </a:p>
        </p:txBody>
      </p:sp>
      <p:sp>
        <p:nvSpPr>
          <p:cNvPr id="9" name="body"/>
          <p:cNvSpPr/>
          <p:nvPr/>
        </p:nvSpPr>
        <p:spPr>
          <a:xfrm>
            <a:off x="508000" y="2895600"/>
            <a:ext cx="355600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2026.01  Project Genie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Ultra 用户开始体验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4000" y="3581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dy"/>
          <p:cNvSpPr/>
          <p:nvPr/>
        </p:nvSpPr>
        <p:spPr>
          <a:xfrm>
            <a:off x="4318000" y="2895600"/>
            <a:ext cx="355600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2026.02  Waymo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驾驶动作与多传感器仿真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74000" y="3581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ody"/>
          <p:cNvSpPr/>
          <p:nvPr/>
        </p:nvSpPr>
        <p:spPr>
          <a:xfrm>
            <a:off x="8128000" y="2895600"/>
            <a:ext cx="355600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2026.05  Cosmos 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推理、生成与动作统一</a:t>
            </a:r>
          </a:p>
        </p:txBody>
      </p:sp>
      <p:sp>
        <p:nvSpPr>
          <p:cNvPr id="14" name="body"/>
          <p:cNvSpPr/>
          <p:nvPr/>
        </p:nvSpPr>
        <p:spPr>
          <a:xfrm>
            <a:off x="508000" y="4546600"/>
            <a:ext cx="11176000" cy="736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F3A93"/>
                </a:solidFill>
                <a:latin typeface="微软雅黑"/>
              </a:defRPr>
            </a:pPr>
            <a:r>
              <a:t>2026.09  World Labs 签署加入 AMD 的最终协议，预计年底前完成交易。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F3A93"/>
                </a:solidFill>
                <a:latin typeface="微软雅黑"/>
              </a:defRPr>
            </a:pPr>
            <a:r>
              <a:t>模型与计算平台开始更紧密地结合。</a:t>
            </a:r>
          </a:p>
        </p:txBody>
      </p:sp>
      <p:sp>
        <p:nvSpPr>
          <p:cNvPr id="15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0800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Cosmos 3 把推理与生成放入同一模型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Cosmos 3 的工程交付，把开放模型、动作接口、后训练数据与部署算力接成工作流。</a:t>
            </a:r>
          </a:p>
        </p:txBody>
      </p:sp>
      <p:sp>
        <p:nvSpPr>
          <p:cNvPr id="4" name="node:文本 / 视觉"/>
          <p:cNvSpPr/>
          <p:nvPr/>
        </p:nvSpPr>
        <p:spPr>
          <a:xfrm>
            <a:off x="508000" y="1244600"/>
            <a:ext cx="2184400" cy="812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文本 / 视觉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声音 / 动作</a:t>
            </a:r>
          </a:p>
        </p:txBody>
      </p:sp>
      <p:sp>
        <p:nvSpPr>
          <p:cNvPr id="5" name="node:推理 Transformer"/>
          <p:cNvSpPr/>
          <p:nvPr/>
        </p:nvSpPr>
        <p:spPr>
          <a:xfrm>
            <a:off x="3225800" y="1244600"/>
            <a:ext cx="3556000" cy="812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推理 Transformer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理解对象、运动与空间关系</a:t>
            </a:r>
          </a:p>
        </p:txBody>
      </p:sp>
      <p:sp>
        <p:nvSpPr>
          <p:cNvPr id="6" name="node:扩散 Transformer"/>
          <p:cNvSpPr/>
          <p:nvPr/>
        </p:nvSpPr>
        <p:spPr>
          <a:xfrm>
            <a:off x="7315200" y="1244600"/>
            <a:ext cx="4368800" cy="812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扩散 Transformer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生成视觉、声音与动作轨迹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92400" y="1651000"/>
            <a:ext cx="533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81800" y="1651000"/>
            <a:ext cx="533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node:理解"/>
          <p:cNvSpPr/>
          <p:nvPr/>
        </p:nvSpPr>
        <p:spPr>
          <a:xfrm>
            <a:off x="508000" y="2413000"/>
            <a:ext cx="3556000" cy="1016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理解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场景问答与物理推理</a:t>
            </a:r>
          </a:p>
        </p:txBody>
      </p:sp>
      <p:sp>
        <p:nvSpPr>
          <p:cNvPr id="10" name="node:预测"/>
          <p:cNvSpPr/>
          <p:nvPr/>
        </p:nvSpPr>
        <p:spPr>
          <a:xfrm>
            <a:off x="4318000" y="2413000"/>
            <a:ext cx="3556000" cy="1016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预测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条件控制下的未来状态</a:t>
            </a:r>
          </a:p>
        </p:txBody>
      </p:sp>
      <p:sp>
        <p:nvSpPr>
          <p:cNvPr id="11" name="node:行动"/>
          <p:cNvSpPr/>
          <p:nvPr/>
        </p:nvSpPr>
        <p:spPr>
          <a:xfrm>
            <a:off x="8128000" y="2413000"/>
            <a:ext cx="3556000" cy="1016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行动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具体机器人动作接口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03800" y="2057400"/>
            <a:ext cx="0" cy="1778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99600" y="2057400"/>
            <a:ext cx="0" cy="1778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2235200"/>
            <a:ext cx="0" cy="1778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6000" y="2235200"/>
            <a:ext cx="0" cy="1778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06000" y="2235200"/>
            <a:ext cx="0" cy="1778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ody"/>
          <p:cNvSpPr/>
          <p:nvPr/>
        </p:nvSpPr>
        <p:spPr>
          <a:xfrm>
            <a:off x="508000" y="3784600"/>
            <a:ext cx="3556000" cy="1422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4B · Edge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边缘部署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256p / 480p</a:t>
            </a:r>
          </a:p>
        </p:txBody>
      </p:sp>
      <p:sp>
        <p:nvSpPr>
          <p:cNvPr id="19" name="body"/>
          <p:cNvSpPr/>
          <p:nvPr/>
        </p:nvSpPr>
        <p:spPr>
          <a:xfrm>
            <a:off x="4318000" y="3784600"/>
            <a:ext cx="3556000" cy="1422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16B · Nano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紧凑模型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理解、仿真与动作</a:t>
            </a:r>
          </a:p>
        </p:txBody>
      </p:sp>
      <p:sp>
        <p:nvSpPr>
          <p:cNvPr id="20" name="body"/>
          <p:cNvSpPr/>
          <p:nvPr/>
        </p:nvSpPr>
        <p:spPr>
          <a:xfrm>
            <a:off x="8128000" y="3784600"/>
            <a:ext cx="3556000" cy="1422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64B · Super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高保真生成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较高计算需求</a:t>
            </a:r>
          </a:p>
        </p:txBody>
      </p:sp>
      <p:sp>
        <p:nvSpPr>
          <p:cNvPr id="21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4/10</a:t>
            </a:r>
          </a:p>
        </p:txBody>
      </p:sp>
      <p:cxnSp>
        <p:nvCxnSpPr>
          <p:cNvPr id="14" name="Connector 21"/>
          <p:cNvCxnSpPr/>
          <p:nvPr/>
        </p:nvCxnSpPr>
        <p:spPr>
          <a:xfrm>
            <a:off x="2286000" y="2235200"/>
            <a:ext cx="27178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03800" y="2235200"/>
            <a:ext cx="10922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6000" y="2235200"/>
            <a:ext cx="34036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99600" y="2235200"/>
            <a:ext cx="4064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1562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V-JEPA 2：在表征空间试走，再执行一步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V-JEPA 2-AC 将视频表征用于动作搜索，每轮执行后根据新观察重新规划。</a:t>
            </a:r>
          </a:p>
        </p:txBody>
      </p:sp>
      <p:sp>
        <p:nvSpPr>
          <p:cNvPr id="4" name="node:当前观察"/>
          <p:cNvSpPr/>
          <p:nvPr/>
        </p:nvSpPr>
        <p:spPr>
          <a:xfrm>
            <a:off x="508000" y="1244600"/>
            <a:ext cx="2286000" cy="762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当前观察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机器人相机</a:t>
            </a:r>
          </a:p>
        </p:txBody>
      </p:sp>
      <p:sp>
        <p:nvSpPr>
          <p:cNvPr id="5" name="node:视觉编码器"/>
          <p:cNvSpPr/>
          <p:nvPr/>
        </p:nvSpPr>
        <p:spPr>
          <a:xfrm>
            <a:off x="3302000" y="1244600"/>
            <a:ext cx="2286000" cy="762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视觉编码器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当前潜在状态</a:t>
            </a:r>
          </a:p>
        </p:txBody>
      </p:sp>
      <p:sp>
        <p:nvSpPr>
          <p:cNvPr id="6" name="node:目标图像"/>
          <p:cNvSpPr/>
          <p:nvPr/>
        </p:nvSpPr>
        <p:spPr>
          <a:xfrm>
            <a:off x="6096000" y="1244600"/>
            <a:ext cx="2286000" cy="762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目标图像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目标潜在状态</a:t>
            </a:r>
          </a:p>
        </p:txBody>
      </p:sp>
      <p:sp>
        <p:nvSpPr>
          <p:cNvPr id="7" name="node:候选轨迹评分"/>
          <p:cNvSpPr/>
          <p:nvPr/>
        </p:nvSpPr>
        <p:spPr>
          <a:xfrm>
            <a:off x="8890000" y="1244600"/>
            <a:ext cx="2794000" cy="762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候选轨迹评分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与目标表征的距离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94000" y="1625600"/>
            <a:ext cx="508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82000" y="1625600"/>
            <a:ext cx="508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ode:采样动作序列"/>
          <p:cNvSpPr/>
          <p:nvPr/>
        </p:nvSpPr>
        <p:spPr>
          <a:xfrm>
            <a:off x="508000" y="2413000"/>
            <a:ext cx="2286000" cy="1143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采样动作序列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候选 A / B / C</a:t>
            </a:r>
          </a:p>
        </p:txBody>
      </p:sp>
      <p:sp>
        <p:nvSpPr>
          <p:cNvPr id="11" name="node:V-JEPA 2-AC：动作条件世界模型"/>
          <p:cNvSpPr/>
          <p:nvPr/>
        </p:nvSpPr>
        <p:spPr>
          <a:xfrm>
            <a:off x="3302000" y="2413000"/>
            <a:ext cx="5080000" cy="1143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V-JEPA 2-AC：动作条件世界模型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预测各条候选轨迹的未来表征</a:t>
            </a:r>
          </a:p>
        </p:txBody>
      </p:sp>
      <p:sp>
        <p:nvSpPr>
          <p:cNvPr id="12" name="node:选择最优候选"/>
          <p:cNvSpPr/>
          <p:nvPr/>
        </p:nvSpPr>
        <p:spPr>
          <a:xfrm>
            <a:off x="8890000" y="2413000"/>
            <a:ext cx="2794000" cy="1143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选择最优候选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只执行第一步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94000" y="2984500"/>
            <a:ext cx="508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82000" y="2984500"/>
            <a:ext cx="254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636000" y="2209800"/>
            <a:ext cx="0" cy="7747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36000" y="2209800"/>
            <a:ext cx="635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271000" y="2006600"/>
            <a:ext cx="0" cy="2032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95000" y="2006600"/>
            <a:ext cx="0" cy="4064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35560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55600" y="3759200"/>
            <a:ext cx="99314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55600" y="1625600"/>
            <a:ext cx="0" cy="21336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600" y="1625600"/>
            <a:ext cx="1524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ody"/>
          <p:cNvSpPr/>
          <p:nvPr/>
        </p:nvSpPr>
        <p:spPr>
          <a:xfrm>
            <a:off x="508000" y="3962400"/>
            <a:ext cx="3556000" cy="1219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&gt;100 万小时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互联网视频预训练</a:t>
            </a:r>
          </a:p>
        </p:txBody>
      </p:sp>
      <p:sp>
        <p:nvSpPr>
          <p:cNvPr id="25" name="body"/>
          <p:cNvSpPr/>
          <p:nvPr/>
        </p:nvSpPr>
        <p:spPr>
          <a:xfrm>
            <a:off x="4318000" y="3962400"/>
            <a:ext cx="3556000" cy="1219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&lt;62 小时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DROID 机器人视频后训练</a:t>
            </a:r>
          </a:p>
        </p:txBody>
      </p:sp>
      <p:sp>
        <p:nvSpPr>
          <p:cNvPr id="26" name="body"/>
          <p:cNvSpPr/>
          <p:nvPr/>
        </p:nvSpPr>
        <p:spPr>
          <a:xfrm>
            <a:off x="8128000" y="3962400"/>
            <a:ext cx="3556000" cy="1219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2 个实验室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33047"/>
                </a:solidFill>
                <a:latin typeface="微软雅黑"/>
              </a:defRPr>
            </a:pPr>
            <a:r>
              <a:t>Franka 机械臂零样本部署</a:t>
            </a:r>
          </a:p>
        </p:txBody>
      </p:sp>
      <p:sp>
        <p:nvSpPr>
          <p:cNvPr id="27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5/10</a:t>
            </a:r>
          </a:p>
        </p:txBody>
      </p:sp>
      <p:cxnSp>
        <p:nvCxnSpPr>
          <p:cNvPr id="14" name="Connector 27"/>
          <p:cNvCxnSpPr/>
          <p:nvPr/>
        </p:nvCxnSpPr>
        <p:spPr>
          <a:xfrm>
            <a:off x="4445000" y="2006600"/>
            <a:ext cx="0" cy="406400"/>
          </a:xfrm>
          <a:prstGeom prst="line">
            <a:avLst/>
          </a:prstGeom>
          <a:ln w="21590">
            <a:solidFill>
              <a:srgbClr val="3F6FCC"/>
            </a:solidFill>
            <a:tailEnd type="triangle" len="med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1562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Waymo：用可控长尾场景检验驾驶策略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驾驶仿真的工程价值来自条件控制、传感器一致性与可复现的策略评估。</a:t>
            </a:r>
          </a:p>
        </p:txBody>
      </p:sp>
      <p:sp>
        <p:nvSpPr>
          <p:cNvPr id="4" name="node:驾驶动作"/>
          <p:cNvSpPr/>
          <p:nvPr/>
        </p:nvSpPr>
        <p:spPr>
          <a:xfrm>
            <a:off x="508000" y="1244600"/>
            <a:ext cx="3556000" cy="762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驾驶动作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改走另一条轨迹</a:t>
            </a:r>
          </a:p>
        </p:txBody>
      </p:sp>
      <p:sp>
        <p:nvSpPr>
          <p:cNvPr id="5" name="node:场景布局"/>
          <p:cNvSpPr/>
          <p:nvPr/>
        </p:nvSpPr>
        <p:spPr>
          <a:xfrm>
            <a:off x="4318000" y="1244600"/>
            <a:ext cx="3556000" cy="762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场景布局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道路与参与者位置</a:t>
            </a:r>
          </a:p>
        </p:txBody>
      </p:sp>
      <p:sp>
        <p:nvSpPr>
          <p:cNvPr id="6" name="node:语言控制"/>
          <p:cNvSpPr/>
          <p:nvPr/>
        </p:nvSpPr>
        <p:spPr>
          <a:xfrm>
            <a:off x="8128000" y="1244600"/>
            <a:ext cx="3556000" cy="762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语言控制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天气、时间、罕见事件</a:t>
            </a:r>
          </a:p>
        </p:txBody>
      </p:sp>
      <p:sp>
        <p:nvSpPr>
          <p:cNvPr id="7" name="node:Waymo World Model"/>
          <p:cNvSpPr/>
          <p:nvPr/>
        </p:nvSpPr>
        <p:spPr>
          <a:xfrm>
            <a:off x="4318000" y="2413000"/>
            <a:ext cx="3556000" cy="8382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Waymo World Model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基于 Genie 3 领域后训练</a:t>
            </a:r>
          </a:p>
        </p:txBody>
      </p:sp>
      <p:sp>
        <p:nvSpPr>
          <p:cNvPr id="13" name="node:相机视频"/>
          <p:cNvSpPr/>
          <p:nvPr/>
        </p:nvSpPr>
        <p:spPr>
          <a:xfrm>
            <a:off x="508000" y="2413000"/>
            <a:ext cx="3175000" cy="8382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相机视频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外观、语义与运动</a:t>
            </a:r>
          </a:p>
        </p:txBody>
      </p:sp>
      <p:sp>
        <p:nvSpPr>
          <p:cNvPr id="14" name="node:激光雷达"/>
          <p:cNvSpPr/>
          <p:nvPr/>
        </p:nvSpPr>
        <p:spPr>
          <a:xfrm>
            <a:off x="8509000" y="2413000"/>
            <a:ext cx="3175000" cy="8382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激光雷达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三维空间与深度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683000" y="2832100"/>
            <a:ext cx="635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74000" y="2832100"/>
            <a:ext cx="635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node:Waymo Driver"/>
          <p:cNvSpPr/>
          <p:nvPr/>
        </p:nvSpPr>
        <p:spPr>
          <a:xfrm>
            <a:off x="508000" y="3657600"/>
            <a:ext cx="3175000" cy="787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Waymo Driver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感知、预测、规划</a:t>
            </a:r>
          </a:p>
        </p:txBody>
      </p:sp>
      <p:sp>
        <p:nvSpPr>
          <p:cNvPr id="18" name="node:场景评估"/>
          <p:cNvSpPr/>
          <p:nvPr/>
        </p:nvSpPr>
        <p:spPr>
          <a:xfrm>
            <a:off x="4318000" y="3657600"/>
            <a:ext cx="3556000" cy="787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场景评估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碰撞、间距、策略响应</a:t>
            </a:r>
          </a:p>
        </p:txBody>
      </p:sp>
      <p:sp>
        <p:nvSpPr>
          <p:cNvPr id="19" name="node:失败案例入库"/>
          <p:cNvSpPr/>
          <p:nvPr/>
        </p:nvSpPr>
        <p:spPr>
          <a:xfrm>
            <a:off x="8509000" y="3657600"/>
            <a:ext cx="3175000" cy="787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失败案例入库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变更条件后复测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96500" y="32512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095500" y="3454400"/>
            <a:ext cx="8001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83000" y="4051300"/>
            <a:ext cx="635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74000" y="4051300"/>
            <a:ext cx="635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96500" y="44450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96500" y="4648200"/>
            <a:ext cx="17145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dy"/>
          <p:cNvSpPr txBox="1"/>
          <p:nvPr/>
        </p:nvSpPr>
        <p:spPr>
          <a:xfrm>
            <a:off x="508000" y="5003800"/>
            <a:ext cx="7747000" cy="3048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B6678"/>
                </a:solidFill>
                <a:latin typeface="微软雅黑"/>
              </a:defRPr>
            </a:pPr>
            <a:r>
              <a:t>反事实问题：同一场景中，改变驾驶动作会发生什么？</a:t>
            </a:r>
          </a:p>
        </p:txBody>
      </p:sp>
      <p:sp>
        <p:nvSpPr>
          <p:cNvPr id="30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6/10</a:t>
            </a:r>
          </a:p>
        </p:txBody>
      </p:sp>
      <p:cxnSp>
        <p:nvCxnSpPr>
          <p:cNvPr id="8" name="Connector 30"/>
          <p:cNvCxnSpPr/>
          <p:nvPr/>
        </p:nvCxnSpPr>
        <p:spPr>
          <a:xfrm>
            <a:off x="2286000" y="2006600"/>
            <a:ext cx="0" cy="1524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30"/>
          <p:cNvCxnSpPr/>
          <p:nvPr/>
        </p:nvCxnSpPr>
        <p:spPr>
          <a:xfrm>
            <a:off x="6096000" y="2006600"/>
            <a:ext cx="0" cy="1524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30"/>
          <p:cNvCxnSpPr/>
          <p:nvPr/>
        </p:nvCxnSpPr>
        <p:spPr>
          <a:xfrm>
            <a:off x="9906000" y="2006600"/>
            <a:ext cx="0" cy="1524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30"/>
          <p:cNvCxnSpPr/>
          <p:nvPr/>
        </p:nvCxnSpPr>
        <p:spPr>
          <a:xfrm>
            <a:off x="6096000" y="2159000"/>
            <a:ext cx="0" cy="254000"/>
          </a:xfrm>
          <a:prstGeom prst="line">
            <a:avLst/>
          </a:prstGeom>
          <a:ln w="21590">
            <a:solidFill>
              <a:srgbClr val="3F6FCC"/>
            </a:solidFill>
            <a:tailEnd type="triangle" len="med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30"/>
          <p:cNvCxnSpPr/>
          <p:nvPr/>
        </p:nvCxnSpPr>
        <p:spPr>
          <a:xfrm flipV="1">
            <a:off x="11811000" y="2286000"/>
            <a:ext cx="0" cy="2362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30"/>
          <p:cNvCxnSpPr/>
          <p:nvPr/>
        </p:nvCxnSpPr>
        <p:spPr>
          <a:xfrm flipH="1">
            <a:off x="6985000" y="2286000"/>
            <a:ext cx="4826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5000" y="2286000"/>
            <a:ext cx="0" cy="127000"/>
          </a:xfrm>
          <a:prstGeom prst="line">
            <a:avLst/>
          </a:prstGeom>
          <a:ln w="21590">
            <a:solidFill>
              <a:srgbClr val="3F6FCC"/>
            </a:solidFill>
            <a:tailEnd type="triangle" len="med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31"/>
          <p:cNvCxnSpPr/>
          <p:nvPr/>
        </p:nvCxnSpPr>
        <p:spPr>
          <a:xfrm>
            <a:off x="2095500" y="32512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95500" y="3454400"/>
            <a:ext cx="0" cy="203200"/>
          </a:xfrm>
          <a:prstGeom prst="line">
            <a:avLst/>
          </a:prstGeom>
          <a:ln w="21590">
            <a:solidFill>
              <a:srgbClr val="3F6FCC"/>
            </a:solidFill>
            <a:tailEnd type="triangle" len="med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32"/>
          <p:cNvCxnSpPr/>
          <p:nvPr/>
        </p:nvCxnSpPr>
        <p:spPr>
          <a:xfrm>
            <a:off x="2286000" y="2159000"/>
            <a:ext cx="3810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96000" y="2159000"/>
            <a:ext cx="38100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9276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Marble 已把三维世界生成变成订阅产品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三维资产的交付价值取决于导出格式、编辑效率、商业权利与可用资产率。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8000" y="1244600"/>
            <a:ext cx="5461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F3A93"/>
                </a:solidFill>
                <a:latin typeface="微软雅黑"/>
              </a:defRPr>
            </a:pPr>
            <a:r>
              <a:t>月费（美元 / 月）</a:t>
            </a:r>
          </a:p>
        </p:txBody>
      </p:sp>
      <p:graphicFrame>
        <p:nvGraphicFramePr>
          <p:cNvPr id="5" name="chart:月费"/>
          <p:cNvGraphicFramePr>
            <a:graphicFrameLocks noGrp="1"/>
          </p:cNvGraphicFramePr>
          <p:nvPr/>
        </p:nvGraphicFramePr>
        <p:xfrm>
          <a:off x="508000" y="1828800"/>
          <a:ext cx="5461000" cy="266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"/>
          <p:cNvSpPr txBox="1"/>
          <p:nvPr/>
        </p:nvSpPr>
        <p:spPr>
          <a:xfrm>
            <a:off x="6223000" y="1244600"/>
            <a:ext cx="5461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F3A93"/>
                </a:solidFill>
                <a:latin typeface="微软雅黑"/>
              </a:defRPr>
            </a:pPr>
            <a:r>
              <a:t>世界生成额度（最多个 / 月）</a:t>
            </a:r>
          </a:p>
        </p:txBody>
      </p:sp>
      <p:graphicFrame>
        <p:nvGraphicFramePr>
          <p:cNvPr id="7" name="chart:最多世界数"/>
          <p:cNvGraphicFramePr>
            <a:graphicFrameLocks noGrp="1"/>
          </p:cNvGraphicFramePr>
          <p:nvPr/>
        </p:nvGraphicFramePr>
        <p:xfrm>
          <a:off x="6223000" y="1828800"/>
          <a:ext cx="5461000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body"/>
          <p:cNvSpPr txBox="1"/>
          <p:nvPr/>
        </p:nvSpPr>
        <p:spPr>
          <a:xfrm>
            <a:off x="622300" y="4724400"/>
            <a:ext cx="11061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B6678"/>
                </a:solidFill>
                <a:latin typeface="微软雅黑"/>
              </a:defRPr>
            </a:pPr>
            <a:r>
              <a:t>Standard 支持导出 splat；Pro 增加高分辨率纹理网格与商业权利。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B6678"/>
                </a:solidFill>
                <a:latin typeface="微软雅黑"/>
              </a:defRPr>
            </a:pPr>
            <a:r>
              <a:t>2026-10-17 的月度方案；生成上限为产品标示额度。</a:t>
            </a:r>
          </a:p>
        </p:txBody>
      </p:sp>
      <p:sp>
        <p:nvSpPr>
          <p:cNvPr id="9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0800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商业化分成四条路径，各自有不同的验收对象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三维资产、测试场景与机器人任务，为世界模型提供了具体的产品入口。</a:t>
            </a:r>
          </a:p>
        </p:txBody>
      </p:sp>
      <p:graphicFrame>
        <p:nvGraphicFramePr>
          <p:cNvPr id="4" name="table:comparison"/>
          <p:cNvGraphicFramePr>
            <a:graphicFrameLocks noGrp="1"/>
          </p:cNvGraphicFramePr>
          <p:nvPr/>
        </p:nvGraphicFramePr>
        <p:xfrm>
          <a:off x="508000" y="1244600"/>
          <a:ext cx="11176000" cy="322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2794000"/>
                <a:gridCol w="3175000"/>
                <a:gridCol w="3492500"/>
              </a:tblGrid>
              <a:tr h="584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交付路径</a:t>
                      </a:r>
                    </a:p>
                  </a:txBody>
                  <a:tcPr marL="127000" marR="127000" marT="101600" marB="101600" anchor="ctr"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具体产品 / 系统</a:t>
                      </a:r>
                    </a:p>
                  </a:txBody>
                  <a:tcPr marL="127000" marR="127000" marT="101600" marB="101600" anchor="ctr"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客户获得什么</a:t>
                      </a:r>
                    </a:p>
                  </a:txBody>
                  <a:tcPr marL="127000" marR="127000" marT="101600" marB="101600" anchor="ctr"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主要验收关口</a:t>
                      </a:r>
                    </a:p>
                  </a:txBody>
                  <a:tcPr marL="127000" marR="127000" marT="101600" marB="101600" anchor="ctr">
                    <a:solidFill>
                      <a:srgbClr val="1F3A93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交互体验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Project Genie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可探索、可重混的世界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控制响应；60 秒体验时长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三维资产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Marble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可编辑并导出的空间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几何、材质、引擎集成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训练与测试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Cosmos / Waymo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可控的合成数据与场景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条件遵循；传感器一致性</a:t>
                      </a:r>
                    </a:p>
                  </a:txBody>
                  <a:tcPr marL="127000" marR="127000" marT="101600" marB="101600" anchor="ctr">
                    <a:solidFill>
                      <a:srgbClr val="F4F7FB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机器人规划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V-JEPA 2-AC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以图像目标选择动作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3047"/>
                          </a:solidFill>
                          <a:latin typeface="微软雅黑"/>
                        </a:defRPr>
                      </a:pPr>
                      <a:r>
                        <a:t>任务成功；跨环境稳定性</a:t>
                      </a:r>
                    </a:p>
                  </a:txBody>
                  <a:tcPr marL="127000" marR="127000" marT="101600" marB="101600" anchor="ctr">
                    <a:solidFill>
                      <a:srgbClr val="E1ECF7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622300" y="4749800"/>
            <a:ext cx="110617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B6678"/>
                </a:solidFill>
                <a:latin typeface="微软雅黑"/>
              </a:defRPr>
            </a:pPr>
            <a:r>
              <a:t>体验产品按交互质量验收，工程系统按任务结果验收。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B6678"/>
                </a:solidFill>
                <a:latin typeface="微软雅黑"/>
              </a:defRPr>
            </a:pPr>
            <a:r>
              <a:t>领域数据、动作接口与集成管线共同构成产品的交付系统。</a:t>
            </a:r>
          </a:p>
        </p:txBody>
      </p:sp>
      <p:sp>
        <p:nvSpPr>
          <p:cNvPr id="6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1562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把评估从“看起来真实”推进到“任务有效”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先用真实数据校准仿真，再衡量任务收益；生成速度与视觉质量共同服务于这个目标。</a:t>
            </a:r>
          </a:p>
        </p:txBody>
      </p:sp>
      <p:sp>
        <p:nvSpPr>
          <p:cNvPr id="4" name="node:感知一致"/>
          <p:cNvSpPr/>
          <p:nvPr/>
        </p:nvSpPr>
        <p:spPr>
          <a:xfrm>
            <a:off x="508000" y="1244600"/>
            <a:ext cx="2603500" cy="1117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感知一致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对象持续存在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空间与时序稳定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11500" y="1803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node:动作因果"/>
          <p:cNvSpPr/>
          <p:nvPr/>
        </p:nvSpPr>
        <p:spPr>
          <a:xfrm>
            <a:off x="3365500" y="1244600"/>
            <a:ext cx="2603500" cy="1117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动作因果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相同初始状态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动作改变后果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69000" y="1803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e:任务有效"/>
          <p:cNvSpPr/>
          <p:nvPr/>
        </p:nvSpPr>
        <p:spPr>
          <a:xfrm>
            <a:off x="6223000" y="1244600"/>
            <a:ext cx="2603500" cy="1117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任务有效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规划后的成功率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优于既有基线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6500" y="18034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ode:现实迁移"/>
          <p:cNvSpPr/>
          <p:nvPr/>
        </p:nvSpPr>
        <p:spPr>
          <a:xfrm>
            <a:off x="9080500" y="1244600"/>
            <a:ext cx="2603500" cy="1117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现实迁移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真实测试集验证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覆盖失败场景</a:t>
            </a:r>
          </a:p>
        </p:txBody>
      </p:sp>
      <p:sp>
        <p:nvSpPr>
          <p:cNvPr id="11" name="node:任一层未过关 → 定位失败"/>
          <p:cNvSpPr/>
          <p:nvPr/>
        </p:nvSpPr>
        <p:spPr>
          <a:xfrm>
            <a:off x="508000" y="2768600"/>
            <a:ext cx="3810000" cy="1041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任一层未过关 → 定位失败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补数据、改模型或收窄场景</a:t>
            </a:r>
          </a:p>
        </p:txBody>
      </p:sp>
      <p:sp>
        <p:nvSpPr>
          <p:cNvPr id="12" name="node:过关 → 纳入真实任务工作流"/>
          <p:cNvSpPr/>
          <p:nvPr/>
        </p:nvSpPr>
        <p:spPr>
          <a:xfrm>
            <a:off x="4953000" y="2768600"/>
            <a:ext cx="6731000" cy="1041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过关 → 纳入真实任务工作流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33047"/>
                </a:solidFill>
                <a:latin typeface="微软雅黑"/>
              </a:defRPr>
            </a:pPr>
            <a:r>
              <a:t>持续监测错误类型、延迟和任务成本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3400" y="23622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0900" y="23622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18400" y="23622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06000" y="2362200"/>
            <a:ext cx="0" cy="20320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13000" y="2565400"/>
            <a:ext cx="0" cy="2032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75900" y="2362200"/>
            <a:ext cx="0" cy="40640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dy"/>
          <p:cNvSpPr txBox="1"/>
          <p:nvPr/>
        </p:nvSpPr>
        <p:spPr>
          <a:xfrm>
            <a:off x="508000" y="4241800"/>
            <a:ext cx="11176000" cy="2921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F3A93"/>
                </a:solidFill>
                <a:latin typeface="微软雅黑"/>
              </a:defRPr>
            </a:pPr>
            <a:r>
              <a:t>每个有效任务成本 =（生成 + 筛选 + 集成 + 运行成本）÷ 通过验收的任务数</a:t>
            </a:r>
          </a:p>
        </p:txBody>
      </p:sp>
      <p:sp>
        <p:nvSpPr>
          <p:cNvPr id="21" name="body"/>
          <p:cNvSpPr txBox="1"/>
          <p:nvPr/>
        </p:nvSpPr>
        <p:spPr>
          <a:xfrm>
            <a:off x="622300" y="4940300"/>
            <a:ext cx="11061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B6678"/>
                </a:solidFill>
                <a:latin typeface="微软雅黑"/>
              </a:defRPr>
            </a:pPr>
            <a:r>
              <a:t>视觉伪影、控制迟滞和物理偏差，都会增加筛选成本并减少有效任务数。</a:t>
            </a:r>
          </a:p>
        </p:txBody>
      </p:sp>
      <p:sp>
        <p:nvSpPr>
          <p:cNvPr id="22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9/10</a:t>
            </a:r>
          </a:p>
        </p:txBody>
      </p:sp>
      <p:cxnSp>
        <p:nvCxnSpPr>
          <p:cNvPr id="17" name="Connector 22"/>
          <p:cNvCxnSpPr/>
          <p:nvPr/>
        </p:nvCxnSpPr>
        <p:spPr>
          <a:xfrm>
            <a:off x="1803400" y="2565400"/>
            <a:ext cx="6096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13000" y="2565400"/>
            <a:ext cx="22479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60900" y="2565400"/>
            <a:ext cx="28575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18400" y="2565400"/>
            <a:ext cx="2387600" cy="0"/>
          </a:xfrm>
          <a:prstGeom prst="line">
            <a:avLst/>
          </a:prstGeom>
          <a:ln w="21590">
            <a:solidFill>
              <a:srgbClr val="3F6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515620" y="381000"/>
            <a:ext cx="11176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F3A93"/>
                </a:solidFill>
                <a:latin typeface="微软雅黑"/>
              </a:defRPr>
            </a:pPr>
            <a:r>
              <a:t>未来 90 天：先拿到一个可验收的工作流</a:t>
            </a:r>
          </a:p>
        </p:txBody>
      </p:sp>
      <p:sp>
        <p:nvSpPr>
          <p:cNvPr id="3" name="conclusion"/>
          <p:cNvSpPr/>
          <p:nvPr/>
        </p:nvSpPr>
        <p:spPr>
          <a:xfrm>
            <a:off x="508000" y="5689600"/>
            <a:ext cx="11176000" cy="4445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01600" bIns="1016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F3A93"/>
                </a:solidFill>
                <a:latin typeface="微软雅黑"/>
              </a:defRPr>
            </a:pPr>
            <a:r>
              <a:t>世界模型正在成为仿真与内容生产的基础组件；竞争优势来自数据、评估与工作流的联结。</a:t>
            </a:r>
          </a:p>
        </p:txBody>
      </p:sp>
      <p:sp>
        <p:nvSpPr>
          <p:cNvPr id="4" name="body"/>
          <p:cNvSpPr/>
          <p:nvPr/>
        </p:nvSpPr>
        <p:spPr>
          <a:xfrm>
            <a:off x="508000" y="1244600"/>
            <a:ext cx="3556000" cy="1270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第 1—30 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选定场景与既有基线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准备真实样本和失败分类</a:t>
            </a:r>
          </a:p>
        </p:txBody>
      </p:sp>
      <p:sp>
        <p:nvSpPr>
          <p:cNvPr id="5" name="body"/>
          <p:cNvSpPr/>
          <p:nvPr/>
        </p:nvSpPr>
        <p:spPr>
          <a:xfrm>
            <a:off x="4318000" y="1244600"/>
            <a:ext cx="3556000" cy="1270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第 31—60 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接入模型与资产管线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固定输入、动作和复测条件</a:t>
            </a:r>
          </a:p>
        </p:txBody>
      </p:sp>
      <p:sp>
        <p:nvSpPr>
          <p:cNvPr id="6" name="body"/>
          <p:cNvSpPr/>
          <p:nvPr/>
        </p:nvSpPr>
        <p:spPr>
          <a:xfrm>
            <a:off x="8128000" y="1244600"/>
            <a:ext cx="3556000" cy="1270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第 61—90 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开展真实任务对照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33047"/>
                </a:solidFill>
                <a:latin typeface="微软雅黑"/>
              </a:defRPr>
            </a:pPr>
            <a:r>
              <a:t>计算有效任务成本和收益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64000" y="18796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74000" y="1879600"/>
            <a:ext cx="254000" cy="0"/>
          </a:xfrm>
          <a:prstGeom prst="line">
            <a:avLst/>
          </a:prstGeom>
          <a:ln w="21590">
            <a:solidFill>
              <a:srgbClr val="3F6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"/>
          <p:cNvSpPr txBox="1"/>
          <p:nvPr/>
        </p:nvSpPr>
        <p:spPr>
          <a:xfrm>
            <a:off x="622300" y="2794000"/>
            <a:ext cx="1536700" cy="533400"/>
          </a:xfrm>
          <a:prstGeom prst="rect">
            <a:avLst/>
          </a:prstGeom>
          <a:noFill/>
        </p:spPr>
        <p:txBody>
          <a:bodyPr wrap="square" lIns="0" rIns="0" tIns="114300" bIns="11430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F3A93"/>
                </a:solidFill>
                <a:latin typeface="微软雅黑"/>
              </a:defRPr>
            </a:pPr>
            <a:r>
              <a:t>三维内容</a:t>
            </a:r>
          </a:p>
        </p:txBody>
      </p:sp>
      <p:sp>
        <p:nvSpPr>
          <p:cNvPr id="10" name="body"/>
          <p:cNvSpPr/>
          <p:nvPr/>
        </p:nvSpPr>
        <p:spPr>
          <a:xfrm>
            <a:off x="2413000" y="27940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资产能否进入引擎</a:t>
            </a:r>
          </a:p>
        </p:txBody>
      </p:sp>
      <p:sp>
        <p:nvSpPr>
          <p:cNvPr id="11" name="body"/>
          <p:cNvSpPr/>
          <p:nvPr/>
        </p:nvSpPr>
        <p:spPr>
          <a:xfrm>
            <a:off x="5524500" y="27940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编辑和导出是否可控</a:t>
            </a:r>
          </a:p>
        </p:txBody>
      </p:sp>
      <p:sp>
        <p:nvSpPr>
          <p:cNvPr id="12" name="body"/>
          <p:cNvSpPr/>
          <p:nvPr/>
        </p:nvSpPr>
        <p:spPr>
          <a:xfrm>
            <a:off x="8636000" y="27940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可用资产率与工时变化</a:t>
            </a:r>
          </a:p>
        </p:txBody>
      </p:sp>
      <p:sp>
        <p:nvSpPr>
          <p:cNvPr id="13" name="body"/>
          <p:cNvSpPr txBox="1"/>
          <p:nvPr/>
        </p:nvSpPr>
        <p:spPr>
          <a:xfrm>
            <a:off x="622300" y="3581400"/>
            <a:ext cx="1536700" cy="533400"/>
          </a:xfrm>
          <a:prstGeom prst="rect">
            <a:avLst/>
          </a:prstGeom>
          <a:noFill/>
        </p:spPr>
        <p:txBody>
          <a:bodyPr wrap="square" lIns="0" rIns="0" tIns="114300" bIns="11430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F3A93"/>
                </a:solidFill>
                <a:latin typeface="微软雅黑"/>
              </a:defRPr>
            </a:pPr>
            <a:r>
              <a:t>机器人</a:t>
            </a:r>
          </a:p>
        </p:txBody>
      </p:sp>
      <p:sp>
        <p:nvSpPr>
          <p:cNvPr id="14" name="body"/>
          <p:cNvSpPr/>
          <p:nvPr/>
        </p:nvSpPr>
        <p:spPr>
          <a:xfrm>
            <a:off x="2413000" y="35814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目标与动作接口清晰</a:t>
            </a:r>
          </a:p>
        </p:txBody>
      </p:sp>
      <p:sp>
        <p:nvSpPr>
          <p:cNvPr id="15" name="body"/>
          <p:cNvSpPr/>
          <p:nvPr/>
        </p:nvSpPr>
        <p:spPr>
          <a:xfrm>
            <a:off x="5524500" y="35814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预测能否指导动作</a:t>
            </a:r>
          </a:p>
        </p:txBody>
      </p:sp>
      <p:sp>
        <p:nvSpPr>
          <p:cNvPr id="16" name="body"/>
          <p:cNvSpPr/>
          <p:nvPr/>
        </p:nvSpPr>
        <p:spPr>
          <a:xfrm>
            <a:off x="8636000" y="35814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真实任务成功与稳定性</a:t>
            </a:r>
          </a:p>
        </p:txBody>
      </p:sp>
      <p:sp>
        <p:nvSpPr>
          <p:cNvPr id="17" name="body"/>
          <p:cNvSpPr txBox="1"/>
          <p:nvPr/>
        </p:nvSpPr>
        <p:spPr>
          <a:xfrm>
            <a:off x="622300" y="4368800"/>
            <a:ext cx="1536700" cy="533400"/>
          </a:xfrm>
          <a:prstGeom prst="rect">
            <a:avLst/>
          </a:prstGeom>
          <a:noFill/>
        </p:spPr>
        <p:txBody>
          <a:bodyPr wrap="square" lIns="0" rIns="0" tIns="114300" bIns="11430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F3A93"/>
                </a:solidFill>
                <a:latin typeface="微软雅黑"/>
              </a:defRPr>
            </a:pPr>
            <a:r>
              <a:t>驾驶仿真</a:t>
            </a:r>
          </a:p>
        </p:txBody>
      </p:sp>
      <p:sp>
        <p:nvSpPr>
          <p:cNvPr id="18" name="body"/>
          <p:cNvSpPr/>
          <p:nvPr/>
        </p:nvSpPr>
        <p:spPr>
          <a:xfrm>
            <a:off x="2413000" y="43688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长尾条件可描述</a:t>
            </a:r>
          </a:p>
        </p:txBody>
      </p:sp>
      <p:sp>
        <p:nvSpPr>
          <p:cNvPr id="19" name="body"/>
          <p:cNvSpPr/>
          <p:nvPr/>
        </p:nvSpPr>
        <p:spPr>
          <a:xfrm>
            <a:off x="5524500" y="43688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多传感器输出一致</a:t>
            </a:r>
          </a:p>
        </p:txBody>
      </p:sp>
      <p:sp>
        <p:nvSpPr>
          <p:cNvPr id="20" name="body"/>
          <p:cNvSpPr/>
          <p:nvPr/>
        </p:nvSpPr>
        <p:spPr>
          <a:xfrm>
            <a:off x="8636000" y="4368800"/>
            <a:ext cx="2921000" cy="5334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14300" bIns="1143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33047"/>
                </a:solidFill>
                <a:latin typeface="微软雅黑"/>
              </a:defRPr>
            </a:pPr>
            <a:r>
              <a:t>场景覆盖与策略改进</a:t>
            </a:r>
          </a:p>
        </p:txBody>
      </p:sp>
      <p:sp>
        <p:nvSpPr>
          <p:cNvPr id="21" name="body"/>
          <p:cNvSpPr txBox="1"/>
          <p:nvPr/>
        </p:nvSpPr>
        <p:spPr>
          <a:xfrm>
            <a:off x="622300" y="5207000"/>
            <a:ext cx="11061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B6678"/>
                </a:solidFill>
                <a:latin typeface="微软雅黑"/>
              </a:defRPr>
            </a:pPr>
            <a:r>
              <a:t>推进条件：有效任务质量达标、相对基线有收益、失败可定位并复现。</a:t>
            </a:r>
          </a:p>
        </p:txBody>
      </p:sp>
      <p:sp>
        <p:nvSpPr>
          <p:cNvPr id="22" name="page-number:index"/>
          <p:cNvSpPr txBox="1"/>
          <p:nvPr/>
        </p:nvSpPr>
        <p:spPr>
          <a:xfrm>
            <a:off x="11112500" y="62992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B6678"/>
                </a:solidFill>
                <a:latin typeface="微软雅黑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1_Office 主题​​">
  <a:themeElements>
    <a:clrScheme name="深蓝配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4480FB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2013 - 2022 主题">
  <a:themeElements>
    <a:clrScheme name="01-【经典蓝】配色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00319B"/>
      </a:accent2>
      <a:accent3>
        <a:srgbClr val="00319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lIns="0" tIns="0" rIns="0" bIns="0" rtlCol="0" anchor="ctr">
        <a:noAutofit/>
      </a:bodyPr>
      <a:lstStyle>
        <a:defPPr algn="ctr" defTabSz="731520">
          <a:lnSpc>
            <a:spcPct val="130000"/>
          </a:lnSpc>
          <a:defRPr sz="1400" dirty="0" smtClean="0">
            <a:solidFill>
              <a:schemeClr val="bg1"/>
            </a:solidFill>
            <a:latin typeface="+mn-ea"/>
            <a:cs typeface="OPPOSans L" panose="00020600040101010101" pitchFamily="18" charset="-122"/>
          </a:defRPr>
        </a:defPPr>
      </a:lstStyle>
    </a:spDef>
    <a:txDef>
      <a:spPr>
        <a:noFill/>
      </a:spPr>
      <a:bodyPr wrap="none" lIns="0" tIns="0" rIns="0" bIns="0" rtlCol="0">
        <a:no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6736</Words>
  <PresentationFormat>宽屏</PresentationFormat>
  <Paragraphs>1686</Paragraphs>
  <Slides>40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思源黑体 CN Normal</vt:lpstr>
      <vt:lpstr>Roboto</vt:lpstr>
      <vt:lpstr>思源黑体 CN Bold</vt:lpstr>
      <vt:lpstr>1_Office 主题​​</vt:lpstr>
      <vt:lpstr>Office 主题</vt:lpstr>
      <vt:lpstr>2_Office 主题​​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世界模型2026：从视频预测到可行动的仿真环境</dc:title>
  <cp:lastModifiedBy>Sun guang</cp:lastModifiedBy>
  <cp:revision>60</cp:revision>
  <dcterms:created xsi:type="dcterms:W3CDTF">2025-08-13T07:51:00Z</dcterms:created>
  <dcterms:modified xsi:type="dcterms:W3CDTF">2026-05-27T07:17:50Z</dcterms:modified>
  <dc:subject>技术路径、商业产品与部署验收</dc:subject>
  <cp:keywords>世界模型,Genie,Cosmos,V-JEPA,Waymo,Marble</cp:keywords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46A8C56490164DF9BD00D095B18F7440_12</vt:lpwstr>
  </property>
  <property fmtid="{D5CDD505-2E9C-101B-9397-08002B2CF9AE}" pid="3" name="KSOProductBuildVer">
    <vt:lpwstr>2052-11.1.0.11176</vt:lpwstr>
  </property>
</Properties>
</file>