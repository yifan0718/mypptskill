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preferSingleView="0" vertBarState="restored" horzBarState="restored">
    <p:restoredLeft sz="18000"/>
    <p:restoredTop sz="9000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正文§1–3，图1–2。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§3.1–3.2，式1–3，图1；附录C说明完整状态、接触缓存与随机数恢复。示例向量为讲解用假设数值，不是实验结果。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§3.3，式4–10，图2；表6、8、10。表中省略批次平均。Lctx在端到端模型同时作用预测和目标；状态Push-T作用物理槽事实预测。</a:t>
            </a:r>
          </a:p>
          <a:p>
            <a:r>
              <a:t>机制：入口m由每个槽与动作的评分经softmax得到；真实动作的mask总和为1，参考no-op时为0。直接残差rᵢ=mᵢu(zᵢ,a)，u为有界输出。传播沿(A⊙G)搬运残差，门控后不再归一化，因此关门能真正阻断消息。G只依赖槽状态，Gjj=0。预测是无动作基线b与传播后残差相加，因此首步预测差分等于残差。</a:t>
            </a:r>
          </a:p>
          <a:p>
            <a:r>
              <a:t>y的首步能量在槽间归一化；R为整个配对时间窗曾超过阈值的响应槽。onset晚一拍提供候选传播边，未被本次rollout使用的边没有正标签。LeWM端到端分支的目标端也接收梯度，SIGReg防止表征坍缩；冻结槽模型目标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§3.3–4，表7–10，附录B–D。状态与图真值在像素任务中仅用于基准构建、平衡及评价探针。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表1（seed7，所有7槽top-1），表12与13（7/17/27）。表1支持监督同时把温度1.0改为0.7，未做温度匹配对照。传播AUROC对测试rollout onset标签；结构F1对真实一跳图。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§4.2，附录E.3–E.4，表15、20，E.6诊断。状态Push-T λctx=.25在seed7的IID–OOD曲线上选择；展示seed17/27。表15均值，误差单位px；模型使用冻结VideoSAUR槽。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§4.3，图3，表17–19。上方为enriched训练10k配对、LeWM微调10epoch、λΔ=.5，3新seed17/27/37。下表为表18物理响应RMSE相对变化，三seed均值；natural测试episode-disjoint；holdout响应323个。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§4.3，表2、3、20、21；C.5与E.6。表2=3个独立dataset seed17/27/37，model107，40k更新；相对Aug。mechanism同时使背景与结果独立。表3低权重与微调为post-hoc诊断，OOD=3split均值，physics=mechanism+composed。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附录F，式11，图7，表22–24，p30规划等效。50episode开发集base94%、full paired54%；600episode自然动作adapter seed7 87.7% vs base87.8%，paired difference−.17pp，90%CI[−2.20,+1.87]。三组件一同引入，非centering单独消融。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Do-JEPA: From Masking to Intervention in Latent World Models. Hossein Resani, Javen Qinfeng Shi. arXiv:2609.37378v1, 2026-09-29. https://arxiv.org/pdf/2609.37378</a:t>
            </a:r>
          </a:p>
          <a:p>
            <a:r>
              <a:t>§5–6；附录B、F、G。全篇结论与条件综合：exact pair双rollout；support softmax单直接target；时间可分辨；context不变物理；pixel物理指标需要探针。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360680" y="368300"/>
            <a:ext cx="113792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4200" b="1">
                <a:solidFill>
                  <a:srgbClr val="173B63"/>
                </a:solidFill>
                <a:latin typeface="Microsoft YaHei"/>
              </a:defRPr>
            </a:pPr>
            <a:r>
              <a:t>Do-JEPA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从一次状态分叉，学习动作改变了什么、作用于哪里、如何传播。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1/10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398780" y="1308100"/>
            <a:ext cx="113792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173B63"/>
                </a:solidFill>
                <a:latin typeface="Microsoft YaHei"/>
              </a:defRPr>
            </a:pPr>
            <a:r>
              <a:t>从预测未来，到预测动作效果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383540" y="22098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596777"/>
                </a:solidFill>
                <a:latin typeface="Microsoft YaHei"/>
              </a:defRPr>
            </a:pPr>
            <a:r>
              <a:t>From Masking to Intervention in Latent World Models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406400" y="2933700"/>
            <a:ext cx="113792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论文作者  Hossein Resani · Javen Qinfeng Shi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Adelaide University · AIML / Responsible AI Research Centre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arXiv:2609.37378v1 · 2026 年 9 月 29 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4508500"/>
            <a:ext cx="2667000" cy="736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8"/>
          <p:cNvSpPr txBox="1"/>
          <p:nvPr/>
        </p:nvSpPr>
        <p:spPr>
          <a:xfrm>
            <a:off x="533400" y="4610100"/>
            <a:ext cx="2413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同一状态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1000" y="4508500"/>
            <a:ext cx="3556000" cy="736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11"/>
          <p:cNvSpPr txBox="1"/>
          <p:nvPr/>
        </p:nvSpPr>
        <p:spPr>
          <a:xfrm>
            <a:off x="4318000" y="4610100"/>
            <a:ext cx="3302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动作 / 参考动作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4600" y="4508500"/>
            <a:ext cx="2921000" cy="736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14"/>
          <p:cNvSpPr txBox="1"/>
          <p:nvPr/>
        </p:nvSpPr>
        <p:spPr>
          <a:xfrm>
            <a:off x="8991600" y="4610100"/>
            <a:ext cx="2667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两条未来的潜在差分</a:t>
            </a:r>
          </a:p>
        </p:txBody>
      </p:sp>
      <p:cxnSp>
        <p:nvCxnSpPr>
          <p:cNvPr id="10" name="connection:8-to-11"/>
          <p:cNvCxnSpPr>
            <a:stCxn id="8" idx="3"/>
            <a:endCxn id="11" idx="1"/>
          </p:cNvCxnSpPr>
          <p:nvPr/>
        </p:nvCxnSpPr>
        <p:spPr>
          <a:xfrm>
            <a:off x="3073400" y="4876800"/>
            <a:ext cx="1117600" cy="0"/>
          </a:xfrm>
          <a:prstGeom prst="line">
            <a:avLst/>
          </a:prstGeom>
          <a:ln w="31750" cap="flat">
            <a:solidFill>
              <a:srgbClr val="173B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ion:11-to-14"/>
          <p:cNvCxnSpPr>
            <a:stCxn id="11" idx="3"/>
            <a:endCxn id="14" idx="1"/>
          </p:cNvCxnSpPr>
          <p:nvPr/>
        </p:nvCxnSpPr>
        <p:spPr>
          <a:xfrm>
            <a:off x="7747000" y="4876800"/>
            <a:ext cx="1117600" cy="0"/>
          </a:xfrm>
          <a:prstGeom prst="line">
            <a:avLst/>
          </a:prstGeom>
          <a:ln w="31750" cap="flat">
            <a:solidFill>
              <a:srgbClr val="173B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让两个未来只在动作上不同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533400" y="5905500"/>
            <a:ext cx="11252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配对消去两分支共享的成分；状态与背景交互的潜在成分不会自动消失。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2/10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533400" y="1193800"/>
            <a:ext cx="5232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173B63"/>
                </a:solidFill>
                <a:latin typeface="Microsoft YaHei"/>
              </a:defRPr>
            </a:pPr>
            <a:r>
              <a:t>掩码训练：改变可见信息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6553200" y="1193800"/>
            <a:ext cx="5232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173B63"/>
                </a:solidFill>
                <a:latin typeface="Microsoft YaHei"/>
              </a:defRPr>
            </a:pPr>
            <a:r>
              <a:t>配对干预：改变世界发生的过程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533400" y="1701800"/>
            <a:ext cx="5232400" cy="116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C-JEPA 隐去物体槽，再从其余槽补全。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目标仍来自同一条日志轨迹：背景与结果的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相关性仍可能被模型用来预测。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3124200"/>
            <a:ext cx="5359400" cy="736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8"/>
          <p:cNvSpPr txBox="1"/>
          <p:nvPr/>
        </p:nvSpPr>
        <p:spPr>
          <a:xfrm>
            <a:off x="533400" y="3225800"/>
            <a:ext cx="5105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历史 z → 隐去槽 → 预测未来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533400" y="4140200"/>
            <a:ext cx="5232400" cy="78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普通预测损失只约束未来是否接近目标，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044"/>
                </a:solidFill>
                <a:latin typeface="Microsoft YaHei"/>
              </a:defRPr>
            </a:pPr>
            <a:r>
              <a:t>没有指定变化中哪一部分由动作造成。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6200" y="1701800"/>
            <a:ext cx="5359400" cy="5588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11"/>
          <p:cNvSpPr txBox="1"/>
          <p:nvPr/>
        </p:nvSpPr>
        <p:spPr>
          <a:xfrm>
            <a:off x="6553200" y="1803400"/>
            <a:ext cx="5105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B63"/>
                </a:solidFill>
                <a:latin typeface="Microsoft YaHei"/>
              </a:defRPr>
            </a:pPr>
            <a:r>
              <a:t>完整状态 sₜ + 相同噪声 / 背景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6200" y="2565400"/>
            <a:ext cx="2387600" cy="8255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13"/>
          <p:cNvSpPr txBox="1"/>
          <p:nvPr/>
        </p:nvSpPr>
        <p:spPr>
          <a:xfrm>
            <a:off x="6553200" y="265176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动作分支</a:t>
            </a:r>
          </a:p>
        </p:txBody>
      </p:sp>
      <p:pic>
        <p:nvPicPr>
          <p:cNvPr id="15" name="equation:branch_a" descr="a\quad\longrightarrow\quad z^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0" y="3001010"/>
            <a:ext cx="1689100" cy="279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398000" y="2565400"/>
            <a:ext cx="2387600" cy="8255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16"/>
          <p:cNvSpPr txBox="1"/>
          <p:nvPr/>
        </p:nvSpPr>
        <p:spPr>
          <a:xfrm>
            <a:off x="9540240" y="265176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参考分支</a:t>
            </a:r>
          </a:p>
        </p:txBody>
      </p:sp>
      <p:pic>
        <p:nvPicPr>
          <p:cNvPr id="18" name="equation:branch_ref" descr="a_{\varnothing}\quad\longrightarrow\quad z^{a_{\varnothing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740" y="2981960"/>
            <a:ext cx="2006600" cy="317500"/>
          </a:xfrm>
          <a:prstGeom prst="rect">
            <a:avLst/>
          </a:prstGeom>
        </p:spPr>
      </p:pic>
      <p:pic>
        <p:nvPicPr>
          <p:cNvPr id="19" name="equation:pair" descr="\Delta z=z^{a}-z^{a_{\varnothing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0" y="3721100"/>
            <a:ext cx="1714500" cy="279400"/>
          </a:xfrm>
          <a:prstGeom prst="rect">
            <a:avLst/>
          </a:prstGeom>
        </p:spPr>
      </p:pic>
      <p:sp>
        <p:nvSpPr>
          <p:cNvPr id="20" name="text:19"/>
          <p:cNvSpPr txBox="1"/>
          <p:nvPr/>
        </p:nvSpPr>
        <p:spPr>
          <a:xfrm>
            <a:off x="6553200" y="4695190"/>
            <a:ext cx="6223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示例</a:t>
            </a:r>
          </a:p>
        </p:txBody>
      </p:sp>
      <p:pic>
        <p:nvPicPr>
          <p:cNvPr id="21" name="equation:example" descr="z^{a}=(3,2,7),\quad z^{a_{\varnothing}}=(1,2,7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0" y="4660900"/>
            <a:ext cx="3771900" cy="304800"/>
          </a:xfrm>
          <a:prstGeom prst="rect">
            <a:avLst/>
          </a:prstGeom>
        </p:spPr>
      </p:pic>
      <p:sp>
        <p:nvSpPr>
          <p:cNvPr id="22" name="text:21"/>
          <p:cNvSpPr txBox="1"/>
          <p:nvPr/>
        </p:nvSpPr>
        <p:spPr>
          <a:xfrm>
            <a:off x="6553200" y="5016500"/>
            <a:ext cx="52324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差分 (2, 0, 0)：共享的后两维抵消。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它描述当前状态下“换动作”的效果。</a:t>
            </a:r>
          </a:p>
        </p:txBody>
      </p:sp>
      <p:sp>
        <p:nvSpPr>
          <p:cNvPr id="23" name="text:22"/>
          <p:cNvSpPr txBox="1"/>
          <p:nvPr/>
        </p:nvSpPr>
        <p:spPr>
          <a:xfrm>
            <a:off x="533400" y="5003800"/>
            <a:ext cx="52324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参考动作通常为物理 no-op；CausalWorld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使用围绕当前关节位置镜像的命令。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差分之外，还要监督入口、传播与不变部分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槽模型把动作放入残差路径；全局 LeWM 潜在只有 K=1，使用效果损失而无槽门控。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" y="1193800"/>
            <a:ext cx="3238500" cy="609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5"/>
          <p:cNvSpPr txBox="1"/>
          <p:nvPr/>
        </p:nvSpPr>
        <p:spPr>
          <a:xfrm>
            <a:off x="533400" y="1295400"/>
            <a:ext cx="29845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B63"/>
                </a:solidFill>
                <a:latin typeface="Microsoft YaHei"/>
              </a:defRPr>
            </a:pPr>
            <a:r>
              <a:t>历史 → 无动作基线 b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3835400" y="1308100"/>
            <a:ext cx="4445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73B63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7700" y="1193800"/>
            <a:ext cx="3835400" cy="609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8"/>
          <p:cNvSpPr txBox="1"/>
          <p:nvPr/>
        </p:nvSpPr>
        <p:spPr>
          <a:xfrm>
            <a:off x="4584700" y="1295400"/>
            <a:ext cx="3581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3B63"/>
                </a:solidFill>
                <a:latin typeface="Microsoft YaHei"/>
              </a:defRPr>
            </a:pPr>
            <a:r>
              <a:t>入口 m → 残差 r → 门控 G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8483600" y="1308100"/>
            <a:ext cx="4445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173B63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05900" y="1193800"/>
            <a:ext cx="2679700" cy="609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quation:prediction" descr="\hat{z}^{a}=b+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50" y="1384300"/>
            <a:ext cx="990600" cy="228600"/>
          </a:xfrm>
          <a:prstGeom prst="rect">
            <a:avLst/>
          </a:prstGeom>
        </p:spPr>
      </p:pic>
      <p:graphicFrame>
        <p:nvGraphicFramePr>
          <p:cNvPr id="13" name="data-table"/>
          <p:cNvGraphicFramePr>
            <a:graphicFrameLocks noGrp="1"/>
          </p:cNvGraphicFramePr>
          <p:nvPr/>
        </p:nvGraphicFramePr>
        <p:xfrm>
          <a:off x="406400" y="2273300"/>
          <a:ext cx="11379200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4546600"/>
                <a:gridCol w="49657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监督项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训练目标（省略批次平均）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具体职责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效果损失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约束动作造成的变化量与方向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入口损失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首步响应能量归一化，指定直接作用槽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传播损失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响应晚一拍的槽对提供传播标签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槽不变损失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未响应槽效应归零，关闭流入门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背景损失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同物理状态换背景，效果应一致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总目标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两分支预测 + 上述加权损失 + R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保留事实预测与防坍缩正则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" name="equation:loss_delta" descr="\|\widehat{\Delta z}-\Delta z\|_2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2806700"/>
            <a:ext cx="1092200" cy="304800"/>
          </a:xfrm>
          <a:prstGeom prst="rect">
            <a:avLst/>
          </a:prstGeom>
        </p:spPr>
      </p:pic>
      <p:pic>
        <p:nvPicPr>
          <p:cNvPr id="15" name="equation:loss_support" descr="\mathrm{CE}(y,m),\quad y_i\propto\|\Delta z^i_{t+1}\|_2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3270250"/>
            <a:ext cx="2451100" cy="292100"/>
          </a:xfrm>
          <a:prstGeom prst="rect">
            <a:avLst/>
          </a:prstGeom>
        </p:spPr>
      </p:pic>
      <p:pic>
        <p:nvPicPr>
          <p:cNvPr id="16" name="equation:loss_edge" descr="\mathrm{BCE}_{\mathrm{bal}}(G,y^{\mathrm{edge}})+\lambda_{\mathrm{sp}}\|G\|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3727450"/>
            <a:ext cx="2514600" cy="292100"/>
          </a:xfrm>
          <a:prstGeom prst="rect">
            <a:avLst/>
          </a:prstGeom>
        </p:spPr>
      </p:pic>
      <p:pic>
        <p:nvPicPr>
          <p:cNvPr id="17" name="equation:loss_inv" descr="\sum_{j\notin R}\left(\|\widehat{\Delta z}^{\,j}\|_2^2+\lambda_g\sum_i G_{ji}\righ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7600" y="4140200"/>
            <a:ext cx="2171700" cy="508000"/>
          </a:xfrm>
          <a:prstGeom prst="rect">
            <a:avLst/>
          </a:prstGeom>
        </p:spPr>
      </p:pic>
      <p:pic>
        <p:nvPicPr>
          <p:cNvPr id="18" name="equation:loss_context" descr="\|\widehat{\Delta z}(c)-\widehat{\Delta z}(c^{\prime})\|_2^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7600" y="4762500"/>
            <a:ext cx="1676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训练用配对真值，测试只给历史与动作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Aug 与 Paired 看见相同数据；两者的差异才能隔离“显式比较两条未来”的贡献。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4/10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06400" y="1193800"/>
            <a:ext cx="5308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173B63"/>
                </a:solidFill>
                <a:latin typeface="Microsoft YaHei"/>
              </a:defRPr>
            </a:pPr>
            <a:r>
              <a:t>从模拟器到监督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6477000" y="1193800"/>
            <a:ext cx="5308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173B63"/>
                </a:solidFill>
                <a:latin typeface="Microsoft YaHei"/>
              </a:defRPr>
            </a:pPr>
            <a:r>
              <a:t>从模型到检验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406400" y="1701800"/>
            <a:ext cx="53086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保存完整状态 → 两次 rollout → 编码未来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首步差分：入口；响应时间：传播；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全时域无响应：不变槽；换背景：context twin。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6477000" y="1701800"/>
            <a:ext cx="53086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预测效果：同一历史输入动作与参考动作后相减。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规划：使用事实预测搜索动作。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物理评估：训练 / IID 数据拟合读出探针。</a:t>
            </a:r>
          </a:p>
        </p:txBody>
      </p:sp>
      <p:graphicFrame>
        <p:nvGraphicFramePr>
          <p:cNvPr id="9" name="data-table"/>
          <p:cNvGraphicFramePr>
            <a:graphicFrameLocks noGrp="1"/>
          </p:cNvGraphicFramePr>
          <p:nvPr/>
        </p:nvGraphicFramePr>
        <p:xfrm>
          <a:off x="406400" y="2933700"/>
          <a:ext cx="113792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4445000"/>
                <a:gridCol w="4978400"/>
              </a:tblGrid>
              <a:tr h="431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训练变体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使用的数据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额外约束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Obs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事实分支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普通未来预测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Aug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事实 + 参考；有时含背景孪生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各样本独立预测，不比较分支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Paired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与 Aug 完全相同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加效果损失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Do-JEPA full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配对 + 背景孪生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加背景损失；槽模型按设置加槽损失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:9"/>
          <p:cNvSpPr txBox="1"/>
          <p:nvPr/>
        </p:nvSpPr>
        <p:spPr>
          <a:xfrm>
            <a:off x="406400" y="5334000"/>
            <a:ext cx="11379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指标分工：事实误差测未来；效果误差测动作差分；AUROC 测是否响应；结构 F1 测路径。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预测得准，不会自动把动作送到正确入口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入口要看首步响应；传播要看时间顺序。观测变粗时，可识别的关系转向区间可达性。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5/10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06400" y="1193800"/>
            <a:ext cx="11379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四物体环 + 三干扰槽：测试反转训练相关性</a:t>
            </a:r>
          </a:p>
        </p:txBody>
      </p:sp>
      <p:graphicFrame>
        <p:nvGraphicFramePr>
          <p:cNvPr id="6" name="data-table"/>
          <p:cNvGraphicFramePr>
            <a:graphicFrameLocks noGrp="1"/>
          </p:cNvGraphicFramePr>
          <p:nvPr/>
        </p:nvGraphicFramePr>
        <p:xfrm>
          <a:off x="406400" y="1701800"/>
          <a:ext cx="113792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800"/>
                <a:gridCol w="1879600"/>
                <a:gridCol w="2514600"/>
                <a:gridCol w="2362200"/>
              </a:tblGrid>
              <a:tr h="431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入口消融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Top-1 ↑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干扰槽 mask 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 MSE 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稀疏 mask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1.000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0.0110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 效果损失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0.000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1.000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0.0100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 入口损失，温度 1.0 → 0.7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0.9995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0.000082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0.00093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:6"/>
          <p:cNvSpPr txBox="1"/>
          <p:nvPr/>
        </p:nvSpPr>
        <p:spPr>
          <a:xfrm>
            <a:off x="406400" y="3619500"/>
            <a:ext cx="11379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效果损失可由后续传播补偿错误入口；稀疏性决定“几个槽”，首步标签决定“哪个槽”。</a:t>
            </a:r>
          </a:p>
        </p:txBody>
      </p:sp>
      <p:pic>
        <p:nvPicPr>
          <p:cNvPr id="8" name="Picture 7" descr="temporal-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937000"/>
            <a:ext cx="5588000" cy="1600200"/>
          </a:xfrm>
          <a:prstGeom prst="rect">
            <a:avLst/>
          </a:prstGeom>
        </p:spPr>
      </p:pic>
      <p:sp>
        <p:nvSpPr>
          <p:cNvPr id="9" name="text:8"/>
          <p:cNvSpPr txBox="1"/>
          <p:nvPr/>
        </p:nvSpPr>
        <p:spPr>
          <a:xfrm>
            <a:off x="6477000" y="4102100"/>
            <a:ext cx="5308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传播监督的独立证据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6477000" y="4597400"/>
            <a:ext cx="53086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边 AUROC：0.624 → 0.975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3/3 种子恢复四条环边。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观测间隔内多跳传播，会混合先后顺序。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背景不变性必须落到承载物理的潜在方向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固定状态变量上，背景孪生能消除捷径；学习到的潜在距离与物理距离可能不一致。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6/10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06400" y="1193800"/>
            <a:ext cx="5232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状态 Push-T：背景损失权重 0.25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6426200" y="1193800"/>
            <a:ext cx="53594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为什么潜在惩罚可能伤害物理精度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406400" y="1714500"/>
            <a:ext cx="5511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两次独立种子的 OOD 误差降低 43.9% / 55.2%；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IID 误差增加 4.2% / 3.5%。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权重由另一种子的 IID–OOD 曲线选定。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6426200" y="1714500"/>
            <a:ext cx="5359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CausalWorld 诊断：192 维空间中两个方向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承载约 99.8% 的解码物理误差。均匀压低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潜在差异，可能把误差留在这些关键方向。</a:t>
            </a:r>
          </a:p>
        </p:txBody>
      </p:sp>
      <p:graphicFrame>
        <p:nvGraphicFramePr>
          <p:cNvPr id="9" name="data-table"/>
          <p:cNvGraphicFramePr>
            <a:graphicFrameLocks noGrp="1"/>
          </p:cNvGraphicFramePr>
          <p:nvPr/>
        </p:nvGraphicFramePr>
        <p:xfrm>
          <a:off x="406400" y="3009900"/>
          <a:ext cx="113792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032000"/>
                <a:gridCol w="2235200"/>
                <a:gridCol w="2108200"/>
                <a:gridCol w="2159000"/>
              </a:tblGrid>
              <a:tr h="4953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冻结视觉槽 / OOD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事实误差 (px) 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响应效果 (px) 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 AUROC ↑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背景敏感 (px) ↓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Mask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39.02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20.25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0.485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19.91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Aug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24.88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16.79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0.666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12.59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Do-JEPA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27.19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17.89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0.691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13.74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0" name="text:9"/>
          <p:cNvSpPr txBox="1"/>
          <p:nvPr/>
        </p:nvSpPr>
        <p:spPr>
          <a:xfrm>
            <a:off x="406400" y="5245100"/>
            <a:ext cx="11379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相对 Mask 六项指标均改善；相对同数据 Aug，响应检测更好，事实与效果误差更高。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像素端到端：效果收益随训练动作分布迁移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自然专家动作训练后，响应物理效果误差下降 13.5%；独立抽取动作的 holdout 下降 5.5%。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7/10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06400" y="1193800"/>
            <a:ext cx="113792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LeWM 微调：同数据 Aug → Paired（富集配对，50% 响应）</a:t>
            </a:r>
          </a:p>
        </p:txBody>
      </p:sp>
      <p:pic>
        <p:nvPicPr>
          <p:cNvPr id="6" name="Picture 5" descr="lewm-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714500"/>
            <a:ext cx="11379200" cy="1828800"/>
          </a:xfrm>
          <a:prstGeom prst="rect">
            <a:avLst/>
          </a:prstGeom>
        </p:spPr>
      </p:pic>
      <p:sp>
        <p:nvSpPr>
          <p:cNvPr id="7" name="text:6"/>
          <p:cNvSpPr txBox="1"/>
          <p:nvPr/>
        </p:nvSpPr>
        <p:spPr>
          <a:xfrm>
            <a:off x="406400" y="3746500"/>
            <a:ext cx="11379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044"/>
                </a:solidFill>
                <a:latin typeface="Microsoft YaHei"/>
              </a:defRPr>
            </a:pPr>
            <a:r>
              <a:t>潜在空间由各模型自己学习；还需用物理位移读出检验动作效果。</a:t>
            </a:r>
          </a:p>
        </p:txBody>
      </p:sp>
      <p:graphicFrame>
        <p:nvGraphicFramePr>
          <p:cNvPr id="8" name="data-table"/>
          <p:cNvGraphicFramePr>
            <a:graphicFrameLocks noGrp="1"/>
          </p:cNvGraphicFramePr>
          <p:nvPr/>
        </p:nvGraphicFramePr>
        <p:xfrm>
          <a:off x="406400" y="4241800"/>
          <a:ext cx="113792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/>
                <a:gridCol w="3149600"/>
                <a:gridCol w="3149600"/>
              </a:tblGrid>
              <a:tr h="444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响应物理 RMSE 变化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自然动作测试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未按结果筛选 holdout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自然动作训练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−13.5%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−5.5%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富集动作训练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+5.9%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+4.7%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39878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CausalWorld：训练方式决定事实精度的代价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从已收敛 Aug 模型继续训练 2,000 步，可保留事实精度并改善动作效果。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8/10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06400" y="1193800"/>
            <a:ext cx="113792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从头训练，α = 1：Paired 相对 Aug（3 个独立基准实例）</a:t>
            </a:r>
          </a:p>
        </p:txBody>
      </p:sp>
      <p:graphicFrame>
        <p:nvGraphicFramePr>
          <p:cNvPr id="6" name="data-table"/>
          <p:cNvGraphicFramePr>
            <a:graphicFrameLocks noGrp="1"/>
          </p:cNvGraphicFramePr>
          <p:nvPr/>
        </p:nvGraphicFramePr>
        <p:xfrm>
          <a:off x="406400" y="1714500"/>
          <a:ext cx="113792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/>
                <a:gridCol w="2108200"/>
                <a:gridCol w="2032000"/>
                <a:gridCol w="1879600"/>
                <a:gridCol w="1828800"/>
              </a:tblGrid>
              <a:tr h="431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测试偏移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响应效果 RMSE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潜在背景敏感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事实 RMSE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 AUROC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视觉相关性反转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−3.9%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−66.2%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+52.8%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−0.054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质量 / 摩擦 + 背景独立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−20.3%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−65.4%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+51.5%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−0.070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物理改变 + 视觉反转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−19.5%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−66.2%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+51.1%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−0.073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:6"/>
          <p:cNvSpPr txBox="1"/>
          <p:nvPr/>
        </p:nvSpPr>
        <p:spPr>
          <a:xfrm>
            <a:off x="406400" y="3606800"/>
            <a:ext cx="11379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改变训练方案：效果精度与事实预测的取舍</a:t>
            </a:r>
          </a:p>
        </p:txBody>
      </p:sp>
      <p:graphicFrame>
        <p:nvGraphicFramePr>
          <p:cNvPr id="8" name="data-table"/>
          <p:cNvGraphicFramePr>
            <a:graphicFrameLocks noGrp="1"/>
          </p:cNvGraphicFramePr>
          <p:nvPr/>
        </p:nvGraphicFramePr>
        <p:xfrm>
          <a:off x="406400" y="4114800"/>
          <a:ext cx="113792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/>
                <a:gridCol w="2413000"/>
                <a:gridCol w="2895600"/>
                <a:gridCol w="2540000"/>
              </a:tblGrid>
              <a:tr h="330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事实 RMSE / OOD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 RMSE / 物理偏移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事实误差各split ≤ +10%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从头 α = 1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+51.8%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−19.9%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0/3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从头 α = 0.25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+10.6%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−12.8%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1/3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从 Aug 微调 α = 1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−0.9%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−13.3%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3/3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40640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动作效果更准，也要保住规划所用的动力学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533400" y="5905500"/>
            <a:ext cx="11252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中心化适配器 + 多步保持损失 + 漂移筛选，使规划成功率与原模型落在 ±3 个百分点内。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533400" y="1193800"/>
            <a:ext cx="11252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B95426"/>
                </a:solidFill>
                <a:latin typeface="Microsoft YaHei"/>
              </a:defRPr>
            </a:pPr>
            <a:r>
              <a:t>开发集 50 个回合：直接全量微调，效果误差 −29.1%，规划成功率 94% → 54%。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032000"/>
            <a:ext cx="2946400" cy="863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6"/>
          <p:cNvSpPr txBox="1"/>
          <p:nvPr/>
        </p:nvSpPr>
        <p:spPr>
          <a:xfrm>
            <a:off x="533400" y="2133600"/>
            <a:ext cx="26924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冻结基础预测器</a:t>
            </a:r>
          </a:p>
        </p:txBody>
      </p:sp>
      <p:pic>
        <p:nvPicPr>
          <p:cNvPr id="8" name="equation:base" descr="F_{\mathrm{base}}(z,a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01900"/>
            <a:ext cx="1244600" cy="279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05300" y="2032000"/>
            <a:ext cx="3873500" cy="863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10"/>
          <p:cNvSpPr txBox="1"/>
          <p:nvPr/>
        </p:nvSpPr>
        <p:spPr>
          <a:xfrm>
            <a:off x="4432300" y="2125980"/>
            <a:ext cx="3619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同权重适配器差分</a:t>
            </a:r>
          </a:p>
        </p:txBody>
      </p:sp>
      <p:pic>
        <p:nvPicPr>
          <p:cNvPr id="12" name="equation:adapter" descr="\delta=g_{\phi}(h^a)-g_{\phi}(h^{a\leftarrow a_{\varnothing}}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0" y="2462530"/>
            <a:ext cx="3060700" cy="3429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144000" y="2032000"/>
            <a:ext cx="2641600" cy="8636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equation:adapt_prediction" descr="F_{\mathrm{adapt}}=F_{\mathrm{base}}+\del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2127250"/>
            <a:ext cx="2133600" cy="317500"/>
          </a:xfrm>
          <a:prstGeom prst="rect">
            <a:avLst/>
          </a:prstGeom>
        </p:spPr>
      </p:pic>
      <p:pic>
        <p:nvPicPr>
          <p:cNvPr id="16" name="equation:noop" descr="a=a_{\varnothing}\ \Rightarrow\ \delta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0" y="2520950"/>
            <a:ext cx="2133600" cy="292100"/>
          </a:xfrm>
          <a:prstGeom prst="rect">
            <a:avLst/>
          </a:prstGeom>
        </p:spPr>
      </p:pic>
      <p:sp>
        <p:nvSpPr>
          <p:cNvPr id="17" name="text:16"/>
          <p:cNvSpPr txBox="1"/>
          <p:nvPr/>
        </p:nvSpPr>
        <p:spPr>
          <a:xfrm>
            <a:off x="533400" y="34925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约束训练</a:t>
            </a:r>
          </a:p>
        </p:txBody>
      </p:sp>
      <p:sp>
        <p:nvSpPr>
          <p:cNvPr id="18" name="text:17"/>
          <p:cNvSpPr txBox="1"/>
          <p:nvPr/>
        </p:nvSpPr>
        <p:spPr>
          <a:xfrm>
            <a:off x="533400" y="3987800"/>
            <a:ext cx="54610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秩 ≤16 的可训练修正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惩罚偏离基础模型的 5 步轨迹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仅选 rollout 误差 ≤ 基础 1.2× 的检查点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固定编码器与基础预测器权重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三项一同引入，未单独消融中心化。</a:t>
            </a:r>
          </a:p>
        </p:txBody>
      </p:sp>
      <p:sp>
        <p:nvSpPr>
          <p:cNvPr id="19" name="text:18"/>
          <p:cNvSpPr txBox="1"/>
          <p:nvPr/>
        </p:nvSpPr>
        <p:spPr>
          <a:xfrm>
            <a:off x="6477000" y="3492500"/>
            <a:ext cx="5308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173B63"/>
                </a:solidFill>
                <a:latin typeface="Microsoft YaHei"/>
              </a:defRPr>
            </a:pPr>
            <a:r>
              <a:t>独立规划检验：600 个配对回合</a:t>
            </a:r>
          </a:p>
        </p:txBody>
      </p:sp>
      <p:sp>
        <p:nvSpPr>
          <p:cNvPr id="20" name="text:19"/>
          <p:cNvSpPr txBox="1"/>
          <p:nvPr/>
        </p:nvSpPr>
        <p:spPr>
          <a:xfrm>
            <a:off x="6477000" y="3987800"/>
            <a:ext cx="53086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自然动作适配器 87.7%  vs.  基础 87.8%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成功率差 −0.17 个百分点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90% CI [−2.20, +1.87]，落入 ±3 pp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TOST 等效检验；回合使用配对起点与目标。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结论是保留规划能力；没有显示规划提升。</a:t>
            </a:r>
          </a:p>
        </p:txBody>
      </p:sp>
      <p:cxnSp>
        <p:nvCxnSpPr>
          <p:cNvPr id="9" name="connection:6-to-10"/>
          <p:cNvCxnSpPr>
            <a:stCxn id="6" idx="3"/>
            <a:endCxn id="10" idx="1"/>
          </p:cNvCxnSpPr>
          <p:nvPr/>
        </p:nvCxnSpPr>
        <p:spPr>
          <a:xfrm>
            <a:off x="3352800" y="2463800"/>
            <a:ext cx="952500" cy="0"/>
          </a:xfrm>
          <a:prstGeom prst="line">
            <a:avLst/>
          </a:prstGeom>
          <a:ln w="31750" cap="flat">
            <a:solidFill>
              <a:srgbClr val="173B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ion:10-to-14"/>
          <p:cNvCxnSpPr>
            <a:stCxn id="10" idx="3"/>
            <a:endCxn id="14" idx="1"/>
          </p:cNvCxnSpPr>
          <p:nvPr/>
        </p:nvCxnSpPr>
        <p:spPr>
          <a:xfrm>
            <a:off x="8178800" y="2463800"/>
            <a:ext cx="965200" cy="0"/>
          </a:xfrm>
          <a:prstGeom prst="line">
            <a:avLst/>
          </a:prstGeom>
          <a:ln w="31750" cap="flat">
            <a:solidFill>
              <a:srgbClr val="173B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1"/>
          <p:cNvSpPr txBox="1"/>
          <p:nvPr/>
        </p:nvSpPr>
        <p:spPr>
          <a:xfrm>
            <a:off x="383540" y="368300"/>
            <a:ext cx="11379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173B63"/>
                </a:solidFill>
                <a:latin typeface="Microsoft YaHei"/>
              </a:defRPr>
            </a:pPr>
            <a:r>
              <a:t>Do-JEPA 的贡献：让世界模型接受干预问题的检验</a:t>
            </a:r>
          </a:p>
        </p:txBody>
      </p:sp>
      <p:sp>
        <p:nvSpPr>
          <p:cNvPr id="3" name="conclusion:2"/>
          <p:cNvSpPr txBox="1"/>
          <p:nvPr/>
        </p:nvSpPr>
        <p:spPr>
          <a:xfrm>
            <a:off x="406400" y="59055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173B63"/>
                </a:solidFill>
                <a:latin typeface="Microsoft YaHei"/>
              </a:defRPr>
            </a:pPr>
            <a:r>
              <a:t>把事实预测、动作效果、作用结构与规划分开评估，才能知道模型究竟学到了什么。</a:t>
            </a:r>
          </a:p>
        </p:txBody>
      </p:sp>
      <p:sp>
        <p:nvSpPr>
          <p:cNvPr id="4" name="page-number:3"/>
          <p:cNvSpPr txBox="1"/>
          <p:nvPr/>
        </p:nvSpPr>
        <p:spPr>
          <a:xfrm>
            <a:off x="11214100" y="6324600"/>
            <a:ext cx="571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96777"/>
                </a:solidFill>
                <a:latin typeface="Microsoft YaHei"/>
              </a:defRPr>
            </a:pPr>
            <a:r>
              <a:t>10/10</a:t>
            </a:r>
          </a:p>
        </p:txBody>
      </p:sp>
      <p:graphicFrame>
        <p:nvGraphicFramePr>
          <p:cNvPr id="5" name="data-table"/>
          <p:cNvGraphicFramePr>
            <a:graphicFrameLocks noGrp="1"/>
          </p:cNvGraphicFramePr>
          <p:nvPr/>
        </p:nvGraphicFramePr>
        <p:xfrm>
          <a:off x="406400" y="1193800"/>
          <a:ext cx="1137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3594100"/>
                <a:gridCol w="5245100"/>
              </a:tblGrid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最有力证据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适用条件 / 实际含义</a:t>
                      </a:r>
                    </a:p>
                  </a:txBody>
                  <a:tcPr marL="114300" marR="114300" marT="63500" marB="63500" anchor="ctr">
                    <a:solidFill>
                      <a:srgbClr val="173B6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动作进入哪里？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合成槽 Top-1 99.95–100%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对象对齐、单直接目标；首步先于传播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效果沿哪里传播？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3/3 种子恢复环图；AUROC 0.975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时间分辨率决定一跳边或区间可达性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像素中能否学会动作效果？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自然动作物理误差 −13.5%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同数据对照；训练干预分布影响迁移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怎样减少精度代价？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CausalWorld 微调：物理效果 −13.3%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物理偏移均值；事实 OOD 误差 −0.9%</a:t>
                      </a:r>
                    </a:p>
                  </a:txBody>
                  <a:tcPr marL="114300" marR="114300" marT="63500" marB="635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能否用于控制？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600 回合规划等效于基础模型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3044"/>
                          </a:solidFill>
                          <a:latin typeface="Microsoft YaHei"/>
                        </a:defRPr>
                      </a:pPr>
                      <a:r>
                        <a:t>需要保持多步动力学；效果增益未变成成功率提升</a:t>
                      </a:r>
                    </a:p>
                  </a:txBody>
                  <a:tcPr marL="114300" marR="114300" marT="63500" marB="6350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text:5"/>
          <p:cNvSpPr txBox="1"/>
          <p:nvPr/>
        </p:nvSpPr>
        <p:spPr>
          <a:xfrm>
            <a:off x="406400" y="5016500"/>
            <a:ext cx="1137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数据要求：完整状态可恢复，两个分支共享噪声；背景孪生只改观测。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044"/>
                </a:solidFill>
                <a:latin typeface="Microsoft YaHei"/>
              </a:defRPr>
            </a:pPr>
            <a:r>
              <a:t>真实世界的近似配对会混入状态与噪声差异，需另行建模。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Do-JEPA：从预测未来到预测动作效果</dc:title>
  <dc:subject>arXiv:2609.37378v1 论文讲解</dc:subject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