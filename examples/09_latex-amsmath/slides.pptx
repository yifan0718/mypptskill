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45"/>
  </p:notesMasterIdLst>
  <p:handoutMasterIdLst>
    <p:handoutMasterId r:id="rId46"/>
  </p:handoutMasterIdLst>
  <p:sldIdLst>
    <p:sldId id="753" r:id="rId18"/>
    <p:sldId id="764" r:id="rId19"/>
    <p:sldId id="778" r:id="rId20"/>
    <p:sldId id="814" r:id="rId24"/>
    <p:sldId id="834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9D"/>
    <a:srgbClr val="F9F9F9"/>
    <a:srgbClr val="FE7E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24" d="100"/>
          <a:sy n="124" d="100"/>
        </p:scale>
        <p:origin x="328" y="168"/>
      </p:cViewPr>
      <p:guideLst>
        <p:guide orient="horz" pos="2161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7" d="100"/>
        <a:sy n="107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4" Type="http://schemas.openxmlformats.org/officeDocument/2006/relationships/slide" Target="slides/slide4.xml"/><Relationship Id="rId31" Type="http://schemas.openxmlformats.org/officeDocument/2006/relationships/slide" Target="slides/slide5.xml"/><Relationship Id="rId45" Type="http://schemas.openxmlformats.org/officeDocument/2006/relationships/notesMaster" Target="notesMasters/notesMaster1.xml"/><Relationship Id="rId46" Type="http://schemas.openxmlformats.org/officeDocument/2006/relationships/handoutMaster" Target="handoutMasters/handoutMaster1.xml"/><Relationship Id="rId53" Type="http://schemas.openxmlformats.org/officeDocument/2006/relationships/presProps" Target="pres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" Type="http://schemas.openxmlformats.org/officeDocument/2006/relationships/viewProps" Target="viewProp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2026/5/27</a:t>
            </a:fld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‹#›</a:t>
            </a:fld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fld id="{C1017405-55BE-4362-88E1-BA68B5BD23CF}" type="datetimeFigureOut">
              <a:rPr lang="zh-CN" altLang="en-US" smtClean="0"/>
              <a:t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/>
            </a:r>
          </a:p>
          <a:p>
            <a:pPr lvl="1"/>
            <a:r>
              <a:rPr lang="zh-CN" altLang="en-US" dirty="0"/>
              <a:t/>
            </a:r>
          </a:p>
          <a:p>
            <a:pPr lvl="2"/>
            <a:r>
              <a:rPr lang="zh-CN" altLang="en-US" dirty="0"/>
              <a:t/>
            </a:r>
          </a:p>
          <a:p>
            <a:pPr lvl="3"/>
            <a:r>
              <a:rPr lang="zh-CN" altLang="en-US" dirty="0"/>
              <a:t/>
            </a:r>
          </a:p>
          <a:p>
            <a:pPr lvl="4"/>
            <a:r>
              <a:rPr lang="zh-CN" altLang="en-US" dirty="0"/>
              <a:t/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fld id="{23EB11D7-82F1-4B2E-8B4A-14F87C299330}" type="slidenum">
              <a:rPr lang="zh-CN" altLang="en-US" smtClean="0"/>
              <a:t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Bold" panose="020B0800000000000000" pitchFamily="34" charset="-122"/>
        <a:ea typeface="思源黑体 CN Bold" panose="020B08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参考：American Mathematical Society, LaTeX Project. User’s Guide for the amsmath Package, v2.1. https://mirrors.ctan.org/macros/latex/required/amsmath/amsldoc.pdf</a:t>
            </a:r>
          </a:p>
          <a:p>
            <a:r>
              <a:t>相关章节：3.1、3.4、3.6、3.11、4.1、6。</a:t>
            </a:r>
          </a:p>
          <a:p>
            <a:r>
              <a:t>Q 的特征值为 1 和 3，目标函数严格凸；约束集合是半空间，故最优解唯一。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参考：American Mathematical Society, LaTeX Project. User’s Guide for the amsmath Package, v2.1. https://mirrors.ctan.org/macros/latex/required/amsmath/amsldoc.pdf</a:t>
            </a:r>
          </a:p>
          <a:p>
            <a:r>
              <a:t>相关章节：3.1、3.4、3.6、3.11、4.1、6。</a:t>
            </a:r>
          </a:p>
          <a:p>
            <a:r>
              <a:t>上标 u 表示 unconstrained。第三行给出第二个标量方程；第二行用 notag 去掉编号。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参考：American Mathematical Society, LaTeX Project. User’s Guide for the amsmath Package, v2.1. https://mirrors.ctan.org/macros/latex/required/amsmath/amsldoc.pdf</a:t>
            </a:r>
          </a:p>
          <a:p>
            <a:r>
              <a:t>相关章节：3.1、3.4、3.6、3.11、4.1、6。</a:t>
            </a:r>
          </a:p>
          <a:p>
            <a:r>
              <a:t>令 x₂=t 后，对 x₁ 求导得 x₁=(3-t)/2。代回目标函数即可得到式(4)。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参考：American Mathematical Society, LaTeX Project. User’s Guide for the amsmath Package, v2.1. https://mirrors.ctan.org/macros/latex/required/amsmath/amsldoc.pdf</a:t>
            </a:r>
          </a:p>
          <a:p>
            <a:r>
              <a:t>相关章节：3.1、3.4、3.6、3.11、4.1、6。</a:t>
            </a:r>
          </a:p>
          <a:p>
            <a:r>
              <a:t>一元函数二阶导数为 3/2，最小点由驻点和 t≥0 的边界共同确定。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参考：American Mathematical Society, LaTeX Project. User’s Guide for the amsmath Package, v2.1. https://mirrors.ctan.org/macros/latex/required/amsmath/amsldoc.pdf</a:t>
            </a:r>
          </a:p>
          <a:p>
            <a:r>
              <a:t>相关章节：3.1、3.4、3.6、3.11、4.1、6。</a:t>
            </a:r>
          </a:p>
          <a:p>
            <a:r>
              <a:t>β=0 时，t≥0 上导数严格为正，最小值在 t=0；由 x₁=(3-t)/2 得最终解。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/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9328607" y="395400"/>
            <a:ext cx="113813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sz="1400" dirty="0">
              <a:latin typeface="+mn-ea"/>
              <a:ea typeface="+mn-ea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523707" y="395400"/>
            <a:ext cx="63478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sz="1400" dirty="0">
              <a:latin typeface="+mn-ea"/>
              <a:ea typeface="+mn-ea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442914" y="204396"/>
            <a:ext cx="665124" cy="4064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1215465" y="395400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/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/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/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李PPT5"/>
          <p:cNvSpPr/>
          <p:nvPr userDrawn="1">
            <p:custDataLst>
              <p:tags r:id="rId1"/>
            </p:custDataLst>
          </p:nvPr>
        </p:nvSpPr>
        <p:spPr>
          <a:xfrm>
            <a:off x="434974" y="862700"/>
            <a:ext cx="11340000" cy="61705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lvl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2pPr>
            <a:lvl3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3pPr>
            <a:lvl4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4pPr>
            <a:lvl5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5pPr>
          </a:lstStyle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思源黑体 CN Bold" panose="020B0800000000000000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思源黑体 CN Bold" panose="020B0800000000000000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思源黑体 CN Bold" panose="020B0800000000000000" pitchFamily="34" charset="-122"/>
              </a:defRPr>
            </a:lvl1pPr>
          </a:lstStyle>
          <a:p>
            <a:endParaRPr lang="en-US" dirty="0"/>
          </a:p>
        </p:txBody>
      </p:sp>
      <p:cxnSp>
        <p:nvCxnSpPr>
          <p:cNvPr id="12" name="直线连接符 11"/>
          <p:cNvCxnSpPr/>
          <p:nvPr userDrawn="1"/>
        </p:nvCxnSpPr>
        <p:spPr>
          <a:xfrm>
            <a:off x="525534" y="6589876"/>
            <a:ext cx="11388632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Layout" Target="../slideLayouts/slideLayout34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Layout" Target="../slideLayouts/slideLayout35.xml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Layout" Target="../slideLayouts/slideLayout35.xml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tags" Target="../tags/tag52.xml"/><Relationship Id="rId3" Type="http://schemas.openxmlformats.org/officeDocument/2006/relationships/slideLayout" Target="../slideLayouts/slideLayout35.xml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tags" Target="../tags/tag66.xml"/><Relationship Id="rId3" Type="http://schemas.openxmlformats.org/officeDocument/2006/relationships/slideLayout" Target="../slideLayouts/slideLayout35.xml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:main"/>
          <p:cNvSpPr txBox="1"/>
          <p:nvPr/>
        </p:nvSpPr>
        <p:spPr>
          <a:xfrm>
            <a:off x="431800" y="254000"/>
            <a:ext cx="11328400" cy="508000"/>
          </a:xfrm>
          <a:prstGeom prst="rect">
            <a:avLst/>
          </a:prstGeom>
          <a:noFill/>
        </p:spPr>
        <p:txBody>
          <a:bodyPr wrap="none" rtlCol="0" lIns="0" rIns="0" t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用矩阵把问题写清楚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/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/>
            </a:r>
          </a:p>
        </p:txBody>
      </p:sp>
      <p:sp>
        <p:nvSpPr>
          <p:cNvPr id="14" name="header-rule"/>
          <p:cNvSpPr/>
          <p:nvPr>
            <p:custDataLst>
              <p:tags r:id="rId2"/>
            </p:custDataLst>
          </p:nvPr>
        </p:nvSpPr>
        <p:spPr>
          <a:xfrm>
            <a:off x="431800" y="863600"/>
            <a:ext cx="11328400" cy="381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problem"/>
          <p:cNvSpPr txBox="1"/>
          <p:nvPr/>
        </p:nvSpPr>
        <p:spPr>
          <a:xfrm>
            <a:off x="431800" y="1117600"/>
            <a:ext cx="11328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求 J 的最小值：参数 β 改变线性项，第二个变量必须非负。</a:t>
            </a:r>
          </a:p>
        </p:txBody>
      </p:sp>
      <p:sp>
        <p:nvSpPr>
          <p:cNvPr id="16" name="code-panel:01-definition.tex"/>
          <p:cNvSpPr/>
          <p:nvPr/>
        </p:nvSpPr>
        <p:spPr>
          <a:xfrm>
            <a:off x="431800" y="1727200"/>
            <a:ext cx="5943600" cy="2921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hort:code-label"/>
          <p:cNvSpPr txBox="1"/>
          <p:nvPr/>
        </p:nvSpPr>
        <p:spPr>
          <a:xfrm>
            <a:off x="660400" y="2114550"/>
            <a:ext cx="548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93"/>
                </a:solidFill>
                <a:latin typeface="微软雅黑"/>
              </a:rPr>
              <a:t>LaTeX 源码</a:t>
            </a:r>
          </a:p>
        </p:txBody>
      </p:sp>
      <p:sp>
        <p:nvSpPr>
          <p:cNvPr id="18" name="code:01-definition.tex"/>
          <p:cNvSpPr txBox="1"/>
          <p:nvPr/>
        </p:nvSpPr>
        <p:spPr>
          <a:xfrm>
            <a:off x="673100" y="2546350"/>
            <a:ext cx="5486400" cy="2101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\[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Q=</a:t>
            </a:r>
            <a:r>
              <a:rPr sz="1200">
                <a:solidFill>
                  <a:srgbClr val="1F3A93"/>
                </a:solidFill>
                <a:latin typeface="Consolas"/>
              </a:rPr>
              <a:t>\begin</a:t>
            </a:r>
            <a:r>
              <a:rPr sz="1200">
                <a:solidFill>
                  <a:srgbClr val="333333"/>
                </a:solidFill>
                <a:latin typeface="Consolas"/>
              </a:rPr>
              <a:t>{pmatrix}2</a:t>
            </a:r>
            <a:r>
              <a:rPr sz="1200">
                <a:solidFill>
                  <a:srgbClr val="1F3A93"/>
                </a:solidFill>
                <a:latin typeface="Consolas"/>
              </a:rPr>
              <a:t>&amp;</a:t>
            </a:r>
            <a:r>
              <a:rPr sz="1200">
                <a:solidFill>
                  <a:srgbClr val="333333"/>
                </a:solidFill>
                <a:latin typeface="Consolas"/>
              </a:rPr>
              <a:t>1</a:t>
            </a:r>
            <a:r>
              <a:rPr sz="1200">
                <a:solidFill>
                  <a:srgbClr val="1F3A93"/>
                </a:solidFill>
                <a:latin typeface="Consolas"/>
              </a:rPr>
              <a:t>\\</a:t>
            </a:r>
            <a:r>
              <a:rPr sz="1200">
                <a:solidFill>
                  <a:srgbClr val="333333"/>
                </a:solidFill>
                <a:latin typeface="Consolas"/>
              </a:rPr>
              <a:t>1</a:t>
            </a:r>
            <a:r>
              <a:rPr sz="1200">
                <a:solidFill>
                  <a:srgbClr val="1F3A93"/>
                </a:solidFill>
                <a:latin typeface="Consolas"/>
              </a:rPr>
              <a:t>&amp;</a:t>
            </a:r>
            <a:r>
              <a:rPr sz="1200">
                <a:solidFill>
                  <a:srgbClr val="333333"/>
                </a:solidFill>
                <a:latin typeface="Consolas"/>
              </a:rPr>
              <a:t>2</a:t>
            </a:r>
            <a:r>
              <a:rPr sz="1200">
                <a:solidFill>
                  <a:srgbClr val="1F3A93"/>
                </a:solidFill>
                <a:latin typeface="Consolas"/>
              </a:rPr>
              <a:t>\end</a:t>
            </a:r>
            <a:r>
              <a:rPr sz="1200">
                <a:solidFill>
                  <a:srgbClr val="333333"/>
                </a:solidFill>
                <a:latin typeface="Consolas"/>
              </a:rPr>
              <a:t>{pmatrix},</a:t>
            </a:r>
            <a:r>
              <a:rPr sz="1200">
                <a:solidFill>
                  <a:srgbClr val="1F3A93"/>
                </a:solidFill>
                <a:latin typeface="Consolas"/>
              </a:rPr>
              <a:t>\qquad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b=</a:t>
            </a:r>
            <a:r>
              <a:rPr sz="1200">
                <a:solidFill>
                  <a:srgbClr val="1F3A93"/>
                </a:solidFill>
                <a:latin typeface="Consolas"/>
              </a:rPr>
              <a:t>\begin</a:t>
            </a:r>
            <a:r>
              <a:rPr sz="1200">
                <a:solidFill>
                  <a:srgbClr val="333333"/>
                </a:solidFill>
                <a:latin typeface="Consolas"/>
              </a:rPr>
              <a:t>{pmatrix}3</a:t>
            </a:r>
            <a:r>
              <a:rPr sz="1200">
                <a:solidFill>
                  <a:srgbClr val="1F3A93"/>
                </a:solidFill>
                <a:latin typeface="Consolas"/>
              </a:rPr>
              <a:t>\\</a:t>
            </a:r>
            <a:r>
              <a:rPr sz="1200">
                <a:solidFill>
                  <a:srgbClr val="1F3A93"/>
                </a:solidFill>
                <a:latin typeface="Consolas"/>
              </a:rPr>
              <a:t>\beta</a:t>
            </a:r>
            <a:r>
              <a:rPr sz="1200">
                <a:solidFill>
                  <a:srgbClr val="1F3A93"/>
                </a:solidFill>
                <a:latin typeface="Consolas"/>
              </a:rPr>
              <a:t>\end</a:t>
            </a:r>
            <a:r>
              <a:rPr sz="1200">
                <a:solidFill>
                  <a:srgbClr val="333333"/>
                </a:solidFill>
                <a:latin typeface="Consolas"/>
              </a:rPr>
              <a:t>{pmatrix},</a:t>
            </a:r>
            <a:r>
              <a:rPr sz="1200">
                <a:solidFill>
                  <a:srgbClr val="1F3A93"/>
                </a:solidFill>
                <a:latin typeface="Consolas"/>
              </a:rPr>
              <a:t>\qquad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x=</a:t>
            </a:r>
            <a:r>
              <a:rPr sz="1200">
                <a:solidFill>
                  <a:srgbClr val="1F3A93"/>
                </a:solidFill>
                <a:latin typeface="Consolas"/>
              </a:rPr>
              <a:t>\begin</a:t>
            </a:r>
            <a:r>
              <a:rPr sz="1200">
                <a:solidFill>
                  <a:srgbClr val="333333"/>
                </a:solidFill>
                <a:latin typeface="Consolas"/>
              </a:rPr>
              <a:t>{pmatrix}x_1</a:t>
            </a:r>
            <a:r>
              <a:rPr sz="1200">
                <a:solidFill>
                  <a:srgbClr val="1F3A93"/>
                </a:solidFill>
                <a:latin typeface="Consolas"/>
              </a:rPr>
              <a:t>\\</a:t>
            </a:r>
            <a:r>
              <a:rPr sz="1200">
                <a:solidFill>
                  <a:srgbClr val="333333"/>
                </a:solidFill>
                <a:latin typeface="Consolas"/>
              </a:rPr>
              <a:t>x_2</a:t>
            </a:r>
            <a:r>
              <a:rPr sz="1200">
                <a:solidFill>
                  <a:srgbClr val="1F3A93"/>
                </a:solidFill>
                <a:latin typeface="Consolas"/>
              </a:rPr>
              <a:t>\end</a:t>
            </a:r>
            <a:r>
              <a:rPr sz="1200">
                <a:solidFill>
                  <a:srgbClr val="333333"/>
                </a:solidFill>
                <a:latin typeface="Consolas"/>
              </a:rPr>
              <a:t>{pmatrix}.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\]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\begin</a:t>
            </a:r>
            <a:r>
              <a:rPr sz="1200">
                <a:solidFill>
                  <a:srgbClr val="333333"/>
                </a:solidFill>
                <a:latin typeface="Consolas"/>
              </a:rPr>
              <a:t>{equation}</a:t>
            </a:r>
            <a:r>
              <a:rPr sz="1200">
                <a:solidFill>
                  <a:srgbClr val="1F3A93"/>
                </a:solidFill>
                <a:latin typeface="Consolas"/>
              </a:rPr>
              <a:t>\label</a:t>
            </a:r>
            <a:r>
              <a:rPr sz="1200">
                <a:solidFill>
                  <a:srgbClr val="333333"/>
                </a:solidFill>
                <a:latin typeface="Consolas"/>
              </a:rPr>
              <a:t>{eq:objective}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J(x)=</a:t>
            </a:r>
            <a:r>
              <a:rPr sz="1200">
                <a:solidFill>
                  <a:srgbClr val="1F3A93"/>
                </a:solidFill>
                <a:latin typeface="Consolas"/>
              </a:rPr>
              <a:t>\frac</a:t>
            </a:r>
            <a:r>
              <a:rPr sz="1200">
                <a:solidFill>
                  <a:srgbClr val="333333"/>
                </a:solidFill>
                <a:latin typeface="Consolas"/>
              </a:rPr>
              <a:t>12 x^{</a:t>
            </a:r>
            <a:r>
              <a:rPr sz="1200">
                <a:solidFill>
                  <a:srgbClr val="1F3A93"/>
                </a:solidFill>
                <a:latin typeface="Consolas"/>
              </a:rPr>
              <a:t>\mathsf</a:t>
            </a:r>
            <a:r>
              <a:rPr sz="1200">
                <a:solidFill>
                  <a:srgbClr val="333333"/>
                </a:solidFill>
                <a:latin typeface="Consolas"/>
              </a:rPr>
              <a:t> T}Qx-b^{</a:t>
            </a:r>
            <a:r>
              <a:rPr sz="1200">
                <a:solidFill>
                  <a:srgbClr val="1F3A93"/>
                </a:solidFill>
                <a:latin typeface="Consolas"/>
              </a:rPr>
              <a:t>\mathsf</a:t>
            </a:r>
            <a:r>
              <a:rPr sz="1200">
                <a:solidFill>
                  <a:srgbClr val="333333"/>
                </a:solidFill>
                <a:latin typeface="Consolas"/>
              </a:rPr>
              <a:t> T}x,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\qquad</a:t>
            </a:r>
            <a:r>
              <a:rPr sz="1200">
                <a:solidFill>
                  <a:srgbClr val="333333"/>
                </a:solidFill>
                <a:latin typeface="Consolas"/>
              </a:rPr>
              <a:t> x_2</a:t>
            </a:r>
            <a:r>
              <a:rPr sz="1200">
                <a:solidFill>
                  <a:srgbClr val="1F3A93"/>
                </a:solidFill>
                <a:latin typeface="Consolas"/>
              </a:rPr>
              <a:t>\ge</a:t>
            </a:r>
            <a:r>
              <a:rPr sz="1200">
                <a:solidFill>
                  <a:srgbClr val="333333"/>
                </a:solidFill>
                <a:latin typeface="Consolas"/>
              </a:rPr>
              <a:t>0.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\end</a:t>
            </a:r>
            <a:r>
              <a:rPr sz="1200">
                <a:solidFill>
                  <a:srgbClr val="333333"/>
                </a:solidFill>
                <a:latin typeface="Consolas"/>
              </a:rPr>
              <a:t>{equation}</a:t>
            </a:r>
          </a:p>
        </p:txBody>
      </p:sp>
      <p:sp>
        <p:nvSpPr>
          <p:cNvPr id="19" name="result-panel:1"/>
          <p:cNvSpPr/>
          <p:nvPr/>
        </p:nvSpPr>
        <p:spPr>
          <a:xfrm>
            <a:off x="6680200" y="1727200"/>
            <a:ext cx="5080000" cy="2921000"/>
          </a:xfrm>
          <a:prstGeom prst="rect">
            <a:avLst/>
          </a:prstGeom>
          <a:solidFill>
            <a:srgbClr val="FFFFFF"/>
          </a:solidFill>
          <a:ln w="10160">
            <a:solidFill>
              <a:srgbClr val="3F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hort:result-label"/>
          <p:cNvSpPr txBox="1"/>
          <p:nvPr/>
        </p:nvSpPr>
        <p:spPr>
          <a:xfrm>
            <a:off x="6908800" y="2114550"/>
            <a:ext cx="4622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93"/>
                </a:solidFill>
                <a:latin typeface="微软雅黑"/>
              </a:rPr>
              <a:t>排版结果</a:t>
            </a:r>
          </a:p>
        </p:txBody>
      </p:sp>
      <p:pic>
        <p:nvPicPr>
          <p:cNvPr id="21" name="formula:tex-output-1" descr="formula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00" y="2952178"/>
            <a:ext cx="4622800" cy="1086993"/>
          </a:xfrm>
          <a:prstGeom prst="rect">
            <a:avLst/>
          </a:prstGeom>
        </p:spPr>
      </p:pic>
      <p:sp>
        <p:nvSpPr>
          <p:cNvPr id="22" name="node:package"/>
          <p:cNvSpPr/>
          <p:nvPr/>
        </p:nvSpPr>
        <p:spPr>
          <a:xfrm>
            <a:off x="431800" y="5080000"/>
            <a:ext cx="3581400" cy="9144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A93"/>
                </a:solidFill>
                <a:latin typeface="微软雅黑"/>
              </a:rPr>
              <a:t>导言区加载宏包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A93"/>
                </a:solidFill>
                <a:latin typeface="微软雅黑"/>
              </a:rPr>
              <a:t>\usepackage{amsmath}</a:t>
            </a:r>
          </a:p>
        </p:txBody>
      </p:sp>
      <p:sp>
        <p:nvSpPr>
          <p:cNvPr id="23" name="node:curvature"/>
          <p:cNvSpPr/>
          <p:nvPr/>
        </p:nvSpPr>
        <p:spPr>
          <a:xfrm>
            <a:off x="4305300" y="5080000"/>
            <a:ext cx="3581400" cy="9144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A93"/>
                </a:solidFill>
                <a:latin typeface="微软雅黑"/>
              </a:rPr>
              <a:t>曲率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A93"/>
                </a:solidFill>
                <a:latin typeface="微软雅黑"/>
              </a:rPr>
              <a:t>Q 的特征值为 1 和 3</a:t>
            </a:r>
          </a:p>
        </p:txBody>
      </p:sp>
      <p:sp>
        <p:nvSpPr>
          <p:cNvPr id="24" name="node:feasible"/>
          <p:cNvSpPr/>
          <p:nvPr/>
        </p:nvSpPr>
        <p:spPr>
          <a:xfrm>
            <a:off x="8178800" y="5080000"/>
            <a:ext cx="3581400" cy="9144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A93"/>
                </a:solidFill>
                <a:latin typeface="微软雅黑"/>
              </a:rPr>
              <a:t>可行域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A93"/>
                </a:solidFill>
                <a:latin typeface="微软雅黑"/>
              </a:rPr>
              <a:t>x₂ ≥ 0，最优解唯一</a:t>
            </a:r>
          </a:p>
        </p:txBody>
      </p:sp>
      <p:sp>
        <p:nvSpPr>
          <p:cNvPr id="25" name="page-number:actual"/>
          <p:cNvSpPr txBox="1"/>
          <p:nvPr/>
        </p:nvSpPr>
        <p:spPr>
          <a:xfrm>
            <a:off x="11163300" y="6337300"/>
            <a:ext cx="5969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1/5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main"/>
          <p:cNvSpPr txBox="1"/>
          <p:nvPr/>
        </p:nvSpPr>
        <p:spPr>
          <a:xfrm>
            <a:off x="431800" y="254000"/>
            <a:ext cx="11328400" cy="508000"/>
          </a:xfrm>
          <a:prstGeom prst="rect">
            <a:avLst/>
          </a:prstGeom>
          <a:noFill/>
        </p:spPr>
        <p:txBody>
          <a:bodyPr wrap="none" rtlCol="0" lIns="0" rIns="0" t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align：让驻点条件逐行可追踪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/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/>
            </a:r>
          </a:p>
        </p:txBody>
      </p:sp>
      <p:sp>
        <p:nvSpPr>
          <p:cNvPr id="4" name="header-rule"/>
          <p:cNvSpPr/>
          <p:nvPr>
            <p:custDataLst>
              <p:tags r:id="rId2"/>
            </p:custDataLst>
          </p:nvPr>
        </p:nvSpPr>
        <p:spPr>
          <a:xfrm>
            <a:off x="431800" y="863600"/>
            <a:ext cx="11328400" cy="381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code-panel:02-align.tex"/>
          <p:cNvSpPr/>
          <p:nvPr/>
        </p:nvSpPr>
        <p:spPr>
          <a:xfrm>
            <a:off x="431800" y="1320800"/>
            <a:ext cx="5943600" cy="33528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ort:code-label"/>
          <p:cNvSpPr txBox="1"/>
          <p:nvPr/>
        </p:nvSpPr>
        <p:spPr>
          <a:xfrm>
            <a:off x="660400" y="1663700"/>
            <a:ext cx="548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93"/>
                </a:solidFill>
                <a:latin typeface="微软雅黑"/>
              </a:rPr>
              <a:t>LaTeX 源码</a:t>
            </a:r>
          </a:p>
        </p:txBody>
      </p:sp>
      <p:sp>
        <p:nvSpPr>
          <p:cNvPr id="7" name="code:02-align.tex"/>
          <p:cNvSpPr txBox="1"/>
          <p:nvPr/>
        </p:nvSpPr>
        <p:spPr>
          <a:xfrm>
            <a:off x="673100" y="2095500"/>
            <a:ext cx="5486400" cy="2578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3A93"/>
                </a:solidFill>
                <a:latin typeface="Consolas"/>
              </a:rPr>
              <a:t>\begin</a:t>
            </a:r>
            <a:r>
              <a:rPr sz="1300">
                <a:solidFill>
                  <a:srgbClr val="333333"/>
                </a:solidFill>
                <a:latin typeface="Consolas"/>
              </a:rPr>
              <a:t>{align}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3A93"/>
                </a:solidFill>
                <a:latin typeface="Consolas"/>
              </a:rPr>
              <a:t>\nabla</a:t>
            </a:r>
            <a:r>
              <a:rPr sz="1300">
                <a:solidFill>
                  <a:srgbClr val="333333"/>
                </a:solidFill>
                <a:latin typeface="Consolas"/>
              </a:rPr>
              <a:t> J(x)</a:t>
            </a:r>
            <a:r>
              <a:rPr sz="1300">
                <a:solidFill>
                  <a:srgbClr val="1F3A93"/>
                </a:solidFill>
                <a:latin typeface="Consolas"/>
              </a:rPr>
              <a:t>&amp;</a:t>
            </a:r>
            <a:r>
              <a:rPr sz="1300">
                <a:solidFill>
                  <a:srgbClr val="333333"/>
                </a:solidFill>
                <a:latin typeface="Consolas"/>
              </a:rPr>
              <a:t>=Qx-b=0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</a:t>
            </a:r>
            <a:r>
              <a:rPr sz="1300">
                <a:solidFill>
                  <a:srgbClr val="1F3A93"/>
                </a:solidFill>
                <a:latin typeface="Consolas"/>
              </a:rPr>
              <a:t>\label</a:t>
            </a:r>
            <a:r>
              <a:rPr sz="1300">
                <a:solidFill>
                  <a:srgbClr val="333333"/>
                </a:solidFill>
                <a:latin typeface="Consolas"/>
              </a:rPr>
              <a:t>{eq:stationary}</a:t>
            </a:r>
            <a:r>
              <a:rPr sz="1300">
                <a:solidFill>
                  <a:srgbClr val="1F3A93"/>
                </a:solidFill>
                <a:latin typeface="Consolas"/>
              </a:rPr>
              <a:t>\\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2x_1+x_2</a:t>
            </a:r>
            <a:r>
              <a:rPr sz="1300">
                <a:solidFill>
                  <a:srgbClr val="1F3A93"/>
                </a:solidFill>
                <a:latin typeface="Consolas"/>
              </a:rPr>
              <a:t>&amp;</a:t>
            </a:r>
            <a:r>
              <a:rPr sz="1300">
                <a:solidFill>
                  <a:srgbClr val="333333"/>
                </a:solidFill>
                <a:latin typeface="Consolas"/>
              </a:rPr>
              <a:t>=3 </a:t>
            </a:r>
            <a:r>
              <a:rPr sz="1300">
                <a:solidFill>
                  <a:srgbClr val="1F3A93"/>
                </a:solidFill>
                <a:latin typeface="Consolas"/>
              </a:rPr>
              <a:t>\notag</a:t>
            </a:r>
            <a:r>
              <a:rPr sz="1300">
                <a:solidFill>
                  <a:srgbClr val="1F3A93"/>
                </a:solidFill>
                <a:latin typeface="Consolas"/>
              </a:rPr>
              <a:t>\\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x_1+2x_2</a:t>
            </a:r>
            <a:r>
              <a:rPr sz="1300">
                <a:solidFill>
                  <a:srgbClr val="1F3A93"/>
                </a:solidFill>
                <a:latin typeface="Consolas"/>
              </a:rPr>
              <a:t>&amp;</a:t>
            </a:r>
            <a:r>
              <a:rPr sz="1300">
                <a:solidFill>
                  <a:srgbClr val="333333"/>
                </a:solidFill>
                <a:latin typeface="Consolas"/>
              </a:rPr>
              <a:t>=</a:t>
            </a:r>
            <a:r>
              <a:rPr sz="1300">
                <a:solidFill>
                  <a:srgbClr val="1F3A93"/>
                </a:solidFill>
                <a:latin typeface="Consolas"/>
              </a:rPr>
              <a:t>\beta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</a:t>
            </a:r>
            <a:r>
              <a:rPr sz="1300">
                <a:solidFill>
                  <a:srgbClr val="1F3A93"/>
                </a:solidFill>
                <a:latin typeface="Consolas"/>
              </a:rPr>
              <a:t>\label</a:t>
            </a:r>
            <a:r>
              <a:rPr sz="1300">
                <a:solidFill>
                  <a:srgbClr val="333333"/>
                </a:solidFill>
                <a:latin typeface="Consolas"/>
              </a:rPr>
              <a:t>{eq:system}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3A93"/>
                </a:solidFill>
                <a:latin typeface="Consolas"/>
              </a:rPr>
              <a:t>\end</a:t>
            </a:r>
            <a:r>
              <a:rPr sz="1300">
                <a:solidFill>
                  <a:srgbClr val="333333"/>
                </a:solidFill>
                <a:latin typeface="Consolas"/>
              </a:rPr>
              <a:t>{align}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3A93"/>
                </a:solidFill>
                <a:latin typeface="Consolas"/>
              </a:rPr>
              <a:t>\[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x^{</a:t>
            </a:r>
            <a:r>
              <a:rPr sz="1300">
                <a:solidFill>
                  <a:srgbClr val="1F3A93"/>
                </a:solidFill>
                <a:latin typeface="Consolas"/>
              </a:rPr>
              <a:t>\mathrm</a:t>
            </a:r>
            <a:r>
              <a:rPr sz="1300">
                <a:solidFill>
                  <a:srgbClr val="333333"/>
                </a:solidFill>
                <a:latin typeface="Consolas"/>
              </a:rPr>
              <a:t> u}=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3A93"/>
                </a:solidFill>
                <a:latin typeface="Consolas"/>
              </a:rPr>
              <a:t>\begin</a:t>
            </a:r>
            <a:r>
              <a:rPr sz="1300">
                <a:solidFill>
                  <a:srgbClr val="333333"/>
                </a:solidFill>
                <a:latin typeface="Consolas"/>
              </a:rPr>
              <a:t>{pmatrix}2-</a:t>
            </a:r>
            <a:r>
              <a:rPr sz="1300">
                <a:solidFill>
                  <a:srgbClr val="1F3A93"/>
                </a:solidFill>
                <a:latin typeface="Consolas"/>
              </a:rPr>
              <a:t>\beta</a:t>
            </a:r>
            <a:r>
              <a:rPr sz="1300">
                <a:solidFill>
                  <a:srgbClr val="333333"/>
                </a:solidFill>
                <a:latin typeface="Consolas"/>
              </a:rPr>
              <a:t>/3</a:t>
            </a:r>
            <a:r>
              <a:rPr sz="1300">
                <a:solidFill>
                  <a:srgbClr val="1F3A93"/>
                </a:solidFill>
                <a:latin typeface="Consolas"/>
              </a:rPr>
              <a:t>\\</a:t>
            </a:r>
            <a:r>
              <a:rPr sz="1300">
                <a:solidFill>
                  <a:srgbClr val="333333"/>
                </a:solidFill>
                <a:latin typeface="Consolas"/>
              </a:rPr>
              <a:t>2</a:t>
            </a:r>
            <a:r>
              <a:rPr sz="1300">
                <a:solidFill>
                  <a:srgbClr val="1F3A93"/>
                </a:solidFill>
                <a:latin typeface="Consolas"/>
              </a:rPr>
              <a:t>\beta</a:t>
            </a:r>
            <a:r>
              <a:rPr sz="1300">
                <a:solidFill>
                  <a:srgbClr val="333333"/>
                </a:solidFill>
                <a:latin typeface="Consolas"/>
              </a:rPr>
              <a:t>/3-1</a:t>
            </a:r>
            <a:r>
              <a:rPr sz="1300">
                <a:solidFill>
                  <a:srgbClr val="1F3A93"/>
                </a:solidFill>
                <a:latin typeface="Consolas"/>
              </a:rPr>
              <a:t>\end</a:t>
            </a:r>
            <a:r>
              <a:rPr sz="1300">
                <a:solidFill>
                  <a:srgbClr val="333333"/>
                </a:solidFill>
                <a:latin typeface="Consolas"/>
              </a:rPr>
              <a:t>{pmatrix}.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3A93"/>
                </a:solidFill>
                <a:latin typeface="Consolas"/>
              </a:rPr>
              <a:t>\]</a:t>
            </a:r>
          </a:p>
        </p:txBody>
      </p:sp>
      <p:sp>
        <p:nvSpPr>
          <p:cNvPr id="8" name="result-panel:2"/>
          <p:cNvSpPr/>
          <p:nvPr/>
        </p:nvSpPr>
        <p:spPr>
          <a:xfrm>
            <a:off x="6680200" y="1320800"/>
            <a:ext cx="5080000" cy="3352800"/>
          </a:xfrm>
          <a:prstGeom prst="rect">
            <a:avLst/>
          </a:prstGeom>
          <a:solidFill>
            <a:srgbClr val="FFFFFF"/>
          </a:solidFill>
          <a:ln w="10160">
            <a:solidFill>
              <a:srgbClr val="3F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ort:result-label"/>
          <p:cNvSpPr txBox="1"/>
          <p:nvPr/>
        </p:nvSpPr>
        <p:spPr>
          <a:xfrm>
            <a:off x="6908800" y="1663700"/>
            <a:ext cx="4622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93"/>
                </a:solidFill>
                <a:latin typeface="微软雅黑"/>
              </a:rPr>
              <a:t>排版结果</a:t>
            </a:r>
          </a:p>
        </p:txBody>
      </p:sp>
      <p:pic>
        <p:nvPicPr>
          <p:cNvPr id="10" name="formula:tex-output-2" descr="formula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00" y="2239751"/>
            <a:ext cx="4622800" cy="2086396"/>
          </a:xfrm>
          <a:prstGeom prst="rect">
            <a:avLst/>
          </a:prstGeom>
        </p:spPr>
      </p:pic>
      <p:sp>
        <p:nvSpPr>
          <p:cNvPr id="11" name="align-explanation"/>
          <p:cNvSpPr txBox="1"/>
          <p:nvPr/>
        </p:nvSpPr>
        <p:spPr>
          <a:xfrm>
            <a:off x="431800" y="4864100"/>
            <a:ext cx="11328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&amp; 放在等号前形成对齐锚点；\\ 分行，\notag 去掉当前行的编号。</a:t>
            </a:r>
          </a:p>
        </p:txBody>
      </p:sp>
      <p:sp>
        <p:nvSpPr>
          <p:cNvPr id="12" name="node:stationary"/>
          <p:cNvSpPr/>
          <p:nvPr/>
        </p:nvSpPr>
        <p:spPr>
          <a:xfrm>
            <a:off x="431800" y="5422900"/>
            <a:ext cx="3175000" cy="558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3A93"/>
                </a:solidFill>
                <a:latin typeface="微软雅黑"/>
              </a:rPr>
              <a:t>梯度为零</a:t>
            </a:r>
          </a:p>
        </p:txBody>
      </p:sp>
      <p:sp>
        <p:nvSpPr>
          <p:cNvPr id="13" name="node:solve"/>
          <p:cNvSpPr/>
          <p:nvPr/>
        </p:nvSpPr>
        <p:spPr>
          <a:xfrm>
            <a:off x="4508500" y="5422900"/>
            <a:ext cx="3175000" cy="558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3A93"/>
                </a:solidFill>
                <a:latin typeface="微软雅黑"/>
              </a:rPr>
              <a:t>解出无约束候选</a:t>
            </a:r>
          </a:p>
        </p:txBody>
      </p:sp>
      <p:sp>
        <p:nvSpPr>
          <p:cNvPr id="14" name="node:check"/>
          <p:cNvSpPr/>
          <p:nvPr/>
        </p:nvSpPr>
        <p:spPr>
          <a:xfrm>
            <a:off x="8585200" y="5422900"/>
            <a:ext cx="3175000" cy="558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3A93"/>
                </a:solidFill>
                <a:latin typeface="微软雅黑"/>
              </a:rPr>
              <a:t>检查 x₂ 是否非负</a:t>
            </a:r>
          </a:p>
        </p:txBody>
      </p:sp>
      <p:cxnSp>
        <p:nvCxnSpPr>
          <p:cNvPr id="15" name="relation:node:stationary-&gt;node:solve"/>
          <p:cNvCxnSpPr/>
          <p:nvPr/>
        </p:nvCxnSpPr>
        <p:spPr>
          <a:xfrm>
            <a:off x="3606800" y="5702300"/>
            <a:ext cx="901700" cy="0"/>
          </a:xfrm>
          <a:prstGeom prst="line">
            <a:avLst/>
          </a:prstGeom>
          <a:ln w="1778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lation:node:solve-&gt;node:check"/>
          <p:cNvCxnSpPr/>
          <p:nvPr/>
        </p:nvCxnSpPr>
        <p:spPr>
          <a:xfrm>
            <a:off x="7683500" y="5702300"/>
            <a:ext cx="901700" cy="0"/>
          </a:xfrm>
          <a:prstGeom prst="line">
            <a:avLst/>
          </a:prstGeom>
          <a:ln w="1778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age-number:actual"/>
          <p:cNvSpPr txBox="1"/>
          <p:nvPr/>
        </p:nvSpPr>
        <p:spPr>
          <a:xfrm>
            <a:off x="11163300" y="6337300"/>
            <a:ext cx="5969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2/5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main"/>
          <p:cNvSpPr txBox="1"/>
          <p:nvPr/>
        </p:nvSpPr>
        <p:spPr>
          <a:xfrm>
            <a:off x="431800" y="254000"/>
            <a:ext cx="11328400" cy="508000"/>
          </a:xfrm>
          <a:prstGeom prst="rect">
            <a:avLst/>
          </a:prstGeom>
          <a:noFill/>
        </p:spPr>
        <p:txBody>
          <a:bodyPr wrap="none" rtlCol="0" lIns="0" rIns="0" t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split：长推导保持一个编号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/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/>
            </a:r>
          </a:p>
        </p:txBody>
      </p:sp>
      <p:sp>
        <p:nvSpPr>
          <p:cNvPr id="5" name="header-rule"/>
          <p:cNvSpPr/>
          <p:nvPr>
            <p:custDataLst>
              <p:tags r:id="rId2"/>
            </p:custDataLst>
          </p:nvPr>
        </p:nvSpPr>
        <p:spPr>
          <a:xfrm>
            <a:off x="431800" y="863600"/>
            <a:ext cx="11328400" cy="381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node:fix"/>
          <p:cNvSpPr/>
          <p:nvPr/>
        </p:nvSpPr>
        <p:spPr>
          <a:xfrm>
            <a:off x="431800" y="1282700"/>
            <a:ext cx="3175000" cy="609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3A93"/>
                </a:solidFill>
                <a:latin typeface="微软雅黑"/>
              </a:rPr>
              <a:t>固定 x₂ = t ≥ 0</a:t>
            </a:r>
          </a:p>
        </p:txBody>
      </p:sp>
      <p:sp>
        <p:nvSpPr>
          <p:cNvPr id="7" name="node:eliminate"/>
          <p:cNvSpPr/>
          <p:nvPr/>
        </p:nvSpPr>
        <p:spPr>
          <a:xfrm>
            <a:off x="4508500" y="1282700"/>
            <a:ext cx="3175000" cy="609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3A93"/>
                </a:solidFill>
                <a:latin typeface="微软雅黑"/>
              </a:rPr>
              <a:t>按 x₁ 最小化</a:t>
            </a:r>
          </a:p>
        </p:txBody>
      </p:sp>
      <p:sp>
        <p:nvSpPr>
          <p:cNvPr id="8" name="node:reduce"/>
          <p:cNvSpPr/>
          <p:nvPr/>
        </p:nvSpPr>
        <p:spPr>
          <a:xfrm>
            <a:off x="8585200" y="1282700"/>
            <a:ext cx="3175000" cy="609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3A93"/>
                </a:solidFill>
                <a:latin typeface="微软雅黑"/>
              </a:rPr>
              <a:t>得到一元函数 g(t)</a:t>
            </a:r>
          </a:p>
        </p:txBody>
      </p:sp>
      <p:cxnSp>
        <p:nvCxnSpPr>
          <p:cNvPr id="9" name="relation:node:fix-&gt;node:eliminate"/>
          <p:cNvCxnSpPr/>
          <p:nvPr/>
        </p:nvCxnSpPr>
        <p:spPr>
          <a:xfrm>
            <a:off x="3606800" y="1587500"/>
            <a:ext cx="901700" cy="0"/>
          </a:xfrm>
          <a:prstGeom prst="line">
            <a:avLst/>
          </a:prstGeom>
          <a:ln w="1778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lation:node:eliminate-&gt;node:reduce"/>
          <p:cNvCxnSpPr/>
          <p:nvPr/>
        </p:nvCxnSpPr>
        <p:spPr>
          <a:xfrm>
            <a:off x="7683500" y="1587500"/>
            <a:ext cx="901700" cy="0"/>
          </a:xfrm>
          <a:prstGeom prst="line">
            <a:avLst/>
          </a:prstGeom>
          <a:ln w="1778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de-panel:03-split.tex"/>
          <p:cNvSpPr/>
          <p:nvPr/>
        </p:nvSpPr>
        <p:spPr>
          <a:xfrm>
            <a:off x="431800" y="2286000"/>
            <a:ext cx="5943600" cy="37084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hort:code-label"/>
          <p:cNvSpPr txBox="1"/>
          <p:nvPr/>
        </p:nvSpPr>
        <p:spPr>
          <a:xfrm>
            <a:off x="660400" y="2844800"/>
            <a:ext cx="548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93"/>
                </a:solidFill>
                <a:latin typeface="微软雅黑"/>
              </a:rPr>
              <a:t>LaTeX 源码</a:t>
            </a:r>
          </a:p>
        </p:txBody>
      </p:sp>
      <p:sp>
        <p:nvSpPr>
          <p:cNvPr id="13" name="code:03-split.tex"/>
          <p:cNvSpPr txBox="1"/>
          <p:nvPr/>
        </p:nvSpPr>
        <p:spPr>
          <a:xfrm>
            <a:off x="673100" y="3276600"/>
            <a:ext cx="5486400" cy="271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3A93"/>
                </a:solidFill>
                <a:latin typeface="Consolas"/>
              </a:rPr>
              <a:t>\begin</a:t>
            </a:r>
            <a:r>
              <a:rPr sz="1400">
                <a:solidFill>
                  <a:srgbClr val="333333"/>
                </a:solidFill>
                <a:latin typeface="Consolas"/>
              </a:rPr>
              <a:t>{equation}</a:t>
            </a:r>
            <a:r>
              <a:rPr sz="1400">
                <a:solidFill>
                  <a:srgbClr val="1F3A93"/>
                </a:solidFill>
                <a:latin typeface="Consolas"/>
              </a:rPr>
              <a:t>\label</a:t>
            </a:r>
            <a:r>
              <a:rPr sz="1400">
                <a:solidFill>
                  <a:srgbClr val="333333"/>
                </a:solidFill>
                <a:latin typeface="Consolas"/>
              </a:rPr>
              <a:t>{eq:reduced}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3A93"/>
                </a:solidFill>
                <a:latin typeface="Consolas"/>
              </a:rPr>
              <a:t>\begin</a:t>
            </a:r>
            <a:r>
              <a:rPr sz="1400">
                <a:solidFill>
                  <a:srgbClr val="333333"/>
                </a:solidFill>
                <a:latin typeface="Consolas"/>
              </a:rPr>
              <a:t>{split}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g(t)</a:t>
            </a:r>
            <a:r>
              <a:rPr sz="1400">
                <a:solidFill>
                  <a:srgbClr val="1F3A93"/>
                </a:solidFill>
                <a:latin typeface="Consolas"/>
              </a:rPr>
              <a:t>&amp;</a:t>
            </a:r>
            <a:r>
              <a:rPr sz="1400">
                <a:solidFill>
                  <a:srgbClr val="333333"/>
                </a:solidFill>
                <a:latin typeface="Consolas"/>
              </a:rPr>
              <a:t>=J\!</a:t>
            </a:r>
            <a:r>
              <a:rPr sz="1400">
                <a:solidFill>
                  <a:srgbClr val="1F3A93"/>
                </a:solidFill>
                <a:latin typeface="Consolas"/>
              </a:rPr>
              <a:t>\left</a:t>
            </a:r>
            <a:r>
              <a:rPr sz="1400">
                <a:solidFill>
                  <a:srgbClr val="333333"/>
                </a:solidFill>
                <a:latin typeface="Consolas"/>
              </a:rPr>
              <a:t>(</a:t>
            </a:r>
            <a:r>
              <a:rPr sz="1400">
                <a:solidFill>
                  <a:srgbClr val="1F3A93"/>
                </a:solidFill>
                <a:latin typeface="Consolas"/>
              </a:rPr>
              <a:t>\frac</a:t>
            </a:r>
            <a:r>
              <a:rPr sz="1400">
                <a:solidFill>
                  <a:srgbClr val="333333"/>
                </a:solidFill>
                <a:latin typeface="Consolas"/>
              </a:rPr>
              <a:t>{3-t}{2},t</a:t>
            </a:r>
            <a:r>
              <a:rPr sz="1400">
                <a:solidFill>
                  <a:srgbClr val="1F3A93"/>
                </a:solidFill>
                <a:latin typeface="Consolas"/>
              </a:rPr>
              <a:t>\right</a:t>
            </a:r>
            <a:r>
              <a:rPr sz="1400">
                <a:solidFill>
                  <a:srgbClr val="333333"/>
                </a:solidFill>
                <a:latin typeface="Consolas"/>
              </a:rPr>
              <a:t>)</a:t>
            </a:r>
            <a:r>
              <a:rPr sz="1400">
                <a:solidFill>
                  <a:srgbClr val="1F3A93"/>
                </a:solidFill>
                <a:latin typeface="Consolas"/>
              </a:rPr>
              <a:t>\\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3A93"/>
                </a:solidFill>
                <a:latin typeface="Consolas"/>
              </a:rPr>
              <a:t>&amp;</a:t>
            </a:r>
            <a:r>
              <a:rPr sz="1400">
                <a:solidFill>
                  <a:srgbClr val="333333"/>
                </a:solidFill>
                <a:latin typeface="Consolas"/>
              </a:rPr>
              <a:t>=</a:t>
            </a:r>
            <a:r>
              <a:rPr sz="1400">
                <a:solidFill>
                  <a:srgbClr val="1F3A93"/>
                </a:solidFill>
                <a:latin typeface="Consolas"/>
              </a:rPr>
              <a:t>\left</a:t>
            </a:r>
            <a:r>
              <a:rPr sz="1400">
                <a:solidFill>
                  <a:srgbClr val="333333"/>
                </a:solidFill>
                <a:latin typeface="Consolas"/>
              </a:rPr>
              <a:t>(</a:t>
            </a:r>
            <a:r>
              <a:rPr sz="1400">
                <a:solidFill>
                  <a:srgbClr val="1F3A93"/>
                </a:solidFill>
                <a:latin typeface="Consolas"/>
              </a:rPr>
              <a:t>\frac</a:t>
            </a:r>
            <a:r>
              <a:rPr sz="1400">
                <a:solidFill>
                  <a:srgbClr val="333333"/>
                </a:solidFill>
                <a:latin typeface="Consolas"/>
              </a:rPr>
              <a:t>{3-t}{2}</a:t>
            </a:r>
            <a:r>
              <a:rPr sz="1400">
                <a:solidFill>
                  <a:srgbClr val="1F3A93"/>
                </a:solidFill>
                <a:latin typeface="Consolas"/>
              </a:rPr>
              <a:t>\right</a:t>
            </a:r>
            <a:r>
              <a:rPr sz="1400">
                <a:solidFill>
                  <a:srgbClr val="333333"/>
                </a:solidFill>
                <a:latin typeface="Consolas"/>
              </a:rPr>
              <a:t>)^2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  +</a:t>
            </a:r>
            <a:r>
              <a:rPr sz="1400">
                <a:solidFill>
                  <a:srgbClr val="1F3A93"/>
                </a:solidFill>
                <a:latin typeface="Consolas"/>
              </a:rPr>
              <a:t>\frac</a:t>
            </a:r>
            <a:r>
              <a:rPr sz="1400">
                <a:solidFill>
                  <a:srgbClr val="333333"/>
                </a:solidFill>
                <a:latin typeface="Consolas"/>
              </a:rPr>
              <a:t>{3-t}{2}t+t^2</a:t>
            </a:r>
            <a:r>
              <a:rPr sz="1400">
                <a:solidFill>
                  <a:srgbClr val="1F3A93"/>
                </a:solidFill>
                <a:latin typeface="Consolas"/>
              </a:rPr>
              <a:t>\\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3A93"/>
                </a:solidFill>
                <a:latin typeface="Consolas"/>
              </a:rPr>
              <a:t>&amp;</a:t>
            </a:r>
            <a:r>
              <a:rPr sz="1400">
                <a:solidFill>
                  <a:srgbClr val="1F3A93"/>
                </a:solidFill>
                <a:latin typeface="Consolas"/>
              </a:rPr>
              <a:t>\quad</a:t>
            </a:r>
            <a:r>
              <a:rPr sz="1400">
                <a:solidFill>
                  <a:srgbClr val="333333"/>
                </a:solidFill>
                <a:latin typeface="Consolas"/>
              </a:rPr>
              <a:t>-3</a:t>
            </a:r>
            <a:r>
              <a:rPr sz="1400">
                <a:solidFill>
                  <a:srgbClr val="1F3A93"/>
                </a:solidFill>
                <a:latin typeface="Consolas"/>
              </a:rPr>
              <a:t>\frac</a:t>
            </a:r>
            <a:r>
              <a:rPr sz="1400">
                <a:solidFill>
                  <a:srgbClr val="333333"/>
                </a:solidFill>
                <a:latin typeface="Consolas"/>
              </a:rPr>
              <a:t>{3-t}{2}-</a:t>
            </a:r>
            <a:r>
              <a:rPr sz="1400">
                <a:solidFill>
                  <a:srgbClr val="1F3A93"/>
                </a:solidFill>
                <a:latin typeface="Consolas"/>
              </a:rPr>
              <a:t>\beta</a:t>
            </a:r>
            <a:r>
              <a:rPr sz="1400">
                <a:solidFill>
                  <a:srgbClr val="333333"/>
                </a:solidFill>
                <a:latin typeface="Consolas"/>
              </a:rPr>
              <a:t> t</a:t>
            </a:r>
            <a:r>
              <a:rPr sz="1400">
                <a:solidFill>
                  <a:srgbClr val="1F3A93"/>
                </a:solidFill>
                <a:latin typeface="Consolas"/>
              </a:rPr>
              <a:t>\\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3A93"/>
                </a:solidFill>
                <a:latin typeface="Consolas"/>
              </a:rPr>
              <a:t>&amp;</a:t>
            </a:r>
            <a:r>
              <a:rPr sz="1400">
                <a:solidFill>
                  <a:srgbClr val="333333"/>
                </a:solidFill>
                <a:latin typeface="Consolas"/>
              </a:rPr>
              <a:t>=</a:t>
            </a:r>
            <a:r>
              <a:rPr sz="1400">
                <a:solidFill>
                  <a:srgbClr val="1F3A93"/>
                </a:solidFill>
                <a:latin typeface="Consolas"/>
              </a:rPr>
              <a:t>\frac</a:t>
            </a:r>
            <a:r>
              <a:rPr sz="1400">
                <a:solidFill>
                  <a:srgbClr val="333333"/>
                </a:solidFill>
                <a:latin typeface="Consolas"/>
              </a:rPr>
              <a:t>34t^2+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  </a:t>
            </a:r>
            <a:r>
              <a:rPr sz="1400">
                <a:solidFill>
                  <a:srgbClr val="1F3A93"/>
                </a:solidFill>
                <a:latin typeface="Consolas"/>
              </a:rPr>
              <a:t>\left</a:t>
            </a:r>
            <a:r>
              <a:rPr sz="1400">
                <a:solidFill>
                  <a:srgbClr val="333333"/>
                </a:solidFill>
                <a:latin typeface="Consolas"/>
              </a:rPr>
              <a:t>(</a:t>
            </a:r>
            <a:r>
              <a:rPr sz="1400">
                <a:solidFill>
                  <a:srgbClr val="1F3A93"/>
                </a:solidFill>
                <a:latin typeface="Consolas"/>
              </a:rPr>
              <a:t>\frac</a:t>
            </a:r>
            <a:r>
              <a:rPr sz="1400">
                <a:solidFill>
                  <a:srgbClr val="333333"/>
                </a:solidFill>
                <a:latin typeface="Consolas"/>
              </a:rPr>
              <a:t>32-</a:t>
            </a:r>
            <a:r>
              <a:rPr sz="1400">
                <a:solidFill>
                  <a:srgbClr val="1F3A93"/>
                </a:solidFill>
                <a:latin typeface="Consolas"/>
              </a:rPr>
              <a:t>\beta</a:t>
            </a:r>
            <a:r>
              <a:rPr sz="1400">
                <a:solidFill>
                  <a:srgbClr val="1F3A93"/>
                </a:solidFill>
                <a:latin typeface="Consolas"/>
              </a:rPr>
              <a:t>\right</a:t>
            </a:r>
            <a:r>
              <a:rPr sz="1400">
                <a:solidFill>
                  <a:srgbClr val="333333"/>
                </a:solidFill>
                <a:latin typeface="Consolas"/>
              </a:rPr>
              <a:t>)t-</a:t>
            </a:r>
            <a:r>
              <a:rPr sz="1400">
                <a:solidFill>
                  <a:srgbClr val="1F3A93"/>
                </a:solidFill>
                <a:latin typeface="Consolas"/>
              </a:rPr>
              <a:t>\frac</a:t>
            </a:r>
            <a:r>
              <a:rPr sz="1400">
                <a:solidFill>
                  <a:srgbClr val="333333"/>
                </a:solidFill>
                <a:latin typeface="Consolas"/>
              </a:rPr>
              <a:t>94.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3A93"/>
                </a:solidFill>
                <a:latin typeface="Consolas"/>
              </a:rPr>
              <a:t>\end</a:t>
            </a:r>
            <a:r>
              <a:rPr sz="1400">
                <a:solidFill>
                  <a:srgbClr val="333333"/>
                </a:solidFill>
                <a:latin typeface="Consolas"/>
              </a:rPr>
              <a:t>{split}</a:t>
            </a:r>
          </a:p>
          <a:p>
            <a:p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3A93"/>
                </a:solidFill>
                <a:latin typeface="Consolas"/>
              </a:rPr>
              <a:t>\end</a:t>
            </a:r>
            <a:r>
              <a:rPr sz="1400">
                <a:solidFill>
                  <a:srgbClr val="333333"/>
                </a:solidFill>
                <a:latin typeface="Consolas"/>
              </a:rPr>
              <a:t>{equation}</a:t>
            </a:r>
          </a:p>
        </p:txBody>
      </p:sp>
      <p:sp>
        <p:nvSpPr>
          <p:cNvPr id="14" name="result-panel:3"/>
          <p:cNvSpPr/>
          <p:nvPr/>
        </p:nvSpPr>
        <p:spPr>
          <a:xfrm>
            <a:off x="6680200" y="2286000"/>
            <a:ext cx="5080000" cy="3708400"/>
          </a:xfrm>
          <a:prstGeom prst="rect">
            <a:avLst/>
          </a:prstGeom>
          <a:solidFill>
            <a:srgbClr val="FFFFFF"/>
          </a:solidFill>
          <a:ln w="10160">
            <a:solidFill>
              <a:srgbClr val="3F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hort:result-label"/>
          <p:cNvSpPr txBox="1"/>
          <p:nvPr/>
        </p:nvSpPr>
        <p:spPr>
          <a:xfrm>
            <a:off x="6908800" y="2844800"/>
            <a:ext cx="4622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93"/>
                </a:solidFill>
                <a:latin typeface="微软雅黑"/>
              </a:rPr>
              <a:t>equation 给整段推导编号</a:t>
            </a:r>
          </a:p>
        </p:txBody>
      </p:sp>
      <p:pic>
        <p:nvPicPr>
          <p:cNvPr id="16" name="formula:tex-output-3" descr="formula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865" y="3302000"/>
            <a:ext cx="4342669" cy="2463800"/>
          </a:xfrm>
          <a:prstGeom prst="rect">
            <a:avLst/>
          </a:prstGeom>
        </p:spPr>
      </p:pic>
      <p:sp>
        <p:nvSpPr>
          <p:cNvPr id="17" name="page-number:actual"/>
          <p:cNvSpPr txBox="1"/>
          <p:nvPr/>
        </p:nvSpPr>
        <p:spPr>
          <a:xfrm>
            <a:off x="11163300" y="6337300"/>
            <a:ext cx="5969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3/5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main"/>
          <p:cNvSpPr txBox="1"/>
          <p:nvPr/>
        </p:nvSpPr>
        <p:spPr>
          <a:xfrm>
            <a:off x="431800" y="254000"/>
            <a:ext cx="11328400" cy="508000"/>
          </a:xfrm>
          <a:prstGeom prst="rect">
            <a:avLst/>
          </a:prstGeom>
          <a:noFill/>
        </p:spPr>
        <p:txBody>
          <a:bodyPr wrap="none" rtlCol="0" lIns="0" rIns="0" t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cases：约束决定分段解</a:t>
            </a:r>
          </a:p>
        </p:txBody>
      </p:sp>
      <p:sp>
        <p:nvSpPr>
          <p:cNvPr id="8" name="header-rule"/>
          <p:cNvSpPr/>
          <p:nvPr>
            <p:custDataLst>
              <p:tags r:id="rId2"/>
            </p:custDataLst>
          </p:nvPr>
        </p:nvSpPr>
        <p:spPr>
          <a:xfrm>
            <a:off x="431800" y="863600"/>
            <a:ext cx="11328400" cy="381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result-panel:4"/>
          <p:cNvSpPr/>
          <p:nvPr/>
        </p:nvSpPr>
        <p:spPr>
          <a:xfrm>
            <a:off x="431800" y="1295400"/>
            <a:ext cx="5588000" cy="1879600"/>
          </a:xfrm>
          <a:prstGeom prst="rect">
            <a:avLst/>
          </a:prstGeom>
          <a:solidFill>
            <a:srgbClr val="FFFFFF"/>
          </a:solidFill>
          <a:ln w="10160">
            <a:solidFill>
              <a:srgbClr val="3F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hort:result-label"/>
          <p:cNvSpPr txBox="1"/>
          <p:nvPr/>
        </p:nvSpPr>
        <p:spPr>
          <a:xfrm>
            <a:off x="660400" y="14732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93"/>
                </a:solidFill>
                <a:latin typeface="微软雅黑"/>
              </a:rPr>
              <a:t>排版结果</a:t>
            </a:r>
          </a:p>
        </p:txBody>
      </p:sp>
      <p:pic>
        <p:nvPicPr>
          <p:cNvPr id="11" name="formula:tex-output-4" descr="formula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2002968"/>
            <a:ext cx="5130800" cy="870863"/>
          </a:xfrm>
          <a:prstGeom prst="rect">
            <a:avLst/>
          </a:prstGeom>
        </p:spPr>
      </p:pic>
      <p:sp>
        <p:nvSpPr>
          <p:cNvPr id="12" name="derivative-reason"/>
          <p:cNvSpPr/>
          <p:nvPr/>
        </p:nvSpPr>
        <p:spPr>
          <a:xfrm>
            <a:off x="6477000" y="1295400"/>
            <a:ext cx="5283200" cy="1879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g′(t) = 3t/2 + 3/2 − 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驻点 t = (2β − 3)/3。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驻点为负时，最小值取边界。</a:t>
            </a:r>
          </a:p>
        </p:txBody>
      </p:sp>
      <p:sp>
        <p:nvSpPr>
          <p:cNvPr id="13" name="code-panel:04-cases.tex"/>
          <p:cNvSpPr/>
          <p:nvPr/>
        </p:nvSpPr>
        <p:spPr>
          <a:xfrm>
            <a:off x="431800" y="3479800"/>
            <a:ext cx="6350000" cy="25146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hort:code-label"/>
          <p:cNvSpPr txBox="1"/>
          <p:nvPr/>
        </p:nvSpPr>
        <p:spPr>
          <a:xfrm>
            <a:off x="660400" y="3810000"/>
            <a:ext cx="5892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93"/>
                </a:solidFill>
                <a:latin typeface="微软雅黑"/>
              </a:rPr>
              <a:t>LaTeX 源码</a:t>
            </a:r>
          </a:p>
        </p:txBody>
      </p:sp>
      <p:sp>
        <p:nvSpPr>
          <p:cNvPr id="15" name="code:04-cases.tex"/>
          <p:cNvSpPr txBox="1"/>
          <p:nvPr/>
        </p:nvSpPr>
        <p:spPr>
          <a:xfrm>
            <a:off x="673100" y="4241800"/>
            <a:ext cx="5892800" cy="175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3A93"/>
                </a:solidFill>
                <a:latin typeface="Consolas"/>
              </a:rPr>
              <a:t>\begin</a:t>
            </a:r>
            <a:r>
              <a:rPr sz="1300">
                <a:solidFill>
                  <a:srgbClr val="333333"/>
                </a:solidFill>
                <a:latin typeface="Consolas"/>
              </a:rPr>
              <a:t>{equation}</a:t>
            </a:r>
            <a:r>
              <a:rPr sz="1300">
                <a:solidFill>
                  <a:srgbClr val="1F3A93"/>
                </a:solidFill>
                <a:latin typeface="Consolas"/>
              </a:rPr>
              <a:t>\label</a:t>
            </a:r>
            <a:r>
              <a:rPr sz="1300">
                <a:solidFill>
                  <a:srgbClr val="333333"/>
                </a:solidFill>
                <a:latin typeface="Consolas"/>
              </a:rPr>
              <a:t>{eq:constrained}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t^*=</a:t>
            </a:r>
            <a:r>
              <a:rPr sz="1300">
                <a:solidFill>
                  <a:srgbClr val="1F3A93"/>
                </a:solidFill>
                <a:latin typeface="Consolas"/>
              </a:rPr>
              <a:t>\begin</a:t>
            </a:r>
            <a:r>
              <a:rPr sz="1300">
                <a:solidFill>
                  <a:srgbClr val="333333"/>
                </a:solidFill>
                <a:latin typeface="Consolas"/>
              </a:rPr>
              <a:t>{cases}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0,</a:t>
            </a:r>
            <a:r>
              <a:rPr sz="1300">
                <a:solidFill>
                  <a:srgbClr val="1F3A93"/>
                </a:solidFill>
                <a:latin typeface="Consolas"/>
              </a:rPr>
              <a:t>&amp;</a:t>
            </a:r>
            <a:r>
              <a:rPr sz="1300">
                <a:solidFill>
                  <a:srgbClr val="1F3A93"/>
                </a:solidFill>
                <a:latin typeface="Consolas"/>
              </a:rPr>
              <a:t>\text</a:t>
            </a:r>
            <a:r>
              <a:rPr sz="1300">
                <a:solidFill>
                  <a:srgbClr val="333333"/>
                </a:solidFill>
                <a:latin typeface="Consolas"/>
              </a:rPr>
              <a:t>{if }</a:t>
            </a:r>
            <a:r>
              <a:rPr sz="1300">
                <a:solidFill>
                  <a:srgbClr val="1F3A93"/>
                </a:solidFill>
                <a:latin typeface="Consolas"/>
              </a:rPr>
              <a:t>\beta</a:t>
            </a:r>
            <a:r>
              <a:rPr sz="1300">
                <a:solidFill>
                  <a:srgbClr val="1F3A93"/>
                </a:solidFill>
                <a:latin typeface="Consolas"/>
              </a:rPr>
              <a:t>\le</a:t>
            </a:r>
            <a:r>
              <a:rPr sz="1300">
                <a:solidFill>
                  <a:srgbClr val="1F3A93"/>
                </a:solidFill>
                <a:latin typeface="Consolas"/>
              </a:rPr>
              <a:t>\frac</a:t>
            </a:r>
            <a:r>
              <a:rPr sz="1300">
                <a:solidFill>
                  <a:srgbClr val="333333"/>
                </a:solidFill>
                <a:latin typeface="Consolas"/>
              </a:rPr>
              <a:t>32,</a:t>
            </a:r>
            <a:r>
              <a:rPr sz="1300">
                <a:solidFill>
                  <a:srgbClr val="1F3A93"/>
                </a:solidFill>
                <a:latin typeface="Consolas"/>
              </a:rPr>
              <a:t>\\</a:t>
            </a:r>
            <a:r>
              <a:rPr sz="1300">
                <a:solidFill>
                  <a:srgbClr val="333333"/>
                </a:solidFill>
                <a:latin typeface="Consolas"/>
              </a:rPr>
              <a:t>[4pt]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3A93"/>
                </a:solidFill>
                <a:latin typeface="Consolas"/>
              </a:rPr>
              <a:t>\dfrac</a:t>
            </a:r>
            <a:r>
              <a:rPr sz="1300">
                <a:solidFill>
                  <a:srgbClr val="333333"/>
                </a:solidFill>
                <a:latin typeface="Consolas"/>
              </a:rPr>
              <a:t>{2</a:t>
            </a:r>
            <a:r>
              <a:rPr sz="1300">
                <a:solidFill>
                  <a:srgbClr val="1F3A93"/>
                </a:solidFill>
                <a:latin typeface="Consolas"/>
              </a:rPr>
              <a:t>\beta</a:t>
            </a:r>
            <a:r>
              <a:rPr sz="1300">
                <a:solidFill>
                  <a:srgbClr val="333333"/>
                </a:solidFill>
                <a:latin typeface="Consolas"/>
              </a:rPr>
              <a:t>-3}{3},</a:t>
            </a:r>
            <a:r>
              <a:rPr sz="1300">
                <a:solidFill>
                  <a:srgbClr val="1F3A93"/>
                </a:solidFill>
                <a:latin typeface="Consolas"/>
              </a:rPr>
              <a:t>&amp;</a:t>
            </a:r>
            <a:r>
              <a:rPr sz="1300">
                <a:solidFill>
                  <a:srgbClr val="1F3A93"/>
                </a:solidFill>
                <a:latin typeface="Consolas"/>
              </a:rPr>
              <a:t>\text</a:t>
            </a:r>
            <a:r>
              <a:rPr sz="1300">
                <a:solidFill>
                  <a:srgbClr val="333333"/>
                </a:solidFill>
                <a:latin typeface="Consolas"/>
              </a:rPr>
              <a:t>{if }</a:t>
            </a:r>
            <a:r>
              <a:rPr sz="1300">
                <a:solidFill>
                  <a:srgbClr val="1F3A93"/>
                </a:solidFill>
                <a:latin typeface="Consolas"/>
              </a:rPr>
              <a:t>\beta</a:t>
            </a:r>
            <a:r>
              <a:rPr sz="1300">
                <a:solidFill>
                  <a:srgbClr val="333333"/>
                </a:solidFill>
                <a:latin typeface="Consolas"/>
              </a:rPr>
              <a:t>&gt;</a:t>
            </a:r>
            <a:r>
              <a:rPr sz="1300">
                <a:solidFill>
                  <a:srgbClr val="1F3A93"/>
                </a:solidFill>
                <a:latin typeface="Consolas"/>
              </a:rPr>
              <a:t>\frac</a:t>
            </a:r>
            <a:r>
              <a:rPr sz="1300">
                <a:solidFill>
                  <a:srgbClr val="333333"/>
                </a:solidFill>
                <a:latin typeface="Consolas"/>
              </a:rPr>
              <a:t>32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3A93"/>
                </a:solidFill>
                <a:latin typeface="Consolas"/>
              </a:rPr>
              <a:t>\end</a:t>
            </a:r>
            <a:r>
              <a:rPr sz="1300">
                <a:solidFill>
                  <a:srgbClr val="333333"/>
                </a:solidFill>
                <a:latin typeface="Consolas"/>
              </a:rPr>
              <a:t>{cases},</a:t>
            </a:r>
            <a:r>
              <a:rPr sz="1300">
                <a:solidFill>
                  <a:srgbClr val="1F3A93"/>
                </a:solidFill>
                <a:latin typeface="Consolas"/>
              </a:rPr>
              <a:t>\qquad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x^*=</a:t>
            </a:r>
            <a:r>
              <a:rPr sz="1300">
                <a:solidFill>
                  <a:srgbClr val="1F3A93"/>
                </a:solidFill>
                <a:latin typeface="Consolas"/>
              </a:rPr>
              <a:t>\begin</a:t>
            </a:r>
            <a:r>
              <a:rPr sz="1300">
                <a:solidFill>
                  <a:srgbClr val="333333"/>
                </a:solidFill>
                <a:latin typeface="Consolas"/>
              </a:rPr>
              <a:t>{pmatrix}(3-t^*)/2</a:t>
            </a:r>
            <a:r>
              <a:rPr sz="1300">
                <a:solidFill>
                  <a:srgbClr val="1F3A93"/>
                </a:solidFill>
                <a:latin typeface="Consolas"/>
              </a:rPr>
              <a:t>\\</a:t>
            </a:r>
            <a:r>
              <a:rPr sz="1300">
                <a:solidFill>
                  <a:srgbClr val="333333"/>
                </a:solidFill>
                <a:latin typeface="Consolas"/>
              </a:rPr>
              <a:t>t^*</a:t>
            </a:r>
            <a:r>
              <a:rPr sz="1300">
                <a:solidFill>
                  <a:srgbClr val="1F3A93"/>
                </a:solidFill>
                <a:latin typeface="Consolas"/>
              </a:rPr>
              <a:t>\end</a:t>
            </a:r>
            <a:r>
              <a:rPr sz="1300">
                <a:solidFill>
                  <a:srgbClr val="333333"/>
                </a:solidFill>
                <a:latin typeface="Consolas"/>
              </a:rPr>
              <a:t>{pmatrix}.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1F3A93"/>
                </a:solidFill>
                <a:latin typeface="Consolas"/>
              </a:rPr>
              <a:t>\end</a:t>
            </a:r>
            <a:r>
              <a:rPr sz="1300">
                <a:solidFill>
                  <a:srgbClr val="333333"/>
                </a:solidFill>
                <a:latin typeface="Consolas"/>
              </a:rPr>
              <a:t>{equation}</a:t>
            </a:r>
          </a:p>
        </p:txBody>
      </p:sp>
      <p:sp>
        <p:nvSpPr>
          <p:cNvPr id="16" name="node:threshold"/>
          <p:cNvSpPr/>
          <p:nvPr/>
        </p:nvSpPr>
        <p:spPr>
          <a:xfrm>
            <a:off x="8115300" y="3670300"/>
            <a:ext cx="2540000" cy="5588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3A93"/>
                </a:solidFill>
                <a:latin typeface="微软雅黑"/>
              </a:rPr>
              <a:t>比较 β 与 3/2</a:t>
            </a:r>
          </a:p>
        </p:txBody>
      </p:sp>
      <p:sp>
        <p:nvSpPr>
          <p:cNvPr id="17" name="node:boundary"/>
          <p:cNvSpPr/>
          <p:nvPr/>
        </p:nvSpPr>
        <p:spPr>
          <a:xfrm>
            <a:off x="7086600" y="4991100"/>
            <a:ext cx="2184400" cy="10033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A93"/>
                </a:solidFill>
                <a:latin typeface="微软雅黑"/>
              </a:rPr>
              <a:t>β ≤ 3/2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A93"/>
                </a:solidFill>
                <a:latin typeface="微软雅黑"/>
              </a:rPr>
              <a:t>边界解 t* = 0</a:t>
            </a:r>
          </a:p>
        </p:txBody>
      </p:sp>
      <p:sp>
        <p:nvSpPr>
          <p:cNvPr id="18" name="node:interior"/>
          <p:cNvSpPr/>
          <p:nvPr/>
        </p:nvSpPr>
        <p:spPr>
          <a:xfrm>
            <a:off x="9575800" y="4991100"/>
            <a:ext cx="2184400" cy="10033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A93"/>
                </a:solidFill>
                <a:latin typeface="微软雅黑"/>
              </a:rPr>
              <a:t>β &gt; 3/2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A93"/>
                </a:solidFill>
                <a:latin typeface="微软雅黑"/>
              </a:rPr>
              <a:t>内点解 t* &gt; 0</a:t>
            </a:r>
          </a:p>
        </p:txBody>
      </p:sp>
      <p:cxnSp>
        <p:nvCxnSpPr>
          <p:cNvPr id="19" name="relation:node:threshold-&gt;node:boundary"/>
          <p:cNvCxnSpPr/>
          <p:nvPr/>
        </p:nvCxnSpPr>
        <p:spPr>
          <a:xfrm flipH="1">
            <a:off x="8178800" y="4229100"/>
            <a:ext cx="457200" cy="762000"/>
          </a:xfrm>
          <a:prstGeom prst="line">
            <a:avLst/>
          </a:prstGeom>
          <a:ln w="1778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lation:node:threshold-&gt;node:interior"/>
          <p:cNvCxnSpPr/>
          <p:nvPr/>
        </p:nvCxnSpPr>
        <p:spPr>
          <a:xfrm>
            <a:off x="10134600" y="4229100"/>
            <a:ext cx="533400" cy="762000"/>
          </a:xfrm>
          <a:prstGeom prst="line">
            <a:avLst/>
          </a:prstGeom>
          <a:ln w="1778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age-number:actual"/>
          <p:cNvSpPr txBox="1"/>
          <p:nvPr/>
        </p:nvSpPr>
        <p:spPr>
          <a:xfrm>
            <a:off x="11163300" y="6337300"/>
            <a:ext cx="5969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4/5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main"/>
          <p:cNvSpPr txBox="1"/>
          <p:nvPr/>
        </p:nvSpPr>
        <p:spPr>
          <a:xfrm>
            <a:off x="447040" y="254000"/>
            <a:ext cx="11313160" cy="508000"/>
          </a:xfrm>
          <a:prstGeom prst="rect">
            <a:avLst/>
          </a:prstGeom>
          <a:noFill/>
        </p:spPr>
        <p:txBody>
          <a:bodyPr wrap="none" rtlCol="0" lIns="0" rIns="0" t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编号与引用串起完整论证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/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F3A93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/>
            </a:r>
          </a:p>
        </p:txBody>
      </p:sp>
      <p:sp>
        <p:nvSpPr>
          <p:cNvPr id="4" name="header-rule"/>
          <p:cNvSpPr/>
          <p:nvPr>
            <p:custDataLst>
              <p:tags r:id="rId2"/>
            </p:custDataLst>
          </p:nvPr>
        </p:nvSpPr>
        <p:spPr>
          <a:xfrm>
            <a:off x="431800" y="863600"/>
            <a:ext cx="11328400" cy="381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node:ref-stationary"/>
          <p:cNvSpPr/>
          <p:nvPr/>
        </p:nvSpPr>
        <p:spPr>
          <a:xfrm>
            <a:off x="431800" y="1282700"/>
            <a:ext cx="3175000" cy="609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3A93"/>
                </a:solidFill>
                <a:latin typeface="微软雅黑"/>
              </a:rPr>
              <a:t>驻点条件 (2)、(3)</a:t>
            </a:r>
          </a:p>
        </p:txBody>
      </p:sp>
      <p:sp>
        <p:nvSpPr>
          <p:cNvPr id="6" name="node:ref-reduced"/>
          <p:cNvSpPr/>
          <p:nvPr/>
        </p:nvSpPr>
        <p:spPr>
          <a:xfrm>
            <a:off x="4508500" y="1282700"/>
            <a:ext cx="3175000" cy="609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3A93"/>
                </a:solidFill>
                <a:latin typeface="微软雅黑"/>
              </a:rPr>
              <a:t>一元目标 (4)</a:t>
            </a:r>
          </a:p>
        </p:txBody>
      </p:sp>
      <p:sp>
        <p:nvSpPr>
          <p:cNvPr id="7" name="node:ref-solution"/>
          <p:cNvSpPr/>
          <p:nvPr/>
        </p:nvSpPr>
        <p:spPr>
          <a:xfrm>
            <a:off x="8585200" y="1282700"/>
            <a:ext cx="3175000" cy="609600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3A93"/>
                </a:solidFill>
                <a:latin typeface="微软雅黑"/>
              </a:rPr>
              <a:t>分段最优解 (5)</a:t>
            </a:r>
          </a:p>
        </p:txBody>
      </p:sp>
      <p:cxnSp>
        <p:nvCxnSpPr>
          <p:cNvPr id="8" name="relation:node:ref-stationary-&gt;node:ref-reduced"/>
          <p:cNvCxnSpPr/>
          <p:nvPr/>
        </p:nvCxnSpPr>
        <p:spPr>
          <a:xfrm>
            <a:off x="3606800" y="1587500"/>
            <a:ext cx="901700" cy="0"/>
          </a:xfrm>
          <a:prstGeom prst="line">
            <a:avLst/>
          </a:prstGeom>
          <a:ln w="1778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lation:node:ref-reduced-&gt;node:ref-solution"/>
          <p:cNvCxnSpPr/>
          <p:nvPr/>
        </p:nvCxnSpPr>
        <p:spPr>
          <a:xfrm>
            <a:off x="7683500" y="1587500"/>
            <a:ext cx="901700" cy="0"/>
          </a:xfrm>
          <a:prstGeom prst="line">
            <a:avLst/>
          </a:prstGeom>
          <a:ln w="17780">
            <a:solidFill>
              <a:srgbClr val="3F6FC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de-panel:05-references.tex"/>
          <p:cNvSpPr/>
          <p:nvPr/>
        </p:nvSpPr>
        <p:spPr>
          <a:xfrm>
            <a:off x="431800" y="2286000"/>
            <a:ext cx="5943600" cy="37084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hort:code-label"/>
          <p:cNvSpPr txBox="1"/>
          <p:nvPr/>
        </p:nvSpPr>
        <p:spPr>
          <a:xfrm>
            <a:off x="660400" y="2781300"/>
            <a:ext cx="548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93"/>
                </a:solidFill>
                <a:latin typeface="微软雅黑"/>
              </a:rPr>
              <a:t>引用源码：标签随公式移动</a:t>
            </a:r>
          </a:p>
        </p:txBody>
      </p:sp>
      <p:sp>
        <p:nvSpPr>
          <p:cNvPr id="12" name="code:05-references.tex"/>
          <p:cNvSpPr txBox="1"/>
          <p:nvPr/>
        </p:nvSpPr>
        <p:spPr>
          <a:xfrm>
            <a:off x="660400" y="3213100"/>
            <a:ext cx="5486400" cy="278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From </a:t>
            </a:r>
            <a:r>
              <a:rPr sz="1200">
                <a:solidFill>
                  <a:srgbClr val="1F3A93"/>
                </a:solidFill>
                <a:latin typeface="Consolas"/>
              </a:rPr>
              <a:t>\eqref</a:t>
            </a:r>
            <a:r>
              <a:rPr sz="1200">
                <a:solidFill>
                  <a:srgbClr val="333333"/>
                </a:solidFill>
                <a:latin typeface="Consolas"/>
              </a:rPr>
              <a:t>{eq:stationary} and </a:t>
            </a:r>
            <a:r>
              <a:rPr sz="1200">
                <a:solidFill>
                  <a:srgbClr val="1F3A93"/>
                </a:solidFill>
                <a:latin typeface="Consolas"/>
              </a:rPr>
              <a:t>\eqref</a:t>
            </a:r>
            <a:r>
              <a:rPr sz="1200">
                <a:solidFill>
                  <a:srgbClr val="333333"/>
                </a:solidFill>
                <a:latin typeface="Consolas"/>
              </a:rPr>
              <a:t>{eq:system},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the unconstrained point is $x^{</a:t>
            </a:r>
            <a:r>
              <a:rPr sz="1200">
                <a:solidFill>
                  <a:srgbClr val="1F3A93"/>
                </a:solidFill>
                <a:latin typeface="Consolas"/>
              </a:rPr>
              <a:t>\mathrm</a:t>
            </a:r>
            <a:r>
              <a:rPr sz="1200">
                <a:solidFill>
                  <a:srgbClr val="333333"/>
                </a:solidFill>
                <a:latin typeface="Consolas"/>
              </a:rPr>
              <a:t> u}=(2,-1)^{</a:t>
            </a:r>
            <a:r>
              <a:rPr sz="1200">
                <a:solidFill>
                  <a:srgbClr val="1F3A93"/>
                </a:solidFill>
                <a:latin typeface="Consolas"/>
              </a:rPr>
              <a:t>\mathsf</a:t>
            </a:r>
            <a:r>
              <a:rPr sz="1200">
                <a:solidFill>
                  <a:srgbClr val="333333"/>
                </a:solidFill>
                <a:latin typeface="Consolas"/>
              </a:rPr>
              <a:t> T}$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when $</a:t>
            </a:r>
            <a:r>
              <a:rPr sz="1200">
                <a:solidFill>
                  <a:srgbClr val="1F3A93"/>
                </a:solidFill>
                <a:latin typeface="Consolas"/>
              </a:rPr>
              <a:t>\beta</a:t>
            </a:r>
            <a:r>
              <a:rPr sz="1200">
                <a:solidFill>
                  <a:srgbClr val="333333"/>
                </a:solidFill>
                <a:latin typeface="Consolas"/>
              </a:rPr>
              <a:t>=0$.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Equation </a:t>
            </a:r>
            <a:r>
              <a:rPr sz="1200">
                <a:solidFill>
                  <a:srgbClr val="1F3A93"/>
                </a:solidFill>
                <a:latin typeface="Consolas"/>
              </a:rPr>
              <a:t>\eqref</a:t>
            </a:r>
            <a:r>
              <a:rPr sz="1200">
                <a:solidFill>
                  <a:srgbClr val="333333"/>
                </a:solidFill>
                <a:latin typeface="Consolas"/>
              </a:rPr>
              <a:t>{eq:reduced} gives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$g'(t)=</a:t>
            </a:r>
            <a:r>
              <a:rPr sz="1200">
                <a:solidFill>
                  <a:srgbClr val="1F3A93"/>
                </a:solidFill>
                <a:latin typeface="Consolas"/>
              </a:rPr>
              <a:t>\frac</a:t>
            </a:r>
            <a:r>
              <a:rPr sz="1200">
                <a:solidFill>
                  <a:srgbClr val="333333"/>
                </a:solidFill>
                <a:latin typeface="Consolas"/>
              </a:rPr>
              <a:t>32t+</a:t>
            </a:r>
            <a:r>
              <a:rPr sz="1200">
                <a:solidFill>
                  <a:srgbClr val="1F3A93"/>
                </a:solidFill>
                <a:latin typeface="Consolas"/>
              </a:rPr>
              <a:t>\frac</a:t>
            </a:r>
            <a:r>
              <a:rPr sz="1200">
                <a:solidFill>
                  <a:srgbClr val="333333"/>
                </a:solidFill>
                <a:latin typeface="Consolas"/>
              </a:rPr>
              <a:t>32&gt;0$ for $t</a:t>
            </a:r>
            <a:r>
              <a:rPr sz="1200">
                <a:solidFill>
                  <a:srgbClr val="1F3A93"/>
                </a:solidFill>
                <a:latin typeface="Consolas"/>
              </a:rPr>
              <a:t>\ge</a:t>
            </a:r>
            <a:r>
              <a:rPr sz="1200">
                <a:solidFill>
                  <a:srgbClr val="333333"/>
                </a:solidFill>
                <a:latin typeface="Consolas"/>
              </a:rPr>
              <a:t>0$.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Thus </a:t>
            </a:r>
            <a:r>
              <a:rPr sz="1200">
                <a:solidFill>
                  <a:srgbClr val="1F3A93"/>
                </a:solidFill>
                <a:latin typeface="Consolas"/>
              </a:rPr>
              <a:t>\eqref</a:t>
            </a:r>
            <a:r>
              <a:rPr sz="1200">
                <a:solidFill>
                  <a:srgbClr val="333333"/>
                </a:solidFill>
                <a:latin typeface="Consolas"/>
              </a:rPr>
              <a:t>{eq:constrained} yields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\[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x^*=</a:t>
            </a:r>
            <a:r>
              <a:rPr sz="1200">
                <a:solidFill>
                  <a:srgbClr val="1F3A93"/>
                </a:solidFill>
                <a:latin typeface="Consolas"/>
              </a:rPr>
              <a:t>\begin</a:t>
            </a:r>
            <a:r>
              <a:rPr sz="1200">
                <a:solidFill>
                  <a:srgbClr val="333333"/>
                </a:solidFill>
                <a:latin typeface="Consolas"/>
              </a:rPr>
              <a:t>{pmatrix}3/2</a:t>
            </a:r>
            <a:r>
              <a:rPr sz="1200">
                <a:solidFill>
                  <a:srgbClr val="1F3A93"/>
                </a:solidFill>
                <a:latin typeface="Consolas"/>
              </a:rPr>
              <a:t>\\</a:t>
            </a:r>
            <a:r>
              <a:rPr sz="1200">
                <a:solidFill>
                  <a:srgbClr val="333333"/>
                </a:solidFill>
                <a:latin typeface="Consolas"/>
              </a:rPr>
              <a:t>0</a:t>
            </a:r>
            <a:r>
              <a:rPr sz="1200">
                <a:solidFill>
                  <a:srgbClr val="1F3A93"/>
                </a:solidFill>
                <a:latin typeface="Consolas"/>
              </a:rPr>
              <a:t>\end</a:t>
            </a:r>
            <a:r>
              <a:rPr sz="1200">
                <a:solidFill>
                  <a:srgbClr val="333333"/>
                </a:solidFill>
                <a:latin typeface="Consolas"/>
              </a:rPr>
              <a:t>{pmatrix},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\qquad</a:t>
            </a:r>
            <a:r>
              <a:rPr sz="1200">
                <a:solidFill>
                  <a:srgbClr val="333333"/>
                </a:solidFill>
                <a:latin typeface="Consolas"/>
              </a:rPr>
              <a:t> J(x^*)=-</a:t>
            </a:r>
            <a:r>
              <a:rPr sz="1200">
                <a:solidFill>
                  <a:srgbClr val="1F3A93"/>
                </a:solidFill>
                <a:latin typeface="Consolas"/>
              </a:rPr>
              <a:t>\frac</a:t>
            </a:r>
            <a:r>
              <a:rPr sz="1200">
                <a:solidFill>
                  <a:srgbClr val="333333"/>
                </a:solidFill>
                <a:latin typeface="Consolas"/>
              </a:rPr>
              <a:t>94.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F3A93"/>
                </a:solidFill>
                <a:latin typeface="Consolas"/>
              </a:rPr>
              <a:t>\]</a:t>
            </a:r>
          </a:p>
        </p:txBody>
      </p:sp>
      <p:sp>
        <p:nvSpPr>
          <p:cNvPr id="13" name="result-panel:5"/>
          <p:cNvSpPr/>
          <p:nvPr/>
        </p:nvSpPr>
        <p:spPr>
          <a:xfrm>
            <a:off x="6680200" y="2286000"/>
            <a:ext cx="5080000" cy="2628900"/>
          </a:xfrm>
          <a:prstGeom prst="rect">
            <a:avLst/>
          </a:prstGeom>
          <a:solidFill>
            <a:srgbClr val="FFFFFF"/>
          </a:solidFill>
          <a:ln w="10160">
            <a:solidFill>
              <a:srgbClr val="3F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hort:result-label"/>
          <p:cNvSpPr txBox="1"/>
          <p:nvPr/>
        </p:nvSpPr>
        <p:spPr>
          <a:xfrm>
            <a:off x="6908800" y="2781300"/>
            <a:ext cx="4622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A93"/>
                </a:solidFill>
                <a:latin typeface="微软雅黑"/>
              </a:rPr>
              <a:t>引用效果：自动生成括号和编号</a:t>
            </a:r>
          </a:p>
        </p:txBody>
      </p:sp>
      <p:pic>
        <p:nvPicPr>
          <p:cNvPr id="15" name="formula:tex-output-5" descr="formula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800" y="3238891"/>
            <a:ext cx="4622799" cy="1447016"/>
          </a:xfrm>
          <a:prstGeom prst="rect">
            <a:avLst/>
          </a:prstGeom>
        </p:spPr>
      </p:pic>
      <p:sp>
        <p:nvSpPr>
          <p:cNvPr id="16" name="reference-interpretation"/>
          <p:cNvSpPr txBox="1"/>
          <p:nvPr/>
        </p:nvSpPr>
        <p:spPr>
          <a:xfrm>
            <a:off x="6680200" y="5143500"/>
            <a:ext cx="5080000" cy="850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微软雅黑"/>
              </a:rPr>
              <a:t>β = 0 时，无约束点 (2, −1) 不可行。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微软雅黑"/>
              </a:rPr>
              <a:t>在 t ≥ 0 上，g′(t) &gt; 0，边界点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微软雅黑"/>
              </a:rPr>
              <a:t>(3/2, 0) 给出最小值 −9/4。</a:t>
            </a:r>
          </a:p>
        </p:txBody>
      </p:sp>
      <p:sp>
        <p:nvSpPr>
          <p:cNvPr id="17" name="page-number:actual"/>
          <p:cNvSpPr txBox="1"/>
          <p:nvPr/>
        </p:nvSpPr>
        <p:spPr>
          <a:xfrm>
            <a:off x="11163300" y="6337300"/>
            <a:ext cx="5969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</a:rPr>
              <a:t>5/5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heme/theme1.xml><?xml version="1.0" encoding="utf-8"?>
<a:theme xmlns:a="http://schemas.openxmlformats.org/drawingml/2006/main" name="1_Office 主题​​">
  <a:themeElements>
    <a:clrScheme name="深蓝配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329D"/>
      </a:accent1>
      <a:accent2>
        <a:srgbClr val="4480FB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2013 - 2022 主题">
  <a:themeElements>
    <a:clrScheme name="01-【经典蓝】配色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329D"/>
      </a:accent1>
      <a:accent2>
        <a:srgbClr val="00319B"/>
      </a:accent2>
      <a:accent3>
        <a:srgbClr val="00319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vtdf4lez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wrap="square" lIns="0" tIns="0" rIns="0" bIns="0" rtlCol="0" anchor="ctr">
        <a:noAutofit/>
      </a:bodyPr>
      <a:lstStyle>
        <a:defPPr algn="ctr" defTabSz="731520">
          <a:lnSpc>
            <a:spcPct val="130000"/>
          </a:lnSpc>
          <a:defRPr sz="1400" dirty="0" smtClean="0">
            <a:solidFill>
              <a:schemeClr val="bg1"/>
            </a:solidFill>
            <a:latin typeface="+mn-ea"/>
            <a:cs typeface="OPPOSans L" panose="00020600040101010101" pitchFamily="18" charset="-122"/>
          </a:defRPr>
        </a:defPPr>
      </a:lstStyle>
    </a:spDef>
    <a:txDef>
      <a:spPr>
        <a:noFill/>
      </a:spPr>
      <a:bodyPr wrap="none" lIns="0" tIns="0" rIns="0" bIns="0" rtlCol="0">
        <a:no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6736</Words>
  <PresentationFormat>宽屏</PresentationFormat>
  <Paragraphs>1686</Paragraphs>
  <Slides>40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Arial</vt:lpstr>
      <vt:lpstr>思源黑体 CN Normal</vt:lpstr>
      <vt:lpstr>Roboto</vt:lpstr>
      <vt:lpstr>思源黑体 CN Bold</vt:lpstr>
      <vt:lpstr>1_Office 主题​​</vt:lpstr>
      <vt:lpstr>Office 主题</vt:lpstr>
      <vt:lpstr>2_Office 主题​​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amsmath 写出可追踪的数学推导</dc:title>
  <cp:lastModifiedBy>Sun guang</cp:lastModifiedBy>
  <cp:revision>60</cp:revision>
  <dcterms:created xsi:type="dcterms:W3CDTF">2025-08-13T07:51:00Z</dcterms:created>
  <dcterms:modified xsi:type="dcterms:W3CDTF">2026-05-27T07:17:50Z</dcterms:modified>
  <dc:subject>LaTeX 数学排版教学</dc:subject>
  <cp:keywords>amsmath,align,split,cases,LaTeX</cp:keywords>
  <dc:creator>SKILL应用测试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46A8C56490164DF9BD00D095B18F7440_12</vt:lpwstr>
  </property>
  <property fmtid="{D5CDD505-2E9C-101B-9397-08002B2CF9AE}" pid="3" name="KSOProductBuildVer">
    <vt:lpwstr>2052-11.1.0.11176</vt:lpwstr>
  </property>
</Properties>
</file>