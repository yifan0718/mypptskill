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5" Type="http://schemas.openxmlformats.org/officeDocument/2006/relationships/custom-properties" Target="docProps/custom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256" r:id="rId8"/>
    <p:sldId id="257" r:id="rId9"/>
    <p:sldId id="258" r:id="rId7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6"/>
    <p:sldId id="274" r:id="rId5"/>
    <p:sldId id="275" r:id="rId4"/>
    <p:sldId id="276" r:id="rId28"/>
    <p:sldId id="277" r:id="rId29"/>
    <p:sldId id="278" r:id="rId30"/>
    <p:sldId id="279" r:id="rId3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9"/>
    <a:srgbClr val="2B357A"/>
    <a:srgbClr val="FAA718"/>
    <a:srgbClr val="61C9DC"/>
    <a:srgbClr val="F2634B"/>
    <a:srgbClr val="E6E6E6"/>
    <a:srgbClr val="C7141A"/>
    <a:srgbClr val="F8F8F8"/>
    <a:srgbClr val="9F9F9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>
      <p:cViewPr varScale="1">
        <p:scale>
          <a:sx n="66" d="100"/>
          <a:sy n="66" d="100"/>
        </p:scale>
        <p:origin x="198" y="8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24.xml"/><Relationship Id="rId4" Type="http://schemas.openxmlformats.org/officeDocument/2006/relationships/slide" Target="slides/slide20.xml"/><Relationship Id="rId5" Type="http://schemas.openxmlformats.org/officeDocument/2006/relationships/slide" Target="slides/slide19.xml"/><Relationship Id="rId6" Type="http://schemas.openxmlformats.org/officeDocument/2006/relationships/slide" Target="slides/slide18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tags" Target="tags/tag1.xml"/><Relationship Id="rId26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同机 p99</c:v>
                </c:pt>
              </c:strCache>
            </c:strRef>
          </c:tx>
          <c:spPr>
            <a:ln w="25400">
              <a:solidFill>
                <a:srgbClr val="243670"/>
              </a:solidFill>
            </a:ln>
          </c:spPr>
          <c:marker>
            <c:symbol val="circle"/>
            <c:size val="5"/>
            <c:spPr>
              <a:solidFill>
                <a:srgbClr val="243670"/>
              </a:solidFill>
              <a:ln>
                <a:solidFill>
                  <a:srgbClr val="243670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0.2</c:v>
                </c:pt>
                <c:pt idx="1">
                  <c:v>0.4</c:v>
                </c:pt>
                <c:pt idx="2">
                  <c:v>0.6</c:v>
                </c:pt>
                <c:pt idx="3">
                  <c:v>0.8</c:v>
                </c:pt>
                <c:pt idx="4">
                  <c:v>1.0</c:v>
                </c:pt>
                <c:pt idx="5">
                  <c:v>1.2</c:v>
                </c:pt>
                <c:pt idx="6">
                  <c:v>1.4</c:v>
                </c:pt>
                <c:pt idx="7">
                  <c:v>1.6</c:v>
                </c:pt>
                <c:pt idx="8">
                  <c:v>2.0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22.96</c:v>
                </c:pt>
                <c:pt idx="1">
                  <c:v>168.65</c:v>
                </c:pt>
                <c:pt idx="2">
                  <c:v>181.57</c:v>
                </c:pt>
                <c:pt idx="3">
                  <c:v>184.96</c:v>
                </c:pt>
                <c:pt idx="4">
                  <c:v>189.91</c:v>
                </c:pt>
                <c:pt idx="5">
                  <c:v>195.13</c:v>
                </c:pt>
                <c:pt idx="6">
                  <c:v>201.78</c:v>
                </c:pt>
                <c:pt idx="7">
                  <c:v>219.78</c:v>
                </c:pt>
                <c:pt idx="8">
                  <c:v>263.35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Sheet1!$B$12</c:f>
              <c:strCache>
                <c:ptCount val="1"/>
                <c:pt idx="0">
                  <c:v>解耦 p99</c:v>
                </c:pt>
              </c:strCache>
            </c:strRef>
          </c:tx>
          <c:spPr>
            <a:ln w="25400">
              <a:solidFill>
                <a:srgbClr val="5DC2C4"/>
              </a:solidFill>
            </a:ln>
          </c:spPr>
          <c:marker>
            <c:symbol val="circle"/>
            <c:size val="5"/>
            <c:spPr>
              <a:solidFill>
                <a:srgbClr val="5DC2C4"/>
              </a:solidFill>
              <a:ln>
                <a:solidFill>
                  <a:srgbClr val="5DC2C4"/>
                </a:solidFill>
              </a:ln>
            </c:spPr>
          </c:marker>
          <c:xVal>
            <c:numRef>
              <c:f>Sheet1!$A$13:$A$21</c:f>
              <c:numCache>
                <c:formatCode>General</c:formatCode>
                <c:ptCount val="9"/>
                <c:pt idx="0">
                  <c:v>0.2</c:v>
                </c:pt>
                <c:pt idx="1">
                  <c:v>0.4</c:v>
                </c:pt>
                <c:pt idx="2">
                  <c:v>0.6</c:v>
                </c:pt>
                <c:pt idx="3">
                  <c:v>0.8</c:v>
                </c:pt>
                <c:pt idx="4">
                  <c:v>1.0</c:v>
                </c:pt>
                <c:pt idx="5">
                  <c:v>1.2</c:v>
                </c:pt>
                <c:pt idx="6">
                  <c:v>1.4</c:v>
                </c:pt>
                <c:pt idx="7">
                  <c:v>1.6</c:v>
                </c:pt>
                <c:pt idx="8">
                  <c:v>2.0</c:v>
                </c:pt>
              </c:numCache>
            </c:numRef>
          </c:xVal>
          <c:yVal>
            <c:numRef>
              <c:f>Sheet1!$B$13:$B$21</c:f>
              <c:numCache>
                <c:formatCode>General</c:formatCode>
                <c:ptCount val="9"/>
                <c:pt idx="0">
                  <c:v>24.78</c:v>
                </c:pt>
                <c:pt idx="1">
                  <c:v>29.35</c:v>
                </c:pt>
                <c:pt idx="2">
                  <c:v>29.48</c:v>
                </c:pt>
                <c:pt idx="3">
                  <c:v>36.65</c:v>
                </c:pt>
                <c:pt idx="4">
                  <c:v>43.96</c:v>
                </c:pt>
                <c:pt idx="5">
                  <c:v>50.35</c:v>
                </c:pt>
                <c:pt idx="6">
                  <c:v>51.78</c:v>
                </c:pt>
                <c:pt idx="7">
                  <c:v>49.3</c:v>
                </c:pt>
                <c:pt idx="8">
                  <c:v>49.43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.0"/>
          <c:min val="0.0"/>
        </c:scaling>
        <c:delete val="0"/>
        <c:axPos val="b"/>
        <c:title>
          <c:tx>
            <c:rich>
              <a:bodyPr/>
              <a:lstStyle/>
              <a:p>
                <a:pPr>
                  <a:defRPr sz="1400">
                    <a:latin typeface="微软雅黑"/>
                  </a:defRPr>
                </a:pPr>
                <a:r>
                  <a:t>到达率 / req·s⁻¹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微软雅黑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3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>
                    <a:latin typeface="微软雅黑"/>
                  </a:defRPr>
                </a:pPr>
                <a:r>
                  <a:t>ITL / ms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微软雅黑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300">
              <a:latin typeface="微软雅黑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100 Gb/s</c:v>
                </c:pt>
              </c:strCache>
            </c:strRef>
          </c:tx>
          <c:spPr>
            <a:ln w="25400">
              <a:solidFill>
                <a:srgbClr val="E55A48"/>
              </a:solidFill>
            </a:ln>
          </c:spPr>
          <c:marker>
            <c:symbol val="circle"/>
            <c:size val="5"/>
            <c:spPr>
              <a:solidFill>
                <a:srgbClr val="E55A48"/>
              </a:solidFill>
              <a:ln>
                <a:solidFill>
                  <a:srgbClr val="E55A48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8192</c:v>
                </c:pt>
                <c:pt idx="1">
                  <c:v>16000</c:v>
                </c:pt>
                <c:pt idx="2">
                  <c:v>24000</c:v>
                </c:pt>
                <c:pt idx="3">
                  <c:v>32000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37.58096384</c:v>
                </c:pt>
                <c:pt idx="1">
                  <c:v>73.40032000000001</c:v>
                </c:pt>
                <c:pt idx="2">
                  <c:v>110.10048</c:v>
                </c:pt>
                <c:pt idx="3">
                  <c:v>146.80064000000002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Sheet1!$B$7</c:f>
              <c:strCache>
                <c:ptCount val="1"/>
                <c:pt idx="0">
                  <c:v>200 Gb/s</c:v>
                </c:pt>
              </c:strCache>
            </c:strRef>
          </c:tx>
          <c:spPr>
            <a:ln w="25400">
              <a:solidFill>
                <a:srgbClr val="243670"/>
              </a:solidFill>
            </a:ln>
          </c:spPr>
          <c:marker>
            <c:symbol val="circle"/>
            <c:size val="5"/>
            <c:spPr>
              <a:solidFill>
                <a:srgbClr val="243670"/>
              </a:solidFill>
              <a:ln>
                <a:solidFill>
                  <a:srgbClr val="243670"/>
                </a:solidFill>
              </a:ln>
            </c:spPr>
          </c:marker>
          <c:xVal>
            <c:numRef>
              <c:f>Sheet1!$A$8:$A$11</c:f>
              <c:numCache>
                <c:formatCode>General</c:formatCode>
                <c:ptCount val="4"/>
                <c:pt idx="0">
                  <c:v>8192</c:v>
                </c:pt>
                <c:pt idx="1">
                  <c:v>16000</c:v>
                </c:pt>
                <c:pt idx="2">
                  <c:v>24000</c:v>
                </c:pt>
                <c:pt idx="3">
                  <c:v>32000</c:v>
                </c:pt>
              </c:numCache>
            </c:numRef>
          </c:xVal>
          <c:yVal>
            <c:numRef>
              <c:f>Sheet1!$B$8:$B$11</c:f>
              <c:numCache>
                <c:formatCode>General</c:formatCode>
                <c:ptCount val="4"/>
                <c:pt idx="0">
                  <c:v>18.79048192</c:v>
                </c:pt>
                <c:pt idx="1">
                  <c:v>36.700160000000004</c:v>
                </c:pt>
                <c:pt idx="2">
                  <c:v>55.05024</c:v>
                </c:pt>
                <c:pt idx="3">
                  <c:v>73.40032000000001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Sheet1!$B$13</c:f>
              <c:strCache>
                <c:ptCount val="1"/>
                <c:pt idx="0">
                  <c:v>400 Gb/s</c:v>
                </c:pt>
              </c:strCache>
            </c:strRef>
          </c:tx>
          <c:spPr>
            <a:ln w="25400">
              <a:solidFill>
                <a:srgbClr val="5DC2C4"/>
              </a:solidFill>
            </a:ln>
          </c:spPr>
          <c:marker>
            <c:symbol val="circle"/>
            <c:size val="5"/>
            <c:spPr>
              <a:solidFill>
                <a:srgbClr val="5DC2C4"/>
              </a:solidFill>
              <a:ln>
                <a:solidFill>
                  <a:srgbClr val="5DC2C4"/>
                </a:solidFill>
              </a:ln>
            </c:spPr>
          </c:marker>
          <c:xVal>
            <c:numRef>
              <c:f>Sheet1!$A$14:$A$17</c:f>
              <c:numCache>
                <c:formatCode>General</c:formatCode>
                <c:ptCount val="4"/>
                <c:pt idx="0">
                  <c:v>8192</c:v>
                </c:pt>
                <c:pt idx="1">
                  <c:v>16000</c:v>
                </c:pt>
                <c:pt idx="2">
                  <c:v>24000</c:v>
                </c:pt>
                <c:pt idx="3">
                  <c:v>32000</c:v>
                </c:pt>
              </c:numCache>
            </c:numRef>
          </c:xVal>
          <c:yVal>
            <c:numRef>
              <c:f>Sheet1!$B$14:$B$17</c:f>
              <c:numCache>
                <c:formatCode>General</c:formatCode>
                <c:ptCount val="4"/>
                <c:pt idx="0">
                  <c:v>9.39524096</c:v>
                </c:pt>
                <c:pt idx="1">
                  <c:v>18.350080000000002</c:v>
                </c:pt>
                <c:pt idx="2">
                  <c:v>27.52512</c:v>
                </c:pt>
                <c:pt idx="3">
                  <c:v>36.700160000000004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2000.0"/>
          <c:min val="0.0"/>
        </c:scaling>
        <c:delete val="0"/>
        <c:axPos val="b"/>
        <c:title>
          <c:tx>
            <c:rich>
              <a:bodyPr/>
              <a:lstStyle/>
              <a:p>
                <a:pPr>
                  <a:defRPr sz="1400">
                    <a:latin typeface="微软雅黑"/>
                  </a:defRPr>
                </a:pPr>
                <a:r>
                  <a:t>输入 token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微软雅黑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6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>
                    <a:latin typeface="微软雅黑"/>
                  </a:defRPr>
                </a:pPr>
                <a:r>
                  <a:t>理想传输下界 / ms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微软雅黑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300">
              <a:latin typeface="微软雅黑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M/D/1 理论</c:v>
                </c:pt>
              </c:strCache>
            </c:strRef>
          </c:tx>
          <c:spPr>
            <a:ln w="25400">
              <a:solidFill>
                <a:srgbClr val="243670"/>
              </a:solidFill>
            </a:ln>
          </c:spPr>
          <c:marker>
            <c:symbol val="circle"/>
            <c:size val="5"/>
            <c:spPr>
              <a:solidFill>
                <a:srgbClr val="243670"/>
              </a:solidFill>
              <a:ln>
                <a:solidFill>
                  <a:srgbClr val="243670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0.2</c:v>
                </c:pt>
                <c:pt idx="1">
                  <c:v>0.4</c:v>
                </c:pt>
                <c:pt idx="2">
                  <c:v>0.6</c:v>
                </c:pt>
                <c:pt idx="3">
                  <c:v>0.7</c:v>
                </c:pt>
                <c:pt idx="4">
                  <c:v>0.8</c:v>
                </c:pt>
                <c:pt idx="5">
                  <c:v>0.85</c:v>
                </c:pt>
                <c:pt idx="6">
                  <c:v>0.9</c:v>
                </c:pt>
                <c:pt idx="7">
                  <c:v>0.95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1.125</c:v>
                </c:pt>
                <c:pt idx="1">
                  <c:v>1.3333333333333335</c:v>
                </c:pt>
                <c:pt idx="2">
                  <c:v>1.75</c:v>
                </c:pt>
                <c:pt idx="3">
                  <c:v>2.1666666666666665</c:v>
                </c:pt>
                <c:pt idx="4">
                  <c:v>3.0000000000000004</c:v>
                </c:pt>
                <c:pt idx="5">
                  <c:v>3.833333333333333</c:v>
                </c:pt>
                <c:pt idx="6">
                  <c:v>5.500000000000001</c:v>
                </c:pt>
                <c:pt idx="7">
                  <c:v>10.499999999999991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.0"/>
          <c:min val="0.0"/>
        </c:scaling>
        <c:delete val="0"/>
        <c:axPos val="b"/>
        <c:title>
          <c:tx>
            <c:rich>
              <a:bodyPr/>
              <a:lstStyle/>
              <a:p>
                <a:pPr>
                  <a:defRPr sz="1400">
                    <a:latin typeface="微软雅黑"/>
                  </a:defRPr>
                </a:pPr>
                <a:r>
                  <a:t>利用率 ρ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微软雅黑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2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>
                    <a:latin typeface="微软雅黑"/>
                  </a:defRPr>
                </a:pPr>
                <a:r>
                  <a:t>平均响应 / 固定服务时间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微软雅黑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300">
              <a:latin typeface="微软雅黑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BA430-9691-48CB-A3D3-9D6A17F920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A20CA-116A-49D1-AF6E-54FF8F9FE4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Zhong et al., DistServe, OSDI 2024, pp.193–210. https://www.usenix.org/conference/osdi24/presentation/zhong-yinmin ; arXiv:2401.09670v3, 2024-06-06, §§2–7.</a:t>
            </a:r>
          </a:p>
          <a:p/>
          <a:p>
            <a:r>
              <a:t>Martin Hickey, Taking vLLM Apart: A Practical Guide to Disaggregated Serving, 2026-09-29, vLLM v0.31.0+. https://vllm.ai/blog/2026-09-29-disaggregated-serving-guide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Qwen/Qwen2.5-7B-Instruct config.json, retrieved 2026-10-18. https://huggingface.co/Qwen/Qwen2.5-7B-Instruct/raw/main/config.json</a:t>
            </a:r>
          </a:p>
          <a:p/>
          <a:p>
            <a:r>
              <a:t>MLCommons Inference rules, retrieved 2026-10-18. https://docs.mlcommons.org/inference/ ; https://github.com/mlcommons/inference_policies/blob/master/inference_rules.adoc</a:t>
            </a:r>
          </a:p>
          <a:p/>
          <a:p>
            <a:r>
              <a:t>设计示例参数：服务场景、SLO与16个活跃会话。32,000+256在config的32768窗口内。Poisson之外需要生产轨迹回放。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Zhong et al., DistServe, OSDI 2024, pp.193–210. https://www.usenix.org/conference/osdi24/presentation/zhong-yinmin ; arXiv:2401.09670v3, 2024-06-06, §§2–7.</a:t>
            </a:r>
          </a:p>
          <a:p/>
          <a:p>
            <a:r>
              <a:t>Martin Hickey, Taking vLLM Apart: A Practical Guide to Disaggregated Serving, 2026-09-29, vLLM v0.31.0+. https://vllm.ai/blog/2026-09-29-disaggregated-serving-guide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Zhong et al., DistServe, OSDI 2024, pp.193–210. https://www.usenix.org/conference/osdi24/presentation/zhong-yinmin ; arXiv:2401.09670v3, 2024-06-06, §§2–7.</a:t>
            </a:r>
          </a:p>
          <a:p/>
          <a:p>
            <a:r>
              <a:t>MLCommons Inference rules, retrieved 2026-10-18. https://docs.mlcommons.org/inference/ ; https://github.com/mlcommons/inference_policies/blob/master/inference_rules.adoc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Zhong et al., DistServe, OSDI 2024, pp.193–210. https://www.usenix.org/conference/osdi24/presentation/zhong-yinmin ; arXiv:2401.09670v3, 2024-06-06, §§2–7.</a:t>
            </a:r>
          </a:p>
          <a:p/>
          <a:p>
            <a:r>
              <a:t>vLLM Optimization and Tuning, retrieved 2026-10-18. https://docs.vllm.ai/en/latest/configuration/optimization/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Qwen/Qwen2.5-7B-Instruct config.json, retrieved 2026-10-18. https://huggingface.co/Qwen/Qwen2.5-7B-Instruct/raw/main/config.json</a:t>
            </a:r>
          </a:p>
          <a:p/>
          <a:p>
            <a:r>
              <a:t>Kwon et al., Efficient Memory Management for Large Language Model Serving with PagedAttention, SOSP 2023. https://arxiv.org/abs/2309.06180</a:t>
            </a:r>
          </a:p>
          <a:p/>
          <a:p>
            <a:r>
              <a:t>KV公式适用于全注意力GQA且不含分配、对齐和分页尾块开销。32000+256乘56KiB=1764MiB，floor(24576/1764)=13。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vLLM Automatic Prefix Caching design, retrieved 2026-10-18. https://github.com/vllm-project/vllm/blob/main/docs/design/prefix_caching.md</a:t>
            </a:r>
          </a:p>
          <a:p/>
          <a:p>
            <a:r>
              <a:t>Qwen/Qwen2.5-7B-Instruct config.json, retrieved 2026-10-18. https://huggingface.co/Qwen/Qwen2.5-7B-Instruct/raw/main/config.json</a:t>
            </a:r>
          </a:p>
          <a:p/>
          <a:p>
            <a:r>
              <a:t>算例：6144*56KiB=336MiB；(2048+256)*56KiB=126MiB；16会话总2352MiB。共享成立需相同模型/前缀/权限域。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Kwon et al., Efficient Memory Management for Large Language Model Serving with PagedAttention, SOSP 2023. https://arxiv.org/abs/2309.06180</a:t>
            </a:r>
          </a:p>
          <a:p/>
          <a:p>
            <a:r>
              <a:t>vLLM Automatic Prefix Caching design, retrieved 2026-10-18. https://github.com/vllm-project/vllm/blob/main/docs/design/prefix_caching.md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Zhong et al., DistServe, OSDI 2024, pp.193–210. https://www.usenix.org/conference/osdi24/presentation/zhong-yinmin ; arXiv:2401.09670v3, 2024-06-06, §§2–7.</a:t>
            </a:r>
          </a:p>
          <a:p/>
          <a:p>
            <a:r>
              <a:t>Kwon et al., Efficient Memory Management for Large Language Model Serving with PagedAttention, SOSP 2023. https://arxiv.org/abs/2309.06180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vLLM Optimization and Tuning, retrieved 2026-10-18. https://docs.vllm.ai/en/latest/configuration/optimization/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vLLM Automatic Prefix Caching design, retrieved 2026-10-18. https://github.com/vllm-project/vllm/blob/main/docs/design/prefix_caching.md</a:t>
            </a:r>
          </a:p>
          <a:p/>
          <a:p>
            <a:r>
              <a:t>vLLM Optimization and Tuning, retrieved 2026-10-18. https://docs.vllm.ai/en/latest/configuration/optimization/</a:t>
            </a:r>
          </a:p>
          <a:p/>
          <a:p>
            <a:r>
              <a:t>准入与租户调度为工程设计建议，具体阈值由服务示例的压力测试确定。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Martin Hickey, Taking vLLM Apart: A Practical Guide to Disaggregated Serving, 2026-09-29, vLLM v0.31.0+. https://vllm.ai/blog/2026-09-29-disaggregated-serving-guide</a:t>
            </a:r>
          </a:p>
          <a:p/>
          <a:p>
            <a:r>
              <a:t>原图坐标反算误差约±0.07ms。原文精确注释：0.4req/s同机169ms、P/D29ms；2req/s同机263ms。DP=2基线存在rank相互等待，独立副本负载均衡是进一步对照项。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vLLM Parallelism and Scaling, retrieved 2026-10-18. https://github.com/vllm-project/vllm/blob/main/docs/serving/parallelism_scaling.md</a:t>
            </a:r>
          </a:p>
          <a:p/>
          <a:p>
            <a:r>
              <a:t>vLLM Optimization and Tuning, retrieved 2026-10-18. https://docs.vllm.ai/en/latest/configuration/optimization/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Zhong et al., DistServe, OSDI 2024, pp.193–210. https://www.usenix.org/conference/osdi24/presentation/zhong-yinmin ; arXiv:2401.09670v3, 2024-06-06, §§2–7.</a:t>
            </a:r>
          </a:p>
          <a:p/>
          <a:p>
            <a:r>
              <a:t>Martin Hickey, Taking vLLM Apart: A Practical Guide to Disaggregated Serving, 2026-09-29, vLLM v0.31.0+. https://vllm.ai/blog/2026-09-29-disaggregated-serving-guide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Qwen/Qwen2.5-7B-Instruct config.json, retrieved 2026-10-18. https://huggingface.co/Qwen/Qwen2.5-7B-Instruct/raw/main/config.json</a:t>
            </a:r>
          </a:p>
          <a:p/>
          <a:p>
            <a:r>
              <a:t>Martin Hickey, Taking vLLM Apart: A Practical Guide to Disaggregated Serving, 2026-09-29, vLLM v0.31.0+. https://vllm.ai/blog/2026-09-29-disaggregated-serving-guide</a:t>
            </a:r>
          </a:p>
          <a:p/>
          <a:p>
            <a:r>
              <a:t>理想下界B/(Gbps×10^9/8)，二进制MiB与十进制Gbps明确区分。曲线为按56KiB/token计算的理想下界。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vLLM Automatic Prefix Caching design, retrieved 2026-10-18. https://github.com/vllm-project/vllm/blob/main/docs/design/prefix_caching.md</a:t>
            </a:r>
          </a:p>
          <a:p/>
          <a:p>
            <a:r>
              <a:t>Martin Hickey, Taking vLLM Apart: A Practical Guide to Disaggregated Serving, 2026-09-29, vLLM v0.31.0+. https://vllm.ai/blog/2026-09-29-disaggregated-serving-guide</a:t>
            </a:r>
          </a:p>
          <a:p/>
          <a:p>
            <a:r>
              <a:t>表格耗时为路由决策算例，非实测。对应预计TTFT求和；跨会话前缀复用另受权限盐约束。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Zhong et al., DistServe, OSDI 2024, pp.193–210. https://www.usenix.org/conference/osdi24/presentation/zhong-yinmin ; arXiv:2401.09670v3, 2024-06-06, §§2–7.</a:t>
            </a:r>
          </a:p>
          <a:p/>
          <a:p>
            <a:r>
              <a:t>vLLM Parallelism and Scaling, retrieved 2026-10-18. https://github.com/vllm-project/vllm/blob/main/docs/serving/parallelism_scaling.md</a:t>
            </a:r>
          </a:p>
          <a:p/>
          <a:p>
            <a:r>
              <a:t>DistServe低node-affinity放置示意。实际系统需检查TP度差异与KV布局兼容。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Zhong et al., DistServe, OSDI 2024, pp.193–210. https://www.usenix.org/conference/osdi24/presentation/zhong-yinmin ; arXiv:2401.09670v3, 2024-06-06, §§2–7.</a:t>
            </a:r>
          </a:p>
          <a:p/>
          <a:p>
            <a:r>
              <a:t>MLCommons Inference rules, retrieved 2026-10-18. https://docs.mlcommons.org/inference/ ; https://github.com/mlcommons/inference_policies/blob/master/inference_rules.adoc</a:t>
            </a:r>
          </a:p>
          <a:p/>
          <a:p>
            <a:r>
              <a:t>DistServe §6.1–6.2；4节点共32 A100-80GB，节点内NVLink、跨节点25Gbps。倍率为各自工作负载相对vLLM最大per-GPU请求率；代码补全TTFT125ms/TPOT200ms，摘要TTFT15s/TPOT150ms。MLPerf Server与Offline的负载生成和时延约束采用规则文档定义。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Martin Hickey, Taking vLLM Apart: A Practical Guide to Disaggregated Serving, 2026-09-29, vLLM v0.31.0+. https://vllm.ai/blog/2026-09-29-disaggregated-serving-guide</a:t>
            </a:r>
          </a:p>
          <a:p/>
          <a:p>
            <a:r>
              <a:t>Zhong et al., DistServe, OSDI 2024, pp.193–210. https://www.usenix.org/conference/osdi24/presentation/zhong-yinmin ; arXiv:2401.09670v3, 2024-06-06, §§2–7.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vLLM Production Metrics, retrieved 2026-10-18. https://github.com/vllm-project/vllm/blob/main/docs/usage/metrics.md</a:t>
            </a:r>
          </a:p>
          <a:p/>
          <a:p>
            <a:r>
              <a:t>Martin Hickey, Taking vLLM Apart: A Practical Guide to Disaggregated Serving, 2026-09-29, vLLM v0.31.0+. https://vllm.ai/blog/2026-09-29-disaggregated-serving-guide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Qwen/Qwen2.5-7B-Instruct config.json, retrieved 2026-10-18. https://huggingface.co/Qwen/Qwen2.5-7B-Instruct/raw/main/config.json</a:t>
            </a:r>
          </a:p>
          <a:p/>
          <a:p>
            <a:r>
              <a:t>Zhong et al., DistServe, OSDI 2024, pp.193–210. https://www.usenix.org/conference/osdi24/presentation/zhong-yinmin ; arXiv:2401.09670v3, 2024-06-06, §§2–7.</a:t>
            </a:r>
          </a:p>
          <a:p/>
          <a:p>
            <a:r>
              <a:t>表格按(T+256)*56KiB；M/D/1假定Poisson到达、固定服务时长、FCFS单服务台，ρ&lt;1。纵轴为理论平均响应时间除以固定服务时间。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Zhong et al., DistServe, OSDI 2024, pp.193–210. https://www.usenix.org/conference/osdi24/presentation/zhong-yinmin ; arXiv:2401.09670v3, 2024-06-06, §§2–7.</a:t>
            </a:r>
          </a:p>
          <a:p/>
          <a:p>
            <a:r>
              <a:t>CU费用、完成速率与达标率均为成本算例的假设参数。2.2/2880*1000=.763889；2.4/3420*1000=.701754；盈亏平衡达标率=0.8*2.4/2.2=.872727。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MLCommons Inference rules, retrieved 2026-10-18. https://docs.mlcommons.org/inference/ ; https://github.com/mlcommons/inference_policies/blob/master/inference_rules.adoc</a:t>
            </a:r>
          </a:p>
          <a:p/>
          <a:p>
            <a:r>
              <a:t>Martin Hickey, Taking vLLM Apart: A Practical Guide to Disaggregated Serving, 2026-09-29, vLLM v0.31.0+. https://vllm.ai/blog/2026-09-29-disaggregated-serving-guide</a:t>
            </a:r>
          </a:p>
          <a:p/>
          <a:p>
            <a:r>
              <a:t>阶段与门槛为本服务场景的工程上线建议。实际回放需保留到达时间及输入输出联合分布，区分预热与冷启动。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Zhong et al., DistServe, OSDI 2024, pp.193–210. https://www.usenix.org/conference/osdi24/presentation/zhong-yinmin ; arXiv:2401.09670v3, 2024-06-06, §§2–7.</a:t>
            </a:r>
          </a:p>
          <a:p/>
          <a:p>
            <a:r>
              <a:t>Martin Hickey, Taking vLLM Apart: A Practical Guide to Disaggregated Serving, 2026-09-29, vLLM v0.31.0+. https://vllm.ai/blog/2026-09-29-disaggregated-serving-guide</a:t>
            </a:r>
          </a:p>
          <a:p/>
          <a:p>
            <a:r>
              <a:t>Qwen/Qwen2.5-7B-Instruct config.json, retrieved 2026-10-18. https://huggingface.co/Qwen/Qwen2.5-7B-Instruct/raw/main/config.json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板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组合 141"/>
          <p:cNvGrpSpPr/>
          <p:nvPr userDrawn="1"/>
        </p:nvGrpSpPr>
        <p:grpSpPr>
          <a:xfrm>
            <a:off x="8327264" y="2565727"/>
            <a:ext cx="5333202" cy="5750156"/>
            <a:chOff x="8327264" y="2565727"/>
            <a:chExt cx="5333202" cy="5750156"/>
          </a:xfrm>
        </p:grpSpPr>
        <p:grpSp>
          <p:nvGrpSpPr>
            <p:cNvPr id="2" name="组合 1"/>
            <p:cNvGrpSpPr/>
            <p:nvPr userDrawn="1"/>
          </p:nvGrpSpPr>
          <p:grpSpPr>
            <a:xfrm>
              <a:off x="8629650" y="3314700"/>
              <a:ext cx="4263853" cy="4740854"/>
              <a:chOff x="3248171" y="3197770"/>
              <a:chExt cx="3295332" cy="3663984"/>
            </a:xfrm>
          </p:grpSpPr>
          <p:sp>
            <p:nvSpPr>
              <p:cNvPr id="3" name="任意多边形: 形状 2"/>
              <p:cNvSpPr/>
              <p:nvPr/>
            </p:nvSpPr>
            <p:spPr>
              <a:xfrm>
                <a:off x="3505550" y="3197770"/>
                <a:ext cx="2747988" cy="3663984"/>
              </a:xfrm>
              <a:custGeom>
                <a:avLst/>
                <a:gdLst>
                  <a:gd name="connsiteX0" fmla="*/ 7144 w 1743075"/>
                  <a:gd name="connsiteY0" fmla="*/ 1742789 h 2324100"/>
                  <a:gd name="connsiteX1" fmla="*/ 1742789 w 1743075"/>
                  <a:gd name="connsiteY1" fmla="*/ 7144 h 2324100"/>
                  <a:gd name="connsiteX2" fmla="*/ 1742789 w 1743075"/>
                  <a:gd name="connsiteY2" fmla="*/ 585692 h 2324100"/>
                  <a:gd name="connsiteX3" fmla="*/ 7144 w 1743075"/>
                  <a:gd name="connsiteY3" fmla="*/ 2321243 h 2324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43075" h="2324100">
                    <a:moveTo>
                      <a:pt x="7144" y="1742789"/>
                    </a:moveTo>
                    <a:lnTo>
                      <a:pt x="1742789" y="7144"/>
                    </a:lnTo>
                    <a:lnTo>
                      <a:pt x="1742789" y="585692"/>
                    </a:lnTo>
                    <a:lnTo>
                      <a:pt x="7144" y="232124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" name="任意多边形: 形状 3"/>
              <p:cNvSpPr/>
              <p:nvPr/>
            </p:nvSpPr>
            <p:spPr>
              <a:xfrm>
                <a:off x="4157559" y="4505392"/>
                <a:ext cx="570620" cy="1126225"/>
              </a:xfrm>
              <a:custGeom>
                <a:avLst/>
                <a:gdLst>
                  <a:gd name="connsiteX0" fmla="*/ 153353 w 361950"/>
                  <a:gd name="connsiteY0" fmla="*/ 360141 h 714375"/>
                  <a:gd name="connsiteX1" fmla="*/ 7144 w 361950"/>
                  <a:gd name="connsiteY1" fmla="*/ 7144 h 714375"/>
                  <a:gd name="connsiteX2" fmla="*/ 360140 w 361950"/>
                  <a:gd name="connsiteY2" fmla="*/ 360141 h 714375"/>
                  <a:gd name="connsiteX3" fmla="*/ 7144 w 361950"/>
                  <a:gd name="connsiteY3" fmla="*/ 713137 h 714375"/>
                  <a:gd name="connsiteX4" fmla="*/ 153353 w 361950"/>
                  <a:gd name="connsiteY4" fmla="*/ 360141 h 71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950" h="714375">
                    <a:moveTo>
                      <a:pt x="153353" y="360141"/>
                    </a:moveTo>
                    <a:cubicBezTo>
                      <a:pt x="153353" y="232410"/>
                      <a:pt x="104584" y="104680"/>
                      <a:pt x="7144" y="7144"/>
                    </a:cubicBezTo>
                    <a:lnTo>
                      <a:pt x="360140" y="360141"/>
                    </a:lnTo>
                    <a:lnTo>
                      <a:pt x="7144" y="713137"/>
                    </a:lnTo>
                    <a:cubicBezTo>
                      <a:pt x="104584" y="615696"/>
                      <a:pt x="153353" y="487871"/>
                      <a:pt x="153353" y="360141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" name="任意多边形: 形状 4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" name="任意多边形: 形状 5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任意多边形: 形状 6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" name="任意多边形: 形状 7"/>
              <p:cNvSpPr/>
              <p:nvPr/>
            </p:nvSpPr>
            <p:spPr>
              <a:xfrm>
                <a:off x="4445122" y="4524914"/>
                <a:ext cx="825898" cy="1096192"/>
              </a:xfrm>
              <a:custGeom>
                <a:avLst/>
                <a:gdLst>
                  <a:gd name="connsiteX0" fmla="*/ 348805 w 523875"/>
                  <a:gd name="connsiteY0" fmla="*/ 519684 h 695325"/>
                  <a:gd name="connsiteX1" fmla="*/ 519684 w 523875"/>
                  <a:gd name="connsiteY1" fmla="*/ 348805 h 695325"/>
                  <a:gd name="connsiteX2" fmla="*/ 348805 w 523875"/>
                  <a:gd name="connsiteY2" fmla="*/ 178022 h 695325"/>
                  <a:gd name="connsiteX3" fmla="*/ 178022 w 523875"/>
                  <a:gd name="connsiteY3" fmla="*/ 7144 h 695325"/>
                  <a:gd name="connsiteX4" fmla="*/ 7144 w 523875"/>
                  <a:gd name="connsiteY4" fmla="*/ 178022 h 695325"/>
                  <a:gd name="connsiteX5" fmla="*/ 178022 w 523875"/>
                  <a:gd name="connsiteY5" fmla="*/ 348805 h 695325"/>
                  <a:gd name="connsiteX6" fmla="*/ 7144 w 523875"/>
                  <a:gd name="connsiteY6" fmla="*/ 519684 h 695325"/>
                  <a:gd name="connsiteX7" fmla="*/ 178022 w 523875"/>
                  <a:gd name="connsiteY7" fmla="*/ 690563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3875" h="695325">
                    <a:moveTo>
                      <a:pt x="348805" y="519684"/>
                    </a:moveTo>
                    <a:lnTo>
                      <a:pt x="519684" y="348805"/>
                    </a:lnTo>
                    <a:lnTo>
                      <a:pt x="348805" y="178022"/>
                    </a:lnTo>
                    <a:lnTo>
                      <a:pt x="178022" y="7144"/>
                    </a:lnTo>
                    <a:lnTo>
                      <a:pt x="7144" y="178022"/>
                    </a:lnTo>
                    <a:lnTo>
                      <a:pt x="178022" y="348805"/>
                    </a:lnTo>
                    <a:lnTo>
                      <a:pt x="7144" y="519684"/>
                    </a:lnTo>
                    <a:lnTo>
                      <a:pt x="178022" y="69056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4445122" y="4524914"/>
                <a:ext cx="285310" cy="555604"/>
              </a:xfrm>
              <a:custGeom>
                <a:avLst/>
                <a:gdLst>
                  <a:gd name="connsiteX0" fmla="*/ 178022 w 180975"/>
                  <a:gd name="connsiteY0" fmla="*/ 348805 h 352425"/>
                  <a:gd name="connsiteX1" fmla="*/ 178022 w 180975"/>
                  <a:gd name="connsiteY1" fmla="*/ 7144 h 352425"/>
                  <a:gd name="connsiteX2" fmla="*/ 7144 w 180975"/>
                  <a:gd name="connsiteY2" fmla="*/ 178022 h 35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975" h="352425">
                    <a:moveTo>
                      <a:pt x="178022" y="348805"/>
                    </a:moveTo>
                    <a:lnTo>
                      <a:pt x="178022" y="7144"/>
                    </a:lnTo>
                    <a:lnTo>
                      <a:pt x="7144" y="17802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5252099" y="4281949"/>
                <a:ext cx="1291404" cy="1306420"/>
              </a:xfrm>
              <a:custGeom>
                <a:avLst/>
                <a:gdLst>
                  <a:gd name="connsiteX0" fmla="*/ 819722 w 819150"/>
                  <a:gd name="connsiteY0" fmla="*/ 723900 h 828675"/>
                  <a:gd name="connsiteX1" fmla="*/ 106775 w 819150"/>
                  <a:gd name="connsiteY1" fmla="*/ 7144 h 828675"/>
                  <a:gd name="connsiteX2" fmla="*/ 7144 w 819150"/>
                  <a:gd name="connsiteY2" fmla="*/ 106680 h 828675"/>
                  <a:gd name="connsiteX3" fmla="*/ 720185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722" y="723900"/>
                    </a:moveTo>
                    <a:lnTo>
                      <a:pt x="106775" y="7144"/>
                    </a:lnTo>
                    <a:lnTo>
                      <a:pt x="7144" y="106680"/>
                    </a:lnTo>
                    <a:lnTo>
                      <a:pt x="720185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4938257" y="4438869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2 h 809625"/>
                  <a:gd name="connsiteX1" fmla="*/ 206216 w 609600"/>
                  <a:gd name="connsiteY1" fmla="*/ 405384 h 809625"/>
                  <a:gd name="connsiteX2" fmla="*/ 7144 w 609600"/>
                  <a:gd name="connsiteY2" fmla="*/ 604552 h 809625"/>
                  <a:gd name="connsiteX3" fmla="*/ 206216 w 609600"/>
                  <a:gd name="connsiteY3" fmla="*/ 803625 h 809625"/>
                  <a:gd name="connsiteX4" fmla="*/ 405384 w 609600"/>
                  <a:gd name="connsiteY4" fmla="*/ 604552 h 809625"/>
                  <a:gd name="connsiteX5" fmla="*/ 604457 w 609600"/>
                  <a:gd name="connsiteY5" fmla="*/ 405384 h 809625"/>
                  <a:gd name="connsiteX6" fmla="*/ 405384 w 609600"/>
                  <a:gd name="connsiteY6" fmla="*/ 206312 h 809625"/>
                  <a:gd name="connsiteX7" fmla="*/ 206216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2"/>
                    </a:moveTo>
                    <a:lnTo>
                      <a:pt x="206216" y="405384"/>
                    </a:lnTo>
                    <a:lnTo>
                      <a:pt x="7144" y="604552"/>
                    </a:lnTo>
                    <a:lnTo>
                      <a:pt x="206216" y="803625"/>
                    </a:lnTo>
                    <a:lnTo>
                      <a:pt x="405384" y="604552"/>
                    </a:lnTo>
                    <a:lnTo>
                      <a:pt x="604457" y="405384"/>
                    </a:lnTo>
                    <a:lnTo>
                      <a:pt x="405384" y="206312"/>
                    </a:lnTo>
                    <a:lnTo>
                      <a:pt x="206216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3248171" y="4936060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7"/>
                      <a:pt x="131046" y="166783"/>
                      <a:pt x="86963" y="166783"/>
                    </a:cubicBezTo>
                    <a:cubicBezTo>
                      <a:pt x="42880" y="166783"/>
                      <a:pt x="7144" y="131047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5248044" y="4843860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8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8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5489958" y="5079015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1 w 38100"/>
                  <a:gd name="connsiteY2" fmla="*/ 12001 h 38100"/>
                  <a:gd name="connsiteX3" fmla="*/ 12001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1" y="12001"/>
                    </a:cubicBezTo>
                    <a:cubicBezTo>
                      <a:pt x="5525" y="18478"/>
                      <a:pt x="5525" y="28956"/>
                      <a:pt x="12001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5687423" y="5276480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5884888" y="5473946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5153442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5279579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540556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5531704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657690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578367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5153442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527943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>
                <a:off x="5405567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5531553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565769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5153442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>
                <a:off x="5279430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任意多边形: 形状 29"/>
              <p:cNvSpPr/>
              <p:nvPr/>
            </p:nvSpPr>
            <p:spPr>
              <a:xfrm>
                <a:off x="5405567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5531553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5153442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5279579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5405567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5153442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5279579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5153442" y="411091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 userDrawn="1"/>
          </p:nvGrpSpPr>
          <p:grpSpPr>
            <a:xfrm>
              <a:off x="8327264" y="2565727"/>
              <a:ext cx="5333202" cy="5750156"/>
              <a:chOff x="8327264" y="2565727"/>
              <a:chExt cx="5333202" cy="5750156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8327264" y="685865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 rot="5400000">
                <a:off x="10410901" y="4358062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41" name="组合 140"/>
          <p:cNvGrpSpPr/>
          <p:nvPr userDrawn="1"/>
        </p:nvGrpSpPr>
        <p:grpSpPr>
          <a:xfrm>
            <a:off x="-1464644" y="-1454855"/>
            <a:ext cx="5333202" cy="5750156"/>
            <a:chOff x="-1464644" y="-1454855"/>
            <a:chExt cx="5333202" cy="5750156"/>
          </a:xfrm>
        </p:grpSpPr>
        <p:sp>
          <p:nvSpPr>
            <p:cNvPr id="41" name="任意多边形: 形状 40"/>
            <p:cNvSpPr/>
            <p:nvPr userDrawn="1"/>
          </p:nvSpPr>
          <p:spPr>
            <a:xfrm flipH="1" flipV="1">
              <a:off x="-169463" y="-1390452"/>
              <a:ext cx="3555641" cy="4740854"/>
            </a:xfrm>
            <a:custGeom>
              <a:avLst/>
              <a:gdLst>
                <a:gd name="connsiteX0" fmla="*/ 7144 w 1743075"/>
                <a:gd name="connsiteY0" fmla="*/ 1742789 h 2324100"/>
                <a:gd name="connsiteX1" fmla="*/ 1742789 w 1743075"/>
                <a:gd name="connsiteY1" fmla="*/ 7144 h 2324100"/>
                <a:gd name="connsiteX2" fmla="*/ 1742789 w 1743075"/>
                <a:gd name="connsiteY2" fmla="*/ 585692 h 2324100"/>
                <a:gd name="connsiteX3" fmla="*/ 7144 w 1743075"/>
                <a:gd name="connsiteY3" fmla="*/ 2321338 h 232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075" h="2324100">
                  <a:moveTo>
                    <a:pt x="7144" y="1742789"/>
                  </a:moveTo>
                  <a:lnTo>
                    <a:pt x="1742789" y="7144"/>
                  </a:lnTo>
                  <a:lnTo>
                    <a:pt x="1742789" y="585692"/>
                  </a:lnTo>
                  <a:lnTo>
                    <a:pt x="7144" y="2321338"/>
                  </a:lnTo>
                  <a:close/>
                </a:path>
              </a:pathLst>
            </a:custGeom>
            <a:solidFill>
              <a:srgbClr val="F263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 userDrawn="1"/>
          </p:nvGrpSpPr>
          <p:grpSpPr>
            <a:xfrm flipV="1">
              <a:off x="-433823" y="-395398"/>
              <a:ext cx="3130579" cy="3407352"/>
              <a:chOff x="939861" y="-575832"/>
              <a:chExt cx="2588513" cy="2817362"/>
            </a:xfrm>
          </p:grpSpPr>
          <p:sp>
            <p:nvSpPr>
              <p:cNvPr id="43" name="任意多边形: 形状 42"/>
              <p:cNvSpPr/>
              <p:nvPr/>
            </p:nvSpPr>
            <p:spPr>
              <a:xfrm>
                <a:off x="939861" y="935110"/>
                <a:ext cx="1306420" cy="1306420"/>
              </a:xfrm>
              <a:custGeom>
                <a:avLst/>
                <a:gdLst>
                  <a:gd name="connsiteX0" fmla="*/ 829818 w 828675"/>
                  <a:gd name="connsiteY0" fmla="*/ 418529 h 828675"/>
                  <a:gd name="connsiteX1" fmla="*/ 418433 w 828675"/>
                  <a:gd name="connsiteY1" fmla="*/ 7144 h 828675"/>
                  <a:gd name="connsiteX2" fmla="*/ 7144 w 828675"/>
                  <a:gd name="connsiteY2" fmla="*/ 418529 h 828675"/>
                  <a:gd name="connsiteX3" fmla="*/ 418433 w 828675"/>
                  <a:gd name="connsiteY3" fmla="*/ 829818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8675" h="828675">
                    <a:moveTo>
                      <a:pt x="829818" y="418529"/>
                    </a:moveTo>
                    <a:lnTo>
                      <a:pt x="418433" y="7144"/>
                    </a:lnTo>
                    <a:lnTo>
                      <a:pt x="7144" y="418529"/>
                    </a:lnTo>
                    <a:lnTo>
                      <a:pt x="418433" y="829818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1201820" y="1591398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1370003" y="1759431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432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1538036" y="1927614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1394029" y="1399189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1562212" y="1567222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432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>
                <a:off x="1730245" y="1735405"/>
                <a:ext cx="60065" cy="60065"/>
              </a:xfrm>
              <a:custGeom>
                <a:avLst/>
                <a:gdLst>
                  <a:gd name="connsiteX0" fmla="*/ 34623 w 38100"/>
                  <a:gd name="connsiteY0" fmla="*/ 11858 h 38100"/>
                  <a:gd name="connsiteX1" fmla="*/ 11859 w 38100"/>
                  <a:gd name="connsiteY1" fmla="*/ 11858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8"/>
                    </a:moveTo>
                    <a:cubicBezTo>
                      <a:pt x="28337" y="5572"/>
                      <a:pt x="18145" y="5572"/>
                      <a:pt x="11859" y="11858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8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1586164" y="1206906"/>
                <a:ext cx="60065" cy="60065"/>
              </a:xfrm>
              <a:custGeom>
                <a:avLst/>
                <a:gdLst>
                  <a:gd name="connsiteX0" fmla="*/ 39338 w 38100"/>
                  <a:gd name="connsiteY0" fmla="*/ 23241 h 38100"/>
                  <a:gd name="connsiteX1" fmla="*/ 23241 w 38100"/>
                  <a:gd name="connsiteY1" fmla="*/ 39338 h 38100"/>
                  <a:gd name="connsiteX2" fmla="*/ 7144 w 38100"/>
                  <a:gd name="connsiteY2" fmla="*/ 23241 h 38100"/>
                  <a:gd name="connsiteX3" fmla="*/ 23241 w 38100"/>
                  <a:gd name="connsiteY3" fmla="*/ 7144 h 38100"/>
                  <a:gd name="connsiteX4" fmla="*/ 39338 w 38100"/>
                  <a:gd name="connsiteY4" fmla="*/ 2324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9338" y="23241"/>
                    </a:moveTo>
                    <a:cubicBezTo>
                      <a:pt x="39338" y="32131"/>
                      <a:pt x="32131" y="39338"/>
                      <a:pt x="23241" y="39338"/>
                    </a:cubicBezTo>
                    <a:cubicBezTo>
                      <a:pt x="14351" y="39338"/>
                      <a:pt x="7144" y="32131"/>
                      <a:pt x="7144" y="23241"/>
                    </a:cubicBezTo>
                    <a:cubicBezTo>
                      <a:pt x="7144" y="14351"/>
                      <a:pt x="14351" y="7144"/>
                      <a:pt x="23241" y="7144"/>
                    </a:cubicBezTo>
                    <a:cubicBezTo>
                      <a:pt x="32131" y="7144"/>
                      <a:pt x="39338" y="14351"/>
                      <a:pt x="39338" y="23241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1754421" y="1375013"/>
                <a:ext cx="60065" cy="60065"/>
              </a:xfrm>
              <a:custGeom>
                <a:avLst/>
                <a:gdLst>
                  <a:gd name="connsiteX0" fmla="*/ 34623 w 38100"/>
                  <a:gd name="connsiteY0" fmla="*/ 11858 h 38100"/>
                  <a:gd name="connsiteX1" fmla="*/ 11859 w 38100"/>
                  <a:gd name="connsiteY1" fmla="*/ 11858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8"/>
                    </a:moveTo>
                    <a:cubicBezTo>
                      <a:pt x="28337" y="5572"/>
                      <a:pt x="18145" y="5572"/>
                      <a:pt x="11859" y="11858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432"/>
                      <a:pt x="40910" y="18145"/>
                      <a:pt x="34623" y="11858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1922454" y="1543196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1729119" y="-88253"/>
                <a:ext cx="900980" cy="900980"/>
              </a:xfrm>
              <a:custGeom>
                <a:avLst/>
                <a:gdLst>
                  <a:gd name="connsiteX0" fmla="*/ 570548 w 571500"/>
                  <a:gd name="connsiteY0" fmla="*/ 429768 h 571500"/>
                  <a:gd name="connsiteX1" fmla="*/ 429673 w 571500"/>
                  <a:gd name="connsiteY1" fmla="*/ 570643 h 571500"/>
                  <a:gd name="connsiteX2" fmla="*/ 7144 w 571500"/>
                  <a:gd name="connsiteY2" fmla="*/ 148114 h 571500"/>
                  <a:gd name="connsiteX3" fmla="*/ 148018 w 571500"/>
                  <a:gd name="connsiteY3" fmla="*/ 7144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570548" y="429768"/>
                    </a:moveTo>
                    <a:lnTo>
                      <a:pt x="429673" y="570643"/>
                    </a:lnTo>
                    <a:lnTo>
                      <a:pt x="7144" y="148114"/>
                    </a:lnTo>
                    <a:lnTo>
                      <a:pt x="148018" y="714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1258507" y="382359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9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9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1729119" y="-88253"/>
                <a:ext cx="900980" cy="900980"/>
              </a:xfrm>
              <a:custGeom>
                <a:avLst/>
                <a:gdLst>
                  <a:gd name="connsiteX0" fmla="*/ 148018 w 571500"/>
                  <a:gd name="connsiteY0" fmla="*/ 7144 h 571500"/>
                  <a:gd name="connsiteX1" fmla="*/ 570548 w 571500"/>
                  <a:gd name="connsiteY1" fmla="*/ 429768 h 571500"/>
                  <a:gd name="connsiteX2" fmla="*/ 429768 w 571500"/>
                  <a:gd name="connsiteY2" fmla="*/ 570643 h 571500"/>
                  <a:gd name="connsiteX3" fmla="*/ 7144 w 571500"/>
                  <a:gd name="connsiteY3" fmla="*/ 14801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148018" y="7144"/>
                    </a:moveTo>
                    <a:lnTo>
                      <a:pt x="570548" y="429768"/>
                    </a:lnTo>
                    <a:lnTo>
                      <a:pt x="429768" y="570643"/>
                    </a:lnTo>
                    <a:lnTo>
                      <a:pt x="7144" y="148019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1974635" y="143299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2 h 38100"/>
                  <a:gd name="connsiteX2" fmla="*/ 12002 w 38100"/>
                  <a:gd name="connsiteY2" fmla="*/ 12002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2"/>
                    </a:cubicBezTo>
                    <a:cubicBezTo>
                      <a:pt x="28956" y="5524"/>
                      <a:pt x="18479" y="5524"/>
                      <a:pt x="12002" y="12002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2172100" y="340764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2369565" y="538229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1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/>
              <p:cNvSpPr/>
              <p:nvPr/>
            </p:nvSpPr>
            <p:spPr>
              <a:xfrm>
                <a:off x="1500420" y="617514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9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9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任意多边形: 形状 59"/>
              <p:cNvSpPr/>
              <p:nvPr/>
            </p:nvSpPr>
            <p:spPr>
              <a:xfrm>
                <a:off x="1697885" y="814979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2 h 38100"/>
                  <a:gd name="connsiteX2" fmla="*/ 12002 w 38100"/>
                  <a:gd name="connsiteY2" fmla="*/ 12002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2"/>
                    </a:cubicBezTo>
                    <a:cubicBezTo>
                      <a:pt x="28956" y="5524"/>
                      <a:pt x="18479" y="5524"/>
                      <a:pt x="12002" y="12002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任意多边形: 形状 60"/>
              <p:cNvSpPr/>
              <p:nvPr/>
            </p:nvSpPr>
            <p:spPr>
              <a:xfrm>
                <a:off x="1895350" y="1012444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0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任意多边形: 形状 61"/>
              <p:cNvSpPr/>
              <p:nvPr/>
            </p:nvSpPr>
            <p:spPr>
              <a:xfrm>
                <a:off x="2236970" y="641991"/>
                <a:ext cx="645702" cy="645702"/>
              </a:xfrm>
              <a:custGeom>
                <a:avLst/>
                <a:gdLst>
                  <a:gd name="connsiteX0" fmla="*/ 405289 w 409575"/>
                  <a:gd name="connsiteY0" fmla="*/ 206216 h 409575"/>
                  <a:gd name="connsiteX1" fmla="*/ 206216 w 409575"/>
                  <a:gd name="connsiteY1" fmla="*/ 7144 h 409575"/>
                  <a:gd name="connsiteX2" fmla="*/ 7144 w 409575"/>
                  <a:gd name="connsiteY2" fmla="*/ 206216 h 409575"/>
                  <a:gd name="connsiteX3" fmla="*/ 206216 w 409575"/>
                  <a:gd name="connsiteY3" fmla="*/ 405384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9575" h="409575">
                    <a:moveTo>
                      <a:pt x="405289" y="206216"/>
                    </a:moveTo>
                    <a:lnTo>
                      <a:pt x="206216" y="7144"/>
                    </a:lnTo>
                    <a:lnTo>
                      <a:pt x="7144" y="206216"/>
                    </a:lnTo>
                    <a:lnTo>
                      <a:pt x="206216" y="405384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>
                <a:off x="2236970" y="798913"/>
                <a:ext cx="1291404" cy="1306420"/>
              </a:xfrm>
              <a:custGeom>
                <a:avLst/>
                <a:gdLst>
                  <a:gd name="connsiteX0" fmla="*/ 819626 w 819150"/>
                  <a:gd name="connsiteY0" fmla="*/ 723900 h 828675"/>
                  <a:gd name="connsiteX1" fmla="*/ 106680 w 819150"/>
                  <a:gd name="connsiteY1" fmla="*/ 7144 h 828675"/>
                  <a:gd name="connsiteX2" fmla="*/ 7144 w 819150"/>
                  <a:gd name="connsiteY2" fmla="*/ 106680 h 828675"/>
                  <a:gd name="connsiteX3" fmla="*/ 720090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626" y="723900"/>
                    </a:moveTo>
                    <a:lnTo>
                      <a:pt x="106680" y="7144"/>
                    </a:lnTo>
                    <a:lnTo>
                      <a:pt x="7144" y="106680"/>
                    </a:lnTo>
                    <a:lnTo>
                      <a:pt x="720090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>
                <a:off x="1922980" y="955833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1 h 809625"/>
                  <a:gd name="connsiteX1" fmla="*/ 206312 w 609600"/>
                  <a:gd name="connsiteY1" fmla="*/ 405384 h 809625"/>
                  <a:gd name="connsiteX2" fmla="*/ 7144 w 609600"/>
                  <a:gd name="connsiteY2" fmla="*/ 604457 h 809625"/>
                  <a:gd name="connsiteX3" fmla="*/ 206312 w 609600"/>
                  <a:gd name="connsiteY3" fmla="*/ 803624 h 809625"/>
                  <a:gd name="connsiteX4" fmla="*/ 405384 w 609600"/>
                  <a:gd name="connsiteY4" fmla="*/ 604457 h 809625"/>
                  <a:gd name="connsiteX5" fmla="*/ 604457 w 609600"/>
                  <a:gd name="connsiteY5" fmla="*/ 405384 h 809625"/>
                  <a:gd name="connsiteX6" fmla="*/ 405384 w 609600"/>
                  <a:gd name="connsiteY6" fmla="*/ 206311 h 809625"/>
                  <a:gd name="connsiteX7" fmla="*/ 206312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1"/>
                    </a:moveTo>
                    <a:lnTo>
                      <a:pt x="206312" y="405384"/>
                    </a:lnTo>
                    <a:lnTo>
                      <a:pt x="7144" y="604457"/>
                    </a:lnTo>
                    <a:lnTo>
                      <a:pt x="206312" y="803624"/>
                    </a:lnTo>
                    <a:lnTo>
                      <a:pt x="405384" y="604457"/>
                    </a:lnTo>
                    <a:lnTo>
                      <a:pt x="604457" y="405384"/>
                    </a:lnTo>
                    <a:lnTo>
                      <a:pt x="405384" y="206311"/>
                    </a:lnTo>
                    <a:lnTo>
                      <a:pt x="206312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1438703" y="-575832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6"/>
                      <a:pt x="131046" y="166783"/>
                      <a:pt x="86963" y="166783"/>
                    </a:cubicBezTo>
                    <a:cubicBezTo>
                      <a:pt x="42880" y="166783"/>
                      <a:pt x="7144" y="131046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6" name="任意多边形: 形状 65"/>
              <p:cNvSpPr/>
              <p:nvPr/>
            </p:nvSpPr>
            <p:spPr>
              <a:xfrm>
                <a:off x="3467108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7" name="任意多边形: 形状 66"/>
              <p:cNvSpPr/>
              <p:nvPr/>
            </p:nvSpPr>
            <p:spPr>
              <a:xfrm>
                <a:off x="3467108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8" name="任意多边形: 形状 67"/>
              <p:cNvSpPr/>
              <p:nvPr/>
            </p:nvSpPr>
            <p:spPr>
              <a:xfrm>
                <a:off x="3467108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9" name="任意多边形: 形状 68"/>
              <p:cNvSpPr/>
              <p:nvPr/>
            </p:nvSpPr>
            <p:spPr>
              <a:xfrm>
                <a:off x="3467108" y="1485759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0" name="任意多边形: 形状 69"/>
              <p:cNvSpPr/>
              <p:nvPr/>
            </p:nvSpPr>
            <p:spPr>
              <a:xfrm>
                <a:off x="3467108" y="1611896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0"/>
                      <a:pt x="11621" y="7144"/>
                      <a:pt x="17145" y="7144"/>
                    </a:cubicBezTo>
                    <a:cubicBezTo>
                      <a:pt x="22670" y="7144"/>
                      <a:pt x="27146" y="11620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1" name="任意多边形: 形状 70"/>
              <p:cNvSpPr/>
              <p:nvPr/>
            </p:nvSpPr>
            <p:spPr>
              <a:xfrm>
                <a:off x="3467108" y="1737883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2" name="任意多边形: 形状 71"/>
              <p:cNvSpPr/>
              <p:nvPr/>
            </p:nvSpPr>
            <p:spPr>
              <a:xfrm>
                <a:off x="3341122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242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3" name="任意多边形: 形状 72"/>
              <p:cNvSpPr/>
              <p:nvPr/>
            </p:nvSpPr>
            <p:spPr>
              <a:xfrm>
                <a:off x="3341122" y="123363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4" name="任意多边形: 形状 73"/>
              <p:cNvSpPr/>
              <p:nvPr/>
            </p:nvSpPr>
            <p:spPr>
              <a:xfrm>
                <a:off x="3341122" y="1359622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5" name="任意多边形: 形状 74"/>
              <p:cNvSpPr/>
              <p:nvPr/>
            </p:nvSpPr>
            <p:spPr>
              <a:xfrm>
                <a:off x="3341122" y="148575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6" name="任意多边形: 形状 75"/>
              <p:cNvSpPr/>
              <p:nvPr/>
            </p:nvSpPr>
            <p:spPr>
              <a:xfrm>
                <a:off x="3341122" y="1611896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0"/>
                      <a:pt x="11621" y="7144"/>
                      <a:pt x="17145" y="7144"/>
                    </a:cubicBezTo>
                    <a:cubicBezTo>
                      <a:pt x="22670" y="7144"/>
                      <a:pt x="27146" y="11620"/>
                      <a:pt x="27146" y="17145"/>
                    </a:cubicBezTo>
                    <a:cubicBezTo>
                      <a:pt x="27242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7" name="任意多边形: 形状 76"/>
              <p:cNvSpPr/>
              <p:nvPr/>
            </p:nvSpPr>
            <p:spPr>
              <a:xfrm>
                <a:off x="3215285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8" name="任意多边形: 形状 77"/>
              <p:cNvSpPr/>
              <p:nvPr/>
            </p:nvSpPr>
            <p:spPr>
              <a:xfrm>
                <a:off x="3215285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9" name="任意多边形: 形状 78"/>
              <p:cNvSpPr/>
              <p:nvPr/>
            </p:nvSpPr>
            <p:spPr>
              <a:xfrm>
                <a:off x="3215285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0" name="任意多边形: 形状 79"/>
              <p:cNvSpPr/>
              <p:nvPr/>
            </p:nvSpPr>
            <p:spPr>
              <a:xfrm>
                <a:off x="3215285" y="1485759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1" name="任意多边形: 形状 80"/>
              <p:cNvSpPr/>
              <p:nvPr/>
            </p:nvSpPr>
            <p:spPr>
              <a:xfrm>
                <a:off x="3089447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2" name="任意多边形: 形状 81"/>
              <p:cNvSpPr/>
              <p:nvPr/>
            </p:nvSpPr>
            <p:spPr>
              <a:xfrm>
                <a:off x="3089447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3" name="任意多边形: 形状 82"/>
              <p:cNvSpPr/>
              <p:nvPr/>
            </p:nvSpPr>
            <p:spPr>
              <a:xfrm>
                <a:off x="3089447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4" name="任意多边形: 形状 83"/>
              <p:cNvSpPr/>
              <p:nvPr/>
            </p:nvSpPr>
            <p:spPr>
              <a:xfrm>
                <a:off x="2963461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242" y="22670"/>
                      <a:pt x="22765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5" name="任意多边形: 形状 84"/>
              <p:cNvSpPr/>
              <p:nvPr/>
            </p:nvSpPr>
            <p:spPr>
              <a:xfrm>
                <a:off x="2963461" y="123363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6" name="任意多边形: 形状 85"/>
              <p:cNvSpPr/>
              <p:nvPr/>
            </p:nvSpPr>
            <p:spPr>
              <a:xfrm>
                <a:off x="2837623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ubicBezTo>
                      <a:pt x="27146" y="22670"/>
                      <a:pt x="22669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87" name="组合 86"/>
            <p:cNvGrpSpPr/>
            <p:nvPr userDrawn="1"/>
          </p:nvGrpSpPr>
          <p:grpSpPr>
            <a:xfrm rot="10800000">
              <a:off x="-1464644" y="-1454855"/>
              <a:ext cx="5333202" cy="5750156"/>
              <a:chOff x="8327264" y="2565727"/>
              <a:chExt cx="5333202" cy="5750156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8327264" y="685865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9" name="矩形 88"/>
              <p:cNvSpPr/>
              <p:nvPr/>
            </p:nvSpPr>
            <p:spPr>
              <a:xfrm rot="5400000">
                <a:off x="10410901" y="4358062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90" name="组合 89"/>
            <p:cNvGrpSpPr/>
            <p:nvPr userDrawn="1"/>
          </p:nvGrpSpPr>
          <p:grpSpPr>
            <a:xfrm>
              <a:off x="855797" y="2495457"/>
              <a:ext cx="707138" cy="706096"/>
              <a:chOff x="804659" y="2305858"/>
              <a:chExt cx="1124799" cy="1123142"/>
            </a:xfrm>
          </p:grpSpPr>
          <p:sp>
            <p:nvSpPr>
              <p:cNvPr id="91" name="任意多边形: 形状 90"/>
              <p:cNvSpPr/>
              <p:nvPr/>
            </p:nvSpPr>
            <p:spPr>
              <a:xfrm flipV="1">
                <a:off x="804659" y="2466471"/>
                <a:ext cx="962529" cy="962529"/>
              </a:xfrm>
              <a:custGeom>
                <a:avLst/>
                <a:gdLst>
                  <a:gd name="connsiteX0" fmla="*/ 91393 w 504825"/>
                  <a:gd name="connsiteY0" fmla="*/ 92334 h 504825"/>
                  <a:gd name="connsiteX1" fmla="*/ 91393 w 504825"/>
                  <a:gd name="connsiteY1" fmla="*/ 92334 h 504825"/>
                  <a:gd name="connsiteX2" fmla="*/ 92346 w 504825"/>
                  <a:gd name="connsiteY2" fmla="*/ 501432 h 504825"/>
                  <a:gd name="connsiteX3" fmla="*/ 92346 w 504825"/>
                  <a:gd name="connsiteY3" fmla="*/ 501432 h 504825"/>
                  <a:gd name="connsiteX4" fmla="*/ 296466 w 504825"/>
                  <a:gd name="connsiteY4" fmla="*/ 296454 h 504825"/>
                  <a:gd name="connsiteX5" fmla="*/ 500587 w 504825"/>
                  <a:gd name="connsiteY5" fmla="*/ 91476 h 504825"/>
                  <a:gd name="connsiteX6" fmla="*/ 500587 w 504825"/>
                  <a:gd name="connsiteY6" fmla="*/ 91476 h 504825"/>
                  <a:gd name="connsiteX7" fmla="*/ 91393 w 504825"/>
                  <a:gd name="connsiteY7" fmla="*/ 92334 h 504825"/>
                  <a:gd name="connsiteX8" fmla="*/ 91393 w 504825"/>
                  <a:gd name="connsiteY8" fmla="*/ 92334 h 50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4825" h="504825">
                    <a:moveTo>
                      <a:pt x="91393" y="92334"/>
                    </a:moveTo>
                    <a:lnTo>
                      <a:pt x="91393" y="92334"/>
                    </a:lnTo>
                    <a:cubicBezTo>
                      <a:pt x="-21288" y="205586"/>
                      <a:pt x="-20907" y="388752"/>
                      <a:pt x="92346" y="501432"/>
                    </a:cubicBezTo>
                    <a:lnTo>
                      <a:pt x="92346" y="501432"/>
                    </a:lnTo>
                    <a:lnTo>
                      <a:pt x="296466" y="296454"/>
                    </a:lnTo>
                    <a:lnTo>
                      <a:pt x="500587" y="91476"/>
                    </a:lnTo>
                    <a:lnTo>
                      <a:pt x="500587" y="91476"/>
                    </a:lnTo>
                    <a:cubicBezTo>
                      <a:pt x="387335" y="-21300"/>
                      <a:pt x="204169" y="-20919"/>
                      <a:pt x="91393" y="92334"/>
                    </a:cubicBezTo>
                    <a:lnTo>
                      <a:pt x="91393" y="9233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2" name="任意多边形: 形状 91"/>
              <p:cNvSpPr/>
              <p:nvPr/>
            </p:nvSpPr>
            <p:spPr>
              <a:xfrm flipV="1">
                <a:off x="966929" y="2305858"/>
                <a:ext cx="962529" cy="962529"/>
              </a:xfrm>
              <a:custGeom>
                <a:avLst/>
                <a:gdLst>
                  <a:gd name="connsiteX0" fmla="*/ 416338 w 504825"/>
                  <a:gd name="connsiteY0" fmla="*/ 416242 h 504825"/>
                  <a:gd name="connsiteX1" fmla="*/ 416338 w 504825"/>
                  <a:gd name="connsiteY1" fmla="*/ 416242 h 504825"/>
                  <a:gd name="connsiteX2" fmla="*/ 415385 w 504825"/>
                  <a:gd name="connsiteY2" fmla="*/ 7144 h 504825"/>
                  <a:gd name="connsiteX3" fmla="*/ 415385 w 504825"/>
                  <a:gd name="connsiteY3" fmla="*/ 7144 h 504825"/>
                  <a:gd name="connsiteX4" fmla="*/ 211264 w 504825"/>
                  <a:gd name="connsiteY4" fmla="*/ 212122 h 504825"/>
                  <a:gd name="connsiteX5" fmla="*/ 7144 w 504825"/>
                  <a:gd name="connsiteY5" fmla="*/ 417100 h 504825"/>
                  <a:gd name="connsiteX6" fmla="*/ 7144 w 504825"/>
                  <a:gd name="connsiteY6" fmla="*/ 417100 h 504825"/>
                  <a:gd name="connsiteX7" fmla="*/ 416338 w 504825"/>
                  <a:gd name="connsiteY7" fmla="*/ 416242 h 504825"/>
                  <a:gd name="connsiteX8" fmla="*/ 416338 w 504825"/>
                  <a:gd name="connsiteY8" fmla="*/ 416242 h 50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4825" h="504825">
                    <a:moveTo>
                      <a:pt x="416338" y="416242"/>
                    </a:moveTo>
                    <a:lnTo>
                      <a:pt x="416338" y="416242"/>
                    </a:lnTo>
                    <a:cubicBezTo>
                      <a:pt x="529018" y="302990"/>
                      <a:pt x="528638" y="119825"/>
                      <a:pt x="415385" y="7144"/>
                    </a:cubicBezTo>
                    <a:lnTo>
                      <a:pt x="415385" y="7144"/>
                    </a:lnTo>
                    <a:lnTo>
                      <a:pt x="211264" y="212122"/>
                    </a:lnTo>
                    <a:lnTo>
                      <a:pt x="7144" y="417100"/>
                    </a:lnTo>
                    <a:lnTo>
                      <a:pt x="7144" y="417100"/>
                    </a:lnTo>
                    <a:cubicBezTo>
                      <a:pt x="120396" y="529876"/>
                      <a:pt x="303562" y="529495"/>
                      <a:pt x="416338" y="416242"/>
                    </a:cubicBezTo>
                    <a:lnTo>
                      <a:pt x="416338" y="41624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3" name="组合 92"/>
          <p:cNvGrpSpPr/>
          <p:nvPr userDrawn="1"/>
        </p:nvGrpSpPr>
        <p:grpSpPr>
          <a:xfrm flipH="1">
            <a:off x="11402827" y="-12700"/>
            <a:ext cx="810882" cy="810882"/>
            <a:chOff x="4495775" y="2105906"/>
            <a:chExt cx="810882" cy="810882"/>
          </a:xfrm>
        </p:grpSpPr>
        <p:sp>
          <p:nvSpPr>
            <p:cNvPr id="94" name="任意多边形: 形状 93"/>
            <p:cNvSpPr/>
            <p:nvPr/>
          </p:nvSpPr>
          <p:spPr>
            <a:xfrm>
              <a:off x="4495775" y="2105906"/>
              <a:ext cx="810882" cy="810882"/>
            </a:xfrm>
            <a:custGeom>
              <a:avLst/>
              <a:gdLst>
                <a:gd name="connsiteX0" fmla="*/ 7144 w 514350"/>
                <a:gd name="connsiteY0" fmla="*/ 510159 h 514350"/>
                <a:gd name="connsiteX1" fmla="*/ 7144 w 514350"/>
                <a:gd name="connsiteY1" fmla="*/ 510159 h 514350"/>
                <a:gd name="connsiteX2" fmla="*/ 510159 w 514350"/>
                <a:gd name="connsiteY2" fmla="*/ 7144 h 514350"/>
                <a:gd name="connsiteX3" fmla="*/ 510159 w 514350"/>
                <a:gd name="connsiteY3" fmla="*/ 7144 h 514350"/>
                <a:gd name="connsiteX4" fmla="*/ 7144 w 514350"/>
                <a:gd name="connsiteY4" fmla="*/ 7144 h 514350"/>
                <a:gd name="connsiteX5" fmla="*/ 7144 w 514350"/>
                <a:gd name="connsiteY5" fmla="*/ 510159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4350" h="514350">
                  <a:moveTo>
                    <a:pt x="7144" y="510159"/>
                  </a:moveTo>
                  <a:lnTo>
                    <a:pt x="7144" y="510159"/>
                  </a:lnTo>
                  <a:cubicBezTo>
                    <a:pt x="284988" y="510159"/>
                    <a:pt x="510159" y="284988"/>
                    <a:pt x="510159" y="7144"/>
                  </a:cubicBezTo>
                  <a:lnTo>
                    <a:pt x="510159" y="7144"/>
                  </a:lnTo>
                  <a:lnTo>
                    <a:pt x="7144" y="7144"/>
                  </a:lnTo>
                  <a:lnTo>
                    <a:pt x="7144" y="510159"/>
                  </a:lnTo>
                  <a:close/>
                </a:path>
              </a:pathLst>
            </a:custGeom>
            <a:solidFill>
              <a:srgbClr val="FAA71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4495775" y="2105906"/>
              <a:ext cx="465506" cy="465506"/>
            </a:xfrm>
            <a:custGeom>
              <a:avLst/>
              <a:gdLst>
                <a:gd name="connsiteX0" fmla="*/ 7144 w 295275"/>
                <a:gd name="connsiteY0" fmla="*/ 289084 h 295275"/>
                <a:gd name="connsiteX1" fmla="*/ 7144 w 295275"/>
                <a:gd name="connsiteY1" fmla="*/ 289084 h 295275"/>
                <a:gd name="connsiteX2" fmla="*/ 289084 w 295275"/>
                <a:gd name="connsiteY2" fmla="*/ 7144 h 295275"/>
                <a:gd name="connsiteX3" fmla="*/ 289084 w 295275"/>
                <a:gd name="connsiteY3" fmla="*/ 7144 h 295275"/>
                <a:gd name="connsiteX4" fmla="*/ 7144 w 295275"/>
                <a:gd name="connsiteY4" fmla="*/ 7144 h 295275"/>
                <a:gd name="connsiteX5" fmla="*/ 7144 w 295275"/>
                <a:gd name="connsiteY5" fmla="*/ 28908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275" h="295275">
                  <a:moveTo>
                    <a:pt x="7144" y="289084"/>
                  </a:moveTo>
                  <a:lnTo>
                    <a:pt x="7144" y="289084"/>
                  </a:lnTo>
                  <a:cubicBezTo>
                    <a:pt x="162878" y="289084"/>
                    <a:pt x="289084" y="162877"/>
                    <a:pt x="289084" y="7144"/>
                  </a:cubicBezTo>
                  <a:lnTo>
                    <a:pt x="289084" y="7144"/>
                  </a:lnTo>
                  <a:lnTo>
                    <a:pt x="7144" y="7144"/>
                  </a:lnTo>
                  <a:lnTo>
                    <a:pt x="7144" y="289084"/>
                  </a:lnTo>
                  <a:close/>
                </a:path>
              </a:pathLst>
            </a:custGeom>
            <a:solidFill>
              <a:srgbClr val="61C9D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6" name="组合 95"/>
          <p:cNvGrpSpPr/>
          <p:nvPr userDrawn="1"/>
        </p:nvGrpSpPr>
        <p:grpSpPr>
          <a:xfrm rot="10800000" flipH="1">
            <a:off x="-12175" y="6059883"/>
            <a:ext cx="810882" cy="810882"/>
            <a:chOff x="4495775" y="2105906"/>
            <a:chExt cx="810882" cy="810882"/>
          </a:xfrm>
        </p:grpSpPr>
        <p:sp>
          <p:nvSpPr>
            <p:cNvPr id="97" name="任意多边形: 形状 96"/>
            <p:cNvSpPr/>
            <p:nvPr/>
          </p:nvSpPr>
          <p:spPr>
            <a:xfrm>
              <a:off x="4495775" y="2105906"/>
              <a:ext cx="810882" cy="810882"/>
            </a:xfrm>
            <a:custGeom>
              <a:avLst/>
              <a:gdLst>
                <a:gd name="connsiteX0" fmla="*/ 7144 w 514350"/>
                <a:gd name="connsiteY0" fmla="*/ 510159 h 514350"/>
                <a:gd name="connsiteX1" fmla="*/ 7144 w 514350"/>
                <a:gd name="connsiteY1" fmla="*/ 510159 h 514350"/>
                <a:gd name="connsiteX2" fmla="*/ 510159 w 514350"/>
                <a:gd name="connsiteY2" fmla="*/ 7144 h 514350"/>
                <a:gd name="connsiteX3" fmla="*/ 510159 w 514350"/>
                <a:gd name="connsiteY3" fmla="*/ 7144 h 514350"/>
                <a:gd name="connsiteX4" fmla="*/ 7144 w 514350"/>
                <a:gd name="connsiteY4" fmla="*/ 7144 h 514350"/>
                <a:gd name="connsiteX5" fmla="*/ 7144 w 514350"/>
                <a:gd name="connsiteY5" fmla="*/ 510159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4350" h="514350">
                  <a:moveTo>
                    <a:pt x="7144" y="510159"/>
                  </a:moveTo>
                  <a:lnTo>
                    <a:pt x="7144" y="510159"/>
                  </a:lnTo>
                  <a:cubicBezTo>
                    <a:pt x="284988" y="510159"/>
                    <a:pt x="510159" y="284988"/>
                    <a:pt x="510159" y="7144"/>
                  </a:cubicBezTo>
                  <a:lnTo>
                    <a:pt x="510159" y="7144"/>
                  </a:lnTo>
                  <a:lnTo>
                    <a:pt x="7144" y="7144"/>
                  </a:lnTo>
                  <a:lnTo>
                    <a:pt x="7144" y="510159"/>
                  </a:lnTo>
                  <a:close/>
                </a:path>
              </a:pathLst>
            </a:custGeom>
            <a:solidFill>
              <a:srgbClr val="FAA71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4495775" y="2105906"/>
              <a:ext cx="465506" cy="465506"/>
            </a:xfrm>
            <a:custGeom>
              <a:avLst/>
              <a:gdLst>
                <a:gd name="connsiteX0" fmla="*/ 7144 w 295275"/>
                <a:gd name="connsiteY0" fmla="*/ 289084 h 295275"/>
                <a:gd name="connsiteX1" fmla="*/ 7144 w 295275"/>
                <a:gd name="connsiteY1" fmla="*/ 289084 h 295275"/>
                <a:gd name="connsiteX2" fmla="*/ 289084 w 295275"/>
                <a:gd name="connsiteY2" fmla="*/ 7144 h 295275"/>
                <a:gd name="connsiteX3" fmla="*/ 289084 w 295275"/>
                <a:gd name="connsiteY3" fmla="*/ 7144 h 295275"/>
                <a:gd name="connsiteX4" fmla="*/ 7144 w 295275"/>
                <a:gd name="connsiteY4" fmla="*/ 7144 h 295275"/>
                <a:gd name="connsiteX5" fmla="*/ 7144 w 295275"/>
                <a:gd name="connsiteY5" fmla="*/ 28908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275" h="295275">
                  <a:moveTo>
                    <a:pt x="7144" y="289084"/>
                  </a:moveTo>
                  <a:lnTo>
                    <a:pt x="7144" y="289084"/>
                  </a:lnTo>
                  <a:cubicBezTo>
                    <a:pt x="162878" y="289084"/>
                    <a:pt x="289084" y="162877"/>
                    <a:pt x="289084" y="7144"/>
                  </a:cubicBezTo>
                  <a:lnTo>
                    <a:pt x="289084" y="7144"/>
                  </a:lnTo>
                  <a:lnTo>
                    <a:pt x="7144" y="7144"/>
                  </a:lnTo>
                  <a:lnTo>
                    <a:pt x="7144" y="289084"/>
                  </a:lnTo>
                  <a:close/>
                </a:path>
              </a:pathLst>
            </a:custGeom>
            <a:solidFill>
              <a:srgbClr val="61C9D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19" name="组合 118"/>
          <p:cNvGrpSpPr/>
          <p:nvPr userDrawn="1"/>
        </p:nvGrpSpPr>
        <p:grpSpPr>
          <a:xfrm rot="5400000">
            <a:off x="10094352" y="2323442"/>
            <a:ext cx="648268" cy="283109"/>
            <a:chOff x="7531100" y="642935"/>
            <a:chExt cx="838995" cy="366402"/>
          </a:xfrm>
          <a:solidFill>
            <a:schemeClr val="bg1">
              <a:lumMod val="85000"/>
            </a:schemeClr>
          </a:solidFill>
        </p:grpSpPr>
        <p:grpSp>
          <p:nvGrpSpPr>
            <p:cNvPr id="120" name="组合 119"/>
            <p:cNvGrpSpPr/>
            <p:nvPr/>
          </p:nvGrpSpPr>
          <p:grpSpPr>
            <a:xfrm>
              <a:off x="7531100" y="642935"/>
              <a:ext cx="838995" cy="131764"/>
              <a:chOff x="7531100" y="642935"/>
              <a:chExt cx="838995" cy="131764"/>
            </a:xfrm>
            <a:grpFill/>
          </p:grpSpPr>
          <p:sp>
            <p:nvSpPr>
              <p:cNvPr id="126" name="椭圆 125"/>
              <p:cNvSpPr/>
              <p:nvPr/>
            </p:nvSpPr>
            <p:spPr>
              <a:xfrm>
                <a:off x="7531100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7" name="椭圆 126"/>
              <p:cNvSpPr/>
              <p:nvPr/>
            </p:nvSpPr>
            <p:spPr>
              <a:xfrm>
                <a:off x="7766844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8" name="椭圆 127"/>
              <p:cNvSpPr/>
              <p:nvPr/>
            </p:nvSpPr>
            <p:spPr>
              <a:xfrm>
                <a:off x="8002588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9" name="椭圆 128"/>
              <p:cNvSpPr/>
              <p:nvPr/>
            </p:nvSpPr>
            <p:spPr>
              <a:xfrm>
                <a:off x="8238332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21" name="组合 120"/>
            <p:cNvGrpSpPr/>
            <p:nvPr/>
          </p:nvGrpSpPr>
          <p:grpSpPr>
            <a:xfrm>
              <a:off x="7531100" y="877573"/>
              <a:ext cx="838995" cy="131764"/>
              <a:chOff x="7531100" y="642935"/>
              <a:chExt cx="838995" cy="131764"/>
            </a:xfrm>
            <a:grpFill/>
          </p:grpSpPr>
          <p:sp>
            <p:nvSpPr>
              <p:cNvPr id="122" name="椭圆 121"/>
              <p:cNvSpPr/>
              <p:nvPr/>
            </p:nvSpPr>
            <p:spPr>
              <a:xfrm>
                <a:off x="7531100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3" name="椭圆 122"/>
              <p:cNvSpPr/>
              <p:nvPr/>
            </p:nvSpPr>
            <p:spPr>
              <a:xfrm>
                <a:off x="7766844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椭圆 123"/>
              <p:cNvSpPr/>
              <p:nvPr/>
            </p:nvSpPr>
            <p:spPr>
              <a:xfrm>
                <a:off x="8002588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5" name="椭圆 124"/>
              <p:cNvSpPr/>
              <p:nvPr/>
            </p:nvSpPr>
            <p:spPr>
              <a:xfrm>
                <a:off x="8238332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30" name="组合 129"/>
          <p:cNvGrpSpPr/>
          <p:nvPr userDrawn="1"/>
        </p:nvGrpSpPr>
        <p:grpSpPr>
          <a:xfrm>
            <a:off x="1644660" y="4973354"/>
            <a:ext cx="648268" cy="283109"/>
            <a:chOff x="7531100" y="642935"/>
            <a:chExt cx="838995" cy="366402"/>
          </a:xfrm>
          <a:solidFill>
            <a:schemeClr val="bg1">
              <a:lumMod val="85000"/>
            </a:schemeClr>
          </a:solidFill>
        </p:grpSpPr>
        <p:grpSp>
          <p:nvGrpSpPr>
            <p:cNvPr id="131" name="组合 130"/>
            <p:cNvGrpSpPr/>
            <p:nvPr/>
          </p:nvGrpSpPr>
          <p:grpSpPr>
            <a:xfrm>
              <a:off x="7531100" y="642935"/>
              <a:ext cx="838995" cy="131764"/>
              <a:chOff x="7531100" y="642935"/>
              <a:chExt cx="838995" cy="131764"/>
            </a:xfrm>
            <a:grpFill/>
          </p:grpSpPr>
          <p:sp>
            <p:nvSpPr>
              <p:cNvPr id="137" name="椭圆 136"/>
              <p:cNvSpPr/>
              <p:nvPr/>
            </p:nvSpPr>
            <p:spPr>
              <a:xfrm>
                <a:off x="7531100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8" name="椭圆 137"/>
              <p:cNvSpPr/>
              <p:nvPr/>
            </p:nvSpPr>
            <p:spPr>
              <a:xfrm>
                <a:off x="7766844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9" name="椭圆 138"/>
              <p:cNvSpPr/>
              <p:nvPr/>
            </p:nvSpPr>
            <p:spPr>
              <a:xfrm>
                <a:off x="8002588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0" name="椭圆 139"/>
              <p:cNvSpPr/>
              <p:nvPr/>
            </p:nvSpPr>
            <p:spPr>
              <a:xfrm>
                <a:off x="8238332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7531100" y="877573"/>
              <a:ext cx="838995" cy="131764"/>
              <a:chOff x="7531100" y="642935"/>
              <a:chExt cx="838995" cy="131764"/>
            </a:xfrm>
            <a:grpFill/>
          </p:grpSpPr>
          <p:sp>
            <p:nvSpPr>
              <p:cNvPr id="133" name="椭圆 132"/>
              <p:cNvSpPr/>
              <p:nvPr/>
            </p:nvSpPr>
            <p:spPr>
              <a:xfrm>
                <a:off x="7531100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4" name="椭圆 133"/>
              <p:cNvSpPr/>
              <p:nvPr/>
            </p:nvSpPr>
            <p:spPr>
              <a:xfrm>
                <a:off x="7766844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5" name="椭圆 134"/>
              <p:cNvSpPr/>
              <p:nvPr/>
            </p:nvSpPr>
            <p:spPr>
              <a:xfrm>
                <a:off x="8002588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6" name="椭圆 135"/>
              <p:cNvSpPr/>
              <p:nvPr/>
            </p:nvSpPr>
            <p:spPr>
              <a:xfrm>
                <a:off x="8238332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 flipV="1">
            <a:off x="10445749" y="-692855"/>
            <a:ext cx="2447728" cy="2674055"/>
            <a:chOff x="8327264" y="2565728"/>
            <a:chExt cx="5222380" cy="5705265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8629650" y="3314700"/>
              <a:ext cx="4263853" cy="4740854"/>
              <a:chOff x="3248171" y="3197770"/>
              <a:chExt cx="3295332" cy="3663984"/>
            </a:xfrm>
          </p:grpSpPr>
          <p:sp>
            <p:nvSpPr>
              <p:cNvPr id="8" name="任意多边形: 形状 7"/>
              <p:cNvSpPr/>
              <p:nvPr/>
            </p:nvSpPr>
            <p:spPr>
              <a:xfrm>
                <a:off x="3505550" y="3197770"/>
                <a:ext cx="2747988" cy="3663984"/>
              </a:xfrm>
              <a:custGeom>
                <a:avLst/>
                <a:gdLst>
                  <a:gd name="connsiteX0" fmla="*/ 7144 w 1743075"/>
                  <a:gd name="connsiteY0" fmla="*/ 1742789 h 2324100"/>
                  <a:gd name="connsiteX1" fmla="*/ 1742789 w 1743075"/>
                  <a:gd name="connsiteY1" fmla="*/ 7144 h 2324100"/>
                  <a:gd name="connsiteX2" fmla="*/ 1742789 w 1743075"/>
                  <a:gd name="connsiteY2" fmla="*/ 585692 h 2324100"/>
                  <a:gd name="connsiteX3" fmla="*/ 7144 w 1743075"/>
                  <a:gd name="connsiteY3" fmla="*/ 2321243 h 2324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43075" h="2324100">
                    <a:moveTo>
                      <a:pt x="7144" y="1742789"/>
                    </a:moveTo>
                    <a:lnTo>
                      <a:pt x="1742789" y="7144"/>
                    </a:lnTo>
                    <a:lnTo>
                      <a:pt x="1742789" y="585692"/>
                    </a:lnTo>
                    <a:lnTo>
                      <a:pt x="7144" y="232124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4157559" y="4505392"/>
                <a:ext cx="570620" cy="1126225"/>
              </a:xfrm>
              <a:custGeom>
                <a:avLst/>
                <a:gdLst>
                  <a:gd name="connsiteX0" fmla="*/ 153353 w 361950"/>
                  <a:gd name="connsiteY0" fmla="*/ 360141 h 714375"/>
                  <a:gd name="connsiteX1" fmla="*/ 7144 w 361950"/>
                  <a:gd name="connsiteY1" fmla="*/ 7144 h 714375"/>
                  <a:gd name="connsiteX2" fmla="*/ 360140 w 361950"/>
                  <a:gd name="connsiteY2" fmla="*/ 360141 h 714375"/>
                  <a:gd name="connsiteX3" fmla="*/ 7144 w 361950"/>
                  <a:gd name="connsiteY3" fmla="*/ 713137 h 714375"/>
                  <a:gd name="connsiteX4" fmla="*/ 153353 w 361950"/>
                  <a:gd name="connsiteY4" fmla="*/ 360141 h 71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950" h="714375">
                    <a:moveTo>
                      <a:pt x="153353" y="360141"/>
                    </a:moveTo>
                    <a:cubicBezTo>
                      <a:pt x="153353" y="232410"/>
                      <a:pt x="104584" y="104680"/>
                      <a:pt x="7144" y="7144"/>
                    </a:cubicBezTo>
                    <a:lnTo>
                      <a:pt x="360140" y="360141"/>
                    </a:lnTo>
                    <a:lnTo>
                      <a:pt x="7144" y="713137"/>
                    </a:lnTo>
                    <a:cubicBezTo>
                      <a:pt x="104584" y="615696"/>
                      <a:pt x="153353" y="487871"/>
                      <a:pt x="153353" y="360141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4445122" y="4524914"/>
                <a:ext cx="825898" cy="1096192"/>
              </a:xfrm>
              <a:custGeom>
                <a:avLst/>
                <a:gdLst>
                  <a:gd name="connsiteX0" fmla="*/ 348805 w 523875"/>
                  <a:gd name="connsiteY0" fmla="*/ 519684 h 695325"/>
                  <a:gd name="connsiteX1" fmla="*/ 519684 w 523875"/>
                  <a:gd name="connsiteY1" fmla="*/ 348805 h 695325"/>
                  <a:gd name="connsiteX2" fmla="*/ 348805 w 523875"/>
                  <a:gd name="connsiteY2" fmla="*/ 178022 h 695325"/>
                  <a:gd name="connsiteX3" fmla="*/ 178022 w 523875"/>
                  <a:gd name="connsiteY3" fmla="*/ 7144 h 695325"/>
                  <a:gd name="connsiteX4" fmla="*/ 7144 w 523875"/>
                  <a:gd name="connsiteY4" fmla="*/ 178022 h 695325"/>
                  <a:gd name="connsiteX5" fmla="*/ 178022 w 523875"/>
                  <a:gd name="connsiteY5" fmla="*/ 348805 h 695325"/>
                  <a:gd name="connsiteX6" fmla="*/ 7144 w 523875"/>
                  <a:gd name="connsiteY6" fmla="*/ 519684 h 695325"/>
                  <a:gd name="connsiteX7" fmla="*/ 178022 w 523875"/>
                  <a:gd name="connsiteY7" fmla="*/ 690563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3875" h="695325">
                    <a:moveTo>
                      <a:pt x="348805" y="519684"/>
                    </a:moveTo>
                    <a:lnTo>
                      <a:pt x="519684" y="348805"/>
                    </a:lnTo>
                    <a:lnTo>
                      <a:pt x="348805" y="178022"/>
                    </a:lnTo>
                    <a:lnTo>
                      <a:pt x="178022" y="7144"/>
                    </a:lnTo>
                    <a:lnTo>
                      <a:pt x="7144" y="178022"/>
                    </a:lnTo>
                    <a:lnTo>
                      <a:pt x="178022" y="348805"/>
                    </a:lnTo>
                    <a:lnTo>
                      <a:pt x="7144" y="519684"/>
                    </a:lnTo>
                    <a:lnTo>
                      <a:pt x="178022" y="69056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4445122" y="4524914"/>
                <a:ext cx="285310" cy="555604"/>
              </a:xfrm>
              <a:custGeom>
                <a:avLst/>
                <a:gdLst>
                  <a:gd name="connsiteX0" fmla="*/ 178022 w 180975"/>
                  <a:gd name="connsiteY0" fmla="*/ 348805 h 352425"/>
                  <a:gd name="connsiteX1" fmla="*/ 178022 w 180975"/>
                  <a:gd name="connsiteY1" fmla="*/ 7144 h 352425"/>
                  <a:gd name="connsiteX2" fmla="*/ 7144 w 180975"/>
                  <a:gd name="connsiteY2" fmla="*/ 178022 h 35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975" h="352425">
                    <a:moveTo>
                      <a:pt x="178022" y="348805"/>
                    </a:moveTo>
                    <a:lnTo>
                      <a:pt x="178022" y="7144"/>
                    </a:lnTo>
                    <a:lnTo>
                      <a:pt x="7144" y="17802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5252099" y="4281949"/>
                <a:ext cx="1291404" cy="1306420"/>
              </a:xfrm>
              <a:custGeom>
                <a:avLst/>
                <a:gdLst>
                  <a:gd name="connsiteX0" fmla="*/ 819722 w 819150"/>
                  <a:gd name="connsiteY0" fmla="*/ 723900 h 828675"/>
                  <a:gd name="connsiteX1" fmla="*/ 106775 w 819150"/>
                  <a:gd name="connsiteY1" fmla="*/ 7144 h 828675"/>
                  <a:gd name="connsiteX2" fmla="*/ 7144 w 819150"/>
                  <a:gd name="connsiteY2" fmla="*/ 106680 h 828675"/>
                  <a:gd name="connsiteX3" fmla="*/ 720185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722" y="723900"/>
                    </a:moveTo>
                    <a:lnTo>
                      <a:pt x="106775" y="7144"/>
                    </a:lnTo>
                    <a:lnTo>
                      <a:pt x="7144" y="106680"/>
                    </a:lnTo>
                    <a:lnTo>
                      <a:pt x="720185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4938257" y="4438869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2 h 809625"/>
                  <a:gd name="connsiteX1" fmla="*/ 206216 w 609600"/>
                  <a:gd name="connsiteY1" fmla="*/ 405384 h 809625"/>
                  <a:gd name="connsiteX2" fmla="*/ 7144 w 609600"/>
                  <a:gd name="connsiteY2" fmla="*/ 604552 h 809625"/>
                  <a:gd name="connsiteX3" fmla="*/ 206216 w 609600"/>
                  <a:gd name="connsiteY3" fmla="*/ 803625 h 809625"/>
                  <a:gd name="connsiteX4" fmla="*/ 405384 w 609600"/>
                  <a:gd name="connsiteY4" fmla="*/ 604552 h 809625"/>
                  <a:gd name="connsiteX5" fmla="*/ 604457 w 609600"/>
                  <a:gd name="connsiteY5" fmla="*/ 405384 h 809625"/>
                  <a:gd name="connsiteX6" fmla="*/ 405384 w 609600"/>
                  <a:gd name="connsiteY6" fmla="*/ 206312 h 809625"/>
                  <a:gd name="connsiteX7" fmla="*/ 206216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2"/>
                    </a:moveTo>
                    <a:lnTo>
                      <a:pt x="206216" y="405384"/>
                    </a:lnTo>
                    <a:lnTo>
                      <a:pt x="7144" y="604552"/>
                    </a:lnTo>
                    <a:lnTo>
                      <a:pt x="206216" y="803625"/>
                    </a:lnTo>
                    <a:lnTo>
                      <a:pt x="405384" y="604552"/>
                    </a:lnTo>
                    <a:lnTo>
                      <a:pt x="604457" y="405384"/>
                    </a:lnTo>
                    <a:lnTo>
                      <a:pt x="405384" y="206312"/>
                    </a:lnTo>
                    <a:lnTo>
                      <a:pt x="206216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3248171" y="4936060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7"/>
                      <a:pt x="131046" y="166783"/>
                      <a:pt x="86963" y="166783"/>
                    </a:cubicBezTo>
                    <a:cubicBezTo>
                      <a:pt x="42880" y="166783"/>
                      <a:pt x="7144" y="131047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5248044" y="4843860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8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8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5489958" y="5079015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1 w 38100"/>
                  <a:gd name="connsiteY2" fmla="*/ 12001 h 38100"/>
                  <a:gd name="connsiteX3" fmla="*/ 12001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1" y="12001"/>
                    </a:cubicBezTo>
                    <a:cubicBezTo>
                      <a:pt x="5525" y="18478"/>
                      <a:pt x="5525" y="28956"/>
                      <a:pt x="12001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5687423" y="5276480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884888" y="5473946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5153442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5279579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540556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>
                <a:off x="5531704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5657690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578367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5153442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>
                <a:off x="527943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任意多边形: 形状 29"/>
              <p:cNvSpPr/>
              <p:nvPr/>
            </p:nvSpPr>
            <p:spPr>
              <a:xfrm>
                <a:off x="5405567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5531553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565769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5153442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5279430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5405567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5531553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5153442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5279579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5405567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39"/>
              <p:cNvSpPr/>
              <p:nvPr/>
            </p:nvSpPr>
            <p:spPr>
              <a:xfrm>
                <a:off x="5153442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5279579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5153442" y="411091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8327264" y="2565728"/>
              <a:ext cx="5222380" cy="5705265"/>
              <a:chOff x="8327264" y="2565728"/>
              <a:chExt cx="5222380" cy="5705265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8327264" y="68137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rot="5400000">
                <a:off x="10300079" y="43580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3" name="组合 42"/>
          <p:cNvGrpSpPr/>
          <p:nvPr userDrawn="1"/>
        </p:nvGrpSpPr>
        <p:grpSpPr>
          <a:xfrm flipV="1">
            <a:off x="-1081829" y="3719353"/>
            <a:ext cx="3888529" cy="4228126"/>
            <a:chOff x="-1419754" y="-1454855"/>
            <a:chExt cx="5288312" cy="5750156"/>
          </a:xfrm>
        </p:grpSpPr>
        <p:sp>
          <p:nvSpPr>
            <p:cNvPr id="44" name="任意多边形: 形状 43"/>
            <p:cNvSpPr/>
            <p:nvPr userDrawn="1"/>
          </p:nvSpPr>
          <p:spPr>
            <a:xfrm flipH="1" flipV="1">
              <a:off x="-169463" y="-1390452"/>
              <a:ext cx="3555641" cy="4740854"/>
            </a:xfrm>
            <a:custGeom>
              <a:avLst/>
              <a:gdLst>
                <a:gd name="connsiteX0" fmla="*/ 7144 w 1743075"/>
                <a:gd name="connsiteY0" fmla="*/ 1742789 h 2324100"/>
                <a:gd name="connsiteX1" fmla="*/ 1742789 w 1743075"/>
                <a:gd name="connsiteY1" fmla="*/ 7144 h 2324100"/>
                <a:gd name="connsiteX2" fmla="*/ 1742789 w 1743075"/>
                <a:gd name="connsiteY2" fmla="*/ 585692 h 2324100"/>
                <a:gd name="connsiteX3" fmla="*/ 7144 w 1743075"/>
                <a:gd name="connsiteY3" fmla="*/ 2321338 h 232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075" h="2324100">
                  <a:moveTo>
                    <a:pt x="7144" y="1742789"/>
                  </a:moveTo>
                  <a:lnTo>
                    <a:pt x="1742789" y="7144"/>
                  </a:lnTo>
                  <a:lnTo>
                    <a:pt x="1742789" y="585692"/>
                  </a:lnTo>
                  <a:lnTo>
                    <a:pt x="7144" y="2321338"/>
                  </a:lnTo>
                  <a:close/>
                </a:path>
              </a:pathLst>
            </a:custGeom>
            <a:solidFill>
              <a:srgbClr val="F263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5" name="组合 44"/>
            <p:cNvGrpSpPr/>
            <p:nvPr userDrawn="1"/>
          </p:nvGrpSpPr>
          <p:grpSpPr>
            <a:xfrm flipV="1">
              <a:off x="-433823" y="-395398"/>
              <a:ext cx="3130579" cy="3407352"/>
              <a:chOff x="939861" y="-575832"/>
              <a:chExt cx="2588513" cy="2817362"/>
            </a:xfrm>
          </p:grpSpPr>
          <p:sp>
            <p:nvSpPr>
              <p:cNvPr id="52" name="任意多边形: 形状 51"/>
              <p:cNvSpPr/>
              <p:nvPr/>
            </p:nvSpPr>
            <p:spPr>
              <a:xfrm>
                <a:off x="939861" y="935110"/>
                <a:ext cx="1306420" cy="1306420"/>
              </a:xfrm>
              <a:custGeom>
                <a:avLst/>
                <a:gdLst>
                  <a:gd name="connsiteX0" fmla="*/ 829818 w 828675"/>
                  <a:gd name="connsiteY0" fmla="*/ 418529 h 828675"/>
                  <a:gd name="connsiteX1" fmla="*/ 418433 w 828675"/>
                  <a:gd name="connsiteY1" fmla="*/ 7144 h 828675"/>
                  <a:gd name="connsiteX2" fmla="*/ 7144 w 828675"/>
                  <a:gd name="connsiteY2" fmla="*/ 418529 h 828675"/>
                  <a:gd name="connsiteX3" fmla="*/ 418433 w 828675"/>
                  <a:gd name="connsiteY3" fmla="*/ 829818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8675" h="828675">
                    <a:moveTo>
                      <a:pt x="829818" y="418529"/>
                    </a:moveTo>
                    <a:lnTo>
                      <a:pt x="418433" y="7144"/>
                    </a:lnTo>
                    <a:lnTo>
                      <a:pt x="7144" y="418529"/>
                    </a:lnTo>
                    <a:lnTo>
                      <a:pt x="418433" y="829818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1201820" y="1591398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1370003" y="1759431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432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1538036" y="1927614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1394029" y="1399189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1562212" y="1567222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432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1730245" y="1735405"/>
                <a:ext cx="60065" cy="60065"/>
              </a:xfrm>
              <a:custGeom>
                <a:avLst/>
                <a:gdLst>
                  <a:gd name="connsiteX0" fmla="*/ 34623 w 38100"/>
                  <a:gd name="connsiteY0" fmla="*/ 11858 h 38100"/>
                  <a:gd name="connsiteX1" fmla="*/ 11859 w 38100"/>
                  <a:gd name="connsiteY1" fmla="*/ 11858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8"/>
                    </a:moveTo>
                    <a:cubicBezTo>
                      <a:pt x="28337" y="5572"/>
                      <a:pt x="18145" y="5572"/>
                      <a:pt x="11859" y="11858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8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/>
              <p:cNvSpPr/>
              <p:nvPr/>
            </p:nvSpPr>
            <p:spPr>
              <a:xfrm>
                <a:off x="1586164" y="1206906"/>
                <a:ext cx="60065" cy="60065"/>
              </a:xfrm>
              <a:custGeom>
                <a:avLst/>
                <a:gdLst>
                  <a:gd name="connsiteX0" fmla="*/ 39338 w 38100"/>
                  <a:gd name="connsiteY0" fmla="*/ 23241 h 38100"/>
                  <a:gd name="connsiteX1" fmla="*/ 23241 w 38100"/>
                  <a:gd name="connsiteY1" fmla="*/ 39338 h 38100"/>
                  <a:gd name="connsiteX2" fmla="*/ 7144 w 38100"/>
                  <a:gd name="connsiteY2" fmla="*/ 23241 h 38100"/>
                  <a:gd name="connsiteX3" fmla="*/ 23241 w 38100"/>
                  <a:gd name="connsiteY3" fmla="*/ 7144 h 38100"/>
                  <a:gd name="connsiteX4" fmla="*/ 39338 w 38100"/>
                  <a:gd name="connsiteY4" fmla="*/ 2324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9338" y="23241"/>
                    </a:moveTo>
                    <a:cubicBezTo>
                      <a:pt x="39338" y="32131"/>
                      <a:pt x="32131" y="39338"/>
                      <a:pt x="23241" y="39338"/>
                    </a:cubicBezTo>
                    <a:cubicBezTo>
                      <a:pt x="14351" y="39338"/>
                      <a:pt x="7144" y="32131"/>
                      <a:pt x="7144" y="23241"/>
                    </a:cubicBezTo>
                    <a:cubicBezTo>
                      <a:pt x="7144" y="14351"/>
                      <a:pt x="14351" y="7144"/>
                      <a:pt x="23241" y="7144"/>
                    </a:cubicBezTo>
                    <a:cubicBezTo>
                      <a:pt x="32131" y="7144"/>
                      <a:pt x="39338" y="14351"/>
                      <a:pt x="39338" y="23241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任意多边形: 形状 59"/>
              <p:cNvSpPr/>
              <p:nvPr/>
            </p:nvSpPr>
            <p:spPr>
              <a:xfrm>
                <a:off x="1754421" y="1375013"/>
                <a:ext cx="60065" cy="60065"/>
              </a:xfrm>
              <a:custGeom>
                <a:avLst/>
                <a:gdLst>
                  <a:gd name="connsiteX0" fmla="*/ 34623 w 38100"/>
                  <a:gd name="connsiteY0" fmla="*/ 11858 h 38100"/>
                  <a:gd name="connsiteX1" fmla="*/ 11859 w 38100"/>
                  <a:gd name="connsiteY1" fmla="*/ 11858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8"/>
                    </a:moveTo>
                    <a:cubicBezTo>
                      <a:pt x="28337" y="5572"/>
                      <a:pt x="18145" y="5572"/>
                      <a:pt x="11859" y="11858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432"/>
                      <a:pt x="40910" y="18145"/>
                      <a:pt x="34623" y="11858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任意多边形: 形状 60"/>
              <p:cNvSpPr/>
              <p:nvPr/>
            </p:nvSpPr>
            <p:spPr>
              <a:xfrm>
                <a:off x="1922454" y="1543196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任意多边形: 形状 61"/>
              <p:cNvSpPr/>
              <p:nvPr/>
            </p:nvSpPr>
            <p:spPr>
              <a:xfrm>
                <a:off x="1729119" y="-88253"/>
                <a:ext cx="900980" cy="900980"/>
              </a:xfrm>
              <a:custGeom>
                <a:avLst/>
                <a:gdLst>
                  <a:gd name="connsiteX0" fmla="*/ 570548 w 571500"/>
                  <a:gd name="connsiteY0" fmla="*/ 429768 h 571500"/>
                  <a:gd name="connsiteX1" fmla="*/ 429673 w 571500"/>
                  <a:gd name="connsiteY1" fmla="*/ 570643 h 571500"/>
                  <a:gd name="connsiteX2" fmla="*/ 7144 w 571500"/>
                  <a:gd name="connsiteY2" fmla="*/ 148114 h 571500"/>
                  <a:gd name="connsiteX3" fmla="*/ 148018 w 571500"/>
                  <a:gd name="connsiteY3" fmla="*/ 7144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570548" y="429768"/>
                    </a:moveTo>
                    <a:lnTo>
                      <a:pt x="429673" y="570643"/>
                    </a:lnTo>
                    <a:lnTo>
                      <a:pt x="7144" y="148114"/>
                    </a:lnTo>
                    <a:lnTo>
                      <a:pt x="148018" y="714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>
                <a:off x="1258507" y="382359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9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9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>
                <a:off x="1729119" y="-88253"/>
                <a:ext cx="900980" cy="900980"/>
              </a:xfrm>
              <a:custGeom>
                <a:avLst/>
                <a:gdLst>
                  <a:gd name="connsiteX0" fmla="*/ 148018 w 571500"/>
                  <a:gd name="connsiteY0" fmla="*/ 7144 h 571500"/>
                  <a:gd name="connsiteX1" fmla="*/ 570548 w 571500"/>
                  <a:gd name="connsiteY1" fmla="*/ 429768 h 571500"/>
                  <a:gd name="connsiteX2" fmla="*/ 429768 w 571500"/>
                  <a:gd name="connsiteY2" fmla="*/ 570643 h 571500"/>
                  <a:gd name="connsiteX3" fmla="*/ 7144 w 571500"/>
                  <a:gd name="connsiteY3" fmla="*/ 14801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148018" y="7144"/>
                    </a:moveTo>
                    <a:lnTo>
                      <a:pt x="570548" y="429768"/>
                    </a:lnTo>
                    <a:lnTo>
                      <a:pt x="429768" y="570643"/>
                    </a:lnTo>
                    <a:lnTo>
                      <a:pt x="7144" y="148019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1974635" y="143299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2 h 38100"/>
                  <a:gd name="connsiteX2" fmla="*/ 12002 w 38100"/>
                  <a:gd name="connsiteY2" fmla="*/ 12002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2"/>
                    </a:cubicBezTo>
                    <a:cubicBezTo>
                      <a:pt x="28956" y="5524"/>
                      <a:pt x="18479" y="5524"/>
                      <a:pt x="12002" y="12002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6" name="任意多边形: 形状 65"/>
              <p:cNvSpPr/>
              <p:nvPr/>
            </p:nvSpPr>
            <p:spPr>
              <a:xfrm>
                <a:off x="2172100" y="340764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7" name="任意多边形: 形状 66"/>
              <p:cNvSpPr/>
              <p:nvPr/>
            </p:nvSpPr>
            <p:spPr>
              <a:xfrm>
                <a:off x="2369565" y="538229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1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8" name="任意多边形: 形状 67"/>
              <p:cNvSpPr/>
              <p:nvPr/>
            </p:nvSpPr>
            <p:spPr>
              <a:xfrm>
                <a:off x="1500420" y="617514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9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9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9" name="任意多边形: 形状 68"/>
              <p:cNvSpPr/>
              <p:nvPr/>
            </p:nvSpPr>
            <p:spPr>
              <a:xfrm>
                <a:off x="1697885" y="814979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2 h 38100"/>
                  <a:gd name="connsiteX2" fmla="*/ 12002 w 38100"/>
                  <a:gd name="connsiteY2" fmla="*/ 12002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2"/>
                    </a:cubicBezTo>
                    <a:cubicBezTo>
                      <a:pt x="28956" y="5524"/>
                      <a:pt x="18479" y="5524"/>
                      <a:pt x="12002" y="12002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0" name="任意多边形: 形状 69"/>
              <p:cNvSpPr/>
              <p:nvPr/>
            </p:nvSpPr>
            <p:spPr>
              <a:xfrm>
                <a:off x="1895350" y="1012444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0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1" name="任意多边形: 形状 70"/>
              <p:cNvSpPr/>
              <p:nvPr/>
            </p:nvSpPr>
            <p:spPr>
              <a:xfrm>
                <a:off x="2236970" y="641991"/>
                <a:ext cx="645702" cy="645702"/>
              </a:xfrm>
              <a:custGeom>
                <a:avLst/>
                <a:gdLst>
                  <a:gd name="connsiteX0" fmla="*/ 405289 w 409575"/>
                  <a:gd name="connsiteY0" fmla="*/ 206216 h 409575"/>
                  <a:gd name="connsiteX1" fmla="*/ 206216 w 409575"/>
                  <a:gd name="connsiteY1" fmla="*/ 7144 h 409575"/>
                  <a:gd name="connsiteX2" fmla="*/ 7144 w 409575"/>
                  <a:gd name="connsiteY2" fmla="*/ 206216 h 409575"/>
                  <a:gd name="connsiteX3" fmla="*/ 206216 w 409575"/>
                  <a:gd name="connsiteY3" fmla="*/ 405384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9575" h="409575">
                    <a:moveTo>
                      <a:pt x="405289" y="206216"/>
                    </a:moveTo>
                    <a:lnTo>
                      <a:pt x="206216" y="7144"/>
                    </a:lnTo>
                    <a:lnTo>
                      <a:pt x="7144" y="206216"/>
                    </a:lnTo>
                    <a:lnTo>
                      <a:pt x="206216" y="405384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2" name="任意多边形: 形状 71"/>
              <p:cNvSpPr/>
              <p:nvPr/>
            </p:nvSpPr>
            <p:spPr>
              <a:xfrm>
                <a:off x="2236970" y="798913"/>
                <a:ext cx="1291404" cy="1306420"/>
              </a:xfrm>
              <a:custGeom>
                <a:avLst/>
                <a:gdLst>
                  <a:gd name="connsiteX0" fmla="*/ 819626 w 819150"/>
                  <a:gd name="connsiteY0" fmla="*/ 723900 h 828675"/>
                  <a:gd name="connsiteX1" fmla="*/ 106680 w 819150"/>
                  <a:gd name="connsiteY1" fmla="*/ 7144 h 828675"/>
                  <a:gd name="connsiteX2" fmla="*/ 7144 w 819150"/>
                  <a:gd name="connsiteY2" fmla="*/ 106680 h 828675"/>
                  <a:gd name="connsiteX3" fmla="*/ 720090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626" y="723900"/>
                    </a:moveTo>
                    <a:lnTo>
                      <a:pt x="106680" y="7144"/>
                    </a:lnTo>
                    <a:lnTo>
                      <a:pt x="7144" y="106680"/>
                    </a:lnTo>
                    <a:lnTo>
                      <a:pt x="720090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3" name="任意多边形: 形状 72"/>
              <p:cNvSpPr/>
              <p:nvPr/>
            </p:nvSpPr>
            <p:spPr>
              <a:xfrm>
                <a:off x="1922980" y="955833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1 h 809625"/>
                  <a:gd name="connsiteX1" fmla="*/ 206312 w 609600"/>
                  <a:gd name="connsiteY1" fmla="*/ 405384 h 809625"/>
                  <a:gd name="connsiteX2" fmla="*/ 7144 w 609600"/>
                  <a:gd name="connsiteY2" fmla="*/ 604457 h 809625"/>
                  <a:gd name="connsiteX3" fmla="*/ 206312 w 609600"/>
                  <a:gd name="connsiteY3" fmla="*/ 803624 h 809625"/>
                  <a:gd name="connsiteX4" fmla="*/ 405384 w 609600"/>
                  <a:gd name="connsiteY4" fmla="*/ 604457 h 809625"/>
                  <a:gd name="connsiteX5" fmla="*/ 604457 w 609600"/>
                  <a:gd name="connsiteY5" fmla="*/ 405384 h 809625"/>
                  <a:gd name="connsiteX6" fmla="*/ 405384 w 609600"/>
                  <a:gd name="connsiteY6" fmla="*/ 206311 h 809625"/>
                  <a:gd name="connsiteX7" fmla="*/ 206312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1"/>
                    </a:moveTo>
                    <a:lnTo>
                      <a:pt x="206312" y="405384"/>
                    </a:lnTo>
                    <a:lnTo>
                      <a:pt x="7144" y="604457"/>
                    </a:lnTo>
                    <a:lnTo>
                      <a:pt x="206312" y="803624"/>
                    </a:lnTo>
                    <a:lnTo>
                      <a:pt x="405384" y="604457"/>
                    </a:lnTo>
                    <a:lnTo>
                      <a:pt x="604457" y="405384"/>
                    </a:lnTo>
                    <a:lnTo>
                      <a:pt x="405384" y="206311"/>
                    </a:lnTo>
                    <a:lnTo>
                      <a:pt x="206312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4" name="任意多边形: 形状 73"/>
              <p:cNvSpPr/>
              <p:nvPr/>
            </p:nvSpPr>
            <p:spPr>
              <a:xfrm>
                <a:off x="1438703" y="-575832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6"/>
                      <a:pt x="131046" y="166783"/>
                      <a:pt x="86963" y="166783"/>
                    </a:cubicBezTo>
                    <a:cubicBezTo>
                      <a:pt x="42880" y="166783"/>
                      <a:pt x="7144" y="131046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5" name="任意多边形: 形状 74"/>
              <p:cNvSpPr/>
              <p:nvPr/>
            </p:nvSpPr>
            <p:spPr>
              <a:xfrm>
                <a:off x="3467108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6" name="任意多边形: 形状 75"/>
              <p:cNvSpPr/>
              <p:nvPr/>
            </p:nvSpPr>
            <p:spPr>
              <a:xfrm>
                <a:off x="3467108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7" name="任意多边形: 形状 76"/>
              <p:cNvSpPr/>
              <p:nvPr/>
            </p:nvSpPr>
            <p:spPr>
              <a:xfrm>
                <a:off x="3467108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8" name="任意多边形: 形状 77"/>
              <p:cNvSpPr/>
              <p:nvPr/>
            </p:nvSpPr>
            <p:spPr>
              <a:xfrm>
                <a:off x="3467108" y="1485759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9" name="任意多边形: 形状 78"/>
              <p:cNvSpPr/>
              <p:nvPr/>
            </p:nvSpPr>
            <p:spPr>
              <a:xfrm>
                <a:off x="3467108" y="1611896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0"/>
                      <a:pt x="11621" y="7144"/>
                      <a:pt x="17145" y="7144"/>
                    </a:cubicBezTo>
                    <a:cubicBezTo>
                      <a:pt x="22670" y="7144"/>
                      <a:pt x="27146" y="11620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0" name="任意多边形: 形状 79"/>
              <p:cNvSpPr/>
              <p:nvPr/>
            </p:nvSpPr>
            <p:spPr>
              <a:xfrm>
                <a:off x="3467108" y="1737883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1" name="任意多边形: 形状 80"/>
              <p:cNvSpPr/>
              <p:nvPr/>
            </p:nvSpPr>
            <p:spPr>
              <a:xfrm>
                <a:off x="3341122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242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2" name="任意多边形: 形状 81"/>
              <p:cNvSpPr/>
              <p:nvPr/>
            </p:nvSpPr>
            <p:spPr>
              <a:xfrm>
                <a:off x="3341122" y="123363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3" name="任意多边形: 形状 82"/>
              <p:cNvSpPr/>
              <p:nvPr/>
            </p:nvSpPr>
            <p:spPr>
              <a:xfrm>
                <a:off x="3341122" y="1359622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4" name="任意多边形: 形状 83"/>
              <p:cNvSpPr/>
              <p:nvPr/>
            </p:nvSpPr>
            <p:spPr>
              <a:xfrm>
                <a:off x="3341122" y="148575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5" name="任意多边形: 形状 84"/>
              <p:cNvSpPr/>
              <p:nvPr/>
            </p:nvSpPr>
            <p:spPr>
              <a:xfrm>
                <a:off x="3341122" y="1611896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0"/>
                      <a:pt x="11621" y="7144"/>
                      <a:pt x="17145" y="7144"/>
                    </a:cubicBezTo>
                    <a:cubicBezTo>
                      <a:pt x="22670" y="7144"/>
                      <a:pt x="27146" y="11620"/>
                      <a:pt x="27146" y="17145"/>
                    </a:cubicBezTo>
                    <a:cubicBezTo>
                      <a:pt x="27242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6" name="任意多边形: 形状 85"/>
              <p:cNvSpPr/>
              <p:nvPr/>
            </p:nvSpPr>
            <p:spPr>
              <a:xfrm>
                <a:off x="3215285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7" name="任意多边形: 形状 86"/>
              <p:cNvSpPr/>
              <p:nvPr/>
            </p:nvSpPr>
            <p:spPr>
              <a:xfrm>
                <a:off x="3215285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8" name="任意多边形: 形状 87"/>
              <p:cNvSpPr/>
              <p:nvPr/>
            </p:nvSpPr>
            <p:spPr>
              <a:xfrm>
                <a:off x="3215285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9" name="任意多边形: 形状 88"/>
              <p:cNvSpPr/>
              <p:nvPr/>
            </p:nvSpPr>
            <p:spPr>
              <a:xfrm>
                <a:off x="3215285" y="1485759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0" name="任意多边形: 形状 89"/>
              <p:cNvSpPr/>
              <p:nvPr/>
            </p:nvSpPr>
            <p:spPr>
              <a:xfrm>
                <a:off x="3089447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1" name="任意多边形: 形状 90"/>
              <p:cNvSpPr/>
              <p:nvPr/>
            </p:nvSpPr>
            <p:spPr>
              <a:xfrm>
                <a:off x="3089447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2" name="任意多边形: 形状 91"/>
              <p:cNvSpPr/>
              <p:nvPr/>
            </p:nvSpPr>
            <p:spPr>
              <a:xfrm>
                <a:off x="3089447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2963461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242" y="22670"/>
                      <a:pt x="22765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2963461" y="123363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2837623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ubicBezTo>
                      <a:pt x="27146" y="22670"/>
                      <a:pt x="22669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6" name="组合 45"/>
            <p:cNvGrpSpPr/>
            <p:nvPr userDrawn="1"/>
          </p:nvGrpSpPr>
          <p:grpSpPr>
            <a:xfrm rot="10800000">
              <a:off x="-1419754" y="-1454855"/>
              <a:ext cx="5288312" cy="5750156"/>
              <a:chOff x="8327264" y="2565727"/>
              <a:chExt cx="5288312" cy="5750156"/>
            </a:xfrm>
          </p:grpSpPr>
          <p:sp>
            <p:nvSpPr>
              <p:cNvPr id="50" name="矩形 49"/>
              <p:cNvSpPr/>
              <p:nvPr/>
            </p:nvSpPr>
            <p:spPr>
              <a:xfrm>
                <a:off x="8327264" y="685865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矩形 50"/>
              <p:cNvSpPr/>
              <p:nvPr/>
            </p:nvSpPr>
            <p:spPr>
              <a:xfrm rot="5400000">
                <a:off x="10366011" y="4358062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>
              <a:off x="855797" y="2495457"/>
              <a:ext cx="707138" cy="706096"/>
              <a:chOff x="804659" y="2305858"/>
              <a:chExt cx="1124799" cy="1123142"/>
            </a:xfrm>
          </p:grpSpPr>
          <p:sp>
            <p:nvSpPr>
              <p:cNvPr id="48" name="任意多边形: 形状 47"/>
              <p:cNvSpPr/>
              <p:nvPr/>
            </p:nvSpPr>
            <p:spPr>
              <a:xfrm flipV="1">
                <a:off x="804659" y="2466471"/>
                <a:ext cx="962529" cy="962529"/>
              </a:xfrm>
              <a:custGeom>
                <a:avLst/>
                <a:gdLst>
                  <a:gd name="connsiteX0" fmla="*/ 91393 w 504825"/>
                  <a:gd name="connsiteY0" fmla="*/ 92334 h 504825"/>
                  <a:gd name="connsiteX1" fmla="*/ 91393 w 504825"/>
                  <a:gd name="connsiteY1" fmla="*/ 92334 h 504825"/>
                  <a:gd name="connsiteX2" fmla="*/ 92346 w 504825"/>
                  <a:gd name="connsiteY2" fmla="*/ 501432 h 504825"/>
                  <a:gd name="connsiteX3" fmla="*/ 92346 w 504825"/>
                  <a:gd name="connsiteY3" fmla="*/ 501432 h 504825"/>
                  <a:gd name="connsiteX4" fmla="*/ 296466 w 504825"/>
                  <a:gd name="connsiteY4" fmla="*/ 296454 h 504825"/>
                  <a:gd name="connsiteX5" fmla="*/ 500587 w 504825"/>
                  <a:gd name="connsiteY5" fmla="*/ 91476 h 504825"/>
                  <a:gd name="connsiteX6" fmla="*/ 500587 w 504825"/>
                  <a:gd name="connsiteY6" fmla="*/ 91476 h 504825"/>
                  <a:gd name="connsiteX7" fmla="*/ 91393 w 504825"/>
                  <a:gd name="connsiteY7" fmla="*/ 92334 h 504825"/>
                  <a:gd name="connsiteX8" fmla="*/ 91393 w 504825"/>
                  <a:gd name="connsiteY8" fmla="*/ 92334 h 50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4825" h="504825">
                    <a:moveTo>
                      <a:pt x="91393" y="92334"/>
                    </a:moveTo>
                    <a:lnTo>
                      <a:pt x="91393" y="92334"/>
                    </a:lnTo>
                    <a:cubicBezTo>
                      <a:pt x="-21288" y="205586"/>
                      <a:pt x="-20907" y="388752"/>
                      <a:pt x="92346" y="501432"/>
                    </a:cubicBezTo>
                    <a:lnTo>
                      <a:pt x="92346" y="501432"/>
                    </a:lnTo>
                    <a:lnTo>
                      <a:pt x="296466" y="296454"/>
                    </a:lnTo>
                    <a:lnTo>
                      <a:pt x="500587" y="91476"/>
                    </a:lnTo>
                    <a:lnTo>
                      <a:pt x="500587" y="91476"/>
                    </a:lnTo>
                    <a:cubicBezTo>
                      <a:pt x="387335" y="-21300"/>
                      <a:pt x="204169" y="-20919"/>
                      <a:pt x="91393" y="92334"/>
                    </a:cubicBezTo>
                    <a:lnTo>
                      <a:pt x="91393" y="9233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 flipV="1">
                <a:off x="966929" y="2305858"/>
                <a:ext cx="962529" cy="962529"/>
              </a:xfrm>
              <a:custGeom>
                <a:avLst/>
                <a:gdLst>
                  <a:gd name="connsiteX0" fmla="*/ 416338 w 504825"/>
                  <a:gd name="connsiteY0" fmla="*/ 416242 h 504825"/>
                  <a:gd name="connsiteX1" fmla="*/ 416338 w 504825"/>
                  <a:gd name="connsiteY1" fmla="*/ 416242 h 504825"/>
                  <a:gd name="connsiteX2" fmla="*/ 415385 w 504825"/>
                  <a:gd name="connsiteY2" fmla="*/ 7144 h 504825"/>
                  <a:gd name="connsiteX3" fmla="*/ 415385 w 504825"/>
                  <a:gd name="connsiteY3" fmla="*/ 7144 h 504825"/>
                  <a:gd name="connsiteX4" fmla="*/ 211264 w 504825"/>
                  <a:gd name="connsiteY4" fmla="*/ 212122 h 504825"/>
                  <a:gd name="connsiteX5" fmla="*/ 7144 w 504825"/>
                  <a:gd name="connsiteY5" fmla="*/ 417100 h 504825"/>
                  <a:gd name="connsiteX6" fmla="*/ 7144 w 504825"/>
                  <a:gd name="connsiteY6" fmla="*/ 417100 h 504825"/>
                  <a:gd name="connsiteX7" fmla="*/ 416338 w 504825"/>
                  <a:gd name="connsiteY7" fmla="*/ 416242 h 504825"/>
                  <a:gd name="connsiteX8" fmla="*/ 416338 w 504825"/>
                  <a:gd name="connsiteY8" fmla="*/ 416242 h 50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4825" h="504825">
                    <a:moveTo>
                      <a:pt x="416338" y="416242"/>
                    </a:moveTo>
                    <a:lnTo>
                      <a:pt x="416338" y="416242"/>
                    </a:lnTo>
                    <a:cubicBezTo>
                      <a:pt x="529018" y="302990"/>
                      <a:pt x="528638" y="119825"/>
                      <a:pt x="415385" y="7144"/>
                    </a:cubicBezTo>
                    <a:lnTo>
                      <a:pt x="415385" y="7144"/>
                    </a:lnTo>
                    <a:lnTo>
                      <a:pt x="211264" y="212122"/>
                    </a:lnTo>
                    <a:lnTo>
                      <a:pt x="7144" y="417100"/>
                    </a:lnTo>
                    <a:lnTo>
                      <a:pt x="7144" y="417100"/>
                    </a:lnTo>
                    <a:cubicBezTo>
                      <a:pt x="120396" y="529876"/>
                      <a:pt x="303562" y="529495"/>
                      <a:pt x="416338" y="416242"/>
                    </a:cubicBezTo>
                    <a:lnTo>
                      <a:pt x="416338" y="41624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6" name="组合 95"/>
          <p:cNvGrpSpPr/>
          <p:nvPr userDrawn="1"/>
        </p:nvGrpSpPr>
        <p:grpSpPr>
          <a:xfrm flipH="1" flipV="1">
            <a:off x="11631513" y="6285476"/>
            <a:ext cx="589526" cy="589526"/>
            <a:chOff x="4495775" y="2105906"/>
            <a:chExt cx="810882" cy="810882"/>
          </a:xfrm>
        </p:grpSpPr>
        <p:sp>
          <p:nvSpPr>
            <p:cNvPr id="97" name="任意多边形: 形状 96"/>
            <p:cNvSpPr/>
            <p:nvPr/>
          </p:nvSpPr>
          <p:spPr>
            <a:xfrm>
              <a:off x="4495775" y="2105906"/>
              <a:ext cx="810882" cy="810882"/>
            </a:xfrm>
            <a:custGeom>
              <a:avLst/>
              <a:gdLst>
                <a:gd name="connsiteX0" fmla="*/ 7144 w 514350"/>
                <a:gd name="connsiteY0" fmla="*/ 510159 h 514350"/>
                <a:gd name="connsiteX1" fmla="*/ 7144 w 514350"/>
                <a:gd name="connsiteY1" fmla="*/ 510159 h 514350"/>
                <a:gd name="connsiteX2" fmla="*/ 510159 w 514350"/>
                <a:gd name="connsiteY2" fmla="*/ 7144 h 514350"/>
                <a:gd name="connsiteX3" fmla="*/ 510159 w 514350"/>
                <a:gd name="connsiteY3" fmla="*/ 7144 h 514350"/>
                <a:gd name="connsiteX4" fmla="*/ 7144 w 514350"/>
                <a:gd name="connsiteY4" fmla="*/ 7144 h 514350"/>
                <a:gd name="connsiteX5" fmla="*/ 7144 w 514350"/>
                <a:gd name="connsiteY5" fmla="*/ 510159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4350" h="514350">
                  <a:moveTo>
                    <a:pt x="7144" y="510159"/>
                  </a:moveTo>
                  <a:lnTo>
                    <a:pt x="7144" y="510159"/>
                  </a:lnTo>
                  <a:cubicBezTo>
                    <a:pt x="284988" y="510159"/>
                    <a:pt x="510159" y="284988"/>
                    <a:pt x="510159" y="7144"/>
                  </a:cubicBezTo>
                  <a:lnTo>
                    <a:pt x="510159" y="7144"/>
                  </a:lnTo>
                  <a:lnTo>
                    <a:pt x="7144" y="7144"/>
                  </a:lnTo>
                  <a:lnTo>
                    <a:pt x="7144" y="510159"/>
                  </a:lnTo>
                  <a:close/>
                </a:path>
              </a:pathLst>
            </a:custGeom>
            <a:solidFill>
              <a:srgbClr val="FAA71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4495775" y="2105906"/>
              <a:ext cx="465506" cy="465506"/>
            </a:xfrm>
            <a:custGeom>
              <a:avLst/>
              <a:gdLst>
                <a:gd name="connsiteX0" fmla="*/ 7144 w 295275"/>
                <a:gd name="connsiteY0" fmla="*/ 289084 h 295275"/>
                <a:gd name="connsiteX1" fmla="*/ 7144 w 295275"/>
                <a:gd name="connsiteY1" fmla="*/ 289084 h 295275"/>
                <a:gd name="connsiteX2" fmla="*/ 289084 w 295275"/>
                <a:gd name="connsiteY2" fmla="*/ 7144 h 295275"/>
                <a:gd name="connsiteX3" fmla="*/ 289084 w 295275"/>
                <a:gd name="connsiteY3" fmla="*/ 7144 h 295275"/>
                <a:gd name="connsiteX4" fmla="*/ 7144 w 295275"/>
                <a:gd name="connsiteY4" fmla="*/ 7144 h 295275"/>
                <a:gd name="connsiteX5" fmla="*/ 7144 w 295275"/>
                <a:gd name="connsiteY5" fmla="*/ 28908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275" h="295275">
                  <a:moveTo>
                    <a:pt x="7144" y="289084"/>
                  </a:moveTo>
                  <a:lnTo>
                    <a:pt x="7144" y="289084"/>
                  </a:lnTo>
                  <a:cubicBezTo>
                    <a:pt x="162878" y="289084"/>
                    <a:pt x="289084" y="162877"/>
                    <a:pt x="289084" y="7144"/>
                  </a:cubicBezTo>
                  <a:lnTo>
                    <a:pt x="289084" y="7144"/>
                  </a:lnTo>
                  <a:lnTo>
                    <a:pt x="7144" y="7144"/>
                  </a:lnTo>
                  <a:lnTo>
                    <a:pt x="7144" y="289084"/>
                  </a:lnTo>
                  <a:close/>
                </a:path>
              </a:pathLst>
            </a:custGeom>
            <a:solidFill>
              <a:srgbClr val="61C9D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9" name="组合 98"/>
          <p:cNvGrpSpPr/>
          <p:nvPr userDrawn="1"/>
        </p:nvGrpSpPr>
        <p:grpSpPr>
          <a:xfrm rot="10800000" flipH="1" flipV="1">
            <a:off x="-24875" y="-22542"/>
            <a:ext cx="589526" cy="589526"/>
            <a:chOff x="4495775" y="2105906"/>
            <a:chExt cx="810882" cy="810882"/>
          </a:xfrm>
        </p:grpSpPr>
        <p:sp>
          <p:nvSpPr>
            <p:cNvPr id="100" name="任意多边形: 形状 99"/>
            <p:cNvSpPr/>
            <p:nvPr/>
          </p:nvSpPr>
          <p:spPr>
            <a:xfrm>
              <a:off x="4495775" y="2105906"/>
              <a:ext cx="810882" cy="810882"/>
            </a:xfrm>
            <a:custGeom>
              <a:avLst/>
              <a:gdLst>
                <a:gd name="connsiteX0" fmla="*/ 7144 w 514350"/>
                <a:gd name="connsiteY0" fmla="*/ 510159 h 514350"/>
                <a:gd name="connsiteX1" fmla="*/ 7144 w 514350"/>
                <a:gd name="connsiteY1" fmla="*/ 510159 h 514350"/>
                <a:gd name="connsiteX2" fmla="*/ 510159 w 514350"/>
                <a:gd name="connsiteY2" fmla="*/ 7144 h 514350"/>
                <a:gd name="connsiteX3" fmla="*/ 510159 w 514350"/>
                <a:gd name="connsiteY3" fmla="*/ 7144 h 514350"/>
                <a:gd name="connsiteX4" fmla="*/ 7144 w 514350"/>
                <a:gd name="connsiteY4" fmla="*/ 7144 h 514350"/>
                <a:gd name="connsiteX5" fmla="*/ 7144 w 514350"/>
                <a:gd name="connsiteY5" fmla="*/ 510159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4350" h="514350">
                  <a:moveTo>
                    <a:pt x="7144" y="510159"/>
                  </a:moveTo>
                  <a:lnTo>
                    <a:pt x="7144" y="510159"/>
                  </a:lnTo>
                  <a:cubicBezTo>
                    <a:pt x="284988" y="510159"/>
                    <a:pt x="510159" y="284988"/>
                    <a:pt x="510159" y="7144"/>
                  </a:cubicBezTo>
                  <a:lnTo>
                    <a:pt x="510159" y="7144"/>
                  </a:lnTo>
                  <a:lnTo>
                    <a:pt x="7144" y="7144"/>
                  </a:lnTo>
                  <a:lnTo>
                    <a:pt x="7144" y="510159"/>
                  </a:lnTo>
                  <a:close/>
                </a:path>
              </a:pathLst>
            </a:custGeom>
            <a:solidFill>
              <a:srgbClr val="FAA71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4495775" y="2105906"/>
              <a:ext cx="465506" cy="465506"/>
            </a:xfrm>
            <a:custGeom>
              <a:avLst/>
              <a:gdLst>
                <a:gd name="connsiteX0" fmla="*/ 7144 w 295275"/>
                <a:gd name="connsiteY0" fmla="*/ 289084 h 295275"/>
                <a:gd name="connsiteX1" fmla="*/ 7144 w 295275"/>
                <a:gd name="connsiteY1" fmla="*/ 289084 h 295275"/>
                <a:gd name="connsiteX2" fmla="*/ 289084 w 295275"/>
                <a:gd name="connsiteY2" fmla="*/ 7144 h 295275"/>
                <a:gd name="connsiteX3" fmla="*/ 289084 w 295275"/>
                <a:gd name="connsiteY3" fmla="*/ 7144 h 295275"/>
                <a:gd name="connsiteX4" fmla="*/ 7144 w 295275"/>
                <a:gd name="connsiteY4" fmla="*/ 7144 h 295275"/>
                <a:gd name="connsiteX5" fmla="*/ 7144 w 295275"/>
                <a:gd name="connsiteY5" fmla="*/ 28908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275" h="295275">
                  <a:moveTo>
                    <a:pt x="7144" y="289084"/>
                  </a:moveTo>
                  <a:lnTo>
                    <a:pt x="7144" y="289084"/>
                  </a:lnTo>
                  <a:cubicBezTo>
                    <a:pt x="162878" y="289084"/>
                    <a:pt x="289084" y="162877"/>
                    <a:pt x="289084" y="7144"/>
                  </a:cubicBezTo>
                  <a:lnTo>
                    <a:pt x="289084" y="7144"/>
                  </a:lnTo>
                  <a:lnTo>
                    <a:pt x="7144" y="7144"/>
                  </a:lnTo>
                  <a:lnTo>
                    <a:pt x="7144" y="289084"/>
                  </a:lnTo>
                  <a:close/>
                </a:path>
              </a:pathLst>
            </a:custGeom>
            <a:solidFill>
              <a:srgbClr val="61C9D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 flipH="1" flipV="1">
            <a:off x="-922170" y="-925083"/>
            <a:ext cx="3251520" cy="3552169"/>
            <a:chOff x="8327264" y="2565728"/>
            <a:chExt cx="5222380" cy="5705265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8629650" y="3314700"/>
              <a:ext cx="4263853" cy="4740854"/>
              <a:chOff x="3248171" y="3197770"/>
              <a:chExt cx="3295332" cy="3663984"/>
            </a:xfrm>
          </p:grpSpPr>
          <p:sp>
            <p:nvSpPr>
              <p:cNvPr id="8" name="任意多边形: 形状 7"/>
              <p:cNvSpPr/>
              <p:nvPr/>
            </p:nvSpPr>
            <p:spPr>
              <a:xfrm>
                <a:off x="3505550" y="3197770"/>
                <a:ext cx="2747988" cy="3663984"/>
              </a:xfrm>
              <a:custGeom>
                <a:avLst/>
                <a:gdLst>
                  <a:gd name="connsiteX0" fmla="*/ 7144 w 1743075"/>
                  <a:gd name="connsiteY0" fmla="*/ 1742789 h 2324100"/>
                  <a:gd name="connsiteX1" fmla="*/ 1742789 w 1743075"/>
                  <a:gd name="connsiteY1" fmla="*/ 7144 h 2324100"/>
                  <a:gd name="connsiteX2" fmla="*/ 1742789 w 1743075"/>
                  <a:gd name="connsiteY2" fmla="*/ 585692 h 2324100"/>
                  <a:gd name="connsiteX3" fmla="*/ 7144 w 1743075"/>
                  <a:gd name="connsiteY3" fmla="*/ 2321243 h 2324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43075" h="2324100">
                    <a:moveTo>
                      <a:pt x="7144" y="1742789"/>
                    </a:moveTo>
                    <a:lnTo>
                      <a:pt x="1742789" y="7144"/>
                    </a:lnTo>
                    <a:lnTo>
                      <a:pt x="1742789" y="585692"/>
                    </a:lnTo>
                    <a:lnTo>
                      <a:pt x="7144" y="232124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4157559" y="4505392"/>
                <a:ext cx="570620" cy="1126225"/>
              </a:xfrm>
              <a:custGeom>
                <a:avLst/>
                <a:gdLst>
                  <a:gd name="connsiteX0" fmla="*/ 153353 w 361950"/>
                  <a:gd name="connsiteY0" fmla="*/ 360141 h 714375"/>
                  <a:gd name="connsiteX1" fmla="*/ 7144 w 361950"/>
                  <a:gd name="connsiteY1" fmla="*/ 7144 h 714375"/>
                  <a:gd name="connsiteX2" fmla="*/ 360140 w 361950"/>
                  <a:gd name="connsiteY2" fmla="*/ 360141 h 714375"/>
                  <a:gd name="connsiteX3" fmla="*/ 7144 w 361950"/>
                  <a:gd name="connsiteY3" fmla="*/ 713137 h 714375"/>
                  <a:gd name="connsiteX4" fmla="*/ 153353 w 361950"/>
                  <a:gd name="connsiteY4" fmla="*/ 360141 h 71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950" h="714375">
                    <a:moveTo>
                      <a:pt x="153353" y="360141"/>
                    </a:moveTo>
                    <a:cubicBezTo>
                      <a:pt x="153353" y="232410"/>
                      <a:pt x="104584" y="104680"/>
                      <a:pt x="7144" y="7144"/>
                    </a:cubicBezTo>
                    <a:lnTo>
                      <a:pt x="360140" y="360141"/>
                    </a:lnTo>
                    <a:lnTo>
                      <a:pt x="7144" y="713137"/>
                    </a:lnTo>
                    <a:cubicBezTo>
                      <a:pt x="104584" y="615696"/>
                      <a:pt x="153353" y="487871"/>
                      <a:pt x="153353" y="360141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4445122" y="4524914"/>
                <a:ext cx="825898" cy="1096192"/>
              </a:xfrm>
              <a:custGeom>
                <a:avLst/>
                <a:gdLst>
                  <a:gd name="connsiteX0" fmla="*/ 348805 w 523875"/>
                  <a:gd name="connsiteY0" fmla="*/ 519684 h 695325"/>
                  <a:gd name="connsiteX1" fmla="*/ 519684 w 523875"/>
                  <a:gd name="connsiteY1" fmla="*/ 348805 h 695325"/>
                  <a:gd name="connsiteX2" fmla="*/ 348805 w 523875"/>
                  <a:gd name="connsiteY2" fmla="*/ 178022 h 695325"/>
                  <a:gd name="connsiteX3" fmla="*/ 178022 w 523875"/>
                  <a:gd name="connsiteY3" fmla="*/ 7144 h 695325"/>
                  <a:gd name="connsiteX4" fmla="*/ 7144 w 523875"/>
                  <a:gd name="connsiteY4" fmla="*/ 178022 h 695325"/>
                  <a:gd name="connsiteX5" fmla="*/ 178022 w 523875"/>
                  <a:gd name="connsiteY5" fmla="*/ 348805 h 695325"/>
                  <a:gd name="connsiteX6" fmla="*/ 7144 w 523875"/>
                  <a:gd name="connsiteY6" fmla="*/ 519684 h 695325"/>
                  <a:gd name="connsiteX7" fmla="*/ 178022 w 523875"/>
                  <a:gd name="connsiteY7" fmla="*/ 690563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3875" h="695325">
                    <a:moveTo>
                      <a:pt x="348805" y="519684"/>
                    </a:moveTo>
                    <a:lnTo>
                      <a:pt x="519684" y="348805"/>
                    </a:lnTo>
                    <a:lnTo>
                      <a:pt x="348805" y="178022"/>
                    </a:lnTo>
                    <a:lnTo>
                      <a:pt x="178022" y="7144"/>
                    </a:lnTo>
                    <a:lnTo>
                      <a:pt x="7144" y="178022"/>
                    </a:lnTo>
                    <a:lnTo>
                      <a:pt x="178022" y="348805"/>
                    </a:lnTo>
                    <a:lnTo>
                      <a:pt x="7144" y="519684"/>
                    </a:lnTo>
                    <a:lnTo>
                      <a:pt x="178022" y="69056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4445122" y="4524914"/>
                <a:ext cx="285310" cy="555604"/>
              </a:xfrm>
              <a:custGeom>
                <a:avLst/>
                <a:gdLst>
                  <a:gd name="connsiteX0" fmla="*/ 178022 w 180975"/>
                  <a:gd name="connsiteY0" fmla="*/ 348805 h 352425"/>
                  <a:gd name="connsiteX1" fmla="*/ 178022 w 180975"/>
                  <a:gd name="connsiteY1" fmla="*/ 7144 h 352425"/>
                  <a:gd name="connsiteX2" fmla="*/ 7144 w 180975"/>
                  <a:gd name="connsiteY2" fmla="*/ 178022 h 35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975" h="352425">
                    <a:moveTo>
                      <a:pt x="178022" y="348805"/>
                    </a:moveTo>
                    <a:lnTo>
                      <a:pt x="178022" y="7144"/>
                    </a:lnTo>
                    <a:lnTo>
                      <a:pt x="7144" y="17802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5252099" y="4281949"/>
                <a:ext cx="1291404" cy="1306420"/>
              </a:xfrm>
              <a:custGeom>
                <a:avLst/>
                <a:gdLst>
                  <a:gd name="connsiteX0" fmla="*/ 819722 w 819150"/>
                  <a:gd name="connsiteY0" fmla="*/ 723900 h 828675"/>
                  <a:gd name="connsiteX1" fmla="*/ 106775 w 819150"/>
                  <a:gd name="connsiteY1" fmla="*/ 7144 h 828675"/>
                  <a:gd name="connsiteX2" fmla="*/ 7144 w 819150"/>
                  <a:gd name="connsiteY2" fmla="*/ 106680 h 828675"/>
                  <a:gd name="connsiteX3" fmla="*/ 720185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722" y="723900"/>
                    </a:moveTo>
                    <a:lnTo>
                      <a:pt x="106775" y="7144"/>
                    </a:lnTo>
                    <a:lnTo>
                      <a:pt x="7144" y="106680"/>
                    </a:lnTo>
                    <a:lnTo>
                      <a:pt x="720185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4938257" y="4438869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2 h 809625"/>
                  <a:gd name="connsiteX1" fmla="*/ 206216 w 609600"/>
                  <a:gd name="connsiteY1" fmla="*/ 405384 h 809625"/>
                  <a:gd name="connsiteX2" fmla="*/ 7144 w 609600"/>
                  <a:gd name="connsiteY2" fmla="*/ 604552 h 809625"/>
                  <a:gd name="connsiteX3" fmla="*/ 206216 w 609600"/>
                  <a:gd name="connsiteY3" fmla="*/ 803625 h 809625"/>
                  <a:gd name="connsiteX4" fmla="*/ 405384 w 609600"/>
                  <a:gd name="connsiteY4" fmla="*/ 604552 h 809625"/>
                  <a:gd name="connsiteX5" fmla="*/ 604457 w 609600"/>
                  <a:gd name="connsiteY5" fmla="*/ 405384 h 809625"/>
                  <a:gd name="connsiteX6" fmla="*/ 405384 w 609600"/>
                  <a:gd name="connsiteY6" fmla="*/ 206312 h 809625"/>
                  <a:gd name="connsiteX7" fmla="*/ 206216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2"/>
                    </a:moveTo>
                    <a:lnTo>
                      <a:pt x="206216" y="405384"/>
                    </a:lnTo>
                    <a:lnTo>
                      <a:pt x="7144" y="604552"/>
                    </a:lnTo>
                    <a:lnTo>
                      <a:pt x="206216" y="803625"/>
                    </a:lnTo>
                    <a:lnTo>
                      <a:pt x="405384" y="604552"/>
                    </a:lnTo>
                    <a:lnTo>
                      <a:pt x="604457" y="405384"/>
                    </a:lnTo>
                    <a:lnTo>
                      <a:pt x="405384" y="206312"/>
                    </a:lnTo>
                    <a:lnTo>
                      <a:pt x="206216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3248171" y="4936060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7"/>
                      <a:pt x="131046" y="166783"/>
                      <a:pt x="86963" y="166783"/>
                    </a:cubicBezTo>
                    <a:cubicBezTo>
                      <a:pt x="42880" y="166783"/>
                      <a:pt x="7144" y="131047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5248044" y="4843860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8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8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5489958" y="5079015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1 w 38100"/>
                  <a:gd name="connsiteY2" fmla="*/ 12001 h 38100"/>
                  <a:gd name="connsiteX3" fmla="*/ 12001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1" y="12001"/>
                    </a:cubicBezTo>
                    <a:cubicBezTo>
                      <a:pt x="5525" y="18478"/>
                      <a:pt x="5525" y="28956"/>
                      <a:pt x="12001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5687423" y="5276480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884888" y="5473946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5153442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5279579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540556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>
                <a:off x="5531704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5657690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578367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5153442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>
                <a:off x="527943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任意多边形: 形状 29"/>
              <p:cNvSpPr/>
              <p:nvPr/>
            </p:nvSpPr>
            <p:spPr>
              <a:xfrm>
                <a:off x="5405567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5531553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565769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5153442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5279430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5405567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5531553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5153442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5279579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5405567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39"/>
              <p:cNvSpPr/>
              <p:nvPr/>
            </p:nvSpPr>
            <p:spPr>
              <a:xfrm>
                <a:off x="5153442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5279579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5153442" y="411091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8327264" y="2565728"/>
              <a:ext cx="5222380" cy="5705265"/>
              <a:chOff x="8327264" y="2565728"/>
              <a:chExt cx="5222380" cy="5705265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8327264" y="68137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rot="5400000">
                <a:off x="10300079" y="43580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02" name="组合 101"/>
          <p:cNvGrpSpPr/>
          <p:nvPr userDrawn="1"/>
        </p:nvGrpSpPr>
        <p:grpSpPr>
          <a:xfrm>
            <a:off x="9863474" y="4233621"/>
            <a:ext cx="3251520" cy="3552169"/>
            <a:chOff x="8327264" y="2565728"/>
            <a:chExt cx="5222380" cy="5705265"/>
          </a:xfrm>
        </p:grpSpPr>
        <p:grpSp>
          <p:nvGrpSpPr>
            <p:cNvPr id="103" name="组合 102"/>
            <p:cNvGrpSpPr/>
            <p:nvPr userDrawn="1"/>
          </p:nvGrpSpPr>
          <p:grpSpPr>
            <a:xfrm>
              <a:off x="8629650" y="3314700"/>
              <a:ext cx="4263853" cy="4740854"/>
              <a:chOff x="3248171" y="3197770"/>
              <a:chExt cx="3295332" cy="3663984"/>
            </a:xfrm>
          </p:grpSpPr>
          <p:sp>
            <p:nvSpPr>
              <p:cNvPr id="107" name="任意多边形: 形状 106"/>
              <p:cNvSpPr/>
              <p:nvPr/>
            </p:nvSpPr>
            <p:spPr>
              <a:xfrm>
                <a:off x="3505550" y="3197770"/>
                <a:ext cx="2747988" cy="3663984"/>
              </a:xfrm>
              <a:custGeom>
                <a:avLst/>
                <a:gdLst>
                  <a:gd name="connsiteX0" fmla="*/ 7144 w 1743075"/>
                  <a:gd name="connsiteY0" fmla="*/ 1742789 h 2324100"/>
                  <a:gd name="connsiteX1" fmla="*/ 1742789 w 1743075"/>
                  <a:gd name="connsiteY1" fmla="*/ 7144 h 2324100"/>
                  <a:gd name="connsiteX2" fmla="*/ 1742789 w 1743075"/>
                  <a:gd name="connsiteY2" fmla="*/ 585692 h 2324100"/>
                  <a:gd name="connsiteX3" fmla="*/ 7144 w 1743075"/>
                  <a:gd name="connsiteY3" fmla="*/ 2321243 h 2324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43075" h="2324100">
                    <a:moveTo>
                      <a:pt x="7144" y="1742789"/>
                    </a:moveTo>
                    <a:lnTo>
                      <a:pt x="1742789" y="7144"/>
                    </a:lnTo>
                    <a:lnTo>
                      <a:pt x="1742789" y="585692"/>
                    </a:lnTo>
                    <a:lnTo>
                      <a:pt x="7144" y="232124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4157559" y="4505392"/>
                <a:ext cx="570620" cy="1126225"/>
              </a:xfrm>
              <a:custGeom>
                <a:avLst/>
                <a:gdLst>
                  <a:gd name="connsiteX0" fmla="*/ 153353 w 361950"/>
                  <a:gd name="connsiteY0" fmla="*/ 360141 h 714375"/>
                  <a:gd name="connsiteX1" fmla="*/ 7144 w 361950"/>
                  <a:gd name="connsiteY1" fmla="*/ 7144 h 714375"/>
                  <a:gd name="connsiteX2" fmla="*/ 360140 w 361950"/>
                  <a:gd name="connsiteY2" fmla="*/ 360141 h 714375"/>
                  <a:gd name="connsiteX3" fmla="*/ 7144 w 361950"/>
                  <a:gd name="connsiteY3" fmla="*/ 713137 h 714375"/>
                  <a:gd name="connsiteX4" fmla="*/ 153353 w 361950"/>
                  <a:gd name="connsiteY4" fmla="*/ 360141 h 71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950" h="714375">
                    <a:moveTo>
                      <a:pt x="153353" y="360141"/>
                    </a:moveTo>
                    <a:cubicBezTo>
                      <a:pt x="153353" y="232410"/>
                      <a:pt x="104584" y="104680"/>
                      <a:pt x="7144" y="7144"/>
                    </a:cubicBezTo>
                    <a:lnTo>
                      <a:pt x="360140" y="360141"/>
                    </a:lnTo>
                    <a:lnTo>
                      <a:pt x="7144" y="713137"/>
                    </a:lnTo>
                    <a:cubicBezTo>
                      <a:pt x="104584" y="615696"/>
                      <a:pt x="153353" y="487871"/>
                      <a:pt x="153353" y="360141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1" name="任意多边形: 形状 110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2" name="任意多边形: 形状 111"/>
              <p:cNvSpPr/>
              <p:nvPr/>
            </p:nvSpPr>
            <p:spPr>
              <a:xfrm>
                <a:off x="4445122" y="4524914"/>
                <a:ext cx="825898" cy="1096192"/>
              </a:xfrm>
              <a:custGeom>
                <a:avLst/>
                <a:gdLst>
                  <a:gd name="connsiteX0" fmla="*/ 348805 w 523875"/>
                  <a:gd name="connsiteY0" fmla="*/ 519684 h 695325"/>
                  <a:gd name="connsiteX1" fmla="*/ 519684 w 523875"/>
                  <a:gd name="connsiteY1" fmla="*/ 348805 h 695325"/>
                  <a:gd name="connsiteX2" fmla="*/ 348805 w 523875"/>
                  <a:gd name="connsiteY2" fmla="*/ 178022 h 695325"/>
                  <a:gd name="connsiteX3" fmla="*/ 178022 w 523875"/>
                  <a:gd name="connsiteY3" fmla="*/ 7144 h 695325"/>
                  <a:gd name="connsiteX4" fmla="*/ 7144 w 523875"/>
                  <a:gd name="connsiteY4" fmla="*/ 178022 h 695325"/>
                  <a:gd name="connsiteX5" fmla="*/ 178022 w 523875"/>
                  <a:gd name="connsiteY5" fmla="*/ 348805 h 695325"/>
                  <a:gd name="connsiteX6" fmla="*/ 7144 w 523875"/>
                  <a:gd name="connsiteY6" fmla="*/ 519684 h 695325"/>
                  <a:gd name="connsiteX7" fmla="*/ 178022 w 523875"/>
                  <a:gd name="connsiteY7" fmla="*/ 690563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3875" h="695325">
                    <a:moveTo>
                      <a:pt x="348805" y="519684"/>
                    </a:moveTo>
                    <a:lnTo>
                      <a:pt x="519684" y="348805"/>
                    </a:lnTo>
                    <a:lnTo>
                      <a:pt x="348805" y="178022"/>
                    </a:lnTo>
                    <a:lnTo>
                      <a:pt x="178022" y="7144"/>
                    </a:lnTo>
                    <a:lnTo>
                      <a:pt x="7144" y="178022"/>
                    </a:lnTo>
                    <a:lnTo>
                      <a:pt x="178022" y="348805"/>
                    </a:lnTo>
                    <a:lnTo>
                      <a:pt x="7144" y="519684"/>
                    </a:lnTo>
                    <a:lnTo>
                      <a:pt x="178022" y="69056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3" name="任意多边形: 形状 112"/>
              <p:cNvSpPr/>
              <p:nvPr/>
            </p:nvSpPr>
            <p:spPr>
              <a:xfrm>
                <a:off x="4445122" y="4524914"/>
                <a:ext cx="285310" cy="555604"/>
              </a:xfrm>
              <a:custGeom>
                <a:avLst/>
                <a:gdLst>
                  <a:gd name="connsiteX0" fmla="*/ 178022 w 180975"/>
                  <a:gd name="connsiteY0" fmla="*/ 348805 h 352425"/>
                  <a:gd name="connsiteX1" fmla="*/ 178022 w 180975"/>
                  <a:gd name="connsiteY1" fmla="*/ 7144 h 352425"/>
                  <a:gd name="connsiteX2" fmla="*/ 7144 w 180975"/>
                  <a:gd name="connsiteY2" fmla="*/ 178022 h 35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975" h="352425">
                    <a:moveTo>
                      <a:pt x="178022" y="348805"/>
                    </a:moveTo>
                    <a:lnTo>
                      <a:pt x="178022" y="7144"/>
                    </a:lnTo>
                    <a:lnTo>
                      <a:pt x="7144" y="17802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4" name="任意多边形: 形状 113"/>
              <p:cNvSpPr/>
              <p:nvPr/>
            </p:nvSpPr>
            <p:spPr>
              <a:xfrm>
                <a:off x="5252099" y="4281949"/>
                <a:ext cx="1291404" cy="1306420"/>
              </a:xfrm>
              <a:custGeom>
                <a:avLst/>
                <a:gdLst>
                  <a:gd name="connsiteX0" fmla="*/ 819722 w 819150"/>
                  <a:gd name="connsiteY0" fmla="*/ 723900 h 828675"/>
                  <a:gd name="connsiteX1" fmla="*/ 106775 w 819150"/>
                  <a:gd name="connsiteY1" fmla="*/ 7144 h 828675"/>
                  <a:gd name="connsiteX2" fmla="*/ 7144 w 819150"/>
                  <a:gd name="connsiteY2" fmla="*/ 106680 h 828675"/>
                  <a:gd name="connsiteX3" fmla="*/ 720185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722" y="723900"/>
                    </a:moveTo>
                    <a:lnTo>
                      <a:pt x="106775" y="7144"/>
                    </a:lnTo>
                    <a:lnTo>
                      <a:pt x="7144" y="106680"/>
                    </a:lnTo>
                    <a:lnTo>
                      <a:pt x="720185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5" name="任意多边形: 形状 114"/>
              <p:cNvSpPr/>
              <p:nvPr/>
            </p:nvSpPr>
            <p:spPr>
              <a:xfrm>
                <a:off x="4938257" y="4438869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2 h 809625"/>
                  <a:gd name="connsiteX1" fmla="*/ 206216 w 609600"/>
                  <a:gd name="connsiteY1" fmla="*/ 405384 h 809625"/>
                  <a:gd name="connsiteX2" fmla="*/ 7144 w 609600"/>
                  <a:gd name="connsiteY2" fmla="*/ 604552 h 809625"/>
                  <a:gd name="connsiteX3" fmla="*/ 206216 w 609600"/>
                  <a:gd name="connsiteY3" fmla="*/ 803625 h 809625"/>
                  <a:gd name="connsiteX4" fmla="*/ 405384 w 609600"/>
                  <a:gd name="connsiteY4" fmla="*/ 604552 h 809625"/>
                  <a:gd name="connsiteX5" fmla="*/ 604457 w 609600"/>
                  <a:gd name="connsiteY5" fmla="*/ 405384 h 809625"/>
                  <a:gd name="connsiteX6" fmla="*/ 405384 w 609600"/>
                  <a:gd name="connsiteY6" fmla="*/ 206312 h 809625"/>
                  <a:gd name="connsiteX7" fmla="*/ 206216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2"/>
                    </a:moveTo>
                    <a:lnTo>
                      <a:pt x="206216" y="405384"/>
                    </a:lnTo>
                    <a:lnTo>
                      <a:pt x="7144" y="604552"/>
                    </a:lnTo>
                    <a:lnTo>
                      <a:pt x="206216" y="803625"/>
                    </a:lnTo>
                    <a:lnTo>
                      <a:pt x="405384" y="604552"/>
                    </a:lnTo>
                    <a:lnTo>
                      <a:pt x="604457" y="405384"/>
                    </a:lnTo>
                    <a:lnTo>
                      <a:pt x="405384" y="206312"/>
                    </a:lnTo>
                    <a:lnTo>
                      <a:pt x="206216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3248171" y="4936060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7"/>
                      <a:pt x="131046" y="166783"/>
                      <a:pt x="86963" y="166783"/>
                    </a:cubicBezTo>
                    <a:cubicBezTo>
                      <a:pt x="42880" y="166783"/>
                      <a:pt x="7144" y="131047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7" name="任意多边形: 形状 116"/>
              <p:cNvSpPr/>
              <p:nvPr/>
            </p:nvSpPr>
            <p:spPr>
              <a:xfrm>
                <a:off x="5248044" y="4843860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8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8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8" name="任意多边形: 形状 117"/>
              <p:cNvSpPr/>
              <p:nvPr/>
            </p:nvSpPr>
            <p:spPr>
              <a:xfrm>
                <a:off x="5489958" y="5079015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1 w 38100"/>
                  <a:gd name="connsiteY2" fmla="*/ 12001 h 38100"/>
                  <a:gd name="connsiteX3" fmla="*/ 12001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1" y="12001"/>
                    </a:cubicBezTo>
                    <a:cubicBezTo>
                      <a:pt x="5525" y="18478"/>
                      <a:pt x="5525" y="28956"/>
                      <a:pt x="12001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9" name="任意多边形: 形状 118"/>
              <p:cNvSpPr/>
              <p:nvPr/>
            </p:nvSpPr>
            <p:spPr>
              <a:xfrm>
                <a:off x="5687423" y="5276480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0" name="任意多边形: 形状 119"/>
              <p:cNvSpPr/>
              <p:nvPr/>
            </p:nvSpPr>
            <p:spPr>
              <a:xfrm>
                <a:off x="5884888" y="5473946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1" name="任意多边形: 形状 120"/>
              <p:cNvSpPr/>
              <p:nvPr/>
            </p:nvSpPr>
            <p:spPr>
              <a:xfrm>
                <a:off x="5153442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2" name="任意多边形: 形状 121"/>
              <p:cNvSpPr/>
              <p:nvPr/>
            </p:nvSpPr>
            <p:spPr>
              <a:xfrm>
                <a:off x="5279579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3" name="任意多边形: 形状 122"/>
              <p:cNvSpPr/>
              <p:nvPr/>
            </p:nvSpPr>
            <p:spPr>
              <a:xfrm>
                <a:off x="540556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任意多边形: 形状 123"/>
              <p:cNvSpPr/>
              <p:nvPr/>
            </p:nvSpPr>
            <p:spPr>
              <a:xfrm>
                <a:off x="5531704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5" name="任意多边形: 形状 124"/>
              <p:cNvSpPr/>
              <p:nvPr/>
            </p:nvSpPr>
            <p:spPr>
              <a:xfrm>
                <a:off x="5657690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6" name="任意多边形: 形状 125"/>
              <p:cNvSpPr/>
              <p:nvPr/>
            </p:nvSpPr>
            <p:spPr>
              <a:xfrm>
                <a:off x="578367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7" name="任意多边形: 形状 126"/>
              <p:cNvSpPr/>
              <p:nvPr/>
            </p:nvSpPr>
            <p:spPr>
              <a:xfrm>
                <a:off x="5153442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8" name="任意多边形: 形状 127"/>
              <p:cNvSpPr/>
              <p:nvPr/>
            </p:nvSpPr>
            <p:spPr>
              <a:xfrm>
                <a:off x="527943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9" name="任意多边形: 形状 128"/>
              <p:cNvSpPr/>
              <p:nvPr/>
            </p:nvSpPr>
            <p:spPr>
              <a:xfrm>
                <a:off x="5405567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0" name="任意多边形: 形状 129"/>
              <p:cNvSpPr/>
              <p:nvPr/>
            </p:nvSpPr>
            <p:spPr>
              <a:xfrm>
                <a:off x="5531553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1" name="任意多边形: 形状 130"/>
              <p:cNvSpPr/>
              <p:nvPr/>
            </p:nvSpPr>
            <p:spPr>
              <a:xfrm>
                <a:off x="565769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2" name="任意多边形: 形状 131"/>
              <p:cNvSpPr/>
              <p:nvPr/>
            </p:nvSpPr>
            <p:spPr>
              <a:xfrm>
                <a:off x="5153442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3" name="任意多边形: 形状 132"/>
              <p:cNvSpPr/>
              <p:nvPr/>
            </p:nvSpPr>
            <p:spPr>
              <a:xfrm>
                <a:off x="5279430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4" name="任意多边形: 形状 133"/>
              <p:cNvSpPr/>
              <p:nvPr/>
            </p:nvSpPr>
            <p:spPr>
              <a:xfrm>
                <a:off x="5405567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5" name="任意多边形: 形状 134"/>
              <p:cNvSpPr/>
              <p:nvPr/>
            </p:nvSpPr>
            <p:spPr>
              <a:xfrm>
                <a:off x="5531553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6" name="任意多边形: 形状 135"/>
              <p:cNvSpPr/>
              <p:nvPr/>
            </p:nvSpPr>
            <p:spPr>
              <a:xfrm>
                <a:off x="5153442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7" name="任意多边形: 形状 136"/>
              <p:cNvSpPr/>
              <p:nvPr/>
            </p:nvSpPr>
            <p:spPr>
              <a:xfrm>
                <a:off x="5279579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8" name="任意多边形: 形状 137"/>
              <p:cNvSpPr/>
              <p:nvPr/>
            </p:nvSpPr>
            <p:spPr>
              <a:xfrm>
                <a:off x="5405567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9" name="任意多边形: 形状 138"/>
              <p:cNvSpPr/>
              <p:nvPr/>
            </p:nvSpPr>
            <p:spPr>
              <a:xfrm>
                <a:off x="5153442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0" name="任意多边形: 形状 139"/>
              <p:cNvSpPr/>
              <p:nvPr/>
            </p:nvSpPr>
            <p:spPr>
              <a:xfrm>
                <a:off x="5279579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1" name="任意多边形: 形状 140"/>
              <p:cNvSpPr/>
              <p:nvPr/>
            </p:nvSpPr>
            <p:spPr>
              <a:xfrm>
                <a:off x="5153442" y="411091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4" name="组合 103"/>
            <p:cNvGrpSpPr/>
            <p:nvPr userDrawn="1"/>
          </p:nvGrpSpPr>
          <p:grpSpPr>
            <a:xfrm>
              <a:off x="8327264" y="2565728"/>
              <a:ext cx="5222380" cy="5705265"/>
              <a:chOff x="8327264" y="2565728"/>
              <a:chExt cx="5222380" cy="5705265"/>
            </a:xfrm>
          </p:grpSpPr>
          <p:sp>
            <p:nvSpPr>
              <p:cNvPr id="105" name="矩形 104"/>
              <p:cNvSpPr/>
              <p:nvPr/>
            </p:nvSpPr>
            <p:spPr>
              <a:xfrm>
                <a:off x="8327264" y="68137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6" name="矩形 105"/>
              <p:cNvSpPr/>
              <p:nvPr/>
            </p:nvSpPr>
            <p:spPr>
              <a:xfrm rot="5400000">
                <a:off x="10300079" y="43580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组合 82"/>
          <p:cNvGrpSpPr/>
          <p:nvPr userDrawn="1"/>
        </p:nvGrpSpPr>
        <p:grpSpPr>
          <a:xfrm flipH="1">
            <a:off x="-477867" y="-486293"/>
            <a:ext cx="13157431" cy="7836655"/>
            <a:chOff x="-477867" y="-486293"/>
            <a:chExt cx="13157431" cy="7836655"/>
          </a:xfrm>
        </p:grpSpPr>
        <p:grpSp>
          <p:nvGrpSpPr>
            <p:cNvPr id="3" name="组合 2"/>
            <p:cNvGrpSpPr/>
            <p:nvPr userDrawn="1"/>
          </p:nvGrpSpPr>
          <p:grpSpPr>
            <a:xfrm>
              <a:off x="10987313" y="5501638"/>
              <a:ext cx="1692251" cy="1848724"/>
              <a:chOff x="8327264" y="2565728"/>
              <a:chExt cx="5222380" cy="5705265"/>
            </a:xfrm>
          </p:grpSpPr>
          <p:grpSp>
            <p:nvGrpSpPr>
              <p:cNvPr id="4" name="组合 3"/>
              <p:cNvGrpSpPr/>
              <p:nvPr userDrawn="1"/>
            </p:nvGrpSpPr>
            <p:grpSpPr>
              <a:xfrm>
                <a:off x="8629650" y="3314700"/>
                <a:ext cx="4263853" cy="4740854"/>
                <a:chOff x="3248171" y="3197770"/>
                <a:chExt cx="3295332" cy="3663984"/>
              </a:xfrm>
            </p:grpSpPr>
            <p:sp>
              <p:nvSpPr>
                <p:cNvPr id="8" name="任意多边形: 形状 7"/>
                <p:cNvSpPr/>
                <p:nvPr/>
              </p:nvSpPr>
              <p:spPr>
                <a:xfrm>
                  <a:off x="3505550" y="3197770"/>
                  <a:ext cx="2747988" cy="3663984"/>
                </a:xfrm>
                <a:custGeom>
                  <a:avLst/>
                  <a:gdLst>
                    <a:gd name="connsiteX0" fmla="*/ 7144 w 1743075"/>
                    <a:gd name="connsiteY0" fmla="*/ 1742789 h 2324100"/>
                    <a:gd name="connsiteX1" fmla="*/ 1742789 w 1743075"/>
                    <a:gd name="connsiteY1" fmla="*/ 7144 h 2324100"/>
                    <a:gd name="connsiteX2" fmla="*/ 1742789 w 1743075"/>
                    <a:gd name="connsiteY2" fmla="*/ 585692 h 2324100"/>
                    <a:gd name="connsiteX3" fmla="*/ 7144 w 1743075"/>
                    <a:gd name="connsiteY3" fmla="*/ 2321243 h 2324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43075" h="2324100">
                      <a:moveTo>
                        <a:pt x="7144" y="1742789"/>
                      </a:moveTo>
                      <a:lnTo>
                        <a:pt x="1742789" y="7144"/>
                      </a:lnTo>
                      <a:lnTo>
                        <a:pt x="1742789" y="585692"/>
                      </a:lnTo>
                      <a:lnTo>
                        <a:pt x="7144" y="2321243"/>
                      </a:lnTo>
                      <a:close/>
                    </a:path>
                  </a:pathLst>
                </a:custGeom>
                <a:solidFill>
                  <a:srgbClr val="F2634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" name="任意多边形: 形状 8"/>
                <p:cNvSpPr/>
                <p:nvPr/>
              </p:nvSpPr>
              <p:spPr>
                <a:xfrm>
                  <a:off x="4157559" y="4505392"/>
                  <a:ext cx="570620" cy="1126225"/>
                </a:xfrm>
                <a:custGeom>
                  <a:avLst/>
                  <a:gdLst>
                    <a:gd name="connsiteX0" fmla="*/ 153353 w 361950"/>
                    <a:gd name="connsiteY0" fmla="*/ 360141 h 714375"/>
                    <a:gd name="connsiteX1" fmla="*/ 7144 w 361950"/>
                    <a:gd name="connsiteY1" fmla="*/ 7144 h 714375"/>
                    <a:gd name="connsiteX2" fmla="*/ 360140 w 361950"/>
                    <a:gd name="connsiteY2" fmla="*/ 360141 h 714375"/>
                    <a:gd name="connsiteX3" fmla="*/ 7144 w 361950"/>
                    <a:gd name="connsiteY3" fmla="*/ 713137 h 714375"/>
                    <a:gd name="connsiteX4" fmla="*/ 153353 w 361950"/>
                    <a:gd name="connsiteY4" fmla="*/ 360141 h 714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1950" h="714375">
                      <a:moveTo>
                        <a:pt x="153353" y="360141"/>
                      </a:moveTo>
                      <a:cubicBezTo>
                        <a:pt x="153353" y="232410"/>
                        <a:pt x="104584" y="104680"/>
                        <a:pt x="7144" y="7144"/>
                      </a:cubicBezTo>
                      <a:lnTo>
                        <a:pt x="360140" y="360141"/>
                      </a:lnTo>
                      <a:lnTo>
                        <a:pt x="7144" y="713137"/>
                      </a:lnTo>
                      <a:cubicBezTo>
                        <a:pt x="104584" y="615696"/>
                        <a:pt x="153353" y="487871"/>
                        <a:pt x="153353" y="360141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" name="任意多边形: 形状 9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1" name="任意多边形: 形状 10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任意多边形: 形状 11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61C9D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任意多边形: 形状 12"/>
                <p:cNvSpPr/>
                <p:nvPr/>
              </p:nvSpPr>
              <p:spPr>
                <a:xfrm>
                  <a:off x="4445122" y="4524914"/>
                  <a:ext cx="825898" cy="1096192"/>
                </a:xfrm>
                <a:custGeom>
                  <a:avLst/>
                  <a:gdLst>
                    <a:gd name="connsiteX0" fmla="*/ 348805 w 523875"/>
                    <a:gd name="connsiteY0" fmla="*/ 519684 h 695325"/>
                    <a:gd name="connsiteX1" fmla="*/ 519684 w 523875"/>
                    <a:gd name="connsiteY1" fmla="*/ 348805 h 695325"/>
                    <a:gd name="connsiteX2" fmla="*/ 348805 w 523875"/>
                    <a:gd name="connsiteY2" fmla="*/ 178022 h 695325"/>
                    <a:gd name="connsiteX3" fmla="*/ 178022 w 523875"/>
                    <a:gd name="connsiteY3" fmla="*/ 7144 h 695325"/>
                    <a:gd name="connsiteX4" fmla="*/ 7144 w 523875"/>
                    <a:gd name="connsiteY4" fmla="*/ 178022 h 695325"/>
                    <a:gd name="connsiteX5" fmla="*/ 178022 w 523875"/>
                    <a:gd name="connsiteY5" fmla="*/ 348805 h 695325"/>
                    <a:gd name="connsiteX6" fmla="*/ 7144 w 523875"/>
                    <a:gd name="connsiteY6" fmla="*/ 519684 h 695325"/>
                    <a:gd name="connsiteX7" fmla="*/ 178022 w 523875"/>
                    <a:gd name="connsiteY7" fmla="*/ 690563 h 695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23875" h="695325">
                      <a:moveTo>
                        <a:pt x="348805" y="519684"/>
                      </a:moveTo>
                      <a:lnTo>
                        <a:pt x="519684" y="348805"/>
                      </a:lnTo>
                      <a:lnTo>
                        <a:pt x="348805" y="178022"/>
                      </a:lnTo>
                      <a:lnTo>
                        <a:pt x="178022" y="7144"/>
                      </a:lnTo>
                      <a:lnTo>
                        <a:pt x="7144" y="178022"/>
                      </a:lnTo>
                      <a:lnTo>
                        <a:pt x="178022" y="348805"/>
                      </a:lnTo>
                      <a:lnTo>
                        <a:pt x="7144" y="519684"/>
                      </a:lnTo>
                      <a:lnTo>
                        <a:pt x="178022" y="690563"/>
                      </a:lnTo>
                      <a:close/>
                    </a:path>
                  </a:pathLst>
                </a:custGeom>
                <a:solidFill>
                  <a:srgbClr val="F2634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任意多边形: 形状 13"/>
                <p:cNvSpPr/>
                <p:nvPr/>
              </p:nvSpPr>
              <p:spPr>
                <a:xfrm>
                  <a:off x="4445122" y="4524914"/>
                  <a:ext cx="285310" cy="555604"/>
                </a:xfrm>
                <a:custGeom>
                  <a:avLst/>
                  <a:gdLst>
                    <a:gd name="connsiteX0" fmla="*/ 178022 w 180975"/>
                    <a:gd name="connsiteY0" fmla="*/ 348805 h 352425"/>
                    <a:gd name="connsiteX1" fmla="*/ 178022 w 180975"/>
                    <a:gd name="connsiteY1" fmla="*/ 7144 h 352425"/>
                    <a:gd name="connsiteX2" fmla="*/ 7144 w 180975"/>
                    <a:gd name="connsiteY2" fmla="*/ 178022 h 352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0975" h="352425">
                      <a:moveTo>
                        <a:pt x="178022" y="348805"/>
                      </a:moveTo>
                      <a:lnTo>
                        <a:pt x="178022" y="7144"/>
                      </a:lnTo>
                      <a:lnTo>
                        <a:pt x="7144" y="178022"/>
                      </a:ln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任意多边形: 形状 14"/>
                <p:cNvSpPr/>
                <p:nvPr/>
              </p:nvSpPr>
              <p:spPr>
                <a:xfrm>
                  <a:off x="5252099" y="4281949"/>
                  <a:ext cx="1291404" cy="1306420"/>
                </a:xfrm>
                <a:custGeom>
                  <a:avLst/>
                  <a:gdLst>
                    <a:gd name="connsiteX0" fmla="*/ 819722 w 819150"/>
                    <a:gd name="connsiteY0" fmla="*/ 723900 h 828675"/>
                    <a:gd name="connsiteX1" fmla="*/ 106775 w 819150"/>
                    <a:gd name="connsiteY1" fmla="*/ 7144 h 828675"/>
                    <a:gd name="connsiteX2" fmla="*/ 7144 w 819150"/>
                    <a:gd name="connsiteY2" fmla="*/ 106680 h 828675"/>
                    <a:gd name="connsiteX3" fmla="*/ 720185 w 819150"/>
                    <a:gd name="connsiteY3" fmla="*/ 823436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9150" h="828675">
                      <a:moveTo>
                        <a:pt x="819722" y="723900"/>
                      </a:moveTo>
                      <a:lnTo>
                        <a:pt x="106775" y="7144"/>
                      </a:lnTo>
                      <a:lnTo>
                        <a:pt x="7144" y="106680"/>
                      </a:lnTo>
                      <a:lnTo>
                        <a:pt x="720185" y="823436"/>
                      </a:ln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任意多边形: 形状 15"/>
                <p:cNvSpPr/>
                <p:nvPr/>
              </p:nvSpPr>
              <p:spPr>
                <a:xfrm>
                  <a:off x="4938257" y="4438869"/>
                  <a:ext cx="961045" cy="1276388"/>
                </a:xfrm>
                <a:custGeom>
                  <a:avLst/>
                  <a:gdLst>
                    <a:gd name="connsiteX0" fmla="*/ 7144 w 609600"/>
                    <a:gd name="connsiteY0" fmla="*/ 206312 h 809625"/>
                    <a:gd name="connsiteX1" fmla="*/ 206216 w 609600"/>
                    <a:gd name="connsiteY1" fmla="*/ 405384 h 809625"/>
                    <a:gd name="connsiteX2" fmla="*/ 7144 w 609600"/>
                    <a:gd name="connsiteY2" fmla="*/ 604552 h 809625"/>
                    <a:gd name="connsiteX3" fmla="*/ 206216 w 609600"/>
                    <a:gd name="connsiteY3" fmla="*/ 803625 h 809625"/>
                    <a:gd name="connsiteX4" fmla="*/ 405384 w 609600"/>
                    <a:gd name="connsiteY4" fmla="*/ 604552 h 809625"/>
                    <a:gd name="connsiteX5" fmla="*/ 604457 w 609600"/>
                    <a:gd name="connsiteY5" fmla="*/ 405384 h 809625"/>
                    <a:gd name="connsiteX6" fmla="*/ 405384 w 609600"/>
                    <a:gd name="connsiteY6" fmla="*/ 206312 h 809625"/>
                    <a:gd name="connsiteX7" fmla="*/ 206216 w 609600"/>
                    <a:gd name="connsiteY7" fmla="*/ 7144 h 809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09600" h="809625">
                      <a:moveTo>
                        <a:pt x="7144" y="206312"/>
                      </a:moveTo>
                      <a:lnTo>
                        <a:pt x="206216" y="405384"/>
                      </a:lnTo>
                      <a:lnTo>
                        <a:pt x="7144" y="604552"/>
                      </a:lnTo>
                      <a:lnTo>
                        <a:pt x="206216" y="803625"/>
                      </a:lnTo>
                      <a:lnTo>
                        <a:pt x="405384" y="604552"/>
                      </a:lnTo>
                      <a:lnTo>
                        <a:pt x="604457" y="405384"/>
                      </a:lnTo>
                      <a:lnTo>
                        <a:pt x="405384" y="206312"/>
                      </a:lnTo>
                      <a:lnTo>
                        <a:pt x="206216" y="7144"/>
                      </a:ln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任意多边形: 形状 16"/>
                <p:cNvSpPr/>
                <p:nvPr/>
              </p:nvSpPr>
              <p:spPr>
                <a:xfrm>
                  <a:off x="3248171" y="4936060"/>
                  <a:ext cx="270294" cy="270294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任意多边形: 形状 17"/>
                <p:cNvSpPr/>
                <p:nvPr/>
              </p:nvSpPr>
              <p:spPr>
                <a:xfrm>
                  <a:off x="5248044" y="4843860"/>
                  <a:ext cx="900980" cy="900980"/>
                </a:xfrm>
                <a:custGeom>
                  <a:avLst/>
                  <a:gdLst>
                    <a:gd name="connsiteX0" fmla="*/ 429768 w 571500"/>
                    <a:gd name="connsiteY0" fmla="*/ 570643 h 571500"/>
                    <a:gd name="connsiteX1" fmla="*/ 7144 w 571500"/>
                    <a:gd name="connsiteY1" fmla="*/ 148018 h 571500"/>
                    <a:gd name="connsiteX2" fmla="*/ 148019 w 571500"/>
                    <a:gd name="connsiteY2" fmla="*/ 7144 h 571500"/>
                    <a:gd name="connsiteX3" fmla="*/ 570643 w 571500"/>
                    <a:gd name="connsiteY3" fmla="*/ 429768 h 571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1500" h="571500">
                      <a:moveTo>
                        <a:pt x="429768" y="570643"/>
                      </a:moveTo>
                      <a:lnTo>
                        <a:pt x="7144" y="148018"/>
                      </a:lnTo>
                      <a:lnTo>
                        <a:pt x="148019" y="7144"/>
                      </a:lnTo>
                      <a:lnTo>
                        <a:pt x="570643" y="429768"/>
                      </a:lnTo>
                      <a:close/>
                    </a:path>
                  </a:pathLst>
                </a:custGeom>
                <a:solidFill>
                  <a:srgbClr val="61C9D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任意多边形: 形状 18"/>
                <p:cNvSpPr/>
                <p:nvPr/>
              </p:nvSpPr>
              <p:spPr>
                <a:xfrm>
                  <a:off x="5489958" y="5079015"/>
                  <a:ext cx="60065" cy="60065"/>
                </a:xfrm>
                <a:custGeom>
                  <a:avLst/>
                  <a:gdLst>
                    <a:gd name="connsiteX0" fmla="*/ 35433 w 38100"/>
                    <a:gd name="connsiteY0" fmla="*/ 35433 h 38100"/>
                    <a:gd name="connsiteX1" fmla="*/ 35433 w 38100"/>
                    <a:gd name="connsiteY1" fmla="*/ 12001 h 38100"/>
                    <a:gd name="connsiteX2" fmla="*/ 12001 w 38100"/>
                    <a:gd name="connsiteY2" fmla="*/ 12001 h 38100"/>
                    <a:gd name="connsiteX3" fmla="*/ 12001 w 38100"/>
                    <a:gd name="connsiteY3" fmla="*/ 35433 h 38100"/>
                    <a:gd name="connsiteX4" fmla="*/ 35433 w 38100"/>
                    <a:gd name="connsiteY4" fmla="*/ 35433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35433" y="35433"/>
                      </a:moveTo>
                      <a:cubicBezTo>
                        <a:pt x="41910" y="28956"/>
                        <a:pt x="41910" y="18478"/>
                        <a:pt x="35433" y="12001"/>
                      </a:cubicBezTo>
                      <a:cubicBezTo>
                        <a:pt x="28956" y="5525"/>
                        <a:pt x="18479" y="5525"/>
                        <a:pt x="12001" y="12001"/>
                      </a:cubicBezTo>
                      <a:cubicBezTo>
                        <a:pt x="5525" y="18478"/>
                        <a:pt x="5525" y="28956"/>
                        <a:pt x="12001" y="35433"/>
                      </a:cubicBezTo>
                      <a:cubicBezTo>
                        <a:pt x="18479" y="41910"/>
                        <a:pt x="28956" y="41910"/>
                        <a:pt x="35433" y="35433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任意多边形: 形状 19"/>
                <p:cNvSpPr/>
                <p:nvPr/>
              </p:nvSpPr>
              <p:spPr>
                <a:xfrm>
                  <a:off x="5687423" y="5276480"/>
                  <a:ext cx="60065" cy="60065"/>
                </a:xfrm>
                <a:custGeom>
                  <a:avLst/>
                  <a:gdLst>
                    <a:gd name="connsiteX0" fmla="*/ 35433 w 38100"/>
                    <a:gd name="connsiteY0" fmla="*/ 35433 h 38100"/>
                    <a:gd name="connsiteX1" fmla="*/ 35433 w 38100"/>
                    <a:gd name="connsiteY1" fmla="*/ 12001 h 38100"/>
                    <a:gd name="connsiteX2" fmla="*/ 12002 w 38100"/>
                    <a:gd name="connsiteY2" fmla="*/ 12001 h 38100"/>
                    <a:gd name="connsiteX3" fmla="*/ 12002 w 38100"/>
                    <a:gd name="connsiteY3" fmla="*/ 35433 h 38100"/>
                    <a:gd name="connsiteX4" fmla="*/ 35433 w 38100"/>
                    <a:gd name="connsiteY4" fmla="*/ 35433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35433" y="35433"/>
                      </a:moveTo>
                      <a:cubicBezTo>
                        <a:pt x="41910" y="28956"/>
                        <a:pt x="41910" y="18478"/>
                        <a:pt x="35433" y="12001"/>
                      </a:cubicBezTo>
                      <a:cubicBezTo>
                        <a:pt x="28956" y="5525"/>
                        <a:pt x="18479" y="5525"/>
                        <a:pt x="12002" y="12001"/>
                      </a:cubicBezTo>
                      <a:cubicBezTo>
                        <a:pt x="5524" y="18478"/>
                        <a:pt x="5524" y="28956"/>
                        <a:pt x="12002" y="35433"/>
                      </a:cubicBezTo>
                      <a:cubicBezTo>
                        <a:pt x="18479" y="41910"/>
                        <a:pt x="28956" y="41910"/>
                        <a:pt x="35433" y="35433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任意多边形: 形状 20"/>
                <p:cNvSpPr/>
                <p:nvPr/>
              </p:nvSpPr>
              <p:spPr>
                <a:xfrm>
                  <a:off x="5884888" y="5473946"/>
                  <a:ext cx="60065" cy="60065"/>
                </a:xfrm>
                <a:custGeom>
                  <a:avLst/>
                  <a:gdLst>
                    <a:gd name="connsiteX0" fmla="*/ 40291 w 38100"/>
                    <a:gd name="connsiteY0" fmla="*/ 23717 h 38100"/>
                    <a:gd name="connsiteX1" fmla="*/ 23717 w 38100"/>
                    <a:gd name="connsiteY1" fmla="*/ 40291 h 38100"/>
                    <a:gd name="connsiteX2" fmla="*/ 7144 w 38100"/>
                    <a:gd name="connsiteY2" fmla="*/ 23717 h 38100"/>
                    <a:gd name="connsiteX3" fmla="*/ 23717 w 38100"/>
                    <a:gd name="connsiteY3" fmla="*/ 7144 h 38100"/>
                    <a:gd name="connsiteX4" fmla="*/ 40291 w 38100"/>
                    <a:gd name="connsiteY4" fmla="*/ 23717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40291" y="23717"/>
                      </a:moveTo>
                      <a:cubicBezTo>
                        <a:pt x="40291" y="32871"/>
                        <a:pt x="32871" y="40291"/>
                        <a:pt x="23717" y="40291"/>
                      </a:cubicBezTo>
                      <a:cubicBezTo>
                        <a:pt x="14564" y="40291"/>
                        <a:pt x="7144" y="32870"/>
                        <a:pt x="7144" y="23717"/>
                      </a:cubicBezTo>
                      <a:cubicBezTo>
                        <a:pt x="7144" y="14564"/>
                        <a:pt x="14564" y="7144"/>
                        <a:pt x="23717" y="7144"/>
                      </a:cubicBezTo>
                      <a:cubicBezTo>
                        <a:pt x="32871" y="7144"/>
                        <a:pt x="40291" y="14564"/>
                        <a:pt x="40291" y="23717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任意多边形: 形状 21"/>
                <p:cNvSpPr/>
                <p:nvPr/>
              </p:nvSpPr>
              <p:spPr>
                <a:xfrm>
                  <a:off x="5153442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任意多边形: 形状 22"/>
                <p:cNvSpPr/>
                <p:nvPr/>
              </p:nvSpPr>
              <p:spPr>
                <a:xfrm>
                  <a:off x="5279579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任意多边形: 形状 23"/>
                <p:cNvSpPr/>
                <p:nvPr/>
              </p:nvSpPr>
              <p:spPr>
                <a:xfrm>
                  <a:off x="5405567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69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任意多边形: 形状 24"/>
                <p:cNvSpPr/>
                <p:nvPr/>
              </p:nvSpPr>
              <p:spPr>
                <a:xfrm>
                  <a:off x="5531704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任意多边形: 形状 25"/>
                <p:cNvSpPr/>
                <p:nvPr/>
              </p:nvSpPr>
              <p:spPr>
                <a:xfrm>
                  <a:off x="5657690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任意多边形: 形状 26"/>
                <p:cNvSpPr/>
                <p:nvPr/>
              </p:nvSpPr>
              <p:spPr>
                <a:xfrm>
                  <a:off x="5783677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任意多边形: 形状 27"/>
                <p:cNvSpPr/>
                <p:nvPr/>
              </p:nvSpPr>
              <p:spPr>
                <a:xfrm>
                  <a:off x="5153442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任意多边形: 形状 28"/>
                <p:cNvSpPr/>
                <p:nvPr/>
              </p:nvSpPr>
              <p:spPr>
                <a:xfrm>
                  <a:off x="5279430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任意多边形: 形状 29"/>
                <p:cNvSpPr/>
                <p:nvPr/>
              </p:nvSpPr>
              <p:spPr>
                <a:xfrm>
                  <a:off x="5405567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任意多边形: 形状 30"/>
                <p:cNvSpPr/>
                <p:nvPr/>
              </p:nvSpPr>
              <p:spPr>
                <a:xfrm>
                  <a:off x="5531553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任意多边形: 形状 31"/>
                <p:cNvSpPr/>
                <p:nvPr/>
              </p:nvSpPr>
              <p:spPr>
                <a:xfrm>
                  <a:off x="5657690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任意多边形: 形状 32"/>
                <p:cNvSpPr/>
                <p:nvPr/>
              </p:nvSpPr>
              <p:spPr>
                <a:xfrm>
                  <a:off x="5153442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任意多边形: 形状 33"/>
                <p:cNvSpPr/>
                <p:nvPr/>
              </p:nvSpPr>
              <p:spPr>
                <a:xfrm>
                  <a:off x="5279430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任意多边形: 形状 34"/>
                <p:cNvSpPr/>
                <p:nvPr/>
              </p:nvSpPr>
              <p:spPr>
                <a:xfrm>
                  <a:off x="5405567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任意多边形: 形状 35"/>
                <p:cNvSpPr/>
                <p:nvPr/>
              </p:nvSpPr>
              <p:spPr>
                <a:xfrm>
                  <a:off x="5531553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任意多边形: 形状 36"/>
                <p:cNvSpPr/>
                <p:nvPr/>
              </p:nvSpPr>
              <p:spPr>
                <a:xfrm>
                  <a:off x="5153442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任意多边形: 形状 37"/>
                <p:cNvSpPr/>
                <p:nvPr/>
              </p:nvSpPr>
              <p:spPr>
                <a:xfrm>
                  <a:off x="5279579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任意多边形: 形状 38"/>
                <p:cNvSpPr/>
                <p:nvPr/>
              </p:nvSpPr>
              <p:spPr>
                <a:xfrm>
                  <a:off x="5405567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69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任意多边形: 形状 39"/>
                <p:cNvSpPr/>
                <p:nvPr/>
              </p:nvSpPr>
              <p:spPr>
                <a:xfrm>
                  <a:off x="5153442" y="3985076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任意多边形: 形状 40"/>
                <p:cNvSpPr/>
                <p:nvPr/>
              </p:nvSpPr>
              <p:spPr>
                <a:xfrm>
                  <a:off x="5279579" y="3985076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任意多边形: 形状 41"/>
                <p:cNvSpPr/>
                <p:nvPr/>
              </p:nvSpPr>
              <p:spPr>
                <a:xfrm>
                  <a:off x="5153442" y="4110914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5" name="组合 4"/>
              <p:cNvGrpSpPr/>
              <p:nvPr userDrawn="1"/>
            </p:nvGrpSpPr>
            <p:grpSpPr>
              <a:xfrm>
                <a:off x="8327264" y="2565728"/>
                <a:ext cx="5222380" cy="5705265"/>
                <a:chOff x="8327264" y="2565728"/>
                <a:chExt cx="5222380" cy="5705265"/>
              </a:xfrm>
            </p:grpSpPr>
            <p:sp>
              <p:nvSpPr>
                <p:cNvPr id="6" name="矩形 5"/>
                <p:cNvSpPr/>
                <p:nvPr/>
              </p:nvSpPr>
              <p:spPr>
                <a:xfrm>
                  <a:off x="8327264" y="6813763"/>
                  <a:ext cx="5041900" cy="1457230"/>
                </a:xfrm>
                <a:prstGeom prst="rect">
                  <a:avLst/>
                </a:prstGeom>
                <a:solidFill>
                  <a:srgbClr val="F5F7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 rot="5400000">
                  <a:off x="10300079" y="4358063"/>
                  <a:ext cx="5041900" cy="1457230"/>
                </a:xfrm>
                <a:prstGeom prst="rect">
                  <a:avLst/>
                </a:prstGeom>
                <a:solidFill>
                  <a:srgbClr val="F5F7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43" name="组合 42"/>
            <p:cNvGrpSpPr/>
            <p:nvPr userDrawn="1"/>
          </p:nvGrpSpPr>
          <p:grpSpPr>
            <a:xfrm flipH="1" flipV="1">
              <a:off x="-477867" y="-486293"/>
              <a:ext cx="1692251" cy="1848724"/>
              <a:chOff x="8327264" y="2565728"/>
              <a:chExt cx="5222380" cy="5705265"/>
            </a:xfrm>
          </p:grpSpPr>
          <p:grpSp>
            <p:nvGrpSpPr>
              <p:cNvPr id="44" name="组合 43"/>
              <p:cNvGrpSpPr/>
              <p:nvPr userDrawn="1"/>
            </p:nvGrpSpPr>
            <p:grpSpPr>
              <a:xfrm>
                <a:off x="8629650" y="3314700"/>
                <a:ext cx="4263853" cy="4740854"/>
                <a:chOff x="3248171" y="3197770"/>
                <a:chExt cx="3295332" cy="3663984"/>
              </a:xfrm>
            </p:grpSpPr>
            <p:sp>
              <p:nvSpPr>
                <p:cNvPr id="48" name="任意多边形: 形状 47"/>
                <p:cNvSpPr/>
                <p:nvPr/>
              </p:nvSpPr>
              <p:spPr>
                <a:xfrm>
                  <a:off x="3505550" y="3197770"/>
                  <a:ext cx="2747988" cy="3663984"/>
                </a:xfrm>
                <a:custGeom>
                  <a:avLst/>
                  <a:gdLst>
                    <a:gd name="connsiteX0" fmla="*/ 7144 w 1743075"/>
                    <a:gd name="connsiteY0" fmla="*/ 1742789 h 2324100"/>
                    <a:gd name="connsiteX1" fmla="*/ 1742789 w 1743075"/>
                    <a:gd name="connsiteY1" fmla="*/ 7144 h 2324100"/>
                    <a:gd name="connsiteX2" fmla="*/ 1742789 w 1743075"/>
                    <a:gd name="connsiteY2" fmla="*/ 585692 h 2324100"/>
                    <a:gd name="connsiteX3" fmla="*/ 7144 w 1743075"/>
                    <a:gd name="connsiteY3" fmla="*/ 2321243 h 2324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43075" h="2324100">
                      <a:moveTo>
                        <a:pt x="7144" y="1742789"/>
                      </a:moveTo>
                      <a:lnTo>
                        <a:pt x="1742789" y="7144"/>
                      </a:lnTo>
                      <a:lnTo>
                        <a:pt x="1742789" y="585692"/>
                      </a:lnTo>
                      <a:lnTo>
                        <a:pt x="7144" y="2321243"/>
                      </a:lnTo>
                      <a:close/>
                    </a:path>
                  </a:pathLst>
                </a:custGeom>
                <a:solidFill>
                  <a:srgbClr val="F2634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4157559" y="4505392"/>
                  <a:ext cx="570620" cy="1126225"/>
                </a:xfrm>
                <a:custGeom>
                  <a:avLst/>
                  <a:gdLst>
                    <a:gd name="connsiteX0" fmla="*/ 153353 w 361950"/>
                    <a:gd name="connsiteY0" fmla="*/ 360141 h 714375"/>
                    <a:gd name="connsiteX1" fmla="*/ 7144 w 361950"/>
                    <a:gd name="connsiteY1" fmla="*/ 7144 h 714375"/>
                    <a:gd name="connsiteX2" fmla="*/ 360140 w 361950"/>
                    <a:gd name="connsiteY2" fmla="*/ 360141 h 714375"/>
                    <a:gd name="connsiteX3" fmla="*/ 7144 w 361950"/>
                    <a:gd name="connsiteY3" fmla="*/ 713137 h 714375"/>
                    <a:gd name="connsiteX4" fmla="*/ 153353 w 361950"/>
                    <a:gd name="connsiteY4" fmla="*/ 360141 h 714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1950" h="714375">
                      <a:moveTo>
                        <a:pt x="153353" y="360141"/>
                      </a:moveTo>
                      <a:cubicBezTo>
                        <a:pt x="153353" y="232410"/>
                        <a:pt x="104584" y="104680"/>
                        <a:pt x="7144" y="7144"/>
                      </a:cubicBezTo>
                      <a:lnTo>
                        <a:pt x="360140" y="360141"/>
                      </a:lnTo>
                      <a:lnTo>
                        <a:pt x="7144" y="713137"/>
                      </a:lnTo>
                      <a:cubicBezTo>
                        <a:pt x="104584" y="615696"/>
                        <a:pt x="153353" y="487871"/>
                        <a:pt x="153353" y="360141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任意多边形: 形状 50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61C9D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4445122" y="4524914"/>
                  <a:ext cx="825898" cy="1096192"/>
                </a:xfrm>
                <a:custGeom>
                  <a:avLst/>
                  <a:gdLst>
                    <a:gd name="connsiteX0" fmla="*/ 348805 w 523875"/>
                    <a:gd name="connsiteY0" fmla="*/ 519684 h 695325"/>
                    <a:gd name="connsiteX1" fmla="*/ 519684 w 523875"/>
                    <a:gd name="connsiteY1" fmla="*/ 348805 h 695325"/>
                    <a:gd name="connsiteX2" fmla="*/ 348805 w 523875"/>
                    <a:gd name="connsiteY2" fmla="*/ 178022 h 695325"/>
                    <a:gd name="connsiteX3" fmla="*/ 178022 w 523875"/>
                    <a:gd name="connsiteY3" fmla="*/ 7144 h 695325"/>
                    <a:gd name="connsiteX4" fmla="*/ 7144 w 523875"/>
                    <a:gd name="connsiteY4" fmla="*/ 178022 h 695325"/>
                    <a:gd name="connsiteX5" fmla="*/ 178022 w 523875"/>
                    <a:gd name="connsiteY5" fmla="*/ 348805 h 695325"/>
                    <a:gd name="connsiteX6" fmla="*/ 7144 w 523875"/>
                    <a:gd name="connsiteY6" fmla="*/ 519684 h 695325"/>
                    <a:gd name="connsiteX7" fmla="*/ 178022 w 523875"/>
                    <a:gd name="connsiteY7" fmla="*/ 690563 h 695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23875" h="695325">
                      <a:moveTo>
                        <a:pt x="348805" y="519684"/>
                      </a:moveTo>
                      <a:lnTo>
                        <a:pt x="519684" y="348805"/>
                      </a:lnTo>
                      <a:lnTo>
                        <a:pt x="348805" y="178022"/>
                      </a:lnTo>
                      <a:lnTo>
                        <a:pt x="178022" y="7144"/>
                      </a:lnTo>
                      <a:lnTo>
                        <a:pt x="7144" y="178022"/>
                      </a:lnTo>
                      <a:lnTo>
                        <a:pt x="178022" y="348805"/>
                      </a:lnTo>
                      <a:lnTo>
                        <a:pt x="7144" y="519684"/>
                      </a:lnTo>
                      <a:lnTo>
                        <a:pt x="178022" y="690563"/>
                      </a:lnTo>
                      <a:close/>
                    </a:path>
                  </a:pathLst>
                </a:custGeom>
                <a:solidFill>
                  <a:srgbClr val="F2634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4445122" y="4524914"/>
                  <a:ext cx="285310" cy="555604"/>
                </a:xfrm>
                <a:custGeom>
                  <a:avLst/>
                  <a:gdLst>
                    <a:gd name="connsiteX0" fmla="*/ 178022 w 180975"/>
                    <a:gd name="connsiteY0" fmla="*/ 348805 h 352425"/>
                    <a:gd name="connsiteX1" fmla="*/ 178022 w 180975"/>
                    <a:gd name="connsiteY1" fmla="*/ 7144 h 352425"/>
                    <a:gd name="connsiteX2" fmla="*/ 7144 w 180975"/>
                    <a:gd name="connsiteY2" fmla="*/ 178022 h 352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0975" h="352425">
                      <a:moveTo>
                        <a:pt x="178022" y="348805"/>
                      </a:moveTo>
                      <a:lnTo>
                        <a:pt x="178022" y="7144"/>
                      </a:lnTo>
                      <a:lnTo>
                        <a:pt x="7144" y="178022"/>
                      </a:ln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5252099" y="4281949"/>
                  <a:ext cx="1291404" cy="1306420"/>
                </a:xfrm>
                <a:custGeom>
                  <a:avLst/>
                  <a:gdLst>
                    <a:gd name="connsiteX0" fmla="*/ 819722 w 819150"/>
                    <a:gd name="connsiteY0" fmla="*/ 723900 h 828675"/>
                    <a:gd name="connsiteX1" fmla="*/ 106775 w 819150"/>
                    <a:gd name="connsiteY1" fmla="*/ 7144 h 828675"/>
                    <a:gd name="connsiteX2" fmla="*/ 7144 w 819150"/>
                    <a:gd name="connsiteY2" fmla="*/ 106680 h 828675"/>
                    <a:gd name="connsiteX3" fmla="*/ 720185 w 819150"/>
                    <a:gd name="connsiteY3" fmla="*/ 823436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9150" h="828675">
                      <a:moveTo>
                        <a:pt x="819722" y="723900"/>
                      </a:moveTo>
                      <a:lnTo>
                        <a:pt x="106775" y="7144"/>
                      </a:lnTo>
                      <a:lnTo>
                        <a:pt x="7144" y="106680"/>
                      </a:lnTo>
                      <a:lnTo>
                        <a:pt x="720185" y="823436"/>
                      </a:ln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4938257" y="4438869"/>
                  <a:ext cx="961045" cy="1276388"/>
                </a:xfrm>
                <a:custGeom>
                  <a:avLst/>
                  <a:gdLst>
                    <a:gd name="connsiteX0" fmla="*/ 7144 w 609600"/>
                    <a:gd name="connsiteY0" fmla="*/ 206312 h 809625"/>
                    <a:gd name="connsiteX1" fmla="*/ 206216 w 609600"/>
                    <a:gd name="connsiteY1" fmla="*/ 405384 h 809625"/>
                    <a:gd name="connsiteX2" fmla="*/ 7144 w 609600"/>
                    <a:gd name="connsiteY2" fmla="*/ 604552 h 809625"/>
                    <a:gd name="connsiteX3" fmla="*/ 206216 w 609600"/>
                    <a:gd name="connsiteY3" fmla="*/ 803625 h 809625"/>
                    <a:gd name="connsiteX4" fmla="*/ 405384 w 609600"/>
                    <a:gd name="connsiteY4" fmla="*/ 604552 h 809625"/>
                    <a:gd name="connsiteX5" fmla="*/ 604457 w 609600"/>
                    <a:gd name="connsiteY5" fmla="*/ 405384 h 809625"/>
                    <a:gd name="connsiteX6" fmla="*/ 405384 w 609600"/>
                    <a:gd name="connsiteY6" fmla="*/ 206312 h 809625"/>
                    <a:gd name="connsiteX7" fmla="*/ 206216 w 609600"/>
                    <a:gd name="connsiteY7" fmla="*/ 7144 h 809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09600" h="809625">
                      <a:moveTo>
                        <a:pt x="7144" y="206312"/>
                      </a:moveTo>
                      <a:lnTo>
                        <a:pt x="206216" y="405384"/>
                      </a:lnTo>
                      <a:lnTo>
                        <a:pt x="7144" y="604552"/>
                      </a:lnTo>
                      <a:lnTo>
                        <a:pt x="206216" y="803625"/>
                      </a:lnTo>
                      <a:lnTo>
                        <a:pt x="405384" y="604552"/>
                      </a:lnTo>
                      <a:lnTo>
                        <a:pt x="604457" y="405384"/>
                      </a:lnTo>
                      <a:lnTo>
                        <a:pt x="405384" y="206312"/>
                      </a:lnTo>
                      <a:lnTo>
                        <a:pt x="206216" y="7144"/>
                      </a:ln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3248171" y="4936060"/>
                  <a:ext cx="270294" cy="270294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5248044" y="4843860"/>
                  <a:ext cx="900980" cy="900980"/>
                </a:xfrm>
                <a:custGeom>
                  <a:avLst/>
                  <a:gdLst>
                    <a:gd name="connsiteX0" fmla="*/ 429768 w 571500"/>
                    <a:gd name="connsiteY0" fmla="*/ 570643 h 571500"/>
                    <a:gd name="connsiteX1" fmla="*/ 7144 w 571500"/>
                    <a:gd name="connsiteY1" fmla="*/ 148018 h 571500"/>
                    <a:gd name="connsiteX2" fmla="*/ 148019 w 571500"/>
                    <a:gd name="connsiteY2" fmla="*/ 7144 h 571500"/>
                    <a:gd name="connsiteX3" fmla="*/ 570643 w 571500"/>
                    <a:gd name="connsiteY3" fmla="*/ 429768 h 571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1500" h="571500">
                      <a:moveTo>
                        <a:pt x="429768" y="570643"/>
                      </a:moveTo>
                      <a:lnTo>
                        <a:pt x="7144" y="148018"/>
                      </a:lnTo>
                      <a:lnTo>
                        <a:pt x="148019" y="7144"/>
                      </a:lnTo>
                      <a:lnTo>
                        <a:pt x="570643" y="429768"/>
                      </a:lnTo>
                      <a:close/>
                    </a:path>
                  </a:pathLst>
                </a:custGeom>
                <a:solidFill>
                  <a:srgbClr val="61C9D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任意多边形: 形状 58"/>
                <p:cNvSpPr/>
                <p:nvPr/>
              </p:nvSpPr>
              <p:spPr>
                <a:xfrm>
                  <a:off x="5489958" y="5079015"/>
                  <a:ext cx="60065" cy="60065"/>
                </a:xfrm>
                <a:custGeom>
                  <a:avLst/>
                  <a:gdLst>
                    <a:gd name="connsiteX0" fmla="*/ 35433 w 38100"/>
                    <a:gd name="connsiteY0" fmla="*/ 35433 h 38100"/>
                    <a:gd name="connsiteX1" fmla="*/ 35433 w 38100"/>
                    <a:gd name="connsiteY1" fmla="*/ 12001 h 38100"/>
                    <a:gd name="connsiteX2" fmla="*/ 12001 w 38100"/>
                    <a:gd name="connsiteY2" fmla="*/ 12001 h 38100"/>
                    <a:gd name="connsiteX3" fmla="*/ 12001 w 38100"/>
                    <a:gd name="connsiteY3" fmla="*/ 35433 h 38100"/>
                    <a:gd name="connsiteX4" fmla="*/ 35433 w 38100"/>
                    <a:gd name="connsiteY4" fmla="*/ 35433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35433" y="35433"/>
                      </a:moveTo>
                      <a:cubicBezTo>
                        <a:pt x="41910" y="28956"/>
                        <a:pt x="41910" y="18478"/>
                        <a:pt x="35433" y="12001"/>
                      </a:cubicBezTo>
                      <a:cubicBezTo>
                        <a:pt x="28956" y="5525"/>
                        <a:pt x="18479" y="5525"/>
                        <a:pt x="12001" y="12001"/>
                      </a:cubicBezTo>
                      <a:cubicBezTo>
                        <a:pt x="5525" y="18478"/>
                        <a:pt x="5525" y="28956"/>
                        <a:pt x="12001" y="35433"/>
                      </a:cubicBezTo>
                      <a:cubicBezTo>
                        <a:pt x="18479" y="41910"/>
                        <a:pt x="28956" y="41910"/>
                        <a:pt x="35433" y="35433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5687423" y="5276480"/>
                  <a:ext cx="60065" cy="60065"/>
                </a:xfrm>
                <a:custGeom>
                  <a:avLst/>
                  <a:gdLst>
                    <a:gd name="connsiteX0" fmla="*/ 35433 w 38100"/>
                    <a:gd name="connsiteY0" fmla="*/ 35433 h 38100"/>
                    <a:gd name="connsiteX1" fmla="*/ 35433 w 38100"/>
                    <a:gd name="connsiteY1" fmla="*/ 12001 h 38100"/>
                    <a:gd name="connsiteX2" fmla="*/ 12002 w 38100"/>
                    <a:gd name="connsiteY2" fmla="*/ 12001 h 38100"/>
                    <a:gd name="connsiteX3" fmla="*/ 12002 w 38100"/>
                    <a:gd name="connsiteY3" fmla="*/ 35433 h 38100"/>
                    <a:gd name="connsiteX4" fmla="*/ 35433 w 38100"/>
                    <a:gd name="connsiteY4" fmla="*/ 35433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35433" y="35433"/>
                      </a:moveTo>
                      <a:cubicBezTo>
                        <a:pt x="41910" y="28956"/>
                        <a:pt x="41910" y="18478"/>
                        <a:pt x="35433" y="12001"/>
                      </a:cubicBezTo>
                      <a:cubicBezTo>
                        <a:pt x="28956" y="5525"/>
                        <a:pt x="18479" y="5525"/>
                        <a:pt x="12002" y="12001"/>
                      </a:cubicBezTo>
                      <a:cubicBezTo>
                        <a:pt x="5524" y="18478"/>
                        <a:pt x="5524" y="28956"/>
                        <a:pt x="12002" y="35433"/>
                      </a:cubicBezTo>
                      <a:cubicBezTo>
                        <a:pt x="18479" y="41910"/>
                        <a:pt x="28956" y="41910"/>
                        <a:pt x="35433" y="35433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任意多边形: 形状 60"/>
                <p:cNvSpPr/>
                <p:nvPr/>
              </p:nvSpPr>
              <p:spPr>
                <a:xfrm>
                  <a:off x="5884888" y="5473946"/>
                  <a:ext cx="60065" cy="60065"/>
                </a:xfrm>
                <a:custGeom>
                  <a:avLst/>
                  <a:gdLst>
                    <a:gd name="connsiteX0" fmla="*/ 40291 w 38100"/>
                    <a:gd name="connsiteY0" fmla="*/ 23717 h 38100"/>
                    <a:gd name="connsiteX1" fmla="*/ 23717 w 38100"/>
                    <a:gd name="connsiteY1" fmla="*/ 40291 h 38100"/>
                    <a:gd name="connsiteX2" fmla="*/ 7144 w 38100"/>
                    <a:gd name="connsiteY2" fmla="*/ 23717 h 38100"/>
                    <a:gd name="connsiteX3" fmla="*/ 23717 w 38100"/>
                    <a:gd name="connsiteY3" fmla="*/ 7144 h 38100"/>
                    <a:gd name="connsiteX4" fmla="*/ 40291 w 38100"/>
                    <a:gd name="connsiteY4" fmla="*/ 23717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40291" y="23717"/>
                      </a:moveTo>
                      <a:cubicBezTo>
                        <a:pt x="40291" y="32871"/>
                        <a:pt x="32871" y="40291"/>
                        <a:pt x="23717" y="40291"/>
                      </a:cubicBezTo>
                      <a:cubicBezTo>
                        <a:pt x="14564" y="40291"/>
                        <a:pt x="7144" y="32870"/>
                        <a:pt x="7144" y="23717"/>
                      </a:cubicBezTo>
                      <a:cubicBezTo>
                        <a:pt x="7144" y="14564"/>
                        <a:pt x="14564" y="7144"/>
                        <a:pt x="23717" y="7144"/>
                      </a:cubicBezTo>
                      <a:cubicBezTo>
                        <a:pt x="32871" y="7144"/>
                        <a:pt x="40291" y="14564"/>
                        <a:pt x="40291" y="23717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5153442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5279579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5405567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69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任意多边形: 形状 64"/>
                <p:cNvSpPr/>
                <p:nvPr/>
              </p:nvSpPr>
              <p:spPr>
                <a:xfrm>
                  <a:off x="5531704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任意多边形: 形状 65"/>
                <p:cNvSpPr/>
                <p:nvPr/>
              </p:nvSpPr>
              <p:spPr>
                <a:xfrm>
                  <a:off x="5657690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任意多边形: 形状 66"/>
                <p:cNvSpPr/>
                <p:nvPr/>
              </p:nvSpPr>
              <p:spPr>
                <a:xfrm>
                  <a:off x="5783677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任意多边形: 形状 67"/>
                <p:cNvSpPr/>
                <p:nvPr/>
              </p:nvSpPr>
              <p:spPr>
                <a:xfrm>
                  <a:off x="5153442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任意多边形: 形状 68"/>
                <p:cNvSpPr/>
                <p:nvPr/>
              </p:nvSpPr>
              <p:spPr>
                <a:xfrm>
                  <a:off x="5279430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任意多边形: 形状 69"/>
                <p:cNvSpPr/>
                <p:nvPr/>
              </p:nvSpPr>
              <p:spPr>
                <a:xfrm>
                  <a:off x="5405567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任意多边形: 形状 70"/>
                <p:cNvSpPr/>
                <p:nvPr/>
              </p:nvSpPr>
              <p:spPr>
                <a:xfrm>
                  <a:off x="5531553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任意多边形: 形状 71"/>
                <p:cNvSpPr/>
                <p:nvPr/>
              </p:nvSpPr>
              <p:spPr>
                <a:xfrm>
                  <a:off x="5657690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任意多边形: 形状 72"/>
                <p:cNvSpPr/>
                <p:nvPr/>
              </p:nvSpPr>
              <p:spPr>
                <a:xfrm>
                  <a:off x="5153442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任意多边形: 形状 73"/>
                <p:cNvSpPr/>
                <p:nvPr/>
              </p:nvSpPr>
              <p:spPr>
                <a:xfrm>
                  <a:off x="5279430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任意多边形: 形状 74"/>
                <p:cNvSpPr/>
                <p:nvPr/>
              </p:nvSpPr>
              <p:spPr>
                <a:xfrm>
                  <a:off x="5405567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任意多边形: 形状 75"/>
                <p:cNvSpPr/>
                <p:nvPr/>
              </p:nvSpPr>
              <p:spPr>
                <a:xfrm>
                  <a:off x="5531553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任意多边形: 形状 76"/>
                <p:cNvSpPr/>
                <p:nvPr/>
              </p:nvSpPr>
              <p:spPr>
                <a:xfrm>
                  <a:off x="5153442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任意多边形: 形状 77"/>
                <p:cNvSpPr/>
                <p:nvPr/>
              </p:nvSpPr>
              <p:spPr>
                <a:xfrm>
                  <a:off x="5279579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任意多边形: 形状 78"/>
                <p:cNvSpPr/>
                <p:nvPr/>
              </p:nvSpPr>
              <p:spPr>
                <a:xfrm>
                  <a:off x="5405567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69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任意多边形: 形状 79"/>
                <p:cNvSpPr/>
                <p:nvPr/>
              </p:nvSpPr>
              <p:spPr>
                <a:xfrm>
                  <a:off x="5153442" y="3985076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1" name="任意多边形: 形状 80"/>
                <p:cNvSpPr/>
                <p:nvPr/>
              </p:nvSpPr>
              <p:spPr>
                <a:xfrm>
                  <a:off x="5279579" y="3985076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任意多边形: 形状 81"/>
                <p:cNvSpPr/>
                <p:nvPr/>
              </p:nvSpPr>
              <p:spPr>
                <a:xfrm>
                  <a:off x="5153442" y="4110914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5" name="组合 44"/>
              <p:cNvGrpSpPr/>
              <p:nvPr userDrawn="1"/>
            </p:nvGrpSpPr>
            <p:grpSpPr>
              <a:xfrm>
                <a:off x="8327264" y="2565728"/>
                <a:ext cx="5222380" cy="5705265"/>
                <a:chOff x="8327264" y="2565728"/>
                <a:chExt cx="5222380" cy="5705265"/>
              </a:xfrm>
            </p:grpSpPr>
            <p:sp>
              <p:nvSpPr>
                <p:cNvPr id="46" name="矩形 45"/>
                <p:cNvSpPr/>
                <p:nvPr/>
              </p:nvSpPr>
              <p:spPr>
                <a:xfrm>
                  <a:off x="8327264" y="6813763"/>
                  <a:ext cx="5041900" cy="1457230"/>
                </a:xfrm>
                <a:prstGeom prst="rect">
                  <a:avLst/>
                </a:prstGeom>
                <a:solidFill>
                  <a:srgbClr val="F5F7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 rot="5400000">
                  <a:off x="10300079" y="4358063"/>
                  <a:ext cx="5041900" cy="1457230"/>
                </a:xfrm>
                <a:prstGeom prst="rect">
                  <a:avLst/>
                </a:prstGeom>
                <a:solidFill>
                  <a:srgbClr val="F5F7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全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dy:长上下文&#10;企业知识助手如何扩容"/>
          <p:cNvSpPr txBox="1"/>
          <p:nvPr/>
        </p:nvSpPr>
        <p:spPr>
          <a:xfrm>
            <a:off x="2194560" y="1371600"/>
            <a:ext cx="777240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35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长上下文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35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企业知识助手如何扩容</a:t>
            </a:r>
          </a:p>
        </p:txBody>
      </p:sp>
      <p:sp>
        <p:nvSpPr>
          <p:cNvPr id="3" name="body:从单机瓶颈到 Prefill / Decode "/>
          <p:cNvSpPr txBox="1"/>
          <p:nvPr/>
        </p:nvSpPr>
        <p:spPr>
          <a:xfrm>
            <a:off x="2011680" y="3063240"/>
            <a:ext cx="8138160" cy="64008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55A48"/>
                </a:solidFill>
                <a:latin typeface="微软雅黑"/>
              </a:defRPr>
            </a:pPr>
            <a:r>
              <a:rPr>
                <a:ea typeface="微软雅黑"/>
              </a:rPr>
              <a:t>从单机瓶颈到 Prefill / Decode 解耦集群</a:t>
            </a:r>
          </a:p>
        </p:txBody>
      </p:sp>
      <p:sp>
        <p:nvSpPr>
          <p:cNvPr id="4" name="body:性能边界 · KV 内存 · 调度策略 · 集群"/>
          <p:cNvSpPr txBox="1"/>
          <p:nvPr/>
        </p:nvSpPr>
        <p:spPr>
          <a:xfrm>
            <a:off x="2293620" y="3977639"/>
            <a:ext cx="7589520" cy="50292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性能边界 · KV 内存 · 调度策略 · 集群运行</a:t>
            </a:r>
          </a:p>
        </p:txBody>
      </p:sp>
      <p:sp>
        <p:nvSpPr>
          <p:cNvPr id="5" name="body:2026 年 10 月 18 日"/>
          <p:cNvSpPr/>
          <p:nvPr/>
        </p:nvSpPr>
        <p:spPr>
          <a:xfrm>
            <a:off x="4130040" y="4800600"/>
            <a:ext cx="3931920" cy="45720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2026 年 10 月 18 日</a:t>
            </a:r>
          </a:p>
        </p:txBody>
      </p:sp>
      <p:sp>
        <p:nvSpPr>
          <p:cNvPr id="6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1/24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先固定一个可验收的知识问答场景</a:t>
            </a:r>
          </a:p>
        </p:txBody>
      </p:sp>
      <p:graphicFrame>
        <p:nvGraphicFramePr>
          <p:cNvPr id="3" name="table:comparison"/>
          <p:cNvGraphicFramePr>
            <a:graphicFrameLocks noGrp="1"/>
          </p:cNvGraphicFramePr>
          <p:nvPr/>
        </p:nvGraphicFramePr>
        <p:xfrm>
          <a:off x="502920" y="1116330"/>
          <a:ext cx="1110996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617720"/>
                <a:gridCol w="4846320"/>
              </a:tblGrid>
              <a:tr h="678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设计示例：企业知识助手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扩容时要保住什么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模型与精度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Qwen2.5-7B-Instruct；BF16 权重 / KV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答案质量、引用正确性与权限边界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请求长度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基线 8,192 输入 + 256 输出 token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压力组：输入升至 32,000 token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复用与租户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16 个活跃会话；同租户 6,144 token 前缀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跨租户缓存隔离；热 / 冷请求分别统计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延迟目标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p95 TTFT ≤ 2 s；p95 请求 TPOT ≤ 40 ms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同时满足两项的请求比例 ≥ 95%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到达过程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基线 Poisson；另加阶跃与突发回放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从 0.2 req/s 扫到失稳，再退回容量边界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4" name="body:容量的分母是满足质量与延迟目标的请求；后续内存、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容量的分母是满足质量与延迟目标的请求；后续内存、网络和成本都沿用这组参数。</a:t>
            </a:r>
          </a:p>
        </p:txBody>
      </p:sp>
      <p:sp>
        <p:nvSpPr>
          <p:cNvPr id="5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2/24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请求走完五段链路，首 token 才能到达用户</a:t>
            </a:r>
          </a:p>
        </p:txBody>
      </p:sp>
      <p:sp>
        <p:nvSpPr>
          <p:cNvPr id="3" name="Can 2"/>
          <p:cNvSpPr/>
          <p:nvPr/>
        </p:nvSpPr>
        <p:spPr>
          <a:xfrm>
            <a:off x="1280160" y="1450848"/>
            <a:ext cx="438912" cy="365760"/>
          </a:xfrm>
          <a:prstGeom prst="can">
            <a:avLst/>
          </a:prstGeom>
          <a:noFill/>
          <a:ln w="17780">
            <a:solidFill>
              <a:srgbClr val="243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dy:接入与检索"/>
          <p:cNvSpPr/>
          <p:nvPr/>
        </p:nvSpPr>
        <p:spPr>
          <a:xfrm>
            <a:off x="502920" y="1935480"/>
            <a:ext cx="2039112" cy="59436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接入与检索</a:t>
            </a:r>
          </a:p>
        </p:txBody>
      </p:sp>
      <p:sp>
        <p:nvSpPr>
          <p:cNvPr id="5" name="body:认证 → 检索&#10;文档与系统提示"/>
          <p:cNvSpPr/>
          <p:nvPr/>
        </p:nvSpPr>
        <p:spPr>
          <a:xfrm>
            <a:off x="502920" y="2758440"/>
            <a:ext cx="2039112" cy="1143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认证 → 检索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文档与系统提示</a:t>
            </a:r>
          </a:p>
        </p:txBody>
      </p:sp>
      <p:cxnSp>
        <p:nvCxnSpPr>
          <p:cNvPr id="6" name="connector:flow"/>
          <p:cNvCxnSpPr/>
          <p:nvPr/>
        </p:nvCxnSpPr>
        <p:spPr>
          <a:xfrm>
            <a:off x="2542032" y="3334512"/>
            <a:ext cx="210312" cy="0"/>
          </a:xfrm>
          <a:prstGeom prst="line">
            <a:avLst/>
          </a:prstGeom>
          <a:ln w="17780">
            <a:solidFill>
              <a:srgbClr val="243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:flow"/>
          <p:cNvCxnSpPr/>
          <p:nvPr/>
        </p:nvCxnSpPr>
        <p:spPr>
          <a:xfrm>
            <a:off x="3529584" y="1450848"/>
            <a:ext cx="411479" cy="0"/>
          </a:xfrm>
          <a:prstGeom prst="line">
            <a:avLst/>
          </a:prstGeom>
          <a:ln w="25400">
            <a:solidFill>
              <a:srgbClr val="243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flow"/>
          <p:cNvCxnSpPr/>
          <p:nvPr/>
        </p:nvCxnSpPr>
        <p:spPr>
          <a:xfrm>
            <a:off x="3529584" y="1588008"/>
            <a:ext cx="411479" cy="0"/>
          </a:xfrm>
          <a:prstGeom prst="line">
            <a:avLst/>
          </a:prstGeom>
          <a:ln w="25400">
            <a:solidFill>
              <a:srgbClr val="243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icon:queue"/>
          <p:cNvCxnSpPr/>
          <p:nvPr/>
        </p:nvCxnSpPr>
        <p:spPr>
          <a:xfrm>
            <a:off x="3529584" y="1725168"/>
            <a:ext cx="411479" cy="0"/>
          </a:xfrm>
          <a:prstGeom prst="line">
            <a:avLst/>
          </a:prstGeom>
          <a:ln w="25400">
            <a:solidFill>
              <a:srgbClr val="243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ody:排队与准入"/>
          <p:cNvSpPr/>
          <p:nvPr/>
        </p:nvSpPr>
        <p:spPr>
          <a:xfrm>
            <a:off x="2752344" y="1935480"/>
            <a:ext cx="2039112" cy="59436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排队与准入</a:t>
            </a:r>
          </a:p>
        </p:txBody>
      </p:sp>
      <p:sp>
        <p:nvSpPr>
          <p:cNvPr id="11" name="body:检查 token 预算&#10;分配租户与优先级"/>
          <p:cNvSpPr/>
          <p:nvPr/>
        </p:nvSpPr>
        <p:spPr>
          <a:xfrm>
            <a:off x="2752344" y="2758440"/>
            <a:ext cx="2039112" cy="1143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检查 token 预算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分配租户与优先级</a:t>
            </a:r>
          </a:p>
        </p:txBody>
      </p:sp>
      <p:cxnSp>
        <p:nvCxnSpPr>
          <p:cNvPr id="12" name="connector:flow"/>
          <p:cNvCxnSpPr/>
          <p:nvPr/>
        </p:nvCxnSpPr>
        <p:spPr>
          <a:xfrm>
            <a:off x="4791456" y="3334512"/>
            <a:ext cx="210312" cy="0"/>
          </a:xfrm>
          <a:prstGeom prst="line">
            <a:avLst/>
          </a:prstGeom>
          <a:ln w="17780">
            <a:solidFill>
              <a:srgbClr val="243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852159" y="1524000"/>
            <a:ext cx="329184" cy="274320"/>
          </a:xfrm>
          <a:prstGeom prst="rect">
            <a:avLst/>
          </a:prstGeom>
          <a:noFill/>
          <a:ln w="17780">
            <a:solidFill>
              <a:srgbClr val="E55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:flow"/>
          <p:cNvCxnSpPr/>
          <p:nvPr/>
        </p:nvCxnSpPr>
        <p:spPr>
          <a:xfrm>
            <a:off x="5907023" y="1450848"/>
            <a:ext cx="0" cy="73152"/>
          </a:xfrm>
          <a:prstGeom prst="line">
            <a:avLst/>
          </a:prstGeom>
          <a:ln w="17780">
            <a:solidFill>
              <a:srgbClr val="E55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flow"/>
          <p:cNvCxnSpPr/>
          <p:nvPr/>
        </p:nvCxnSpPr>
        <p:spPr>
          <a:xfrm>
            <a:off x="5907023" y="1798320"/>
            <a:ext cx="0" cy="73152"/>
          </a:xfrm>
          <a:prstGeom prst="line">
            <a:avLst/>
          </a:prstGeom>
          <a:ln w="17780">
            <a:solidFill>
              <a:srgbClr val="E55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flow"/>
          <p:cNvCxnSpPr/>
          <p:nvPr/>
        </p:nvCxnSpPr>
        <p:spPr>
          <a:xfrm>
            <a:off x="6016751" y="1450848"/>
            <a:ext cx="0" cy="73152"/>
          </a:xfrm>
          <a:prstGeom prst="line">
            <a:avLst/>
          </a:prstGeom>
          <a:ln w="17780">
            <a:solidFill>
              <a:srgbClr val="E55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flow"/>
          <p:cNvCxnSpPr/>
          <p:nvPr/>
        </p:nvCxnSpPr>
        <p:spPr>
          <a:xfrm>
            <a:off x="6016751" y="1798320"/>
            <a:ext cx="0" cy="73152"/>
          </a:xfrm>
          <a:prstGeom prst="line">
            <a:avLst/>
          </a:prstGeom>
          <a:ln w="17780">
            <a:solidFill>
              <a:srgbClr val="E55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flow"/>
          <p:cNvCxnSpPr/>
          <p:nvPr/>
        </p:nvCxnSpPr>
        <p:spPr>
          <a:xfrm>
            <a:off x="6126479" y="1450848"/>
            <a:ext cx="0" cy="73152"/>
          </a:xfrm>
          <a:prstGeom prst="line">
            <a:avLst/>
          </a:prstGeom>
          <a:ln w="17780">
            <a:solidFill>
              <a:srgbClr val="E55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icon:gpu"/>
          <p:cNvCxnSpPr/>
          <p:nvPr/>
        </p:nvCxnSpPr>
        <p:spPr>
          <a:xfrm>
            <a:off x="6126479" y="1798320"/>
            <a:ext cx="0" cy="73152"/>
          </a:xfrm>
          <a:prstGeom prst="line">
            <a:avLst/>
          </a:prstGeom>
          <a:ln w="17780">
            <a:solidFill>
              <a:srgbClr val="E55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body:Prefill"/>
          <p:cNvSpPr/>
          <p:nvPr/>
        </p:nvSpPr>
        <p:spPr>
          <a:xfrm>
            <a:off x="5001768" y="1935480"/>
            <a:ext cx="2039112" cy="59436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Prefill</a:t>
            </a:r>
          </a:p>
        </p:txBody>
      </p:sp>
      <p:sp>
        <p:nvSpPr>
          <p:cNvPr id="21" name="body:批量读取 prompt&#10;生成首 token 与K"/>
          <p:cNvSpPr/>
          <p:nvPr/>
        </p:nvSpPr>
        <p:spPr>
          <a:xfrm>
            <a:off x="5001768" y="2758440"/>
            <a:ext cx="2039112" cy="1143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批量读取 prompt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生成首 token 与KV</a:t>
            </a:r>
          </a:p>
        </p:txBody>
      </p:sp>
      <p:cxnSp>
        <p:nvCxnSpPr>
          <p:cNvPr id="22" name="connector:flow"/>
          <p:cNvCxnSpPr/>
          <p:nvPr/>
        </p:nvCxnSpPr>
        <p:spPr>
          <a:xfrm>
            <a:off x="7040879" y="3334512"/>
            <a:ext cx="210313" cy="0"/>
          </a:xfrm>
          <a:prstGeom prst="line">
            <a:avLst/>
          </a:prstGeom>
          <a:ln w="17780">
            <a:solidFill>
              <a:srgbClr val="243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028431" y="1697736"/>
            <a:ext cx="100584" cy="100584"/>
          </a:xfrm>
          <a:prstGeom prst="ellipse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1311" y="1450848"/>
            <a:ext cx="100584" cy="100584"/>
          </a:xfrm>
          <a:prstGeom prst="ellipse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94192" y="1697736"/>
            <a:ext cx="100584" cy="100584"/>
          </a:xfrm>
          <a:prstGeom prst="ellipse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:flow"/>
          <p:cNvCxnSpPr/>
          <p:nvPr/>
        </p:nvCxnSpPr>
        <p:spPr>
          <a:xfrm flipV="1">
            <a:off x="8108658" y="1541552"/>
            <a:ext cx="123009" cy="166063"/>
          </a:xfrm>
          <a:prstGeom prst="line">
            <a:avLst/>
          </a:prstGeom>
          <a:ln w="17780">
            <a:solidFill>
              <a:srgbClr val="F6B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icon:network"/>
          <p:cNvCxnSpPr/>
          <p:nvPr/>
        </p:nvCxnSpPr>
        <p:spPr>
          <a:xfrm flipH="1" flipV="1">
            <a:off x="8291538" y="1541552"/>
            <a:ext cx="123010" cy="166063"/>
          </a:xfrm>
          <a:prstGeom prst="line">
            <a:avLst/>
          </a:prstGeom>
          <a:ln w="17780">
            <a:solidFill>
              <a:srgbClr val="F6B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body:KV 交接"/>
          <p:cNvSpPr/>
          <p:nvPr/>
        </p:nvSpPr>
        <p:spPr>
          <a:xfrm>
            <a:off x="7251192" y="1935480"/>
            <a:ext cx="2039112" cy="59436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KV 交接</a:t>
            </a:r>
          </a:p>
        </p:txBody>
      </p:sp>
      <p:sp>
        <p:nvSpPr>
          <p:cNvPr id="29" name="body:分配目标块&#10;传输、完成通知"/>
          <p:cNvSpPr/>
          <p:nvPr/>
        </p:nvSpPr>
        <p:spPr>
          <a:xfrm>
            <a:off x="7251192" y="2758440"/>
            <a:ext cx="2039112" cy="1143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分配目标块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传输、完成通知</a:t>
            </a:r>
          </a:p>
        </p:txBody>
      </p:sp>
      <p:cxnSp>
        <p:nvCxnSpPr>
          <p:cNvPr id="30" name="connector:flow"/>
          <p:cNvCxnSpPr/>
          <p:nvPr/>
        </p:nvCxnSpPr>
        <p:spPr>
          <a:xfrm>
            <a:off x="9290304" y="3334512"/>
            <a:ext cx="210312" cy="0"/>
          </a:xfrm>
          <a:prstGeom prst="line">
            <a:avLst/>
          </a:prstGeom>
          <a:ln w="17780">
            <a:solidFill>
              <a:srgbClr val="243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0351008" y="1524000"/>
            <a:ext cx="329184" cy="274320"/>
          </a:xfrm>
          <a:prstGeom prst="rect">
            <a:avLst/>
          </a:prstGeom>
          <a:noFill/>
          <a:ln w="17780">
            <a:solidFill>
              <a:srgbClr val="5DC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:flow"/>
          <p:cNvCxnSpPr/>
          <p:nvPr/>
        </p:nvCxnSpPr>
        <p:spPr>
          <a:xfrm>
            <a:off x="10405872" y="1450848"/>
            <a:ext cx="0" cy="73152"/>
          </a:xfrm>
          <a:prstGeom prst="line">
            <a:avLst/>
          </a:prstGeom>
          <a:ln w="17780">
            <a:solidFill>
              <a:srgbClr val="5DC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flow"/>
          <p:cNvCxnSpPr/>
          <p:nvPr/>
        </p:nvCxnSpPr>
        <p:spPr>
          <a:xfrm>
            <a:off x="10405872" y="1798320"/>
            <a:ext cx="0" cy="73152"/>
          </a:xfrm>
          <a:prstGeom prst="line">
            <a:avLst/>
          </a:prstGeom>
          <a:ln w="17780">
            <a:solidFill>
              <a:srgbClr val="5DC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flow"/>
          <p:cNvCxnSpPr/>
          <p:nvPr/>
        </p:nvCxnSpPr>
        <p:spPr>
          <a:xfrm>
            <a:off x="10515600" y="1450848"/>
            <a:ext cx="0" cy="73152"/>
          </a:xfrm>
          <a:prstGeom prst="line">
            <a:avLst/>
          </a:prstGeom>
          <a:ln w="17780">
            <a:solidFill>
              <a:srgbClr val="5DC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flow"/>
          <p:cNvCxnSpPr/>
          <p:nvPr/>
        </p:nvCxnSpPr>
        <p:spPr>
          <a:xfrm>
            <a:off x="10515600" y="1798320"/>
            <a:ext cx="0" cy="73152"/>
          </a:xfrm>
          <a:prstGeom prst="line">
            <a:avLst/>
          </a:prstGeom>
          <a:ln w="17780">
            <a:solidFill>
              <a:srgbClr val="5DC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flow"/>
          <p:cNvCxnSpPr/>
          <p:nvPr/>
        </p:nvCxnSpPr>
        <p:spPr>
          <a:xfrm>
            <a:off x="10625328" y="1450848"/>
            <a:ext cx="0" cy="73152"/>
          </a:xfrm>
          <a:prstGeom prst="line">
            <a:avLst/>
          </a:prstGeom>
          <a:ln w="17780">
            <a:solidFill>
              <a:srgbClr val="5DC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icon:gpu"/>
          <p:cNvCxnSpPr/>
          <p:nvPr/>
        </p:nvCxnSpPr>
        <p:spPr>
          <a:xfrm>
            <a:off x="10625328" y="1798320"/>
            <a:ext cx="0" cy="73152"/>
          </a:xfrm>
          <a:prstGeom prst="line">
            <a:avLst/>
          </a:prstGeom>
          <a:ln w="17780">
            <a:solidFill>
              <a:srgbClr val="5DC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body:Decode"/>
          <p:cNvSpPr/>
          <p:nvPr/>
        </p:nvSpPr>
        <p:spPr>
          <a:xfrm>
            <a:off x="9500616" y="1935480"/>
            <a:ext cx="2039112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Decode</a:t>
            </a:r>
          </a:p>
        </p:txBody>
      </p:sp>
      <p:sp>
        <p:nvSpPr>
          <p:cNvPr id="39" name="body:逐步生成 token&#10;结束后释放引用"/>
          <p:cNvSpPr/>
          <p:nvPr/>
        </p:nvSpPr>
        <p:spPr>
          <a:xfrm>
            <a:off x="9500616" y="2758440"/>
            <a:ext cx="2039112" cy="1143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258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逐步生成 token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结束后释放引用</a:t>
            </a:r>
          </a:p>
        </p:txBody>
      </p:sp>
      <p:cxnSp>
        <p:nvCxnSpPr>
          <p:cNvPr id="40" name="connector:flow"/>
          <p:cNvCxnSpPr/>
          <p:nvPr/>
        </p:nvCxnSpPr>
        <p:spPr>
          <a:xfrm flipH="1">
            <a:off x="1522476" y="4221480"/>
            <a:ext cx="8997696" cy="0"/>
          </a:xfrm>
          <a:prstGeom prst="line">
            <a:avLst/>
          </a:prstGeom>
          <a:ln w="17780">
            <a:solidFill>
              <a:srgbClr val="5DC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body:流式返回：逐 token → detokeniz"/>
          <p:cNvSpPr txBox="1"/>
          <p:nvPr/>
        </p:nvSpPr>
        <p:spPr>
          <a:xfrm>
            <a:off x="685800" y="4495800"/>
            <a:ext cx="8321040" cy="502920"/>
          </a:xfrm>
          <a:prstGeom prst="rect">
            <a:avLst/>
          </a:prstGeom>
          <a:noFill/>
        </p:spPr>
        <p:txBody>
          <a:bodyPr wrap="square" lIns="0" rIns="109728" tIns="109728" b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DC2C4"/>
                </a:solidFill>
                <a:latin typeface="微软雅黑"/>
              </a:defRPr>
            </a:pPr>
            <a:r>
              <a:rPr>
                <a:ea typeface="微软雅黑"/>
              </a:rPr>
              <a:t>流式返回：逐 token → detokenize → SSE → 浏览器</a:t>
            </a:r>
          </a:p>
        </p:txBody>
      </p:sp>
      <p:sp>
        <p:nvSpPr>
          <p:cNvPr id="42" name="body:同机服务省掉跨设备 KV 交接；解耦把它加入 T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同机服务省掉跨设备 KV 交接；解耦把它加入 TTFT 关键路径，并增加一处故障边界。</a:t>
            </a:r>
          </a:p>
        </p:txBody>
      </p:sp>
      <p:sp>
        <p:nvSpPr>
          <p:cNvPr id="43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3/24</a:t>
            </a:r>
          </a:p>
        </p:txBody>
      </p:sp>
      <p:cxnSp>
        <p:nvCxnSpPr>
          <p:cNvPr id="44" name="connector:stream-return"/>
          <p:cNvCxnSpPr/>
          <p:nvPr/>
        </p:nvCxnSpPr>
        <p:spPr>
          <a:xfrm>
            <a:off x="10520172" y="3901440"/>
            <a:ext cx="0" cy="320040"/>
          </a:xfrm>
          <a:prstGeom prst="line">
            <a:avLst/>
          </a:prstGeom>
          <a:ln w="17780">
            <a:solidFill>
              <a:srgbClr val="5DC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stream-return"/>
          <p:cNvCxnSpPr/>
          <p:nvPr/>
        </p:nvCxnSpPr>
        <p:spPr>
          <a:xfrm flipV="1">
            <a:off x="1522476" y="3901440"/>
            <a:ext cx="0" cy="320040"/>
          </a:xfrm>
          <a:prstGeom prst="line">
            <a:avLst/>
          </a:prstGeom>
          <a:ln w="17780">
            <a:solidFill>
              <a:srgbClr val="5DC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TTFT、TPOT 与 ITL 描述不同的等待</a:t>
            </a:r>
          </a:p>
        </p:txBody>
      </p:sp>
      <p:cxnSp>
        <p:nvCxnSpPr>
          <p:cNvPr id="3" name="connector:flow"/>
          <p:cNvCxnSpPr/>
          <p:nvPr/>
        </p:nvCxnSpPr>
        <p:spPr>
          <a:xfrm>
            <a:off x="914400" y="1649730"/>
            <a:ext cx="0" cy="256031"/>
          </a:xfrm>
          <a:prstGeom prst="line">
            <a:avLst/>
          </a:prstGeom>
          <a:ln w="25400">
            <a:solidFill>
              <a:srgbClr val="243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ody:请求进入"/>
          <p:cNvSpPr txBox="1"/>
          <p:nvPr/>
        </p:nvSpPr>
        <p:spPr>
          <a:xfrm>
            <a:off x="457200" y="1192530"/>
            <a:ext cx="1234440" cy="41148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请求进入</a:t>
            </a:r>
          </a:p>
        </p:txBody>
      </p:sp>
      <p:cxnSp>
        <p:nvCxnSpPr>
          <p:cNvPr id="5" name="connector:flow"/>
          <p:cNvCxnSpPr/>
          <p:nvPr/>
        </p:nvCxnSpPr>
        <p:spPr>
          <a:xfrm>
            <a:off x="3657600" y="1649730"/>
            <a:ext cx="0" cy="256031"/>
          </a:xfrm>
          <a:prstGeom prst="line">
            <a:avLst/>
          </a:prstGeom>
          <a:ln w="25400">
            <a:solidFill>
              <a:srgbClr val="243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ody:首 token"/>
          <p:cNvSpPr txBox="1"/>
          <p:nvPr/>
        </p:nvSpPr>
        <p:spPr>
          <a:xfrm>
            <a:off x="3200400" y="1192530"/>
            <a:ext cx="1234440" cy="41148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首 token</a:t>
            </a:r>
          </a:p>
        </p:txBody>
      </p:sp>
      <p:cxnSp>
        <p:nvCxnSpPr>
          <p:cNvPr id="7" name="connector:flow"/>
          <p:cNvCxnSpPr/>
          <p:nvPr/>
        </p:nvCxnSpPr>
        <p:spPr>
          <a:xfrm>
            <a:off x="5120640" y="1649730"/>
            <a:ext cx="0" cy="256031"/>
          </a:xfrm>
          <a:prstGeom prst="line">
            <a:avLst/>
          </a:prstGeom>
          <a:ln w="25400">
            <a:solidFill>
              <a:srgbClr val="243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ody:第2个"/>
          <p:cNvSpPr txBox="1"/>
          <p:nvPr/>
        </p:nvSpPr>
        <p:spPr>
          <a:xfrm>
            <a:off x="4663440" y="1192530"/>
            <a:ext cx="1234440" cy="41148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第2个</a:t>
            </a:r>
          </a:p>
        </p:txBody>
      </p:sp>
      <p:cxnSp>
        <p:nvCxnSpPr>
          <p:cNvPr id="9" name="connector:flow"/>
          <p:cNvCxnSpPr/>
          <p:nvPr/>
        </p:nvCxnSpPr>
        <p:spPr>
          <a:xfrm>
            <a:off x="6858000" y="1649730"/>
            <a:ext cx="0" cy="256031"/>
          </a:xfrm>
          <a:prstGeom prst="line">
            <a:avLst/>
          </a:prstGeom>
          <a:ln w="25400">
            <a:solidFill>
              <a:srgbClr val="243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ody:第3个"/>
          <p:cNvSpPr txBox="1"/>
          <p:nvPr/>
        </p:nvSpPr>
        <p:spPr>
          <a:xfrm>
            <a:off x="6400800" y="1192530"/>
            <a:ext cx="1234440" cy="41148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第3个</a:t>
            </a:r>
          </a:p>
        </p:txBody>
      </p:sp>
      <p:cxnSp>
        <p:nvCxnSpPr>
          <p:cNvPr id="11" name="connector:flow"/>
          <p:cNvCxnSpPr/>
          <p:nvPr/>
        </p:nvCxnSpPr>
        <p:spPr>
          <a:xfrm>
            <a:off x="9601200" y="1649730"/>
            <a:ext cx="0" cy="256031"/>
          </a:xfrm>
          <a:prstGeom prst="line">
            <a:avLst/>
          </a:prstGeom>
          <a:ln w="25400">
            <a:solidFill>
              <a:srgbClr val="243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body:最后 token"/>
          <p:cNvSpPr txBox="1"/>
          <p:nvPr/>
        </p:nvSpPr>
        <p:spPr>
          <a:xfrm>
            <a:off x="9144000" y="1192530"/>
            <a:ext cx="1234440" cy="41148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最后 token</a:t>
            </a:r>
          </a:p>
        </p:txBody>
      </p:sp>
      <p:cxnSp>
        <p:nvCxnSpPr>
          <p:cNvPr id="13" name="connector:flow"/>
          <p:cNvCxnSpPr/>
          <p:nvPr/>
        </p:nvCxnSpPr>
        <p:spPr>
          <a:xfrm>
            <a:off x="914400" y="1786890"/>
            <a:ext cx="9509760" cy="0"/>
          </a:xfrm>
          <a:prstGeom prst="line">
            <a:avLst/>
          </a:prstGeom>
          <a:ln w="25400">
            <a:solidFill>
              <a:srgbClr val="243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body:TTFT = t₁ − t₀"/>
          <p:cNvSpPr/>
          <p:nvPr/>
        </p:nvSpPr>
        <p:spPr>
          <a:xfrm>
            <a:off x="914400" y="2244090"/>
            <a:ext cx="2743200" cy="59436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TTFT = t₁ − t₀</a:t>
            </a:r>
          </a:p>
        </p:txBody>
      </p:sp>
      <p:sp>
        <p:nvSpPr>
          <p:cNvPr id="15" name="body:TPOT = (tₙ − t₁) / (n − "/>
          <p:cNvSpPr/>
          <p:nvPr/>
        </p:nvSpPr>
        <p:spPr>
          <a:xfrm>
            <a:off x="3931920" y="2244090"/>
            <a:ext cx="6583680" cy="5943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TPOT = (tₙ − t₁) / (n − 1)</a:t>
            </a:r>
          </a:p>
        </p:txBody>
      </p:sp>
      <p:graphicFrame>
        <p:nvGraphicFramePr>
          <p:cNvPr id="16" name="table:comparison"/>
          <p:cNvGraphicFramePr>
            <a:graphicFrameLocks noGrp="1"/>
          </p:cNvGraphicFramePr>
          <p:nvPr/>
        </p:nvGraphicFramePr>
        <p:xfrm>
          <a:off x="502920" y="3204210"/>
          <a:ext cx="1110996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474720"/>
                <a:gridCol w="6172200"/>
              </a:tblGrid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观测单位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容量判定中的作用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ITL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相邻 token 到达间隔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发现输出卡顿；需定义 token 加权或请求加权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p95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请求指标的95分位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联合达标率需逐请求同时核对TTFT与TPOT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有效吞吐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req/s 或 token/s；goodput 为达标 req/s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goodput = 完成请求速率 × 联合 SLO 达标比例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17" name="body:256 个输出 token、TTFT 2 s、T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256 个输出 token、TTFT 2 s、TPOT 40 ms，对应单请求端到端延迟约 12.2 s。</a:t>
            </a:r>
          </a:p>
        </p:txBody>
      </p:sp>
      <p:sp>
        <p:nvSpPr>
          <p:cNvPr id="18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4/24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48006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Prefill 吃计算，Decode 反复读取权重与历史 KV</a:t>
            </a:r>
          </a:p>
        </p:txBody>
      </p:sp>
      <p:sp>
        <p:nvSpPr>
          <p:cNvPr id="3" name="body:Prefill · 一次处理多个 token"/>
          <p:cNvSpPr/>
          <p:nvPr/>
        </p:nvSpPr>
        <p:spPr>
          <a:xfrm>
            <a:off x="502920" y="1162050"/>
            <a:ext cx="5454396" cy="59436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20" rIns="182880" tIns="164592" bIns="164592"/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Prefill · 一次处理多个 token</a:t>
            </a:r>
          </a:p>
        </p:txBody>
      </p:sp>
      <p:sp>
        <p:nvSpPr>
          <p:cNvPr id="4" name="body:输入矩阵较大，权重读入被多个 token 摊薄。"/>
          <p:cNvSpPr/>
          <p:nvPr/>
        </p:nvSpPr>
        <p:spPr>
          <a:xfrm>
            <a:off x="502920" y="1939290"/>
            <a:ext cx="5454396" cy="3200399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输入矩阵较大，权重读入被多个 token 摊薄。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长序列注意力工作随上下文增加；一次长 prefill 会延长共批 decode 的等待。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目标：压低首 token 执行时间与排队时间。</a:t>
            </a:r>
          </a:p>
        </p:txBody>
      </p:sp>
      <p:sp>
        <p:nvSpPr>
          <p:cNvPr id="5" name="body:Decode · 每轮推进一个 token"/>
          <p:cNvSpPr/>
          <p:nvPr/>
        </p:nvSpPr>
        <p:spPr>
          <a:xfrm>
            <a:off x="6158483" y="1162050"/>
            <a:ext cx="5454396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20" rIns="182880" tIns="164592" bIns="164592"/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Decode · 每轮推进一个 token</a:t>
            </a:r>
          </a:p>
        </p:txBody>
      </p:sp>
      <p:sp>
        <p:nvSpPr>
          <p:cNvPr id="6" name="body:每个活跃序列每轮生成一个 token。&#10;&#10;小批次"/>
          <p:cNvSpPr/>
          <p:nvPr/>
        </p:nvSpPr>
        <p:spPr>
          <a:xfrm>
            <a:off x="6158483" y="1939290"/>
            <a:ext cx="5454396" cy="3200399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每个活跃序列每轮生成一个 token。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小批次常受内存带宽约束；并发上升后 KV 读取、计算与通信都可能成为瓶颈。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目标：保持步间节奏，并利用批次摊薄权重读取。</a:t>
            </a:r>
          </a:p>
        </p:txBody>
      </p:sp>
      <p:sp>
        <p:nvSpPr>
          <p:cNvPr id="7" name="body:调度器同时面对“长任务快速启动”和“短步持续推进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调度器同时面对“长任务快速启动”和“短步持续推进”；拆池的收益来自解除这两类资源竞争。</a:t>
            </a:r>
          </a:p>
        </p:txBody>
      </p:sp>
      <p:sp>
        <p:nvSpPr>
          <p:cNvPr id="8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5/24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48006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KV 容量按 token 累积，不能只看模型参数量</a:t>
            </a:r>
          </a:p>
        </p:txBody>
      </p:sp>
      <p:sp>
        <p:nvSpPr>
          <p:cNvPr id="3" name="body:M_KV = 2 × L × H_KV × d_"/>
          <p:cNvSpPr/>
          <p:nvPr/>
        </p:nvSpPr>
        <p:spPr>
          <a:xfrm>
            <a:off x="502920" y="1184910"/>
            <a:ext cx="11109960" cy="6400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M_KV = 2 × L × H_KV × d_head × b × T</a:t>
            </a:r>
          </a:p>
        </p:txBody>
      </p:sp>
      <p:graphicFrame>
        <p:nvGraphicFramePr>
          <p:cNvPr id="4" name="table:comparison"/>
          <p:cNvGraphicFramePr>
            <a:graphicFrameLocks noGrp="1"/>
          </p:cNvGraphicFramePr>
          <p:nvPr/>
        </p:nvGraphicFramePr>
        <p:xfrm>
          <a:off x="502920" y="2099310"/>
          <a:ext cx="7086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2423160"/>
              </a:tblGrid>
              <a:tr h="6035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Qwen2.5-7B 配置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取值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BF16 KV 推导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层数 L / KV头数 H_KV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28 / 4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2 × 28 × 4 × 128 × 2 B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头维度 / 每元素字节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3,584 ÷ 28 = 128 / 2 B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57,344 B = 56 KiB / token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8,192 输入 / 256 输出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448 MiB / 最多14 MiB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每会话上界 462 MiB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16 会话 / 无共享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16 × 462 MiB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7.219 GiB KV；另计权重与运行时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:GPU 内存预算&#10;&#10;权重常驻&#10;+ 活跃 KV&#10;+"/>
          <p:cNvSpPr/>
          <p:nvPr/>
        </p:nvSpPr>
        <p:spPr>
          <a:xfrm>
            <a:off x="7909560" y="2099310"/>
            <a:ext cx="3703320" cy="301752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GPU 内存预算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权重常驻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+ 活跃 KV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+ 激活 / 工作区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+ CUDA Graph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+ 分配与安全余量</a:t>
            </a:r>
          </a:p>
        </p:txBody>
      </p:sp>
      <p:sp>
        <p:nvSpPr>
          <p:cNvPr id="6" name="body:示例可用 KV 池为24 GiB时：8,192+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示例可用 KV 池为24 GiB时：8,192+256最多容纳53会话；32,000+256最多13会话。</a:t>
            </a:r>
          </a:p>
        </p:txBody>
      </p:sp>
      <p:sp>
        <p:nvSpPr>
          <p:cNvPr id="7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6/24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共享前缀把重复计算与重复 KV 变成一份</a:t>
            </a:r>
          </a:p>
        </p:txBody>
      </p:sp>
      <p:sp>
        <p:nvSpPr>
          <p:cNvPr id="3" name="body:16个会话 · 每个8,192输入 + 256输"/>
          <p:cNvSpPr/>
          <p:nvPr/>
        </p:nvSpPr>
        <p:spPr>
          <a:xfrm>
            <a:off x="502920" y="1184910"/>
            <a:ext cx="11109960" cy="4114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1544" rIns="54864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16个会话 · 每个8,192输入 + 256输出 · 同租户完整前缀6,144 token</a:t>
            </a:r>
          </a:p>
        </p:txBody>
      </p:sp>
      <p:sp>
        <p:nvSpPr>
          <p:cNvPr id="4" name="body:无复用"/>
          <p:cNvSpPr txBox="1"/>
          <p:nvPr/>
        </p:nvSpPr>
        <p:spPr>
          <a:xfrm>
            <a:off x="571500" y="2145030"/>
            <a:ext cx="1828800" cy="50292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无复用</a:t>
            </a:r>
          </a:p>
        </p:txBody>
      </p:sp>
      <p:sp>
        <p:nvSpPr>
          <p:cNvPr id="5" name="body:"/>
          <p:cNvSpPr/>
          <p:nvPr/>
        </p:nvSpPr>
        <p:spPr>
          <a:xfrm>
            <a:off x="2560320" y="2145030"/>
            <a:ext cx="4290536" cy="54864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</a:p>
        </p:txBody>
      </p:sp>
      <p:sp>
        <p:nvSpPr>
          <p:cNvPr id="6" name="body:7.219 GiB"/>
          <p:cNvSpPr txBox="1"/>
          <p:nvPr/>
        </p:nvSpPr>
        <p:spPr>
          <a:xfrm>
            <a:off x="2560320" y="177927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7.219 GiB</a:t>
            </a:r>
          </a:p>
        </p:txBody>
      </p:sp>
      <p:sp>
        <p:nvSpPr>
          <p:cNvPr id="7" name="body:共享前缀"/>
          <p:cNvSpPr txBox="1"/>
          <p:nvPr/>
        </p:nvSpPr>
        <p:spPr>
          <a:xfrm>
            <a:off x="571500" y="3288030"/>
            <a:ext cx="1828800" cy="50292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共享前缀</a:t>
            </a:r>
          </a:p>
        </p:txBody>
      </p:sp>
      <p:sp>
        <p:nvSpPr>
          <p:cNvPr id="8" name="body:"/>
          <p:cNvSpPr/>
          <p:nvPr/>
        </p:nvSpPr>
        <p:spPr>
          <a:xfrm>
            <a:off x="2560320" y="3288030"/>
            <a:ext cx="195024" cy="54864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03642"/>
                </a:solidFill>
                <a:latin typeface="微软雅黑"/>
              </a:defRPr>
            </a:pPr>
          </a:p>
        </p:txBody>
      </p:sp>
      <p:sp>
        <p:nvSpPr>
          <p:cNvPr id="9" name="body:"/>
          <p:cNvSpPr/>
          <p:nvPr/>
        </p:nvSpPr>
        <p:spPr>
          <a:xfrm>
            <a:off x="2755344" y="3288030"/>
            <a:ext cx="1170146" cy="54864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</a:p>
        </p:txBody>
      </p:sp>
      <p:sp>
        <p:nvSpPr>
          <p:cNvPr id="10" name="body:2.297 GiB"/>
          <p:cNvSpPr txBox="1"/>
          <p:nvPr/>
        </p:nvSpPr>
        <p:spPr>
          <a:xfrm>
            <a:off x="2560320" y="292227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2.297 GiB</a:t>
            </a:r>
          </a:p>
        </p:txBody>
      </p:sp>
      <p:sp>
        <p:nvSpPr>
          <p:cNvPr id="11" name="body:共享 336 MiB + 16 × 私有126 "/>
          <p:cNvSpPr/>
          <p:nvPr/>
        </p:nvSpPr>
        <p:spPr>
          <a:xfrm>
            <a:off x="502920" y="4476750"/>
            <a:ext cx="6812280" cy="5943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830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共享 336 MiB + 16 × 私有126 MiB = 2.297 GiB</a:t>
            </a:r>
          </a:p>
        </p:txBody>
      </p:sp>
      <p:sp>
        <p:nvSpPr>
          <p:cNvPr id="12" name="body:token 顺序、模型版本、LoRA 与盐一致&#10;"/>
          <p:cNvSpPr/>
          <p:nvPr/>
        </p:nvSpPr>
        <p:spPr>
          <a:xfrm>
            <a:off x="7635240" y="2007870"/>
            <a:ext cx="3977639" cy="31089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token 顺序、模型版本、LoRA 与盐一致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完整块复用；引用计数归零才可回收</a:t>
            </a:r>
          </a:p>
        </p:txBody>
      </p:sp>
      <p:sp>
        <p:nvSpPr>
          <p:cNvPr id="13" name="body:知识片段放在稳定前缀中才产生复用；把每次变化的检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知识片段放在稳定前缀中才产生复用；把每次变化的检索结果插到前部，会使后续缓存键一起变化。</a:t>
            </a:r>
          </a:p>
        </p:txBody>
      </p:sp>
      <p:sp>
        <p:nvSpPr>
          <p:cNvPr id="14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7/24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48006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PagedAttention 用块表连接逻辑序列和物理 KV</a:t>
            </a:r>
          </a:p>
        </p:txBody>
      </p:sp>
      <p:sp>
        <p:nvSpPr>
          <p:cNvPr id="3" name="body:逻辑视图：示意块大小4 token"/>
          <p:cNvSpPr txBox="1"/>
          <p:nvPr/>
        </p:nvSpPr>
        <p:spPr>
          <a:xfrm>
            <a:off x="571500" y="1074421"/>
            <a:ext cx="5166360" cy="54864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逻辑视图：示意块大小4 token</a:t>
            </a:r>
          </a:p>
        </p:txBody>
      </p:sp>
      <p:sp>
        <p:nvSpPr>
          <p:cNvPr id="4" name="body:物理块池：地址可以不连续"/>
          <p:cNvSpPr txBox="1"/>
          <p:nvPr/>
        </p:nvSpPr>
        <p:spPr>
          <a:xfrm>
            <a:off x="6400800" y="1074421"/>
            <a:ext cx="5212080" cy="54864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物理块池：地址可以不连续</a:t>
            </a:r>
          </a:p>
        </p:txBody>
      </p:sp>
      <p:sp>
        <p:nvSpPr>
          <p:cNvPr id="5" name="body:请求 A"/>
          <p:cNvSpPr txBox="1"/>
          <p:nvPr/>
        </p:nvSpPr>
        <p:spPr>
          <a:xfrm>
            <a:off x="579120" y="1851660"/>
            <a:ext cx="1188720" cy="5943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请求 A</a:t>
            </a:r>
          </a:p>
        </p:txBody>
      </p:sp>
      <p:sp>
        <p:nvSpPr>
          <p:cNvPr id="6" name="body:2"/>
          <p:cNvSpPr/>
          <p:nvPr/>
        </p:nvSpPr>
        <p:spPr>
          <a:xfrm>
            <a:off x="1828800" y="1851660"/>
            <a:ext cx="960120" cy="59436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2</a:t>
            </a:r>
          </a:p>
        </p:txBody>
      </p:sp>
      <p:sp>
        <p:nvSpPr>
          <p:cNvPr id="7" name="body:7"/>
          <p:cNvSpPr/>
          <p:nvPr/>
        </p:nvSpPr>
        <p:spPr>
          <a:xfrm>
            <a:off x="2971800" y="1851660"/>
            <a:ext cx="960120" cy="59436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7</a:t>
            </a:r>
          </a:p>
        </p:txBody>
      </p:sp>
      <p:sp>
        <p:nvSpPr>
          <p:cNvPr id="8" name="body:4"/>
          <p:cNvSpPr/>
          <p:nvPr/>
        </p:nvSpPr>
        <p:spPr>
          <a:xfrm>
            <a:off x="4114800" y="1851660"/>
            <a:ext cx="960120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4</a:t>
            </a:r>
          </a:p>
        </p:txBody>
      </p:sp>
      <p:sp>
        <p:nvSpPr>
          <p:cNvPr id="9" name="body:请求 B"/>
          <p:cNvSpPr txBox="1"/>
          <p:nvPr/>
        </p:nvSpPr>
        <p:spPr>
          <a:xfrm>
            <a:off x="579120" y="2857501"/>
            <a:ext cx="1188720" cy="5943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请求 B</a:t>
            </a:r>
          </a:p>
        </p:txBody>
      </p:sp>
      <p:sp>
        <p:nvSpPr>
          <p:cNvPr id="10" name="body:2"/>
          <p:cNvSpPr/>
          <p:nvPr/>
        </p:nvSpPr>
        <p:spPr>
          <a:xfrm>
            <a:off x="1828800" y="2857501"/>
            <a:ext cx="960120" cy="59436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2</a:t>
            </a:r>
          </a:p>
        </p:txBody>
      </p:sp>
      <p:sp>
        <p:nvSpPr>
          <p:cNvPr id="11" name="body:7"/>
          <p:cNvSpPr/>
          <p:nvPr/>
        </p:nvSpPr>
        <p:spPr>
          <a:xfrm>
            <a:off x="2971800" y="2857501"/>
            <a:ext cx="960120" cy="59436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7</a:t>
            </a:r>
          </a:p>
        </p:txBody>
      </p:sp>
      <p:sp>
        <p:nvSpPr>
          <p:cNvPr id="12" name="body:9"/>
          <p:cNvSpPr/>
          <p:nvPr/>
        </p:nvSpPr>
        <p:spPr>
          <a:xfrm>
            <a:off x="4114800" y="2857501"/>
            <a:ext cx="960120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9</a:t>
            </a:r>
          </a:p>
        </p:txBody>
      </p:sp>
      <p:sp>
        <p:nvSpPr>
          <p:cNvPr id="13" name="body:0"/>
          <p:cNvSpPr/>
          <p:nvPr/>
        </p:nvSpPr>
        <p:spPr>
          <a:xfrm>
            <a:off x="6400800" y="1851660"/>
            <a:ext cx="777240" cy="5943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0</a:t>
            </a:r>
          </a:p>
        </p:txBody>
      </p:sp>
      <p:sp>
        <p:nvSpPr>
          <p:cNvPr id="14" name="body:1"/>
          <p:cNvSpPr/>
          <p:nvPr/>
        </p:nvSpPr>
        <p:spPr>
          <a:xfrm>
            <a:off x="7388352" y="1851660"/>
            <a:ext cx="777240" cy="5943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20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1</a:t>
            </a:r>
          </a:p>
        </p:txBody>
      </p:sp>
      <p:sp>
        <p:nvSpPr>
          <p:cNvPr id="15" name="body:2"/>
          <p:cNvSpPr/>
          <p:nvPr/>
        </p:nvSpPr>
        <p:spPr>
          <a:xfrm>
            <a:off x="8375904" y="1851660"/>
            <a:ext cx="777240" cy="59436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2</a:t>
            </a:r>
          </a:p>
        </p:txBody>
      </p:sp>
      <p:sp>
        <p:nvSpPr>
          <p:cNvPr id="16" name="body:3"/>
          <p:cNvSpPr/>
          <p:nvPr/>
        </p:nvSpPr>
        <p:spPr>
          <a:xfrm>
            <a:off x="9363456" y="1851660"/>
            <a:ext cx="777240" cy="5943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3</a:t>
            </a:r>
          </a:p>
        </p:txBody>
      </p:sp>
      <p:sp>
        <p:nvSpPr>
          <p:cNvPr id="17" name="body:4"/>
          <p:cNvSpPr/>
          <p:nvPr/>
        </p:nvSpPr>
        <p:spPr>
          <a:xfrm>
            <a:off x="10351008" y="1851660"/>
            <a:ext cx="777240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4</a:t>
            </a:r>
          </a:p>
        </p:txBody>
      </p:sp>
      <p:sp>
        <p:nvSpPr>
          <p:cNvPr id="18" name="body:5"/>
          <p:cNvSpPr/>
          <p:nvPr/>
        </p:nvSpPr>
        <p:spPr>
          <a:xfrm>
            <a:off x="6400800" y="2857501"/>
            <a:ext cx="777240" cy="5943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5</a:t>
            </a:r>
          </a:p>
        </p:txBody>
      </p:sp>
      <p:sp>
        <p:nvSpPr>
          <p:cNvPr id="19" name="body:6"/>
          <p:cNvSpPr/>
          <p:nvPr/>
        </p:nvSpPr>
        <p:spPr>
          <a:xfrm>
            <a:off x="7388352" y="2857501"/>
            <a:ext cx="777240" cy="5943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6</a:t>
            </a:r>
          </a:p>
        </p:txBody>
      </p:sp>
      <p:sp>
        <p:nvSpPr>
          <p:cNvPr id="20" name="body:7"/>
          <p:cNvSpPr/>
          <p:nvPr/>
        </p:nvSpPr>
        <p:spPr>
          <a:xfrm>
            <a:off x="8375904" y="2857501"/>
            <a:ext cx="777240" cy="59436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7</a:t>
            </a:r>
          </a:p>
        </p:txBody>
      </p:sp>
      <p:sp>
        <p:nvSpPr>
          <p:cNvPr id="21" name="body:8"/>
          <p:cNvSpPr/>
          <p:nvPr/>
        </p:nvSpPr>
        <p:spPr>
          <a:xfrm>
            <a:off x="9363456" y="2857501"/>
            <a:ext cx="777240" cy="5943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8</a:t>
            </a:r>
          </a:p>
        </p:txBody>
      </p:sp>
      <p:sp>
        <p:nvSpPr>
          <p:cNvPr id="22" name="body:9"/>
          <p:cNvSpPr/>
          <p:nvPr/>
        </p:nvSpPr>
        <p:spPr>
          <a:xfrm>
            <a:off x="10351008" y="2857501"/>
            <a:ext cx="777240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9</a:t>
            </a:r>
          </a:p>
        </p:txBody>
      </p:sp>
      <p:sp>
        <p:nvSpPr>
          <p:cNvPr id="23" name="body:块2和块7由A/B共享；各自追加到块4与块9。&#10;"/>
          <p:cNvSpPr/>
          <p:nvPr/>
        </p:nvSpPr>
        <p:spPr>
          <a:xfrm>
            <a:off x="502920" y="4274821"/>
            <a:ext cx="11109960" cy="8229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8308" rIns="109728" tIns="109728" bIns="109728"/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块2和块7由A/B共享；各自追加到块4与块9。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引用计数管理共享块；写入已共享的尾块时复制。</a:t>
            </a:r>
          </a:p>
        </p:txBody>
      </p:sp>
      <p:sp>
        <p:nvSpPr>
          <p:cNvPr id="24" name="body:分页减少连续预留与外部碎片；最后一个块仍可能有内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分页减少连续预留与外部碎片；最后一个块仍可能有内部碎片，容量模型必须计入尾块。</a:t>
            </a:r>
          </a:p>
        </p:txBody>
      </p:sp>
      <p:sp>
        <p:nvSpPr>
          <p:cNvPr id="25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8/24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连续批处理提高利用率，长 prefill 仍会阻塞短步</a:t>
            </a:r>
          </a:p>
        </p:txBody>
      </p:sp>
      <p:sp>
        <p:nvSpPr>
          <p:cNvPr id="3" name="body:同一GPU上的迭代示意（宽度表示相对执行时长）"/>
          <p:cNvSpPr txBox="1"/>
          <p:nvPr/>
        </p:nvSpPr>
        <p:spPr>
          <a:xfrm>
            <a:off x="563880" y="1074421"/>
            <a:ext cx="11109960" cy="45720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同一GPU上的迭代示意（宽度表示相对执行时长）</a:t>
            </a:r>
          </a:p>
        </p:txBody>
      </p:sp>
      <p:sp>
        <p:nvSpPr>
          <p:cNvPr id="4" name="body:只处理 Decode"/>
          <p:cNvSpPr txBox="1"/>
          <p:nvPr/>
        </p:nvSpPr>
        <p:spPr>
          <a:xfrm>
            <a:off x="571500" y="1943101"/>
            <a:ext cx="1988820" cy="5943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只处理 Decode</a:t>
            </a:r>
          </a:p>
        </p:txBody>
      </p:sp>
      <p:sp>
        <p:nvSpPr>
          <p:cNvPr id="5" name="body:D"/>
          <p:cNvSpPr/>
          <p:nvPr/>
        </p:nvSpPr>
        <p:spPr>
          <a:xfrm>
            <a:off x="2743200" y="1943101"/>
            <a:ext cx="777240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6" name="body:D"/>
          <p:cNvSpPr/>
          <p:nvPr/>
        </p:nvSpPr>
        <p:spPr>
          <a:xfrm>
            <a:off x="3767328" y="1943101"/>
            <a:ext cx="777240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7" name="body:D"/>
          <p:cNvSpPr/>
          <p:nvPr/>
        </p:nvSpPr>
        <p:spPr>
          <a:xfrm>
            <a:off x="4791456" y="1943101"/>
            <a:ext cx="777240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8" name="body:D"/>
          <p:cNvSpPr/>
          <p:nvPr/>
        </p:nvSpPr>
        <p:spPr>
          <a:xfrm>
            <a:off x="5815584" y="1943101"/>
            <a:ext cx="777240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9" name="body:D"/>
          <p:cNvSpPr/>
          <p:nvPr/>
        </p:nvSpPr>
        <p:spPr>
          <a:xfrm>
            <a:off x="6839712" y="1943101"/>
            <a:ext cx="777240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10" name="body:D"/>
          <p:cNvSpPr/>
          <p:nvPr/>
        </p:nvSpPr>
        <p:spPr>
          <a:xfrm>
            <a:off x="7863840" y="1943101"/>
            <a:ext cx="777240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11" name="body:D"/>
          <p:cNvSpPr/>
          <p:nvPr/>
        </p:nvSpPr>
        <p:spPr>
          <a:xfrm>
            <a:off x="8887968" y="1943101"/>
            <a:ext cx="777240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12" name="body:D"/>
          <p:cNvSpPr/>
          <p:nvPr/>
        </p:nvSpPr>
        <p:spPr>
          <a:xfrm>
            <a:off x="9912096" y="1943101"/>
            <a:ext cx="777240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13" name="body:加入长 Prefill"/>
          <p:cNvSpPr txBox="1"/>
          <p:nvPr/>
        </p:nvSpPr>
        <p:spPr>
          <a:xfrm>
            <a:off x="579120" y="3177541"/>
            <a:ext cx="1981200" cy="5943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加入长 Prefill</a:t>
            </a:r>
          </a:p>
        </p:txBody>
      </p:sp>
      <p:sp>
        <p:nvSpPr>
          <p:cNvPr id="14" name="body:D"/>
          <p:cNvSpPr/>
          <p:nvPr/>
        </p:nvSpPr>
        <p:spPr>
          <a:xfrm>
            <a:off x="2743200" y="3177541"/>
            <a:ext cx="777240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15" name="body:P：长输入"/>
          <p:cNvSpPr/>
          <p:nvPr/>
        </p:nvSpPr>
        <p:spPr>
          <a:xfrm>
            <a:off x="3767328" y="3177541"/>
            <a:ext cx="3840480" cy="59436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P：长输入</a:t>
            </a:r>
          </a:p>
        </p:txBody>
      </p:sp>
      <p:sp>
        <p:nvSpPr>
          <p:cNvPr id="16" name="body:D"/>
          <p:cNvSpPr/>
          <p:nvPr/>
        </p:nvSpPr>
        <p:spPr>
          <a:xfrm>
            <a:off x="7863840" y="3177541"/>
            <a:ext cx="777240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17" name="body:D"/>
          <p:cNvSpPr/>
          <p:nvPr/>
        </p:nvSpPr>
        <p:spPr>
          <a:xfrm>
            <a:off x="8887967" y="3177541"/>
            <a:ext cx="777240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18" name="body:D"/>
          <p:cNvSpPr/>
          <p:nvPr/>
        </p:nvSpPr>
        <p:spPr>
          <a:xfrm>
            <a:off x="9912096" y="3177541"/>
            <a:ext cx="777240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19" name="body:新请求不必等整批结束；完成的序列退出，等待序列进"/>
          <p:cNvSpPr/>
          <p:nvPr/>
        </p:nvSpPr>
        <p:spPr>
          <a:xfrm>
            <a:off x="502920" y="4229101"/>
            <a:ext cx="11109960" cy="9144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8308" rIns="109728" tIns="109728" bIns="109728"/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新请求不必等整批结束；完成的序列退出，等待序列进入。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当长 prefill 占据一次迭代，其间已有输出流暂停，ITL尾部拉长。</a:t>
            </a:r>
          </a:p>
        </p:txBody>
      </p:sp>
      <p:sp>
        <p:nvSpPr>
          <p:cNvPr id="20" name="body:将活跃序列数、每轮 token 预算和输入长度一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将活跃序列数、每轮 token 预算和输入长度一起观察，才能区分计算饱和、队列积压与 KV 不足。</a:t>
            </a:r>
          </a:p>
        </p:txBody>
      </p:sp>
      <p:sp>
        <p:nvSpPr>
          <p:cNvPr id="21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9/24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Chunked Prefill 把长输入拆进 Decode 的剩余预算</a:t>
            </a:r>
          </a:p>
        </p:txBody>
      </p:sp>
      <p:sp>
        <p:nvSpPr>
          <p:cNvPr id="3" name="body:设计示例：每轮token预算 B=2,048；3"/>
          <p:cNvSpPr/>
          <p:nvPr/>
        </p:nvSpPr>
        <p:spPr>
          <a:xfrm>
            <a:off x="502920" y="1139190"/>
            <a:ext cx="11109960" cy="54864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设计示例：每轮token预算 B=2,048；32个Decode序列先占32</a:t>
            </a:r>
          </a:p>
        </p:txBody>
      </p:sp>
      <p:sp>
        <p:nvSpPr>
          <p:cNvPr id="4" name="body:先排 Decode&#10;32 token"/>
          <p:cNvSpPr/>
          <p:nvPr/>
        </p:nvSpPr>
        <p:spPr>
          <a:xfrm>
            <a:off x="502920" y="2099310"/>
            <a:ext cx="2606040" cy="114300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先排 Decode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32 token</a:t>
            </a:r>
          </a:p>
        </p:txBody>
      </p:sp>
      <p:cxnSp>
        <p:nvCxnSpPr>
          <p:cNvPr id="5" name="connector:flow"/>
          <p:cNvCxnSpPr/>
          <p:nvPr/>
        </p:nvCxnSpPr>
        <p:spPr>
          <a:xfrm>
            <a:off x="3108960" y="2693670"/>
            <a:ext cx="228600" cy="0"/>
          </a:xfrm>
          <a:prstGeom prst="line">
            <a:avLst/>
          </a:prstGeom>
          <a:ln w="17780">
            <a:solidFill>
              <a:srgbClr val="243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ody:计算余量&#10;2,048 − 32"/>
          <p:cNvSpPr/>
          <p:nvPr/>
        </p:nvSpPr>
        <p:spPr>
          <a:xfrm>
            <a:off x="3337560" y="2099310"/>
            <a:ext cx="2606040" cy="114300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计算余量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2,048 − 32</a:t>
            </a:r>
          </a:p>
        </p:txBody>
      </p:sp>
      <p:cxnSp>
        <p:nvCxnSpPr>
          <p:cNvPr id="7" name="connector:flow"/>
          <p:cNvCxnSpPr/>
          <p:nvPr/>
        </p:nvCxnSpPr>
        <p:spPr>
          <a:xfrm>
            <a:off x="5943600" y="2693670"/>
            <a:ext cx="228600" cy="0"/>
          </a:xfrm>
          <a:prstGeom prst="line">
            <a:avLst/>
          </a:prstGeom>
          <a:ln w="17780">
            <a:solidFill>
              <a:srgbClr val="243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ody:放入 Prefill&#10;最多2,016 token"/>
          <p:cNvSpPr/>
          <p:nvPr/>
        </p:nvSpPr>
        <p:spPr>
          <a:xfrm>
            <a:off x="6172200" y="2099310"/>
            <a:ext cx="2606040" cy="114300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放入 Prefill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最多2,016 token</a:t>
            </a:r>
          </a:p>
        </p:txBody>
      </p:sp>
      <p:cxnSp>
        <p:nvCxnSpPr>
          <p:cNvPr id="9" name="connector:flow"/>
          <p:cNvCxnSpPr/>
          <p:nvPr/>
        </p:nvCxnSpPr>
        <p:spPr>
          <a:xfrm>
            <a:off x="8778240" y="2693670"/>
            <a:ext cx="228600" cy="0"/>
          </a:xfrm>
          <a:prstGeom prst="line">
            <a:avLst/>
          </a:prstGeom>
          <a:ln w="17780">
            <a:solidFill>
              <a:srgbClr val="243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ody:下一轮继续&#10;8,192输入约5轮"/>
          <p:cNvSpPr/>
          <p:nvPr/>
        </p:nvSpPr>
        <p:spPr>
          <a:xfrm>
            <a:off x="9006840" y="2099310"/>
            <a:ext cx="2606040" cy="114300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下一轮继续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8,192输入约5轮</a:t>
            </a:r>
          </a:p>
        </p:txBody>
      </p:sp>
      <p:sp>
        <p:nvSpPr>
          <p:cNvPr id="11" name="body:预算较小"/>
          <p:cNvSpPr/>
          <p:nvPr/>
        </p:nvSpPr>
        <p:spPr>
          <a:xfrm>
            <a:off x="502920" y="3745230"/>
            <a:ext cx="5454396" cy="59436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预算较小</a:t>
            </a:r>
          </a:p>
        </p:txBody>
      </p:sp>
      <p:sp>
        <p:nvSpPr>
          <p:cNvPr id="12" name="body:单轮 prefill 较短，输出卡顿减轻；输入分"/>
          <p:cNvSpPr/>
          <p:nvPr/>
        </p:nvSpPr>
        <p:spPr>
          <a:xfrm>
            <a:off x="502920" y="4522469"/>
            <a:ext cx="5454396" cy="6400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单轮 prefill 较短，输出卡顿减轻；输入分更多轮完成。</a:t>
            </a:r>
          </a:p>
        </p:txBody>
      </p:sp>
      <p:sp>
        <p:nvSpPr>
          <p:cNvPr id="13" name="body:预算较大"/>
          <p:cNvSpPr/>
          <p:nvPr/>
        </p:nvSpPr>
        <p:spPr>
          <a:xfrm>
            <a:off x="6158483" y="3745230"/>
            <a:ext cx="5454396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预算较大</a:t>
            </a:r>
          </a:p>
        </p:txBody>
      </p:sp>
      <p:sp>
        <p:nvSpPr>
          <p:cNvPr id="14" name="body:首 token 可更快完成；共批 decode "/>
          <p:cNvSpPr/>
          <p:nvPr/>
        </p:nvSpPr>
        <p:spPr>
          <a:xfrm>
            <a:off x="6158483" y="4522469"/>
            <a:ext cx="5454396" cy="6400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首 token 可更快完成；共批 decode 的迭代时长上升。</a:t>
            </a:r>
          </a:p>
        </p:txBody>
      </p:sp>
      <p:sp>
        <p:nvSpPr>
          <p:cNvPr id="15" name="body:从冷缓存、长输入和突发流量回放中选择预算；以联合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从冷缓存、长输入和突发流量回放中选择预算；以联合 SLO 达标率检验，避免只优化平均 token/s。</a:t>
            </a:r>
          </a:p>
        </p:txBody>
      </p:sp>
      <p:sp>
        <p:nvSpPr>
          <p:cNvPr id="16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10/24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准入控制提前约束未来 KV，而非等到 OOM</a:t>
            </a:r>
          </a:p>
        </p:txBody>
      </p:sp>
      <p:graphicFrame>
        <p:nvGraphicFramePr>
          <p:cNvPr id="3" name="table:comparison"/>
          <p:cNvGraphicFramePr>
            <a:graphicFrameLocks noGrp="1"/>
          </p:cNvGraphicFramePr>
          <p:nvPr/>
        </p:nvGraphicFramePr>
        <p:xfrm>
          <a:off x="502920" y="1162050"/>
          <a:ext cx="111099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703320"/>
                <a:gridCol w="5989320"/>
              </a:tblGrid>
              <a:tr h="6629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入口门槛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预算 / 状态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动作与隔离边界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请求级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输入token + max_output ≤ 上限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超长请求转异步摘要或拒绝；显式返回原因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租户级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并发、排队token、缓存盐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交互请求与离线任务分队列；防止共享缓存跨权域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实例级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空闲KV块 − 已预留增长空间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先预留增长额度；内存不足时停止接入新会话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队列级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等待时间 + 预计执行 &gt; deadline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及时拒绝或降级；取消后释放块与租约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调度级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优先级 + aging + 每租户权重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保障交互响应，同时给长期等待任务推进机会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4" name="body:内存抢占触发重算会同时放大计算与延迟压力；准入预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内存抢占触发重算会同时放大计算与延迟压力；准入预算应覆盖输入、输出增长及传输驻留。</a:t>
            </a:r>
          </a:p>
        </p:txBody>
      </p:sp>
      <p:sp>
        <p:nvSpPr>
          <p:cNvPr id="5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11/24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公开实验：ITL 尾部变平，TTFT 却超过目标</a:t>
            </a:r>
          </a:p>
        </p:txBody>
      </p:sp>
      <p:graphicFrame>
        <p:nvGraphicFramePr>
          <p:cNvPr id="3" name="chart:ITL / ms"/>
          <p:cNvGraphicFramePr>
            <a:graphicFrameLocks noGrp="1"/>
          </p:cNvGraphicFramePr>
          <p:nvPr/>
        </p:nvGraphicFramePr>
        <p:xfrm>
          <a:off x="502920" y="1207770"/>
          <a:ext cx="6858000" cy="3886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body:Qwen2.5-7B-Instruct&#10;2×L4"/>
          <p:cNvSpPr/>
          <p:nvPr/>
        </p:nvSpPr>
        <p:spPr>
          <a:xfrm>
            <a:off x="7680960" y="1207770"/>
            <a:ext cx="3931920" cy="24688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Qwen2.5-7B-Instruct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2×L40S 48 GB；无NVLink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约8K输入 / 256输出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每档100次Poisson到达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前缀缓存关闭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同机：单进程DP=2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解耦：1P+1D，NIXL</a:t>
            </a:r>
          </a:p>
        </p:txBody>
      </p:sp>
      <p:sp>
        <p:nvSpPr>
          <p:cNvPr id="5" name="body:0.2 req/s 的中位TTFT&#10;同机0.7 "/>
          <p:cNvSpPr/>
          <p:nvPr/>
        </p:nvSpPr>
        <p:spPr>
          <a:xfrm>
            <a:off x="7680960" y="3905249"/>
            <a:ext cx="3931920" cy="118872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0.2 req/s 的中位TTFT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同机0.7 s → 解耦2.2 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约470 MB KV传输耗时1.3 s</a:t>
            </a:r>
          </a:p>
        </p:txBody>
      </p:sp>
      <p:sp>
        <p:nvSpPr>
          <p:cNvPr id="6" name="body:双 L40S 未支持 GPU P2P；解耦先解决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双 L40S 未支持 GPU P2P；解耦先解决了输出卡顿，传输完成检测与拷贝路径仍支配首 token。</a:t>
            </a:r>
          </a:p>
        </p:txBody>
      </p:sp>
      <p:sp>
        <p:nvSpPr>
          <p:cNvPr id="7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12/24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TP / PP / DP / EP 解决不同的扩容约束</a:t>
            </a:r>
          </a:p>
        </p:txBody>
      </p:sp>
      <p:graphicFrame>
        <p:nvGraphicFramePr>
          <p:cNvPr id="3" name="table:comparison"/>
          <p:cNvGraphicFramePr>
            <a:graphicFrameLocks noGrp="1"/>
          </p:cNvGraphicFramePr>
          <p:nvPr/>
        </p:nvGraphicFramePr>
        <p:xfrm>
          <a:off x="502920" y="1162050"/>
          <a:ext cx="111099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57400"/>
                <a:gridCol w="2286000"/>
                <a:gridCol w="2834640"/>
                <a:gridCol w="3200400"/>
              </a:tblGrid>
              <a:tr h="6629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方式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拆分对象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主要收益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主要代价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本场景起点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TP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单层张量 / 算子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分摊权重与计算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每层集合通信；要求高带宽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模型能单卡时先测TP=1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PP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模型层 / 流水阶段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跨卡容纳大模型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流水气泡；阶段间等待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模型跨节点时考虑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DP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完整模型副本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请求水平扩容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重复权重；缓存分散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单卡可装下时增副本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EP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MoE专家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专家权重分布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token All-to-All；负载不均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Qwen2.5-7B为稠密模型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组合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TP×PP后再复制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适配容量与服务流量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运维和路由状态增多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P池与D池分别寻找配置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4" name="body:先满足单实例显存与时延，再复制实例扩吞吐；跨节点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先满足单实例显存与时延，再复制实例扩吞吐；跨节点 TP 的通信成本必须与拆池传输一起测。</a:t>
            </a:r>
          </a:p>
        </p:txBody>
      </p:sp>
      <p:sp>
        <p:nvSpPr>
          <p:cNvPr id="5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13/24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48006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P/D 解耦将调度、KV 交接与输出流组成闭环</a:t>
            </a:r>
          </a:p>
        </p:txBody>
      </p:sp>
      <p:sp>
        <p:nvSpPr>
          <p:cNvPr id="3" name="body:网关 / 认证&#10;请求与取消"/>
          <p:cNvSpPr/>
          <p:nvPr/>
        </p:nvSpPr>
        <p:spPr>
          <a:xfrm>
            <a:off x="502920" y="2625089"/>
            <a:ext cx="1828800" cy="91440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网关 / 认证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请求与取消</a:t>
            </a:r>
          </a:p>
        </p:txBody>
      </p:sp>
      <p:sp>
        <p:nvSpPr>
          <p:cNvPr id="4" name="body:路由与准入&#10;预算与截止时间"/>
          <p:cNvSpPr/>
          <p:nvPr/>
        </p:nvSpPr>
        <p:spPr>
          <a:xfrm>
            <a:off x="2743200" y="2625089"/>
            <a:ext cx="2331720" cy="91440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路由与准入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预算与截止时间</a:t>
            </a:r>
          </a:p>
        </p:txBody>
      </p:sp>
      <p:sp>
        <p:nvSpPr>
          <p:cNvPr id="5" name="body:Prefill 资源池&#10;P₁  P₂  …"/>
          <p:cNvSpPr/>
          <p:nvPr/>
        </p:nvSpPr>
        <p:spPr>
          <a:xfrm>
            <a:off x="5486400" y="1299209"/>
            <a:ext cx="2423160" cy="96012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Prefill 资源池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P₁  P₂  …</a:t>
            </a:r>
          </a:p>
        </p:txBody>
      </p:sp>
      <p:sp>
        <p:nvSpPr>
          <p:cNvPr id="6" name="body:Decode 资源池&#10;D₁  D₂  …"/>
          <p:cNvSpPr/>
          <p:nvPr/>
        </p:nvSpPr>
        <p:spPr>
          <a:xfrm>
            <a:off x="8321040" y="2625089"/>
            <a:ext cx="2788920" cy="96012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Decode 资源池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D₁  D₂  …</a:t>
            </a:r>
          </a:p>
        </p:txBody>
      </p:sp>
      <p:sp>
        <p:nvSpPr>
          <p:cNvPr id="7" name="body:KV目录与租约&#10;块地址 / 版本 / 完成态"/>
          <p:cNvSpPr/>
          <p:nvPr/>
        </p:nvSpPr>
        <p:spPr>
          <a:xfrm>
            <a:off x="5486400" y="4042408"/>
            <a:ext cx="2423160" cy="96012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KV目录与租约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块地址 / 版本 / 完成态</a:t>
            </a:r>
          </a:p>
        </p:txBody>
      </p:sp>
      <p:sp>
        <p:nvSpPr>
          <p:cNvPr id="8" name="body:持久文档 / 检索&#10;权限过滤后的上下文"/>
          <p:cNvSpPr/>
          <p:nvPr/>
        </p:nvSpPr>
        <p:spPr>
          <a:xfrm>
            <a:off x="502920" y="4042408"/>
            <a:ext cx="4572000" cy="9601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持久文档 / 检索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权限过滤后的上下文</a:t>
            </a:r>
          </a:p>
        </p:txBody>
      </p:sp>
      <p:cxnSp>
        <p:nvCxnSpPr>
          <p:cNvPr id="9" name="connector:flow"/>
          <p:cNvCxnSpPr/>
          <p:nvPr/>
        </p:nvCxnSpPr>
        <p:spPr>
          <a:xfrm>
            <a:off x="2331720" y="3082289"/>
            <a:ext cx="411480" cy="0"/>
          </a:xfrm>
          <a:prstGeom prst="line">
            <a:avLst/>
          </a:prstGeom>
          <a:ln w="17780">
            <a:solidFill>
              <a:srgbClr val="243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flow"/>
          <p:cNvCxnSpPr/>
          <p:nvPr/>
        </p:nvCxnSpPr>
        <p:spPr>
          <a:xfrm flipV="1">
            <a:off x="3886200" y="1783841"/>
            <a:ext cx="0" cy="841248"/>
          </a:xfrm>
          <a:prstGeom prst="line">
            <a:avLst/>
          </a:prstGeom>
          <a:ln w="17780">
            <a:solidFill>
              <a:srgbClr val="243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flow"/>
          <p:cNvCxnSpPr/>
          <p:nvPr/>
        </p:nvCxnSpPr>
        <p:spPr>
          <a:xfrm>
            <a:off x="3886200" y="1783841"/>
            <a:ext cx="1600200" cy="0"/>
          </a:xfrm>
          <a:prstGeom prst="line">
            <a:avLst/>
          </a:prstGeom>
          <a:ln w="17780">
            <a:solidFill>
              <a:srgbClr val="243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flow"/>
          <p:cNvCxnSpPr/>
          <p:nvPr/>
        </p:nvCxnSpPr>
        <p:spPr>
          <a:xfrm>
            <a:off x="7909560" y="1783841"/>
            <a:ext cx="1783080" cy="0"/>
          </a:xfrm>
          <a:prstGeom prst="line">
            <a:avLst/>
          </a:prstGeom>
          <a:ln w="17780">
            <a:solidFill>
              <a:srgbClr val="F6B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flow"/>
          <p:cNvCxnSpPr/>
          <p:nvPr/>
        </p:nvCxnSpPr>
        <p:spPr>
          <a:xfrm>
            <a:off x="9692640" y="1783841"/>
            <a:ext cx="0" cy="841248"/>
          </a:xfrm>
          <a:prstGeom prst="line">
            <a:avLst/>
          </a:prstGeom>
          <a:ln w="17780">
            <a:solidFill>
              <a:srgbClr val="F6B0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flow"/>
          <p:cNvCxnSpPr/>
          <p:nvPr/>
        </p:nvCxnSpPr>
        <p:spPr>
          <a:xfrm>
            <a:off x="7909560" y="1985009"/>
            <a:ext cx="228600" cy="0"/>
          </a:xfrm>
          <a:prstGeom prst="line">
            <a:avLst/>
          </a:prstGeom>
          <a:ln w="17780">
            <a:solidFill>
              <a:srgbClr val="F6B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flow"/>
          <p:cNvCxnSpPr/>
          <p:nvPr/>
        </p:nvCxnSpPr>
        <p:spPr>
          <a:xfrm>
            <a:off x="8138159" y="1985008"/>
            <a:ext cx="0" cy="1828800"/>
          </a:xfrm>
          <a:prstGeom prst="line">
            <a:avLst/>
          </a:prstGeom>
          <a:ln w="17780">
            <a:solidFill>
              <a:srgbClr val="F6B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flow"/>
          <p:cNvCxnSpPr/>
          <p:nvPr/>
        </p:nvCxnSpPr>
        <p:spPr>
          <a:xfrm flipH="1">
            <a:off x="6697980" y="3813808"/>
            <a:ext cx="1440179" cy="0"/>
          </a:xfrm>
          <a:prstGeom prst="line">
            <a:avLst/>
          </a:prstGeom>
          <a:ln w="17780">
            <a:solidFill>
              <a:srgbClr val="F6B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flow"/>
          <p:cNvCxnSpPr/>
          <p:nvPr/>
        </p:nvCxnSpPr>
        <p:spPr>
          <a:xfrm flipH="1">
            <a:off x="6697980" y="3813808"/>
            <a:ext cx="0" cy="228600"/>
          </a:xfrm>
          <a:prstGeom prst="line">
            <a:avLst/>
          </a:prstGeom>
          <a:ln w="17780">
            <a:solidFill>
              <a:srgbClr val="F6B0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flow"/>
          <p:cNvCxnSpPr/>
          <p:nvPr/>
        </p:nvCxnSpPr>
        <p:spPr>
          <a:xfrm flipV="1">
            <a:off x="1417320" y="3539489"/>
            <a:ext cx="0" cy="502919"/>
          </a:xfrm>
          <a:prstGeom prst="line">
            <a:avLst/>
          </a:prstGeom>
          <a:ln w="17780">
            <a:solidFill>
              <a:srgbClr val="243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flow"/>
          <p:cNvCxnSpPr/>
          <p:nvPr/>
        </p:nvCxnSpPr>
        <p:spPr>
          <a:xfrm>
            <a:off x="7909560" y="4499609"/>
            <a:ext cx="1783080" cy="0"/>
          </a:xfrm>
          <a:prstGeom prst="line">
            <a:avLst/>
          </a:prstGeom>
          <a:ln w="17780">
            <a:solidFill>
              <a:srgbClr val="F6B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flow"/>
          <p:cNvCxnSpPr/>
          <p:nvPr/>
        </p:nvCxnSpPr>
        <p:spPr>
          <a:xfrm flipV="1">
            <a:off x="9692640" y="3585209"/>
            <a:ext cx="0" cy="914400"/>
          </a:xfrm>
          <a:prstGeom prst="line">
            <a:avLst/>
          </a:prstGeom>
          <a:ln w="17780">
            <a:solidFill>
              <a:srgbClr val="F6B0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flow"/>
          <p:cNvCxnSpPr/>
          <p:nvPr/>
        </p:nvCxnSpPr>
        <p:spPr>
          <a:xfrm flipH="1">
            <a:off x="5074920" y="3265169"/>
            <a:ext cx="3246120" cy="0"/>
          </a:xfrm>
          <a:prstGeom prst="line">
            <a:avLst/>
          </a:prstGeom>
          <a:ln w="17780">
            <a:solidFill>
              <a:srgbClr val="5DC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body:流式 token / 结束 / 取消确认"/>
          <p:cNvSpPr txBox="1"/>
          <p:nvPr/>
        </p:nvSpPr>
        <p:spPr>
          <a:xfrm>
            <a:off x="5280660" y="3402329"/>
            <a:ext cx="2834640" cy="45720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DC2C4"/>
                </a:solidFill>
                <a:latin typeface="微软雅黑"/>
              </a:defRPr>
            </a:pPr>
            <a:r>
              <a:rPr>
                <a:ea typeface="微软雅黑"/>
              </a:rPr>
              <a:t>流式 token / 结束 / 取消确认</a:t>
            </a:r>
          </a:p>
        </p:txBody>
      </p:sp>
      <p:sp>
        <p:nvSpPr>
          <p:cNvPr id="23" name="body:计算路径、KV数据路径、取消与租约控制路径分别限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计算路径、KV数据路径、取消与租约控制路径分别限流；Decoder接管成功后才释放源端驻留。</a:t>
            </a:r>
          </a:p>
        </p:txBody>
      </p:sp>
      <p:sp>
        <p:nvSpPr>
          <p:cNvPr id="24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14/24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网络线速给出下界，交接开销决定真实 TTFT</a:t>
            </a:r>
          </a:p>
        </p:txBody>
      </p:sp>
      <p:graphicFrame>
        <p:nvGraphicFramePr>
          <p:cNvPr id="3" name="chart:理想传输下界 / ms"/>
          <p:cNvGraphicFramePr>
            <a:graphicFrameLocks noGrp="1"/>
          </p:cNvGraphicFramePr>
          <p:nvPr/>
        </p:nvGraphicFramePr>
        <p:xfrm>
          <a:off x="502920" y="1207770"/>
          <a:ext cx="6858000" cy="3886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body:8,192 token → 448 MiB&#10;10"/>
          <p:cNvSpPr/>
          <p:nvPr/>
        </p:nvSpPr>
        <p:spPr>
          <a:xfrm>
            <a:off x="7680960" y="1207770"/>
            <a:ext cx="3931920" cy="38862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8,192 token → 448 MiB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100 Gb/s：37.6 ms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200 Gb/s：18.8 ms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400 Gb/s：9.4 ms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T交接 = 分配 + 协议 +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拷贝 + 完成检测 + 排队</a:t>
            </a:r>
          </a:p>
        </p:txBody>
      </p:sp>
      <p:sp>
        <p:nvSpPr>
          <p:cNvPr id="5" name="body:公式按100%线速、无争用计算；实测要包含GPU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公式按100%线速、无争用计算；实测要包含GPU↔NIC路径、主机中转、块布局变换和并发传输。</a:t>
            </a:r>
          </a:p>
        </p:txBody>
      </p:sp>
      <p:sp>
        <p:nvSpPr>
          <p:cNvPr id="6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15/24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路由在缓存命中与队列等待之间做显式权衡</a:t>
            </a:r>
          </a:p>
        </p:txBody>
      </p:sp>
      <p:sp>
        <p:nvSpPr>
          <p:cNvPr id="3" name="body:首 token 前主要开销：排队 + 未命中 P"/>
          <p:cNvSpPr/>
          <p:nvPr/>
        </p:nvSpPr>
        <p:spPr>
          <a:xfrm>
            <a:off x="502920" y="1143000"/>
            <a:ext cx="11109960" cy="5943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首 token 前主要开销：排队 + 未命中 Prefill + KV 交接</a:t>
            </a:r>
          </a:p>
        </p:txBody>
      </p:sp>
      <p:graphicFrame>
        <p:nvGraphicFramePr>
          <p:cNvPr id="4" name="table:comparison"/>
          <p:cNvGraphicFramePr>
            <a:graphicFrameLocks noGrp="1"/>
          </p:cNvGraphicFramePr>
          <p:nvPr/>
        </p:nvGraphicFramePr>
        <p:xfrm>
          <a:off x="502920" y="2057400"/>
          <a:ext cx="11109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286000"/>
                <a:gridCol w="3840480"/>
                <a:gridCol w="2194560"/>
              </a:tblGrid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候选实例（示例）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缓存命中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排队 / 执行 / 交接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首 token预计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A：会话亲和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6,144 token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0.80 + 0.20 + 0.02 s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1.02 s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B：空闲副本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0 token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0.05 + 0.65 + 0.02 s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0.72 s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路由动作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选B并更新会话位置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携带相同token IDs、模型和模板版本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优先满足deadline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body:会话状态：conversation_id → 模"/>
          <p:cNvSpPr/>
          <p:nvPr/>
        </p:nvSpPr>
        <p:spPr>
          <a:xfrm>
            <a:off x="502920" y="4617720"/>
            <a:ext cx="11109960" cy="54864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59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会话状态：conversation_id → 模型版本 → token前缀哈希 → KV位置 / 租约</a:t>
            </a:r>
          </a:p>
        </p:txBody>
      </p:sp>
      <p:sp>
        <p:nvSpPr>
          <p:cNvPr id="6" name="body:多轮回传 KV 时必须保持聊天模板与实际 tok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多轮回传 KV 时必须保持聊天模板与实际 token 前缀一致；删除历史推理片段会破坏缓存语义。</a:t>
            </a:r>
          </a:p>
        </p:txBody>
      </p:sp>
      <p:sp>
        <p:nvSpPr>
          <p:cNvPr id="7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16/24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资源池按瓶颈独立扩展，拓扑优先级进入调度</a:t>
            </a:r>
          </a:p>
        </p:txBody>
      </p:sp>
      <p:sp>
        <p:nvSpPr>
          <p:cNvPr id="3" name="body:节点 1 · 同机高速互联"/>
          <p:cNvSpPr/>
          <p:nvPr/>
        </p:nvSpPr>
        <p:spPr>
          <a:xfrm>
            <a:off x="502920" y="1573530"/>
            <a:ext cx="5440680" cy="54864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节点 1 · 同机高速互联</a:t>
            </a:r>
          </a:p>
        </p:txBody>
      </p:sp>
      <p:sp>
        <p:nvSpPr>
          <p:cNvPr id="4" name="body:P分片&#10;同层KV生产"/>
          <p:cNvSpPr/>
          <p:nvPr/>
        </p:nvSpPr>
        <p:spPr>
          <a:xfrm>
            <a:off x="502920" y="2396490"/>
            <a:ext cx="2468880" cy="109728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P分片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同层KV生产</a:t>
            </a:r>
          </a:p>
        </p:txBody>
      </p:sp>
      <p:sp>
        <p:nvSpPr>
          <p:cNvPr id="5" name="body:D分片&#10;同层KV消费"/>
          <p:cNvSpPr/>
          <p:nvPr/>
        </p:nvSpPr>
        <p:spPr>
          <a:xfrm>
            <a:off x="3474720" y="2396490"/>
            <a:ext cx="2468880" cy="109728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D分片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同层KV消费</a:t>
            </a:r>
          </a:p>
        </p:txBody>
      </p:sp>
      <p:cxnSp>
        <p:nvCxnSpPr>
          <p:cNvPr id="6" name="connector:flow"/>
          <p:cNvCxnSpPr/>
          <p:nvPr/>
        </p:nvCxnSpPr>
        <p:spPr>
          <a:xfrm>
            <a:off x="2971800" y="2945130"/>
            <a:ext cx="502920" cy="0"/>
          </a:xfrm>
          <a:prstGeom prst="line">
            <a:avLst/>
          </a:prstGeom>
          <a:ln w="25400">
            <a:solidFill>
              <a:srgbClr val="F6B0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body:对应层KV留在本节点；PP激活跨节点"/>
          <p:cNvSpPr/>
          <p:nvPr/>
        </p:nvSpPr>
        <p:spPr>
          <a:xfrm>
            <a:off x="502920" y="3813810"/>
            <a:ext cx="5440680" cy="5943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对应层KV留在本节点；PP激活跨节点</a:t>
            </a:r>
          </a:p>
        </p:txBody>
      </p:sp>
      <p:sp>
        <p:nvSpPr>
          <p:cNvPr id="8" name="body:节点 2 · 同机高速互联"/>
          <p:cNvSpPr/>
          <p:nvPr/>
        </p:nvSpPr>
        <p:spPr>
          <a:xfrm>
            <a:off x="6172200" y="1573530"/>
            <a:ext cx="5440680" cy="54864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节点 2 · 同机高速互联</a:t>
            </a:r>
          </a:p>
        </p:txBody>
      </p:sp>
      <p:sp>
        <p:nvSpPr>
          <p:cNvPr id="9" name="body:P分片&#10;同层KV生产"/>
          <p:cNvSpPr/>
          <p:nvPr/>
        </p:nvSpPr>
        <p:spPr>
          <a:xfrm>
            <a:off x="6172200" y="2396490"/>
            <a:ext cx="2468880" cy="109728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P分片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同层KV生产</a:t>
            </a:r>
          </a:p>
        </p:txBody>
      </p:sp>
      <p:sp>
        <p:nvSpPr>
          <p:cNvPr id="10" name="body:D分片&#10;同层KV消费"/>
          <p:cNvSpPr/>
          <p:nvPr/>
        </p:nvSpPr>
        <p:spPr>
          <a:xfrm>
            <a:off x="9144000" y="2396490"/>
            <a:ext cx="2468880" cy="109728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D分片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同层KV消费</a:t>
            </a:r>
          </a:p>
        </p:txBody>
      </p:sp>
      <p:cxnSp>
        <p:nvCxnSpPr>
          <p:cNvPr id="11" name="connector:flow"/>
          <p:cNvCxnSpPr/>
          <p:nvPr/>
        </p:nvCxnSpPr>
        <p:spPr>
          <a:xfrm>
            <a:off x="8641080" y="2945130"/>
            <a:ext cx="502920" cy="0"/>
          </a:xfrm>
          <a:prstGeom prst="line">
            <a:avLst/>
          </a:prstGeom>
          <a:ln w="25400">
            <a:solidFill>
              <a:srgbClr val="F6B0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body:对应层KV留在本节点；PP激活跨节点"/>
          <p:cNvSpPr/>
          <p:nvPr/>
        </p:nvSpPr>
        <p:spPr>
          <a:xfrm>
            <a:off x="6172200" y="3813810"/>
            <a:ext cx="5440680" cy="5943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对应层KV留在本节点；PP激活跨节点</a:t>
            </a:r>
          </a:p>
        </p:txBody>
      </p:sp>
      <p:cxnSp>
        <p:nvCxnSpPr>
          <p:cNvPr id="13" name="connector:flow"/>
          <p:cNvCxnSpPr/>
          <p:nvPr/>
        </p:nvCxnSpPr>
        <p:spPr>
          <a:xfrm>
            <a:off x="5943600" y="4110990"/>
            <a:ext cx="228600" cy="0"/>
          </a:xfrm>
          <a:prstGeom prst="line">
            <a:avLst/>
          </a:prstGeom>
          <a:ln w="25400">
            <a:solidFill>
              <a:srgbClr val="243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body:DistServe在25Gb/s跨节点测试床将对"/>
          <p:cNvSpPr/>
          <p:nvPr/>
        </p:nvSpPr>
        <p:spPr>
          <a:xfrm>
            <a:off x="502920" y="5232400"/>
            <a:ext cx="11109960" cy="80264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t>跨节点网络：测量端到端有效带宽与拥塞。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t>DistServe在25Gb/s跨节点测试床将对应阶段P/D配对到同节点；拓扑约束改变最优并行组合。</a:t>
            </a:r>
          </a:p>
        </p:txBody>
      </p:sp>
      <p:sp>
        <p:nvSpPr>
          <p:cNvPr id="16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17/24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公开结果的比较单元必须固定模型、负载和 SLO</a:t>
            </a:r>
          </a:p>
        </p:txBody>
      </p:sp>
      <p:graphicFrame>
        <p:nvGraphicFramePr>
          <p:cNvPr id="3" name="table:comparison"/>
          <p:cNvGraphicFramePr>
            <a:graphicFrameLocks noGrp="1"/>
          </p:cNvGraphicFramePr>
          <p:nvPr/>
        </p:nvGraphicFramePr>
        <p:xfrm>
          <a:off x="502920" y="1158240"/>
          <a:ext cx="111099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057400"/>
                <a:gridCol w="2057400"/>
                <a:gridCol w="4297680"/>
              </a:tblGrid>
              <a:tr h="6057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DistServe 2024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vLLM基线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DistServe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条件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代码补全 / OPT-66B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1.0×请求率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5.7×请求率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HumanEval；TTFT125ms / TPOT200ms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文档摘要 / OPT-66B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1.0×请求率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4.3×请求率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LongBench；TTFT15s / TPOT150ms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统一口径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每GPU达标请求率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目标达标率90%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FP16；A100-80GB；Poisson到达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4" name="body:MLPerf Server：带延迟约束的随机到达"/>
          <p:cNvSpPr/>
          <p:nvPr/>
        </p:nvSpPr>
        <p:spPr>
          <a:xfrm>
            <a:off x="502920" y="3901440"/>
            <a:ext cx="5394960" cy="123444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7639" rIns="167639" tIns="167639" bIns="167639"/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MLPerf Server：带延迟约束的随机到达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MLPerf Offline：批量到达，优化总吞吐</a:t>
            </a:r>
          </a:p>
        </p:txBody>
      </p:sp>
      <p:sp>
        <p:nvSpPr>
          <p:cNvPr id="5" name="body:采购复测锁定：模型/精度/准确率门槛&#10;输入输出分"/>
          <p:cNvSpPr/>
          <p:nvPr/>
        </p:nvSpPr>
        <p:spPr>
          <a:xfrm>
            <a:off x="6126480" y="3901440"/>
            <a:ext cx="5486400" cy="123444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采购复测锁定：模型/精度/准确率门槛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输入输出分布/硬件数/场景/计量单位</a:t>
            </a:r>
          </a:p>
        </p:txBody>
      </p:sp>
      <p:sp>
        <p:nvSpPr>
          <p:cNvPr id="6" name="body:长上下文助手应重放自己的8K/32K分布；Dis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长上下文助手应重放自己的8K/32K分布；DistServe摘要输入受OPT窗口约束，被截到2,048 token。</a:t>
            </a:r>
          </a:p>
        </p:txBody>
      </p:sp>
      <p:sp>
        <p:nvSpPr>
          <p:cNvPr id="7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18/24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失败恢复先保护流式语义，再选择重算或重试</a:t>
            </a:r>
          </a:p>
        </p:txBody>
      </p:sp>
      <p:sp>
        <p:nvSpPr>
          <p:cNvPr id="3" name="body:请求异常"/>
          <p:cNvSpPr/>
          <p:nvPr/>
        </p:nvSpPr>
        <p:spPr>
          <a:xfrm>
            <a:off x="502920" y="2739389"/>
            <a:ext cx="1645920" cy="82296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请求异常</a:t>
            </a:r>
          </a:p>
        </p:txBody>
      </p:sp>
      <p:sp>
        <p:nvSpPr>
          <p:cNvPr id="4" name="body:首 token 前"/>
          <p:cNvSpPr/>
          <p:nvPr/>
        </p:nvSpPr>
        <p:spPr>
          <a:xfrm>
            <a:off x="2743200" y="1253489"/>
            <a:ext cx="2377440" cy="105156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首 token 前</a:t>
            </a:r>
          </a:p>
        </p:txBody>
      </p:sp>
      <p:sp>
        <p:nvSpPr>
          <p:cNvPr id="5" name="body:KV传输失败 → 检查剩余deadline&#10;有余"/>
          <p:cNvSpPr/>
          <p:nvPr/>
        </p:nvSpPr>
        <p:spPr>
          <a:xfrm>
            <a:off x="5394960" y="1253489"/>
            <a:ext cx="6217920" cy="10515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KV传输失败 → 检查剩余deadline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有余量：重算或换副本；无余量：及时结束</a:t>
            </a:r>
          </a:p>
        </p:txBody>
      </p:sp>
      <p:cxnSp>
        <p:nvCxnSpPr>
          <p:cNvPr id="6" name="connector:flow"/>
          <p:cNvCxnSpPr/>
          <p:nvPr/>
        </p:nvCxnSpPr>
        <p:spPr>
          <a:xfrm>
            <a:off x="2148840" y="3150869"/>
            <a:ext cx="274320" cy="0"/>
          </a:xfrm>
          <a:prstGeom prst="line">
            <a:avLst/>
          </a:prstGeom>
          <a:ln w="17780">
            <a:solidFill>
              <a:srgbClr val="243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:flow"/>
          <p:cNvCxnSpPr/>
          <p:nvPr/>
        </p:nvCxnSpPr>
        <p:spPr>
          <a:xfrm flipV="1">
            <a:off x="2423160" y="1779269"/>
            <a:ext cx="0" cy="1371600"/>
          </a:xfrm>
          <a:prstGeom prst="line">
            <a:avLst/>
          </a:prstGeom>
          <a:ln w="17780">
            <a:solidFill>
              <a:srgbClr val="243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flow"/>
          <p:cNvCxnSpPr/>
          <p:nvPr/>
        </p:nvCxnSpPr>
        <p:spPr>
          <a:xfrm flipV="1">
            <a:off x="2423160" y="1779269"/>
            <a:ext cx="320040" cy="0"/>
          </a:xfrm>
          <a:prstGeom prst="line">
            <a:avLst/>
          </a:prstGeom>
          <a:ln w="17780">
            <a:solidFill>
              <a:srgbClr val="243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ody:已经开始流式输出"/>
          <p:cNvSpPr/>
          <p:nvPr/>
        </p:nvSpPr>
        <p:spPr>
          <a:xfrm>
            <a:off x="2743200" y="2625089"/>
            <a:ext cx="2377440" cy="105156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已经开始流式输出</a:t>
            </a:r>
          </a:p>
        </p:txBody>
      </p:sp>
      <p:sp>
        <p:nvSpPr>
          <p:cNvPr id="10" name="body:记录已输出位置与请求ID&#10;重新生成需显式新响应，"/>
          <p:cNvSpPr/>
          <p:nvPr/>
        </p:nvSpPr>
        <p:spPr>
          <a:xfrm>
            <a:off x="5394960" y="2625089"/>
            <a:ext cx="6217920" cy="10515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记录已输出位置与请求ID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重新生成需显式新响应，避免拼接不一致文本</a:t>
            </a:r>
          </a:p>
        </p:txBody>
      </p:sp>
      <p:cxnSp>
        <p:nvCxnSpPr>
          <p:cNvPr id="13" name="connector:flow"/>
          <p:cNvCxnSpPr/>
          <p:nvPr/>
        </p:nvCxnSpPr>
        <p:spPr>
          <a:xfrm flipV="1">
            <a:off x="2423160" y="3150869"/>
            <a:ext cx="320040" cy="0"/>
          </a:xfrm>
          <a:prstGeom prst="line">
            <a:avLst/>
          </a:prstGeom>
          <a:ln w="17780">
            <a:solidFill>
              <a:srgbClr val="243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body:客户端取消 / 超时"/>
          <p:cNvSpPr/>
          <p:nvPr/>
        </p:nvSpPr>
        <p:spPr>
          <a:xfrm>
            <a:off x="2743200" y="3996689"/>
            <a:ext cx="2377440" cy="10515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客户端取消 / 超时</a:t>
            </a:r>
          </a:p>
        </p:txBody>
      </p:sp>
      <p:sp>
        <p:nvSpPr>
          <p:cNvPr id="15" name="body:终止计算 → 取消传输 → 释放引用&#10;租约兜底清"/>
          <p:cNvSpPr/>
          <p:nvPr/>
        </p:nvSpPr>
        <p:spPr>
          <a:xfrm>
            <a:off x="5394960" y="3996689"/>
            <a:ext cx="6217920" cy="10515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终止计算 → 取消传输 → 释放引用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租约兜底清理；回收事件纳入追踪</a:t>
            </a:r>
          </a:p>
        </p:txBody>
      </p:sp>
      <p:cxnSp>
        <p:nvCxnSpPr>
          <p:cNvPr id="17" name="connector:flow"/>
          <p:cNvCxnSpPr/>
          <p:nvPr/>
        </p:nvCxnSpPr>
        <p:spPr>
          <a:xfrm>
            <a:off x="2423160" y="3150869"/>
            <a:ext cx="0" cy="1371600"/>
          </a:xfrm>
          <a:prstGeom prst="line">
            <a:avLst/>
          </a:prstGeom>
          <a:ln w="17780">
            <a:solidFill>
              <a:srgbClr val="243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flow"/>
          <p:cNvCxnSpPr/>
          <p:nvPr/>
        </p:nvCxnSpPr>
        <p:spPr>
          <a:xfrm flipV="1">
            <a:off x="2423160" y="4522469"/>
            <a:ext cx="320040" cy="0"/>
          </a:xfrm>
          <a:prstGeom prst="line">
            <a:avLst/>
          </a:prstGeom>
          <a:ln w="17780">
            <a:solidFill>
              <a:srgbClr val="243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body:重试共享总预算并加入退避与抖动；Decode故障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重试共享总预算并加入退避与抖动；Decode故障同时影响多个Prefill源时，限流可阻断重试风暴。</a:t>
            </a:r>
          </a:p>
        </p:txBody>
      </p:sp>
      <p:sp>
        <p:nvSpPr>
          <p:cNvPr id="20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19/24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把端到端 SLO 拆到队列、计算、传输与回收</a:t>
            </a:r>
          </a:p>
        </p:txBody>
      </p:sp>
      <p:graphicFrame>
        <p:nvGraphicFramePr>
          <p:cNvPr id="3" name="table:comparison"/>
          <p:cNvGraphicFramePr>
            <a:graphicFrameLocks noGrp="1"/>
          </p:cNvGraphicFramePr>
          <p:nvPr/>
        </p:nvGraphicFramePr>
        <p:xfrm>
          <a:off x="502920" y="1066800"/>
          <a:ext cx="1110995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977639"/>
                <a:gridCol w="5577840"/>
              </a:tblGrid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层级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核心指标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联动诊断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用户边界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TTFT / 请求TPOT / ITL / 联合达标率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按输入长度、租户、热冷缓存分桶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调度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等待请求、队列token、抢占次数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排队升高且GPU未满：查准入或通信阻塞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GPU / KV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活跃序列、KV占用、前缀命中token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高抢占 + 低命中：查增长预留和缓存抖动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传输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字节、时长、失败、驻留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分离有效带宽与通知/排队时间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回收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取消耗时、泄漏块、重算请求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超时后仍占块会造成持续容量下降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4" name="body:trace_id：接入 → 检索 → 排队 → "/>
          <p:cNvSpPr/>
          <p:nvPr/>
        </p:nvSpPr>
        <p:spPr>
          <a:xfrm>
            <a:off x="502920" y="4770120"/>
            <a:ext cx="11109960" cy="45720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trace_id：接入 → 检索 → 排队 → prefill → transfer → decode → 结束/回收</a:t>
            </a:r>
          </a:p>
        </p:txBody>
      </p:sp>
      <p:sp>
        <p:nvSpPr>
          <p:cNvPr id="5" name="body:指标分位数描述分布，trace解释个案；直方图桶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指标分位数描述分布，trace解释个案；直方图桶应覆盖2s与40ms目标附近，避免聚合掩盖长尾。</a:t>
            </a:r>
          </a:p>
        </p:txBody>
      </p:sp>
      <p:sp>
        <p:nvSpPr>
          <p:cNvPr id="6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20/24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容量边界对上下文长度与利用率都高度敏感</a:t>
            </a:r>
          </a:p>
        </p:txBody>
      </p:sp>
      <p:graphicFrame>
        <p:nvGraphicFramePr>
          <p:cNvPr id="3" name="table:comparison"/>
          <p:cNvGraphicFramePr>
            <a:graphicFrameLocks noGrp="1"/>
          </p:cNvGraphicFramePr>
          <p:nvPr/>
        </p:nvGraphicFramePr>
        <p:xfrm>
          <a:off x="502920" y="1226820"/>
          <a:ext cx="4754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737360"/>
                <a:gridCol w="1737360"/>
              </a:tblGrid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输入token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每会话KV上界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24GiB KV池上限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8,192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462 MiB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53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16,000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889 MiB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27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24,000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1,326.5 MiB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18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32,000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1,764 MiB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4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13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:平均响应 / 固定服务时间"/>
          <p:cNvGraphicFramePr>
            <a:graphicFrameLocks noGrp="1"/>
          </p:cNvGraphicFramePr>
          <p:nvPr/>
        </p:nvGraphicFramePr>
        <p:xfrm>
          <a:off x="5532120" y="1181100"/>
          <a:ext cx="6080760" cy="3886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body:输出固定256 token；BF16 KV；&#10;未"/>
          <p:cNvSpPr/>
          <p:nvPr/>
        </p:nvSpPr>
        <p:spPr>
          <a:xfrm>
            <a:off x="502920" y="4335780"/>
            <a:ext cx="4754880" cy="7315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5928" rIns="109728" tIns="109728" bIns="109728"/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输出固定256 token；BF16 KV；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未计尾块、碎片与安全余量。</a:t>
            </a:r>
          </a:p>
        </p:txBody>
      </p:sp>
      <p:sp>
        <p:nvSpPr>
          <p:cNvPr id="6" name="body:理论ρ从0.8升至0.95，平均响应从3倍升至1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理论ρ从0.8升至0.95，平均响应从3倍升至10.5倍服务时间；扩容阈值应留在排队曲线拐点前。</a:t>
            </a:r>
          </a:p>
        </p:txBody>
      </p:sp>
      <p:sp>
        <p:nvSpPr>
          <p:cNvPr id="7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21/24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成本除以有效工作量，重试和闲置才会显形</a:t>
            </a:r>
          </a:p>
        </p:txBody>
      </p:sp>
      <p:sp>
        <p:nvSpPr>
          <p:cNvPr id="3" name="body:每千个达标请求成本 = 1,000 × 每小时总"/>
          <p:cNvSpPr/>
          <p:nvPr/>
        </p:nvSpPr>
        <p:spPr>
          <a:xfrm>
            <a:off x="502920" y="1143000"/>
            <a:ext cx="11109960" cy="6400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每千个达标请求成本 = 1,000 × 每小时总成本 / (3,600 × goodput)</a:t>
            </a:r>
          </a:p>
        </p:txBody>
      </p:sp>
      <p:graphicFrame>
        <p:nvGraphicFramePr>
          <p:cNvPr id="4" name="table:comparison"/>
          <p:cNvGraphicFramePr>
            <a:graphicFrameLocks noGrp="1"/>
          </p:cNvGraphicFramePr>
          <p:nvPr/>
        </p:nvGraphicFramePr>
        <p:xfrm>
          <a:off x="502920" y="2103120"/>
          <a:ext cx="111099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/>
                <a:gridCol w="3063240"/>
                <a:gridCol w="3063240"/>
              </a:tblGrid>
              <a:tr h="5105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设计算例（成本单位CU）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同机副本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P/D池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GPU + CPU/网络每小时费用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2×1 + 0.2 = 2.2 CU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2×1 + 0.4 = 2.4 CU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完成请求速率 / 联合达标比例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1.0 req/s / 80%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1.0 req/s / 95%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有效请求速率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0.80 req/s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0.95 req/s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每千个达标请求成本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0.764 CU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0.702 CU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与同机成本相等所需达标率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80%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87.3%（相同完成速率）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body:若解耦达标率低于87.3%，这组算例的额外运行费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若解耦达标率低于87.3%，这组算例的额外运行费用尚未被有效产出抵消；成本门槛应进入压测。</a:t>
            </a:r>
          </a:p>
        </p:txBody>
      </p:sp>
      <p:sp>
        <p:nvSpPr>
          <p:cNvPr id="6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22/24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上线用相同流量回放逐步验证，并保留同机回退池</a:t>
            </a:r>
          </a:p>
        </p:txBody>
      </p:sp>
      <p:sp>
        <p:nvSpPr>
          <p:cNvPr id="3" name="body:01  正确性"/>
          <p:cNvSpPr/>
          <p:nvPr/>
        </p:nvSpPr>
        <p:spPr>
          <a:xfrm>
            <a:off x="502920" y="1188720"/>
            <a:ext cx="2626614" cy="59436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01  正确性</a:t>
            </a:r>
          </a:p>
        </p:txBody>
      </p:sp>
      <p:sp>
        <p:nvSpPr>
          <p:cNvPr id="4" name="body:冻结模型、tokenizer与聊天模板。&#10;&#10;冷/"/>
          <p:cNvSpPr/>
          <p:nvPr/>
        </p:nvSpPr>
        <p:spPr>
          <a:xfrm>
            <a:off x="502920" y="1965960"/>
            <a:ext cx="2626614" cy="3154679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冻结模型、tokenizer与聊天模板。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冷/热缓存输出对齐；检查跨租户隔离、引用与取消语义。</a:t>
            </a:r>
          </a:p>
        </p:txBody>
      </p:sp>
      <p:sp>
        <p:nvSpPr>
          <p:cNvPr id="5" name="body:02  性能边界"/>
          <p:cNvSpPr/>
          <p:nvPr/>
        </p:nvSpPr>
        <p:spPr>
          <a:xfrm>
            <a:off x="3330702" y="1188720"/>
            <a:ext cx="2626614" cy="59436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02  性能边界</a:t>
            </a:r>
          </a:p>
        </p:txBody>
      </p:sp>
      <p:sp>
        <p:nvSpPr>
          <p:cNvPr id="6" name="body:同GPU预算对照&#10;独立副本与P/D。&#10;&#10;扫描长度"/>
          <p:cNvSpPr/>
          <p:nvPr/>
        </p:nvSpPr>
        <p:spPr>
          <a:xfrm>
            <a:off x="3330702" y="1965960"/>
            <a:ext cx="2626614" cy="3154679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同GPU预算对照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独立副本与P/D。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扫描长度与到达率、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前缀命中和突发；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测量联合达标率。</a:t>
            </a:r>
          </a:p>
        </p:txBody>
      </p:sp>
      <p:sp>
        <p:nvSpPr>
          <p:cNvPr id="7" name="body:03  故障演练"/>
          <p:cNvSpPr/>
          <p:nvPr/>
        </p:nvSpPr>
        <p:spPr>
          <a:xfrm>
            <a:off x="6158484" y="1188720"/>
            <a:ext cx="2626614" cy="59436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03  故障演练</a:t>
            </a:r>
          </a:p>
        </p:txBody>
      </p:sp>
      <p:sp>
        <p:nvSpPr>
          <p:cNvPr id="8" name="body:注入慢链路、进程退出与租约过期。&#10;&#10;确认重试受控"/>
          <p:cNvSpPr/>
          <p:nvPr/>
        </p:nvSpPr>
        <p:spPr>
          <a:xfrm>
            <a:off x="6158484" y="1965960"/>
            <a:ext cx="2626614" cy="3154679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注入慢链路、进程退出与租约过期。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确认重试受控，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故障后KV块已回收，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输出没有重复拼接。</a:t>
            </a:r>
          </a:p>
        </p:txBody>
      </p:sp>
      <p:sp>
        <p:nvSpPr>
          <p:cNvPr id="9" name="body:04  灰度与回退"/>
          <p:cNvSpPr/>
          <p:nvPr/>
        </p:nvSpPr>
        <p:spPr>
          <a:xfrm>
            <a:off x="8986266" y="1188720"/>
            <a:ext cx="2626614" cy="59436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04  灰度与回退</a:t>
            </a:r>
          </a:p>
        </p:txBody>
      </p:sp>
      <p:sp>
        <p:nvSpPr>
          <p:cNvPr id="10" name="body:从小流量逐档放量。&#10;&#10;达标率或错误率越线，&#10;立即"/>
          <p:cNvSpPr/>
          <p:nvPr/>
        </p:nvSpPr>
        <p:spPr>
          <a:xfrm>
            <a:off x="8986266" y="1965960"/>
            <a:ext cx="2626614" cy="3154679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从小流量逐档放量。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达标率或错误率越线，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立即切回同机池；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303642"/>
                </a:solidFill>
                <a:latin typeface="微软雅黑"/>
              </a:defRPr>
            </a:pPr>
            <a:r>
              <a:rPr>
                <a:ea typeface="微软雅黑"/>
              </a:rPr>
              <a:t>保留完整链路追踪。</a:t>
            </a:r>
          </a:p>
        </p:txBody>
      </p:sp>
      <p:sp>
        <p:nvSpPr>
          <p:cNvPr id="11" name="body:设计示例放量门槛：每档至少覆盖一个业务高峰；联合"/>
          <p:cNvSpPr/>
          <p:nvPr/>
        </p:nvSpPr>
        <p:spPr>
          <a:xfrm>
            <a:off x="502920" y="5532120"/>
            <a:ext cx="111099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设计示例放量门槛：每档至少覆盖一个业务高峰；联合SLO≥95%，并核对正确性与每千达标请求成本。</a:t>
            </a:r>
          </a:p>
        </p:txBody>
      </p:sp>
      <p:sp>
        <p:nvSpPr>
          <p:cNvPr id="12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23/24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content"/>
          <p:cNvSpPr txBox="1"/>
          <p:nvPr/>
        </p:nvSpPr>
        <p:spPr>
          <a:xfrm>
            <a:off x="502920" y="32004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43670"/>
                </a:solidFill>
                <a:latin typeface="微软雅黑"/>
              </a:defRPr>
            </a:pPr>
            <a:r>
              <a:rPr>
                <a:ea typeface="微软雅黑"/>
              </a:rPr>
              <a:t>先消除浪费，再用解耦隔离确证的阶段干扰</a:t>
            </a:r>
          </a:p>
        </p:txBody>
      </p:sp>
      <p:graphicFrame>
        <p:nvGraphicFramePr>
          <p:cNvPr id="3" name="table:comparison"/>
          <p:cNvGraphicFramePr>
            <a:graphicFrameLocks noGrp="1"/>
          </p:cNvGraphicFramePr>
          <p:nvPr/>
        </p:nvGraphicFramePr>
        <p:xfrm>
          <a:off x="502920" y="1223010"/>
          <a:ext cx="11109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114800"/>
                <a:gridCol w="4160520"/>
              </a:tblGrid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测到的主瓶颈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优先动作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转向下一步的证据</a:t>
                      </a:r>
                    </a:p>
                  </a:txBody>
                  <a:tcPr marL="109728" marR="109728" marT="82296" marB="82296" anchor="ctr">
                    <a:solidFill>
                      <a:srgbClr val="24367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模型或KV放不下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量化/模型并行/长度与并发预算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保留质量目标后，内存与延迟稳定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重复前缀计算多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前缀缓存 + 版本/权限一致的路由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命中token上升，排队与prefill耗时下降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长prefill使输出卡顿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先调chunked-prefill；同预算对照P/D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真实KV交接开销小于TTFT余量</a:t>
                      </a:r>
                    </a:p>
                  </a:txBody>
                  <a:tcPr marL="109728" marR="109728" marT="82296" marB="82296" anchor="ctr">
                    <a:solidFill>
                      <a:srgbClr val="F2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到达量超过单实例容量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复制实例；P与D按各自队列扩池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303642"/>
                          </a:solidFill>
                          <a:latin typeface="微软雅黑"/>
                        </a:defRPr>
                      </a:pPr>
                      <a:r>
                        <a:t>联合SLO与单位有效成本同时改善</a:t>
                      </a:r>
                    </a:p>
                  </a:txBody>
                  <a:tcPr marL="109728" marR="109728" marT="82296" marB="8229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:架构选择的三条硬边界&#10;显存容纳完整活跃状态 · "/>
          <p:cNvSpPr/>
          <p:nvPr/>
        </p:nvSpPr>
        <p:spPr>
          <a:xfrm>
            <a:off x="502920" y="4663440"/>
            <a:ext cx="11109960" cy="91440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架构选择的三条硬边界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显存容纳完整活跃状态 · 网络交接落在TTFT预算内 · 有效吞吐足以覆盖运营成本</a:t>
            </a:r>
          </a:p>
        </p:txBody>
      </p:sp>
      <p:sp>
        <p:nvSpPr>
          <p:cNvPr id="5" name="page-number:sequence"/>
          <p:cNvSpPr txBox="1"/>
          <p:nvPr/>
        </p:nvSpPr>
        <p:spPr>
          <a:xfrm>
            <a:off x="5724144" y="627278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87284"/>
                </a:solidFill>
                <a:latin typeface="微软雅黑"/>
              </a:defRPr>
            </a:pPr>
            <a:r>
              <a:rPr>
                <a:ea typeface="微软雅黑"/>
              </a:rPr>
              <a:t>24/24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TVkNzY3MjQ5YWQwYTM2MmM4YmNlOGE0OTdmOWI5NGYifQ==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00000"/>
      </a:dk2>
      <a:lt2>
        <a:srgbClr val="0F3343"/>
      </a:lt2>
      <a:accent1>
        <a:srgbClr val="2B357A"/>
      </a:accent1>
      <a:accent2>
        <a:srgbClr val="F2634B"/>
      </a:accent2>
      <a:accent3>
        <a:srgbClr val="61C9DC"/>
      </a:accent3>
      <a:accent4>
        <a:srgbClr val="FAA718"/>
      </a:accent4>
      <a:accent5>
        <a:srgbClr val="3F5C67"/>
      </a:accent5>
      <a:accent6>
        <a:srgbClr val="70AD47"/>
      </a:accent6>
      <a:hlink>
        <a:srgbClr val="0563C1"/>
      </a:hlink>
      <a:folHlink>
        <a:srgbClr val="954F72"/>
      </a:folHlink>
    </a:clrScheme>
    <a:fontScheme name="rl0l2bq3">
      <a:majorFont>
        <a:latin typeface="MiSans Normal"/>
        <a:ea typeface="MiSans Normal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3285</Words>
  <PresentationFormat>宽屏</PresentationFormat>
  <Paragraphs>439</Paragraphs>
  <Slides>21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MiSans Normal</vt:lpstr>
      <vt:lpstr>微软雅黑</vt:lpstr>
      <vt:lpstr>Arial Unicode MS</vt:lpstr>
      <vt:lpstr>等线</vt:lpstr>
      <vt:lpstr>黑体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长上下文企业知识助手如何扩容：从单机瓶颈到 Prefill/Decode 解耦集群</dc:title>
  <cp:lastModifiedBy>Kwin</cp:lastModifiedBy>
  <cp:revision>2958</cp:revision>
  <dcterms:created xsi:type="dcterms:W3CDTF">2021-07-02T06:09:00Z</dcterms:created>
  <dcterms:modified xsi:type="dcterms:W3CDTF">2022-06-30T09:23:11Z</dcterms:modified>
  <dc:subject>长上下文推理服务的性能、内存、调度与集群运行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DD815F7D0AFF45D9A9CB278DA9F626E7</vt:lpwstr>
  </property>
  <property fmtid="{D5CDD505-2E9C-101B-9397-08002B2CF9AE}" pid="3" name="KSOProductBuildVer">
    <vt:lpwstr>2052-11.1.0.11830</vt:lpwstr>
  </property>
  <property fmtid="{D5CDD505-2E9C-101B-9397-08002B2CF9AE}" pid="4" name="KSOTemplateUUID">
    <vt:lpwstr>v1.0_mb_sdZ4Q0cnxkhdsmUhenXe+A==</vt:lpwstr>
  </property>
</Properties>
</file>