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5.svg" ContentType="image/svg+xml"/>
  <Override PartName="/ppt/media/image2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823" r:id="rId6"/>
    <p:sldId id="444" r:id="rId7"/>
    <p:sldId id="596" r:id="rId12"/>
    <p:sldId id="825" r:id="rId13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9"/>
    <a:srgbClr val="2B357A"/>
    <a:srgbClr val="FAA718"/>
    <a:srgbClr val="61C9DC"/>
    <a:srgbClr val="F2634B"/>
    <a:srgbClr val="E6E6E6"/>
    <a:srgbClr val="C7141A"/>
    <a:srgbClr val="F8F8F8"/>
    <a:srgbClr val="9F9F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>
      <p:cViewPr varScale="1">
        <p:scale>
          <a:sx n="66" d="100"/>
          <a:sy n="66" d="100"/>
        </p:scale>
        <p:origin x="198" y="8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25" Type="http://schemas.openxmlformats.org/officeDocument/2006/relationships/presProps" Target="presProps.xml"/><Relationship Id="rId27" Type="http://schemas.openxmlformats.org/officeDocument/2006/relationships/tableStyles" Target="tableStyles.xml"/><Relationship Id="rId31" Type="http://schemas.openxmlformats.org/officeDocument/2006/relationships/tags" Target="tags/tag1.xml"/><Relationship Id="rId3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1593056"/>
        <c:axId val="901594368"/>
      </c:barChart>
      <c:catAx>
        <c:axId val="901593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901594368"/>
        <c:crosses val="autoZero"/>
        <c:auto val="1"/>
        <c:lblAlgn val="ctr"/>
        <c:lblOffset val="100"/>
        <c:noMultiLvlLbl val="0"/>
      </c:catAx>
      <c:valAx>
        <c:axId val="901594368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901593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A430-9691-48CB-A3D3-9D6A17F920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20CA-116A-49D1-AF6E-54FF8F9FE4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项目功能及模板/样本数量：https://github.com/Yifan0718/MyPPTSkill。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项目功能及模板/样本数量：https://github.com/Yifan0718/MyPPTSkill。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Python图为 y=sin(x)，x从0到2π；MATLAB图为peaks函数曲面；LaTeX图为正弦函数定积分及函数映射示意；PowerPoint图为可编辑输入、处理、交付节点。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项目功能及模板/样本数量：https://github.com/Yifan0718/MyPPTSkill。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板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全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svg"/><Relationship Id="rId3" Type="http://schemas.openxmlformats.org/officeDocument/2006/relationships/image" Target="../media/image26.png"/><Relationship Id="rId4" Type="http://schemas.openxmlformats.org/officeDocument/2006/relationships/image" Target="../media/image27.svg"/><Relationship Id="rId5" Type="http://schemas.openxmlformats.org/officeDocument/2006/relationships/slideLayout" Target="../slideLayouts/slideLayout4.xml"/><Relationship Id="rId6" Type="http://schemas.openxmlformats.org/officeDocument/2006/relationships/hyperlink" Target="https://github.com/Yifan0718/MyPPTSkill" TargetMode="Externa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:coral-edge"/>
          <p:cNvSpPr/>
          <p:nvPr/>
        </p:nvSpPr>
        <p:spPr>
          <a:xfrm>
            <a:off x="0" y="0"/>
            <a:ext cx="152400" cy="111760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:gold-edge"/>
          <p:cNvSpPr/>
          <p:nvPr/>
        </p:nvSpPr>
        <p:spPr>
          <a:xfrm>
            <a:off x="152400" y="0"/>
            <a:ext cx="152400" cy="66040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:mint-corner"/>
          <p:cNvSpPr/>
          <p:nvPr/>
        </p:nvSpPr>
        <p:spPr>
          <a:xfrm rot="10800000">
            <a:off x="11582400" y="0"/>
            <a:ext cx="609600" cy="609600"/>
          </a:xfrm>
          <a:prstGeom prst="rtTriangle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:navy-corner"/>
          <p:cNvSpPr/>
          <p:nvPr/>
        </p:nvSpPr>
        <p:spPr>
          <a:xfrm rot="10800000">
            <a:off x="11811000" y="0"/>
            <a:ext cx="381000" cy="381000"/>
          </a:xfrm>
          <a:prstGeom prst="rtTriangle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:lower-edge"/>
          <p:cNvSpPr/>
          <p:nvPr/>
        </p:nvSpPr>
        <p:spPr>
          <a:xfrm>
            <a:off x="0" y="6172200"/>
            <a:ext cx="152400" cy="6858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and:project"/>
          <p:cNvSpPr txBox="1"/>
          <p:nvPr/>
        </p:nvSpPr>
        <p:spPr>
          <a:xfrm>
            <a:off x="508000" y="355600"/>
            <a:ext cx="3302000" cy="355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MyPPTSkill</a:t>
            </a:r>
          </a:p>
        </p:txBody>
      </p:sp>
      <p:sp>
        <p:nvSpPr>
          <p:cNvPr id="8" name="author:requested"/>
          <p:cNvSpPr txBox="1"/>
          <p:nvPr/>
        </p:nvSpPr>
        <p:spPr>
          <a:xfrm>
            <a:off x="8763000" y="393700"/>
            <a:ext cx="2921000" cy="304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28B"/>
                </a:solidFill>
                <a:latin typeface="Microsoft YaHei"/>
              </a:rPr>
              <a:t>MyPPTSkill 制作</a:t>
            </a:r>
          </a:p>
        </p:txBody>
      </p:sp>
      <p:sp>
        <p:nvSpPr>
          <p:cNvPr id="9" name="title:promo"/>
          <p:cNvSpPr txBox="1"/>
          <p:nvPr/>
        </p:nvSpPr>
        <p:spPr>
          <a:xfrm>
            <a:off x="508000" y="1041400"/>
            <a:ext cx="11176000" cy="736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43670"/>
                </a:solidFill>
                <a:latin typeface="Microsoft YaHei"/>
              </a:rPr>
              <a:t>摆脱 AI 味，把观点讲漂亮</a:t>
            </a:r>
          </a:p>
        </p:txBody>
      </p:sp>
      <p:sp>
        <p:nvSpPr>
          <p:cNvPr id="10" name="subtitle:meaningful"/>
          <p:cNvSpPr txBox="1"/>
          <p:nvPr/>
        </p:nvSpPr>
        <p:spPr>
          <a:xfrm>
            <a:off x="508000" y="1905000"/>
            <a:ext cx="11176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728B"/>
                </a:solidFill>
                <a:latin typeface="Microsoft YaHei"/>
              </a:rPr>
              <a:t>清楚的观点，比漂亮的套话更有力量。</a:t>
            </a:r>
          </a:p>
        </p:txBody>
      </p:sp>
      <p:sp>
        <p:nvSpPr>
          <p:cNvPr id="11" name="panel:wordy"/>
          <p:cNvSpPr/>
          <p:nvPr/>
        </p:nvSpPr>
        <p:spPr>
          <a:xfrm>
            <a:off x="508000" y="2768600"/>
            <a:ext cx="5232400" cy="2590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:direct"/>
          <p:cNvSpPr/>
          <p:nvPr/>
        </p:nvSpPr>
        <p:spPr>
          <a:xfrm>
            <a:off x="6451600" y="2768600"/>
            <a:ext cx="5232400" cy="25908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:wordy"/>
          <p:cNvSpPr txBox="1"/>
          <p:nvPr/>
        </p:nvSpPr>
        <p:spPr>
          <a:xfrm>
            <a:off x="787400" y="3022600"/>
            <a:ext cx="46736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6728B"/>
                </a:solidFill>
                <a:latin typeface="Microsoft YaHei"/>
              </a:rPr>
              <a:t>绕弯表达</a:t>
            </a:r>
          </a:p>
        </p:txBody>
      </p:sp>
      <p:sp>
        <p:nvSpPr>
          <p:cNvPr id="14" name="body:wordy-example"/>
          <p:cNvSpPr txBox="1"/>
          <p:nvPr/>
        </p:nvSpPr>
        <p:spPr>
          <a:xfrm>
            <a:off x="787400" y="3581400"/>
            <a:ext cx="4673600" cy="142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6728B"/>
                </a:solidFill>
                <a:latin typeface="Microsoft YaHei"/>
              </a:rPr>
              <a:t>多维度协同推进，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6728B"/>
                </a:solidFill>
                <a:latin typeface="Microsoft YaHei"/>
              </a:rPr>
              <a:t>持续深化全面赋能，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66728B"/>
                </a:solidFill>
                <a:latin typeface="Microsoft YaHei"/>
              </a:rPr>
              <a:t>实现高质量价值输出。</a:t>
            </a:r>
          </a:p>
        </p:txBody>
      </p:sp>
      <p:sp>
        <p:nvSpPr>
          <p:cNvPr id="15" name="label:direct"/>
          <p:cNvSpPr txBox="1"/>
          <p:nvPr/>
        </p:nvSpPr>
        <p:spPr>
          <a:xfrm>
            <a:off x="6731000" y="3022600"/>
            <a:ext cx="46736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DC2C4"/>
                </a:solidFill>
                <a:latin typeface="Microsoft YaHei"/>
              </a:rPr>
              <a:t>一句到位</a:t>
            </a:r>
          </a:p>
        </p:txBody>
      </p:sp>
      <p:sp>
        <p:nvSpPr>
          <p:cNvPr id="16" name="body:direct-example"/>
          <p:cNvSpPr txBox="1"/>
          <p:nvPr/>
        </p:nvSpPr>
        <p:spPr>
          <a:xfrm>
            <a:off x="6731000" y="3619500"/>
            <a:ext cx="4673600" cy="1320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观点亮出来，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重点一眼看明白。</a:t>
            </a:r>
          </a:p>
        </p:txBody>
      </p:sp>
      <p:sp>
        <p:nvSpPr>
          <p:cNvPr id="17" name="benefit:language"/>
          <p:cNvSpPr txBox="1"/>
          <p:nvPr/>
        </p:nvSpPr>
        <p:spPr>
          <a:xfrm>
            <a:off x="508000" y="5715000"/>
            <a:ext cx="3302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观点清楚</a:t>
            </a:r>
          </a:p>
        </p:txBody>
      </p:sp>
      <p:sp>
        <p:nvSpPr>
          <p:cNvPr id="18" name="benefit:language"/>
          <p:cNvSpPr txBox="1"/>
          <p:nvPr/>
        </p:nvSpPr>
        <p:spPr>
          <a:xfrm>
            <a:off x="4445000" y="5715000"/>
            <a:ext cx="3302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55A48"/>
                </a:solidFill>
                <a:latin typeface="Microsoft YaHei"/>
              </a:rPr>
              <a:t>语言自然</a:t>
            </a:r>
          </a:p>
        </p:txBody>
      </p:sp>
      <p:sp>
        <p:nvSpPr>
          <p:cNvPr id="19" name="benefit:language"/>
          <p:cNvSpPr txBox="1"/>
          <p:nvPr/>
        </p:nvSpPr>
        <p:spPr>
          <a:xfrm>
            <a:off x="8382000" y="5715000"/>
            <a:ext cx="3302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重点突出</a:t>
            </a:r>
          </a:p>
        </p:txBody>
      </p:sp>
      <p:sp>
        <p:nvSpPr>
          <p:cNvPr id="20" name="page-number:promo"/>
          <p:cNvSpPr txBox="1"/>
          <p:nvPr/>
        </p:nvSpPr>
        <p:spPr>
          <a:xfrm>
            <a:off x="11150600" y="6350000"/>
            <a:ext cx="533400" cy="177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8B"/>
                </a:solidFill>
                <a:latin typeface="Microsoft YaHei"/>
              </a:rPr>
              <a:t>1/4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:coral-edge"/>
          <p:cNvSpPr/>
          <p:nvPr/>
        </p:nvSpPr>
        <p:spPr>
          <a:xfrm>
            <a:off x="0" y="0"/>
            <a:ext cx="152400" cy="111760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:gold-edge"/>
          <p:cNvSpPr/>
          <p:nvPr/>
        </p:nvSpPr>
        <p:spPr>
          <a:xfrm>
            <a:off x="152400" y="0"/>
            <a:ext cx="152400" cy="66040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:mint-corner"/>
          <p:cNvSpPr/>
          <p:nvPr/>
        </p:nvSpPr>
        <p:spPr>
          <a:xfrm rot="10800000">
            <a:off x="11582400" y="0"/>
            <a:ext cx="609600" cy="609600"/>
          </a:xfrm>
          <a:prstGeom prst="rtTriangle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:navy-corner"/>
          <p:cNvSpPr/>
          <p:nvPr/>
        </p:nvSpPr>
        <p:spPr>
          <a:xfrm rot="10800000">
            <a:off x="11811000" y="0"/>
            <a:ext cx="381000" cy="381000"/>
          </a:xfrm>
          <a:prstGeom prst="rtTriangle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:lower-edge"/>
          <p:cNvSpPr/>
          <p:nvPr/>
        </p:nvSpPr>
        <p:spPr>
          <a:xfrm>
            <a:off x="0" y="6172200"/>
            <a:ext cx="152400" cy="6858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and:project"/>
          <p:cNvSpPr txBox="1"/>
          <p:nvPr/>
        </p:nvSpPr>
        <p:spPr>
          <a:xfrm>
            <a:off x="508000" y="355600"/>
            <a:ext cx="3302000" cy="355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MyPPTSkill</a:t>
            </a:r>
          </a:p>
        </p:txBody>
      </p:sp>
      <p:sp>
        <p:nvSpPr>
          <p:cNvPr id="8" name="author:requested"/>
          <p:cNvSpPr txBox="1"/>
          <p:nvPr/>
        </p:nvSpPr>
        <p:spPr>
          <a:xfrm>
            <a:off x="8763000" y="393700"/>
            <a:ext cx="2921000" cy="304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28B"/>
                </a:solidFill>
                <a:latin typeface="Microsoft YaHei"/>
              </a:rPr>
              <a:t>MyPPTSkill 制作</a:t>
            </a:r>
          </a:p>
        </p:txBody>
      </p:sp>
      <p:sp>
        <p:nvSpPr>
          <p:cNvPr id="9" name="title:promo"/>
          <p:cNvSpPr txBox="1"/>
          <p:nvPr/>
        </p:nvSpPr>
        <p:spPr>
          <a:xfrm>
            <a:off x="508000" y="1041400"/>
            <a:ext cx="11176000" cy="736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43670"/>
                </a:solidFill>
                <a:latin typeface="Microsoft YaHei"/>
              </a:rPr>
              <a:t>强迫症级对齐，让细节服从秩序</a:t>
            </a:r>
          </a:p>
        </p:txBody>
      </p:sp>
      <p:sp>
        <p:nvSpPr>
          <p:cNvPr id="10" name="subtitle:meaningful"/>
          <p:cNvSpPr txBox="1"/>
          <p:nvPr/>
        </p:nvSpPr>
        <p:spPr>
          <a:xfrm>
            <a:off x="508000" y="1905000"/>
            <a:ext cx="11176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728B"/>
                </a:solidFill>
                <a:latin typeface="Microsoft YaHei"/>
              </a:rPr>
              <a:t>字形起点、图表边界、横纵间距，统一到每一页。</a:t>
            </a:r>
          </a:p>
        </p:txBody>
      </p:sp>
      <p:sp>
        <p:nvSpPr>
          <p:cNvPr id="11" name="icon:bullet"/>
          <p:cNvSpPr/>
          <p:nvPr/>
        </p:nvSpPr>
        <p:spPr>
          <a:xfrm>
            <a:off x="558800" y="2908300"/>
            <a:ext cx="127000" cy="127000"/>
          </a:xfrm>
          <a:prstGeom prst="ellipse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eature:alignment"/>
          <p:cNvSpPr txBox="1"/>
          <p:nvPr/>
        </p:nvSpPr>
        <p:spPr>
          <a:xfrm>
            <a:off x="914400" y="2768600"/>
            <a:ext cx="4191000" cy="431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3670"/>
                </a:solidFill>
                <a:latin typeface="Microsoft YaHei"/>
              </a:rPr>
              <a:t>横向拉齐</a:t>
            </a:r>
          </a:p>
        </p:txBody>
      </p:sp>
      <p:sp>
        <p:nvSpPr>
          <p:cNvPr id="13" name="icon:bullet"/>
          <p:cNvSpPr/>
          <p:nvPr/>
        </p:nvSpPr>
        <p:spPr>
          <a:xfrm>
            <a:off x="558800" y="3517900"/>
            <a:ext cx="127000" cy="127000"/>
          </a:xfrm>
          <a:prstGeom prst="ellipse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eature:alignment"/>
          <p:cNvSpPr txBox="1"/>
          <p:nvPr/>
        </p:nvSpPr>
        <p:spPr>
          <a:xfrm>
            <a:off x="914400" y="3378200"/>
            <a:ext cx="4191000" cy="431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3670"/>
                </a:solidFill>
                <a:latin typeface="Microsoft YaHei"/>
              </a:rPr>
              <a:t>纵向匀称</a:t>
            </a:r>
          </a:p>
        </p:txBody>
      </p:sp>
      <p:sp>
        <p:nvSpPr>
          <p:cNvPr id="15" name="icon:bullet"/>
          <p:cNvSpPr/>
          <p:nvPr/>
        </p:nvSpPr>
        <p:spPr>
          <a:xfrm>
            <a:off x="558800" y="4127500"/>
            <a:ext cx="127000" cy="127000"/>
          </a:xfrm>
          <a:prstGeom prst="ellipse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eature:alignment"/>
          <p:cNvSpPr txBox="1"/>
          <p:nvPr/>
        </p:nvSpPr>
        <p:spPr>
          <a:xfrm>
            <a:off x="914400" y="3987800"/>
            <a:ext cx="4191000" cy="431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3670"/>
                </a:solidFill>
                <a:latin typeface="Microsoft YaHei"/>
              </a:rPr>
              <a:t>边界统一</a:t>
            </a:r>
          </a:p>
        </p:txBody>
      </p:sp>
      <p:sp>
        <p:nvSpPr>
          <p:cNvPr id="17" name="icon:bullet"/>
          <p:cNvSpPr/>
          <p:nvPr/>
        </p:nvSpPr>
        <p:spPr>
          <a:xfrm>
            <a:off x="558800" y="4737100"/>
            <a:ext cx="127000" cy="127000"/>
          </a:xfrm>
          <a:prstGeom prst="ellipse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eature:alignment"/>
          <p:cNvSpPr txBox="1"/>
          <p:nvPr/>
        </p:nvSpPr>
        <p:spPr>
          <a:xfrm>
            <a:off x="914400" y="4597400"/>
            <a:ext cx="4191000" cy="431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3670"/>
                </a:solidFill>
                <a:latin typeface="Microsoft YaHei"/>
              </a:rPr>
              <a:t>跨页一致</a:t>
            </a:r>
          </a:p>
        </p:txBody>
      </p:sp>
      <p:sp>
        <p:nvSpPr>
          <p:cNvPr id="19" name="panel:aligned-board"/>
          <p:cNvSpPr/>
          <p:nvPr/>
        </p:nvSpPr>
        <p:spPr>
          <a:xfrm>
            <a:off x="6096000" y="2768600"/>
            <a:ext cx="5588000" cy="2590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:aligned-component"/>
          <p:cNvSpPr/>
          <p:nvPr/>
        </p:nvSpPr>
        <p:spPr>
          <a:xfrm>
            <a:off x="6477000" y="3136900"/>
            <a:ext cx="2209800" cy="7366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76200" bIns="76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观点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重点明确</a:t>
            </a:r>
          </a:p>
        </p:txBody>
      </p:sp>
      <p:sp>
        <p:nvSpPr>
          <p:cNvPr id="21" name="card:aligned-component"/>
          <p:cNvSpPr/>
          <p:nvPr/>
        </p:nvSpPr>
        <p:spPr>
          <a:xfrm>
            <a:off x="9093200" y="3136900"/>
            <a:ext cx="2209800" cy="73660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76200" bIns="76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数据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层次清楚</a:t>
            </a:r>
          </a:p>
        </p:txBody>
      </p:sp>
      <p:sp>
        <p:nvSpPr>
          <p:cNvPr id="22" name="card:aligned-component"/>
          <p:cNvSpPr/>
          <p:nvPr/>
        </p:nvSpPr>
        <p:spPr>
          <a:xfrm>
            <a:off x="6477000" y="4254500"/>
            <a:ext cx="2209800" cy="73660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76200" bIns="76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图表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670"/>
                </a:solidFill>
                <a:latin typeface="Microsoft YaHei"/>
              </a:rPr>
              <a:t>边界统一</a:t>
            </a:r>
          </a:p>
        </p:txBody>
      </p:sp>
      <p:sp>
        <p:nvSpPr>
          <p:cNvPr id="23" name="card:aligned-component"/>
          <p:cNvSpPr/>
          <p:nvPr/>
        </p:nvSpPr>
        <p:spPr>
          <a:xfrm>
            <a:off x="9093200" y="4254500"/>
            <a:ext cx="2209800" cy="73660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76200" bIns="76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结论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670"/>
                </a:solidFill>
                <a:latin typeface="Microsoft YaHei"/>
              </a:rPr>
              <a:t>一眼看懂</a:t>
            </a:r>
          </a:p>
        </p:txBody>
      </p:sp>
      <p:sp>
        <p:nvSpPr>
          <p:cNvPr id="24" name="conclusion:alignment"/>
          <p:cNvSpPr txBox="1"/>
          <p:nvPr/>
        </p:nvSpPr>
        <p:spPr>
          <a:xfrm>
            <a:off x="508000" y="5715000"/>
            <a:ext cx="11176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55A48"/>
                </a:solidFill>
                <a:latin typeface="Microsoft YaHei"/>
              </a:rPr>
              <a:t>让整齐成为第一眼的感受。</a:t>
            </a:r>
          </a:p>
        </p:txBody>
      </p:sp>
      <p:sp>
        <p:nvSpPr>
          <p:cNvPr id="25" name="page-number:promo"/>
          <p:cNvSpPr txBox="1"/>
          <p:nvPr/>
        </p:nvSpPr>
        <p:spPr>
          <a:xfrm>
            <a:off x="11150600" y="6350000"/>
            <a:ext cx="533400" cy="177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8B"/>
                </a:solidFill>
                <a:latin typeface="Microsoft YaHei"/>
              </a:rPr>
              <a:t>2/4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:coral-edge"/>
          <p:cNvSpPr/>
          <p:nvPr/>
        </p:nvSpPr>
        <p:spPr>
          <a:xfrm>
            <a:off x="0" y="0"/>
            <a:ext cx="152400" cy="111760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:gold-edge"/>
          <p:cNvSpPr/>
          <p:nvPr/>
        </p:nvSpPr>
        <p:spPr>
          <a:xfrm>
            <a:off x="152400" y="0"/>
            <a:ext cx="152400" cy="66040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:mint-corner"/>
          <p:cNvSpPr/>
          <p:nvPr/>
        </p:nvSpPr>
        <p:spPr>
          <a:xfrm rot="10800000">
            <a:off x="11582400" y="0"/>
            <a:ext cx="609600" cy="609600"/>
          </a:xfrm>
          <a:prstGeom prst="rtTriangle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:navy-corner"/>
          <p:cNvSpPr/>
          <p:nvPr/>
        </p:nvSpPr>
        <p:spPr>
          <a:xfrm rot="10800000">
            <a:off x="11811000" y="0"/>
            <a:ext cx="381000" cy="381000"/>
          </a:xfrm>
          <a:prstGeom prst="rtTriangle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:lower-edge"/>
          <p:cNvSpPr/>
          <p:nvPr/>
        </p:nvSpPr>
        <p:spPr>
          <a:xfrm>
            <a:off x="0" y="6172200"/>
            <a:ext cx="152400" cy="6858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and:project"/>
          <p:cNvSpPr txBox="1"/>
          <p:nvPr/>
        </p:nvSpPr>
        <p:spPr>
          <a:xfrm>
            <a:off x="508000" y="355600"/>
            <a:ext cx="3302000" cy="355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MyPPTSkill</a:t>
            </a:r>
          </a:p>
        </p:txBody>
      </p:sp>
      <p:sp>
        <p:nvSpPr>
          <p:cNvPr id="8" name="author:requested"/>
          <p:cNvSpPr txBox="1"/>
          <p:nvPr/>
        </p:nvSpPr>
        <p:spPr>
          <a:xfrm>
            <a:off x="8763000" y="393700"/>
            <a:ext cx="2921000" cy="304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28B"/>
                </a:solidFill>
                <a:latin typeface="Microsoft YaHei"/>
              </a:rPr>
              <a:t>MyPPTSkill 制作</a:t>
            </a:r>
          </a:p>
        </p:txBody>
      </p:sp>
      <p:sp>
        <p:nvSpPr>
          <p:cNvPr id="9" name="title:promo"/>
          <p:cNvSpPr txBox="1"/>
          <p:nvPr/>
        </p:nvSpPr>
        <p:spPr>
          <a:xfrm>
            <a:off x="508000" y="1041400"/>
            <a:ext cx="11176000" cy="736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43670"/>
                </a:solidFill>
                <a:latin typeface="Microsoft YaHei"/>
              </a:rPr>
              <a:t>四种绘图工具，一套视觉标准</a:t>
            </a:r>
          </a:p>
        </p:txBody>
      </p:sp>
      <p:sp>
        <p:nvSpPr>
          <p:cNvPr id="10" name="subtitle:meaningful"/>
          <p:cNvSpPr txBox="1"/>
          <p:nvPr/>
        </p:nvSpPr>
        <p:spPr>
          <a:xfrm>
            <a:off x="508000" y="1905000"/>
            <a:ext cx="11176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728B"/>
                </a:solidFill>
                <a:latin typeface="Microsoft YaHei"/>
              </a:rPr>
              <a:t>按内容选工具，再用多模态视觉反复打磨。</a:t>
            </a:r>
          </a:p>
        </p:txBody>
      </p:sp>
      <p:sp>
        <p:nvSpPr>
          <p:cNvPr id="11" name="panel:tool-0"/>
          <p:cNvSpPr/>
          <p:nvPr/>
        </p:nvSpPr>
        <p:spPr>
          <a:xfrm>
            <a:off x="508000" y="2540000"/>
            <a:ext cx="53975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ool:title"/>
          <p:cNvSpPr txBox="1"/>
          <p:nvPr/>
        </p:nvSpPr>
        <p:spPr>
          <a:xfrm>
            <a:off x="762000" y="2730500"/>
            <a:ext cx="19685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55A48"/>
                </a:solidFill>
                <a:latin typeface="Microsoft YaHei"/>
              </a:rPr>
              <a:t>Python</a:t>
            </a:r>
          </a:p>
        </p:txBody>
      </p:sp>
      <p:sp>
        <p:nvSpPr>
          <p:cNvPr id="13" name="tool:application"/>
          <p:cNvSpPr txBox="1"/>
          <p:nvPr/>
        </p:nvSpPr>
        <p:spPr>
          <a:xfrm>
            <a:off x="762000" y="3225800"/>
            <a:ext cx="1968500" cy="711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数据曲线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趋势与统计</a:t>
            </a:r>
          </a:p>
        </p:txBody>
      </p:sp>
      <p:sp>
        <p:nvSpPr>
          <p:cNvPr id="14" name="panel:tool-1"/>
          <p:cNvSpPr/>
          <p:nvPr/>
        </p:nvSpPr>
        <p:spPr>
          <a:xfrm>
            <a:off x="6286500" y="2540000"/>
            <a:ext cx="53975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ool:title"/>
          <p:cNvSpPr txBox="1"/>
          <p:nvPr/>
        </p:nvSpPr>
        <p:spPr>
          <a:xfrm>
            <a:off x="6540500" y="2730500"/>
            <a:ext cx="19685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3670"/>
                </a:solidFill>
                <a:latin typeface="Microsoft YaHei"/>
              </a:rPr>
              <a:t>MATLAB</a:t>
            </a:r>
          </a:p>
        </p:txBody>
      </p:sp>
      <p:sp>
        <p:nvSpPr>
          <p:cNvPr id="16" name="tool:application"/>
          <p:cNvSpPr txBox="1"/>
          <p:nvPr/>
        </p:nvSpPr>
        <p:spPr>
          <a:xfrm>
            <a:off x="6540500" y="3225800"/>
            <a:ext cx="1968500" cy="711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数值计算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曲面与仿真</a:t>
            </a:r>
          </a:p>
        </p:txBody>
      </p:sp>
      <p:sp>
        <p:nvSpPr>
          <p:cNvPr id="17" name="panel:tool-2"/>
          <p:cNvSpPr/>
          <p:nvPr/>
        </p:nvSpPr>
        <p:spPr>
          <a:xfrm>
            <a:off x="508000" y="4445000"/>
            <a:ext cx="53975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ool:title"/>
          <p:cNvSpPr txBox="1"/>
          <p:nvPr/>
        </p:nvSpPr>
        <p:spPr>
          <a:xfrm>
            <a:off x="762000" y="4635500"/>
            <a:ext cx="19685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3670"/>
                </a:solidFill>
                <a:latin typeface="Microsoft YaHei"/>
              </a:rPr>
              <a:t>LaTeX</a:t>
            </a:r>
          </a:p>
        </p:txBody>
      </p:sp>
      <p:sp>
        <p:nvSpPr>
          <p:cNvPr id="19" name="tool:application"/>
          <p:cNvSpPr txBox="1"/>
          <p:nvPr/>
        </p:nvSpPr>
        <p:spPr>
          <a:xfrm>
            <a:off x="762000" y="5130800"/>
            <a:ext cx="1968500" cy="711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数学表达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公式与示意</a:t>
            </a:r>
          </a:p>
        </p:txBody>
      </p:sp>
      <p:sp>
        <p:nvSpPr>
          <p:cNvPr id="20" name="panel:tool-3"/>
          <p:cNvSpPr/>
          <p:nvPr/>
        </p:nvSpPr>
        <p:spPr>
          <a:xfrm>
            <a:off x="6286500" y="4445000"/>
            <a:ext cx="53975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ool:title"/>
          <p:cNvSpPr txBox="1"/>
          <p:nvPr/>
        </p:nvSpPr>
        <p:spPr>
          <a:xfrm>
            <a:off x="6540500" y="4635500"/>
            <a:ext cx="19685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E55A48"/>
                </a:solidFill>
                <a:latin typeface="Microsoft YaHei"/>
              </a:rPr>
              <a:t>PPT 原生</a:t>
            </a:r>
          </a:p>
        </p:txBody>
      </p:sp>
      <p:sp>
        <p:nvSpPr>
          <p:cNvPr id="22" name="tool:application"/>
          <p:cNvSpPr txBox="1"/>
          <p:nvPr/>
        </p:nvSpPr>
        <p:spPr>
          <a:xfrm>
            <a:off x="6540500" y="5130800"/>
            <a:ext cx="1968500" cy="711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可编辑图表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D"/>
                </a:solidFill>
                <a:latin typeface="Microsoft YaHei"/>
              </a:rPr>
              <a:t>流程与架构</a:t>
            </a:r>
          </a:p>
        </p:txBody>
      </p:sp>
      <p:pic>
        <p:nvPicPr>
          <p:cNvPr id="23" name="figure:python-plot.png" descr="python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772" y="2667000"/>
            <a:ext cx="2657856" cy="1384300"/>
          </a:xfrm>
          <a:prstGeom prst="rect">
            <a:avLst/>
          </a:prstGeom>
        </p:spPr>
      </p:pic>
      <p:pic>
        <p:nvPicPr>
          <p:cNvPr id="24" name="figure:matlab-surface.png" descr="matlab-surf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700" y="2792588"/>
            <a:ext cx="2667000" cy="1145822"/>
          </a:xfrm>
          <a:prstGeom prst="rect">
            <a:avLst/>
          </a:prstGeom>
        </p:spPr>
      </p:pic>
      <p:pic>
        <p:nvPicPr>
          <p:cNvPr id="25" name="figure:latex-figure.png" descr="latex-fig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200" y="4552944"/>
            <a:ext cx="2667000" cy="1435111"/>
          </a:xfrm>
          <a:prstGeom prst="rect">
            <a:avLst/>
          </a:prstGeom>
        </p:spPr>
      </p:pic>
      <p:sp>
        <p:nvSpPr>
          <p:cNvPr id="26" name="node:native"/>
          <p:cNvSpPr/>
          <p:nvPr/>
        </p:nvSpPr>
        <p:spPr>
          <a:xfrm>
            <a:off x="8801100" y="4978400"/>
            <a:ext cx="635000" cy="4826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输入</a:t>
            </a:r>
          </a:p>
        </p:txBody>
      </p:sp>
      <p:sp>
        <p:nvSpPr>
          <p:cNvPr id="27" name="node:native"/>
          <p:cNvSpPr/>
          <p:nvPr/>
        </p:nvSpPr>
        <p:spPr>
          <a:xfrm>
            <a:off x="9677400" y="4978400"/>
            <a:ext cx="635000" cy="48260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处理</a:t>
            </a:r>
          </a:p>
        </p:txBody>
      </p:sp>
      <p:sp>
        <p:nvSpPr>
          <p:cNvPr id="28" name="node:native"/>
          <p:cNvSpPr/>
          <p:nvPr/>
        </p:nvSpPr>
        <p:spPr>
          <a:xfrm>
            <a:off x="10553700" y="4978400"/>
            <a:ext cx="635000" cy="482600"/>
          </a:xfrm>
          <a:prstGeom prst="rect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38100" bIns="381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43670"/>
                </a:solidFill>
                <a:latin typeface="Microsoft YaHei"/>
              </a:rPr>
              <a:t>交付</a:t>
            </a:r>
          </a:p>
        </p:txBody>
      </p:sp>
      <p:cxnSp>
        <p:nvCxnSpPr>
          <p:cNvPr id="29" name="connector:native-flow"/>
          <p:cNvCxnSpPr>
            <a:stCxn id="26" idx="3"/>
            <a:endCxn id="27" idx="1"/>
          </p:cNvCxnSpPr>
          <p:nvPr/>
        </p:nvCxnSpPr>
        <p:spPr>
          <a:xfrm>
            <a:off x="9436100" y="5219700"/>
            <a:ext cx="241300" cy="0"/>
          </a:xfrm>
          <a:prstGeom prst="line">
            <a:avLst/>
          </a:prstGeom>
          <a:ln w="22860">
            <a:solidFill>
              <a:srgbClr val="243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native-flow"/>
          <p:cNvCxnSpPr>
            <a:stCxn id="27" idx="3"/>
            <a:endCxn id="28" idx="1"/>
          </p:cNvCxnSpPr>
          <p:nvPr/>
        </p:nvCxnSpPr>
        <p:spPr>
          <a:xfrm>
            <a:off x="10312400" y="5219700"/>
            <a:ext cx="241300" cy="0"/>
          </a:xfrm>
          <a:prstGeom prst="line">
            <a:avLst/>
          </a:prstGeom>
          <a:ln w="22860">
            <a:solidFill>
              <a:srgbClr val="243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age-number:promo"/>
          <p:cNvSpPr txBox="1"/>
          <p:nvPr/>
        </p:nvSpPr>
        <p:spPr>
          <a:xfrm>
            <a:off x="11150600" y="6350000"/>
            <a:ext cx="533400" cy="177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8B"/>
                </a:solidFill>
                <a:latin typeface="Microsoft YaHei"/>
              </a:rPr>
              <a:t>3/4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:coral-edge"/>
          <p:cNvSpPr/>
          <p:nvPr/>
        </p:nvSpPr>
        <p:spPr>
          <a:xfrm>
            <a:off x="0" y="0"/>
            <a:ext cx="152400" cy="1117600"/>
          </a:xfrm>
          <a:prstGeom prst="rect">
            <a:avLst/>
          </a:prstGeom>
          <a:solidFill>
            <a:srgbClr val="E55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:gold-edge"/>
          <p:cNvSpPr/>
          <p:nvPr/>
        </p:nvSpPr>
        <p:spPr>
          <a:xfrm>
            <a:off x="152400" y="0"/>
            <a:ext cx="152400" cy="66040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:mint-corner"/>
          <p:cNvSpPr/>
          <p:nvPr/>
        </p:nvSpPr>
        <p:spPr>
          <a:xfrm rot="10800000">
            <a:off x="11582400" y="0"/>
            <a:ext cx="609600" cy="609600"/>
          </a:xfrm>
          <a:prstGeom prst="rtTriangle">
            <a:avLst/>
          </a:prstGeom>
          <a:solidFill>
            <a:srgbClr val="5DC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:navy-corner"/>
          <p:cNvSpPr/>
          <p:nvPr/>
        </p:nvSpPr>
        <p:spPr>
          <a:xfrm rot="10800000">
            <a:off x="11811000" y="0"/>
            <a:ext cx="381000" cy="381000"/>
          </a:xfrm>
          <a:prstGeom prst="rtTriangle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:lower-edge"/>
          <p:cNvSpPr/>
          <p:nvPr/>
        </p:nvSpPr>
        <p:spPr>
          <a:xfrm>
            <a:off x="0" y="6172200"/>
            <a:ext cx="152400" cy="6858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and:project"/>
          <p:cNvSpPr txBox="1"/>
          <p:nvPr/>
        </p:nvSpPr>
        <p:spPr>
          <a:xfrm>
            <a:off x="508000" y="355600"/>
            <a:ext cx="3302000" cy="355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MyPPTSkill</a:t>
            </a:r>
          </a:p>
        </p:txBody>
      </p:sp>
      <p:sp>
        <p:nvSpPr>
          <p:cNvPr id="8" name="author:requested"/>
          <p:cNvSpPr txBox="1"/>
          <p:nvPr/>
        </p:nvSpPr>
        <p:spPr>
          <a:xfrm>
            <a:off x="8763000" y="393700"/>
            <a:ext cx="2921000" cy="304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28B"/>
                </a:solidFill>
                <a:latin typeface="Microsoft YaHei"/>
              </a:rPr>
              <a:t>MyPPTSkill 制作</a:t>
            </a:r>
          </a:p>
        </p:txBody>
      </p:sp>
      <p:sp>
        <p:nvSpPr>
          <p:cNvPr id="9" name="title:promo"/>
          <p:cNvSpPr txBox="1"/>
          <p:nvPr/>
        </p:nvSpPr>
        <p:spPr>
          <a:xfrm>
            <a:off x="508000" y="1041400"/>
            <a:ext cx="11176000" cy="736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43670"/>
                </a:solidFill>
                <a:latin typeface="Microsoft YaHei"/>
              </a:rPr>
              <a:t>选好风格，打磨细节，留住规则</a:t>
            </a:r>
          </a:p>
        </p:txBody>
      </p:sp>
      <p:sp>
        <p:nvSpPr>
          <p:cNvPr id="10" name="subtitle:meaningful"/>
          <p:cNvSpPr txBox="1"/>
          <p:nvPr/>
        </p:nvSpPr>
        <p:spPr>
          <a:xfrm>
            <a:off x="508000" y="1905000"/>
            <a:ext cx="11176000" cy="381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6728B"/>
                </a:solidFill>
                <a:latin typeface="Microsoft YaHei"/>
              </a:rPr>
              <a:t>从开始制作到持续更新，让每一次积累都用得上。</a:t>
            </a:r>
          </a:p>
        </p:txBody>
      </p:sp>
      <p:sp>
        <p:nvSpPr>
          <p:cNvPr id="11" name="benefit:workflow"/>
          <p:cNvSpPr/>
          <p:nvPr/>
        </p:nvSpPr>
        <p:spPr>
          <a:xfrm>
            <a:off x="508000" y="2692400"/>
            <a:ext cx="33020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77800" tIns="177800" bIns="177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3670"/>
                </a:solidFill>
                <a:latin typeface="Microsoft YaHei"/>
              </a:rPr>
              <a:t>风格有选择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21 套中文模板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也支持自带模板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沿用熟悉的视觉风格</a:t>
            </a:r>
          </a:p>
        </p:txBody>
      </p:sp>
      <p:sp>
        <p:nvSpPr>
          <p:cNvPr id="12" name="benefit:workflow"/>
          <p:cNvSpPr/>
          <p:nvPr/>
        </p:nvSpPr>
        <p:spPr>
          <a:xfrm>
            <a:off x="4445000" y="2692400"/>
            <a:ext cx="33020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77800" tIns="177800" bIns="177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3670"/>
                </a:solidFill>
                <a:latin typeface="Microsoft YaHei"/>
              </a:rPr>
              <a:t>细节反复磨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逐页看图，局部放大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定位问题，再次修正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直到完成视觉签核</a:t>
            </a:r>
          </a:p>
        </p:txBody>
      </p:sp>
      <p:sp>
        <p:nvSpPr>
          <p:cNvPr id="13" name="benefit:workflow"/>
          <p:cNvSpPr/>
          <p:nvPr/>
        </p:nvSpPr>
        <p:spPr>
          <a:xfrm>
            <a:off x="8382000" y="2692400"/>
            <a:ext cx="33020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77800" tIns="177800" bIns="177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3670"/>
                </a:solidFill>
                <a:latin typeface="Microsoft YaHei"/>
              </a:rPr>
              <a:t>规则留得住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上游模板与 Skills 更新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自适应保留定制规则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6334D"/>
                </a:solidFill>
                <a:latin typeface="Microsoft YaHei"/>
              </a:rPr>
              <a:t>让个性化要求持续生效</a:t>
            </a:r>
          </a:p>
        </p:txBody>
      </p:sp>
      <p:sp>
        <p:nvSpPr>
          <p:cNvPr id="14" name="panel:github-cta"/>
          <p:cNvSpPr/>
          <p:nvPr/>
        </p:nvSpPr>
        <p:spPr>
          <a:xfrm>
            <a:off x="508000" y="4851400"/>
            <a:ext cx="11176000" cy="1244600"/>
          </a:xfrm>
          <a:prstGeom prst="rect">
            <a:avLst/>
          </a:prstGeom>
          <a:solidFill>
            <a:srgbClr val="243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bel:github"/>
          <p:cNvSpPr txBox="1"/>
          <p:nvPr/>
        </p:nvSpPr>
        <p:spPr>
          <a:xfrm>
            <a:off x="787400" y="5029200"/>
            <a:ext cx="8128000" cy="254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DC2C4"/>
                </a:solidFill>
                <a:latin typeface="Microsoft YaHei"/>
              </a:rPr>
              <a:t>欢迎 Star / Fork / 提出意见</a:t>
            </a:r>
          </a:p>
        </p:txBody>
      </p:sp>
      <p:sp>
        <p:nvSpPr>
          <p:cNvPr id="16" name="link:github">
            <a:hlinkClick r:id="rId6"/>
          </p:cNvPr>
          <p:cNvSpPr txBox="1"/>
          <p:nvPr/>
        </p:nvSpPr>
        <p:spPr>
          <a:xfrm>
            <a:off x="787400" y="5346700"/>
            <a:ext cx="8128000" cy="431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https://github.com/Yifan0718/MyPPTSkill</a:t>
            </a:r>
          </a:p>
        </p:txBody>
      </p:sp>
      <p:sp>
        <p:nvSpPr>
          <p:cNvPr id="17" name="cta:star">
            <a:hlinkClick r:id="rId6"/>
          </p:cNvPr>
          <p:cNvSpPr/>
          <p:nvPr/>
        </p:nvSpPr>
        <p:spPr>
          <a:xfrm>
            <a:off x="9550400" y="5143500"/>
            <a:ext cx="1854200" cy="660400"/>
          </a:xfrm>
          <a:prstGeom prst="rect">
            <a:avLst/>
          </a:prstGeom>
          <a:solidFill>
            <a:srgbClr val="F6B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76200" bIns="76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670"/>
                </a:solidFill>
                <a:latin typeface="Microsoft YaHei"/>
              </a:rPr>
              <a:t>参与共创</a:t>
            </a:r>
          </a:p>
        </p:txBody>
      </p:sp>
      <p:sp>
        <p:nvSpPr>
          <p:cNvPr id="18" name="page-number:promo"/>
          <p:cNvSpPr txBox="1"/>
          <p:nvPr/>
        </p:nvSpPr>
        <p:spPr>
          <a:xfrm>
            <a:off x="11150600" y="6350000"/>
            <a:ext cx="533400" cy="177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8B"/>
                </a:solidFill>
                <a:latin typeface="Microsoft YaHei"/>
              </a:rPr>
              <a:t>4/4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TVkNzY3MjQ5YWQwYTM2MmM4YmNlOGE0OTdmOWI5NGYifQ==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00000"/>
      </a:dk2>
      <a:lt2>
        <a:srgbClr val="0F3343"/>
      </a:lt2>
      <a:accent1>
        <a:srgbClr val="2B357A"/>
      </a:accent1>
      <a:accent2>
        <a:srgbClr val="F2634B"/>
      </a:accent2>
      <a:accent3>
        <a:srgbClr val="61C9DC"/>
      </a:accent3>
      <a:accent4>
        <a:srgbClr val="FAA718"/>
      </a:accent4>
      <a:accent5>
        <a:srgbClr val="3F5C67"/>
      </a:accent5>
      <a:accent6>
        <a:srgbClr val="70AD47"/>
      </a:accent6>
      <a:hlink>
        <a:srgbClr val="0563C1"/>
      </a:hlink>
      <a:folHlink>
        <a:srgbClr val="954F72"/>
      </a:folHlink>
    </a:clrScheme>
    <a:fontScheme name="rl0l2bq3">
      <a:majorFont>
        <a:latin typeface="MiSans Normal"/>
        <a:ea typeface="MiSans Normal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PresentationFormat>宽屏</PresentationFormat>
  <Paragraphs>439</Paragraphs>
  <Slides>21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MiSans Normal</vt:lpstr>
      <vt:lpstr>微软雅黑</vt:lpstr>
      <vt:lpstr>Arial Unicode MS</vt:lpstr>
      <vt:lpstr>等线</vt:lpstr>
      <vt:lpstr>黑体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MyPPTSkill：讲得漂亮，排得整齐</dc:title>
  <cp:lastModifiedBy>Kwin</cp:lastModifiedBy>
  <cp:revision>2958</cp:revision>
  <dcterms:created xsi:type="dcterms:W3CDTF">2021-07-02T06:09:00Z</dcterms:created>
  <dcterms:modified xsi:type="dcterms:W3CDTF">2022-06-30T09:23:11Z</dcterms:modified>
  <dc:subject>四张核心优势宣传图</dc:subject>
  <dc:creator>MyPPTSkill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DD815F7D0AFF45D9A9CB278DA9F626E7</vt:lpwstr>
  </property>
  <property fmtid="{D5CDD505-2E9C-101B-9397-08002B2CF9AE}" pid="3" name="KSOProductBuildVer">
    <vt:lpwstr>2052-11.1.0.11830</vt:lpwstr>
  </property>
  <property fmtid="{D5CDD505-2E9C-101B-9397-08002B2CF9AE}" pid="4" name="KSOTemplateUUID">
    <vt:lpwstr>v1.0_mb_sdZ4Q0cnxkhdsmUhenXe+A==</vt:lpwstr>
  </property>
</Properties>
</file>