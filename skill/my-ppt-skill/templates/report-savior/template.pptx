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30.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30.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svg" ContentType="image/svg+xml"/>
  <Override PartName="/ppt/media/image70.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4.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5" Type="http://schemas.openxmlformats.org/officeDocument/2006/relationships/custom-properties" Target="docProps/custom.xml"/><Relationship Id="rId4"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66" r:id="rId5"/>
  </p:sldMasterIdLst>
  <p:notesMasterIdLst>
    <p:notesMasterId r:id="rId12"/>
  </p:notesMasterIdLst>
  <p:handoutMasterIdLst>
    <p:handoutMasterId r:id="rId56"/>
  </p:handoutMasterIdLst>
  <p:sldIdLst>
    <p:sldId id="11090274" r:id="rId11"/>
    <p:sldId id="11090273" r:id="rId13"/>
    <p:sldId id="16602473" r:id="rId14"/>
    <p:sldId id="11090276" r:id="rId15"/>
    <p:sldId id="11090277" r:id="rId16"/>
    <p:sldId id="11090278" r:id="rId17"/>
    <p:sldId id="11090280" r:id="rId18"/>
    <p:sldId id="11090286" r:id="rId19"/>
    <p:sldId id="11090288" r:id="rId20"/>
    <p:sldId id="11090291" r:id="rId21"/>
    <p:sldId id="11090287" r:id="rId22"/>
    <p:sldId id="272" r:id="rId23"/>
    <p:sldId id="16602436" r:id="rId24"/>
    <p:sldId id="16602439" r:id="rId25"/>
    <p:sldId id="16602441" r:id="rId26"/>
    <p:sldId id="16602442" r:id="rId27"/>
    <p:sldId id="16602435" r:id="rId28"/>
    <p:sldId id="11090281" r:id="rId29"/>
    <p:sldId id="16602437" r:id="rId30"/>
    <p:sldId id="16602443" r:id="rId31"/>
    <p:sldId id="16602444" r:id="rId32"/>
    <p:sldId id="16602445" r:id="rId33"/>
    <p:sldId id="16602446" r:id="rId34"/>
    <p:sldId id="16602447" r:id="rId35"/>
    <p:sldId id="16602448" r:id="rId36"/>
    <p:sldId id="16602449" r:id="rId37"/>
    <p:sldId id="16602450" r:id="rId38"/>
    <p:sldId id="16602451" r:id="rId39"/>
    <p:sldId id="16602452" r:id="rId40"/>
    <p:sldId id="16602470" r:id="rId41"/>
    <p:sldId id="16602453" r:id="rId42"/>
    <p:sldId id="16602472" r:id="rId43"/>
    <p:sldId id="16602456" r:id="rId44"/>
    <p:sldId id="16602457" r:id="rId45"/>
    <p:sldId id="16602458" r:id="rId46"/>
    <p:sldId id="16602459" r:id="rId47"/>
    <p:sldId id="16602460" r:id="rId48"/>
    <p:sldId id="16602461" r:id="rId49"/>
    <p:sldId id="16602462" r:id="rId50"/>
    <p:sldId id="16602463" r:id="rId51"/>
    <p:sldId id="16602464" r:id="rId52"/>
    <p:sldId id="16602465" r:id="rId53"/>
    <p:sldId id="16602466" r:id="rId54"/>
    <p:sldId id="16602467" r:id="rId5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3023"/>
    <a:srgbClr val="DA5220"/>
    <a:srgbClr val="8D795E"/>
    <a:srgbClr val="E8825E"/>
    <a:srgbClr val="0067E7"/>
    <a:srgbClr val="E7805B"/>
    <a:srgbClr val="E16133"/>
    <a:srgbClr val="E4B55A"/>
    <a:srgbClr val="60D2FA"/>
    <a:srgbClr val="069D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restored" preferSingleView="0" vertBarState="restored">
    <p:restoredLeft sz="18000" autoAdjust="0"/>
    <p:restoredTop sz="90000" autoAdjust="0"/>
  </p:normalViewPr>
  <p:slideViewPr>
    <p:cSldViewPr snapToGrid="0" showGuides="1">
      <p:cViewPr varScale="1">
        <p:scale>
          <a:sx n="48" d="100"/>
          <a:sy n="48" d="100"/>
        </p:scale>
        <p:origin x="2250" y="1302"/>
      </p:cViewPr>
      <p:guideLst>
        <p:guide orient="horz" pos="2167"/>
        <p:guide pos="3840"/>
      </p:guideLst>
    </p:cSldViewPr>
  </p:slideViewPr>
  <p:outlineViewPr>
    <p:cViewPr>
      <p:scale>
        <a:sx n="100" d="100"/>
        <a:sy n="100" d="100"/>
      </p:scale>
      <p:origin x="0" y="0"/>
    </p:cViewPr>
  </p:outlineViewPr>
  <p:notesTextViewPr>
    <p:cViewPr>
      <p:scale>
        <a:sx n="66" d="100"/>
        <a:sy n="66" d="100"/>
      </p:scale>
      <p:origin x="0" y="0"/>
    </p:cViewPr>
  </p:notesTextViewPr>
  <p:sorterViewPr>
    <p:cViewPr varScale="1">
      <p:scale>
        <a:sx n="1" d="1"/>
        <a:sy n="1" d="1"/>
      </p:scale>
      <p:origin x="0" y="0"/>
    </p:cViewPr>
  </p:sorterViewPr>
  <p:gridSpacing cx="72008" cy="72008"/>
</p:viewPr>
</file>

<file path=ppt/_rels/presentation.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11" Type="http://schemas.openxmlformats.org/officeDocument/2006/relationships/slide" Target="slides/slide6.xml"/><Relationship Id="rId12" Type="http://schemas.openxmlformats.org/officeDocument/2006/relationships/notesMaster" Target="notesMasters/notesMaster1.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handoutMaster" Target="handoutMasters/handoutMaster1.xml"/><Relationship Id="rId57" Type="http://schemas.openxmlformats.org/officeDocument/2006/relationships/presProps" Target="presProps.xml"/><Relationship Id="rId59" Type="http://schemas.openxmlformats.org/officeDocument/2006/relationships/tableStyles" Target="tableStyles.xml"/><Relationship Id="rId6"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8.xlsx"/><Relationship Id="rId2" Type="http://schemas.microsoft.com/office/2011/relationships/chartStyle" Target="style8.xml"/><Relationship Id="rId3" Type="http://schemas.microsoft.com/office/2011/relationships/chartColorStyle" Target="colors8.xml"/></Relationships>
</file>

<file path=ppt/charts/_rels/chart9.xml.rels><?xml version='1.0' encoding='UTF-8' standalone='yes'?>
<Relationships xmlns="http://schemas.openxmlformats.org/package/2006/relationships"><Relationship Id="rId1" Type="http://schemas.openxmlformats.org/officeDocument/2006/relationships/package" Target="../embeddings/Workbook9.xlsx"/><Relationship Id="rId2" Type="http://schemas.microsoft.com/office/2011/relationships/chartStyle" Target="style9.xml"/><Relationship Id="rId3" Type="http://schemas.microsoft.com/office/2011/relationships/chartColorStyle" Target="colors9.xml"/></Relationships>
</file>

<file path=ppt/charts/_rels/chart10.xml.rels><?xml version='1.0' encoding='UTF-8' standalone='yes'?>
<Relationships xmlns="http://schemas.openxmlformats.org/package/2006/relationships"><Relationship Id="rId1" Type="http://schemas.openxmlformats.org/officeDocument/2006/relationships/package" Target="../embeddings/Workbook10.xlsx"/><Relationship Id="rId2" Type="http://schemas.microsoft.com/office/2011/relationships/chartStyle" Target="style10.xml"/><Relationship Id="rId3" Type="http://schemas.microsoft.com/office/2011/relationships/chartColorStyle" Target="colors10.xml"/></Relationships>
</file>

<file path=ppt/charts/_rels/chart11.xml.rels><?xml version='1.0' encoding='UTF-8' standalone='yes'?>
<Relationships xmlns="http://schemas.openxmlformats.org/package/2006/relationships"><Relationship Id="rId1" Type="http://schemas.openxmlformats.org/officeDocument/2006/relationships/package" Target="../embeddings/Workbook11.xlsx"/><Relationship Id="rId2" Type="http://schemas.microsoft.com/office/2011/relationships/chartStyle" Target="style11.xml"/><Relationship Id="rId3" Type="http://schemas.microsoft.com/office/2011/relationships/chartColorStyle" Target="colors11.xml"/></Relationships>
</file>

<file path=ppt/charts/_rels/chart12.xml.rels><?xml version='1.0' encoding='UTF-8' standalone='yes'?>
<Relationships xmlns="http://schemas.openxmlformats.org/package/2006/relationships"><Relationship Id="rId1" Type="http://schemas.openxmlformats.org/officeDocument/2006/relationships/package" Target="../embeddings/Workbook12.xlsx"/><Relationship Id="rId2" Type="http://schemas.microsoft.com/office/2011/relationships/chartStyle" Target="style12.xml"/><Relationship Id="rId3" Type="http://schemas.microsoft.com/office/2011/relationships/chartColorStyle" Target="colors12.xml"/></Relationships>
</file>

<file path=ppt/charts/_rels/chart13.xml.rels><?xml version='1.0' encoding='UTF-8' standalone='yes'?>
<Relationships xmlns="http://schemas.openxmlformats.org/package/2006/relationships"><Relationship Id="rId1" Type="http://schemas.openxmlformats.org/officeDocument/2006/relationships/package" Target="../embeddings/Workbook13.xlsx"/><Relationship Id="rId2" Type="http://schemas.microsoft.com/office/2011/relationships/chartStyle" Target="style13.xml"/><Relationship Id="rId3" Type="http://schemas.microsoft.com/office/2011/relationships/chartColorStyle" Target="colors13.xml"/></Relationships>
</file>

<file path=ppt/charts/_rels/chart14.xml.rels><?xml version='1.0' encoding='UTF-8' standalone='yes'?>
<Relationships xmlns="http://schemas.openxmlformats.org/package/2006/relationships"><Relationship Id="rId1" Type="http://schemas.openxmlformats.org/officeDocument/2006/relationships/package" Target="../embeddings/Workbook14.xlsx"/><Relationship Id="rId2" Type="http://schemas.microsoft.com/office/2011/relationships/chartStyle" Target="style14.xml"/><Relationship Id="rId3" Type="http://schemas.microsoft.com/office/2011/relationships/chartColorStyle" Target="colors14.xml"/></Relationships>
</file>

<file path=ppt/charts/_rels/chart15.xml.rels><?xml version='1.0' encoding='UTF-8' standalone='yes'?>
<Relationships xmlns="http://schemas.openxmlformats.org/package/2006/relationships"><Relationship Id="rId1" Type="http://schemas.openxmlformats.org/officeDocument/2006/relationships/package" Target="../embeddings/Workbook15.xlsx"/><Relationship Id="rId2" Type="http://schemas.microsoft.com/office/2011/relationships/chartStyle" Target="style15.xml"/><Relationship Id="rId3" Type="http://schemas.microsoft.com/office/2011/relationships/chartColorStyle" Target="colors15.xml"/></Relationships>
</file>

<file path=ppt/charts/_rels/chart16.xml.rels><?xml version='1.0' encoding='UTF-8' standalone='yes'?>
<Relationships xmlns="http://schemas.openxmlformats.org/package/2006/relationships"><Relationship Id="rId1" Type="http://schemas.openxmlformats.org/officeDocument/2006/relationships/package" Target="../embeddings/Workbook16.xlsx"/><Relationship Id="rId2" Type="http://schemas.microsoft.com/office/2011/relationships/chartStyle" Target="style16.xml"/><Relationship Id="rId3" Type="http://schemas.microsoft.com/office/2011/relationships/chartColorStyle" Target="colors16.xml"/></Relationships>
</file>

<file path=ppt/charts/_rels/chart17.xml.rels><?xml version='1.0' encoding='UTF-8' standalone='yes'?>
<Relationships xmlns="http://schemas.openxmlformats.org/package/2006/relationships"><Relationship Id="rId1" Type="http://schemas.openxmlformats.org/officeDocument/2006/relationships/package" Target="../embeddings/Workbook17.xlsx"/><Relationship Id="rId2" Type="http://schemas.microsoft.com/office/2011/relationships/chartStyle" Target="style17.xml"/><Relationship Id="rId3" Type="http://schemas.microsoft.com/office/2011/relationships/chartColorStyle" Target="colors17.xml"/></Relationships>
</file>

<file path=ppt/charts/_rels/chart18.xml.rels><?xml version='1.0' encoding='UTF-8' standalone='yes'?>
<Relationships xmlns="http://schemas.openxmlformats.org/package/2006/relationships"><Relationship Id="rId1" Type="http://schemas.openxmlformats.org/officeDocument/2006/relationships/package" Target="../embeddings/Workbook18.xlsx"/><Relationship Id="rId2" Type="http://schemas.microsoft.com/office/2011/relationships/chartStyle" Target="style18.xml"/><Relationship Id="rId3" Type="http://schemas.microsoft.com/office/2011/relationships/chartColorStyle" Target="colors18.xml"/></Relationships>
</file>

<file path=ppt/charts/_rels/chart19.xml.rels><?xml version='1.0' encoding='UTF-8' standalone='yes'?>
<Relationships xmlns="http://schemas.openxmlformats.org/package/2006/relationships"><Relationship Id="rId1" Type="http://schemas.openxmlformats.org/officeDocument/2006/relationships/package" Target="../embeddings/Workbook19.xlsx"/><Relationship Id="rId2" Type="http://schemas.microsoft.com/office/2011/relationships/chartStyle" Target="style19.xml"/><Relationship Id="rId3" Type="http://schemas.microsoft.com/office/2011/relationships/chartColorStyle" Target="colors19.xml"/></Relationships>
</file>

<file path=ppt/charts/_rels/chart20.xml.rels><?xml version='1.0' encoding='UTF-8' standalone='yes'?>
<Relationships xmlns="http://schemas.openxmlformats.org/package/2006/relationships"><Relationship Id="rId1" Type="http://schemas.openxmlformats.org/officeDocument/2006/relationships/package" Target="../embeddings/Workbook20.xlsx"/><Relationship Id="rId2" Type="http://schemas.microsoft.com/office/2011/relationships/chartStyle" Target="style20.xml"/><Relationship Id="rId3" Type="http://schemas.microsoft.com/office/2011/relationships/chartColorStyle" Target="colors20.xml"/></Relationships>
</file>

<file path=ppt/charts/_rels/chart21.xml.rels><?xml version='1.0' encoding='UTF-8' standalone='yes'?>
<Relationships xmlns="http://schemas.openxmlformats.org/package/2006/relationships"><Relationship Id="rId1" Type="http://schemas.openxmlformats.org/officeDocument/2006/relationships/package" Target="../embeddings/Workbook21.xlsx"/><Relationship Id="rId2" Type="http://schemas.microsoft.com/office/2011/relationships/chartStyle" Target="style21.xml"/><Relationship Id="rId3" Type="http://schemas.microsoft.com/office/2011/relationships/chartColorStyle" Target="colors21.xml"/></Relationships>
</file>

<file path=ppt/charts/_rels/chart22.xml.rels><?xml version='1.0' encoding='UTF-8' standalone='yes'?>
<Relationships xmlns="http://schemas.openxmlformats.org/package/2006/relationships"><Relationship Id="rId1" Type="http://schemas.openxmlformats.org/officeDocument/2006/relationships/package" Target="../embeddings/Workbook22.xlsx"/><Relationship Id="rId2" Type="http://schemas.microsoft.com/office/2011/relationships/chartStyle" Target="style22.xml"/><Relationship Id="rId3" Type="http://schemas.microsoft.com/office/2011/relationships/chartColorStyle" Target="colors22.xml"/></Relationships>
</file>

<file path=ppt/charts/_rels/chart23.xml.rels><?xml version='1.0' encoding='UTF-8' standalone='yes'?>
<Relationships xmlns="http://schemas.openxmlformats.org/package/2006/relationships"><Relationship Id="rId1" Type="http://schemas.openxmlformats.org/officeDocument/2006/relationships/package" Target="../embeddings/Workbook23.xlsx"/><Relationship Id="rId2" Type="http://schemas.microsoft.com/office/2011/relationships/chartStyle" Target="style23.xml"/><Relationship Id="rId3" Type="http://schemas.microsoft.com/office/2011/relationships/chartColorStyle" Target="colors23.xml"/></Relationships>
</file>

<file path=ppt/charts/_rels/chart24.xml.rels><?xml version='1.0' encoding='UTF-8' standalone='yes'?>
<Relationships xmlns="http://schemas.openxmlformats.org/package/2006/relationships"><Relationship Id="rId1" Type="http://schemas.openxmlformats.org/officeDocument/2006/relationships/package" Target="../embeddings/Workbook24.xlsx"/><Relationship Id="rId2" Type="http://schemas.microsoft.com/office/2011/relationships/chartStyle" Target="style24.xml"/><Relationship Id="rId3" Type="http://schemas.microsoft.com/office/2011/relationships/chartColorStyle" Target="colors24.xml"/></Relationships>
</file>

<file path=ppt/charts/_rels/chart25.xml.rels><?xml version='1.0' encoding='UTF-8' standalone='yes'?>
<Relationships xmlns="http://schemas.openxmlformats.org/package/2006/relationships"><Relationship Id="rId1" Type="http://schemas.openxmlformats.org/officeDocument/2006/relationships/package" Target="../embeddings/Workbook25.xlsx"/><Relationship Id="rId2" Type="http://schemas.microsoft.com/office/2011/relationships/chartStyle" Target="style25.xml"/><Relationship Id="rId3" Type="http://schemas.microsoft.com/office/2011/relationships/chartColorStyle" Target="colors25.xml"/></Relationships>
</file>

<file path=ppt/charts/_rels/chart26.xml.rels><?xml version='1.0' encoding='UTF-8' standalone='yes'?>
<Relationships xmlns="http://schemas.openxmlformats.org/package/2006/relationships"><Relationship Id="rId1" Type="http://schemas.openxmlformats.org/officeDocument/2006/relationships/package" Target="../embeddings/Workbook26.xlsx"/><Relationship Id="rId2" Type="http://schemas.microsoft.com/office/2011/relationships/chartStyle" Target="style26.xml"/><Relationship Id="rId3" Type="http://schemas.microsoft.com/office/2011/relationships/chartColorStyle" Target="colors26.xml"/></Relationships>
</file>

<file path=ppt/charts/_rels/chart27.xml.rels><?xml version='1.0' encoding='UTF-8' standalone='yes'?>
<Relationships xmlns="http://schemas.openxmlformats.org/package/2006/relationships"><Relationship Id="rId1" Type="http://schemas.openxmlformats.org/officeDocument/2006/relationships/package" Target="../embeddings/Workbook27.xlsx"/><Relationship Id="rId2" Type="http://schemas.microsoft.com/office/2011/relationships/chartStyle" Target="style27.xml"/><Relationship Id="rId3" Type="http://schemas.microsoft.com/office/2011/relationships/chartColorStyle" Target="colors27.xml"/></Relationships>
</file>

<file path=ppt/charts/_rels/chart28.xml.rels><?xml version='1.0' encoding='UTF-8' standalone='yes'?>
<Relationships xmlns="http://schemas.openxmlformats.org/package/2006/relationships"><Relationship Id="rId1" Type="http://schemas.openxmlformats.org/officeDocument/2006/relationships/package" Target="../embeddings/Workbook28.xlsx"/><Relationship Id="rId2" Type="http://schemas.microsoft.com/office/2011/relationships/chartStyle" Target="style28.xml"/><Relationship Id="rId3" Type="http://schemas.microsoft.com/office/2011/relationships/chartColorStyle" Target="colors28.xml"/></Relationships>
</file>

<file path=ppt/charts/_rels/chart29.xml.rels><?xml version='1.0' encoding='UTF-8' standalone='yes'?>
<Relationships xmlns="http://schemas.openxmlformats.org/package/2006/relationships"><Relationship Id="rId1" Type="http://schemas.openxmlformats.org/officeDocument/2006/relationships/package" Target="../embeddings/Workbook29.xlsx"/><Relationship Id="rId2" Type="http://schemas.microsoft.com/office/2011/relationships/chartStyle" Target="style29.xml"/><Relationship Id="rId3" Type="http://schemas.microsoft.com/office/2011/relationships/chartColorStyle" Target="colors29.xml"/></Relationships>
</file>

<file path=ppt/charts/_rels/chart30.xml.rels><?xml version='1.0' encoding='UTF-8' standalone='yes'?>
<Relationships xmlns="http://schemas.openxmlformats.org/package/2006/relationships"><Relationship Id="rId1" Type="http://schemas.openxmlformats.org/officeDocument/2006/relationships/package" Target="../embeddings/Workbook30.xlsx"/><Relationship Id="rId2" Type="http://schemas.microsoft.com/office/2011/relationships/chartStyle" Target="style30.xml"/><Relationship Id="rId3" Type="http://schemas.microsoft.com/office/2011/relationships/chartColorStyle" Target="colors30.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accent1">
                <a:alpha val="30000"/>
              </a:schemeClr>
            </a:solidFill>
            <a:ln w="19050">
              <a:noFill/>
            </a:ln>
          </c:spPr>
          <c:explosion val="2"/>
          <c:dPt>
            <c:idx val="0"/>
            <c:bubble3D val="0"/>
            <c:spPr>
              <a:solidFill>
                <a:schemeClr val="accent1">
                  <a:alpha val="30000"/>
                </a:schemeClr>
              </a:solidFill>
              <a:ln w="19050">
                <a:noFill/>
              </a:ln>
              <a:effectLst/>
            </c:spPr>
          </c:dPt>
          <c:dPt>
            <c:idx val="1"/>
            <c:bubble3D val="0"/>
            <c:spPr>
              <a:solidFill>
                <a:schemeClr val="accent1">
                  <a:alpha val="30000"/>
                </a:schemeClr>
              </a:solidFill>
              <a:ln w="19050">
                <a:noFill/>
              </a:ln>
              <a:effectLst/>
            </c:spPr>
          </c:dPt>
          <c:dPt>
            <c:idx val="2"/>
            <c:bubble3D val="0"/>
            <c:spPr>
              <a:solidFill>
                <a:schemeClr val="accent1">
                  <a:alpha val="30000"/>
                </a:schemeClr>
              </a:solidFill>
              <a:ln w="19050">
                <a:noFill/>
              </a:ln>
              <a:effectLst/>
            </c:spPr>
          </c:dPt>
          <c:dPt>
            <c:idx val="3"/>
            <c:bubble3D val="0"/>
            <c:spPr>
              <a:solidFill>
                <a:schemeClr val="accent1">
                  <a:alpha val="30000"/>
                </a:schemeClr>
              </a:solidFill>
              <a:ln w="19050">
                <a:noFill/>
              </a:ln>
              <a:effectLst/>
            </c:spPr>
          </c:dPt>
          <c:dPt>
            <c:idx val="4"/>
            <c:bubble3D val="0"/>
            <c:spPr>
              <a:solidFill>
                <a:schemeClr val="accent1">
                  <a:alpha val="30000"/>
                </a:schemeClr>
              </a:solidFill>
              <a:ln w="19050">
                <a:noFill/>
              </a:ln>
              <a:effectLst/>
            </c:spPr>
          </c:dPt>
          <c:dLbls>
            <c:delete val="1"/>
          </c:dLbls>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2</c:v>
                </c:pt>
                <c:pt idx="1">
                  <c:v>2</c:v>
                </c:pt>
                <c:pt idx="2">
                  <c:v>2</c:v>
                </c:pt>
                <c:pt idx="3">
                  <c:v>2</c:v>
                </c:pt>
                <c:pt idx="4">
                  <c:v>2</c:v>
                </c:pt>
              </c:numCache>
            </c:numRef>
          </c:val>
        </c:ser>
        <c:dLbls>
          <c:showLegendKey val="0"/>
          <c:showVal val="0"/>
          <c:showCatName val="0"/>
          <c:showSerName val="0"/>
          <c:showPercent val="0"/>
          <c:showBubbleSize val="0"/>
          <c:showLeaderLines val="1"/>
        </c:dLbls>
        <c:firstSliceAng val="0"/>
        <c:holeSize val="69"/>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9"/>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accent1">
                <a:alpha val="30000"/>
              </a:schemeClr>
            </a:solidFill>
            <a:ln w="19050">
              <a:noFill/>
            </a:ln>
          </c:spPr>
          <c:explosion val="2"/>
          <c:dPt>
            <c:idx val="0"/>
            <c:bubble3D val="0"/>
            <c:spPr>
              <a:solidFill>
                <a:schemeClr val="accent1">
                  <a:alpha val="30000"/>
                </a:schemeClr>
              </a:solidFill>
              <a:ln w="19050">
                <a:noFill/>
              </a:ln>
              <a:effectLst/>
            </c:spPr>
          </c:dPt>
          <c:dPt>
            <c:idx val="1"/>
            <c:bubble3D val="0"/>
            <c:spPr>
              <a:solidFill>
                <a:schemeClr val="accent1">
                  <a:alpha val="30000"/>
                </a:schemeClr>
              </a:solidFill>
              <a:ln w="19050">
                <a:noFill/>
              </a:ln>
              <a:effectLst/>
            </c:spPr>
          </c:dPt>
          <c:dPt>
            <c:idx val="2"/>
            <c:bubble3D val="0"/>
            <c:spPr>
              <a:solidFill>
                <a:schemeClr val="accent1">
                  <a:alpha val="30000"/>
                </a:schemeClr>
              </a:solidFill>
              <a:ln w="19050">
                <a:noFill/>
              </a:ln>
              <a:effectLst/>
            </c:spPr>
          </c:dPt>
          <c:dPt>
            <c:idx val="3"/>
            <c:bubble3D val="0"/>
            <c:spPr>
              <a:solidFill>
                <a:schemeClr val="accent1">
                  <a:alpha val="30000"/>
                </a:schemeClr>
              </a:solidFill>
              <a:ln w="19050">
                <a:noFill/>
              </a:ln>
              <a:effectLst/>
            </c:spPr>
          </c:dPt>
          <c:dPt>
            <c:idx val="4"/>
            <c:bubble3D val="0"/>
            <c:spPr>
              <a:solidFill>
                <a:schemeClr val="accent1">
                  <a:alpha val="30000"/>
                </a:schemeClr>
              </a:solidFill>
              <a:ln w="19050">
                <a:noFill/>
              </a:ln>
              <a:effectLst/>
            </c:spPr>
          </c:dPt>
          <c:dLbls>
            <c:delete val="1"/>
          </c:dLbls>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2</c:v>
                </c:pt>
                <c:pt idx="1">
                  <c:v>2</c:v>
                </c:pt>
                <c:pt idx="2">
                  <c:v>2</c:v>
                </c:pt>
                <c:pt idx="3">
                  <c:v>2</c:v>
                </c:pt>
                <c:pt idx="4">
                  <c:v>2</c:v>
                </c:pt>
              </c:numCache>
            </c:numRef>
          </c:val>
        </c:ser>
        <c:dLbls>
          <c:showLegendKey val="0"/>
          <c:showVal val="0"/>
          <c:showCatName val="0"/>
          <c:showSerName val="0"/>
          <c:showPercent val="0"/>
          <c:showBubbleSize val="0"/>
          <c:showLeaderLines val="1"/>
        </c:dLbls>
        <c:firstSliceAng val="0"/>
        <c:holeSize val="69"/>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noFill/>
            <a:ln w="3175">
              <a:solidFill>
                <a:schemeClr val="accent1"/>
              </a:solidFill>
              <a:prstDash val="dash"/>
            </a:ln>
          </c:spPr>
          <c:explosion val="4"/>
          <c:dPt>
            <c:idx val="0"/>
            <c:bubble3D val="0"/>
            <c:spPr>
              <a:noFill/>
              <a:ln w="3175">
                <a:solidFill>
                  <a:schemeClr val="accent1"/>
                </a:solidFill>
                <a:prstDash val="dash"/>
              </a:ln>
              <a:effectLst/>
            </c:spPr>
          </c:dPt>
          <c:dPt>
            <c:idx val="1"/>
            <c:bubble3D val="0"/>
            <c:spPr>
              <a:noFill/>
              <a:ln w="3175">
                <a:solidFill>
                  <a:schemeClr val="accent1"/>
                </a:solidFill>
                <a:prstDash val="dash"/>
              </a:ln>
              <a:effectLst/>
            </c:spPr>
          </c:dPt>
          <c:dPt>
            <c:idx val="2"/>
            <c:bubble3D val="0"/>
            <c:spPr>
              <a:noFill/>
              <a:ln w="3175">
                <a:solidFill>
                  <a:schemeClr val="accent1"/>
                </a:solidFill>
                <a:prstDash val="dash"/>
              </a:ln>
              <a:effectLst/>
            </c:spPr>
          </c:dPt>
          <c:dPt>
            <c:idx val="3"/>
            <c:bubble3D val="0"/>
            <c:spPr>
              <a:noFill/>
              <a:ln w="3175">
                <a:solidFill>
                  <a:schemeClr val="accent1"/>
                </a:solidFill>
                <a:prstDash val="dash"/>
              </a:ln>
              <a:effectLst/>
            </c:spPr>
          </c:dPt>
          <c:dPt>
            <c:idx val="4"/>
            <c:bubble3D val="0"/>
            <c:spPr>
              <a:noFill/>
              <a:ln w="3175">
                <a:solidFill>
                  <a:schemeClr val="accent1"/>
                </a:solidFill>
                <a:prstDash val="dash"/>
              </a:ln>
              <a:effectLst/>
            </c:spPr>
          </c:dPt>
          <c:dLbls>
            <c:delete val="1"/>
          </c:dLbls>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2</c:v>
                </c:pt>
                <c:pt idx="1">
                  <c:v>2</c:v>
                </c:pt>
                <c:pt idx="2">
                  <c:v>2</c:v>
                </c:pt>
                <c:pt idx="3">
                  <c:v>2</c:v>
                </c:pt>
                <c:pt idx="4">
                  <c:v>2</c:v>
                </c:pt>
              </c:numCache>
            </c:numRef>
          </c:val>
        </c:ser>
        <c:dLbls>
          <c:showLegendKey val="0"/>
          <c:showVal val="0"/>
          <c:showCatName val="0"/>
          <c:showSerName val="0"/>
          <c:showPercent val="0"/>
          <c:showBubbleSize val="0"/>
          <c:showLeaderLines val="1"/>
        </c:dLbls>
        <c:firstSliceAng val="36"/>
      </c:pie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noFill/>
            <a:ln w="3175">
              <a:noFill/>
              <a:prstDash val="dash"/>
            </a:ln>
          </c:spPr>
          <c:explosion val="4"/>
          <c:dPt>
            <c:idx val="0"/>
            <c:bubble3D val="0"/>
            <c:spPr>
              <a:gradFill>
                <a:gsLst>
                  <a:gs pos="100000">
                    <a:schemeClr val="accent1">
                      <a:lumMod val="20000"/>
                      <a:lumOff val="80000"/>
                      <a:alpha val="0"/>
                    </a:schemeClr>
                  </a:gs>
                  <a:gs pos="0">
                    <a:schemeClr val="accent1">
                      <a:lumMod val="20000"/>
                      <a:lumOff val="80000"/>
                      <a:alpha val="60000"/>
                    </a:schemeClr>
                  </a:gs>
                </a:gsLst>
                <a:lin ang="9720000" scaled="0"/>
              </a:gradFill>
              <a:ln w="3175">
                <a:noFill/>
                <a:prstDash val="dash"/>
              </a:ln>
              <a:effectLst/>
            </c:spPr>
          </c:dPt>
          <c:dPt>
            <c:idx val="1"/>
            <c:bubble3D val="0"/>
            <c:spPr>
              <a:gradFill>
                <a:gsLst>
                  <a:gs pos="100000">
                    <a:schemeClr val="accent1">
                      <a:lumMod val="20000"/>
                      <a:lumOff val="80000"/>
                      <a:alpha val="0"/>
                    </a:schemeClr>
                  </a:gs>
                  <a:gs pos="0">
                    <a:schemeClr val="accent1">
                      <a:lumMod val="20000"/>
                      <a:lumOff val="80000"/>
                      <a:alpha val="60000"/>
                    </a:schemeClr>
                  </a:gs>
                </a:gsLst>
                <a:lin ang="14040000" scaled="0"/>
              </a:gradFill>
              <a:ln w="3175">
                <a:noFill/>
                <a:prstDash val="dash"/>
              </a:ln>
              <a:effectLst/>
            </c:spPr>
          </c:dPt>
          <c:dPt>
            <c:idx val="2"/>
            <c:bubble3D val="0"/>
            <c:spPr>
              <a:gradFill>
                <a:gsLst>
                  <a:gs pos="100000">
                    <a:schemeClr val="accent1">
                      <a:lumMod val="20000"/>
                      <a:lumOff val="80000"/>
                      <a:alpha val="0"/>
                    </a:schemeClr>
                  </a:gs>
                  <a:gs pos="0">
                    <a:schemeClr val="accent1">
                      <a:lumMod val="20000"/>
                      <a:lumOff val="80000"/>
                      <a:alpha val="60000"/>
                    </a:schemeClr>
                  </a:gs>
                </a:gsLst>
                <a:lin ang="18240000" scaled="0"/>
              </a:gradFill>
              <a:ln w="3175">
                <a:noFill/>
                <a:prstDash val="dash"/>
              </a:ln>
              <a:effectLst/>
            </c:spPr>
          </c:dPt>
          <c:dPt>
            <c:idx val="3"/>
            <c:bubble3D val="0"/>
            <c:spPr>
              <a:gradFill>
                <a:gsLst>
                  <a:gs pos="100000">
                    <a:schemeClr val="accent1">
                      <a:lumMod val="20000"/>
                      <a:lumOff val="80000"/>
                      <a:alpha val="0"/>
                    </a:schemeClr>
                  </a:gs>
                  <a:gs pos="0">
                    <a:schemeClr val="accent1">
                      <a:lumMod val="20000"/>
                      <a:lumOff val="80000"/>
                      <a:alpha val="60000"/>
                    </a:schemeClr>
                  </a:gs>
                </a:gsLst>
                <a:lin ang="1080000" scaled="0"/>
              </a:gradFill>
              <a:ln w="3175">
                <a:noFill/>
                <a:prstDash val="dash"/>
              </a:ln>
              <a:effectLst/>
            </c:spPr>
          </c:dPt>
          <c:dPt>
            <c:idx val="4"/>
            <c:bubble3D val="0"/>
            <c:spPr>
              <a:gradFill>
                <a:gsLst>
                  <a:gs pos="100000">
                    <a:schemeClr val="accent1">
                      <a:lumMod val="20000"/>
                      <a:lumOff val="80000"/>
                      <a:alpha val="0"/>
                    </a:schemeClr>
                  </a:gs>
                  <a:gs pos="0">
                    <a:schemeClr val="accent1">
                      <a:lumMod val="20000"/>
                      <a:lumOff val="80000"/>
                      <a:alpha val="60000"/>
                    </a:schemeClr>
                  </a:gs>
                </a:gsLst>
                <a:lin ang="5400000" scaled="0"/>
              </a:gradFill>
              <a:ln w="3175">
                <a:noFill/>
                <a:prstDash val="dash"/>
              </a:ln>
              <a:effectLst/>
            </c:spPr>
          </c:dPt>
          <c:dLbls>
            <c:delete val="1"/>
          </c:dLbls>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2</c:v>
                </c:pt>
                <c:pt idx="1">
                  <c:v>2</c:v>
                </c:pt>
                <c:pt idx="2">
                  <c:v>2</c:v>
                </c:pt>
                <c:pt idx="3">
                  <c:v>2</c:v>
                </c:pt>
                <c:pt idx="4">
                  <c:v>2</c:v>
                </c:pt>
              </c:numCache>
            </c:numRef>
          </c:val>
        </c:ser>
        <c:dLbls>
          <c:showLegendKey val="0"/>
          <c:showVal val="0"/>
          <c:showCatName val="0"/>
          <c:showSerName val="0"/>
          <c:showPercent val="0"/>
          <c:showBubbleSize val="0"/>
          <c:showLeaderLines val="1"/>
        </c:dLbls>
        <c:firstSliceAng val="36"/>
      </c:pie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accent1"/>
            </a:solidFill>
            <a:ln w="19050">
              <a:noFill/>
            </a:ln>
          </c:spPr>
          <c:explosion val="3"/>
          <c:dPt>
            <c:idx val="0"/>
            <c:bubble3D val="0"/>
            <c:spPr>
              <a:solidFill>
                <a:schemeClr val="accent1"/>
              </a:solidFill>
              <a:ln w="19050">
                <a:noFill/>
              </a:ln>
              <a:effectLst/>
            </c:spPr>
          </c:dPt>
          <c:dPt>
            <c:idx val="1"/>
            <c:bubble3D val="0"/>
            <c:spPr>
              <a:solidFill>
                <a:schemeClr val="accent1"/>
              </a:solidFill>
              <a:ln w="19050">
                <a:noFill/>
              </a:ln>
              <a:effectLst/>
            </c:spPr>
          </c:dPt>
          <c:dPt>
            <c:idx val="2"/>
            <c:bubble3D val="0"/>
            <c:spPr>
              <a:solidFill>
                <a:schemeClr val="accent1"/>
              </a:solidFill>
              <a:ln w="19050">
                <a:noFill/>
              </a:ln>
              <a:effectLst/>
            </c:spPr>
          </c:dPt>
          <c:dPt>
            <c:idx val="3"/>
            <c:bubble3D val="0"/>
            <c:spPr>
              <a:noFill/>
              <a:ln w="19050">
                <a:noFill/>
              </a:ln>
              <a:effectLst/>
            </c:spPr>
          </c:dPt>
          <c:dPt>
            <c:idx val="4"/>
            <c:bubble3D val="0"/>
            <c:spPr>
              <a:solidFill>
                <a:schemeClr val="accent1"/>
              </a:solidFill>
              <a:ln w="19050">
                <a:noFill/>
              </a:ln>
              <a:effectLst/>
            </c:spPr>
          </c:dPt>
          <c:dPt>
            <c:idx val="5"/>
            <c:bubble3D val="0"/>
            <c:spPr>
              <a:solidFill>
                <a:schemeClr val="accent1"/>
              </a:solidFill>
              <a:ln w="19050">
                <a:noFill/>
              </a:ln>
              <a:effectLst/>
            </c:spPr>
          </c:dPt>
          <c:dPt>
            <c:idx val="6"/>
            <c:bubble3D val="0"/>
            <c:spPr>
              <a:solidFill>
                <a:schemeClr val="accent1"/>
              </a:solidFill>
              <a:ln w="19050">
                <a:noFill/>
              </a:ln>
              <a:effectLst/>
            </c:spPr>
          </c:dPt>
          <c:dPt>
            <c:idx val="7"/>
            <c:bubble3D val="0"/>
            <c:spPr>
              <a:noFill/>
              <a:ln w="19050">
                <a:noFill/>
              </a:ln>
              <a:effectLst/>
            </c:spPr>
          </c:dPt>
          <c:dLbls>
            <c:delete val="1"/>
          </c:dLbls>
          <c:cat>
            <c:strRef>
              <c:f>Sheet1!$A$2:$A$9</c:f>
              <c:strCache>
                <c:ptCount val="4"/>
                <c:pt idx="0">
                  <c:v>第一季度</c:v>
                </c:pt>
                <c:pt idx="1">
                  <c:v>第二季度</c:v>
                </c:pt>
                <c:pt idx="2">
                  <c:v>第三季度</c:v>
                </c:pt>
                <c:pt idx="3">
                  <c:v>第四季度</c:v>
                </c:pt>
              </c:strCache>
            </c:strRef>
          </c:cat>
          <c:val>
            <c:numRef>
              <c:f>Sheet1!$B$2:$B$9</c:f>
              <c:numCache>
                <c:formatCode>General</c:formatCode>
                <c:ptCount val="8"/>
                <c:pt idx="0">
                  <c:v>2</c:v>
                </c:pt>
                <c:pt idx="1">
                  <c:v>2</c:v>
                </c:pt>
                <c:pt idx="2">
                  <c:v>2</c:v>
                </c:pt>
                <c:pt idx="3">
                  <c:v>6</c:v>
                </c:pt>
                <c:pt idx="4">
                  <c:v>2</c:v>
                </c:pt>
                <c:pt idx="5">
                  <c:v>2</c:v>
                </c:pt>
                <c:pt idx="6">
                  <c:v>2</c:v>
                </c:pt>
                <c:pt idx="7">
                  <c:v>6</c:v>
                </c:pt>
              </c:numCache>
            </c:numRef>
          </c:val>
        </c:ser>
        <c:dLbls>
          <c:showLegendKey val="0"/>
          <c:showVal val="0"/>
          <c:showCatName val="0"/>
          <c:showSerName val="0"/>
          <c:showPercent val="0"/>
          <c:showBubbleSize val="0"/>
          <c:showLeaderLines val="1"/>
        </c:dLbls>
        <c:firstSliceAng val="45"/>
        <c:holeSize val="90"/>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tx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1000</c:v>
                </c:pt>
                <c:pt idx="1">
                  <c:v>1550</c:v>
                </c:pt>
                <c:pt idx="2">
                  <c:v>1100</c:v>
                </c:pt>
                <c:pt idx="3">
                  <c:v>950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1">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bg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900</c:v>
                </c:pt>
                <c:pt idx="1">
                  <c:v>1140</c:v>
                </c:pt>
                <c:pt idx="2">
                  <c:v>1800</c:v>
                </c:pt>
                <c:pt idx="3">
                  <c:v>1460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2"/>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2">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tx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650</c:v>
                </c:pt>
                <c:pt idx="1">
                  <c:v>1180</c:v>
                </c:pt>
                <c:pt idx="2">
                  <c:v>1620</c:v>
                </c:pt>
                <c:pt idx="3">
                  <c:v>1150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1">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bg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1250</c:v>
                </c:pt>
                <c:pt idx="1">
                  <c:v>1450</c:v>
                </c:pt>
                <c:pt idx="2">
                  <c:v>900</c:v>
                </c:pt>
                <c:pt idx="3">
                  <c:v>1900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2"/>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2">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tx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600</c:v>
                </c:pt>
                <c:pt idx="1">
                  <c:v>1200</c:v>
                </c:pt>
                <c:pt idx="2">
                  <c:v>1100</c:v>
                </c:pt>
                <c:pt idx="3">
                  <c:v>1800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1">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elete val="1"/>
          </c:dLbls>
          <c:cat>
            <c:strRef>
              <c:f>Sheet1!$A$2:$A$7</c:f>
              <c:strCache>
                <c:ptCount val="6"/>
                <c:pt idx="0">
                  <c:v>2024Q1</c:v>
                </c:pt>
                <c:pt idx="1">
                  <c:v>2024Q2</c:v>
                </c:pt>
                <c:pt idx="2">
                  <c:v>2024Q3</c:v>
                </c:pt>
                <c:pt idx="3">
                  <c:v>2024Q4</c:v>
                </c:pt>
                <c:pt idx="4">
                  <c:v>2025Q1</c:v>
                </c:pt>
                <c:pt idx="5">
                  <c:v>2025Q2</c:v>
                </c:pt>
              </c:strCache>
            </c:strRef>
          </c:cat>
          <c:val>
            <c:numRef>
              <c:f>Sheet1!$B$2:$B$7</c:f>
              <c:numCache>
                <c:formatCode>General</c:formatCode>
                <c:ptCount val="6"/>
                <c:pt idx="0">
                  <c:v>22</c:v>
                </c:pt>
                <c:pt idx="1">
                  <c:v>25</c:v>
                </c:pt>
                <c:pt idx="2">
                  <c:v>30</c:v>
                </c:pt>
                <c:pt idx="3">
                  <c:v>33</c:v>
                </c:pt>
                <c:pt idx="4">
                  <c:v>38</c:v>
                </c:pt>
                <c:pt idx="5">
                  <c:v>42</c:v>
                </c:pt>
              </c:numCache>
            </c:numRef>
          </c:val>
        </c:ser>
        <c:dLbls>
          <c:showLegendKey val="0"/>
          <c:showVal val="0"/>
          <c:showCatName val="0"/>
          <c:showSerName val="0"/>
          <c:showPercent val="0"/>
          <c:showBubbleSize val="0"/>
        </c:dLbls>
        <c:gapWidth val="80"/>
        <c:overlap val="-27"/>
        <c:axId val="527341088"/>
        <c:axId val="527358848"/>
      </c:barChart>
      <c:catAx>
        <c:axId val="527341088"/>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zh-CN" sz="500" b="0" i="0" u="none" strike="noStrike" kern="1200" baseline="0">
                <a:solidFill>
                  <a:schemeClr val="tx1"/>
                </a:solidFill>
                <a:latin typeface="+mn-ea"/>
                <a:ea typeface="+mn-ea"/>
                <a:cs typeface="思源黑体 CN Normal" panose="020B0400000000000000" pitchFamily="34" charset="-122"/>
              </a:defRPr>
            </a:pPr>
          </a:p>
        </c:txPr>
        <c:crossAx val="527358848"/>
        <c:crosses val="autoZero"/>
        <c:auto val="1"/>
        <c:lblAlgn val="ctr"/>
        <c:lblOffset val="100"/>
        <c:noMultiLvlLbl val="0"/>
      </c:catAx>
      <c:valAx>
        <c:axId val="527358848"/>
        <c:scaling>
          <c:orientation val="minMax"/>
        </c:scaling>
        <c:delete val="0"/>
        <c:axPos val="l"/>
        <c:majorGridlines>
          <c:spPr>
            <a:ln w="3175" cap="flat" cmpd="sng" algn="ctr">
              <a:solidFill>
                <a:schemeClr val="accent1">
                  <a:alpha val="4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500" b="0" i="0" u="none" strike="noStrike" kern="1200" baseline="0">
                <a:solidFill>
                  <a:schemeClr val="tx1"/>
                </a:solidFill>
                <a:latin typeface="+mn-ea"/>
                <a:ea typeface="+mn-ea"/>
                <a:cs typeface="思源黑体 CN Normal" panose="020B0400000000000000" pitchFamily="34" charset="-122"/>
              </a:defRPr>
            </a:pPr>
          </a:p>
        </c:txPr>
        <c:crossAx val="527341088"/>
        <c:crosses val="autoZero"/>
        <c:crossBetween val="between"/>
        <c:majorUnit val="9"/>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ln w="9525">
              <a:solidFill>
                <a:schemeClr val="lt1"/>
              </a:solidFill>
            </a:ln>
          </c:spPr>
          <c:explosion val="0"/>
          <c:dPt>
            <c:idx val="0"/>
            <c:bubble3D val="0"/>
            <c:spPr>
              <a:solidFill>
                <a:schemeClr val="accent2"/>
              </a:solidFill>
              <a:ln w="9525">
                <a:solidFill>
                  <a:schemeClr val="lt1"/>
                </a:solidFill>
              </a:ln>
              <a:effectLst/>
            </c:spPr>
          </c:dPt>
          <c:dPt>
            <c:idx val="1"/>
            <c:bubble3D val="0"/>
            <c:spPr>
              <a:solidFill>
                <a:schemeClr val="accent1"/>
              </a:solidFill>
              <a:ln w="9525">
                <a:solidFill>
                  <a:schemeClr val="lt1"/>
                </a:solid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0.15</c:v>
                </c:pt>
                <c:pt idx="1">
                  <c:v>0.85</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600" b="0" i="0" u="none" strike="noStrike" kern="1200" baseline="0">
                    <a:solidFill>
                      <a:schemeClr val="tx2"/>
                    </a:solidFill>
                    <a:latin typeface="+mj-ea"/>
                    <a:ea typeface="+mj-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智能门锁</c:v>
                </c:pt>
                <c:pt idx="1">
                  <c:v>智能摄像头</c:v>
                </c:pt>
                <c:pt idx="2">
                  <c:v>智能灯具</c:v>
                </c:pt>
                <c:pt idx="3">
                  <c:v>智能窗帘</c:v>
                </c:pt>
                <c:pt idx="4">
                  <c:v>智能温控系统</c:v>
                </c:pt>
                <c:pt idx="5">
                  <c:v>智能音箱</c:v>
                </c:pt>
                <c:pt idx="6">
                  <c:v>智能扫地机器人</c:v>
                </c:pt>
                <c:pt idx="7">
                  <c:v>智能空气净化器</c:v>
                </c:pt>
              </c:strCache>
            </c:strRef>
          </c:cat>
          <c:val>
            <c:numRef>
              <c:f>Sheet1!$B$2:$B$9</c:f>
              <c:numCache>
                <c:formatCode>General</c:formatCode>
                <c:ptCount val="8"/>
                <c:pt idx="0">
                  <c:v>120</c:v>
                </c:pt>
                <c:pt idx="1">
                  <c:v>90</c:v>
                </c:pt>
                <c:pt idx="2">
                  <c:v>80</c:v>
                </c:pt>
                <c:pt idx="3">
                  <c:v>60</c:v>
                </c:pt>
                <c:pt idx="4">
                  <c:v>70</c:v>
                </c:pt>
                <c:pt idx="5">
                  <c:v>100</c:v>
                </c:pt>
                <c:pt idx="6">
                  <c:v>110</c:v>
                </c:pt>
                <c:pt idx="7">
                  <c:v>95</c:v>
                </c:pt>
              </c:numCache>
            </c:numRef>
          </c:val>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600" b="0" i="0" u="none" strike="noStrike" kern="1200" baseline="0">
                    <a:solidFill>
                      <a:schemeClr val="bg2"/>
                    </a:solidFill>
                    <a:latin typeface="+mj-ea"/>
                    <a:ea typeface="+mj-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智能门锁</c:v>
                </c:pt>
                <c:pt idx="1">
                  <c:v>智能摄像头</c:v>
                </c:pt>
                <c:pt idx="2">
                  <c:v>智能灯具</c:v>
                </c:pt>
                <c:pt idx="3">
                  <c:v>智能窗帘</c:v>
                </c:pt>
                <c:pt idx="4">
                  <c:v>智能温控系统</c:v>
                </c:pt>
                <c:pt idx="5">
                  <c:v>智能音箱</c:v>
                </c:pt>
                <c:pt idx="6">
                  <c:v>智能扫地机器人</c:v>
                </c:pt>
                <c:pt idx="7">
                  <c:v>智能空气净化器</c:v>
                </c:pt>
              </c:strCache>
            </c:strRef>
          </c:cat>
          <c:val>
            <c:numRef>
              <c:f>Sheet1!$C$2:$C$9</c:f>
              <c:numCache>
                <c:formatCode>General</c:formatCode>
                <c:ptCount val="8"/>
                <c:pt idx="0">
                  <c:v>180</c:v>
                </c:pt>
                <c:pt idx="1">
                  <c:v>130</c:v>
                </c:pt>
                <c:pt idx="2">
                  <c:v>110</c:v>
                </c:pt>
                <c:pt idx="3">
                  <c:v>90</c:v>
                </c:pt>
                <c:pt idx="4">
                  <c:v>100</c:v>
                </c:pt>
                <c:pt idx="5">
                  <c:v>150</c:v>
                </c:pt>
                <c:pt idx="6">
                  <c:v>160</c:v>
                </c:pt>
                <c:pt idx="7">
                  <c:v>140</c:v>
                </c:pt>
              </c:numCache>
            </c:numRef>
          </c:val>
        </c:ser>
        <c:dLbls>
          <c:showLegendKey val="0"/>
          <c:showVal val="0"/>
          <c:showCatName val="0"/>
          <c:showSerName val="0"/>
          <c:showPercent val="0"/>
          <c:showBubbleSize val="0"/>
        </c:dLbls>
        <c:gapWidth val="100"/>
        <c:overlap val="-10"/>
        <c:axId val="1221354063"/>
        <c:axId val="1221342543"/>
      </c:barChart>
      <c:catAx>
        <c:axId val="122135406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1221342543"/>
        <c:crosses val="autoZero"/>
        <c:auto val="1"/>
        <c:lblAlgn val="ctr"/>
        <c:lblOffset val="100"/>
        <c:noMultiLvlLbl val="0"/>
      </c:catAx>
      <c:valAx>
        <c:axId val="1221342543"/>
        <c:scaling>
          <c:orientation val="minMax"/>
        </c:scaling>
        <c:delete val="0"/>
        <c:axPos val="l"/>
        <c:majorGridlines>
          <c:spPr>
            <a:ln w="3175" cap="flat" cmpd="sng" algn="ctr">
              <a:solidFill>
                <a:schemeClr val="accent1">
                  <a:alpha val="4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1221354063"/>
        <c:crosses val="autoZero"/>
        <c:crossBetween val="between"/>
        <c:majorUnit val="40"/>
      </c:valAx>
      <c:spPr>
        <a:noFill/>
        <a:ln>
          <a:noFill/>
        </a:ln>
        <a:effectLst/>
      </c:spPr>
    </c:plotArea>
    <c:plotVisOnly val="1"/>
    <c:dispBlanksAs val="gap"/>
    <c:showDLblsOverMax val="0"/>
  </c:chart>
  <c:spPr>
    <a:noFill/>
    <a:ln w="3175">
      <a:noFill/>
    </a:ln>
    <a:effectLst/>
  </c:spPr>
  <c:txPr>
    <a:bodyPr/>
    <a:lstStyle/>
    <a:p>
      <a:pPr>
        <a:defRPr lang="zh-CN"/>
      </a:pP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5875">
              <a:solidFill>
                <a:schemeClr val="lt1"/>
              </a:solidFill>
            </a:ln>
          </c:spPr>
          <c:explosion val="0"/>
          <c:dPt>
            <c:idx val="0"/>
            <c:bubble3D val="0"/>
            <c:spPr>
              <a:solidFill>
                <a:schemeClr val="accent1"/>
              </a:solidFill>
              <a:ln w="15875">
                <a:solidFill>
                  <a:schemeClr val="lt1"/>
                </a:solidFill>
              </a:ln>
              <a:effectLst/>
            </c:spPr>
          </c:dPt>
          <c:dPt>
            <c:idx val="1"/>
            <c:bubble3D val="0"/>
            <c:spPr>
              <a:solidFill>
                <a:schemeClr val="accent3"/>
              </a:solidFill>
              <a:ln w="15875">
                <a:solidFill>
                  <a:schemeClr val="lt1"/>
                </a:solidFill>
              </a:ln>
              <a:effectLst/>
            </c:spPr>
          </c:dPt>
          <c:dPt>
            <c:idx val="2"/>
            <c:bubble3D val="0"/>
            <c:spPr>
              <a:solidFill>
                <a:schemeClr val="accent1">
                  <a:lumMod val="20000"/>
                  <a:lumOff val="80000"/>
                </a:schemeClr>
              </a:solidFill>
              <a:ln w="15875">
                <a:solidFill>
                  <a:schemeClr val="lt1"/>
                </a:solidFill>
              </a:ln>
              <a:effectLst/>
            </c:spPr>
          </c:dPt>
          <c:dPt>
            <c:idx val="3"/>
            <c:bubble3D val="0"/>
            <c:spPr>
              <a:solidFill>
                <a:schemeClr val="accent2"/>
              </a:solidFill>
              <a:ln w="15875">
                <a:solidFill>
                  <a:schemeClr val="lt1"/>
                </a:solidFill>
              </a:ln>
              <a:effectLst/>
            </c:spPr>
          </c:dPt>
          <c:dPt>
            <c:idx val="4"/>
            <c:bubble3D val="0"/>
            <c:spPr>
              <a:solidFill>
                <a:schemeClr val="accent4"/>
              </a:solidFill>
              <a:ln w="15875">
                <a:solidFill>
                  <a:schemeClr val="lt1"/>
                </a:solidFill>
              </a:ln>
              <a:effectLst/>
            </c:spPr>
          </c:dPt>
          <c:dPt>
            <c:idx val="5"/>
            <c:bubble3D val="0"/>
            <c:spPr>
              <a:solidFill>
                <a:schemeClr val="accent2">
                  <a:lumMod val="40000"/>
                  <a:lumOff val="60000"/>
                </a:schemeClr>
              </a:solidFill>
              <a:ln w="15875">
                <a:solidFill>
                  <a:schemeClr val="lt1"/>
                </a:solidFill>
              </a:ln>
              <a:effectLst/>
            </c:spPr>
          </c:dPt>
          <c:dLbls>
            <c:delete val="1"/>
          </c:dLbls>
          <c:cat>
            <c:strRef>
              <c:f>Sheet1!$A$2:$A$7</c:f>
              <c:strCache>
                <c:ptCount val="6"/>
                <c:pt idx="0">
                  <c:v>智能门锁</c:v>
                </c:pt>
                <c:pt idx="1">
                  <c:v>智能摄像头</c:v>
                </c:pt>
                <c:pt idx="2">
                  <c:v>智能灯具</c:v>
                </c:pt>
                <c:pt idx="3">
                  <c:v>智能窗帘</c:v>
                </c:pt>
                <c:pt idx="4">
                  <c:v>智能温控系统</c:v>
                </c:pt>
                <c:pt idx="5">
                  <c:v>智能音箱</c:v>
                </c:pt>
              </c:strCache>
            </c:strRef>
          </c:cat>
          <c:val>
            <c:numRef>
              <c:f>Sheet1!$B$2:$B$7</c:f>
              <c:numCache>
                <c:formatCode>General</c:formatCode>
                <c:ptCount val="6"/>
                <c:pt idx="0">
                  <c:v>120</c:v>
                </c:pt>
                <c:pt idx="1">
                  <c:v>90</c:v>
                </c:pt>
                <c:pt idx="2">
                  <c:v>80</c:v>
                </c:pt>
                <c:pt idx="3">
                  <c:v>60</c:v>
                </c:pt>
                <c:pt idx="4">
                  <c:v>70</c:v>
                </c:pt>
                <c:pt idx="5">
                  <c:v>100</c:v>
                </c:pt>
              </c:numCache>
            </c:numRef>
          </c:val>
        </c:ser>
        <c:dLbls>
          <c:showLegendKey val="0"/>
          <c:showVal val="0"/>
          <c:showCatName val="0"/>
          <c:showSerName val="0"/>
          <c:showPercent val="0"/>
          <c:showBubbleSize val="0"/>
          <c:showLeaderLines val="1"/>
        </c:dLbls>
        <c:firstSliceAng val="0"/>
        <c:holeSize val="49"/>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3"/>
            </a:solidFill>
            <a:ln>
              <a:noFill/>
            </a:ln>
            <a:effectLst/>
          </c:spPr>
          <c:invertIfNegative val="0"/>
          <c:dLbls>
            <c:delete val="1"/>
          </c:dLbls>
          <c:cat>
            <c:strRef>
              <c:f>Sheet1!$A$2:$A$9</c:f>
              <c:strCache>
                <c:ptCount val="8"/>
                <c:pt idx="0">
                  <c:v>智能门锁</c:v>
                </c:pt>
                <c:pt idx="1">
                  <c:v>智能摄像头</c:v>
                </c:pt>
                <c:pt idx="2">
                  <c:v>智能灯具</c:v>
                </c:pt>
                <c:pt idx="3">
                  <c:v>智能窗帘</c:v>
                </c:pt>
                <c:pt idx="4">
                  <c:v>智能温控系统</c:v>
                </c:pt>
                <c:pt idx="5">
                  <c:v>智能音箱</c:v>
                </c:pt>
                <c:pt idx="6">
                  <c:v>智能扫地机器人</c:v>
                </c:pt>
                <c:pt idx="7">
                  <c:v>智能空气净化器</c:v>
                </c:pt>
              </c:strCache>
            </c:strRef>
          </c:cat>
          <c:val>
            <c:numRef>
              <c:f>Sheet1!$B$2:$B$9</c:f>
              <c:numCache>
                <c:formatCode>General</c:formatCode>
                <c:ptCount val="8"/>
                <c:pt idx="0">
                  <c:v>100</c:v>
                </c:pt>
                <c:pt idx="1">
                  <c:v>85</c:v>
                </c:pt>
                <c:pt idx="2">
                  <c:v>75</c:v>
                </c:pt>
                <c:pt idx="3">
                  <c:v>55</c:v>
                </c:pt>
                <c:pt idx="4">
                  <c:v>65</c:v>
                </c:pt>
                <c:pt idx="5">
                  <c:v>90</c:v>
                </c:pt>
                <c:pt idx="6">
                  <c:v>105</c:v>
                </c:pt>
                <c:pt idx="7">
                  <c:v>85</c:v>
                </c:pt>
              </c:numCache>
            </c:numRef>
          </c:val>
        </c:ser>
        <c:ser>
          <c:idx val="1"/>
          <c:order val="1"/>
          <c:tx>
            <c:strRef>
              <c:f>Sheet1!$C$1</c:f>
              <c:strCache>
                <c:ptCount val="1"/>
                <c:pt idx="0">
                  <c:v>系列 2</c:v>
                </c:pt>
              </c:strCache>
            </c:strRef>
          </c:tx>
          <c:spPr>
            <a:solidFill>
              <a:schemeClr val="accent1">
                <a:lumMod val="20000"/>
                <a:lumOff val="80000"/>
              </a:schemeClr>
            </a:solidFill>
            <a:ln>
              <a:noFill/>
            </a:ln>
            <a:effectLst/>
          </c:spPr>
          <c:invertIfNegative val="0"/>
          <c:dLbls>
            <c:delete val="1"/>
          </c:dLbls>
          <c:cat>
            <c:strRef>
              <c:f>Sheet1!$A$2:$A$9</c:f>
              <c:strCache>
                <c:ptCount val="8"/>
                <c:pt idx="0">
                  <c:v>智能门锁</c:v>
                </c:pt>
                <c:pt idx="1">
                  <c:v>智能摄像头</c:v>
                </c:pt>
                <c:pt idx="2">
                  <c:v>智能灯具</c:v>
                </c:pt>
                <c:pt idx="3">
                  <c:v>智能窗帘</c:v>
                </c:pt>
                <c:pt idx="4">
                  <c:v>智能温控系统</c:v>
                </c:pt>
                <c:pt idx="5">
                  <c:v>智能音箱</c:v>
                </c:pt>
                <c:pt idx="6">
                  <c:v>智能扫地机器人</c:v>
                </c:pt>
                <c:pt idx="7">
                  <c:v>智能空气净化器</c:v>
                </c:pt>
              </c:strCache>
            </c:strRef>
          </c:cat>
          <c:val>
            <c:numRef>
              <c:f>Sheet1!$C$2:$C$9</c:f>
              <c:numCache>
                <c:formatCode>General</c:formatCode>
                <c:ptCount val="8"/>
                <c:pt idx="0">
                  <c:v>140</c:v>
                </c:pt>
                <c:pt idx="1">
                  <c:v>120</c:v>
                </c:pt>
                <c:pt idx="2">
                  <c:v>105</c:v>
                </c:pt>
                <c:pt idx="3">
                  <c:v>80</c:v>
                </c:pt>
                <c:pt idx="4">
                  <c:v>90</c:v>
                </c:pt>
                <c:pt idx="5">
                  <c:v>130</c:v>
                </c:pt>
                <c:pt idx="6">
                  <c:v>150</c:v>
                </c:pt>
                <c:pt idx="7">
                  <c:v>125</c:v>
                </c:pt>
              </c:numCache>
            </c:numRef>
          </c:val>
        </c:ser>
        <c:dLbls>
          <c:showLegendKey val="0"/>
          <c:showVal val="0"/>
          <c:showCatName val="0"/>
          <c:showSerName val="0"/>
          <c:showPercent val="0"/>
          <c:showBubbleSize val="0"/>
        </c:dLbls>
        <c:gapWidth val="80"/>
        <c:axId val="808641487"/>
        <c:axId val="808649647"/>
      </c:barChart>
      <c:catAx>
        <c:axId val="808641487"/>
        <c:scaling>
          <c:orientation val="minMax"/>
        </c:scaling>
        <c:delete val="0"/>
        <c:axPos val="l"/>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808649647"/>
        <c:crosses val="autoZero"/>
        <c:auto val="1"/>
        <c:lblAlgn val="ctr"/>
        <c:lblOffset val="100"/>
        <c:noMultiLvlLbl val="0"/>
      </c:catAx>
      <c:valAx>
        <c:axId val="808649647"/>
        <c:scaling>
          <c:orientation val="minMax"/>
          <c:max val="150"/>
        </c:scaling>
        <c:delete val="0"/>
        <c:axPos val="b"/>
        <c:majorGridlines>
          <c:spPr>
            <a:ln w="3175" cap="flat" cmpd="sng" algn="ctr">
              <a:solidFill>
                <a:schemeClr val="accent1">
                  <a:alpha val="4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crossAx val="808641487"/>
        <c:crosses val="autoZero"/>
        <c:crossBetween val="between"/>
        <c:majorUnit val="30"/>
      </c:valAx>
      <c:spPr>
        <a:noFill/>
        <a:ln>
          <a:noFill/>
        </a:ln>
        <a:effectLst/>
      </c:spPr>
    </c:plotArea>
    <c:plotVisOnly val="1"/>
    <c:dispBlanksAs val="gap"/>
    <c:showDLblsOverMax val="0"/>
  </c:chart>
  <c:spPr>
    <a:noFill/>
    <a:ln w="6350">
      <a:solidFill>
        <a:schemeClr val="accent1"/>
      </a:solidFill>
    </a:ln>
    <a:effectLst/>
  </c:spPr>
  <c:txPr>
    <a:bodyPr/>
    <a:lstStyle/>
    <a:p>
      <a:pPr>
        <a:defRPr lang="zh-CN" sz="700">
          <a:solidFill>
            <a:schemeClr val="tx1"/>
          </a:solidFill>
          <a:latin typeface="+mn-ea"/>
          <a:ea typeface="+mn-ea"/>
        </a:defRPr>
      </a:pP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lumMod val="20000"/>
                <a:lumOff val="80000"/>
              </a:schemeClr>
            </a:solidFill>
            <a:ln>
              <a:noFill/>
            </a:ln>
            <a:effectLst/>
          </c:spPr>
          <c:invertIfNegative val="0"/>
          <c:dLbls>
            <c:delete val="1"/>
          </c:dLbls>
          <c:cat>
            <c:strRef>
              <c:f>Sheet1!$A$2:$A$7</c:f>
              <c:strCache>
                <c:ptCount val="6"/>
                <c:pt idx="0">
                  <c:v>智能门锁</c:v>
                </c:pt>
                <c:pt idx="1">
                  <c:v>智能摄像头</c:v>
                </c:pt>
                <c:pt idx="2">
                  <c:v>智能灯具</c:v>
                </c:pt>
                <c:pt idx="3">
                  <c:v>智能窗帘</c:v>
                </c:pt>
                <c:pt idx="4">
                  <c:v>智能温控系统</c:v>
                </c:pt>
                <c:pt idx="5">
                  <c:v>智能音箱</c:v>
                </c:pt>
              </c:strCache>
            </c:strRef>
          </c:cat>
          <c:val>
            <c:numRef>
              <c:f>Sheet1!$B$2:$B$7</c:f>
              <c:numCache>
                <c:formatCode>General</c:formatCode>
                <c:ptCount val="6"/>
                <c:pt idx="0">
                  <c:v>100</c:v>
                </c:pt>
                <c:pt idx="1">
                  <c:v>85</c:v>
                </c:pt>
                <c:pt idx="2">
                  <c:v>75</c:v>
                </c:pt>
                <c:pt idx="3">
                  <c:v>55</c:v>
                </c:pt>
                <c:pt idx="4">
                  <c:v>65</c:v>
                </c:pt>
                <c:pt idx="5">
                  <c:v>90</c:v>
                </c:pt>
              </c:numCache>
            </c:numRef>
          </c:val>
        </c:ser>
        <c:ser>
          <c:idx val="1"/>
          <c:order val="1"/>
          <c:tx>
            <c:strRef>
              <c:f>Sheet1!$C$1</c:f>
              <c:strCache>
                <c:ptCount val="1"/>
                <c:pt idx="0">
                  <c:v>系列 2</c:v>
                </c:pt>
              </c:strCache>
            </c:strRef>
          </c:tx>
          <c:spPr>
            <a:solidFill>
              <a:schemeClr val="accent3"/>
            </a:solidFill>
            <a:ln>
              <a:noFill/>
            </a:ln>
            <a:effectLst/>
          </c:spPr>
          <c:invertIfNegative val="0"/>
          <c:dLbls>
            <c:delete val="1"/>
          </c:dLbls>
          <c:cat>
            <c:strRef>
              <c:f>Sheet1!$A$2:$A$7</c:f>
              <c:strCache>
                <c:ptCount val="6"/>
                <c:pt idx="0">
                  <c:v>智能门锁</c:v>
                </c:pt>
                <c:pt idx="1">
                  <c:v>智能摄像头</c:v>
                </c:pt>
                <c:pt idx="2">
                  <c:v>智能灯具</c:v>
                </c:pt>
                <c:pt idx="3">
                  <c:v>智能窗帘</c:v>
                </c:pt>
                <c:pt idx="4">
                  <c:v>智能温控系统</c:v>
                </c:pt>
                <c:pt idx="5">
                  <c:v>智能音箱</c:v>
                </c:pt>
              </c:strCache>
            </c:strRef>
          </c:cat>
          <c:val>
            <c:numRef>
              <c:f>Sheet1!$C$2:$C$7</c:f>
              <c:numCache>
                <c:formatCode>General</c:formatCode>
                <c:ptCount val="6"/>
                <c:pt idx="0">
                  <c:v>140</c:v>
                </c:pt>
                <c:pt idx="1">
                  <c:v>120</c:v>
                </c:pt>
                <c:pt idx="2">
                  <c:v>105</c:v>
                </c:pt>
                <c:pt idx="3">
                  <c:v>80</c:v>
                </c:pt>
                <c:pt idx="4">
                  <c:v>90</c:v>
                </c:pt>
                <c:pt idx="5">
                  <c:v>130</c:v>
                </c:pt>
              </c:numCache>
            </c:numRef>
          </c:val>
        </c:ser>
        <c:dLbls>
          <c:showLegendKey val="0"/>
          <c:showVal val="0"/>
          <c:showCatName val="0"/>
          <c:showSerName val="0"/>
          <c:showPercent val="0"/>
          <c:showBubbleSize val="0"/>
        </c:dLbls>
        <c:gapWidth val="100"/>
        <c:overlap val="-10"/>
        <c:axId val="808641007"/>
        <c:axId val="808642927"/>
      </c:barChart>
      <c:lineChart>
        <c:grouping val="standard"/>
        <c:varyColors val="0"/>
        <c:ser>
          <c:idx val="2"/>
          <c:order val="2"/>
          <c:tx>
            <c:strRef>
              <c:f>Sheet1!$D$1</c:f>
              <c:strCache>
                <c:ptCount val="1"/>
                <c:pt idx="0">
                  <c:v>系列 3</c:v>
                </c:pt>
              </c:strCache>
            </c:strRef>
          </c:tx>
          <c:spPr>
            <a:ln w="19050" cap="rnd">
              <a:solidFill>
                <a:schemeClr val="accent2"/>
              </a:solidFill>
              <a:round/>
            </a:ln>
            <a:effectLst/>
          </c:spPr>
          <c:marker>
            <c:symbol val="none"/>
          </c:marker>
          <c:dLbls>
            <c:delete val="1"/>
          </c:dLbls>
          <c:cat>
            <c:strRef>
              <c:f>Sheet1!$A$2:$A$7</c:f>
              <c:strCache>
                <c:ptCount val="6"/>
                <c:pt idx="0">
                  <c:v>智能门锁</c:v>
                </c:pt>
                <c:pt idx="1">
                  <c:v>智能摄像头</c:v>
                </c:pt>
                <c:pt idx="2">
                  <c:v>智能灯具</c:v>
                </c:pt>
                <c:pt idx="3">
                  <c:v>智能窗帘</c:v>
                </c:pt>
                <c:pt idx="4">
                  <c:v>智能温控系统</c:v>
                </c:pt>
                <c:pt idx="5">
                  <c:v>智能音箱</c:v>
                </c:pt>
              </c:strCache>
            </c:strRef>
          </c:cat>
          <c:val>
            <c:numRef>
              <c:f>Sheet1!$D$2:$D$7</c:f>
              <c:numCache>
                <c:formatCode>0%</c:formatCode>
                <c:ptCount val="6"/>
                <c:pt idx="0">
                  <c:v>0.5</c:v>
                </c:pt>
                <c:pt idx="1">
                  <c:v>0.44</c:v>
                </c:pt>
                <c:pt idx="2">
                  <c:v>0.37</c:v>
                </c:pt>
                <c:pt idx="3">
                  <c:v>0.49</c:v>
                </c:pt>
                <c:pt idx="4">
                  <c:v>0.43</c:v>
                </c:pt>
                <c:pt idx="5">
                  <c:v>0.52</c:v>
                </c:pt>
              </c:numCache>
            </c:numRef>
          </c:val>
          <c:smooth val="0"/>
        </c:ser>
        <c:dLbls>
          <c:showLegendKey val="0"/>
          <c:showVal val="0"/>
          <c:showCatName val="0"/>
          <c:showSerName val="0"/>
          <c:showPercent val="0"/>
          <c:showBubbleSize val="0"/>
        </c:dLbls>
        <c:marker val="0"/>
        <c:smooth val="0"/>
        <c:axId val="674246751"/>
        <c:axId val="674254911"/>
      </c:lineChart>
      <c:catAx>
        <c:axId val="808641007"/>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808642927"/>
        <c:crosses val="autoZero"/>
        <c:auto val="1"/>
        <c:lblAlgn val="ctr"/>
        <c:lblOffset val="100"/>
        <c:noMultiLvlLbl val="0"/>
      </c:catAx>
      <c:valAx>
        <c:axId val="808642927"/>
        <c:scaling>
          <c:orientation val="minMax"/>
        </c:scaling>
        <c:delete val="0"/>
        <c:axPos val="l"/>
        <c:majorGridlines>
          <c:spPr>
            <a:ln w="3175" cap="flat" cmpd="sng" algn="ctr">
              <a:solidFill>
                <a:schemeClr val="accent1">
                  <a:alpha val="4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808641007"/>
        <c:crosses val="autoZero"/>
        <c:crossBetween val="between"/>
      </c:valAx>
      <c:catAx>
        <c:axId val="674246751"/>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200" b="0" i="0" u="none" strike="noStrike" kern="1200" baseline="0">
                <a:noFill/>
                <a:latin typeface="+mn-lt"/>
                <a:ea typeface="+mn-ea"/>
                <a:cs typeface="+mn-cs"/>
              </a:defRPr>
            </a:pPr>
          </a:p>
        </c:txPr>
        <c:crossAx val="674254911"/>
        <c:crosses val="autoZero"/>
        <c:auto val="1"/>
        <c:lblAlgn val="ctr"/>
        <c:lblOffset val="100"/>
        <c:noMultiLvlLbl val="0"/>
      </c:catAx>
      <c:valAx>
        <c:axId val="674254911"/>
        <c:scaling>
          <c:orientation val="minMax"/>
          <c:max val="1"/>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200" b="0" i="0" u="none" strike="noStrike" kern="1200" baseline="0">
                <a:noFill/>
                <a:latin typeface="+mn-lt"/>
                <a:ea typeface="+mn-ea"/>
                <a:cs typeface="思源黑体 CN Normal" panose="020B0400000000000000" pitchFamily="34" charset="-122"/>
              </a:defRPr>
            </a:pPr>
          </a:p>
        </c:txPr>
        <c:crossAx val="674246751"/>
        <c:crosses val="max"/>
        <c:crossBetween val="between"/>
      </c:valAx>
      <c:spPr>
        <a:noFill/>
        <a:ln>
          <a:noFill/>
        </a:ln>
        <a:effectLst/>
      </c:spPr>
    </c:plotArea>
    <c:plotVisOnly val="1"/>
    <c:dispBlanksAs val="gap"/>
    <c:showDLblsOverMax val="0"/>
  </c:chart>
  <c:spPr>
    <a:noFill/>
    <a:ln w="6350">
      <a:solidFill>
        <a:schemeClr val="accent1"/>
      </a:solidFill>
    </a:ln>
    <a:effectLst/>
  </c:spPr>
  <c:txPr>
    <a:bodyPr/>
    <a:lstStyle/>
    <a:p>
      <a:pPr>
        <a:defRPr lang="zh-CN" sz="200">
          <a:noFill/>
        </a:defRPr>
      </a:pP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lumMod val="20000"/>
                  <a:lumOff val="80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gradFill>
                <a:gsLst>
                  <a:gs pos="0">
                    <a:schemeClr val="accent2">
                      <a:lumMod val="60000"/>
                      <a:lumOff val="40000"/>
                    </a:schemeClr>
                  </a:gs>
                  <a:gs pos="100000">
                    <a:schemeClr val="accent2"/>
                  </a:gs>
                </a:gsLst>
                <a:lin ang="2700000" scaled="1"/>
              </a:gradFill>
              <a:ln>
                <a:noFill/>
              </a:ln>
              <a:effectLst/>
            </c:spPr>
          </c:dPt>
          <c:dLbls>
            <c:delete val="1"/>
          </c:dLbls>
          <c:cat>
            <c:strRef>
              <c:f>Sheet1!$A$2</c:f>
              <c:strCache>
                <c:ptCount val="1"/>
                <c:pt idx="0">
                  <c:v>类别 1</c:v>
                </c:pt>
              </c:strCache>
            </c:strRef>
          </c:cat>
          <c:val>
            <c:numRef>
              <c:f>Sheet1!$C$2</c:f>
              <c:numCache>
                <c:formatCode>General</c:formatCode>
                <c:ptCount val="1"/>
                <c:pt idx="0">
                  <c:v>0.446</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lumMod val="20000"/>
                  <a:lumOff val="80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solidFill>
                <a:schemeClr val="accent1"/>
              </a:solidFill>
              <a:ln>
                <a:noFill/>
              </a:ln>
              <a:effectLst/>
            </c:spPr>
          </c:dPt>
          <c:dLbls>
            <c:delete val="1"/>
          </c:dLbls>
          <c:cat>
            <c:strRef>
              <c:f>Sheet1!$A$2</c:f>
              <c:strCache>
                <c:ptCount val="1"/>
                <c:pt idx="0">
                  <c:v>类别 1</c:v>
                </c:pt>
              </c:strCache>
            </c:strRef>
          </c:cat>
          <c:val>
            <c:numRef>
              <c:f>Sheet1!$C$2</c:f>
              <c:numCache>
                <c:formatCode>General</c:formatCode>
                <c:ptCount val="1"/>
                <c:pt idx="0">
                  <c:v>0.255</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lumMod val="20000"/>
                  <a:lumOff val="80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solidFill>
                <a:schemeClr val="accent1"/>
              </a:solidFill>
              <a:ln>
                <a:noFill/>
              </a:ln>
              <a:effectLst/>
            </c:spPr>
          </c:dPt>
          <c:dLbls>
            <c:delete val="1"/>
          </c:dLbls>
          <c:cat>
            <c:strRef>
              <c:f>Sheet1!$A$2</c:f>
              <c:strCache>
                <c:ptCount val="1"/>
                <c:pt idx="0">
                  <c:v>类别 1</c:v>
                </c:pt>
              </c:strCache>
            </c:strRef>
          </c:cat>
          <c:val>
            <c:numRef>
              <c:f>Sheet1!$C$2</c:f>
              <c:numCache>
                <c:formatCode>General</c:formatCode>
                <c:ptCount val="1"/>
                <c:pt idx="0">
                  <c:v>0.308</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bg1">
                  <a:lumMod val="85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solidFill>
                <a:schemeClr val="tx1">
                  <a:lumMod val="75000"/>
                  <a:lumOff val="25000"/>
                </a:schemeClr>
              </a:solidFill>
              <a:ln>
                <a:noFill/>
              </a:ln>
              <a:effectLst/>
            </c:spPr>
          </c:dPt>
          <c:dLbls>
            <c:delete val="1"/>
          </c:dLbls>
          <c:cat>
            <c:strRef>
              <c:f>Sheet1!$A$2</c:f>
              <c:strCache>
                <c:ptCount val="1"/>
                <c:pt idx="0">
                  <c:v>类别 1</c:v>
                </c:pt>
              </c:strCache>
            </c:strRef>
          </c:cat>
          <c:val>
            <c:numRef>
              <c:f>Sheet1!$C$2</c:f>
              <c:numCache>
                <c:formatCode>General</c:formatCode>
                <c:ptCount val="1"/>
                <c:pt idx="0">
                  <c:v>0.215</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bg1">
                  <a:lumMod val="85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solidFill>
                <a:schemeClr val="tx1">
                  <a:lumMod val="75000"/>
                  <a:lumOff val="25000"/>
                </a:schemeClr>
              </a:solidFill>
              <a:ln>
                <a:noFill/>
              </a:ln>
              <a:effectLst/>
            </c:spPr>
          </c:dPt>
          <c:dLbls>
            <c:delete val="1"/>
          </c:dLbls>
          <c:cat>
            <c:strRef>
              <c:f>Sheet1!$A$2</c:f>
              <c:strCache>
                <c:ptCount val="1"/>
                <c:pt idx="0">
                  <c:v>类别 1</c:v>
                </c:pt>
              </c:strCache>
            </c:strRef>
          </c:cat>
          <c:val>
            <c:numRef>
              <c:f>Sheet1!$C$2</c:f>
              <c:numCache>
                <c:formatCode>General</c:formatCode>
                <c:ptCount val="1"/>
                <c:pt idx="0">
                  <c:v>0.231</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占离职总人数比例</c:v>
                </c:pt>
              </c:strCache>
            </c:strRef>
          </c:tx>
          <c:spPr>
            <a:gradFill flip="none" rotWithShape="1">
              <a:gsLst>
                <a:gs pos="0">
                  <a:schemeClr val="accent1"/>
                </a:gs>
                <a:gs pos="100000">
                  <a:schemeClr val="accent1">
                    <a:lumMod val="60000"/>
                    <a:lumOff val="40000"/>
                  </a:schemeClr>
                </a:gs>
              </a:gsLst>
              <a:lin ang="0" scaled="1"/>
              <a:tileRect/>
            </a:gradFill>
            <a:ln>
              <a:noFill/>
            </a:ln>
            <a:effectLst/>
          </c:spPr>
          <c:invertIfNegative val="0"/>
          <c:dLbls>
            <c:delete val="1"/>
          </c:dLbls>
          <c:cat>
            <c:strRef>
              <c:f>Sheet1!$A$2:$A$5</c:f>
              <c:strCache>
                <c:ptCount val="4"/>
                <c:pt idx="0">
                  <c:v>1年以内 (新人期)</c:v>
                </c:pt>
                <c:pt idx="1">
                  <c:v>1-3年 (成长期)</c:v>
                </c:pt>
                <c:pt idx="2">
                  <c:v>3-5年 (稳定期)</c:v>
                </c:pt>
                <c:pt idx="3">
                  <c:v>5年以上 (资深期)</c:v>
                </c:pt>
              </c:strCache>
            </c:strRef>
          </c:cat>
          <c:val>
            <c:numRef>
              <c:f>Sheet1!$B$2:$B$5</c:f>
              <c:numCache>
                <c:formatCode>0.00%</c:formatCode>
                <c:ptCount val="4"/>
                <c:pt idx="0">
                  <c:v>0.375</c:v>
                </c:pt>
                <c:pt idx="1">
                  <c:v>0.35</c:v>
                </c:pt>
                <c:pt idx="2">
                  <c:v>0.15</c:v>
                </c:pt>
                <c:pt idx="3">
                  <c:v>0.125</c:v>
                </c:pt>
              </c:numCache>
            </c:numRef>
          </c:val>
        </c:ser>
        <c:dLbls>
          <c:showLegendKey val="0"/>
          <c:showVal val="0"/>
          <c:showCatName val="0"/>
          <c:showSerName val="0"/>
          <c:showPercent val="0"/>
          <c:showBubbleSize val="0"/>
        </c:dLbls>
        <c:gapWidth val="125"/>
        <c:axId val="206717040"/>
        <c:axId val="206733264"/>
      </c:barChart>
      <c:catAx>
        <c:axId val="2067170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206733264"/>
        <c:crosses val="autoZero"/>
        <c:auto val="1"/>
        <c:lblAlgn val="ctr"/>
        <c:lblOffset val="100"/>
        <c:noMultiLvlLbl val="0"/>
      </c:catAx>
      <c:valAx>
        <c:axId val="206733264"/>
        <c:scaling>
          <c:orientation val="minMax"/>
        </c:scaling>
        <c:delete val="1"/>
        <c:axPos val="b"/>
        <c:numFmt formatCode="0.00%"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mn-ea"/>
                <a:ea typeface="+mn-ea"/>
                <a:cs typeface="+mn-cs"/>
              </a:defRPr>
            </a:pPr>
          </a:p>
        </c:txPr>
        <c:crossAx val="206717040"/>
        <c:crosses val="autoZero"/>
        <c:crossBetween val="between"/>
      </c:valAx>
      <c:spPr>
        <a:noFill/>
        <a:ln>
          <a:noFill/>
        </a:ln>
        <a:effectLst/>
      </c:spPr>
    </c:plotArea>
    <c:plotVisOnly val="1"/>
    <c:dispBlanksAs val="gap"/>
    <c:showDLblsOverMax val="0"/>
  </c:chart>
  <c:spPr>
    <a:noFill/>
    <a:ln>
      <a:noFill/>
    </a:ln>
    <a:effectLst/>
  </c:spPr>
  <c:txPr>
    <a:bodyPr/>
    <a:lstStyle/>
    <a:p>
      <a:pPr>
        <a:defRPr lang="zh-CN" sz="1000">
          <a:latin typeface="+mn-ea"/>
          <a:ea typeface="+mn-ea"/>
        </a:defRPr>
      </a:p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主动离职人数</c:v>
                </c:pt>
              </c:strCache>
            </c:strRef>
          </c:tx>
          <c:spPr>
            <a:gradFill flip="none" rotWithShape="1">
              <a:gsLst>
                <a:gs pos="0">
                  <a:schemeClr val="accent1">
                    <a:lumMod val="60000"/>
                    <a:lumOff val="40000"/>
                  </a:schemeClr>
                </a:gs>
                <a:gs pos="100000">
                  <a:schemeClr val="accent1"/>
                </a:gs>
              </a:gsLst>
              <a:lin ang="54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Sheet1!$B$2:$B$9</c:f>
              <c:numCache>
                <c:formatCode>General</c:formatCode>
                <c:ptCount val="8"/>
                <c:pt idx="0">
                  <c:v>23</c:v>
                </c:pt>
                <c:pt idx="1">
                  <c:v>17</c:v>
                </c:pt>
                <c:pt idx="2">
                  <c:v>10</c:v>
                </c:pt>
                <c:pt idx="3">
                  <c:v>7</c:v>
                </c:pt>
                <c:pt idx="4">
                  <c:v>6</c:v>
                </c:pt>
                <c:pt idx="5">
                  <c:v>3</c:v>
                </c:pt>
                <c:pt idx="6">
                  <c:v>2</c:v>
                </c:pt>
                <c:pt idx="7">
                  <c:v>4</c:v>
                </c:pt>
              </c:numCache>
            </c:numRef>
          </c:val>
        </c:ser>
        <c:ser>
          <c:idx val="1"/>
          <c:order val="1"/>
          <c:tx>
            <c:strRef>
              <c:f>Sheet1!$C$1</c:f>
              <c:strCache>
                <c:ptCount val="1"/>
                <c:pt idx="0">
                  <c:v>被动离职人数</c:v>
                </c:pt>
              </c:strCache>
            </c:strRef>
          </c:tx>
          <c:spPr>
            <a:gradFill>
              <a:gsLst>
                <a:gs pos="0">
                  <a:schemeClr val="accent2">
                    <a:lumMod val="60000"/>
                    <a:lumOff val="40000"/>
                  </a:schemeClr>
                </a:gs>
                <a:gs pos="100000">
                  <a:schemeClr val="accent2"/>
                </a:gs>
              </a:gsLst>
              <a:lin ang="5400000" scaled="1"/>
            </a:gra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Sheet1!$C$2:$C$9</c:f>
              <c:numCache>
                <c:formatCode>General</c:formatCode>
                <c:ptCount val="8"/>
                <c:pt idx="0">
                  <c:v>2</c:v>
                </c:pt>
                <c:pt idx="1">
                  <c:v>1</c:v>
                </c:pt>
                <c:pt idx="2">
                  <c:v>2</c:v>
                </c:pt>
                <c:pt idx="3">
                  <c:v>1</c:v>
                </c:pt>
                <c:pt idx="4">
                  <c:v>0</c:v>
                </c:pt>
                <c:pt idx="5">
                  <c:v>1</c:v>
                </c:pt>
                <c:pt idx="6">
                  <c:v>0</c:v>
                </c:pt>
                <c:pt idx="7">
                  <c:v>1</c:v>
                </c:pt>
              </c:numCache>
            </c:numRef>
          </c:val>
        </c:ser>
        <c:dLbls>
          <c:showLegendKey val="0"/>
          <c:showVal val="1"/>
          <c:showCatName val="0"/>
          <c:showSerName val="0"/>
          <c:showPercent val="0"/>
          <c:showBubbleSize val="0"/>
        </c:dLbls>
        <c:gapWidth val="100"/>
        <c:overlap val="-27"/>
        <c:axId val="475184080"/>
        <c:axId val="475163280"/>
      </c:barChart>
      <c:catAx>
        <c:axId val="475184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思源黑体 CN Normal" panose="020B0400000000000000" pitchFamily="34" charset="-122"/>
              </a:defRPr>
            </a:pPr>
          </a:p>
        </c:txPr>
        <c:crossAx val="475163280"/>
        <c:crosses val="autoZero"/>
        <c:auto val="1"/>
        <c:lblAlgn val="ctr"/>
        <c:lblOffset val="100"/>
        <c:noMultiLvlLbl val="0"/>
      </c:catAx>
      <c:valAx>
        <c:axId val="47516328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mn-cs"/>
              </a:defRPr>
            </a:pPr>
          </a:p>
        </c:txPr>
        <c:crossAx val="47518408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dTable>
      <c:spPr>
        <a:noFill/>
        <a:ln>
          <a:noFill/>
        </a:ln>
        <a:effectLst/>
      </c:spPr>
    </c:plotArea>
    <c:plotVisOnly val="1"/>
    <c:dispBlanksAs val="gap"/>
    <c:showDLblsOverMax val="0"/>
  </c:chart>
  <c:spPr>
    <a:noFill/>
    <a:ln>
      <a:noFill/>
    </a:ln>
    <a:effectLst/>
  </c:spPr>
  <c:txPr>
    <a:bodyPr/>
    <a:lstStyle/>
    <a:p>
      <a:pPr>
        <a:defRPr lang="zh-CN" sz="800">
          <a:latin typeface="+mn-ea"/>
          <a:ea typeface="+mn-ea"/>
        </a:defRPr>
      </a:pP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基层员工</c:v>
                </c:pt>
              </c:strCache>
            </c:strRef>
          </c:tx>
          <c:spPr>
            <a:gradFill flip="none" rotWithShape="1">
              <a:gsLst>
                <a:gs pos="0">
                  <a:schemeClr val="accent1">
                    <a:lumMod val="60000"/>
                    <a:lumOff val="40000"/>
                  </a:schemeClr>
                </a:gs>
                <a:gs pos="100000">
                  <a:schemeClr val="accent1"/>
                </a:gs>
              </a:gsLst>
              <a:lin ang="5400000" scaled="1"/>
              <a:tileRect/>
            </a:gradFill>
            <a:ln>
              <a:noFill/>
            </a:ln>
            <a:effectLst/>
          </c:spPr>
          <c:invertIfNegative val="0"/>
          <c:dLbls>
            <c:delete val="1"/>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Sheet1!$B$2:$B$9</c:f>
              <c:numCache>
                <c:formatCode>General</c:formatCode>
                <c:ptCount val="8"/>
                <c:pt idx="0">
                  <c:v>15</c:v>
                </c:pt>
                <c:pt idx="1">
                  <c:v>8</c:v>
                </c:pt>
                <c:pt idx="2">
                  <c:v>9</c:v>
                </c:pt>
                <c:pt idx="3">
                  <c:v>5</c:v>
                </c:pt>
                <c:pt idx="4">
                  <c:v>3</c:v>
                </c:pt>
                <c:pt idx="5">
                  <c:v>2</c:v>
                </c:pt>
                <c:pt idx="6">
                  <c:v>1</c:v>
                </c:pt>
                <c:pt idx="7">
                  <c:v>4</c:v>
                </c:pt>
              </c:numCache>
            </c:numRef>
          </c:val>
        </c:ser>
        <c:ser>
          <c:idx val="1"/>
          <c:order val="1"/>
          <c:tx>
            <c:strRef>
              <c:f>Sheet1!$C$1</c:f>
              <c:strCache>
                <c:ptCount val="1"/>
                <c:pt idx="0">
                  <c:v>骨干/专员</c:v>
                </c:pt>
              </c:strCache>
            </c:strRef>
          </c:tx>
          <c:spPr>
            <a:gradFill>
              <a:gsLst>
                <a:gs pos="0">
                  <a:schemeClr val="accent2">
                    <a:lumMod val="60000"/>
                    <a:lumOff val="40000"/>
                  </a:schemeClr>
                </a:gs>
                <a:gs pos="100000">
                  <a:schemeClr val="accent2"/>
                </a:gs>
              </a:gsLst>
              <a:lin ang="5400000" scaled="1"/>
            </a:gradFill>
            <a:ln>
              <a:noFill/>
            </a:ln>
            <a:effectLst/>
          </c:spPr>
          <c:invertIfNegative val="0"/>
          <c:dLbls>
            <c:delete val="1"/>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Sheet1!$C$2:$C$9</c:f>
              <c:numCache>
                <c:formatCode>General</c:formatCode>
                <c:ptCount val="8"/>
                <c:pt idx="0">
                  <c:v>8</c:v>
                </c:pt>
                <c:pt idx="1">
                  <c:v>9</c:v>
                </c:pt>
                <c:pt idx="2">
                  <c:v>3</c:v>
                </c:pt>
                <c:pt idx="3">
                  <c:v>2</c:v>
                </c:pt>
                <c:pt idx="4">
                  <c:v>3</c:v>
                </c:pt>
                <c:pt idx="5">
                  <c:v>2</c:v>
                </c:pt>
                <c:pt idx="6">
                  <c:v>1</c:v>
                </c:pt>
                <c:pt idx="7">
                  <c:v>1</c:v>
                </c:pt>
              </c:numCache>
            </c:numRef>
          </c:val>
        </c:ser>
        <c:ser>
          <c:idx val="2"/>
          <c:order val="2"/>
          <c:tx>
            <c:strRef>
              <c:f>Sheet1!$D$1</c:f>
              <c:strCache>
                <c:ptCount val="1"/>
                <c:pt idx="0">
                  <c:v>中层管理</c:v>
                </c:pt>
              </c:strCache>
            </c:strRef>
          </c:tx>
          <c:spPr>
            <a:solidFill>
              <a:schemeClr val="accent3"/>
            </a:solidFill>
            <a:ln>
              <a:noFill/>
            </a:ln>
            <a:effectLst/>
          </c:spPr>
          <c:invertIfNegative val="0"/>
          <c:dLbls>
            <c:delete val="1"/>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Sheet1!$D$2:$D$9</c:f>
              <c:numCache>
                <c:formatCode>General</c:formatCode>
                <c:ptCount val="8"/>
                <c:pt idx="0">
                  <c:v>2</c:v>
                </c:pt>
                <c:pt idx="1">
                  <c:v>1</c:v>
                </c:pt>
                <c:pt idx="2">
                  <c:v>0</c:v>
                </c:pt>
                <c:pt idx="3">
                  <c:v>1</c:v>
                </c:pt>
                <c:pt idx="4">
                  <c:v>0</c:v>
                </c:pt>
                <c:pt idx="5">
                  <c:v>0</c:v>
                </c:pt>
                <c:pt idx="6">
                  <c:v>1</c:v>
                </c:pt>
                <c:pt idx="7">
                  <c:v>0</c:v>
                </c:pt>
              </c:numCache>
            </c:numRef>
          </c:val>
        </c:ser>
        <c:dLbls>
          <c:showLegendKey val="0"/>
          <c:showVal val="1"/>
          <c:showCatName val="0"/>
          <c:showSerName val="0"/>
          <c:showPercent val="0"/>
          <c:showBubbleSize val="0"/>
        </c:dLbls>
        <c:gapWidth val="100"/>
        <c:overlap val="100"/>
        <c:axId val="475184080"/>
        <c:axId val="475163280"/>
      </c:barChart>
      <c:catAx>
        <c:axId val="475184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思源黑体 CN Normal" panose="020B0400000000000000" pitchFamily="34" charset="-122"/>
              </a:defRPr>
            </a:pPr>
          </a:p>
        </c:txPr>
        <c:crossAx val="475163280"/>
        <c:crosses val="autoZero"/>
        <c:auto val="1"/>
        <c:lblAlgn val="ctr"/>
        <c:lblOffset val="100"/>
        <c:noMultiLvlLbl val="0"/>
      </c:catAx>
      <c:valAx>
        <c:axId val="47516328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mn-cs"/>
              </a:defRPr>
            </a:pPr>
          </a:p>
        </c:txPr>
        <c:crossAx val="47518408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dTable>
      <c:spPr>
        <a:noFill/>
        <a:ln>
          <a:noFill/>
        </a:ln>
        <a:effectLst/>
      </c:spPr>
    </c:plotArea>
    <c:plotVisOnly val="1"/>
    <c:dispBlanksAs val="gap"/>
    <c:showDLblsOverMax val="0"/>
  </c:chart>
  <c:spPr>
    <a:noFill/>
    <a:ln>
      <a:noFill/>
    </a:ln>
    <a:effectLst/>
  </c:spPr>
  <c:txPr>
    <a:bodyPr/>
    <a:lstStyle/>
    <a:p>
      <a:pPr>
        <a:defRPr lang="zh-CN" sz="800">
          <a:latin typeface="+mn-ea"/>
          <a:ea typeface="+mn-ea"/>
        </a:defRPr>
      </a:pP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总预算</c:v>
                </c:pt>
              </c:strCache>
            </c:strRef>
          </c:tx>
          <c:spPr>
            <a:gradFill>
              <a:gsLst>
                <a:gs pos="0">
                  <a:schemeClr val="accent1">
                    <a:lumMod val="60000"/>
                    <a:lumOff val="40000"/>
                  </a:schemeClr>
                </a:gs>
                <a:gs pos="100000">
                  <a:schemeClr val="accent1"/>
                </a:gs>
              </a:gsLst>
              <a:lin ang="5400000" scaled="1"/>
            </a:gradFill>
            <a:ln>
              <a:noFill/>
            </a:ln>
            <a:effectLst/>
          </c:spPr>
          <c:invertIfNegative val="0"/>
          <c:dLbls>
            <c:dLbl>
              <c:idx val="1"/>
              <c:layout>
                <c:manualLayout>
                  <c:x val="-0.0079649675223746"/>
                  <c:y val="-0.0357696719112964"/>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0796496752237455"/>
                  <c:y val="-0.00683025243292268"/>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2021</c:v>
                </c:pt>
                <c:pt idx="1">
                  <c:v>2022</c:v>
                </c:pt>
                <c:pt idx="2">
                  <c:v>2023</c:v>
                </c:pt>
              </c:numCache>
            </c:numRef>
          </c:cat>
          <c:val>
            <c:numRef>
              <c:f>Sheet1!$B$2:$B$4</c:f>
              <c:numCache>
                <c:formatCode>#,##0</c:formatCode>
                <c:ptCount val="3"/>
                <c:pt idx="0">
                  <c:v>8000</c:v>
                </c:pt>
                <c:pt idx="1">
                  <c:v>9000</c:v>
                </c:pt>
                <c:pt idx="2">
                  <c:v>10000</c:v>
                </c:pt>
              </c:numCache>
            </c:numRef>
          </c:val>
        </c:ser>
        <c:ser>
          <c:idx val="1"/>
          <c:order val="1"/>
          <c:tx>
            <c:strRef>
              <c:f>Sheet1!$C$1</c:f>
              <c:strCache>
                <c:ptCount val="1"/>
                <c:pt idx="0">
                  <c:v>实际支出</c:v>
                </c:pt>
              </c:strCache>
            </c:strRef>
          </c:tx>
          <c:spPr>
            <a:gradFill>
              <a:gsLst>
                <a:gs pos="0">
                  <a:schemeClr val="accent2">
                    <a:lumMod val="60000"/>
                    <a:lumOff val="40000"/>
                  </a:schemeClr>
                </a:gs>
                <a:gs pos="100000">
                  <a:schemeClr val="accent2"/>
                </a:gs>
              </a:gsLst>
              <a:lin ang="5400000" scaled="1"/>
            </a:gradFill>
            <a:ln>
              <a:noFill/>
            </a:ln>
            <a:effectLst/>
          </c:spPr>
          <c:invertIfNegative val="0"/>
          <c:dLbls>
            <c:dLbl>
              <c:idx val="1"/>
              <c:layout>
                <c:manualLayout>
                  <c:x val="-0.00796496752237465"/>
                  <c:y val="-0.0872877489198686"/>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0530997834824961"/>
                  <c:y val="-0.038521185135242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2021</c:v>
                </c:pt>
                <c:pt idx="1">
                  <c:v>2022</c:v>
                </c:pt>
                <c:pt idx="2">
                  <c:v>2023</c:v>
                </c:pt>
              </c:numCache>
            </c:numRef>
          </c:cat>
          <c:val>
            <c:numRef>
              <c:f>Sheet1!$C$2:$C$4</c:f>
              <c:numCache>
                <c:formatCode>#,##0</c:formatCode>
                <c:ptCount val="3"/>
                <c:pt idx="0">
                  <c:v>7600</c:v>
                </c:pt>
                <c:pt idx="1">
                  <c:v>9270</c:v>
                </c:pt>
                <c:pt idx="2">
                  <c:v>10500</c:v>
                </c:pt>
              </c:numCache>
            </c:numRef>
          </c:val>
        </c:ser>
        <c:dLbls>
          <c:showLegendKey val="0"/>
          <c:showVal val="1"/>
          <c:showCatName val="0"/>
          <c:showSerName val="0"/>
          <c:showPercent val="0"/>
          <c:showBubbleSize val="0"/>
        </c:dLbls>
        <c:gapWidth val="80"/>
        <c:overlap val="-27"/>
        <c:axId val="89684128"/>
        <c:axId val="89684544"/>
      </c:barChart>
      <c:lineChart>
        <c:grouping val="standard"/>
        <c:varyColors val="0"/>
        <c:ser>
          <c:idx val="2"/>
          <c:order val="2"/>
          <c:tx>
            <c:strRef>
              <c:f>Sheet1!$D$1</c:f>
              <c:strCache>
                <c:ptCount val="1"/>
                <c:pt idx="0">
                  <c:v>预算执行率</c:v>
                </c:pt>
              </c:strCache>
            </c:strRef>
          </c:tx>
          <c:spPr>
            <a:ln w="28575" cap="rnd">
              <a:gradFill flip="none" rotWithShape="1">
                <a:gsLst>
                  <a:gs pos="0">
                    <a:schemeClr val="accent1">
                      <a:lumMod val="60000"/>
                      <a:lumOff val="40000"/>
                    </a:schemeClr>
                  </a:gs>
                  <a:gs pos="100000">
                    <a:schemeClr val="accent1"/>
                  </a:gs>
                </a:gsLst>
                <a:lin ang="0" scaled="1"/>
                <a:tileRect/>
              </a:gradFill>
              <a:round/>
            </a:ln>
            <a:effectLst>
              <a:outerShdw blurRad="50800" dist="50800" dir="5400000" algn="ctr" rotWithShape="0">
                <a:srgbClr val="000000">
                  <a:alpha val="20000"/>
                </a:srgbClr>
              </a:outerShdw>
            </a:effectLst>
          </c:spPr>
          <c:marker>
            <c:symbol val="none"/>
          </c:marker>
          <c:dPt>
            <c:idx val="1"/>
            <c:marker>
              <c:symbol val="none"/>
            </c:marker>
            <c:bubble3D val="0"/>
            <c:spPr>
              <a:ln w="28575" cap="rnd">
                <a:gradFill flip="none" rotWithShape="1">
                  <a:gsLst>
                    <a:gs pos="0">
                      <a:schemeClr val="accent1">
                        <a:lumMod val="60000"/>
                        <a:lumOff val="40000"/>
                      </a:schemeClr>
                    </a:gs>
                    <a:gs pos="100000">
                      <a:schemeClr val="accent1"/>
                    </a:gs>
                  </a:gsLst>
                  <a:lin ang="0" scaled="1"/>
                  <a:tileRect/>
                </a:gradFill>
                <a:round/>
              </a:ln>
              <a:effectLst>
                <a:outerShdw blurRad="50800" dist="76200" dir="5400000" algn="ctr" rotWithShape="0">
                  <a:srgbClr val="000000">
                    <a:alpha val="30000"/>
                  </a:srgbClr>
                </a:outerShdw>
              </a:effectLst>
            </c:spPr>
          </c:dPt>
          <c:dLbls>
            <c:delete val="1"/>
          </c:dLbls>
          <c:cat>
            <c:numRef>
              <c:f>Sheet1!$A$2:$A$4</c:f>
              <c:numCache>
                <c:formatCode>General</c:formatCode>
                <c:ptCount val="3"/>
                <c:pt idx="0">
                  <c:v>2021</c:v>
                </c:pt>
                <c:pt idx="1">
                  <c:v>2022</c:v>
                </c:pt>
                <c:pt idx="2">
                  <c:v>2023</c:v>
                </c:pt>
              </c:numCache>
            </c:numRef>
          </c:cat>
          <c:val>
            <c:numRef>
              <c:f>Sheet1!$D$2:$D$4</c:f>
              <c:numCache>
                <c:formatCode>0.00%</c:formatCode>
                <c:ptCount val="3"/>
                <c:pt idx="0">
                  <c:v>0.95</c:v>
                </c:pt>
                <c:pt idx="1">
                  <c:v>1.03</c:v>
                </c:pt>
                <c:pt idx="2">
                  <c:v>1.05</c:v>
                </c:pt>
              </c:numCache>
            </c:numRef>
          </c:val>
          <c:smooth val="1"/>
        </c:ser>
        <c:dLbls>
          <c:showLegendKey val="0"/>
          <c:showVal val="1"/>
          <c:showCatName val="0"/>
          <c:showSerName val="0"/>
          <c:showPercent val="0"/>
          <c:showBubbleSize val="0"/>
        </c:dLbls>
        <c:marker val="0"/>
        <c:smooth val="1"/>
        <c:axId val="1811701871"/>
        <c:axId val="1811706031"/>
      </c:lineChart>
      <c:catAx>
        <c:axId val="89684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89684544"/>
        <c:crosses val="autoZero"/>
        <c:auto val="1"/>
        <c:lblAlgn val="ctr"/>
        <c:lblOffset val="100"/>
        <c:noMultiLvlLbl val="0"/>
      </c:catAx>
      <c:valAx>
        <c:axId val="8968454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89684128"/>
        <c:crosses val="autoZero"/>
        <c:crossBetween val="between"/>
      </c:valAx>
      <c:catAx>
        <c:axId val="1811701871"/>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mn-ea"/>
                <a:ea typeface="+mn-ea"/>
                <a:cs typeface="+mn-cs"/>
              </a:defRPr>
            </a:pPr>
          </a:p>
        </c:txPr>
        <c:crossAx val="1811706031"/>
        <c:crosses val="autoZero"/>
        <c:auto val="1"/>
        <c:lblAlgn val="ctr"/>
        <c:lblOffset val="100"/>
        <c:noMultiLvlLbl val="0"/>
      </c:catAx>
      <c:valAx>
        <c:axId val="1811706031"/>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1811701871"/>
        <c:crosses val="max"/>
        <c:crossBetween val="between"/>
      </c:valAx>
      <c:spPr>
        <a:noFill/>
        <a:ln>
          <a:noFill/>
        </a:ln>
        <a:effectLst/>
      </c:spPr>
    </c:plotArea>
    <c:legend>
      <c:legendPos val="b"/>
      <c:legendEntry>
        <c:idx val="0"/>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1"/>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2"/>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ayout>
        <c:manualLayout>
          <c:xMode val="edge"/>
          <c:yMode val="edge"/>
          <c:x val="0.234331266035536"/>
          <c:y val="0.942997310688294"/>
          <c:w val="0.617037059530368"/>
          <c:h val="0.0417643228645889"/>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
    <c:plotVisOnly val="1"/>
    <c:dispBlanksAs val="gap"/>
    <c:showDLblsOverMax val="0"/>
  </c:chart>
  <c:spPr>
    <a:noFill/>
    <a:ln>
      <a:noFill/>
    </a:ln>
    <a:effectLst/>
  </c:spPr>
  <c:txPr>
    <a:bodyPr/>
    <a:lstStyle/>
    <a:p>
      <a:pPr>
        <a:defRPr lang="zh-CN" sz="800">
          <a:solidFill>
            <a:schemeClr val="tx1"/>
          </a:solidFill>
          <a:latin typeface="+mn-ea"/>
          <a:ea typeface="+mn-ea"/>
        </a:defRPr>
      </a:pPr>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占比</c:v>
                </c:pt>
              </c:strCache>
            </c:strRef>
          </c:tx>
          <c:spPr>
            <a:ln w="9525">
              <a:solidFill>
                <a:schemeClr val="bg1"/>
              </a:solidFill>
            </a:ln>
          </c:spPr>
          <c:explosion val="0"/>
          <c:dPt>
            <c:idx val="0"/>
            <c:bubble3D val="0"/>
            <c:spPr>
              <a:gradFill>
                <a:gsLst>
                  <a:gs pos="30000">
                    <a:schemeClr val="accent1">
                      <a:lumMod val="40000"/>
                      <a:lumOff val="60000"/>
                    </a:schemeClr>
                  </a:gs>
                  <a:gs pos="100000">
                    <a:schemeClr val="accent1"/>
                  </a:gs>
                </a:gsLst>
                <a:lin ang="0" scaled="1"/>
              </a:gradFill>
              <a:ln w="9525">
                <a:solidFill>
                  <a:schemeClr val="bg1"/>
                </a:solidFill>
              </a:ln>
              <a:effectLst/>
            </c:spPr>
          </c:dPt>
          <c:dPt>
            <c:idx val="1"/>
            <c:bubble3D val="0"/>
            <c:spPr>
              <a:gradFill>
                <a:gsLst>
                  <a:gs pos="0">
                    <a:schemeClr val="accent2">
                      <a:lumMod val="60000"/>
                      <a:lumOff val="40000"/>
                    </a:schemeClr>
                  </a:gs>
                  <a:gs pos="100000">
                    <a:schemeClr val="accent2"/>
                  </a:gs>
                </a:gsLst>
                <a:lin ang="0" scaled="1"/>
              </a:gradFill>
              <a:ln w="9525">
                <a:solidFill>
                  <a:schemeClr val="bg1"/>
                </a:solidFill>
              </a:ln>
              <a:effectLst/>
            </c:spPr>
          </c:dPt>
          <c:dPt>
            <c:idx val="2"/>
            <c:bubble3D val="0"/>
            <c:spPr>
              <a:gradFill>
                <a:gsLst>
                  <a:gs pos="0">
                    <a:schemeClr val="accent1">
                      <a:lumMod val="60000"/>
                      <a:lumOff val="40000"/>
                    </a:schemeClr>
                  </a:gs>
                  <a:gs pos="100000">
                    <a:schemeClr val="accent1"/>
                  </a:gs>
                </a:gsLst>
                <a:lin ang="0" scaled="1"/>
              </a:gradFill>
              <a:ln w="9525">
                <a:solidFill>
                  <a:schemeClr val="bg1"/>
                </a:solidFill>
              </a:ln>
              <a:effectLst/>
            </c:spPr>
          </c:dPt>
          <c:dPt>
            <c:idx val="3"/>
            <c:bubble3D val="0"/>
            <c:spPr>
              <a:gradFill>
                <a:gsLst>
                  <a:gs pos="30000">
                    <a:schemeClr val="accent1">
                      <a:lumMod val="20000"/>
                      <a:lumOff val="80000"/>
                    </a:schemeClr>
                  </a:gs>
                  <a:gs pos="100000">
                    <a:schemeClr val="accent1">
                      <a:lumMod val="60000"/>
                      <a:lumOff val="40000"/>
                    </a:schemeClr>
                  </a:gs>
                </a:gsLst>
                <a:lin ang="0" scaled="1"/>
              </a:gradFill>
              <a:ln w="9525">
                <a:solidFill>
                  <a:schemeClr val="bg1"/>
                </a:solidFill>
              </a:ln>
              <a:effectLst/>
            </c:spPr>
          </c:dPt>
          <c:dPt>
            <c:idx val="4"/>
            <c:bubble3D val="0"/>
            <c:spPr>
              <a:gradFill>
                <a:gsLst>
                  <a:gs pos="30000">
                    <a:schemeClr val="accent2">
                      <a:lumMod val="40000"/>
                      <a:lumOff val="60000"/>
                    </a:schemeClr>
                  </a:gs>
                  <a:gs pos="100000">
                    <a:schemeClr val="accent2"/>
                  </a:gs>
                </a:gsLst>
                <a:lin ang="0" scaled="1"/>
              </a:gradFill>
              <a:ln w="9525">
                <a:solidFill>
                  <a:schemeClr val="bg1"/>
                </a:solidFill>
              </a:ln>
              <a:effectLst/>
            </c:spPr>
          </c:dPt>
          <c:dLbls>
            <c:dLbl>
              <c:idx val="0"/>
              <c:layout>
                <c:manualLayout>
                  <c:x val="0.0458316472609277"/>
                  <c:y val="0.11565469378975"/>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0115994655468601"/>
                  <c:y val="-0.00277178771491493"/>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285062034739454"/>
                  <c:y val="-0.0531510571407917"/>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0783019660240507"/>
                  <c:y val="0.0156693285467686"/>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0.0365862187440351"/>
                  <c:y val="-0.000698677405874709"/>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dLblPos val="bestFi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Sheet1!$A$2:$A$6</c:f>
              <c:strCache>
                <c:ptCount val="5"/>
                <c:pt idx="0">
                  <c:v>业务招待费</c:v>
                </c:pt>
                <c:pt idx="1">
                  <c:v>差旅交通费</c:v>
                </c:pt>
                <c:pt idx="2">
                  <c:v>人力外包费</c:v>
                </c:pt>
                <c:pt idx="3">
                  <c:v>办公采购费</c:v>
                </c:pt>
                <c:pt idx="4">
                  <c:v>市场推广费</c:v>
                </c:pt>
              </c:strCache>
            </c:strRef>
          </c:cat>
          <c:val>
            <c:numRef>
              <c:f>Sheet1!$B$2:$B$6</c:f>
              <c:numCache>
                <c:formatCode>0.00%</c:formatCode>
                <c:ptCount val="5"/>
                <c:pt idx="0">
                  <c:v>0.238</c:v>
                </c:pt>
                <c:pt idx="1">
                  <c:v>0.248</c:v>
                </c:pt>
                <c:pt idx="2">
                  <c:v>0.286</c:v>
                </c:pt>
                <c:pt idx="3">
                  <c:v>0.124</c:v>
                </c:pt>
                <c:pt idx="4">
                  <c:v>0.105</c:v>
                </c:pt>
              </c:numCache>
            </c:numRef>
          </c:val>
        </c:ser>
        <c:dLbls>
          <c:showLegendKey val="0"/>
          <c:showVal val="0"/>
          <c:showCatName val="0"/>
          <c:showSerName val="0"/>
          <c:showPercent val="0"/>
          <c:showBubbleSize val="0"/>
          <c:showLeaderLines val="0"/>
        </c:dLbls>
        <c:firstSliceAng val="0"/>
      </c:pieChart>
      <c:spPr>
        <a:noFill/>
        <a:ln>
          <a:noFill/>
        </a:ln>
        <a:effectLst/>
      </c:spPr>
    </c:plotArea>
    <c:legend>
      <c:legendPos val="b"/>
      <c:legendEntry>
        <c:idx val="0"/>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1"/>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2"/>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3"/>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4"/>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
    <c:plotVisOnly val="1"/>
    <c:dispBlanksAs val="gap"/>
    <c:showDLblsOverMax val="0"/>
  </c:chart>
  <c:spPr>
    <a:noFill/>
    <a:ln>
      <a:noFill/>
    </a:ln>
    <a:effectLst/>
  </c:spPr>
  <c:txPr>
    <a:bodyPr/>
    <a:lstStyle/>
    <a:p>
      <a:pPr>
        <a:defRPr lang="zh-CN" sz="800">
          <a:solidFill>
            <a:schemeClr val="tx1"/>
          </a:solidFill>
          <a:latin typeface="+mn-ea"/>
          <a:ea typeface="+mn-ea"/>
        </a:defRPr>
      </a:pPr>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全年预算</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bg1"/>
                    </a:solidFill>
                    <a:latin typeface="+mn-ea"/>
                    <a:ea typeface="+mn-ea"/>
                    <a:cs typeface="思源黑体 CN Normal" panose="020B0400000000000000" pitchFamily="34"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业务招待费</c:v>
                </c:pt>
                <c:pt idx="1">
                  <c:v>差旅交通费</c:v>
                </c:pt>
                <c:pt idx="2">
                  <c:v>人力外包费</c:v>
                </c:pt>
                <c:pt idx="3">
                  <c:v>办公采购费</c:v>
                </c:pt>
                <c:pt idx="4">
                  <c:v>市场推广费</c:v>
                </c:pt>
              </c:strCache>
            </c:strRef>
          </c:cat>
          <c:val>
            <c:numRef>
              <c:f>Sheet1!$B$2:$B$6</c:f>
              <c:numCache>
                <c:formatCode>#,##0</c:formatCode>
                <c:ptCount val="5"/>
                <c:pt idx="0">
                  <c:v>1800</c:v>
                </c:pt>
                <c:pt idx="1">
                  <c:v>2200</c:v>
                </c:pt>
                <c:pt idx="2">
                  <c:v>3000</c:v>
                </c:pt>
                <c:pt idx="3">
                  <c:v>1500</c:v>
                </c:pt>
                <c:pt idx="4">
                  <c:v>1500</c:v>
                </c:pt>
              </c:numCache>
            </c:numRef>
          </c:val>
        </c:ser>
        <c:ser>
          <c:idx val="1"/>
          <c:order val="1"/>
          <c:tx>
            <c:strRef>
              <c:f>Sheet1!$C$1</c:f>
              <c:strCache>
                <c:ptCount val="1"/>
                <c:pt idx="0">
                  <c:v>实际支出</c:v>
                </c:pt>
              </c:strCache>
            </c:strRef>
          </c:tx>
          <c:spPr>
            <a:gradFill flip="none" rotWithShape="1">
              <a:gsLst>
                <a:gs pos="0">
                  <a:schemeClr val="accent1">
                    <a:lumMod val="60000"/>
                    <a:lumOff val="40000"/>
                  </a:schemeClr>
                </a:gs>
                <a:gs pos="100000">
                  <a:schemeClr val="accent1"/>
                </a:gs>
              </a:gsLst>
              <a:lin ang="81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bg1"/>
                    </a:solidFill>
                    <a:latin typeface="+mn-ea"/>
                    <a:ea typeface="+mn-ea"/>
                    <a:cs typeface="思源黑体 CN Normal" panose="020B0400000000000000" pitchFamily="34"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业务招待费</c:v>
                </c:pt>
                <c:pt idx="1">
                  <c:v>差旅交通费</c:v>
                </c:pt>
                <c:pt idx="2">
                  <c:v>人力外包费</c:v>
                </c:pt>
                <c:pt idx="3">
                  <c:v>办公采购费</c:v>
                </c:pt>
                <c:pt idx="4">
                  <c:v>市场推广费</c:v>
                </c:pt>
              </c:strCache>
            </c:strRef>
          </c:cat>
          <c:val>
            <c:numRef>
              <c:f>Sheet1!$C$2:$C$6</c:f>
              <c:numCache>
                <c:formatCode>#,##0</c:formatCode>
                <c:ptCount val="5"/>
                <c:pt idx="0">
                  <c:v>2500</c:v>
                </c:pt>
                <c:pt idx="1">
                  <c:v>2600</c:v>
                </c:pt>
                <c:pt idx="2">
                  <c:v>3000</c:v>
                </c:pt>
                <c:pt idx="3">
                  <c:v>1300</c:v>
                </c:pt>
                <c:pt idx="4">
                  <c:v>1100</c:v>
                </c:pt>
              </c:numCache>
            </c:numRef>
          </c:val>
        </c:ser>
        <c:dLbls>
          <c:showLegendKey val="0"/>
          <c:showVal val="0"/>
          <c:showCatName val="0"/>
          <c:showSerName val="0"/>
          <c:showPercent val="0"/>
          <c:showBubbleSize val="0"/>
        </c:dLbls>
        <c:gapWidth val="50"/>
        <c:overlap val="100"/>
        <c:axId val="1600644015"/>
        <c:axId val="1600640655"/>
      </c:barChart>
      <c:catAx>
        <c:axId val="160064401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1600640655"/>
        <c:crosses val="autoZero"/>
        <c:auto val="1"/>
        <c:lblAlgn val="ctr"/>
        <c:lblOffset val="100"/>
        <c:noMultiLvlLbl val="0"/>
      </c:catAx>
      <c:valAx>
        <c:axId val="1600640655"/>
        <c:scaling>
          <c:orientation val="minMax"/>
        </c:scaling>
        <c:delete val="1"/>
        <c:axPos val="t"/>
        <c:numFmt formatCode="#,##0" sourceLinked="1"/>
        <c:majorTickMark val="none"/>
        <c:minorTickMark val="none"/>
        <c:tickLblPos val="high"/>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mn-cs"/>
              </a:defRPr>
            </a:pPr>
          </a:p>
        </c:txPr>
        <c:crossAx val="1600644015"/>
        <c:crosses val="autoZero"/>
        <c:crossBetween val="between"/>
      </c:valAx>
      <c:spPr>
        <a:noFill/>
        <a:ln>
          <a:noFill/>
        </a:ln>
        <a:effectLst/>
      </c:spPr>
    </c:plotArea>
    <c:plotVisOnly val="1"/>
    <c:dispBlanksAs val="gap"/>
    <c:showDLblsOverMax val="0"/>
  </c:chart>
  <c:spPr>
    <a:noFill/>
    <a:ln>
      <a:noFill/>
    </a:ln>
    <a:effectLst/>
  </c:spPr>
  <c:txPr>
    <a:bodyPr/>
    <a:lstStyle/>
    <a:p>
      <a:pPr>
        <a:defRPr lang="zh-CN" sz="800">
          <a:latin typeface="+mn-ea"/>
          <a:ea typeface="+mn-ea"/>
        </a:defRPr>
      </a:pPr>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销售额（元）</c:v>
                </c:pt>
              </c:strCache>
            </c:strRef>
          </c:tx>
          <c:spPr>
            <a:solidFill>
              <a:schemeClr val="accent1">
                <a:lumMod val="20000"/>
                <a:lumOff val="80000"/>
              </a:schemeClr>
            </a:solidFill>
            <a:ln>
              <a:noFill/>
            </a:ln>
            <a:effectLst/>
          </c:spPr>
          <c:invertIfNegative val="0"/>
          <c:dPt>
            <c:idx val="0"/>
            <c:invertIfNegative val="0"/>
            <c:bubble3D val="0"/>
            <c:spPr>
              <a:solidFill>
                <a:schemeClr val="accent2">
                  <a:lumMod val="20000"/>
                  <a:lumOff val="80000"/>
                </a:schemeClr>
              </a:solidFill>
              <a:ln>
                <a:noFill/>
              </a:ln>
              <a:effectLst/>
            </c:spPr>
          </c:dPt>
          <c:dPt>
            <c:idx val="1"/>
            <c:invertIfNegative val="0"/>
            <c:bubble3D val="0"/>
            <c:spPr>
              <a:solidFill>
                <a:schemeClr val="accent2">
                  <a:lumMod val="20000"/>
                  <a:lumOff val="80000"/>
                </a:schemeClr>
              </a:solidFill>
              <a:ln>
                <a:noFill/>
              </a:ln>
              <a:effectLst/>
            </c:spPr>
          </c:dPt>
          <c:dPt>
            <c:idx val="2"/>
            <c:invertIfNegative val="0"/>
            <c:bubble3D val="0"/>
            <c:spPr>
              <a:solidFill>
                <a:schemeClr val="accent2">
                  <a:lumMod val="20000"/>
                  <a:lumOff val="80000"/>
                </a:schemeClr>
              </a:solidFill>
              <a:ln>
                <a:noFill/>
              </a:ln>
              <a:effectLst/>
            </c:spPr>
          </c:dPt>
          <c:dLbls>
            <c:delete val="1"/>
          </c:dLbls>
          <c:cat>
            <c:strRef>
              <c:f>Sheet1!$A$2:$A$9</c:f>
              <c:strCache>
                <c:ptCount val="8"/>
                <c:pt idx="0">
                  <c:v>【旗舰款】智能恒温热水壶H3</c:v>
                </c:pt>
                <c:pt idx="1">
                  <c:v>【经典款】便携榨汁杯J1</c:v>
                </c:pt>
                <c:pt idx="2">
                  <c:v>【新品】多功能空气炸锅AF-01</c:v>
                </c:pt>
                <c:pt idx="3">
                  <c:v>【套装】养生壶+炖盅礼盒装</c:v>
                </c:pt>
                <c:pt idx="4">
                  <c:v>【爆款】家用静音加湿器C5</c:v>
                </c:pt>
                <c:pt idx="5">
                  <c:v>【高端款】全自动咖啡机C90</c:v>
                </c:pt>
                <c:pt idx="6">
                  <c:v>【新品】无线手持吸尘器V8</c:v>
                </c:pt>
                <c:pt idx="7">
                  <c:v>【热销】紫外线消毒牙刷架</c:v>
                </c:pt>
              </c:strCache>
            </c:strRef>
          </c:cat>
          <c:val>
            <c:numRef>
              <c:f>Sheet1!$B$2:$B$9</c:f>
              <c:numCache>
                <c:formatCode>#,##0</c:formatCode>
                <c:ptCount val="8"/>
                <c:pt idx="0">
                  <c:v>2000000</c:v>
                </c:pt>
                <c:pt idx="1">
                  <c:v>2000000</c:v>
                </c:pt>
                <c:pt idx="2">
                  <c:v>2000000</c:v>
                </c:pt>
                <c:pt idx="3">
                  <c:v>2000000</c:v>
                </c:pt>
                <c:pt idx="4">
                  <c:v>2000000</c:v>
                </c:pt>
                <c:pt idx="5">
                  <c:v>2000000</c:v>
                </c:pt>
                <c:pt idx="6">
                  <c:v>2000000</c:v>
                </c:pt>
                <c:pt idx="7">
                  <c:v>2000000</c:v>
                </c:pt>
              </c:numCache>
            </c:numRef>
          </c:val>
        </c:ser>
        <c:ser>
          <c:idx val="1"/>
          <c:order val="1"/>
          <c:tx>
            <c:strRef>
              <c:f>Sheet1!$C$1</c:f>
              <c:strCache>
                <c:ptCount val="1"/>
                <c:pt idx="0">
                  <c:v>销售额（元）2</c:v>
                </c:pt>
              </c:strCache>
            </c:strRef>
          </c:tx>
          <c:spPr>
            <a:gradFill flip="none" rotWithShape="1">
              <a:gsLst>
                <a:gs pos="0">
                  <a:schemeClr val="accent1">
                    <a:lumMod val="60000"/>
                    <a:lumOff val="40000"/>
                  </a:schemeClr>
                </a:gs>
                <a:gs pos="100000">
                  <a:schemeClr val="accent1"/>
                </a:gs>
              </a:gsLst>
              <a:lin ang="0" scaled="1"/>
              <a:tileRect/>
            </a:gradFill>
            <a:ln>
              <a:noFill/>
            </a:ln>
            <a:effectLst/>
          </c:spPr>
          <c:invertIfNegative val="0"/>
          <c:dPt>
            <c:idx val="0"/>
            <c:invertIfNegative val="0"/>
            <c:bubble3D val="0"/>
            <c:spPr>
              <a:gradFill flip="none" rotWithShape="1">
                <a:gsLst>
                  <a:gs pos="0">
                    <a:schemeClr val="accent2">
                      <a:lumMod val="60000"/>
                      <a:lumOff val="40000"/>
                    </a:schemeClr>
                  </a:gs>
                  <a:gs pos="100000">
                    <a:schemeClr val="accent2"/>
                  </a:gs>
                </a:gsLst>
                <a:lin ang="0" scaled="1"/>
                <a:tileRect/>
              </a:gradFill>
              <a:ln>
                <a:noFill/>
              </a:ln>
              <a:effectLst/>
            </c:spPr>
          </c:dPt>
          <c:dPt>
            <c:idx val="1"/>
            <c:invertIfNegative val="0"/>
            <c:bubble3D val="0"/>
            <c:spPr>
              <a:gradFill flip="none" rotWithShape="1">
                <a:gsLst>
                  <a:gs pos="0">
                    <a:schemeClr val="accent2">
                      <a:lumMod val="60000"/>
                      <a:lumOff val="40000"/>
                    </a:schemeClr>
                  </a:gs>
                  <a:gs pos="100000">
                    <a:schemeClr val="accent2"/>
                  </a:gs>
                </a:gsLst>
                <a:lin ang="0" scaled="1"/>
                <a:tileRect/>
              </a:gradFill>
              <a:ln>
                <a:noFill/>
              </a:ln>
              <a:effectLst/>
            </c:spPr>
          </c:dPt>
          <c:dPt>
            <c:idx val="2"/>
            <c:invertIfNegative val="0"/>
            <c:bubble3D val="0"/>
            <c:spPr>
              <a:gradFill flip="none" rotWithShape="1">
                <a:gsLst>
                  <a:gs pos="0">
                    <a:schemeClr val="accent2">
                      <a:lumMod val="60000"/>
                      <a:lumOff val="40000"/>
                    </a:schemeClr>
                  </a:gs>
                  <a:gs pos="100000">
                    <a:schemeClr val="accent2"/>
                  </a:gs>
                </a:gsLst>
                <a:lin ang="0" scaled="1"/>
                <a:tileRect/>
              </a:gra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800" b="0" i="0" u="none" strike="noStrike" kern="1200" baseline="0">
                    <a:solidFill>
                      <a:schemeClr val="bg1"/>
                    </a:solidFill>
                    <a:latin typeface="+mn-ea"/>
                    <a:ea typeface="+mn-ea"/>
                    <a:cs typeface="思源黑体 CN Normal" panose="020B0400000000000000" pitchFamily="34"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【旗舰款】智能恒温热水壶H3</c:v>
                </c:pt>
                <c:pt idx="1">
                  <c:v>【经典款】便携榨汁杯J1</c:v>
                </c:pt>
                <c:pt idx="2">
                  <c:v>【新品】多功能空气炸锅AF-01</c:v>
                </c:pt>
                <c:pt idx="3">
                  <c:v>【套装】养生壶+炖盅礼盒装</c:v>
                </c:pt>
                <c:pt idx="4">
                  <c:v>【爆款】家用静音加湿器C5</c:v>
                </c:pt>
                <c:pt idx="5">
                  <c:v>【高端款】全自动咖啡机C90</c:v>
                </c:pt>
                <c:pt idx="6">
                  <c:v>【新品】无线手持吸尘器V8</c:v>
                </c:pt>
                <c:pt idx="7">
                  <c:v>【热销】紫外线消毒牙刷架</c:v>
                </c:pt>
              </c:strCache>
            </c:strRef>
          </c:cat>
          <c:val>
            <c:numRef>
              <c:f>Sheet1!$C$2:$C$9</c:f>
              <c:numCache>
                <c:formatCode>#,##0</c:formatCode>
                <c:ptCount val="8"/>
                <c:pt idx="0">
                  <c:v>1915000</c:v>
                </c:pt>
                <c:pt idx="1">
                  <c:v>1458000</c:v>
                </c:pt>
                <c:pt idx="2">
                  <c:v>1352000</c:v>
                </c:pt>
                <c:pt idx="3">
                  <c:v>1155000</c:v>
                </c:pt>
                <c:pt idx="4">
                  <c:v>980000</c:v>
                </c:pt>
                <c:pt idx="5">
                  <c:v>920000</c:v>
                </c:pt>
                <c:pt idx="6">
                  <c:v>840000</c:v>
                </c:pt>
                <c:pt idx="7">
                  <c:v>780000</c:v>
                </c:pt>
              </c:numCache>
            </c:numRef>
          </c:val>
        </c:ser>
        <c:dLbls>
          <c:showLegendKey val="0"/>
          <c:showVal val="0"/>
          <c:showCatName val="0"/>
          <c:showSerName val="0"/>
          <c:showPercent val="0"/>
          <c:showBubbleSize val="0"/>
        </c:dLbls>
        <c:gapWidth val="86"/>
        <c:overlap val="100"/>
        <c:axId val="1600644015"/>
        <c:axId val="1600640655"/>
      </c:barChart>
      <c:catAx>
        <c:axId val="160064401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1600640655"/>
        <c:crosses val="autoZero"/>
        <c:auto val="1"/>
        <c:lblAlgn val="ctr"/>
        <c:lblOffset val="100"/>
        <c:noMultiLvlLbl val="0"/>
      </c:catAx>
      <c:valAx>
        <c:axId val="1600640655"/>
        <c:scaling>
          <c:orientation val="minMax"/>
        </c:scaling>
        <c:delete val="1"/>
        <c:axPos val="t"/>
        <c:numFmt formatCode="#,##0" sourceLinked="1"/>
        <c:majorTickMark val="none"/>
        <c:minorTickMark val="none"/>
        <c:tickLblPos val="high"/>
        <c:txPr>
          <a:bodyPr rot="-60000000" spcFirstLastPara="0" vertOverflow="ellipsis" vert="horz" wrap="square" anchor="ctr" anchorCtr="1"/>
          <a:lstStyle/>
          <a:p>
            <a:pPr>
              <a:defRPr lang="zh-CN" sz="700" b="0" i="0" u="none" strike="noStrike" kern="1200" baseline="0">
                <a:solidFill>
                  <a:schemeClr val="tx1">
                    <a:lumMod val="65000"/>
                    <a:lumOff val="35000"/>
                  </a:schemeClr>
                </a:solidFill>
                <a:latin typeface="+mn-ea"/>
                <a:ea typeface="+mn-ea"/>
                <a:cs typeface="+mn-cs"/>
              </a:defRPr>
            </a:pPr>
          </a:p>
        </c:txPr>
        <c:crossAx val="1600644015"/>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sz="700">
          <a:latin typeface="+mn-ea"/>
          <a:ea typeface="+mn-ea"/>
        </a:defRPr>
      </a:pPr>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Sheet1!$B$1</c:f>
              <c:strCache>
                <c:ptCount val="1"/>
                <c:pt idx="0">
                  <c:v>Y 值</c:v>
                </c:pt>
              </c:strCache>
            </c:strRef>
          </c:tx>
          <c:spPr>
            <a:solidFill>
              <a:schemeClr val="accent1">
                <a:alpha val="60000"/>
              </a:schemeClr>
            </a:solidFill>
            <a:ln>
              <a:noFill/>
            </a:ln>
            <a:effectLst/>
          </c:spPr>
          <c:invertIfNegative val="0"/>
          <c:dPt>
            <c:idx val="2"/>
            <c:bubble3D val="0"/>
            <c:spPr>
              <a:gradFill>
                <a:gsLst>
                  <a:gs pos="0">
                    <a:schemeClr val="accent1">
                      <a:lumMod val="60000"/>
                      <a:lumOff val="40000"/>
                    </a:schemeClr>
                  </a:gs>
                  <a:gs pos="100000">
                    <a:schemeClr val="accent1"/>
                  </a:gs>
                </a:gsLst>
                <a:lin ang="2700000" scaled="1"/>
              </a:gradFill>
              <a:ln>
                <a:noFill/>
              </a:ln>
              <a:effectLst/>
            </c:spPr>
          </c:dPt>
          <c:dPt>
            <c:idx val="3"/>
            <c:bubble3D val="0"/>
            <c:spPr>
              <a:gradFill>
                <a:gsLst>
                  <a:gs pos="0">
                    <a:schemeClr val="accent2">
                      <a:lumMod val="60000"/>
                      <a:lumOff val="40000"/>
                    </a:schemeClr>
                  </a:gs>
                  <a:gs pos="100000">
                    <a:schemeClr val="accent2"/>
                  </a:gs>
                </a:gsLst>
                <a:lin ang="2700000" scaled="1"/>
              </a:gradFill>
              <a:ln>
                <a:noFill/>
              </a:ln>
              <a:effectLst/>
            </c:spPr>
          </c:dPt>
          <c:dLbls>
            <c:delete val="1"/>
          </c:dLbls>
          <c:xVal>
            <c:numRef>
              <c:f>Sheet1!$A$2:$A$9</c:f>
              <c:numCache>
                <c:formatCode>0%</c:formatCode>
                <c:ptCount val="8"/>
                <c:pt idx="0">
                  <c:v>0.18</c:v>
                </c:pt>
                <c:pt idx="1">
                  <c:v>0.05</c:v>
                </c:pt>
                <c:pt idx="2">
                  <c:v>0.35</c:v>
                </c:pt>
                <c:pt idx="3">
                  <c:v>0.22</c:v>
                </c:pt>
                <c:pt idx="4">
                  <c:v>0.08</c:v>
                </c:pt>
                <c:pt idx="5">
                  <c:v>0.12</c:v>
                </c:pt>
                <c:pt idx="6">
                  <c:v>0.15</c:v>
                </c:pt>
                <c:pt idx="7">
                  <c:v>0.08</c:v>
                </c:pt>
              </c:numCache>
            </c:numRef>
          </c:xVal>
          <c:yVal>
            <c:numRef>
              <c:f>Sheet1!$B$2:$B$9</c:f>
              <c:numCache>
                <c:formatCode>0%</c:formatCode>
                <c:ptCount val="8"/>
                <c:pt idx="0">
                  <c:v>0.15</c:v>
                </c:pt>
                <c:pt idx="1">
                  <c:v>0.06</c:v>
                </c:pt>
                <c:pt idx="2">
                  <c:v>0.18</c:v>
                </c:pt>
                <c:pt idx="3">
                  <c:v>0.2</c:v>
                </c:pt>
                <c:pt idx="4">
                  <c:v>0.1</c:v>
                </c:pt>
                <c:pt idx="5">
                  <c:v>0.15</c:v>
                </c:pt>
                <c:pt idx="6">
                  <c:v>0.12</c:v>
                </c:pt>
                <c:pt idx="7">
                  <c:v>0.07</c:v>
                </c:pt>
              </c:numCache>
            </c:numRef>
          </c:yVal>
          <c:bubbleSize>
            <c:numRef>
              <c:f>Sheet1!$C$2:$C$9</c:f>
              <c:numCache>
                <c:formatCode>General</c:formatCode>
                <c:ptCount val="8"/>
                <c:pt idx="0">
                  <c:v>40</c:v>
                </c:pt>
                <c:pt idx="1">
                  <c:v>10</c:v>
                </c:pt>
                <c:pt idx="2">
                  <c:v>160</c:v>
                </c:pt>
                <c:pt idx="3">
                  <c:v>200</c:v>
                </c:pt>
                <c:pt idx="4">
                  <c:v>25</c:v>
                </c:pt>
                <c:pt idx="5">
                  <c:v>30</c:v>
                </c:pt>
                <c:pt idx="6">
                  <c:v>50</c:v>
                </c:pt>
                <c:pt idx="7">
                  <c:v>15</c:v>
                </c:pt>
              </c:numCache>
            </c:numRef>
          </c:bubbleSize>
          <c:bubble3D val="0"/>
        </c:ser>
        <c:dLbls>
          <c:showLegendKey val="0"/>
          <c:showVal val="0"/>
          <c:showCatName val="0"/>
          <c:showSerName val="0"/>
          <c:showPercent val="0"/>
          <c:showBubbleSize val="0"/>
        </c:dLbls>
        <c:bubbleScale val="100"/>
        <c:showNegBubbles val="0"/>
        <c:sizeRepresents val="area"/>
        <c:axId val="208310736"/>
        <c:axId val="208323216"/>
      </c:bubbleChart>
      <c:valAx>
        <c:axId val="208310736"/>
        <c:scaling>
          <c:orientation val="minMax"/>
          <c:max val="0.4"/>
          <c:min val="0"/>
        </c:scaling>
        <c:delete val="0"/>
        <c:axPos val="b"/>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crossAx val="208323216"/>
        <c:crosses val="autoZero"/>
        <c:crossBetween val="midCat"/>
      </c:valAx>
      <c:valAx>
        <c:axId val="208323216"/>
        <c:scaling>
          <c:orientation val="minMax"/>
          <c:max val="0.25"/>
          <c:min val="0"/>
        </c:scaling>
        <c:delete val="0"/>
        <c:axPos val="l"/>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crossAx val="208310736"/>
        <c:crosses val="autoZero"/>
        <c:crossBetween val="midCat"/>
      </c:valAx>
      <c:spPr>
        <a:noFill/>
        <a:ln>
          <a:noFill/>
        </a:ln>
        <a:effectLst/>
      </c:spPr>
    </c:plotArea>
    <c:plotVisOnly val="1"/>
    <c:dispBlanksAs val="gap"/>
    <c:showDLblsOverMax val="0"/>
  </c:chart>
  <c:spPr>
    <a:noFill/>
    <a:ln>
      <a:noFill/>
    </a:ln>
    <a:effectLst/>
  </c:spPr>
  <c:txPr>
    <a:bodyPr/>
    <a:lstStyle/>
    <a:p>
      <a:pPr>
        <a:defRPr lang="zh-CN" sz="700">
          <a:solidFill>
            <a:schemeClr val="tx1"/>
          </a:solidFill>
          <a:latin typeface="+mn-ea"/>
          <a:ea typeface="+mn-ea"/>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Normal" panose="020B0400000000000000" pitchFamily="34" charset="-122"/>
                <a:ea typeface="思源黑体 CN Normal" panose="020B0400000000000000" pitchFamily="34" charset="-122"/>
                <a:cs typeface="思源黑体 CN Normal" panose="020B0400000000000000" pitchFamily="34" charset="-122"/>
              </a:rPr>
            </a:fld>
            <a:endParaRPr lang="zh-CN" altLang="en-US">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Normal" panose="020B0400000000000000" pitchFamily="34" charset="-122"/>
                <a:ea typeface="思源黑体 CN Normal" panose="020B0400000000000000" pitchFamily="34" charset="-122"/>
                <a:cs typeface="思源黑体 CN Normal" panose="020B0400000000000000" pitchFamily="34" charset="-122"/>
              </a:rPr>
            </a:fld>
            <a:endParaRPr lang="zh-CN" altLang="en-US">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stStyle>
          <a:p>
            <a:fld id="{8C73AC29-514A-4CB7-8A02-4103C4FA458F}"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stStyle>
          <a:p>
            <a:fld id="{662D6AC2-1893-4B3A-AE00-2EF5A67E01C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vl2pPr marL="45720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2pPr>
    <a:lvl3pPr marL="91440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3pPr>
    <a:lvl4pPr marL="137160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4pPr>
    <a:lvl5pPr marL="182880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g225ee2d6b6a_3_67: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g225ee2d6b6a_3_67: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59" name="Google Shape;59;g225ee2d6b6a_3_67: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思源黑体 CN Normal" panose="020B0400000000000000" pitchFamily="34" charset="-122"/>
              <a:buNone/>
              <a:defRPr/>
            </a:pPr>
            <a:fld id="{00000000-1234-1234-1234-123412341234}" type="slidenum">
              <a:rPr kumimoji="0" lang="en-US" altLang="zh-CN" sz="1300" b="0" i="0" u="none" strike="noStrike" kern="0" cap="none" spc="0" normalizeH="0" baseline="0" noProof="0">
                <a:ln>
                  <a:noFill/>
                </a:ln>
                <a:solidFill>
                  <a:srgbClr val="000000"/>
                </a:solidFill>
                <a:effectLst/>
                <a:uLnTx/>
                <a:uFillTx/>
                <a:sym typeface="思源黑体 CN Normal" panose="020B0400000000000000" pitchFamily="34" charset="-122"/>
              </a:rPr>
            </a:fld>
            <a:endParaRPr kumimoji="0" sz="1300" b="0" i="0" u="none" strike="noStrike" kern="0" cap="none" spc="0" normalizeH="0" baseline="0" noProof="0" dirty="0">
              <a:ln>
                <a:noFill/>
              </a:ln>
              <a:solidFill>
                <a:srgbClr val="000000"/>
              </a:solidFill>
              <a:effectLst/>
              <a:uLnTx/>
              <a:uFillTx/>
              <a:sym typeface="思源黑体 CN Normal" panose="020B0400000000000000"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g225ee2d6b6a_3_67: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g225ee2d6b6a_3_67: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59" name="Google Shape;59;g225ee2d6b6a_3_67: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思源黑体 CN Normal" panose="020B0400000000000000" pitchFamily="34" charset="-122"/>
              <a:buNone/>
              <a:defRPr/>
            </a:pPr>
            <a:fld id="{00000000-1234-1234-1234-123412341234}" type="slidenum">
              <a:rPr kumimoji="0" lang="en-US" altLang="zh-CN" sz="1300" b="0" i="0" u="none" strike="noStrike" kern="0" cap="none" spc="0" normalizeH="0" baseline="0" noProof="0">
                <a:ln>
                  <a:noFill/>
                </a:ln>
                <a:solidFill>
                  <a:srgbClr val="000000"/>
                </a:solidFill>
                <a:effectLst/>
                <a:uLnTx/>
                <a:uFillTx/>
                <a:sym typeface="思源黑体 CN Normal" panose="020B0400000000000000" pitchFamily="34" charset="-122"/>
              </a:rPr>
            </a:fld>
            <a:endParaRPr kumimoji="0" sz="1300" b="0" i="0" u="none" strike="noStrike" kern="0" cap="none" spc="0" normalizeH="0" baseline="0" noProof="0" dirty="0">
              <a:ln>
                <a:noFill/>
              </a:ln>
              <a:solidFill>
                <a:srgbClr val="000000"/>
              </a:solidFill>
              <a:effectLst/>
              <a:uLnTx/>
              <a:uFillTx/>
              <a:sym typeface="思源黑体 CN Normal" panose="020B0400000000000000"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7807B83-C6EF-4820-B29B-23163268F2BA}"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dirty="0">
              <a:ln>
                <a:noFill/>
              </a:ln>
              <a:solidFill>
                <a:prstClr val="black"/>
              </a:solidFill>
              <a:effectLst/>
              <a:uLnTx/>
              <a:uFillTx/>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xml"/><Relationship Id="rId3"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3.xml"/><Relationship Id="rId3"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5.xml"/><Relationship Id="rId3"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7.xml"/><Relationship Id="rId3"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9.xml"/><Relationship Id="rId3"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1.xml"/><Relationship Id="rId3"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3.xml"/><Relationship Id="rId3" Type="http://schemas.openxmlformats.org/officeDocument/2006/relationships/tags" Target="../tags/tag1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5.xml"/><Relationship Id="rId3" Type="http://schemas.openxmlformats.org/officeDocument/2006/relationships/tags" Target="../tags/tag1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
        <p:nvSpPr>
          <p:cNvPr id="6" name="任意多边形: 形状 5"/>
          <p:cNvSpPr/>
          <p:nvPr/>
        </p:nvSpPr>
        <p:spPr>
          <a:xfrm>
            <a:off x="-3171" y="228136"/>
            <a:ext cx="183181" cy="377456"/>
          </a:xfrm>
          <a:custGeom>
            <a:avLst/>
            <a:gdLst>
              <a:gd name="connsiteX0" fmla="*/ 39195 w 183181"/>
              <a:gd name="connsiteY0" fmla="*/ 0 h 377456"/>
              <a:gd name="connsiteX1" fmla="*/ 183181 w 183181"/>
              <a:gd name="connsiteY1" fmla="*/ 188728 h 377456"/>
              <a:gd name="connsiteX2" fmla="*/ 39195 w 183181"/>
              <a:gd name="connsiteY2" fmla="*/ 377456 h 377456"/>
              <a:gd name="connsiteX3" fmla="*/ 0 w 183181"/>
              <a:gd name="connsiteY3" fmla="*/ 326082 h 377456"/>
              <a:gd name="connsiteX4" fmla="*/ 0 w 183181"/>
              <a:gd name="connsiteY4" fmla="*/ 51374 h 37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181" h="377456">
                <a:moveTo>
                  <a:pt x="39195" y="0"/>
                </a:moveTo>
                <a:lnTo>
                  <a:pt x="183181" y="188728"/>
                </a:lnTo>
                <a:lnTo>
                  <a:pt x="39195" y="377456"/>
                </a:lnTo>
                <a:lnTo>
                  <a:pt x="0" y="326082"/>
                </a:lnTo>
                <a:lnTo>
                  <a:pt x="0" y="51374"/>
                </a:lnTo>
                <a:close/>
              </a:path>
            </a:pathLst>
          </a:custGeom>
          <a:noFill/>
          <a:ln w="0" cap="flat">
            <a:gradFill>
              <a:gsLst>
                <a:gs pos="44000">
                  <a:schemeClr val="accent1">
                    <a:alpha val="0"/>
                  </a:schemeClr>
                </a:gs>
                <a:gs pos="0">
                  <a:schemeClr val="accent1"/>
                </a:gs>
                <a:gs pos="100000">
                  <a:schemeClr val="accent1"/>
                </a:gs>
              </a:gsLst>
              <a:lin ang="0" scaled="0"/>
            </a:gradFill>
            <a:prstDash val="solid"/>
            <a:miter/>
          </a:ln>
        </p:spPr>
        <p:txBody>
          <a:bodyPr wrap="square" rtlCol="0" anchor="ctr">
            <a:noAutofit/>
          </a:bodyPr>
          <a:lstStyle/>
          <a:p>
            <a:endParaRPr lang="zh-CN" altLang="en-US" dirty="0">
              <a:solidFill>
                <a:prstClr val="black"/>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 name="任意多边形: 形状 4"/>
          <p:cNvSpPr/>
          <p:nvPr userDrawn="1"/>
        </p:nvSpPr>
        <p:spPr>
          <a:xfrm>
            <a:off x="-3172" y="228136"/>
            <a:ext cx="147158" cy="377456"/>
          </a:xfrm>
          <a:custGeom>
            <a:avLst/>
            <a:gdLst>
              <a:gd name="connsiteX0" fmla="*/ 3172 w 147158"/>
              <a:gd name="connsiteY0" fmla="*/ 0 h 377456"/>
              <a:gd name="connsiteX1" fmla="*/ 147158 w 147158"/>
              <a:gd name="connsiteY1" fmla="*/ 188728 h 377456"/>
              <a:gd name="connsiteX2" fmla="*/ 3172 w 147158"/>
              <a:gd name="connsiteY2" fmla="*/ 377456 h 377456"/>
              <a:gd name="connsiteX3" fmla="*/ 0 w 147158"/>
              <a:gd name="connsiteY3" fmla="*/ 373298 h 377456"/>
              <a:gd name="connsiteX4" fmla="*/ 0 w 147158"/>
              <a:gd name="connsiteY4" fmla="*/ 4158 h 37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158" h="377456">
                <a:moveTo>
                  <a:pt x="3172" y="0"/>
                </a:moveTo>
                <a:lnTo>
                  <a:pt x="147158" y="188728"/>
                </a:lnTo>
                <a:lnTo>
                  <a:pt x="3172" y="377456"/>
                </a:lnTo>
                <a:lnTo>
                  <a:pt x="0" y="373298"/>
                </a:lnTo>
                <a:lnTo>
                  <a:pt x="0" y="4158"/>
                </a:lnTo>
                <a:close/>
              </a:path>
            </a:pathLst>
          </a:custGeom>
          <a:gradFill flip="none" rotWithShape="1">
            <a:gsLst>
              <a:gs pos="15000">
                <a:schemeClr val="accent1">
                  <a:lumMod val="20000"/>
                  <a:lumOff val="80000"/>
                </a:schemeClr>
              </a:gs>
              <a:gs pos="53000">
                <a:schemeClr val="accent3"/>
              </a:gs>
              <a:gs pos="100000">
                <a:schemeClr val="accent1"/>
              </a:gs>
            </a:gsLst>
            <a:lin ang="5400000" scaled="0"/>
            <a:tileRect/>
          </a:gradFill>
          <a:ln w="0" cap="flat">
            <a:noFill/>
            <a:prstDash val="solid"/>
            <a:miter/>
          </a:ln>
        </p:spPr>
        <p:txBody>
          <a:bodyPr wrap="square" rtlCol="0" anchor="ctr">
            <a:noAutofit/>
          </a:bodyPr>
          <a:lstStyle/>
          <a:p>
            <a:endParaRPr lang="zh-CN" altLang="en-US" dirty="0">
              <a:solidFill>
                <a:prstClr val="black"/>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68" name="直接连接符 67"/>
          <p:cNvCxnSpPr/>
          <p:nvPr userDrawn="1"/>
        </p:nvCxnSpPr>
        <p:spPr>
          <a:xfrm>
            <a:off x="336000" y="644111"/>
            <a:ext cx="11520000" cy="0"/>
          </a:xfrm>
          <a:prstGeom prst="line">
            <a:avLst/>
          </a:prstGeom>
          <a:ln w="34925">
            <a:gradFill flip="none" rotWithShape="1">
              <a:gsLst>
                <a:gs pos="36000">
                  <a:schemeClr val="accent1"/>
                </a:gs>
                <a:gs pos="0">
                  <a:schemeClr val="accent1"/>
                </a:gs>
                <a:gs pos="100000">
                  <a:schemeClr val="accent1">
                    <a:alpha val="12000"/>
                  </a:schemeClr>
                </a:gs>
              </a:gsLst>
              <a:lin ang="0" scaled="1"/>
              <a:tileRect/>
            </a:gradFill>
          </a:ln>
          <a:effectLst>
            <a:outerShdw blurRad="50800" dist="38100" dir="2700000" algn="tl" rotWithShape="0">
              <a:schemeClr val="accent1">
                <a:lumMod val="50000"/>
                <a:alpha val="40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838ACF1-C2FA-4D89-A612-30F607EFFAD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4F9D44C-221E-4448-960C-8AA9A474619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9" name="稻壳儿原创设计师【幻雨工作室】_3"/>
          <p:cNvSpPr/>
          <p:nvPr userDrawn="1"/>
        </p:nvSpPr>
        <p:spPr>
          <a:xfrm>
            <a:off x="571047" y="452542"/>
            <a:ext cx="11049907" cy="5793469"/>
          </a:xfrm>
          <a:prstGeom prst="roundRect">
            <a:avLst>
              <a:gd name="adj" fmla="val 1042"/>
            </a:avLst>
          </a:prstGeom>
          <a:solidFill>
            <a:schemeClr val="bg1"/>
          </a:solidFill>
          <a:ln>
            <a:noFill/>
          </a:ln>
          <a:effectLst>
            <a:glow rad="228600">
              <a:schemeClr val="bg1">
                <a:alpha val="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9" name="稻壳儿原创设计师【幻雨工作室】_3"/>
          <p:cNvSpPr/>
          <p:nvPr userDrawn="1"/>
        </p:nvSpPr>
        <p:spPr>
          <a:xfrm>
            <a:off x="571047" y="452542"/>
            <a:ext cx="11049907" cy="5793469"/>
          </a:xfrm>
          <a:prstGeom prst="roundRect">
            <a:avLst>
              <a:gd name="adj" fmla="val 1042"/>
            </a:avLst>
          </a:prstGeom>
          <a:solidFill>
            <a:schemeClr val="bg1"/>
          </a:solidFill>
          <a:ln>
            <a:noFill/>
          </a:ln>
          <a:effectLst>
            <a:glow rad="228600">
              <a:schemeClr val="bg1">
                <a:alpha val="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37" name="稻壳儿原创设计师【幻雨工作室】_3"/>
          <p:cNvCxnSpPr/>
          <p:nvPr userDrawn="1">
            <p:custDataLst>
              <p:tags r:id="rId2"/>
            </p:custDataLst>
          </p:nvPr>
        </p:nvCxnSpPr>
        <p:spPr>
          <a:xfrm flipH="1">
            <a:off x="1241661" y="3410727"/>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8" name="稻壳儿原创设计师【幻雨工作室】_4"/>
          <p:cNvCxnSpPr/>
          <p:nvPr userDrawn="1">
            <p:custDataLst>
              <p:tags r:id="rId3"/>
            </p:custDataLst>
          </p:nvPr>
        </p:nvCxnSpPr>
        <p:spPr>
          <a:xfrm flipH="1">
            <a:off x="1241661" y="363663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研究背景概述</a:t>
            </a:r>
            <a:endParaRPr lang="en-US" altLang="zh-CN" sz="3200">
              <a:cs typeface="思源黑体 CN Heavy" panose="020B0A00000000000000"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研究意义阐述</a:t>
            </a:r>
            <a:endParaRPr lang="en-US" altLang="zh-CN" sz="3200">
              <a:cs typeface="思源黑体 CN Heavy" panose="020B0A00000000000000"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国内外研究现状</a:t>
            </a:r>
            <a:endParaRPr lang="en-US" altLang="zh-CN" sz="3200">
              <a:cs typeface="思源黑体 CN Heavy" panose="020B0A00000000000000"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研究目标与内容</a:t>
            </a:r>
            <a:endParaRPr lang="en-US" altLang="zh-CN" sz="3200">
              <a:cs typeface="思源黑体 CN Heavy" panose="020B0A00000000000000"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研究方法与技术路线</a:t>
            </a:r>
            <a:endParaRPr lang="en-US" altLang="zh-CN" sz="3200">
              <a:cs typeface="思源黑体 CN Heavy" panose="020B0A00000000000000"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研究创新点</a:t>
            </a:r>
            <a:endParaRPr lang="en-US" altLang="zh-CN" sz="3200">
              <a:cs typeface="思源黑体 CN Heavy" panose="020B0A00000000000000"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sp>
        <p:nvSpPr>
          <p:cNvPr id="7" name="Rectangle: Single Corner Snipped 3"/>
          <p:cNvSpPr/>
          <p:nvPr userDrawn="1"/>
        </p:nvSpPr>
        <p:spPr>
          <a:xfrm flipH="1">
            <a:off x="419100" y="419100"/>
            <a:ext cx="11353800" cy="6019800"/>
          </a:xfrm>
          <a:prstGeom prst="snip1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ea typeface="思源黑体 CN Heavy" panose="020B0A00000000000000" charset="-122"/>
              <a:cs typeface="思源黑体 CN Heavy" panose="020B0A00000000000000"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543C3B3-0A11-4369-9A0C-64D95D3C1F3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077451C-4E6D-4F1B-9FF2-A014A181AF8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2" name="同心圆 1"/>
          <p:cNvSpPr/>
          <p:nvPr userDrawn="1"/>
        </p:nvSpPr>
        <p:spPr>
          <a:xfrm>
            <a:off x="393290" y="557057"/>
            <a:ext cx="481781" cy="481781"/>
          </a:xfrm>
          <a:prstGeom prst="donu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cs typeface="思源黑体 CN Heavy" panose="020B0A00000000000000" charset="-122"/>
            </a:endParaRPr>
          </a:p>
        </p:txBody>
      </p:sp>
      <p:cxnSp>
        <p:nvCxnSpPr>
          <p:cNvPr id="3" name="直线连接符 7"/>
          <p:cNvCxnSpPr/>
          <p:nvPr userDrawn="1"/>
        </p:nvCxnSpPr>
        <p:spPr>
          <a:xfrm>
            <a:off x="612058" y="1018869"/>
            <a:ext cx="10906842" cy="9776"/>
          </a:xfrm>
          <a:prstGeom prst="line">
            <a:avLst/>
          </a:prstGeom>
          <a:ln w="28575">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
        <p:nvSpPr>
          <p:cNvPr id="5" name="任意形状 12"/>
          <p:cNvSpPr/>
          <p:nvPr userDrawn="1"/>
        </p:nvSpPr>
        <p:spPr>
          <a:xfrm>
            <a:off x="0" y="6464698"/>
            <a:ext cx="12192000" cy="393302"/>
          </a:xfrm>
          <a:custGeom>
            <a:avLst/>
            <a:gdLst>
              <a:gd name="connsiteX0" fmla="*/ 12192000 w 12192000"/>
              <a:gd name="connsiteY0" fmla="*/ 0 h 909447"/>
              <a:gd name="connsiteX1" fmla="*/ 12192000 w 12192000"/>
              <a:gd name="connsiteY1" fmla="*/ 909447 h 909447"/>
              <a:gd name="connsiteX2" fmla="*/ 0 w 12192000"/>
              <a:gd name="connsiteY2" fmla="*/ 909447 h 909447"/>
              <a:gd name="connsiteX3" fmla="*/ 0 w 12192000"/>
              <a:gd name="connsiteY3" fmla="*/ 401788 h 909447"/>
              <a:gd name="connsiteX4" fmla="*/ 271475 w 12192000"/>
              <a:gd name="connsiteY4" fmla="*/ 389839 h 909447"/>
              <a:gd name="connsiteX5" fmla="*/ 8190271 w 12192000"/>
              <a:gd name="connsiteY5" fmla="*/ 639060 h 909447"/>
              <a:gd name="connsiteX6" fmla="*/ 12049480 w 12192000"/>
              <a:gd name="connsiteY6" fmla="*/ 34242 h 909447"/>
              <a:gd name="connsiteX0-1" fmla="*/ 12192000 w 12192000"/>
              <a:gd name="connsiteY0-2" fmla="*/ 0 h 909447"/>
              <a:gd name="connsiteX1-3" fmla="*/ 12192000 w 12192000"/>
              <a:gd name="connsiteY1-4" fmla="*/ 909447 h 909447"/>
              <a:gd name="connsiteX2-5" fmla="*/ 0 w 12192000"/>
              <a:gd name="connsiteY2-6" fmla="*/ 909447 h 909447"/>
              <a:gd name="connsiteX3-7" fmla="*/ 0 w 12192000"/>
              <a:gd name="connsiteY3-8" fmla="*/ 401788 h 909447"/>
              <a:gd name="connsiteX4-9" fmla="*/ 8190271 w 12192000"/>
              <a:gd name="connsiteY4-10" fmla="*/ 639060 h 909447"/>
              <a:gd name="connsiteX5-11" fmla="*/ 12049480 w 12192000"/>
              <a:gd name="connsiteY5-12" fmla="*/ 34242 h 909447"/>
              <a:gd name="connsiteX6-13" fmla="*/ 12192000 w 12192000"/>
              <a:gd name="connsiteY6-14" fmla="*/ 0 h 909447"/>
              <a:gd name="connsiteX0-15" fmla="*/ 12192000 w 12192000"/>
              <a:gd name="connsiteY0-16" fmla="*/ 0 h 909447"/>
              <a:gd name="connsiteX1-17" fmla="*/ 12192000 w 12192000"/>
              <a:gd name="connsiteY1-18" fmla="*/ 909447 h 909447"/>
              <a:gd name="connsiteX2-19" fmla="*/ 0 w 12192000"/>
              <a:gd name="connsiteY2-20" fmla="*/ 909447 h 909447"/>
              <a:gd name="connsiteX3-21" fmla="*/ 0 w 12192000"/>
              <a:gd name="connsiteY3-22" fmla="*/ 401788 h 909447"/>
              <a:gd name="connsiteX4-23" fmla="*/ 12049480 w 12192000"/>
              <a:gd name="connsiteY4-24" fmla="*/ 34242 h 909447"/>
              <a:gd name="connsiteX5-25" fmla="*/ 12192000 w 12192000"/>
              <a:gd name="connsiteY5-26" fmla="*/ 0 h 909447"/>
              <a:gd name="connsiteX0-27" fmla="*/ 12192000 w 12192000"/>
              <a:gd name="connsiteY0-28" fmla="*/ 0 h 909447"/>
              <a:gd name="connsiteX1-29" fmla="*/ 12192000 w 12192000"/>
              <a:gd name="connsiteY1-30" fmla="*/ 909447 h 909447"/>
              <a:gd name="connsiteX2-31" fmla="*/ 0 w 12192000"/>
              <a:gd name="connsiteY2-32" fmla="*/ 909447 h 909447"/>
              <a:gd name="connsiteX3-33" fmla="*/ 0 w 12192000"/>
              <a:gd name="connsiteY3-34" fmla="*/ 401788 h 909447"/>
              <a:gd name="connsiteX4-35" fmla="*/ 12192000 w 12192000"/>
              <a:gd name="connsiteY4-36" fmla="*/ 0 h 909447"/>
              <a:gd name="connsiteX0-37" fmla="*/ 12192000 w 12192000"/>
              <a:gd name="connsiteY0-38" fmla="*/ 0 h 909447"/>
              <a:gd name="connsiteX1-39" fmla="*/ 12192000 w 12192000"/>
              <a:gd name="connsiteY1-40" fmla="*/ 909447 h 909447"/>
              <a:gd name="connsiteX2-41" fmla="*/ 0 w 12192000"/>
              <a:gd name="connsiteY2-42" fmla="*/ 909447 h 909447"/>
              <a:gd name="connsiteX3-43" fmla="*/ 0 w 12192000"/>
              <a:gd name="connsiteY3-44" fmla="*/ 401788 h 909447"/>
              <a:gd name="connsiteX4-45" fmla="*/ 12192000 w 12192000"/>
              <a:gd name="connsiteY4-46" fmla="*/ 0 h 909447"/>
              <a:gd name="connsiteX0-47" fmla="*/ 12192000 w 12192000"/>
              <a:gd name="connsiteY0-48" fmla="*/ 0 h 909447"/>
              <a:gd name="connsiteX1-49" fmla="*/ 12192000 w 12192000"/>
              <a:gd name="connsiteY1-50" fmla="*/ 909447 h 909447"/>
              <a:gd name="connsiteX2-51" fmla="*/ 0 w 12192000"/>
              <a:gd name="connsiteY2-52" fmla="*/ 909447 h 909447"/>
              <a:gd name="connsiteX3-53" fmla="*/ 0 w 12192000"/>
              <a:gd name="connsiteY3-54" fmla="*/ 401788 h 909447"/>
              <a:gd name="connsiteX4-55" fmla="*/ 12192000 w 12192000"/>
              <a:gd name="connsiteY4-56" fmla="*/ 0 h 90944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000" h="909447">
                <a:moveTo>
                  <a:pt x="12192000" y="0"/>
                </a:moveTo>
                <a:lnTo>
                  <a:pt x="12192000" y="909447"/>
                </a:lnTo>
                <a:lnTo>
                  <a:pt x="0" y="909447"/>
                </a:lnTo>
                <a:lnTo>
                  <a:pt x="0" y="401788"/>
                </a:lnTo>
                <a:cubicBezTo>
                  <a:pt x="2540000" y="700478"/>
                  <a:pt x="6289368" y="812355"/>
                  <a:pt x="12192000" y="0"/>
                </a:cubicBezTo>
                <a:close/>
              </a:path>
            </a:pathLst>
          </a:cu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cs typeface="思源黑体 CN Heavy" panose="020B0A00000000000000"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pitchFamily="34" charset="-122"/>
                <a:cs typeface="思源黑体 CN Normal" panose="020B0400000000000000" pitchFamily="34" charset="-122"/>
              </a:defRPr>
            </a:lvl1pPr>
          </a:lstStyle>
          <a:p>
            <a:fld id="{7838ACF1-C2FA-4D89-A612-30F607EFFAD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pitchFamily="34" charset="-122"/>
                <a:cs typeface="思源黑体 CN Normal" panose="020B0400000000000000" pitchFamily="3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pitchFamily="34" charset="-122"/>
                <a:cs typeface="思源黑体 CN Normal" panose="020B0400000000000000" pitchFamily="34" charset="-122"/>
              </a:defRPr>
            </a:lvl1pPr>
          </a:lstStyle>
          <a:p>
            <a:fld id="{84F9D44C-221E-4448-960C-8AA9A474619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Heavy" panose="020B0A00000000000000" charset="-122"/>
          <a:cs typeface="思源黑体 CN Normal" panose="020B04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pitchFamily="34" charset="-122"/>
          <a:cs typeface="思源黑体 CN Normal" panose="020B04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pitchFamily="34" charset="-122"/>
          <a:cs typeface="思源黑体 CN Normal" panose="020B04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pitchFamily="34" charset="-122"/>
          <a:cs typeface="思源黑体 CN Normal" panose="020B04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pitchFamily="34" charset="-122"/>
          <a:cs typeface="思源黑体 CN Normal" panose="020B04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pitchFamily="34" charset="-122"/>
          <a:cs typeface="思源黑体 CN Normal" panose="020B04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fld id="{5543C3B3-0A11-4369-9A0C-64D95D3C1F3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fld id="{F077451C-4E6D-4F1B-9FF2-A014A181AF8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Lst>
  <p:txStyles>
    <p:titleStyle>
      <a:lvl1pPr algn="l" defTabSz="914400" rtl="0" eaLnBrk="1" latinLnBrk="0" hangingPunct="1">
        <a:lnSpc>
          <a:spcPct val="90000"/>
        </a:lnSpc>
        <a:spcBef>
          <a:spcPct val="0"/>
        </a:spcBef>
        <a:buNone/>
        <a:defRPr sz="44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tags" Target="../tags/tag49.xml"/><Relationship Id="rId5" Type="http://schemas.openxmlformats.org/officeDocument/2006/relationships/tags" Target="../tags/tag50.xml"/><Relationship Id="rId6" Type="http://schemas.openxmlformats.org/officeDocument/2006/relationships/tags" Target="../tags/tag51.xml"/><Relationship Id="rId7" Type="http://schemas.openxmlformats.org/officeDocument/2006/relationships/tags" Target="../tags/tag52.xml"/><Relationship Id="rId8" Type="http://schemas.openxmlformats.org/officeDocument/2006/relationships/tags" Target="../tags/tag53.xml"/><Relationship Id="rId9" Type="http://schemas.openxmlformats.org/officeDocument/2006/relationships/tags" Target="../tags/tag54.xml"/><Relationship Id="rId10" Type="http://schemas.openxmlformats.org/officeDocument/2006/relationships/image" Target="../media/image30.png"/><Relationship Id="rId11" Type="http://schemas.openxmlformats.org/officeDocument/2006/relationships/image" Target="../media/image1.svg"/><Relationship Id="rId12" Type="http://schemas.openxmlformats.org/officeDocument/2006/relationships/image" Target="../media/image31.png"/><Relationship Id="rId13" Type="http://schemas.openxmlformats.org/officeDocument/2006/relationships/image" Target="../media/image2.svg"/><Relationship Id="rId14" Type="http://schemas.openxmlformats.org/officeDocument/2006/relationships/tags" Target="../tags/tag55.xml"/><Relationship Id="rId15" Type="http://schemas.openxmlformats.org/officeDocument/2006/relationships/slideLayout" Target="../slideLayouts/slideLayout1.xml"/><Relationship Id="rId16"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tags" Target="../tags/tag57.xml"/><Relationship Id="rId3" Type="http://schemas.openxmlformats.org/officeDocument/2006/relationships/tags" Target="../tags/tag58.xml"/><Relationship Id="rId4" Type="http://schemas.openxmlformats.org/officeDocument/2006/relationships/tags" Target="../tags/tag59.xml"/><Relationship Id="rId5" Type="http://schemas.openxmlformats.org/officeDocument/2006/relationships/tags" Target="../tags/tag60.xml"/><Relationship Id="rId6" Type="http://schemas.openxmlformats.org/officeDocument/2006/relationships/tags" Target="../tags/tag61.xml"/><Relationship Id="rId7" Type="http://schemas.openxmlformats.org/officeDocument/2006/relationships/tags" Target="../tags/tag62.xml"/><Relationship Id="rId8" Type="http://schemas.openxmlformats.org/officeDocument/2006/relationships/tags" Target="../tags/tag63.xml"/><Relationship Id="rId9" Type="http://schemas.openxmlformats.org/officeDocument/2006/relationships/tags" Target="../tags/tag64.xml"/><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svg"/><Relationship Id="rId3" Type="http://schemas.openxmlformats.org/officeDocument/2006/relationships/image" Target="../media/image33.png"/><Relationship Id="rId4" Type="http://schemas.openxmlformats.org/officeDocument/2006/relationships/image" Target="../media/image4.svg"/><Relationship Id="rId5" Type="http://schemas.openxmlformats.org/officeDocument/2006/relationships/image" Target="../media/image34.png"/><Relationship Id="rId6" Type="http://schemas.openxmlformats.org/officeDocument/2006/relationships/image" Target="../media/image5.svg"/><Relationship Id="rId7" Type="http://schemas.openxmlformats.org/officeDocument/2006/relationships/image" Target="../media/image35.png"/><Relationship Id="rId8" Type="http://schemas.openxmlformats.org/officeDocument/2006/relationships/image" Target="../media/image6.svg"/><Relationship Id="rId9" Type="http://schemas.openxmlformats.org/officeDocument/2006/relationships/image" Target="../media/image36.png"/><Relationship Id="rId10" Type="http://schemas.openxmlformats.org/officeDocument/2006/relationships/image" Target="../media/image7.svg"/><Relationship Id="rId11" Type="http://schemas.openxmlformats.org/officeDocument/2006/relationships/image" Target="../media/image37.png"/><Relationship Id="rId12" Type="http://schemas.openxmlformats.org/officeDocument/2006/relationships/image" Target="../media/image8.svg"/><Relationship Id="rId13" Type="http://schemas.openxmlformats.org/officeDocument/2006/relationships/tags" Target="../tags/tag65.xml"/><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9.svg"/><Relationship Id="rId3" Type="http://schemas.openxmlformats.org/officeDocument/2006/relationships/tags" Target="../tags/tag66.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image" Target="../media/image39.png"/><Relationship Id="rId4" Type="http://schemas.openxmlformats.org/officeDocument/2006/relationships/image" Target="../media/image10.svg"/><Relationship Id="rId5" Type="http://schemas.openxmlformats.org/officeDocument/2006/relationships/tags" Target="../tags/tag67.xml"/><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11.svg"/><Relationship Id="rId3" Type="http://schemas.openxmlformats.org/officeDocument/2006/relationships/image" Target="../media/image41.png"/><Relationship Id="rId4" Type="http://schemas.openxmlformats.org/officeDocument/2006/relationships/image" Target="../media/image12.svg"/><Relationship Id="rId5" Type="http://schemas.openxmlformats.org/officeDocument/2006/relationships/image" Target="../media/image42.png"/><Relationship Id="rId6" Type="http://schemas.openxmlformats.org/officeDocument/2006/relationships/image" Target="../media/image13.svg"/><Relationship Id="rId7" Type="http://schemas.openxmlformats.org/officeDocument/2006/relationships/tags" Target="../tags/tag68.xml"/><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14.svg"/><Relationship Id="rId3" Type="http://schemas.openxmlformats.org/officeDocument/2006/relationships/image" Target="../media/image44.png"/><Relationship Id="rId4" Type="http://schemas.openxmlformats.org/officeDocument/2006/relationships/image" Target="../media/image15.svg"/><Relationship Id="rId5" Type="http://schemas.openxmlformats.org/officeDocument/2006/relationships/image" Target="../media/image45.png"/><Relationship Id="rId6" Type="http://schemas.openxmlformats.org/officeDocument/2006/relationships/image" Target="../media/image16.svg"/><Relationship Id="rId7" Type="http://schemas.openxmlformats.org/officeDocument/2006/relationships/image" Target="../media/image46.png"/><Relationship Id="rId8" Type="http://schemas.openxmlformats.org/officeDocument/2006/relationships/image" Target="../media/image17.svg"/><Relationship Id="rId9" Type="http://schemas.openxmlformats.org/officeDocument/2006/relationships/image" Target="../media/image47.png"/><Relationship Id="rId10" Type="http://schemas.openxmlformats.org/officeDocument/2006/relationships/image" Target="../media/image18.svg"/><Relationship Id="rId11" Type="http://schemas.openxmlformats.org/officeDocument/2006/relationships/image" Target="../media/image48.png"/><Relationship Id="rId12" Type="http://schemas.openxmlformats.org/officeDocument/2006/relationships/image" Target="../media/image19.svg"/><Relationship Id="rId13" Type="http://schemas.openxmlformats.org/officeDocument/2006/relationships/image" Target="../media/image49.png"/><Relationship Id="rId14" Type="http://schemas.openxmlformats.org/officeDocument/2006/relationships/image" Target="../media/image20.svg"/><Relationship Id="rId15" Type="http://schemas.openxmlformats.org/officeDocument/2006/relationships/image" Target="../media/image50.png"/><Relationship Id="rId16" Type="http://schemas.openxmlformats.org/officeDocument/2006/relationships/image" Target="../media/image21.svg"/><Relationship Id="rId17" Type="http://schemas.openxmlformats.org/officeDocument/2006/relationships/image" Target="../media/image51.png"/><Relationship Id="rId18" Type="http://schemas.openxmlformats.org/officeDocument/2006/relationships/image" Target="../media/image22.svg"/><Relationship Id="rId19" Type="http://schemas.openxmlformats.org/officeDocument/2006/relationships/image" Target="../media/image52.png"/><Relationship Id="rId20" Type="http://schemas.openxmlformats.org/officeDocument/2006/relationships/image" Target="../media/image23.svg"/><Relationship Id="rId21" Type="http://schemas.openxmlformats.org/officeDocument/2006/relationships/image" Target="../media/image53.png"/><Relationship Id="rId22" Type="http://schemas.openxmlformats.org/officeDocument/2006/relationships/image" Target="../media/image24.svg"/><Relationship Id="rId23" Type="http://schemas.openxmlformats.org/officeDocument/2006/relationships/image" Target="../media/image54.png"/><Relationship Id="rId24" Type="http://schemas.openxmlformats.org/officeDocument/2006/relationships/image" Target="../media/image25.svg"/><Relationship Id="rId25" Type="http://schemas.openxmlformats.org/officeDocument/2006/relationships/tags" Target="../tags/tag69.xml"/><Relationship Id="rId26"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image" Target="../media/image55.png"/><Relationship Id="rId3" Type="http://schemas.openxmlformats.org/officeDocument/2006/relationships/image" Target="../media/image26.svg"/><Relationship Id="rId4" Type="http://schemas.openxmlformats.org/officeDocument/2006/relationships/image" Target="../media/image56.png"/><Relationship Id="rId5" Type="http://schemas.openxmlformats.org/officeDocument/2006/relationships/image" Target="../media/image27.svg"/><Relationship Id="rId6" Type="http://schemas.openxmlformats.org/officeDocument/2006/relationships/image" Target="../media/image57.png"/><Relationship Id="rId7" Type="http://schemas.openxmlformats.org/officeDocument/2006/relationships/image" Target="../media/image28.svg"/><Relationship Id="rId8" Type="http://schemas.openxmlformats.org/officeDocument/2006/relationships/image" Target="../media/image58.png"/><Relationship Id="rId9" Type="http://schemas.openxmlformats.org/officeDocument/2006/relationships/image" Target="../media/image29.svg"/><Relationship Id="rId10" Type="http://schemas.openxmlformats.org/officeDocument/2006/relationships/image" Target="../media/image59.png"/><Relationship Id="rId11" Type="http://schemas.openxmlformats.org/officeDocument/2006/relationships/image" Target="../media/image30.svg"/><Relationship Id="rId12" Type="http://schemas.openxmlformats.org/officeDocument/2006/relationships/image" Target="../media/image60.png"/><Relationship Id="rId13" Type="http://schemas.openxmlformats.org/officeDocument/2006/relationships/image" Target="../media/image31.svg"/><Relationship Id="rId14" Type="http://schemas.openxmlformats.org/officeDocument/2006/relationships/image" Target="../media/image61.png"/><Relationship Id="rId15" Type="http://schemas.openxmlformats.org/officeDocument/2006/relationships/image" Target="../media/image32.svg"/><Relationship Id="rId16" Type="http://schemas.openxmlformats.org/officeDocument/2006/relationships/image" Target="../media/image62.png"/><Relationship Id="rId17" Type="http://schemas.openxmlformats.org/officeDocument/2006/relationships/image" Target="../media/image33.svg"/><Relationship Id="rId18" Type="http://schemas.openxmlformats.org/officeDocument/2006/relationships/image" Target="../media/image63.png"/><Relationship Id="rId19" Type="http://schemas.openxmlformats.org/officeDocument/2006/relationships/image" Target="../media/image34.svg"/><Relationship Id="rId20" Type="http://schemas.openxmlformats.org/officeDocument/2006/relationships/image" Target="../media/image64.png"/><Relationship Id="rId21" Type="http://schemas.openxmlformats.org/officeDocument/2006/relationships/image" Target="../media/image35.svg"/><Relationship Id="rId22" Type="http://schemas.openxmlformats.org/officeDocument/2006/relationships/image" Target="../media/image65.png"/><Relationship Id="rId23" Type="http://schemas.openxmlformats.org/officeDocument/2006/relationships/image" Target="../media/image36.svg"/><Relationship Id="rId24" Type="http://schemas.openxmlformats.org/officeDocument/2006/relationships/image" Target="../media/image66.png"/><Relationship Id="rId25" Type="http://schemas.openxmlformats.org/officeDocument/2006/relationships/tags" Target="../tags/tag70.xml"/><Relationship Id="rId26" Type="http://schemas.openxmlformats.org/officeDocument/2006/relationships/slideLayout" Target="../slideLayouts/slideLayout1.xml"/><Relationship Id="rId27"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image" Target="../media/image67.png"/><Relationship Id="rId2" Type="http://schemas.openxmlformats.org/officeDocument/2006/relationships/image" Target="../media/image37.svg"/><Relationship Id="rId3" Type="http://schemas.openxmlformats.org/officeDocument/2006/relationships/image" Target="../media/image68.png"/><Relationship Id="rId4" Type="http://schemas.openxmlformats.org/officeDocument/2006/relationships/image" Target="../media/image38.svg"/><Relationship Id="rId5" Type="http://schemas.openxmlformats.org/officeDocument/2006/relationships/image" Target="../media/image69.png"/><Relationship Id="rId6" Type="http://schemas.openxmlformats.org/officeDocument/2006/relationships/image" Target="../media/image39.svg"/><Relationship Id="rId7" Type="http://schemas.openxmlformats.org/officeDocument/2006/relationships/image" Target="../media/image70.png"/><Relationship Id="rId8" Type="http://schemas.openxmlformats.org/officeDocument/2006/relationships/image" Target="../media/image40.svg"/><Relationship Id="rId9" Type="http://schemas.openxmlformats.org/officeDocument/2006/relationships/tags" Target="../tags/tag71.xml"/><Relationship Id="rId10"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tags" Target="../tags/tag72.xml"/><Relationship Id="rId7" Type="http://schemas.openxmlformats.org/officeDocument/2006/relationships/tags" Target="../tags/tag73.xml"/><Relationship Id="rId8" Type="http://schemas.openxmlformats.org/officeDocument/2006/relationships/tags" Target="../tags/tag74.xml"/><Relationship Id="rId9" Type="http://schemas.openxmlformats.org/officeDocument/2006/relationships/tags" Target="../tags/tag75.xml"/><Relationship Id="rId10" Type="http://schemas.openxmlformats.org/officeDocument/2006/relationships/tags" Target="../tags/tag76.xml"/><Relationship Id="rId11" Type="http://schemas.openxmlformats.org/officeDocument/2006/relationships/tags" Target="../tags/tag77.xml"/><Relationship Id="rId12" Type="http://schemas.openxmlformats.org/officeDocument/2006/relationships/tags" Target="../tags/tag78.xml"/><Relationship Id="rId13" Type="http://schemas.openxmlformats.org/officeDocument/2006/relationships/tags" Target="../tags/tag79.xml"/><Relationship Id="rId14" Type="http://schemas.openxmlformats.org/officeDocument/2006/relationships/tags" Target="../tags/tag80.xml"/><Relationship Id="rId15" Type="http://schemas.openxmlformats.org/officeDocument/2006/relationships/tags" Target="../tags/tag81.xml"/><Relationship Id="rId16" Type="http://schemas.openxmlformats.org/officeDocument/2006/relationships/tags" Target="../tags/tag82.xml"/><Relationship Id="rId17" Type="http://schemas.openxmlformats.org/officeDocument/2006/relationships/tags" Target="../tags/tag83.xml"/><Relationship Id="rId18" Type="http://schemas.openxmlformats.org/officeDocument/2006/relationships/tags" Target="../tags/tag84.xml"/><Relationship Id="rId19" Type="http://schemas.openxmlformats.org/officeDocument/2006/relationships/tags" Target="../tags/tag85.xml"/><Relationship Id="rId20" Type="http://schemas.openxmlformats.org/officeDocument/2006/relationships/tags" Target="../tags/tag86.xml"/><Relationship Id="rId21" Type="http://schemas.openxmlformats.org/officeDocument/2006/relationships/tags" Target="../tags/tag87.xml"/><Relationship Id="rId22" Type="http://schemas.openxmlformats.org/officeDocument/2006/relationships/image" Target="../media/image71.png"/><Relationship Id="rId23" Type="http://schemas.openxmlformats.org/officeDocument/2006/relationships/image" Target="../media/image41.svg"/><Relationship Id="rId24" Type="http://schemas.openxmlformats.org/officeDocument/2006/relationships/tags" Target="../tags/tag88.xml"/><Relationship Id="rId25" Type="http://schemas.openxmlformats.org/officeDocument/2006/relationships/image" Target="../media/image72.png"/><Relationship Id="rId26" Type="http://schemas.openxmlformats.org/officeDocument/2006/relationships/image" Target="../media/image42.svg"/><Relationship Id="rId27" Type="http://schemas.openxmlformats.org/officeDocument/2006/relationships/tags" Target="../tags/tag89.xml"/><Relationship Id="rId28" Type="http://schemas.openxmlformats.org/officeDocument/2006/relationships/tags" Target="../tags/tag90.xml"/><Relationship Id="rId29" Type="http://schemas.openxmlformats.org/officeDocument/2006/relationships/tags" Target="../tags/tag91.xml"/><Relationship Id="rId30" Type="http://schemas.openxmlformats.org/officeDocument/2006/relationships/tags" Target="../tags/tag92.xml"/><Relationship Id="rId31" Type="http://schemas.openxmlformats.org/officeDocument/2006/relationships/tags" Target="../tags/tag93.xml"/><Relationship Id="rId32" Type="http://schemas.openxmlformats.org/officeDocument/2006/relationships/image" Target="../media/image73.png"/><Relationship Id="rId33" Type="http://schemas.openxmlformats.org/officeDocument/2006/relationships/image" Target="../media/image43.svg"/><Relationship Id="rId34" Type="http://schemas.openxmlformats.org/officeDocument/2006/relationships/tags" Target="../tags/tag94.xml"/><Relationship Id="rId35" Type="http://schemas.openxmlformats.org/officeDocument/2006/relationships/tags" Target="../tags/tag95.xml"/><Relationship Id="rId36" Type="http://schemas.openxmlformats.org/officeDocument/2006/relationships/tags" Target="../tags/tag96.xml"/><Relationship Id="rId37" Type="http://schemas.openxmlformats.org/officeDocument/2006/relationships/tags" Target="../tags/tag97.xml"/><Relationship Id="rId38" Type="http://schemas.openxmlformats.org/officeDocument/2006/relationships/tags" Target="../tags/tag98.xml"/><Relationship Id="rId39" Type="http://schemas.openxmlformats.org/officeDocument/2006/relationships/tags" Target="../tags/tag99.xml"/><Relationship Id="rId40" Type="http://schemas.openxmlformats.org/officeDocument/2006/relationships/tags" Target="../tags/tag100.xml"/><Relationship Id="rId41" Type="http://schemas.openxmlformats.org/officeDocument/2006/relationships/tags" Target="../tags/tag101.xml"/><Relationship Id="rId42" Type="http://schemas.openxmlformats.org/officeDocument/2006/relationships/tags" Target="../tags/tag102.xml"/><Relationship Id="rId43" Type="http://schemas.openxmlformats.org/officeDocument/2006/relationships/tags" Target="../tags/tag103.xml"/><Relationship Id="rId44" Type="http://schemas.openxmlformats.org/officeDocument/2006/relationships/tags" Target="../tags/tag104.xml"/><Relationship Id="rId45" Type="http://schemas.openxmlformats.org/officeDocument/2006/relationships/tags" Target="../tags/tag105.xml"/><Relationship Id="rId46" Type="http://schemas.openxmlformats.org/officeDocument/2006/relationships/tags" Target="../tags/tag106.xml"/><Relationship Id="rId47" Type="http://schemas.openxmlformats.org/officeDocument/2006/relationships/tags" Target="../tags/tag107.xml"/><Relationship Id="rId48" Type="http://schemas.openxmlformats.org/officeDocument/2006/relationships/tags" Target="../tags/tag108.xml"/><Relationship Id="rId49" Type="http://schemas.openxmlformats.org/officeDocument/2006/relationships/tags" Target="../tags/tag109.xml"/><Relationship Id="rId50" Type="http://schemas.openxmlformats.org/officeDocument/2006/relationships/tags" Target="../tags/tag110.xml"/><Relationship Id="rId51" Type="http://schemas.openxmlformats.org/officeDocument/2006/relationships/tags" Target="../tags/tag111.xml"/><Relationship Id="rId52" Type="http://schemas.openxmlformats.org/officeDocument/2006/relationships/tags" Target="../tags/tag112.xml"/><Relationship Id="rId53" Type="http://schemas.openxmlformats.org/officeDocument/2006/relationships/tags" Target="../tags/tag113.xml"/><Relationship Id="rId54" Type="http://schemas.openxmlformats.org/officeDocument/2006/relationships/tags" Target="../tags/tag114.xml"/><Relationship Id="rId55" Type="http://schemas.openxmlformats.org/officeDocument/2006/relationships/tags" Target="../tags/tag115.xml"/><Relationship Id="rId56" Type="http://schemas.openxmlformats.org/officeDocument/2006/relationships/tags" Target="../tags/tag116.xml"/><Relationship Id="rId57"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44.svg"/><Relationship Id="rId3" Type="http://schemas.openxmlformats.org/officeDocument/2006/relationships/image" Target="../media/image75.png"/><Relationship Id="rId4" Type="http://schemas.openxmlformats.org/officeDocument/2006/relationships/image" Target="../media/image45.svg"/><Relationship Id="rId5" Type="http://schemas.openxmlformats.org/officeDocument/2006/relationships/tags" Target="../tags/tag117.xml"/><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46.svg"/><Relationship Id="rId3" Type="http://schemas.openxmlformats.org/officeDocument/2006/relationships/image" Target="../media/image77.png"/><Relationship Id="rId4" Type="http://schemas.openxmlformats.org/officeDocument/2006/relationships/image" Target="../media/image47.svg"/><Relationship Id="rId5" Type="http://schemas.openxmlformats.org/officeDocument/2006/relationships/image" Target="../media/image78.png"/><Relationship Id="rId6" Type="http://schemas.openxmlformats.org/officeDocument/2006/relationships/image" Target="../media/image48.svg"/><Relationship Id="rId7" Type="http://schemas.openxmlformats.org/officeDocument/2006/relationships/image" Target="../media/image79.png"/><Relationship Id="rId8" Type="http://schemas.openxmlformats.org/officeDocument/2006/relationships/image" Target="../media/image49.svg"/><Relationship Id="rId9" Type="http://schemas.openxmlformats.org/officeDocument/2006/relationships/image" Target="../media/image80.png"/><Relationship Id="rId10" Type="http://schemas.openxmlformats.org/officeDocument/2006/relationships/image" Target="../media/image50.svg"/><Relationship Id="rId11" Type="http://schemas.openxmlformats.org/officeDocument/2006/relationships/image" Target="../media/image81.png"/><Relationship Id="rId12" Type="http://schemas.openxmlformats.org/officeDocument/2006/relationships/image" Target="../media/image51.svg"/><Relationship Id="rId13" Type="http://schemas.openxmlformats.org/officeDocument/2006/relationships/tags" Target="../tags/tag118.xml"/><Relationship Id="rId1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image82.png"/><Relationship Id="rId2" Type="http://schemas.openxmlformats.org/officeDocument/2006/relationships/image" Target="../media/image52.svg"/><Relationship Id="rId3" Type="http://schemas.openxmlformats.org/officeDocument/2006/relationships/image" Target="../media/image83.png"/><Relationship Id="rId4" Type="http://schemas.openxmlformats.org/officeDocument/2006/relationships/image" Target="../media/image53.svg"/><Relationship Id="rId5" Type="http://schemas.openxmlformats.org/officeDocument/2006/relationships/image" Target="../media/image84.png"/><Relationship Id="rId6" Type="http://schemas.openxmlformats.org/officeDocument/2006/relationships/image" Target="../media/image54.svg"/><Relationship Id="rId7" Type="http://schemas.openxmlformats.org/officeDocument/2006/relationships/image" Target="../media/image85.png"/><Relationship Id="rId8" Type="http://schemas.openxmlformats.org/officeDocument/2006/relationships/image" Target="../media/image55.svg"/><Relationship Id="rId9" Type="http://schemas.openxmlformats.org/officeDocument/2006/relationships/tags" Target="../tags/tag119.xml"/><Relationship Id="rId10"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86.png"/><Relationship Id="rId2" Type="http://schemas.openxmlformats.org/officeDocument/2006/relationships/image" Target="../media/image56.svg"/><Relationship Id="rId3" Type="http://schemas.openxmlformats.org/officeDocument/2006/relationships/tags" Target="../tags/tag120.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chart" Target="../charts/chart12.xml"/><Relationship Id="rId2" Type="http://schemas.openxmlformats.org/officeDocument/2006/relationships/chart" Target="../charts/chart13.xml"/><Relationship Id="rId3" Type="http://schemas.openxmlformats.org/officeDocument/2006/relationships/image" Target="../media/image87.png"/><Relationship Id="rId4" Type="http://schemas.openxmlformats.org/officeDocument/2006/relationships/image" Target="../media/image57.svg"/><Relationship Id="rId5" Type="http://schemas.openxmlformats.org/officeDocument/2006/relationships/image" Target="../media/image88.png"/><Relationship Id="rId6" Type="http://schemas.openxmlformats.org/officeDocument/2006/relationships/image" Target="../media/image58.svg"/><Relationship Id="rId7" Type="http://schemas.openxmlformats.org/officeDocument/2006/relationships/image" Target="../media/image89.png"/><Relationship Id="rId8" Type="http://schemas.openxmlformats.org/officeDocument/2006/relationships/image" Target="../media/image59.svg"/><Relationship Id="rId9" Type="http://schemas.openxmlformats.org/officeDocument/2006/relationships/image" Target="../media/image90.png"/><Relationship Id="rId10" Type="http://schemas.openxmlformats.org/officeDocument/2006/relationships/image" Target="../media/image60.svg"/><Relationship Id="rId11" Type="http://schemas.openxmlformats.org/officeDocument/2006/relationships/image" Target="../media/image91.png"/><Relationship Id="rId12" Type="http://schemas.openxmlformats.org/officeDocument/2006/relationships/image" Target="../media/image61.svg"/><Relationship Id="rId13" Type="http://schemas.openxmlformats.org/officeDocument/2006/relationships/tags" Target="../tags/tag121.xml"/><Relationship Id="rId1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tags" Target="../tags/tag122.xml"/><Relationship Id="rId2" Type="http://schemas.openxmlformats.org/officeDocument/2006/relationships/tags" Target="../tags/tag123.xml"/><Relationship Id="rId3" Type="http://schemas.openxmlformats.org/officeDocument/2006/relationships/image" Target="../media/image92.png"/><Relationship Id="rId4" Type="http://schemas.openxmlformats.org/officeDocument/2006/relationships/image" Target="../media/image62.svg"/><Relationship Id="rId5" Type="http://schemas.openxmlformats.org/officeDocument/2006/relationships/tags" Target="../tags/tag124.xml"/><Relationship Id="rId6"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tags" Target="../tags/tag125.xml"/><Relationship Id="rId2" Type="http://schemas.openxmlformats.org/officeDocument/2006/relationships/tags" Target="../tags/tag126.xml"/><Relationship Id="rId3" Type="http://schemas.openxmlformats.org/officeDocument/2006/relationships/tags" Target="../tags/tag127.xml"/><Relationship Id="rId4" Type="http://schemas.openxmlformats.org/officeDocument/2006/relationships/tags" Target="../tags/tag128.xml"/><Relationship Id="rId5" Type="http://schemas.openxmlformats.org/officeDocument/2006/relationships/tags" Target="../tags/tag129.xml"/><Relationship Id="rId6" Type="http://schemas.openxmlformats.org/officeDocument/2006/relationships/tags" Target="../tags/tag130.xml"/><Relationship Id="rId7" Type="http://schemas.openxmlformats.org/officeDocument/2006/relationships/tags" Target="../tags/tag131.xml"/><Relationship Id="rId8" Type="http://schemas.openxmlformats.org/officeDocument/2006/relationships/tags" Target="../tags/tag132.xml"/><Relationship Id="rId9" Type="http://schemas.openxmlformats.org/officeDocument/2006/relationships/tags" Target="../tags/tag133.xml"/><Relationship Id="rId10" Type="http://schemas.openxmlformats.org/officeDocument/2006/relationships/tags" Target="../tags/tag134.xml"/><Relationship Id="rId11" Type="http://schemas.openxmlformats.org/officeDocument/2006/relationships/tags" Target="../tags/tag135.xml"/><Relationship Id="rId12" Type="http://schemas.openxmlformats.org/officeDocument/2006/relationships/tags" Target="../tags/tag136.xml"/><Relationship Id="rId13" Type="http://schemas.openxmlformats.org/officeDocument/2006/relationships/tags" Target="../tags/tag137.xml"/><Relationship Id="rId14" Type="http://schemas.openxmlformats.org/officeDocument/2006/relationships/tags" Target="../tags/tag138.xml"/><Relationship Id="rId15" Type="http://schemas.openxmlformats.org/officeDocument/2006/relationships/tags" Target="../tags/tag139.xml"/><Relationship Id="rId16" Type="http://schemas.openxmlformats.org/officeDocument/2006/relationships/tags" Target="../tags/tag140.xml"/><Relationship Id="rId17" Type="http://schemas.openxmlformats.org/officeDocument/2006/relationships/tags" Target="../tags/tag141.xml"/><Relationship Id="rId18" Type="http://schemas.openxmlformats.org/officeDocument/2006/relationships/tags" Target="../tags/tag142.xml"/><Relationship Id="rId19" Type="http://schemas.openxmlformats.org/officeDocument/2006/relationships/tags" Target="../tags/tag143.xml"/><Relationship Id="rId20" Type="http://schemas.openxmlformats.org/officeDocument/2006/relationships/tags" Target="../tags/tag144.xml"/><Relationship Id="rId21" Type="http://schemas.openxmlformats.org/officeDocument/2006/relationships/tags" Target="../tags/tag145.xml"/><Relationship Id="rId22" Type="http://schemas.openxmlformats.org/officeDocument/2006/relationships/tags" Target="../tags/tag146.xml"/><Relationship Id="rId23" Type="http://schemas.openxmlformats.org/officeDocument/2006/relationships/tags" Target="../tags/tag147.xml"/><Relationship Id="rId24" Type="http://schemas.openxmlformats.org/officeDocument/2006/relationships/tags" Target="../tags/tag148.xml"/><Relationship Id="rId25" Type="http://schemas.openxmlformats.org/officeDocument/2006/relationships/tags" Target="../tags/tag149.xml"/><Relationship Id="rId26" Type="http://schemas.openxmlformats.org/officeDocument/2006/relationships/tags" Target="../tags/tag150.xml"/><Relationship Id="rId27" Type="http://schemas.openxmlformats.org/officeDocument/2006/relationships/tags" Target="../tags/tag151.xml"/><Relationship Id="rId28" Type="http://schemas.openxmlformats.org/officeDocument/2006/relationships/tags" Target="../tags/tag152.xml"/><Relationship Id="rId29" Type="http://schemas.openxmlformats.org/officeDocument/2006/relationships/tags" Target="../tags/tag153.xml"/><Relationship Id="rId30" Type="http://schemas.openxmlformats.org/officeDocument/2006/relationships/tags" Target="../tags/tag154.xml"/><Relationship Id="rId31" Type="http://schemas.openxmlformats.org/officeDocument/2006/relationships/tags" Target="../tags/tag155.xml"/><Relationship Id="rId32" Type="http://schemas.openxmlformats.org/officeDocument/2006/relationships/tags" Target="../tags/tag156.xml"/><Relationship Id="rId33" Type="http://schemas.openxmlformats.org/officeDocument/2006/relationships/slideLayout" Target="../slideLayouts/slideLayout1.xml"/><Relationship Id="rId34"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chart" Target="../charts/chart16.xml"/><Relationship Id="rId4" Type="http://schemas.openxmlformats.org/officeDocument/2006/relationships/chart" Target="../charts/chart17.xml"/><Relationship Id="rId5" Type="http://schemas.openxmlformats.org/officeDocument/2006/relationships/image" Target="../media/image93.png"/><Relationship Id="rId6" Type="http://schemas.openxmlformats.org/officeDocument/2006/relationships/image" Target="../media/image63.svg"/><Relationship Id="rId7" Type="http://schemas.openxmlformats.org/officeDocument/2006/relationships/tags" Target="../tags/tag157.xml"/><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image" Target="../media/image64.svg"/><Relationship Id="rId3" Type="http://schemas.openxmlformats.org/officeDocument/2006/relationships/image" Target="../media/image95.png"/><Relationship Id="rId4" Type="http://schemas.openxmlformats.org/officeDocument/2006/relationships/image" Target="../media/image65.svg"/><Relationship Id="rId5" Type="http://schemas.openxmlformats.org/officeDocument/2006/relationships/tags" Target="../tags/tag158.xm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tags" Target="../tags/tag160.xml"/><Relationship Id="rId3" Type="http://schemas.openxmlformats.org/officeDocument/2006/relationships/image" Target="../media/image96.png"/><Relationship Id="rId4" Type="http://schemas.openxmlformats.org/officeDocument/2006/relationships/image" Target="../media/image66.svg"/><Relationship Id="rId5" Type="http://schemas.openxmlformats.org/officeDocument/2006/relationships/image" Target="../media/image97.png"/><Relationship Id="rId6" Type="http://schemas.openxmlformats.org/officeDocument/2006/relationships/image" Target="../media/image67.svg"/><Relationship Id="rId7" Type="http://schemas.openxmlformats.org/officeDocument/2006/relationships/tags" Target="../tags/tag161.xml"/><Relationship Id="rId8"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tags" Target="../tags/tag162.xml"/><Relationship Id="rId2" Type="http://schemas.openxmlformats.org/officeDocument/2006/relationships/tags" Target="../tags/tag163.xml"/><Relationship Id="rId3" Type="http://schemas.openxmlformats.org/officeDocument/2006/relationships/tags" Target="../tags/tag164.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tags" Target="../tags/tag165.xml"/><Relationship Id="rId2" Type="http://schemas.openxmlformats.org/officeDocument/2006/relationships/tags" Target="../tags/tag166.xml"/><Relationship Id="rId3" Type="http://schemas.openxmlformats.org/officeDocument/2006/relationships/tags" Target="../tags/tag167.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tags" Target="../tags/tag168.xml"/><Relationship Id="rId2" Type="http://schemas.openxmlformats.org/officeDocument/2006/relationships/tags" Target="../tags/tag169.xml"/><Relationship Id="rId3" Type="http://schemas.openxmlformats.org/officeDocument/2006/relationships/tags" Target="../tags/tag170.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tags" Target="../tags/tag172.xml"/><Relationship Id="rId3" Type="http://schemas.openxmlformats.org/officeDocument/2006/relationships/image" Target="../media/image98.png"/><Relationship Id="rId4" Type="http://schemas.openxmlformats.org/officeDocument/2006/relationships/image" Target="../media/image68.svg"/><Relationship Id="rId5" Type="http://schemas.openxmlformats.org/officeDocument/2006/relationships/tags" Target="../tags/tag173.xml"/><Relationship Id="rId6"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tags" Target="../tags/tag175.xml"/><Relationship Id="rId3" Type="http://schemas.openxmlformats.org/officeDocument/2006/relationships/tags" Target="../tags/tag176.xml"/><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tags" Target="../tags/tag178.xml"/><Relationship Id="rId3" Type="http://schemas.openxmlformats.org/officeDocument/2006/relationships/tags" Target="../tags/tag179.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tags" Target="../tags/tag181.xml"/><Relationship Id="rId3" Type="http://schemas.openxmlformats.org/officeDocument/2006/relationships/tags" Target="../tags/tag182.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tags" Target="../tags/tag184.xml"/><Relationship Id="rId3" Type="http://schemas.openxmlformats.org/officeDocument/2006/relationships/tags" Target="../tags/tag185.xml"/><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tags" Target="../tags/tag187.xml"/><Relationship Id="rId3" Type="http://schemas.openxmlformats.org/officeDocument/2006/relationships/tags" Target="../tags/tag188.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tags" Target="../tags/tag190.xml"/><Relationship Id="rId3" Type="http://schemas.openxmlformats.org/officeDocument/2006/relationships/tags" Target="../tags/tag191.xml"/><Relationship Id="rId4" Type="http://schemas.openxmlformats.org/officeDocument/2006/relationships/tags" Target="../tags/tag192.xml"/><Relationship Id="rId5" Type="http://schemas.openxmlformats.org/officeDocument/2006/relationships/tags" Target="../tags/tag193.xml"/><Relationship Id="rId6" Type="http://schemas.openxmlformats.org/officeDocument/2006/relationships/tags" Target="../tags/tag194.xml"/><Relationship Id="rId7"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tags" Target="../tags/tag195.xml"/><Relationship Id="rId2" Type="http://schemas.openxmlformats.org/officeDocument/2006/relationships/tags" Target="../tags/tag196.xml"/><Relationship Id="rId3" Type="http://schemas.openxmlformats.org/officeDocument/2006/relationships/tags" Target="../tags/tag197.xml"/><Relationship Id="rId4" Type="http://schemas.openxmlformats.org/officeDocument/2006/relationships/tags" Target="../tags/tag198.xml"/><Relationship Id="rId5" Type="http://schemas.openxmlformats.org/officeDocument/2006/relationships/tags" Target="../tags/tag199.xml"/><Relationship Id="rId6" Type="http://schemas.openxmlformats.org/officeDocument/2006/relationships/tags" Target="../tags/tag200.xml"/><Relationship Id="rId7" Type="http://schemas.openxmlformats.org/officeDocument/2006/relationships/tags" Target="../tags/tag201.xml"/><Relationship Id="rId8" Type="http://schemas.openxmlformats.org/officeDocument/2006/relationships/tags" Target="../tags/tag202.xml"/><Relationship Id="rId9" Type="http://schemas.openxmlformats.org/officeDocument/2006/relationships/tags" Target="../tags/tag203.xml"/><Relationship Id="rId10" Type="http://schemas.openxmlformats.org/officeDocument/2006/relationships/tags" Target="../tags/tag204.xml"/><Relationship Id="rId11" Type="http://schemas.openxmlformats.org/officeDocument/2006/relationships/tags" Target="../tags/tag205.xml"/><Relationship Id="rId12" Type="http://schemas.openxmlformats.org/officeDocument/2006/relationships/tags" Target="../tags/tag206.xml"/><Relationship Id="rId13" Type="http://schemas.openxmlformats.org/officeDocument/2006/relationships/tags" Target="../tags/tag207.xml"/><Relationship Id="rId14" Type="http://schemas.openxmlformats.org/officeDocument/2006/relationships/tags" Target="../tags/tag208.xml"/><Relationship Id="rId15" Type="http://schemas.openxmlformats.org/officeDocument/2006/relationships/tags" Target="../tags/tag209.xml"/><Relationship Id="rId16" Type="http://schemas.openxmlformats.org/officeDocument/2006/relationships/tags" Target="../tags/tag210.xml"/><Relationship Id="rId17" Type="http://schemas.openxmlformats.org/officeDocument/2006/relationships/tags" Target="../tags/tag211.xml"/><Relationship Id="rId18" Type="http://schemas.openxmlformats.org/officeDocument/2006/relationships/tags" Target="../tags/tag212.xml"/><Relationship Id="rId19" Type="http://schemas.openxmlformats.org/officeDocument/2006/relationships/tags" Target="../tags/tag213.xml"/><Relationship Id="rId20" Type="http://schemas.openxmlformats.org/officeDocument/2006/relationships/tags" Target="../tags/tag214.xml"/><Relationship Id="rId21" Type="http://schemas.openxmlformats.org/officeDocument/2006/relationships/tags" Target="../tags/tag215.xml"/><Relationship Id="rId22" Type="http://schemas.openxmlformats.org/officeDocument/2006/relationships/tags" Target="../tags/tag216.xml"/><Relationship Id="rId23" Type="http://schemas.openxmlformats.org/officeDocument/2006/relationships/tags" Target="../tags/tag217.xml"/><Relationship Id="rId24" Type="http://schemas.openxmlformats.org/officeDocument/2006/relationships/tags" Target="../tags/tag218.xml"/><Relationship Id="rId25"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tags" Target="../tags/tag219.xml"/><Relationship Id="rId2" Type="http://schemas.openxmlformats.org/officeDocument/2006/relationships/tags" Target="../tags/tag220.xml"/><Relationship Id="rId3" Type="http://schemas.openxmlformats.org/officeDocument/2006/relationships/tags" Target="../tags/tag221.xml"/><Relationship Id="rId4" Type="http://schemas.openxmlformats.org/officeDocument/2006/relationships/tags" Target="../tags/tag222.xml"/><Relationship Id="rId5" Type="http://schemas.openxmlformats.org/officeDocument/2006/relationships/tags" Target="../tags/tag223.xml"/><Relationship Id="rId6" Type="http://schemas.openxmlformats.org/officeDocument/2006/relationships/tags" Target="../tags/tag224.xml"/><Relationship Id="rId7" Type="http://schemas.openxmlformats.org/officeDocument/2006/relationships/tags" Target="../tags/tag225.xml"/><Relationship Id="rId8" Type="http://schemas.openxmlformats.org/officeDocument/2006/relationships/tags" Target="../tags/tag226.xml"/><Relationship Id="rId9" Type="http://schemas.openxmlformats.org/officeDocument/2006/relationships/tags" Target="../tags/tag227.xml"/><Relationship Id="rId10" Type="http://schemas.openxmlformats.org/officeDocument/2006/relationships/tags" Target="../tags/tag228.xml"/><Relationship Id="rId11" Type="http://schemas.openxmlformats.org/officeDocument/2006/relationships/tags" Target="../tags/tag229.xml"/><Relationship Id="rId12" Type="http://schemas.openxmlformats.org/officeDocument/2006/relationships/tags" Target="../tags/tag230.xml"/><Relationship Id="rId13" Type="http://schemas.openxmlformats.org/officeDocument/2006/relationships/tags" Target="../tags/tag231.xml"/><Relationship Id="rId14" Type="http://schemas.openxmlformats.org/officeDocument/2006/relationships/tags" Target="../tags/tag232.xml"/><Relationship Id="rId15" Type="http://schemas.openxmlformats.org/officeDocument/2006/relationships/tags" Target="../tags/tag233.xml"/><Relationship Id="rId16"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tags" Target="../tags/tag234.xml"/><Relationship Id="rId2" Type="http://schemas.openxmlformats.org/officeDocument/2006/relationships/tags" Target="../tags/tag235.xml"/><Relationship Id="rId3" Type="http://schemas.openxmlformats.org/officeDocument/2006/relationships/tags" Target="../tags/tag236.xml"/><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tags" Target="../tags/tag237.xml"/><Relationship Id="rId2" Type="http://schemas.openxmlformats.org/officeDocument/2006/relationships/tags" Target="../tags/tag238.xml"/><Relationship Id="rId3" Type="http://schemas.openxmlformats.org/officeDocument/2006/relationships/tags" Target="../tags/tag239.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tags" Target="../tags/tag240.xml"/><Relationship Id="rId2" Type="http://schemas.openxmlformats.org/officeDocument/2006/relationships/tags" Target="../tags/tag241.xml"/><Relationship Id="rId3" Type="http://schemas.openxmlformats.org/officeDocument/2006/relationships/tags" Target="../tags/tag242.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tags" Target="../tags/tag243.xml"/><Relationship Id="rId2" Type="http://schemas.openxmlformats.org/officeDocument/2006/relationships/tags" Target="../tags/tag244.xml"/><Relationship Id="rId3" Type="http://schemas.openxmlformats.org/officeDocument/2006/relationships/tags" Target="../tags/tag245.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tags" Target="../tags/tag246.xml"/><Relationship Id="rId2" Type="http://schemas.openxmlformats.org/officeDocument/2006/relationships/tags" Target="../tags/tag247.xml"/><Relationship Id="rId3" Type="http://schemas.openxmlformats.org/officeDocument/2006/relationships/tags" Target="../tags/tag248.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tags" Target="../tags/tag249.xml"/><Relationship Id="rId2" Type="http://schemas.openxmlformats.org/officeDocument/2006/relationships/tags" Target="../tags/tag250.xml"/><Relationship Id="rId3" Type="http://schemas.openxmlformats.org/officeDocument/2006/relationships/tags" Target="../tags/tag251.xml"/><Relationship Id="rId4" Type="http://schemas.openxmlformats.org/officeDocument/2006/relationships/tags" Target="../tags/tag252.xml"/><Relationship Id="rId5" Type="http://schemas.openxmlformats.org/officeDocument/2006/relationships/tags" Target="../tags/tag253.xml"/><Relationship Id="rId6" Type="http://schemas.openxmlformats.org/officeDocument/2006/relationships/tags" Target="../tags/tag254.xml"/><Relationship Id="rId7" Type="http://schemas.openxmlformats.org/officeDocument/2006/relationships/tags" Target="../tags/tag255.xml"/><Relationship Id="rId8" Type="http://schemas.openxmlformats.org/officeDocument/2006/relationships/tags" Target="../tags/tag256.xml"/><Relationship Id="rId9" Type="http://schemas.openxmlformats.org/officeDocument/2006/relationships/tags" Target="../tags/tag257.xml"/><Relationship Id="rId10" Type="http://schemas.openxmlformats.org/officeDocument/2006/relationships/tags" Target="../tags/tag258.xml"/><Relationship Id="rId11" Type="http://schemas.openxmlformats.org/officeDocument/2006/relationships/tags" Target="../tags/tag259.xml"/><Relationship Id="rId12" Type="http://schemas.openxmlformats.org/officeDocument/2006/relationships/tags" Target="../tags/tag260.xml"/><Relationship Id="rId13" Type="http://schemas.openxmlformats.org/officeDocument/2006/relationships/tags" Target="../tags/tag261.xml"/><Relationship Id="rId14" Type="http://schemas.openxmlformats.org/officeDocument/2006/relationships/tags" Target="../tags/tag262.xml"/><Relationship Id="rId15"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tags" Target="../tags/tag263.xml"/><Relationship Id="rId2" Type="http://schemas.openxmlformats.org/officeDocument/2006/relationships/tags" Target="../tags/tag264.xml"/><Relationship Id="rId3" Type="http://schemas.openxmlformats.org/officeDocument/2006/relationships/tags" Target="../tags/tag265.xml"/><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chart" Target="../charts/chart18.xml"/><Relationship Id="rId2" Type="http://schemas.openxmlformats.org/officeDocument/2006/relationships/chart" Target="../charts/chart19.xml"/><Relationship Id="rId3" Type="http://schemas.openxmlformats.org/officeDocument/2006/relationships/chart" Target="../charts/chart20.xml"/><Relationship Id="rId4" Type="http://schemas.openxmlformats.org/officeDocument/2006/relationships/chart" Target="../charts/chart21.xml"/><Relationship Id="rId5" Type="http://schemas.openxmlformats.org/officeDocument/2006/relationships/chart" Target="../charts/chart22.xml"/><Relationship Id="rId6" Type="http://schemas.openxmlformats.org/officeDocument/2006/relationships/tags" Target="../tags/tag266.xml"/><Relationship Id="rId7" Type="http://schemas.openxmlformats.org/officeDocument/2006/relationships/tags" Target="../tags/tag267.xml"/><Relationship Id="rId8" Type="http://schemas.openxmlformats.org/officeDocument/2006/relationships/tags" Target="../tags/tag268.xml"/><Relationship Id="rId9" Type="http://schemas.openxmlformats.org/officeDocument/2006/relationships/tags" Target="../tags/tag269.xml"/><Relationship Id="rId10" Type="http://schemas.openxmlformats.org/officeDocument/2006/relationships/tags" Target="../tags/tag270.xml"/><Relationship Id="rId11" Type="http://schemas.openxmlformats.org/officeDocument/2006/relationships/tags" Target="../tags/tag271.xml"/><Relationship Id="rId12" Type="http://schemas.openxmlformats.org/officeDocument/2006/relationships/tags" Target="../tags/tag272.xml"/><Relationship Id="rId13" Type="http://schemas.openxmlformats.org/officeDocument/2006/relationships/tags" Target="../tags/tag273.xml"/><Relationship Id="rId1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chart" Target="../charts/chart23.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tags" Target="../tags/tag274.xml"/><Relationship Id="rId5" Type="http://schemas.openxmlformats.org/officeDocument/2006/relationships/tags" Target="../tags/tag275.xml"/><Relationship Id="rId6" Type="http://schemas.openxmlformats.org/officeDocument/2006/relationships/tags" Target="../tags/tag276.xml"/><Relationship Id="rId7" Type="http://schemas.openxmlformats.org/officeDocument/2006/relationships/tags" Target="../tags/tag277.xml"/><Relationship Id="rId8" Type="http://schemas.openxmlformats.org/officeDocument/2006/relationships/tags" Target="../tags/tag278.xml"/><Relationship Id="rId9" Type="http://schemas.openxmlformats.org/officeDocument/2006/relationships/tags" Target="../tags/tag279.xml"/><Relationship Id="rId10" Type="http://schemas.openxmlformats.org/officeDocument/2006/relationships/tags" Target="../tags/tag280.xml"/><Relationship Id="rId11" Type="http://schemas.openxmlformats.org/officeDocument/2006/relationships/tags" Target="../tags/tag281.xml"/><Relationship Id="rId12" Type="http://schemas.openxmlformats.org/officeDocument/2006/relationships/tags" Target="../tags/tag282.xml"/><Relationship Id="rId13"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chart" Target="../charts/chart26.xml"/><Relationship Id="rId2" Type="http://schemas.openxmlformats.org/officeDocument/2006/relationships/chart" Target="../charts/chart27.xml"/><Relationship Id="rId3" Type="http://schemas.openxmlformats.org/officeDocument/2006/relationships/chart" Target="../charts/chart28.xml"/><Relationship Id="rId4" Type="http://schemas.openxmlformats.org/officeDocument/2006/relationships/tags" Target="../tags/tag283.xml"/><Relationship Id="rId5" Type="http://schemas.openxmlformats.org/officeDocument/2006/relationships/tags" Target="../tags/tag284.xml"/><Relationship Id="rId6" Type="http://schemas.openxmlformats.org/officeDocument/2006/relationships/tags" Target="../tags/tag285.xml"/><Relationship Id="rId7" Type="http://schemas.openxmlformats.org/officeDocument/2006/relationships/tags" Target="../tags/tag286.xml"/><Relationship Id="rId8" Type="http://schemas.openxmlformats.org/officeDocument/2006/relationships/tags" Target="../tags/tag287.xml"/><Relationship Id="rId9" Type="http://schemas.openxmlformats.org/officeDocument/2006/relationships/tags" Target="../tags/tag288.xml"/><Relationship Id="rId10" Type="http://schemas.openxmlformats.org/officeDocument/2006/relationships/tags" Target="../tags/tag289.xml"/><Relationship Id="rId11" Type="http://schemas.openxmlformats.org/officeDocument/2006/relationships/tags" Target="../tags/tag290.xml"/><Relationship Id="rId12" Type="http://schemas.openxmlformats.org/officeDocument/2006/relationships/image" Target="../media/image99.png"/><Relationship Id="rId13" Type="http://schemas.openxmlformats.org/officeDocument/2006/relationships/image" Target="../media/image69.svg"/><Relationship Id="rId14" Type="http://schemas.openxmlformats.org/officeDocument/2006/relationships/image" Target="../media/image100.png"/><Relationship Id="rId15" Type="http://schemas.openxmlformats.org/officeDocument/2006/relationships/image" Target="../media/image70.svg"/><Relationship Id="rId16" Type="http://schemas.openxmlformats.org/officeDocument/2006/relationships/tags" Target="../tags/tag291.xml"/><Relationship Id="rId17"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chart" Target="../charts/chart29.xml"/><Relationship Id="rId2" Type="http://schemas.openxmlformats.org/officeDocument/2006/relationships/chart" Target="../charts/chart30.xml"/><Relationship Id="rId3" Type="http://schemas.openxmlformats.org/officeDocument/2006/relationships/tags" Target="../tags/tag292.xml"/><Relationship Id="rId4" Type="http://schemas.openxmlformats.org/officeDocument/2006/relationships/tags" Target="../tags/tag293.xml"/><Relationship Id="rId5" Type="http://schemas.openxmlformats.org/officeDocument/2006/relationships/tags" Target="../tags/tag294.xml"/><Relationship Id="rId6" Type="http://schemas.openxmlformats.org/officeDocument/2006/relationships/tags" Target="../tags/tag295.xml"/><Relationship Id="rId7" Type="http://schemas.openxmlformats.org/officeDocument/2006/relationships/tags" Target="../tags/tag296.xml"/><Relationship Id="rId8" Type="http://schemas.openxmlformats.org/officeDocument/2006/relationships/tags" Target="../tags/tag297.xml"/><Relationship Id="rId9" Type="http://schemas.openxmlformats.org/officeDocument/2006/relationships/tags" Target="../tags/tag298.xml"/><Relationship Id="rId10" Type="http://schemas.openxmlformats.org/officeDocument/2006/relationships/tags" Target="../tags/tag299.xml"/><Relationship Id="rId11" Type="http://schemas.openxmlformats.org/officeDocument/2006/relationships/tags" Target="../tags/tag300.xml"/><Relationship Id="rId12" Type="http://schemas.openxmlformats.org/officeDocument/2006/relationships/tags" Target="../tags/tag301.xml"/><Relationship Id="rId13"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tags" Target="../tags/tag302.xml"/><Relationship Id="rId2" Type="http://schemas.openxmlformats.org/officeDocument/2006/relationships/tags" Target="../tags/tag303.xml"/><Relationship Id="rId3" Type="http://schemas.openxmlformats.org/officeDocument/2006/relationships/tags" Target="../tags/tag304.xml"/><Relationship Id="rId4" Type="http://schemas.openxmlformats.org/officeDocument/2006/relationships/slideLayout" Target="../slideLayouts/slideLayout2.xml"/></Relationships>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graphicFrame>
        <p:nvGraphicFramePr>
          <p:cNvPr id="85" name="图表 84"/>
          <p:cNvGraphicFramePr/>
          <p:nvPr/>
        </p:nvGraphicFramePr>
        <p:xfrm>
          <a:off x="2056539" y="1414898"/>
          <a:ext cx="4643999" cy="30960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91" name="图表 90"/>
          <p:cNvGraphicFramePr>
            <a:graphicFrameLocks noChangeAspect="1"/>
          </p:cNvGraphicFramePr>
          <p:nvPr/>
        </p:nvGraphicFramePr>
        <p:xfrm>
          <a:off x="4697016" y="1108951"/>
          <a:ext cx="5561999" cy="370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2" name="图表 91"/>
          <p:cNvGraphicFramePr/>
          <p:nvPr/>
        </p:nvGraphicFramePr>
        <p:xfrm>
          <a:off x="5491463" y="1414898"/>
          <a:ext cx="4643999" cy="3096000"/>
        </p:xfrm>
        <a:graphic>
          <a:graphicData uri="http://schemas.openxmlformats.org/drawingml/2006/chart">
            <c:chart xmlns:c="http://schemas.openxmlformats.org/drawingml/2006/chart" xmlns:r="http://schemas.openxmlformats.org/officeDocument/2006/relationships" r:id="rId3"/>
          </a:graphicData>
        </a:graphic>
      </p:graphicFrame>
      <p:grpSp>
        <p:nvGrpSpPr>
          <p:cNvPr id="15" name="组合 14"/>
          <p:cNvGrpSpPr/>
          <p:nvPr/>
        </p:nvGrpSpPr>
        <p:grpSpPr>
          <a:xfrm>
            <a:off x="2394736" y="1090898"/>
            <a:ext cx="3814461" cy="3744000"/>
            <a:chOff x="2394736" y="1154398"/>
            <a:chExt cx="3814461" cy="3744000"/>
          </a:xfrm>
        </p:grpSpPr>
        <p:sp>
          <p:nvSpPr>
            <p:cNvPr id="140" name="Oval 32-mask"/>
            <p:cNvSpPr>
              <a:spLocks noChangeAspect="1"/>
            </p:cNvSpPr>
            <p:nvPr/>
          </p:nvSpPr>
          <p:spPr>
            <a:xfrm>
              <a:off x="2465197" y="1154398"/>
              <a:ext cx="3744000" cy="3744000"/>
            </a:xfrm>
            <a:prstGeom prst="ellipse">
              <a:avLst/>
            </a:prstGeom>
            <a:gradFill flip="none" rotWithShape="1">
              <a:gsLst>
                <a:gs pos="32000">
                  <a:schemeClr val="accent1">
                    <a:lumMod val="60000"/>
                    <a:lumOff val="40000"/>
                    <a:alpha val="0"/>
                  </a:schemeClr>
                </a:gs>
                <a:gs pos="100000">
                  <a:schemeClr val="accent1">
                    <a:lumMod val="60000"/>
                    <a:lumOff val="40000"/>
                    <a:alpha val="19000"/>
                  </a:schemeClr>
                </a:gs>
              </a:gsLst>
              <a:lin ang="10800000" scaled="1"/>
              <a:tileRect/>
            </a:gradFill>
            <a:ln w="17621">
              <a:gradFill flip="none" rotWithShape="1">
                <a:gsLst>
                  <a:gs pos="18000">
                    <a:schemeClr val="accent1">
                      <a:alpha val="0"/>
                    </a:schemeClr>
                  </a:gs>
                  <a:gs pos="100000">
                    <a:schemeClr val="accent1">
                      <a:alpha val="30000"/>
                    </a:schemeClr>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101498" tIns="50749" rIns="101498" bIns="50749" rtlCol="0" anchor="ctr"/>
            <a:lstStyle/>
            <a:p>
              <a:pPr algn="ctr"/>
              <a:endParaRPr lang="zh-CN" altLang="en-US" sz="2000" dirty="0">
                <a:solidFill>
                  <a:schemeClr val="accent1"/>
                </a:solidFill>
                <a:latin typeface="+mj-ea"/>
                <a:ea typeface="+mj-ea"/>
                <a:cs typeface="思源黑体 CN Normal" panose="020B0400000000000000" pitchFamily="34" charset="-122"/>
              </a:endParaRPr>
            </a:p>
          </p:txBody>
        </p:sp>
        <p:grpSp>
          <p:nvGrpSpPr>
            <p:cNvPr id="2" name="组合 1"/>
            <p:cNvGrpSpPr/>
            <p:nvPr/>
          </p:nvGrpSpPr>
          <p:grpSpPr>
            <a:xfrm>
              <a:off x="2394736" y="1624064"/>
              <a:ext cx="688909" cy="2789623"/>
              <a:chOff x="2394736" y="1624064"/>
              <a:chExt cx="688909" cy="2789623"/>
            </a:xfrm>
          </p:grpSpPr>
          <p:sp>
            <p:nvSpPr>
              <p:cNvPr id="139" name="椭圆 138"/>
              <p:cNvSpPr/>
              <p:nvPr>
                <p:custDataLst>
                  <p:tags r:id="rId4"/>
                </p:custDataLst>
              </p:nvPr>
            </p:nvSpPr>
            <p:spPr>
              <a:xfrm>
                <a:off x="2956978" y="1624064"/>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4" name="椭圆 3"/>
              <p:cNvSpPr/>
              <p:nvPr>
                <p:custDataLst>
                  <p:tags r:id="rId5"/>
                </p:custDataLst>
              </p:nvPr>
            </p:nvSpPr>
            <p:spPr>
              <a:xfrm>
                <a:off x="2394736" y="2955542"/>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5" name="椭圆 4"/>
              <p:cNvSpPr/>
              <p:nvPr>
                <p:custDataLst>
                  <p:tags r:id="rId6"/>
                </p:custDataLst>
              </p:nvPr>
            </p:nvSpPr>
            <p:spPr>
              <a:xfrm>
                <a:off x="2956978" y="4287020"/>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grpSp>
      </p:grpSp>
      <p:grpSp>
        <p:nvGrpSpPr>
          <p:cNvPr id="16" name="组合 15"/>
          <p:cNvGrpSpPr/>
          <p:nvPr/>
        </p:nvGrpSpPr>
        <p:grpSpPr>
          <a:xfrm>
            <a:off x="5971227" y="1090898"/>
            <a:ext cx="3799181" cy="3744000"/>
            <a:chOff x="5971227" y="1154398"/>
            <a:chExt cx="3799181" cy="3744000"/>
          </a:xfrm>
        </p:grpSpPr>
        <p:sp>
          <p:nvSpPr>
            <p:cNvPr id="141" name="Oval 32-mask"/>
            <p:cNvSpPr>
              <a:spLocks noChangeAspect="1"/>
            </p:cNvSpPr>
            <p:nvPr/>
          </p:nvSpPr>
          <p:spPr>
            <a:xfrm flipH="1">
              <a:off x="5971227" y="1154398"/>
              <a:ext cx="3744000" cy="3744000"/>
            </a:xfrm>
            <a:prstGeom prst="ellipse">
              <a:avLst/>
            </a:prstGeom>
            <a:gradFill flip="none" rotWithShape="1">
              <a:gsLst>
                <a:gs pos="32000">
                  <a:schemeClr val="accent1">
                    <a:lumMod val="60000"/>
                    <a:lumOff val="40000"/>
                    <a:alpha val="0"/>
                  </a:schemeClr>
                </a:gs>
                <a:gs pos="100000">
                  <a:schemeClr val="accent1">
                    <a:lumMod val="60000"/>
                    <a:lumOff val="40000"/>
                    <a:alpha val="19000"/>
                  </a:schemeClr>
                </a:gs>
              </a:gsLst>
              <a:lin ang="10800000" scaled="1"/>
              <a:tileRect/>
            </a:gradFill>
            <a:ln w="17621">
              <a:gradFill flip="none" rotWithShape="1">
                <a:gsLst>
                  <a:gs pos="18000">
                    <a:schemeClr val="accent1">
                      <a:alpha val="0"/>
                    </a:schemeClr>
                  </a:gs>
                  <a:gs pos="100000">
                    <a:schemeClr val="accent1">
                      <a:alpha val="30000"/>
                    </a:schemeClr>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101498" tIns="50749" rIns="101498" bIns="50749" rtlCol="0" anchor="ctr"/>
            <a:lstStyle/>
            <a:p>
              <a:pPr algn="ctr"/>
              <a:endParaRPr lang="zh-CN" altLang="en-US" sz="2000" dirty="0">
                <a:solidFill>
                  <a:schemeClr val="accent1"/>
                </a:solidFill>
                <a:latin typeface="+mj-ea"/>
                <a:ea typeface="+mj-ea"/>
                <a:cs typeface="思源黑体 CN Normal" panose="020B0400000000000000" pitchFamily="34" charset="-122"/>
              </a:endParaRPr>
            </a:p>
          </p:txBody>
        </p:sp>
        <p:grpSp>
          <p:nvGrpSpPr>
            <p:cNvPr id="3" name="组合 2"/>
            <p:cNvGrpSpPr/>
            <p:nvPr/>
          </p:nvGrpSpPr>
          <p:grpSpPr>
            <a:xfrm flipH="1">
              <a:off x="9081499" y="1624064"/>
              <a:ext cx="688909" cy="2789623"/>
              <a:chOff x="2394736" y="1624064"/>
              <a:chExt cx="688909" cy="2789623"/>
            </a:xfrm>
          </p:grpSpPr>
          <p:sp>
            <p:nvSpPr>
              <p:cNvPr id="11" name="椭圆 10"/>
              <p:cNvSpPr/>
              <p:nvPr>
                <p:custDataLst>
                  <p:tags r:id="rId7"/>
                </p:custDataLst>
              </p:nvPr>
            </p:nvSpPr>
            <p:spPr>
              <a:xfrm>
                <a:off x="2956978" y="1624064"/>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12" name="椭圆 11"/>
              <p:cNvSpPr/>
              <p:nvPr>
                <p:custDataLst>
                  <p:tags r:id="rId8"/>
                </p:custDataLst>
              </p:nvPr>
            </p:nvSpPr>
            <p:spPr>
              <a:xfrm>
                <a:off x="2394736" y="2955542"/>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14" name="椭圆 13"/>
              <p:cNvSpPr/>
              <p:nvPr>
                <p:custDataLst>
                  <p:tags r:id="rId9"/>
                </p:custDataLst>
              </p:nvPr>
            </p:nvSpPr>
            <p:spPr>
              <a:xfrm>
                <a:off x="2956978" y="4287020"/>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grpSp>
      </p:grpSp>
      <p:grpSp>
        <p:nvGrpSpPr>
          <p:cNvPr id="170" name="组合 169"/>
          <p:cNvGrpSpPr/>
          <p:nvPr/>
        </p:nvGrpSpPr>
        <p:grpSpPr>
          <a:xfrm>
            <a:off x="498001" y="5208590"/>
            <a:ext cx="2170332" cy="1231965"/>
            <a:chOff x="515938" y="5338053"/>
            <a:chExt cx="2160000" cy="1231965"/>
          </a:xfrm>
        </p:grpSpPr>
        <p:sp>
          <p:nvSpPr>
            <p:cNvPr id="82" name="矩形: 圆顶角 81"/>
            <p:cNvSpPr/>
            <p:nvPr/>
          </p:nvSpPr>
          <p:spPr>
            <a:xfrm>
              <a:off x="515938"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1" name="矩形: 圆顶角 80"/>
            <p:cNvSpPr/>
            <p:nvPr/>
          </p:nvSpPr>
          <p:spPr>
            <a:xfrm>
              <a:off x="515938"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成果扎实</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71" name="组合 170"/>
          <p:cNvGrpSpPr/>
          <p:nvPr/>
        </p:nvGrpSpPr>
        <p:grpSpPr>
          <a:xfrm>
            <a:off x="2754418" y="5208590"/>
            <a:ext cx="2170332" cy="1231965"/>
            <a:chOff x="2761613" y="5338053"/>
            <a:chExt cx="2160000" cy="1231965"/>
          </a:xfrm>
        </p:grpSpPr>
        <p:sp>
          <p:nvSpPr>
            <p:cNvPr id="95" name="矩形: 圆顶角 94"/>
            <p:cNvSpPr/>
            <p:nvPr/>
          </p:nvSpPr>
          <p:spPr>
            <a:xfrm>
              <a:off x="2761613"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6" name="矩形: 圆顶角 95"/>
            <p:cNvSpPr/>
            <p:nvPr/>
          </p:nvSpPr>
          <p:spPr>
            <a:xfrm>
              <a:off x="2761613"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效率跃升</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72" name="组合 171"/>
          <p:cNvGrpSpPr/>
          <p:nvPr/>
        </p:nvGrpSpPr>
        <p:grpSpPr>
          <a:xfrm>
            <a:off x="5010835" y="5208590"/>
            <a:ext cx="2170332" cy="1231965"/>
            <a:chOff x="5007288" y="5338053"/>
            <a:chExt cx="2160000" cy="1231965"/>
          </a:xfrm>
        </p:grpSpPr>
        <p:sp>
          <p:nvSpPr>
            <p:cNvPr id="98" name="矩形: 圆顶角 97"/>
            <p:cNvSpPr/>
            <p:nvPr/>
          </p:nvSpPr>
          <p:spPr>
            <a:xfrm>
              <a:off x="5007288"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9" name="矩形: 圆顶角 98"/>
            <p:cNvSpPr/>
            <p:nvPr/>
          </p:nvSpPr>
          <p:spPr>
            <a:xfrm>
              <a:off x="5007288"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收益增长</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73" name="组合 172"/>
          <p:cNvGrpSpPr/>
          <p:nvPr/>
        </p:nvGrpSpPr>
        <p:grpSpPr>
          <a:xfrm>
            <a:off x="7267251" y="5208590"/>
            <a:ext cx="2170332" cy="1231965"/>
            <a:chOff x="7252963" y="5338053"/>
            <a:chExt cx="2160000" cy="1231965"/>
          </a:xfrm>
        </p:grpSpPr>
        <p:sp>
          <p:nvSpPr>
            <p:cNvPr id="101" name="矩形: 圆顶角 100"/>
            <p:cNvSpPr/>
            <p:nvPr/>
          </p:nvSpPr>
          <p:spPr>
            <a:xfrm>
              <a:off x="7252963"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2" name="矩形: 圆顶角 101"/>
            <p:cNvSpPr/>
            <p:nvPr/>
          </p:nvSpPr>
          <p:spPr>
            <a:xfrm>
              <a:off x="7252963"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资源优化</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74" name="组合 173"/>
          <p:cNvGrpSpPr/>
          <p:nvPr/>
        </p:nvGrpSpPr>
        <p:grpSpPr>
          <a:xfrm>
            <a:off x="9523669" y="5208590"/>
            <a:ext cx="2170332" cy="1231965"/>
            <a:chOff x="9498639" y="5338053"/>
            <a:chExt cx="2160000" cy="1231965"/>
          </a:xfrm>
        </p:grpSpPr>
        <p:sp>
          <p:nvSpPr>
            <p:cNvPr id="104" name="矩形: 圆顶角 103"/>
            <p:cNvSpPr/>
            <p:nvPr/>
          </p:nvSpPr>
          <p:spPr>
            <a:xfrm>
              <a:off x="9498639"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7" name="矩形: 圆顶角 106"/>
            <p:cNvSpPr/>
            <p:nvPr/>
          </p:nvSpPr>
          <p:spPr>
            <a:xfrm>
              <a:off x="9498639"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市场扩张</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16" name="文本框 115"/>
          <p:cNvSpPr txBox="1"/>
          <p:nvPr/>
        </p:nvSpPr>
        <p:spPr>
          <a:xfrm>
            <a:off x="575167"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项目</a:t>
            </a:r>
            <a:r>
              <a:rPr lang="en-US" altLang="zh-CN" sz="1200" b="0" i="0" dirty="0">
                <a:solidFill>
                  <a:srgbClr val="0D0D0D"/>
                </a:solidFill>
                <a:effectLst/>
                <a:latin typeface="+mn-ea"/>
                <a:cs typeface="思源黑体 CN Normal" panose="020B0400000000000000" pitchFamily="34" charset="-122"/>
              </a:rPr>
              <a:t>100%</a:t>
            </a:r>
            <a:r>
              <a:rPr lang="zh-CN" altLang="en-US" sz="1200" b="0" i="0" dirty="0">
                <a:solidFill>
                  <a:srgbClr val="0D0D0D"/>
                </a:solidFill>
                <a:effectLst/>
                <a:latin typeface="+mn-ea"/>
                <a:cs typeface="思源黑体 CN Normal" panose="020B0400000000000000" pitchFamily="34" charset="-122"/>
              </a:rPr>
              <a:t>交付，成果显著</a:t>
            </a:r>
            <a:endParaRPr lang="zh-CN" altLang="en-US" sz="1200" dirty="0">
              <a:latin typeface="+mn-ea"/>
              <a:cs typeface="思源黑体 CN Normal" panose="020B0400000000000000" pitchFamily="34" charset="-122"/>
            </a:endParaRPr>
          </a:p>
        </p:txBody>
      </p:sp>
      <p:sp>
        <p:nvSpPr>
          <p:cNvPr id="137" name="文本框 136"/>
          <p:cNvSpPr txBox="1"/>
          <p:nvPr/>
        </p:nvSpPr>
        <p:spPr>
          <a:xfrm>
            <a:off x="2831584"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产出提升</a:t>
            </a:r>
            <a:r>
              <a:rPr lang="en-US" altLang="zh-CN" sz="1200" b="0" i="0" dirty="0">
                <a:solidFill>
                  <a:srgbClr val="0D0D0D"/>
                </a:solidFill>
                <a:effectLst/>
                <a:latin typeface="+mn-ea"/>
                <a:cs typeface="思源黑体 CN Normal" panose="020B0400000000000000" pitchFamily="34" charset="-122"/>
              </a:rPr>
              <a:t>22%</a:t>
            </a:r>
            <a:r>
              <a:rPr lang="zh-CN" altLang="en-US" sz="1200" b="0" i="0" dirty="0">
                <a:solidFill>
                  <a:srgbClr val="0D0D0D"/>
                </a:solidFill>
                <a:effectLst/>
                <a:latin typeface="+mn-ea"/>
                <a:cs typeface="思源黑体 CN Normal" panose="020B0400000000000000" pitchFamily="34" charset="-122"/>
              </a:rPr>
              <a:t>，效率飞跃</a:t>
            </a:r>
            <a:endParaRPr lang="zh-CN" altLang="en-US" sz="1200" dirty="0">
              <a:latin typeface="+mn-ea"/>
              <a:cs typeface="思源黑体 CN Normal" panose="020B0400000000000000" pitchFamily="34" charset="-122"/>
            </a:endParaRPr>
          </a:p>
        </p:txBody>
      </p:sp>
      <p:sp>
        <p:nvSpPr>
          <p:cNvPr id="138" name="文本框 137"/>
          <p:cNvSpPr txBox="1"/>
          <p:nvPr/>
        </p:nvSpPr>
        <p:spPr>
          <a:xfrm>
            <a:off x="5088001"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客户续约</a:t>
            </a:r>
            <a:r>
              <a:rPr lang="en-US" altLang="zh-CN" sz="1200" b="0" i="0" dirty="0">
                <a:solidFill>
                  <a:srgbClr val="0D0D0D"/>
                </a:solidFill>
                <a:effectLst/>
                <a:latin typeface="+mn-ea"/>
                <a:cs typeface="思源黑体 CN Normal" panose="020B0400000000000000" pitchFamily="34" charset="-122"/>
              </a:rPr>
              <a:t>90%</a:t>
            </a:r>
            <a:r>
              <a:rPr lang="zh-CN" altLang="en-US" sz="1200" b="0" i="0" dirty="0">
                <a:solidFill>
                  <a:srgbClr val="0D0D0D"/>
                </a:solidFill>
                <a:effectLst/>
                <a:latin typeface="+mn-ea"/>
                <a:cs typeface="思源黑体 CN Normal" panose="020B0400000000000000" pitchFamily="34" charset="-122"/>
              </a:rPr>
              <a:t>，增长强劲</a:t>
            </a:r>
            <a:endParaRPr lang="zh-CN" altLang="en-US" sz="1200" dirty="0">
              <a:latin typeface="+mn-ea"/>
              <a:cs typeface="思源黑体 CN Normal" panose="020B0400000000000000" pitchFamily="34" charset="-122"/>
            </a:endParaRPr>
          </a:p>
        </p:txBody>
      </p:sp>
      <p:sp>
        <p:nvSpPr>
          <p:cNvPr id="142" name="文本框 141"/>
          <p:cNvSpPr txBox="1"/>
          <p:nvPr/>
        </p:nvSpPr>
        <p:spPr>
          <a:xfrm>
            <a:off x="7344418"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减少人力</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，资源集中</a:t>
            </a:r>
            <a:endParaRPr lang="zh-CN" altLang="en-US" sz="1200" dirty="0">
              <a:latin typeface="+mn-ea"/>
              <a:cs typeface="思源黑体 CN Normal" panose="020B0400000000000000" pitchFamily="34" charset="-122"/>
            </a:endParaRPr>
          </a:p>
        </p:txBody>
      </p:sp>
      <p:sp>
        <p:nvSpPr>
          <p:cNvPr id="143" name="文本框 142"/>
          <p:cNvSpPr txBox="1"/>
          <p:nvPr/>
        </p:nvSpPr>
        <p:spPr>
          <a:xfrm>
            <a:off x="9600835"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品牌影响力增强，扩张加速</a:t>
            </a:r>
            <a:endParaRPr lang="zh-CN" altLang="en-US" sz="1200" dirty="0">
              <a:latin typeface="+mn-ea"/>
              <a:cs typeface="思源黑体 CN Normal" panose="020B0400000000000000" pitchFamily="34" charset="-122"/>
            </a:endParaRPr>
          </a:p>
        </p:txBody>
      </p:sp>
      <p:sp>
        <p:nvSpPr>
          <p:cNvPr id="145" name="文本框 144"/>
          <p:cNvSpPr txBox="1"/>
          <p:nvPr/>
        </p:nvSpPr>
        <p:spPr>
          <a:xfrm>
            <a:off x="763227"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p>
            <a:pPr algn="ctr">
              <a:buNone/>
            </a:pPr>
            <a:r>
              <a:rPr lang="zh-CN" altLang="en-US" sz="1200" b="0" i="0" dirty="0">
                <a:solidFill>
                  <a:schemeClr val="bg2"/>
                </a:solidFill>
                <a:effectLst/>
                <a:latin typeface="+mj-ea"/>
                <a:ea typeface="+mj-ea"/>
                <a:cs typeface="思源黑体 CN Normal" panose="020B0400000000000000" pitchFamily="34" charset="-122"/>
              </a:rPr>
              <a:t>项项达</a:t>
            </a:r>
            <a:endParaRPr lang="zh-CN" altLang="en-US" sz="1200" b="0" i="0" dirty="0">
              <a:solidFill>
                <a:schemeClr val="bg2"/>
              </a:solidFill>
              <a:effectLst/>
              <a:latin typeface="+mj-ea"/>
              <a:ea typeface="+mj-ea"/>
              <a:cs typeface="思源黑体 CN Normal" panose="020B0400000000000000" pitchFamily="34" charset="-122"/>
            </a:endParaRPr>
          </a:p>
        </p:txBody>
      </p:sp>
      <p:sp>
        <p:nvSpPr>
          <p:cNvPr id="152" name="文本框 151"/>
          <p:cNvSpPr txBox="1"/>
          <p:nvPr/>
        </p:nvSpPr>
        <p:spPr>
          <a:xfrm>
            <a:off x="1643492"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p>
            <a:pPr algn="ctr">
              <a:buNone/>
            </a:pPr>
            <a:r>
              <a:rPr lang="zh-CN" altLang="en-US" sz="1200" b="0" i="0" dirty="0">
                <a:solidFill>
                  <a:schemeClr val="bg2"/>
                </a:solidFill>
                <a:effectLst/>
                <a:latin typeface="+mj-ea"/>
                <a:ea typeface="+mj-ea"/>
                <a:cs typeface="思源黑体 CN Normal" panose="020B0400000000000000" pitchFamily="34" charset="-122"/>
              </a:rPr>
              <a:t>客客增</a:t>
            </a:r>
            <a:endParaRPr lang="zh-CN" altLang="en-US" sz="1200" b="0" i="0" dirty="0">
              <a:solidFill>
                <a:schemeClr val="bg2"/>
              </a:solidFill>
              <a:effectLst/>
              <a:latin typeface="+mj-ea"/>
              <a:ea typeface="+mj-ea"/>
              <a:cs typeface="思源黑体 CN Normal" panose="020B0400000000000000" pitchFamily="34" charset="-122"/>
            </a:endParaRPr>
          </a:p>
        </p:txBody>
      </p:sp>
      <p:sp>
        <p:nvSpPr>
          <p:cNvPr id="153" name="文本框 152"/>
          <p:cNvSpPr txBox="1"/>
          <p:nvPr/>
        </p:nvSpPr>
        <p:spPr>
          <a:xfrm>
            <a:off x="3019643"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a:solidFill>
                  <a:schemeClr val="bg2"/>
                </a:solidFill>
                <a:latin typeface="+mj-ea"/>
                <a:ea typeface="+mj-ea"/>
                <a:cs typeface="思源黑体 CN Normal" panose="020B0400000000000000" pitchFamily="34" charset="-122"/>
              </a:rPr>
              <a:t>人</a:t>
            </a:r>
            <a:r>
              <a:rPr lang="zh-CN" altLang="en-US" sz="1200" dirty="0">
                <a:solidFill>
                  <a:schemeClr val="bg2"/>
                </a:solidFill>
                <a:latin typeface="+mj-ea"/>
                <a:ea typeface="+mj-ea"/>
                <a:cs typeface="思源黑体 CN Normal" panose="020B0400000000000000" pitchFamily="34" charset="-122"/>
              </a:rPr>
              <a:t>产出</a:t>
            </a:r>
            <a:endParaRPr lang="zh-CN" altLang="en-US" sz="1200" dirty="0">
              <a:solidFill>
                <a:schemeClr val="bg2"/>
              </a:solidFill>
              <a:latin typeface="+mj-ea"/>
              <a:ea typeface="+mj-ea"/>
              <a:cs typeface="思源黑体 CN Normal" panose="020B0400000000000000" pitchFamily="34" charset="-122"/>
            </a:endParaRPr>
          </a:p>
        </p:txBody>
      </p:sp>
      <p:sp>
        <p:nvSpPr>
          <p:cNvPr id="157" name="文本框 156"/>
          <p:cNvSpPr txBox="1"/>
          <p:nvPr/>
        </p:nvSpPr>
        <p:spPr>
          <a:xfrm>
            <a:off x="3899909"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dirty="0">
                <a:solidFill>
                  <a:schemeClr val="bg2"/>
                </a:solidFill>
                <a:latin typeface="+mj-ea"/>
                <a:ea typeface="+mj-ea"/>
                <a:cs typeface="思源黑体 CN Normal" panose="020B0400000000000000" pitchFamily="34" charset="-122"/>
              </a:rPr>
              <a:t>期缩短</a:t>
            </a:r>
            <a:endParaRPr lang="zh-CN" altLang="en-US" sz="1200" dirty="0">
              <a:solidFill>
                <a:schemeClr val="bg2"/>
              </a:solidFill>
              <a:latin typeface="+mj-ea"/>
              <a:ea typeface="+mj-ea"/>
              <a:cs typeface="思源黑体 CN Normal" panose="020B0400000000000000" pitchFamily="34" charset="-122"/>
            </a:endParaRPr>
          </a:p>
        </p:txBody>
      </p:sp>
      <p:sp>
        <p:nvSpPr>
          <p:cNvPr id="158" name="文本框 157"/>
          <p:cNvSpPr txBox="1"/>
          <p:nvPr/>
        </p:nvSpPr>
        <p:spPr>
          <a:xfrm>
            <a:off x="5276060"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dirty="0">
                <a:solidFill>
                  <a:schemeClr val="bg2"/>
                </a:solidFill>
                <a:latin typeface="+mj-ea"/>
                <a:ea typeface="+mj-ea"/>
                <a:cs typeface="思源黑体 CN Normal" panose="020B0400000000000000" pitchFamily="34" charset="-122"/>
              </a:rPr>
              <a:t>续约高</a:t>
            </a:r>
            <a:endParaRPr lang="zh-CN" altLang="en-US" sz="1200" dirty="0">
              <a:solidFill>
                <a:schemeClr val="bg2"/>
              </a:solidFill>
              <a:latin typeface="+mj-ea"/>
              <a:ea typeface="+mj-ea"/>
              <a:cs typeface="思源黑体 CN Normal" panose="020B0400000000000000" pitchFamily="34" charset="-122"/>
            </a:endParaRPr>
          </a:p>
        </p:txBody>
      </p:sp>
      <p:sp>
        <p:nvSpPr>
          <p:cNvPr id="160" name="文本框 159"/>
          <p:cNvSpPr txBox="1"/>
          <p:nvPr/>
        </p:nvSpPr>
        <p:spPr>
          <a:xfrm>
            <a:off x="6156326"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a:solidFill>
                  <a:schemeClr val="bg2"/>
                </a:solidFill>
                <a:latin typeface="+mj-ea"/>
                <a:ea typeface="+mj-ea"/>
                <a:cs typeface="思源黑体 CN Normal" panose="020B0400000000000000" pitchFamily="34" charset="-122"/>
              </a:rPr>
              <a:t>收益涨</a:t>
            </a:r>
            <a:endParaRPr lang="zh-CN" altLang="en-US" sz="1200" dirty="0">
              <a:solidFill>
                <a:schemeClr val="bg2"/>
              </a:solidFill>
              <a:latin typeface="+mj-ea"/>
              <a:ea typeface="+mj-ea"/>
              <a:cs typeface="思源黑体 CN Normal" panose="020B0400000000000000" pitchFamily="34" charset="-122"/>
            </a:endParaRPr>
          </a:p>
        </p:txBody>
      </p:sp>
      <p:sp>
        <p:nvSpPr>
          <p:cNvPr id="161" name="文本框 160"/>
          <p:cNvSpPr txBox="1"/>
          <p:nvPr/>
        </p:nvSpPr>
        <p:spPr>
          <a:xfrm>
            <a:off x="7532477"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dirty="0">
                <a:solidFill>
                  <a:schemeClr val="bg2"/>
                </a:solidFill>
                <a:latin typeface="+mj-ea"/>
                <a:ea typeface="+mj-ea"/>
                <a:cs typeface="思源黑体 CN Normal" panose="020B0400000000000000" pitchFamily="34" charset="-122"/>
              </a:rPr>
              <a:t>人力省</a:t>
            </a:r>
            <a:endParaRPr lang="zh-CN" altLang="en-US" sz="1200" dirty="0">
              <a:solidFill>
                <a:schemeClr val="bg2"/>
              </a:solidFill>
              <a:latin typeface="+mj-ea"/>
              <a:ea typeface="+mj-ea"/>
              <a:cs typeface="思源黑体 CN Normal" panose="020B0400000000000000" pitchFamily="34" charset="-122"/>
            </a:endParaRPr>
          </a:p>
        </p:txBody>
      </p:sp>
      <p:sp>
        <p:nvSpPr>
          <p:cNvPr id="163" name="文本框 162"/>
          <p:cNvSpPr txBox="1"/>
          <p:nvPr/>
        </p:nvSpPr>
        <p:spPr>
          <a:xfrm>
            <a:off x="8412742"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dirty="0">
                <a:solidFill>
                  <a:schemeClr val="bg2"/>
                </a:solidFill>
                <a:latin typeface="+mj-ea"/>
                <a:ea typeface="+mj-ea"/>
                <a:cs typeface="思源黑体 CN Normal" panose="020B0400000000000000" pitchFamily="34" charset="-122"/>
              </a:rPr>
              <a:t>投</a:t>
            </a:r>
            <a:r>
              <a:rPr lang="zh-CN" altLang="en-US" sz="1200">
                <a:solidFill>
                  <a:schemeClr val="bg2"/>
                </a:solidFill>
                <a:latin typeface="+mj-ea"/>
                <a:ea typeface="+mj-ea"/>
                <a:cs typeface="思源黑体 CN Normal" panose="020B0400000000000000" pitchFamily="34" charset="-122"/>
              </a:rPr>
              <a:t>高项</a:t>
            </a:r>
            <a:endParaRPr lang="zh-CN" altLang="en-US" sz="1200" dirty="0">
              <a:solidFill>
                <a:schemeClr val="bg2"/>
              </a:solidFill>
              <a:latin typeface="+mj-ea"/>
              <a:ea typeface="+mj-ea"/>
              <a:cs typeface="思源黑体 CN Normal" panose="020B0400000000000000" pitchFamily="34" charset="-122"/>
            </a:endParaRPr>
          </a:p>
        </p:txBody>
      </p:sp>
      <p:sp>
        <p:nvSpPr>
          <p:cNvPr id="150" name="文本框 149"/>
          <p:cNvSpPr txBox="1"/>
          <p:nvPr/>
        </p:nvSpPr>
        <p:spPr>
          <a:xfrm>
            <a:off x="10669160"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a:solidFill>
                  <a:schemeClr val="bg2"/>
                </a:solidFill>
                <a:latin typeface="+mj-ea"/>
                <a:ea typeface="+mj-ea"/>
                <a:cs typeface="思源黑体 CN Normal" panose="020B0400000000000000" pitchFamily="34" charset="-122"/>
              </a:rPr>
              <a:t>市</a:t>
            </a:r>
            <a:r>
              <a:rPr lang="zh-CN" altLang="en-US" sz="1200" dirty="0">
                <a:solidFill>
                  <a:schemeClr val="bg2"/>
                </a:solidFill>
                <a:latin typeface="+mj-ea"/>
                <a:ea typeface="+mj-ea"/>
                <a:cs typeface="思源黑体 CN Normal" panose="020B0400000000000000" pitchFamily="34" charset="-122"/>
              </a:rPr>
              <a:t>反馈</a:t>
            </a:r>
            <a:endParaRPr lang="zh-CN" altLang="en-US" sz="1200" dirty="0">
              <a:solidFill>
                <a:schemeClr val="bg2"/>
              </a:solidFill>
              <a:latin typeface="+mj-ea"/>
              <a:ea typeface="+mj-ea"/>
              <a:cs typeface="思源黑体 CN Normal" panose="020B0400000000000000" pitchFamily="34" charset="-122"/>
            </a:endParaRPr>
          </a:p>
        </p:txBody>
      </p:sp>
      <p:sp>
        <p:nvSpPr>
          <p:cNvPr id="164" name="文本框 163"/>
          <p:cNvSpPr txBox="1"/>
          <p:nvPr/>
        </p:nvSpPr>
        <p:spPr>
          <a:xfrm>
            <a:off x="9788895"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a:solidFill>
                  <a:schemeClr val="bg2"/>
                </a:solidFill>
                <a:latin typeface="+mj-ea"/>
                <a:ea typeface="+mj-ea"/>
                <a:cs typeface="思源黑体 CN Normal" panose="020B0400000000000000" pitchFamily="34" charset="-122"/>
              </a:rPr>
              <a:t>牌</a:t>
            </a:r>
            <a:r>
              <a:rPr lang="zh-CN" altLang="en-US" sz="1200" dirty="0">
                <a:solidFill>
                  <a:schemeClr val="bg2"/>
                </a:solidFill>
                <a:latin typeface="+mj-ea"/>
                <a:ea typeface="+mj-ea"/>
                <a:cs typeface="思源黑体 CN Normal" panose="020B0400000000000000" pitchFamily="34" charset="-122"/>
              </a:rPr>
              <a:t>响亮</a:t>
            </a:r>
            <a:endParaRPr lang="zh-CN" altLang="en-US" sz="1200" dirty="0">
              <a:solidFill>
                <a:schemeClr val="bg2"/>
              </a:solidFill>
              <a:latin typeface="+mj-ea"/>
              <a:ea typeface="+mj-ea"/>
              <a:cs typeface="思源黑体 CN Normal" panose="020B0400000000000000" pitchFamily="34" charset="-122"/>
            </a:endParaRPr>
          </a:p>
        </p:txBody>
      </p:sp>
      <p:sp>
        <p:nvSpPr>
          <p:cNvPr id="176" name="矩形: 圆角 175"/>
          <p:cNvSpPr/>
          <p:nvPr/>
        </p:nvSpPr>
        <p:spPr>
          <a:xfrm>
            <a:off x="334964" y="5050572"/>
            <a:ext cx="11522074" cy="1548000"/>
          </a:xfrm>
          <a:prstGeom prst="roundRect">
            <a:avLst>
              <a:gd name="adj" fmla="val 4470"/>
            </a:avLst>
          </a:prstGeom>
          <a:noFill/>
          <a:ln w="31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 name="大标题"/>
          <p:cNvSpPr txBox="1"/>
          <p:nvPr/>
        </p:nvSpPr>
        <p:spPr>
          <a:xfrm>
            <a:off x="313944" y="147026"/>
            <a:ext cx="5081258"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工作进展与成果总结</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9" name="组合 18"/>
          <p:cNvGrpSpPr/>
          <p:nvPr/>
        </p:nvGrpSpPr>
        <p:grpSpPr>
          <a:xfrm>
            <a:off x="540600" y="3844222"/>
            <a:ext cx="2052000" cy="809220"/>
            <a:chOff x="451700" y="3907722"/>
            <a:chExt cx="2052000" cy="809220"/>
          </a:xfrm>
        </p:grpSpPr>
        <p:sp>
          <p:nvSpPr>
            <p:cNvPr id="21" name="文本框 20"/>
            <p:cNvSpPr txBox="1"/>
            <p:nvPr/>
          </p:nvSpPr>
          <p:spPr>
            <a:xfrm>
              <a:off x="1054370" y="3907722"/>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客户服务提升</a:t>
              </a:r>
              <a:endParaRPr lang="zh-CN" altLang="en-US" sz="1400" i="0" dirty="0">
                <a:solidFill>
                  <a:schemeClr val="bg1"/>
                </a:solidFill>
                <a:latin typeface="+mj-ea"/>
                <a:ea typeface="+mj-ea"/>
                <a:cs typeface="思源黑体 CN Normal" panose="020B0400000000000000" pitchFamily="34" charset="-122"/>
              </a:endParaRPr>
            </a:p>
          </p:txBody>
        </p:sp>
        <p:sp>
          <p:nvSpPr>
            <p:cNvPr id="22" name="文本框 21"/>
            <p:cNvSpPr txBox="1"/>
            <p:nvPr/>
          </p:nvSpPr>
          <p:spPr>
            <a:xfrm>
              <a:off x="451700" y="4316768"/>
              <a:ext cx="2052000"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latin typeface="+mn-ea"/>
                  <a:cs typeface="思源黑体 CN Normal" panose="020B0400000000000000" pitchFamily="34" charset="-122"/>
                </a:rPr>
                <a:t>优化客户服务流程，客户咨询平均响应时间缩至</a:t>
              </a:r>
              <a:r>
                <a:rPr lang="en-US" altLang="zh-CN" sz="1200" b="0" i="0" dirty="0">
                  <a:solidFill>
                    <a:srgbClr val="0D0D0D"/>
                  </a:solidFill>
                  <a:latin typeface="+mn-ea"/>
                  <a:cs typeface="思源黑体 CN Normal" panose="020B0400000000000000" pitchFamily="34" charset="-122"/>
                </a:rPr>
                <a:t>1</a:t>
              </a:r>
              <a:r>
                <a:rPr lang="zh-CN" altLang="en-US" sz="1200" b="0" i="0" dirty="0">
                  <a:solidFill>
                    <a:srgbClr val="0D0D0D"/>
                  </a:solidFill>
                  <a:latin typeface="+mn-ea"/>
                  <a:cs typeface="思源黑体 CN Normal" panose="020B0400000000000000" pitchFamily="34" charset="-122"/>
                </a:rPr>
                <a:t>小时以内</a:t>
              </a:r>
              <a:endParaRPr lang="zh-CN" altLang="en-US" sz="1200" b="0" i="0" dirty="0">
                <a:solidFill>
                  <a:srgbClr val="0D0D0D"/>
                </a:solidFill>
                <a:latin typeface="+mn-ea"/>
                <a:cs typeface="思源黑体 CN Normal" panose="020B0400000000000000" pitchFamily="34" charset="-122"/>
              </a:endParaRPr>
            </a:p>
          </p:txBody>
        </p:sp>
      </p:grpSp>
      <p:grpSp>
        <p:nvGrpSpPr>
          <p:cNvPr id="26" name="组合 25"/>
          <p:cNvGrpSpPr/>
          <p:nvPr/>
        </p:nvGrpSpPr>
        <p:grpSpPr>
          <a:xfrm>
            <a:off x="9599400" y="3844222"/>
            <a:ext cx="2052000" cy="809220"/>
            <a:chOff x="9688301" y="3907722"/>
            <a:chExt cx="2052000" cy="809220"/>
          </a:xfrm>
        </p:grpSpPr>
        <p:sp>
          <p:nvSpPr>
            <p:cNvPr id="44" name="文本框 43"/>
            <p:cNvSpPr txBox="1"/>
            <p:nvPr/>
          </p:nvSpPr>
          <p:spPr>
            <a:xfrm flipH="1">
              <a:off x="9688301" y="3907722"/>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dirty="0">
                  <a:solidFill>
                    <a:schemeClr val="bg1"/>
                  </a:solidFill>
                  <a:latin typeface="+mj-ea"/>
                  <a:ea typeface="+mj-ea"/>
                  <a:cs typeface="思源黑体 CN Normal" panose="020B0400000000000000" pitchFamily="34" charset="-122"/>
                </a:rPr>
                <a:t>人才</a:t>
              </a:r>
              <a:r>
                <a:rPr lang="zh-CN" altLang="en-US" sz="1400" i="0" dirty="0">
                  <a:solidFill>
                    <a:schemeClr val="bg1"/>
                  </a:solidFill>
                  <a:latin typeface="+mj-ea"/>
                  <a:ea typeface="+mj-ea"/>
                  <a:cs typeface="思源黑体 CN Normal" panose="020B0400000000000000" pitchFamily="34" charset="-122"/>
                </a:rPr>
                <a:t>建设成效</a:t>
              </a:r>
              <a:endParaRPr lang="zh-CN" altLang="en-US" sz="1400" i="0" dirty="0">
                <a:solidFill>
                  <a:schemeClr val="bg1"/>
                </a:solidFill>
                <a:latin typeface="+mj-ea"/>
                <a:ea typeface="+mj-ea"/>
                <a:cs typeface="思源黑体 CN Normal" panose="020B0400000000000000" pitchFamily="34" charset="-122"/>
              </a:endParaRPr>
            </a:p>
          </p:txBody>
        </p:sp>
        <p:sp>
          <p:nvSpPr>
            <p:cNvPr id="45" name="文本框 44"/>
            <p:cNvSpPr txBox="1"/>
            <p:nvPr/>
          </p:nvSpPr>
          <p:spPr>
            <a:xfrm flipH="1">
              <a:off x="9688301" y="4316768"/>
              <a:ext cx="2052000"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latin typeface="+mn-ea"/>
                  <a:cs typeface="思源黑体 CN Normal" panose="020B0400000000000000" pitchFamily="34" charset="-122"/>
                </a:rPr>
                <a:t>开展</a:t>
              </a:r>
              <a:r>
                <a:rPr lang="en-US" altLang="zh-CN" sz="1200" b="0" i="0" dirty="0">
                  <a:solidFill>
                    <a:srgbClr val="0D0D0D"/>
                  </a:solidFill>
                  <a:latin typeface="+mn-ea"/>
                  <a:cs typeface="思源黑体 CN Normal" panose="020B0400000000000000" pitchFamily="34" charset="-122"/>
                </a:rPr>
                <a:t>10</a:t>
              </a:r>
              <a:r>
                <a:rPr lang="zh-CN" altLang="en-US" sz="1200" b="0" i="0" dirty="0">
                  <a:solidFill>
                    <a:srgbClr val="0D0D0D"/>
                  </a:solidFill>
                  <a:latin typeface="+mn-ea"/>
                  <a:cs typeface="思源黑体 CN Normal" panose="020B0400000000000000" pitchFamily="34" charset="-122"/>
                </a:rPr>
                <a:t>次内部培训，员工专业技能考核通过率达 </a:t>
              </a:r>
              <a:r>
                <a:rPr lang="en-US" altLang="zh-CN" sz="1200" b="0" i="0" dirty="0">
                  <a:solidFill>
                    <a:srgbClr val="0D0D0D"/>
                  </a:solidFill>
                  <a:latin typeface="+mn-ea"/>
                  <a:cs typeface="思源黑体 CN Normal" panose="020B0400000000000000" pitchFamily="34" charset="-122"/>
                </a:rPr>
                <a:t>90%</a:t>
              </a:r>
              <a:endParaRPr lang="zh-CN" altLang="en-US" sz="1200" b="0" i="0" dirty="0">
                <a:solidFill>
                  <a:srgbClr val="0D0D0D"/>
                </a:solidFill>
                <a:latin typeface="+mn-ea"/>
                <a:cs typeface="思源黑体 CN Normal" panose="020B0400000000000000" pitchFamily="34" charset="-122"/>
              </a:endParaRPr>
            </a:p>
          </p:txBody>
        </p:sp>
      </p:grpSp>
      <p:grpSp>
        <p:nvGrpSpPr>
          <p:cNvPr id="18" name="组合 17"/>
          <p:cNvGrpSpPr/>
          <p:nvPr/>
        </p:nvGrpSpPr>
        <p:grpSpPr>
          <a:xfrm>
            <a:off x="227352" y="2561823"/>
            <a:ext cx="2052000" cy="810290"/>
            <a:chOff x="23102" y="2527265"/>
            <a:chExt cx="2052000" cy="810290"/>
          </a:xfrm>
        </p:grpSpPr>
        <p:sp>
          <p:nvSpPr>
            <p:cNvPr id="24" name="文本框 23"/>
            <p:cNvSpPr txBox="1"/>
            <p:nvPr/>
          </p:nvSpPr>
          <p:spPr>
            <a:xfrm>
              <a:off x="625772" y="2527265"/>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产品研发进展</a:t>
              </a:r>
              <a:endParaRPr lang="zh-CN" altLang="en-US" sz="1400" i="0" dirty="0">
                <a:solidFill>
                  <a:schemeClr val="bg1"/>
                </a:solidFill>
                <a:latin typeface="+mj-ea"/>
                <a:ea typeface="+mj-ea"/>
                <a:cs typeface="思源黑体 CN Normal" panose="020B0400000000000000" pitchFamily="34" charset="-122"/>
              </a:endParaRPr>
            </a:p>
          </p:txBody>
        </p:sp>
        <p:sp>
          <p:nvSpPr>
            <p:cNvPr id="25" name="文本框 24"/>
            <p:cNvSpPr txBox="1"/>
            <p:nvPr/>
          </p:nvSpPr>
          <p:spPr>
            <a:xfrm>
              <a:off x="23102" y="2937381"/>
              <a:ext cx="2052000"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latin typeface="+mn-ea"/>
                  <a:cs typeface="思源黑体 CN Normal" panose="020B0400000000000000" pitchFamily="34" charset="-122"/>
                </a:rPr>
                <a:t>完成新产品的研发与测试性能已经超越行业平均水平</a:t>
              </a:r>
              <a:endParaRPr lang="zh-CN" altLang="en-US" sz="1200" b="0" i="0" dirty="0">
                <a:solidFill>
                  <a:srgbClr val="0D0D0D"/>
                </a:solidFill>
                <a:latin typeface="+mn-ea"/>
                <a:cs typeface="思源黑体 CN Normal" panose="020B0400000000000000" pitchFamily="34" charset="-122"/>
              </a:endParaRPr>
            </a:p>
          </p:txBody>
        </p:sp>
      </p:grpSp>
      <p:grpSp>
        <p:nvGrpSpPr>
          <p:cNvPr id="23" name="组合 22"/>
          <p:cNvGrpSpPr/>
          <p:nvPr/>
        </p:nvGrpSpPr>
        <p:grpSpPr>
          <a:xfrm>
            <a:off x="9912648" y="2561823"/>
            <a:ext cx="2052000" cy="810290"/>
            <a:chOff x="10152898" y="2527265"/>
            <a:chExt cx="2052000" cy="810290"/>
          </a:xfrm>
        </p:grpSpPr>
        <p:sp>
          <p:nvSpPr>
            <p:cNvPr id="42" name="文本框 41"/>
            <p:cNvSpPr txBox="1"/>
            <p:nvPr/>
          </p:nvSpPr>
          <p:spPr>
            <a:xfrm flipH="1">
              <a:off x="10152898" y="2527265"/>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项目推进进度</a:t>
              </a:r>
              <a:endParaRPr lang="zh-CN" altLang="en-US" sz="1400" i="0" dirty="0">
                <a:solidFill>
                  <a:schemeClr val="bg1"/>
                </a:solidFill>
                <a:latin typeface="+mj-ea"/>
                <a:ea typeface="+mj-ea"/>
                <a:cs typeface="思源黑体 CN Normal" panose="020B0400000000000000" pitchFamily="34" charset="-122"/>
              </a:endParaRPr>
            </a:p>
          </p:txBody>
        </p:sp>
        <p:sp>
          <p:nvSpPr>
            <p:cNvPr id="43" name="文本框 42"/>
            <p:cNvSpPr txBox="1"/>
            <p:nvPr/>
          </p:nvSpPr>
          <p:spPr>
            <a:xfrm flipH="1">
              <a:off x="10152898" y="2937381"/>
              <a:ext cx="2052000"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latin typeface="+mn-ea"/>
                  <a:cs typeface="思源黑体 CN Normal" panose="020B0400000000000000" pitchFamily="34" charset="-122"/>
                </a:rPr>
                <a:t>完成新产品的研发与测试，性能超越行业平均水平</a:t>
              </a:r>
              <a:endParaRPr lang="zh-CN" altLang="en-US" sz="1200" b="0" i="0" dirty="0">
                <a:solidFill>
                  <a:srgbClr val="0D0D0D"/>
                </a:solidFill>
                <a:latin typeface="+mn-ea"/>
                <a:cs typeface="思源黑体 CN Normal" panose="020B0400000000000000" pitchFamily="34" charset="-122"/>
              </a:endParaRPr>
            </a:p>
          </p:txBody>
        </p:sp>
      </p:grpSp>
      <p:grpSp>
        <p:nvGrpSpPr>
          <p:cNvPr id="17" name="组合 16"/>
          <p:cNvGrpSpPr/>
          <p:nvPr/>
        </p:nvGrpSpPr>
        <p:grpSpPr>
          <a:xfrm>
            <a:off x="540600" y="1282290"/>
            <a:ext cx="2052000" cy="807424"/>
            <a:chOff x="451700" y="1180690"/>
            <a:chExt cx="2052000" cy="807424"/>
          </a:xfrm>
        </p:grpSpPr>
        <p:sp>
          <p:nvSpPr>
            <p:cNvPr id="27" name="文本框 26"/>
            <p:cNvSpPr txBox="1"/>
            <p:nvPr/>
          </p:nvSpPr>
          <p:spPr>
            <a:xfrm>
              <a:off x="1054370" y="1180690"/>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市场开拓成果</a:t>
              </a:r>
              <a:endParaRPr lang="zh-CN" altLang="en-US" sz="1400" i="0" dirty="0">
                <a:solidFill>
                  <a:schemeClr val="bg1"/>
                </a:solidFill>
                <a:latin typeface="+mj-ea"/>
                <a:ea typeface="+mj-ea"/>
                <a:cs typeface="思源黑体 CN Normal" panose="020B0400000000000000" pitchFamily="34" charset="-122"/>
              </a:endParaRPr>
            </a:p>
          </p:txBody>
        </p:sp>
        <p:sp>
          <p:nvSpPr>
            <p:cNvPr id="28" name="文本框 27"/>
            <p:cNvSpPr txBox="1"/>
            <p:nvPr/>
          </p:nvSpPr>
          <p:spPr>
            <a:xfrm>
              <a:off x="451700" y="1587940"/>
              <a:ext cx="2052000"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latin typeface="+mn-ea"/>
                  <a:cs typeface="思源黑体 CN Normal" panose="020B0400000000000000" pitchFamily="34" charset="-122"/>
                </a:rPr>
                <a:t>打入新区域市场，与</a:t>
              </a:r>
              <a:r>
                <a:rPr lang="zh-CN" altLang="en-US" sz="1200" dirty="0">
                  <a:solidFill>
                    <a:srgbClr val="0D0D0D"/>
                  </a:solidFill>
                  <a:latin typeface="+mn-ea"/>
                  <a:cs typeface="思源黑体 CN Normal" panose="020B0400000000000000" pitchFamily="34" charset="-122"/>
                </a:rPr>
                <a:t>多</a:t>
              </a:r>
              <a:r>
                <a:rPr lang="zh-CN" altLang="en-US" sz="1200" b="0" i="0" dirty="0">
                  <a:solidFill>
                    <a:srgbClr val="0D0D0D"/>
                  </a:solidFill>
                  <a:latin typeface="+mn-ea"/>
                  <a:cs typeface="思源黑体 CN Normal" panose="020B0400000000000000" pitchFamily="34" charset="-122"/>
                </a:rPr>
                <a:t>家大型企业建立合作，影响力扩大</a:t>
              </a:r>
              <a:endParaRPr lang="zh-CN" altLang="en-US" sz="1200" b="0" i="0" dirty="0">
                <a:solidFill>
                  <a:srgbClr val="0D0D0D"/>
                </a:solidFill>
                <a:latin typeface="+mn-ea"/>
                <a:cs typeface="思源黑体 CN Normal" panose="020B0400000000000000" pitchFamily="34" charset="-122"/>
              </a:endParaRPr>
            </a:p>
          </p:txBody>
        </p:sp>
      </p:grpSp>
      <p:grpSp>
        <p:nvGrpSpPr>
          <p:cNvPr id="20" name="组合 19"/>
          <p:cNvGrpSpPr/>
          <p:nvPr/>
        </p:nvGrpSpPr>
        <p:grpSpPr>
          <a:xfrm>
            <a:off x="9599400" y="1282290"/>
            <a:ext cx="2052000" cy="807424"/>
            <a:chOff x="9688300" y="1180690"/>
            <a:chExt cx="2052000" cy="807424"/>
          </a:xfrm>
        </p:grpSpPr>
        <p:sp>
          <p:nvSpPr>
            <p:cNvPr id="40" name="文本框 39"/>
            <p:cNvSpPr txBox="1"/>
            <p:nvPr/>
          </p:nvSpPr>
          <p:spPr>
            <a:xfrm flipH="1">
              <a:off x="9688300" y="1180690"/>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销售业绩成效</a:t>
              </a:r>
              <a:endParaRPr lang="zh-CN" altLang="en-US" sz="1400" i="0" dirty="0">
                <a:solidFill>
                  <a:schemeClr val="bg1"/>
                </a:solidFill>
                <a:latin typeface="+mj-ea"/>
                <a:ea typeface="+mj-ea"/>
                <a:cs typeface="思源黑体 CN Normal" panose="020B0400000000000000" pitchFamily="34" charset="-122"/>
              </a:endParaRPr>
            </a:p>
          </p:txBody>
        </p:sp>
        <p:sp>
          <p:nvSpPr>
            <p:cNvPr id="41" name="文本框 40"/>
            <p:cNvSpPr txBox="1"/>
            <p:nvPr/>
          </p:nvSpPr>
          <p:spPr>
            <a:xfrm flipH="1">
              <a:off x="9688300" y="1587940"/>
              <a:ext cx="2052000"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latin typeface="+mn-ea"/>
                  <a:cs typeface="思源黑体 CN Normal" panose="020B0400000000000000" pitchFamily="34" charset="-122"/>
                </a:rPr>
                <a:t>上半年销售额达到</a:t>
              </a:r>
              <a:r>
                <a:rPr lang="en-US" altLang="zh-CN" sz="1200" b="0" i="0" dirty="0">
                  <a:solidFill>
                    <a:srgbClr val="0D0D0D"/>
                  </a:solidFill>
                  <a:latin typeface="+mn-ea"/>
                  <a:cs typeface="思源黑体 CN Normal" panose="020B0400000000000000" pitchFamily="34" charset="-122"/>
                </a:rPr>
                <a:t>3000</a:t>
              </a:r>
              <a:r>
                <a:rPr lang="zh-CN" altLang="en-US" sz="1200" b="0" i="0" dirty="0">
                  <a:solidFill>
                    <a:srgbClr val="0D0D0D"/>
                  </a:solidFill>
                  <a:latin typeface="+mn-ea"/>
                  <a:cs typeface="思源黑体 CN Normal" panose="020B0400000000000000" pitchFamily="34" charset="-122"/>
                </a:rPr>
                <a:t>万元，完成既定目标，效益提升</a:t>
              </a:r>
              <a:endParaRPr lang="zh-CN" altLang="en-US" sz="1200" b="0" i="0" dirty="0">
                <a:solidFill>
                  <a:srgbClr val="0D0D0D"/>
                </a:solidFill>
                <a:latin typeface="+mn-ea"/>
                <a:cs typeface="思源黑体 CN Normal" panose="020B0400000000000000" pitchFamily="34" charset="-122"/>
              </a:endParaRPr>
            </a:p>
          </p:txBody>
        </p:sp>
      </p:grpSp>
      <p:grpSp>
        <p:nvGrpSpPr>
          <p:cNvPr id="13" name="组合 12"/>
          <p:cNvGrpSpPr/>
          <p:nvPr/>
        </p:nvGrpSpPr>
        <p:grpSpPr>
          <a:xfrm>
            <a:off x="6675790" y="1838172"/>
            <a:ext cx="2275344" cy="2340080"/>
            <a:chOff x="7078136" y="1993361"/>
            <a:chExt cx="2089964" cy="2149425"/>
          </a:xfrm>
        </p:grpSpPr>
        <p:sp>
          <p:nvSpPr>
            <p:cNvPr id="132" name="文本框 131"/>
            <p:cNvSpPr txBox="1">
              <a:spLocks noChangeAspect="1"/>
            </p:cNvSpPr>
            <p:nvPr/>
          </p:nvSpPr>
          <p:spPr>
            <a:xfrm rot="15000000">
              <a:off x="7078135" y="1993362"/>
              <a:ext cx="2089965" cy="2089964"/>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品牌建设</a:t>
              </a:r>
              <a:endParaRPr lang="zh-CN" altLang="en-US" sz="1400" dirty="0">
                <a:solidFill>
                  <a:schemeClr val="tx2"/>
                </a:solidFill>
                <a:effectLst/>
                <a:cs typeface="思源黑体 CN Normal" panose="020B0400000000000000" pitchFamily="34" charset="-122"/>
              </a:endParaRPr>
            </a:p>
          </p:txBody>
        </p:sp>
        <p:sp>
          <p:nvSpPr>
            <p:cNvPr id="131" name="文本框 130"/>
            <p:cNvSpPr txBox="1">
              <a:spLocks noChangeAspect="1"/>
            </p:cNvSpPr>
            <p:nvPr/>
          </p:nvSpPr>
          <p:spPr>
            <a:xfrm>
              <a:off x="7078136" y="2052821"/>
              <a:ext cx="2089964" cy="2089965"/>
            </a:xfrm>
            <a:prstGeom prst="rect">
              <a:avLst/>
            </a:prstGeom>
            <a:noFill/>
          </p:spPr>
          <p:txBody>
            <a:bodyPr spcFirstLastPara="1" wrap="square" numCol="1">
              <a:prstTxWarp prst="textArchDown">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人才培养</a:t>
              </a:r>
              <a:endParaRPr lang="zh-CN" altLang="en-US" sz="1400" dirty="0">
                <a:solidFill>
                  <a:schemeClr val="tx2"/>
                </a:solidFill>
                <a:effectLst/>
                <a:cs typeface="思源黑体 CN Normal" panose="020B0400000000000000" pitchFamily="34" charset="-122"/>
              </a:endParaRPr>
            </a:p>
          </p:txBody>
        </p:sp>
        <p:sp>
          <p:nvSpPr>
            <p:cNvPr id="130" name="文本框 129"/>
            <p:cNvSpPr txBox="1">
              <a:spLocks noChangeAspect="1"/>
            </p:cNvSpPr>
            <p:nvPr/>
          </p:nvSpPr>
          <p:spPr>
            <a:xfrm rot="6600000">
              <a:off x="7078135" y="1993362"/>
              <a:ext cx="2089965" cy="2089964"/>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流程优化</a:t>
              </a:r>
              <a:endParaRPr lang="zh-CN" altLang="en-US" sz="1400" dirty="0">
                <a:solidFill>
                  <a:schemeClr val="tx2"/>
                </a:solidFill>
                <a:effectLst/>
                <a:cs typeface="思源黑体 CN Normal" panose="020B0400000000000000" pitchFamily="34" charset="-122"/>
              </a:endParaRPr>
            </a:p>
          </p:txBody>
        </p:sp>
        <p:sp>
          <p:nvSpPr>
            <p:cNvPr id="129" name="文本框 128"/>
            <p:cNvSpPr txBox="1">
              <a:spLocks noChangeAspect="1"/>
            </p:cNvSpPr>
            <p:nvPr/>
          </p:nvSpPr>
          <p:spPr>
            <a:xfrm rot="2400000">
              <a:off x="7078136" y="1993361"/>
              <a:ext cx="2089964" cy="2089965"/>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项目推进</a:t>
              </a:r>
              <a:endParaRPr lang="zh-CN" altLang="en-US" sz="1400" dirty="0">
                <a:solidFill>
                  <a:schemeClr val="tx2"/>
                </a:solidFill>
                <a:effectLst/>
                <a:cs typeface="思源黑体 CN Normal" panose="020B0400000000000000" pitchFamily="34" charset="-122"/>
              </a:endParaRPr>
            </a:p>
          </p:txBody>
        </p:sp>
        <p:sp>
          <p:nvSpPr>
            <p:cNvPr id="128" name="文本框 127"/>
            <p:cNvSpPr txBox="1">
              <a:spLocks noChangeAspect="1"/>
            </p:cNvSpPr>
            <p:nvPr/>
          </p:nvSpPr>
          <p:spPr>
            <a:xfrm rot="19200000">
              <a:off x="7078136" y="1993361"/>
              <a:ext cx="2089964" cy="2089965"/>
            </a:xfrm>
            <a:prstGeom prst="rect">
              <a:avLst/>
            </a:prstGeom>
            <a:noFill/>
          </p:spPr>
          <p:txBody>
            <a:bodyPr wrap="square">
              <a:prstTxWarp prst="textArchUp">
                <a:avLst/>
              </a:prstTxWarp>
              <a:noAutofit/>
            </a:bodyPr>
            <a:lstStyle/>
            <a:p>
              <a:pPr algn="ctr"/>
              <a:r>
                <a:rPr lang="zh-CN" altLang="en-US" sz="1400" i="0" dirty="0">
                  <a:solidFill>
                    <a:schemeClr val="tx2"/>
                  </a:solidFill>
                  <a:latin typeface="+mj-ea"/>
                  <a:ea typeface="+mj-ea"/>
                  <a:cs typeface="思源黑体 CN Normal" panose="020B0400000000000000" pitchFamily="34" charset="-122"/>
                </a:rPr>
                <a:t>业绩达成</a:t>
              </a:r>
              <a:endParaRPr lang="zh-CN" altLang="en-US" sz="1400" i="0" dirty="0">
                <a:solidFill>
                  <a:schemeClr val="tx2"/>
                </a:solidFill>
                <a:latin typeface="+mj-ea"/>
                <a:ea typeface="+mj-ea"/>
                <a:cs typeface="思源黑体 CN Normal" panose="020B0400000000000000" pitchFamily="34" charset="-122"/>
              </a:endParaRPr>
            </a:p>
          </p:txBody>
        </p:sp>
      </p:grpSp>
      <p:sp>
        <p:nvSpPr>
          <p:cNvPr id="93" name="椭圆 92"/>
          <p:cNvSpPr>
            <a:spLocks noChangeAspect="1"/>
          </p:cNvSpPr>
          <p:nvPr/>
        </p:nvSpPr>
        <p:spPr>
          <a:xfrm>
            <a:off x="6877635" y="2027070"/>
            <a:ext cx="1871654" cy="18716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4" name="文本框 93"/>
          <p:cNvSpPr txBox="1"/>
          <p:nvPr/>
        </p:nvSpPr>
        <p:spPr>
          <a:xfrm>
            <a:off x="6895985" y="3017527"/>
            <a:ext cx="1834955" cy="400110"/>
          </a:xfrm>
          <a:prstGeom prst="rect">
            <a:avLst/>
          </a:prstGeom>
          <a:noFill/>
        </p:spPr>
        <p:txBody>
          <a:bodyPr wrap="square">
            <a:spAutoFit/>
          </a:bodyPr>
          <a:lstStyle/>
          <a:p>
            <a:pPr algn="ctr"/>
            <a:r>
              <a:rPr lang="zh-CN" altLang="en-US" sz="200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成效与进度</a:t>
            </a:r>
            <a:endParaRPr lang="zh-CN" altLang="en-US" sz="200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180" name="图形 179"/>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529623" y="2357185"/>
            <a:ext cx="567679" cy="567679"/>
          </a:xfrm>
          <a:prstGeom prst="rect">
            <a:avLst/>
          </a:prstGeom>
          <a:effectLst/>
        </p:spPr>
      </p:pic>
      <p:grpSp>
        <p:nvGrpSpPr>
          <p:cNvPr id="119" name="组合 118"/>
          <p:cNvGrpSpPr>
            <a:grpSpLocks noChangeAspect="1"/>
          </p:cNvGrpSpPr>
          <p:nvPr/>
        </p:nvGrpSpPr>
        <p:grpSpPr>
          <a:xfrm>
            <a:off x="3252740" y="1838172"/>
            <a:ext cx="2275344" cy="2340080"/>
            <a:chOff x="2859583" y="1877590"/>
            <a:chExt cx="2160000" cy="2221452"/>
          </a:xfrm>
        </p:grpSpPr>
        <p:sp>
          <p:nvSpPr>
            <p:cNvPr id="105" name="文本框 104"/>
            <p:cNvSpPr txBox="1">
              <a:spLocks noChangeAspect="1"/>
            </p:cNvSpPr>
            <p:nvPr/>
          </p:nvSpPr>
          <p:spPr>
            <a:xfrm rot="19200000">
              <a:off x="2859583" y="1877590"/>
              <a:ext cx="2160000" cy="2160000"/>
            </a:xfrm>
            <a:prstGeom prst="rect">
              <a:avLst/>
            </a:prstGeom>
            <a:noFill/>
          </p:spPr>
          <p:txBody>
            <a:bodyPr wrap="square">
              <a:prstTxWarp prst="textArchUp">
                <a:avLst/>
              </a:prstTxWarp>
              <a:noAutofit/>
            </a:bodyPr>
            <a:lstStyle/>
            <a:p>
              <a:pPr algn="ctr"/>
              <a:r>
                <a:rPr lang="zh-CN" altLang="en-US" sz="1400" i="0" dirty="0">
                  <a:solidFill>
                    <a:schemeClr val="tx2"/>
                  </a:solidFill>
                  <a:latin typeface="+mj-ea"/>
                  <a:ea typeface="+mj-ea"/>
                  <a:cs typeface="思源黑体 CN Normal" panose="020B0400000000000000" pitchFamily="34" charset="-122"/>
                </a:rPr>
                <a:t>市场拓展</a:t>
              </a:r>
              <a:endParaRPr lang="zh-CN" altLang="en-US" sz="1400" i="0" dirty="0">
                <a:solidFill>
                  <a:schemeClr val="tx2"/>
                </a:solidFill>
                <a:latin typeface="+mj-ea"/>
                <a:ea typeface="+mj-ea"/>
                <a:cs typeface="思源黑体 CN Normal" panose="020B0400000000000000" pitchFamily="34" charset="-122"/>
              </a:endParaRPr>
            </a:p>
          </p:txBody>
        </p:sp>
        <p:sp>
          <p:nvSpPr>
            <p:cNvPr id="108" name="文本框 107"/>
            <p:cNvSpPr txBox="1">
              <a:spLocks noChangeAspect="1"/>
            </p:cNvSpPr>
            <p:nvPr/>
          </p:nvSpPr>
          <p:spPr>
            <a:xfrm rot="2400000">
              <a:off x="2859583" y="1877590"/>
              <a:ext cx="2160000" cy="2160000"/>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产品研发</a:t>
              </a:r>
              <a:endParaRPr lang="zh-CN" altLang="en-US" sz="1400" dirty="0">
                <a:solidFill>
                  <a:schemeClr val="tx2"/>
                </a:solidFill>
                <a:effectLst/>
                <a:cs typeface="思源黑体 CN Normal" panose="020B0400000000000000" pitchFamily="34" charset="-122"/>
              </a:endParaRPr>
            </a:p>
          </p:txBody>
        </p:sp>
        <p:sp>
          <p:nvSpPr>
            <p:cNvPr id="111" name="文本框 110"/>
            <p:cNvSpPr txBox="1">
              <a:spLocks noChangeAspect="1"/>
            </p:cNvSpPr>
            <p:nvPr/>
          </p:nvSpPr>
          <p:spPr>
            <a:xfrm rot="6600000">
              <a:off x="2859583" y="1877590"/>
              <a:ext cx="2160000" cy="2160000"/>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客户维护</a:t>
              </a:r>
              <a:endParaRPr lang="zh-CN" altLang="en-US" sz="1400" dirty="0">
                <a:solidFill>
                  <a:schemeClr val="tx2"/>
                </a:solidFill>
                <a:effectLst/>
                <a:cs typeface="思源黑体 CN Normal" panose="020B0400000000000000" pitchFamily="34" charset="-122"/>
              </a:endParaRPr>
            </a:p>
          </p:txBody>
        </p:sp>
        <p:sp>
          <p:nvSpPr>
            <p:cNvPr id="114" name="文本框 113"/>
            <p:cNvSpPr txBox="1">
              <a:spLocks noChangeAspect="1"/>
            </p:cNvSpPr>
            <p:nvPr/>
          </p:nvSpPr>
          <p:spPr>
            <a:xfrm>
              <a:off x="2859583" y="1939042"/>
              <a:ext cx="2160000" cy="2160000"/>
            </a:xfrm>
            <a:prstGeom prst="rect">
              <a:avLst/>
            </a:prstGeom>
            <a:noFill/>
          </p:spPr>
          <p:txBody>
            <a:bodyPr spcFirstLastPara="1" wrap="square" numCol="1">
              <a:prstTxWarp prst="textArchDown">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团队建设</a:t>
              </a:r>
              <a:endParaRPr lang="zh-CN" altLang="en-US" sz="1400" dirty="0">
                <a:solidFill>
                  <a:schemeClr val="tx2"/>
                </a:solidFill>
                <a:effectLst/>
                <a:cs typeface="思源黑体 CN Normal" panose="020B0400000000000000" pitchFamily="34" charset="-122"/>
              </a:endParaRPr>
            </a:p>
          </p:txBody>
        </p:sp>
        <p:sp>
          <p:nvSpPr>
            <p:cNvPr id="117" name="文本框 116"/>
            <p:cNvSpPr txBox="1">
              <a:spLocks noChangeAspect="1"/>
            </p:cNvSpPr>
            <p:nvPr/>
          </p:nvSpPr>
          <p:spPr>
            <a:xfrm rot="15000000">
              <a:off x="2859583" y="1877590"/>
              <a:ext cx="2160000" cy="2160000"/>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成本控制</a:t>
              </a:r>
              <a:endParaRPr lang="zh-CN" altLang="en-US" sz="1400" dirty="0">
                <a:solidFill>
                  <a:schemeClr val="tx2"/>
                </a:solidFill>
                <a:effectLst/>
                <a:cs typeface="思源黑体 CN Normal" panose="020B0400000000000000" pitchFamily="34" charset="-122"/>
              </a:endParaRPr>
            </a:p>
          </p:txBody>
        </p:sp>
      </p:grpSp>
      <p:sp>
        <p:nvSpPr>
          <p:cNvPr id="80" name="椭圆 79"/>
          <p:cNvSpPr>
            <a:spLocks noChangeAspect="1"/>
          </p:cNvSpPr>
          <p:nvPr/>
        </p:nvSpPr>
        <p:spPr>
          <a:xfrm>
            <a:off x="3442711" y="2027070"/>
            <a:ext cx="1871654" cy="18716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7" name="文本框 76"/>
          <p:cNvSpPr txBox="1"/>
          <p:nvPr/>
        </p:nvSpPr>
        <p:spPr>
          <a:xfrm>
            <a:off x="3472935" y="3017527"/>
            <a:ext cx="1834955" cy="400110"/>
          </a:xfrm>
          <a:prstGeom prst="rect">
            <a:avLst/>
          </a:prstGeom>
          <a:noFill/>
        </p:spPr>
        <p:txBody>
          <a:bodyPr wrap="square">
            <a:spAutoFit/>
          </a:bodyPr>
          <a:lstStyle/>
          <a:p>
            <a:pPr algn="ctr"/>
            <a:r>
              <a:rPr lang="zh-CN" altLang="en-US" sz="200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成果与进展</a:t>
            </a:r>
            <a:endParaRPr lang="zh-CN" altLang="en-US" sz="20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182" name="图形 181"/>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85304" y="2357185"/>
            <a:ext cx="568301" cy="568302"/>
          </a:xfrm>
          <a:prstGeom prst="rect">
            <a:avLst/>
          </a:prstGeom>
          <a:effectLst/>
        </p:spPr>
      </p:pic>
      <p:sp>
        <p:nvSpPr>
          <p:cNvPr id="60" name="箭头: 左右 59"/>
          <p:cNvSpPr/>
          <p:nvPr/>
        </p:nvSpPr>
        <p:spPr>
          <a:xfrm>
            <a:off x="5775595" y="2788016"/>
            <a:ext cx="640810" cy="412756"/>
          </a:xfrm>
          <a:prstGeom prst="leftRightArrow">
            <a:avLst>
              <a:gd name="adj1" fmla="val 55727"/>
              <a:gd name="adj2" fmla="val 40430"/>
            </a:avLst>
          </a:prstGeom>
          <a:ln w="6350" cap="rnd">
            <a:solidFill>
              <a:schemeClr val="bg1"/>
            </a:solidFill>
            <a:round/>
          </a:ln>
          <a:effectLst>
            <a:outerShdw blurRad="635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66" name="组合 65"/>
          <p:cNvGrpSpPr/>
          <p:nvPr/>
        </p:nvGrpSpPr>
        <p:grpSpPr>
          <a:xfrm>
            <a:off x="5842123" y="2207513"/>
            <a:ext cx="507763" cy="1642254"/>
            <a:chOff x="5866288" y="2330426"/>
            <a:chExt cx="466394" cy="1508453"/>
          </a:xfrm>
        </p:grpSpPr>
        <p:sp>
          <p:nvSpPr>
            <p:cNvPr id="64" name="文本框 63"/>
            <p:cNvSpPr txBox="1"/>
            <p:nvPr/>
          </p:nvSpPr>
          <p:spPr>
            <a:xfrm>
              <a:off x="5866293" y="2330426"/>
              <a:ext cx="466389" cy="579537"/>
            </a:xfrm>
            <a:prstGeom prst="rect">
              <a:avLst/>
            </a:prstGeom>
            <a:noFill/>
          </p:spPr>
          <p:txBody>
            <a:bodyPr wrap="square">
              <a:spAutoFit/>
            </a:bodyPr>
            <a:lstStyle/>
            <a:p>
              <a:pPr algn="ctr">
                <a:lnSpc>
                  <a:spcPts val="2100"/>
                </a:lnSpc>
                <a:buNone/>
              </a:pPr>
              <a:r>
                <a:rPr lang="zh-CN" altLang="en-US" i="0" dirty="0">
                  <a:solidFill>
                    <a:schemeClr val="tx2"/>
                  </a:solidFill>
                  <a:effectLst/>
                  <a:latin typeface="+mj-ea"/>
                  <a:ea typeface="+mj-ea"/>
                  <a:cs typeface="思源黑体 CN Normal" panose="020B0400000000000000" pitchFamily="34" charset="-122"/>
                </a:rPr>
                <a:t>协同</a:t>
              </a:r>
              <a:endParaRPr lang="zh-CN" altLang="en-US" i="0" dirty="0">
                <a:solidFill>
                  <a:schemeClr val="tx2"/>
                </a:solidFill>
                <a:effectLst/>
                <a:latin typeface="+mj-ea"/>
                <a:ea typeface="+mj-ea"/>
                <a:cs typeface="思源黑体 CN Normal" panose="020B0400000000000000" pitchFamily="34" charset="-122"/>
              </a:endParaRPr>
            </a:p>
          </p:txBody>
        </p:sp>
        <p:sp>
          <p:nvSpPr>
            <p:cNvPr id="65" name="文本框 64"/>
            <p:cNvSpPr txBox="1"/>
            <p:nvPr/>
          </p:nvSpPr>
          <p:spPr>
            <a:xfrm>
              <a:off x="5866288" y="3259342"/>
              <a:ext cx="466389" cy="579537"/>
            </a:xfrm>
            <a:prstGeom prst="rect">
              <a:avLst/>
            </a:prstGeom>
            <a:noFill/>
          </p:spPr>
          <p:txBody>
            <a:bodyPr wrap="square">
              <a:spAutoFit/>
            </a:bodyPr>
            <a:lstStyle/>
            <a:p>
              <a:pPr algn="ctr">
                <a:lnSpc>
                  <a:spcPts val="2100"/>
                </a:lnSpc>
                <a:buNone/>
              </a:pPr>
              <a:r>
                <a:rPr lang="zh-CN" altLang="en-US" i="0" dirty="0">
                  <a:solidFill>
                    <a:schemeClr val="tx2"/>
                  </a:solidFill>
                  <a:effectLst/>
                  <a:latin typeface="+mj-ea"/>
                  <a:ea typeface="+mj-ea"/>
                  <a:cs typeface="思源黑体 CN Normal" panose="020B0400000000000000" pitchFamily="34" charset="-122"/>
                </a:rPr>
                <a:t>共进</a:t>
              </a:r>
              <a:endParaRPr lang="zh-CN" altLang="en-US" i="0" dirty="0">
                <a:solidFill>
                  <a:schemeClr val="tx2"/>
                </a:solidFill>
                <a:effectLst/>
                <a:latin typeface="+mj-ea"/>
                <a:ea typeface="+mj-ea"/>
                <a:cs typeface="思源黑体 CN Normal" panose="020B0400000000000000" pitchFamily="34" charset="-122"/>
              </a:endParaRPr>
            </a:p>
          </p:txBody>
        </p:sp>
      </p:grpSp>
    </p:spTree>
    <p:custDataLst>
      <p:tags r:id="rId1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sp>
        <p:nvSpPr>
          <p:cNvPr id="12" name="文本框 11"/>
          <p:cNvSpPr txBox="1"/>
          <p:nvPr/>
        </p:nvSpPr>
        <p:spPr>
          <a:xfrm>
            <a:off x="336000" y="822791"/>
            <a:ext cx="11520000" cy="468000"/>
          </a:xfrm>
          <a:prstGeom prst="rect">
            <a:avLst/>
          </a:prstGeom>
          <a:solidFill>
            <a:schemeClr val="accent1"/>
          </a:solidFill>
          <a:ln w="6350">
            <a:noFill/>
          </a:ln>
          <a:effectLst>
            <a:outerShdw blurRad="127000" dist="63500" dir="5400000" algn="t"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defPPr>
              <a:defRPr lang="zh-CN"/>
            </a:defPPr>
            <a:lvl1pPr algn="ctr">
              <a:defRPr sz="1945">
                <a:solidFill>
                  <a:schemeClr val="bg1"/>
                </a:solidFill>
                <a:effectLst>
                  <a:outerShdw blurRad="137160" dist="41148" dir="2699997" algn="tl">
                    <a:srgbClr val="000000">
                      <a:alpha val="40000"/>
                    </a:srgbClr>
                  </a:outerShdw>
                </a:effectLst>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effectLst/>
                <a:cs typeface="思源黑体 CN Normal" panose="020B0400000000000000" pitchFamily="34" charset="-122"/>
              </a:rPr>
              <a:t>市场和项目两块的成果分析</a:t>
            </a:r>
            <a:endParaRPr lang="zh-CN" altLang="en-US" sz="2400" dirty="0">
              <a:effectLst/>
              <a:cs typeface="思源黑体 CN Normal" panose="020B0400000000000000" pitchFamily="34" charset="-122"/>
            </a:endParaRPr>
          </a:p>
        </p:txBody>
      </p:sp>
      <p:grpSp>
        <p:nvGrpSpPr>
          <p:cNvPr id="278" name="组合 277"/>
          <p:cNvGrpSpPr/>
          <p:nvPr/>
        </p:nvGrpSpPr>
        <p:grpSpPr>
          <a:xfrm>
            <a:off x="4072859" y="1446917"/>
            <a:ext cx="4046283" cy="3240000"/>
            <a:chOff x="4288186" y="1654348"/>
            <a:chExt cx="4046283" cy="3240000"/>
          </a:xfrm>
        </p:grpSpPr>
        <p:sp>
          <p:nvSpPr>
            <p:cNvPr id="35" name="不完整圆 34"/>
            <p:cNvSpPr>
              <a:spLocks noChangeAspect="1"/>
            </p:cNvSpPr>
            <p:nvPr/>
          </p:nvSpPr>
          <p:spPr>
            <a:xfrm>
              <a:off x="4288186" y="1654348"/>
              <a:ext cx="3240000" cy="3240000"/>
            </a:xfrm>
            <a:prstGeom prst="pie">
              <a:avLst>
                <a:gd name="adj1" fmla="val 7054208"/>
                <a:gd name="adj2" fmla="val 1444491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Normal" panose="020B0400000000000000" pitchFamily="34" charset="-122"/>
                <a:cs typeface="思源黑体 CN Normal" panose="020B0400000000000000" pitchFamily="34" charset="-122"/>
              </a:endParaRPr>
            </a:p>
          </p:txBody>
        </p:sp>
        <p:sp>
          <p:nvSpPr>
            <p:cNvPr id="36" name="不完整圆 35"/>
            <p:cNvSpPr>
              <a:spLocks noChangeAspect="1"/>
            </p:cNvSpPr>
            <p:nvPr/>
          </p:nvSpPr>
          <p:spPr>
            <a:xfrm flipH="1">
              <a:off x="5094469" y="1654348"/>
              <a:ext cx="3240000" cy="3240000"/>
            </a:xfrm>
            <a:prstGeom prst="pie">
              <a:avLst>
                <a:gd name="adj1" fmla="val 7054208"/>
                <a:gd name="adj2" fmla="val 1444491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Normal" panose="020B0400000000000000" pitchFamily="34" charset="-122"/>
                <a:cs typeface="思源黑体 CN Normal" panose="020B0400000000000000" pitchFamily="34" charset="-122"/>
              </a:endParaRPr>
            </a:p>
          </p:txBody>
        </p:sp>
      </p:grpSp>
      <p:grpSp>
        <p:nvGrpSpPr>
          <p:cNvPr id="277" name="组合 276"/>
          <p:cNvGrpSpPr/>
          <p:nvPr/>
        </p:nvGrpSpPr>
        <p:grpSpPr>
          <a:xfrm>
            <a:off x="4391286" y="1343726"/>
            <a:ext cx="3414056" cy="3414056"/>
            <a:chOff x="4572409" y="1567180"/>
            <a:chExt cx="3051809" cy="3051809"/>
          </a:xfrm>
        </p:grpSpPr>
        <p:sp>
          <p:nvSpPr>
            <p:cNvPr id="14" name="大圆"/>
            <p:cNvSpPr/>
            <p:nvPr/>
          </p:nvSpPr>
          <p:spPr>
            <a:xfrm>
              <a:off x="4572409" y="1567180"/>
              <a:ext cx="3051809" cy="3051809"/>
            </a:xfrm>
            <a:prstGeom prst="donut">
              <a:avLst>
                <a:gd name="adj" fmla="val 15439"/>
              </a:avLst>
            </a:prstGeom>
            <a:gradFill>
              <a:gsLst>
                <a:gs pos="0">
                  <a:schemeClr val="accent2">
                    <a:alpha val="0"/>
                  </a:schemeClr>
                </a:gs>
                <a:gs pos="97126">
                  <a:schemeClr val="accent2">
                    <a:alpha val="0"/>
                  </a:schemeClr>
                </a:gs>
                <a:gs pos="50000">
                  <a:schemeClr val="accent2">
                    <a:alpha val="1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Normal" panose="020B0400000000000000" pitchFamily="34" charset="-122"/>
                <a:cs typeface="思源黑体 CN Normal" panose="020B0400000000000000" pitchFamily="34" charset="-122"/>
              </a:endParaRPr>
            </a:p>
          </p:txBody>
        </p:sp>
        <p:sp>
          <p:nvSpPr>
            <p:cNvPr id="16" name="圆形"/>
            <p:cNvSpPr/>
            <p:nvPr/>
          </p:nvSpPr>
          <p:spPr>
            <a:xfrm>
              <a:off x="4855169" y="1849940"/>
              <a:ext cx="2486291" cy="2486291"/>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2296" tIns="41148" rIns="82296" bIns="41148" rtlCol="0" anchor="ctr"/>
            <a:lstStyle/>
            <a:p>
              <a:pPr algn="ctr"/>
              <a:endParaRPr lang="zh-CN" altLang="en-US" sz="20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8" name="组合 7"/>
          <p:cNvGrpSpPr/>
          <p:nvPr/>
        </p:nvGrpSpPr>
        <p:grpSpPr>
          <a:xfrm>
            <a:off x="336000" y="1680035"/>
            <a:ext cx="1800000" cy="2773764"/>
            <a:chOff x="336000" y="1534761"/>
            <a:chExt cx="1800000" cy="2773764"/>
          </a:xfrm>
        </p:grpSpPr>
        <p:sp>
          <p:nvSpPr>
            <p:cNvPr id="197" name="矩形: 圆角 196"/>
            <p:cNvSpPr/>
            <p:nvPr/>
          </p:nvSpPr>
          <p:spPr>
            <a:xfrm>
              <a:off x="336000" y="1824525"/>
              <a:ext cx="1800000" cy="2484000"/>
            </a:xfrm>
            <a:prstGeom prst="roundRect">
              <a:avLst>
                <a:gd name="adj" fmla="val 0"/>
              </a:avLst>
            </a:prstGeom>
            <a:noFill/>
            <a:ln w="3175">
              <a:gradFill>
                <a:gsLst>
                  <a:gs pos="0">
                    <a:schemeClr val="accent1"/>
                  </a:gs>
                  <a:gs pos="100000">
                    <a:schemeClr val="accent1">
                      <a:lumMod val="30000"/>
                      <a:lumOff val="70000"/>
                    </a:schemeClr>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98" name="矩形: 剪去单角 197"/>
            <p:cNvSpPr/>
            <p:nvPr/>
          </p:nvSpPr>
          <p:spPr>
            <a:xfrm>
              <a:off x="336000" y="1534761"/>
              <a:ext cx="1800000" cy="360000"/>
            </a:xfrm>
            <a:prstGeom prst="snip1Rect">
              <a:avLst/>
            </a:prstGeom>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市场破局成果凸显</a:t>
              </a:r>
              <a:endParaRPr lang="zh-CN" altLang="en-US"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91" name="文本框 190"/>
          <p:cNvSpPr txBox="1"/>
          <p:nvPr/>
        </p:nvSpPr>
        <p:spPr>
          <a:xfrm>
            <a:off x="678000" y="2215772"/>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buNone/>
            </a:pPr>
            <a:r>
              <a:rPr lang="zh-CN" altLang="en-US" sz="1200" i="0" dirty="0">
                <a:solidFill>
                  <a:schemeClr val="tx2"/>
                </a:solidFill>
                <a:effectLst/>
                <a:latin typeface="+mj-ea"/>
                <a:ea typeface="+mj-ea"/>
                <a:cs typeface="思源黑体 CN Normal" panose="020B0400000000000000" pitchFamily="34" charset="-122"/>
              </a:rPr>
              <a:t>客引高效</a:t>
            </a:r>
            <a:endParaRPr lang="zh-CN" altLang="en-US" sz="1200" i="0" dirty="0">
              <a:solidFill>
                <a:schemeClr val="tx2"/>
              </a:solidFill>
              <a:effectLst/>
              <a:latin typeface="+mj-ea"/>
              <a:ea typeface="+mj-ea"/>
              <a:cs typeface="思源黑体 CN Normal" panose="020B0400000000000000" pitchFamily="34" charset="-122"/>
            </a:endParaRPr>
          </a:p>
        </p:txBody>
      </p:sp>
      <p:sp>
        <p:nvSpPr>
          <p:cNvPr id="192" name="文本框 191"/>
          <p:cNvSpPr txBox="1"/>
          <p:nvPr/>
        </p:nvSpPr>
        <p:spPr>
          <a:xfrm>
            <a:off x="408000" y="2477431"/>
            <a:ext cx="1656000" cy="270074"/>
          </a:xfrm>
          <a:prstGeom prst="rect">
            <a:avLst/>
          </a:prstGeom>
          <a:noFill/>
        </p:spPr>
        <p:txBody>
          <a:bodyPr wrap="square">
            <a:spAutoFit/>
          </a:bodyPr>
          <a:lstStyle/>
          <a:p>
            <a:pPr algn="ctr" latinLnBrk="0">
              <a:lnSpc>
                <a:spcPct val="110000"/>
              </a:lnSpc>
              <a:buNone/>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上半年引新客 </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8000 </a:t>
            </a: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人</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202" name="文本框 201"/>
          <p:cNvSpPr txBox="1"/>
          <p:nvPr/>
        </p:nvSpPr>
        <p:spPr>
          <a:xfrm flipH="1">
            <a:off x="10398000" y="2215772"/>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buNone/>
            </a:pPr>
            <a:r>
              <a:rPr lang="zh-CN" altLang="en-US" sz="1200" i="0" dirty="0">
                <a:solidFill>
                  <a:schemeClr val="tx2"/>
                </a:solidFill>
                <a:effectLst/>
                <a:latin typeface="+mj-ea"/>
                <a:ea typeface="+mj-ea"/>
                <a:cs typeface="思源黑体 CN Normal" panose="020B0400000000000000" pitchFamily="34" charset="-122"/>
              </a:rPr>
              <a:t>技难攻克</a:t>
            </a:r>
            <a:endParaRPr lang="zh-CN" altLang="en-US" sz="1200" i="0" dirty="0">
              <a:solidFill>
                <a:schemeClr val="tx2"/>
              </a:solidFill>
              <a:effectLst/>
              <a:latin typeface="+mj-ea"/>
              <a:ea typeface="+mj-ea"/>
              <a:cs typeface="思源黑体 CN Normal" panose="020B0400000000000000" pitchFamily="34" charset="-122"/>
            </a:endParaRPr>
          </a:p>
        </p:txBody>
      </p:sp>
      <p:sp>
        <p:nvSpPr>
          <p:cNvPr id="203" name="文本框 202"/>
          <p:cNvSpPr txBox="1"/>
          <p:nvPr/>
        </p:nvSpPr>
        <p:spPr>
          <a:xfrm flipH="1">
            <a:off x="10128000" y="2477431"/>
            <a:ext cx="1656000" cy="443776"/>
          </a:xfrm>
          <a:prstGeom prst="rect">
            <a:avLst/>
          </a:prstGeom>
          <a:noFill/>
        </p:spPr>
        <p:txBody>
          <a:bodyPr wrap="square">
            <a:spAutoFit/>
          </a:bodyPr>
          <a:lstStyle/>
          <a:p>
            <a:pPr algn="ctr" latinLnBrk="0">
              <a:lnSpc>
                <a:spcPct val="110000"/>
              </a:lnSpc>
              <a:buNone/>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团队攻关，准确率达 </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98%</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93" name="文本框 192"/>
          <p:cNvSpPr txBox="1"/>
          <p:nvPr/>
        </p:nvSpPr>
        <p:spPr>
          <a:xfrm>
            <a:off x="678000" y="2967649"/>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r>
              <a:rPr lang="zh-CN" altLang="en-US" sz="1200" i="0" dirty="0">
                <a:solidFill>
                  <a:schemeClr val="tx2"/>
                </a:solidFill>
                <a:effectLst/>
                <a:latin typeface="+mj-ea"/>
                <a:ea typeface="+mj-ea"/>
                <a:cs typeface="思源黑体 CN Normal" panose="020B0400000000000000" pitchFamily="34" charset="-122"/>
              </a:rPr>
              <a:t>牌扩显著</a:t>
            </a:r>
            <a:endParaRPr lang="zh-CN" altLang="en-US" sz="1200" i="0" dirty="0">
              <a:solidFill>
                <a:schemeClr val="tx2"/>
              </a:solidFill>
              <a:effectLst/>
              <a:latin typeface="+mj-ea"/>
              <a:ea typeface="+mj-ea"/>
              <a:cs typeface="思源黑体 CN Normal" panose="020B0400000000000000" pitchFamily="34" charset="-122"/>
            </a:endParaRPr>
          </a:p>
        </p:txBody>
      </p:sp>
      <p:sp>
        <p:nvSpPr>
          <p:cNvPr id="194" name="文本框 193"/>
          <p:cNvSpPr txBox="1"/>
          <p:nvPr/>
        </p:nvSpPr>
        <p:spPr>
          <a:xfrm>
            <a:off x="408000" y="3229308"/>
            <a:ext cx="1656000" cy="270074"/>
          </a:xfrm>
          <a:prstGeom prst="rect">
            <a:avLst/>
          </a:prstGeom>
          <a:noFill/>
        </p:spPr>
        <p:txBody>
          <a:bodyPr wrap="square">
            <a:spAutoFit/>
          </a:bodyPr>
          <a:lstStyle/>
          <a:p>
            <a:pPr algn="ctr" latinLnBrk="0">
              <a:lnSpc>
                <a:spcPct val="110000"/>
              </a:lnSpc>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社交媒体曝光 </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500 </a:t>
            </a: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万次</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204" name="文本框 203"/>
          <p:cNvSpPr txBox="1"/>
          <p:nvPr/>
        </p:nvSpPr>
        <p:spPr>
          <a:xfrm flipH="1">
            <a:off x="10398000" y="2967649"/>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r>
              <a:rPr lang="zh-CN" altLang="en-US" sz="1200" i="0" dirty="0">
                <a:solidFill>
                  <a:schemeClr val="tx2"/>
                </a:solidFill>
                <a:effectLst/>
                <a:latin typeface="+mj-ea"/>
                <a:ea typeface="+mj-ea"/>
                <a:cs typeface="思源黑体 CN Normal" panose="020B0400000000000000" pitchFamily="34" charset="-122"/>
              </a:rPr>
              <a:t>进速掌控</a:t>
            </a:r>
            <a:endParaRPr lang="zh-CN" altLang="en-US" sz="1200" i="0" dirty="0">
              <a:solidFill>
                <a:schemeClr val="tx2"/>
              </a:solidFill>
              <a:effectLst/>
              <a:latin typeface="+mj-ea"/>
              <a:ea typeface="+mj-ea"/>
              <a:cs typeface="思源黑体 CN Normal" panose="020B0400000000000000" pitchFamily="34" charset="-122"/>
            </a:endParaRPr>
          </a:p>
        </p:txBody>
      </p:sp>
      <p:sp>
        <p:nvSpPr>
          <p:cNvPr id="205" name="文本框 204"/>
          <p:cNvSpPr txBox="1"/>
          <p:nvPr/>
        </p:nvSpPr>
        <p:spPr>
          <a:xfrm flipH="1">
            <a:off x="10128000" y="3229308"/>
            <a:ext cx="1656000" cy="270074"/>
          </a:xfrm>
          <a:prstGeom prst="rect">
            <a:avLst/>
          </a:prstGeom>
          <a:noFill/>
        </p:spPr>
        <p:txBody>
          <a:bodyPr wrap="square">
            <a:spAutoFit/>
          </a:bodyPr>
          <a:lstStyle/>
          <a:p>
            <a:pPr algn="ctr" latinLnBrk="0">
              <a:lnSpc>
                <a:spcPct val="110000"/>
              </a:lnSpc>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跟踪及时解难，完成测试</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95" name="文本框 194"/>
          <p:cNvSpPr txBox="1"/>
          <p:nvPr/>
        </p:nvSpPr>
        <p:spPr>
          <a:xfrm>
            <a:off x="678000" y="3719526"/>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r>
              <a:rPr lang="zh-CN" altLang="en-US" sz="1200" i="0" dirty="0">
                <a:solidFill>
                  <a:schemeClr val="tx2"/>
                </a:solidFill>
                <a:effectLst/>
                <a:latin typeface="+mj-ea"/>
                <a:ea typeface="+mj-ea"/>
                <a:cs typeface="思源黑体 CN Normal" panose="020B0400000000000000" pitchFamily="34" charset="-122"/>
              </a:rPr>
              <a:t>渠拓增绩</a:t>
            </a:r>
            <a:endParaRPr lang="zh-CN" altLang="en-US" sz="1200" i="0" dirty="0">
              <a:solidFill>
                <a:schemeClr val="tx2"/>
              </a:solidFill>
              <a:effectLst/>
              <a:latin typeface="+mj-ea"/>
              <a:ea typeface="+mj-ea"/>
              <a:cs typeface="思源黑体 CN Normal" panose="020B0400000000000000" pitchFamily="34" charset="-122"/>
            </a:endParaRPr>
          </a:p>
        </p:txBody>
      </p:sp>
      <p:sp>
        <p:nvSpPr>
          <p:cNvPr id="196" name="文本框 195"/>
          <p:cNvSpPr txBox="1"/>
          <p:nvPr/>
        </p:nvSpPr>
        <p:spPr>
          <a:xfrm>
            <a:off x="408000" y="3981187"/>
            <a:ext cx="1656000" cy="270074"/>
          </a:xfrm>
          <a:prstGeom prst="rect">
            <a:avLst/>
          </a:prstGeom>
          <a:noFill/>
        </p:spPr>
        <p:txBody>
          <a:bodyPr wrap="square">
            <a:spAutoFit/>
          </a:bodyPr>
          <a:lstStyle/>
          <a:p>
            <a:pPr algn="ctr" latinLnBrk="0">
              <a:lnSpc>
                <a:spcPct val="110000"/>
              </a:lnSpc>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新增渠道市场份额</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18%</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206" name="文本框 205"/>
          <p:cNvSpPr txBox="1"/>
          <p:nvPr/>
        </p:nvSpPr>
        <p:spPr>
          <a:xfrm flipH="1">
            <a:off x="10398000" y="3719526"/>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r>
              <a:rPr lang="zh-CN" altLang="en-US" sz="1200" i="0" dirty="0">
                <a:solidFill>
                  <a:schemeClr val="tx2"/>
                </a:solidFill>
                <a:effectLst/>
                <a:latin typeface="+mj-ea"/>
                <a:ea typeface="+mj-ea"/>
                <a:cs typeface="思源黑体 CN Normal" panose="020B0400000000000000" pitchFamily="34" charset="-122"/>
              </a:rPr>
              <a:t>质优保障</a:t>
            </a:r>
            <a:endParaRPr lang="zh-CN" altLang="en-US" sz="1200" i="0" dirty="0">
              <a:solidFill>
                <a:schemeClr val="tx2"/>
              </a:solidFill>
              <a:effectLst/>
              <a:latin typeface="+mj-ea"/>
              <a:ea typeface="+mj-ea"/>
              <a:cs typeface="思源黑体 CN Normal" panose="020B0400000000000000" pitchFamily="34" charset="-122"/>
            </a:endParaRPr>
          </a:p>
        </p:txBody>
      </p:sp>
      <p:sp>
        <p:nvSpPr>
          <p:cNvPr id="207" name="文本框 206"/>
          <p:cNvSpPr txBox="1"/>
          <p:nvPr/>
        </p:nvSpPr>
        <p:spPr>
          <a:xfrm flipH="1">
            <a:off x="10127999" y="3981187"/>
            <a:ext cx="1672523" cy="443776"/>
          </a:xfrm>
          <a:prstGeom prst="rect">
            <a:avLst/>
          </a:prstGeom>
          <a:noFill/>
        </p:spPr>
        <p:txBody>
          <a:bodyPr wrap="square">
            <a:spAutoFit/>
          </a:bodyPr>
          <a:lstStyle/>
          <a:p>
            <a:pPr algn="ctr" latinLnBrk="0">
              <a:lnSpc>
                <a:spcPct val="110000"/>
              </a:lnSpc>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环节严检产品通过率 </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95%</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grpSp>
        <p:nvGrpSpPr>
          <p:cNvPr id="9" name="组合 8"/>
          <p:cNvGrpSpPr/>
          <p:nvPr/>
        </p:nvGrpSpPr>
        <p:grpSpPr>
          <a:xfrm>
            <a:off x="10056000" y="1680035"/>
            <a:ext cx="1800000" cy="2773764"/>
            <a:chOff x="10056000" y="1534761"/>
            <a:chExt cx="1800000" cy="2773764"/>
          </a:xfrm>
        </p:grpSpPr>
        <p:sp>
          <p:nvSpPr>
            <p:cNvPr id="208" name="矩形: 圆角 207"/>
            <p:cNvSpPr/>
            <p:nvPr/>
          </p:nvSpPr>
          <p:spPr>
            <a:xfrm flipH="1">
              <a:off x="10056000" y="1824525"/>
              <a:ext cx="1800000" cy="2484000"/>
            </a:xfrm>
            <a:prstGeom prst="roundRect">
              <a:avLst>
                <a:gd name="adj" fmla="val 0"/>
              </a:avLst>
            </a:prstGeom>
            <a:noFill/>
            <a:ln w="3175">
              <a:gradFill>
                <a:gsLst>
                  <a:gs pos="0">
                    <a:schemeClr val="accent1"/>
                  </a:gs>
                  <a:gs pos="100000">
                    <a:schemeClr val="accent1">
                      <a:lumMod val="30000"/>
                      <a:lumOff val="70000"/>
                    </a:schemeClr>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9" name="矩形: 剪去单角 208"/>
            <p:cNvSpPr/>
            <p:nvPr/>
          </p:nvSpPr>
          <p:spPr>
            <a:xfrm flipH="1">
              <a:off x="10056000" y="1534761"/>
              <a:ext cx="1800000" cy="360000"/>
            </a:xfrm>
            <a:prstGeom prst="snip1Rect">
              <a:avLst/>
            </a:prstGeom>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项目攻坚成果丰硕</a:t>
              </a:r>
              <a:endParaRPr lang="zh-CN" altLang="en-US"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225" name="组合 224"/>
          <p:cNvGrpSpPr/>
          <p:nvPr/>
        </p:nvGrpSpPr>
        <p:grpSpPr>
          <a:xfrm>
            <a:off x="334963" y="4759627"/>
            <a:ext cx="11522075" cy="526219"/>
            <a:chOff x="515938" y="4772327"/>
            <a:chExt cx="11160062" cy="526219"/>
          </a:xfrm>
        </p:grpSpPr>
        <p:sp>
          <p:nvSpPr>
            <p:cNvPr id="109" name="文本框 108"/>
            <p:cNvSpPr txBox="1"/>
            <p:nvPr/>
          </p:nvSpPr>
          <p:spPr>
            <a:xfrm>
              <a:off x="515938" y="4902546"/>
              <a:ext cx="11160000" cy="396000"/>
            </a:xfrm>
            <a:prstGeom prst="roundRect">
              <a:avLst>
                <a:gd name="adj" fmla="val 0"/>
              </a:avLst>
            </a:prstGeom>
            <a:solidFill>
              <a:schemeClr val="accent2"/>
            </a:solidFill>
          </p:spPr>
          <p:txBody>
            <a:bodyPr wrap="square" anchor="ctr">
              <a:noAutofit/>
            </a:bodyPr>
            <a:lstStyle/>
            <a:p>
              <a:pPr algn="ctr"/>
              <a:r>
                <a:rPr lang="zh-CN" altLang="en-US" b="0" i="0" dirty="0">
                  <a:solidFill>
                    <a:schemeClr val="bg1"/>
                  </a:solidFill>
                  <a:effectLst/>
                  <a:latin typeface="+mj-ea"/>
                  <a:ea typeface="+mj-ea"/>
                  <a:cs typeface="思源黑体 CN Normal" panose="020B0400000000000000" pitchFamily="34" charset="-122"/>
                </a:rPr>
                <a:t>上半年作为市场主体拓展市场成果丰，参与项目攻坚破难题、控进度、保质量、降成本</a:t>
              </a:r>
              <a:endParaRPr lang="zh-CN" altLang="en-US" dirty="0">
                <a:solidFill>
                  <a:schemeClr val="bg1"/>
                </a:solidFill>
                <a:latin typeface="+mj-ea"/>
                <a:ea typeface="+mj-ea"/>
                <a:cs typeface="思源黑体 CN Normal" panose="020B0400000000000000" pitchFamily="34" charset="-122"/>
              </a:endParaRPr>
            </a:p>
          </p:txBody>
        </p:sp>
        <p:sp>
          <p:nvSpPr>
            <p:cNvPr id="212" name="梯形"/>
            <p:cNvSpPr/>
            <p:nvPr/>
          </p:nvSpPr>
          <p:spPr>
            <a:xfrm>
              <a:off x="516000" y="4772327"/>
              <a:ext cx="11160000" cy="125936"/>
            </a:xfrm>
            <a:prstGeom prst="trapezoid">
              <a:avLst>
                <a:gd name="adj" fmla="val 119447"/>
              </a:avLst>
            </a:prstGeom>
            <a:gradFill>
              <a:gsLst>
                <a:gs pos="0">
                  <a:schemeClr val="accent2">
                    <a:lumMod val="20000"/>
                    <a:lumOff val="80000"/>
                    <a:alpha val="0"/>
                  </a:schemeClr>
                </a:gs>
                <a:gs pos="100000">
                  <a:schemeClr val="accent2">
                    <a:lumMod val="40000"/>
                    <a:lumOff val="60000"/>
                  </a:schemeClr>
                </a:gs>
              </a:gsLst>
              <a:lin ang="5400000" scaled="1"/>
            </a:gradFill>
            <a:ln w="6350">
              <a:gradFill>
                <a:gsLst>
                  <a:gs pos="29000">
                    <a:schemeClr val="bg1">
                      <a:alpha val="0"/>
                    </a:schemeClr>
                  </a:gs>
                  <a:gs pos="87000">
                    <a:schemeClr val="accent2">
                      <a:lumMod val="60000"/>
                      <a:lumOff val="40000"/>
                    </a:schemeClr>
                  </a:gs>
                </a:gsLst>
                <a:lin ang="5400000" scaled="1"/>
              </a:gradFill>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schemeClr val="bg1"/>
                </a:solidFill>
                <a:latin typeface="+mj-ea"/>
                <a:ea typeface="+mj-ea"/>
                <a:cs typeface="思源黑体 CN Normal" panose="020B0400000000000000" pitchFamily="34" charset="-122"/>
              </a:endParaRPr>
            </a:p>
          </p:txBody>
        </p:sp>
      </p:grpSp>
      <p:sp>
        <p:nvSpPr>
          <p:cNvPr id="226" name="文本框 225"/>
          <p:cNvSpPr txBox="1"/>
          <p:nvPr/>
        </p:nvSpPr>
        <p:spPr>
          <a:xfrm>
            <a:off x="334963" y="5716188"/>
            <a:ext cx="2861935" cy="864000"/>
          </a:xfrm>
          <a:prstGeom prst="rect">
            <a:avLst/>
          </a:prstGeom>
          <a:solidFill>
            <a:schemeClr val="accent1">
              <a:lumMod val="20000"/>
              <a:lumOff val="80000"/>
              <a:alpha val="12000"/>
            </a:schemeClr>
          </a:solidFill>
          <a:ln w="3175">
            <a:solidFill>
              <a:schemeClr val="accent1">
                <a:lumMod val="40000"/>
                <a:lumOff val="60000"/>
              </a:schemeClr>
            </a:solidFill>
            <a:prstDash val="dash"/>
          </a:ln>
        </p:spPr>
        <p:txBody>
          <a:bodyPr wrap="square">
            <a:noAutofit/>
          </a:bodyPr>
          <a:lstStyle/>
          <a:p>
            <a:pPr algn="ctr"/>
            <a:endParaRPr lang="zh-CN" altLang="en-US" b="0" i="0" dirty="0">
              <a:solidFill>
                <a:schemeClr val="bg2"/>
              </a:solidFill>
              <a:effectLst/>
              <a:latin typeface="思源黑体 CN Normal" panose="020B0400000000000000" pitchFamily="34" charset="-122"/>
              <a:cs typeface="思源黑体 CN Normal" panose="020B0400000000000000" pitchFamily="34" charset="-122"/>
            </a:endParaRPr>
          </a:p>
        </p:txBody>
      </p:sp>
      <p:sp>
        <p:nvSpPr>
          <p:cNvPr id="227" name="文本框 226"/>
          <p:cNvSpPr txBox="1"/>
          <p:nvPr/>
        </p:nvSpPr>
        <p:spPr>
          <a:xfrm>
            <a:off x="3221676" y="5716188"/>
            <a:ext cx="2861935" cy="864000"/>
          </a:xfrm>
          <a:prstGeom prst="rect">
            <a:avLst/>
          </a:prstGeom>
          <a:solidFill>
            <a:schemeClr val="accent1">
              <a:lumMod val="20000"/>
              <a:lumOff val="80000"/>
              <a:alpha val="12000"/>
            </a:schemeClr>
          </a:solidFill>
          <a:ln w="3175">
            <a:solidFill>
              <a:schemeClr val="accent1">
                <a:lumMod val="40000"/>
                <a:lumOff val="60000"/>
              </a:schemeClr>
            </a:solidFill>
            <a:prstDash val="dash"/>
          </a:ln>
        </p:spPr>
        <p:txBody>
          <a:bodyPr wrap="square">
            <a:noAutofit/>
          </a:bodyPr>
          <a:lstStyle/>
          <a:p>
            <a:pPr algn="ctr"/>
            <a:endParaRPr lang="zh-CN" altLang="en-US" b="0" i="0" dirty="0">
              <a:solidFill>
                <a:schemeClr val="bg2"/>
              </a:solidFill>
              <a:effectLst/>
              <a:latin typeface="思源黑体 CN Normal" panose="020B0400000000000000" pitchFamily="34" charset="-122"/>
              <a:cs typeface="思源黑体 CN Normal" panose="020B0400000000000000" pitchFamily="34" charset="-122"/>
            </a:endParaRPr>
          </a:p>
        </p:txBody>
      </p:sp>
      <p:sp>
        <p:nvSpPr>
          <p:cNvPr id="228" name="文本框 227"/>
          <p:cNvSpPr txBox="1"/>
          <p:nvPr/>
        </p:nvSpPr>
        <p:spPr>
          <a:xfrm>
            <a:off x="6108390" y="5716188"/>
            <a:ext cx="2861935" cy="864000"/>
          </a:xfrm>
          <a:prstGeom prst="rect">
            <a:avLst/>
          </a:prstGeom>
          <a:solidFill>
            <a:schemeClr val="accent1">
              <a:lumMod val="20000"/>
              <a:lumOff val="80000"/>
              <a:alpha val="12000"/>
            </a:schemeClr>
          </a:solidFill>
          <a:ln w="3175">
            <a:solidFill>
              <a:schemeClr val="accent1">
                <a:lumMod val="40000"/>
                <a:lumOff val="60000"/>
              </a:schemeClr>
            </a:solidFill>
            <a:prstDash val="dash"/>
          </a:ln>
        </p:spPr>
        <p:txBody>
          <a:bodyPr wrap="square">
            <a:noAutofit/>
          </a:bodyPr>
          <a:lstStyle/>
          <a:p>
            <a:pPr algn="ctr"/>
            <a:endParaRPr lang="zh-CN" altLang="en-US" b="0" i="0" dirty="0">
              <a:solidFill>
                <a:schemeClr val="bg2"/>
              </a:solidFill>
              <a:effectLst/>
              <a:latin typeface="思源黑体 CN Normal" panose="020B0400000000000000" pitchFamily="34" charset="-122"/>
              <a:cs typeface="思源黑体 CN Normal" panose="020B0400000000000000" pitchFamily="34" charset="-122"/>
            </a:endParaRPr>
          </a:p>
        </p:txBody>
      </p:sp>
      <p:sp>
        <p:nvSpPr>
          <p:cNvPr id="229" name="文本框 228"/>
          <p:cNvSpPr txBox="1"/>
          <p:nvPr/>
        </p:nvSpPr>
        <p:spPr>
          <a:xfrm>
            <a:off x="8995103" y="5716188"/>
            <a:ext cx="2861935" cy="864000"/>
          </a:xfrm>
          <a:prstGeom prst="rect">
            <a:avLst/>
          </a:prstGeom>
          <a:solidFill>
            <a:schemeClr val="accent1">
              <a:lumMod val="20000"/>
              <a:lumOff val="80000"/>
              <a:alpha val="12000"/>
            </a:schemeClr>
          </a:solidFill>
          <a:ln w="3175">
            <a:solidFill>
              <a:schemeClr val="accent1">
                <a:lumMod val="40000"/>
                <a:lumOff val="60000"/>
              </a:schemeClr>
            </a:solidFill>
            <a:prstDash val="dash"/>
          </a:ln>
        </p:spPr>
        <p:txBody>
          <a:bodyPr wrap="square">
            <a:noAutofit/>
          </a:bodyPr>
          <a:lstStyle/>
          <a:p>
            <a:pPr algn="ctr"/>
            <a:endParaRPr lang="zh-CN" altLang="en-US" b="0" i="0" dirty="0">
              <a:solidFill>
                <a:schemeClr val="bg2"/>
              </a:solidFill>
              <a:effectLst/>
              <a:latin typeface="思源黑体 CN Normal" panose="020B0400000000000000" pitchFamily="34" charset="-122"/>
              <a:cs typeface="思源黑体 CN Normal" panose="020B0400000000000000" pitchFamily="34" charset="-122"/>
            </a:endParaRPr>
          </a:p>
        </p:txBody>
      </p:sp>
      <p:sp>
        <p:nvSpPr>
          <p:cNvPr id="112" name="文本框 111"/>
          <p:cNvSpPr txBox="1"/>
          <p:nvPr/>
        </p:nvSpPr>
        <p:spPr>
          <a:xfrm>
            <a:off x="334963" y="5394225"/>
            <a:ext cx="2861935" cy="396000"/>
          </a:xfrm>
          <a:prstGeom prst="rect">
            <a:avLst/>
          </a:prstGeom>
          <a:solidFill>
            <a:schemeClr val="accent1"/>
          </a:solid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市场拓展</a:t>
            </a:r>
            <a:endPar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5" name="文本框 114"/>
          <p:cNvSpPr txBox="1"/>
          <p:nvPr/>
        </p:nvSpPr>
        <p:spPr>
          <a:xfrm>
            <a:off x="3221676" y="5394225"/>
            <a:ext cx="2861935" cy="396000"/>
          </a:xfrm>
          <a:prstGeom prst="rect">
            <a:avLst/>
          </a:prstGeom>
          <a:solidFill>
            <a:schemeClr val="accent1"/>
          </a:solid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项目推进</a:t>
            </a:r>
            <a:endPar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0" name="文本框 119"/>
          <p:cNvSpPr txBox="1"/>
          <p:nvPr/>
        </p:nvSpPr>
        <p:spPr>
          <a:xfrm>
            <a:off x="6108390" y="5394225"/>
            <a:ext cx="2861935" cy="396000"/>
          </a:xfrm>
          <a:prstGeom prst="rect">
            <a:avLst/>
          </a:prstGeom>
          <a:solidFill>
            <a:schemeClr val="accent1"/>
          </a:solid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质量保障</a:t>
            </a:r>
            <a:endPar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2" name="文本框 121"/>
          <p:cNvSpPr txBox="1"/>
          <p:nvPr/>
        </p:nvSpPr>
        <p:spPr>
          <a:xfrm>
            <a:off x="8995103" y="5394225"/>
            <a:ext cx="2861935" cy="396000"/>
          </a:xfrm>
          <a:prstGeom prst="rect">
            <a:avLst/>
          </a:prstGeom>
          <a:solidFill>
            <a:schemeClr val="accent1"/>
          </a:solid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成本优化</a:t>
            </a:r>
            <a:endPar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34" name="文本框 233"/>
          <p:cNvSpPr txBox="1"/>
          <p:nvPr/>
        </p:nvSpPr>
        <p:spPr>
          <a:xfrm>
            <a:off x="755126"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01</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35" name="文本框 234"/>
          <p:cNvSpPr txBox="1"/>
          <p:nvPr/>
        </p:nvSpPr>
        <p:spPr>
          <a:xfrm>
            <a:off x="1978618"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02</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38" name="文本框 237"/>
          <p:cNvSpPr txBox="1"/>
          <p:nvPr/>
        </p:nvSpPr>
        <p:spPr>
          <a:xfrm>
            <a:off x="3641840"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01</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39" name="文本框 238"/>
          <p:cNvSpPr txBox="1"/>
          <p:nvPr/>
        </p:nvSpPr>
        <p:spPr>
          <a:xfrm>
            <a:off x="4865331"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02</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41" name="文本框 240"/>
          <p:cNvSpPr txBox="1"/>
          <p:nvPr/>
        </p:nvSpPr>
        <p:spPr>
          <a:xfrm>
            <a:off x="6528553"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01</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42" name="文本框 241"/>
          <p:cNvSpPr txBox="1"/>
          <p:nvPr/>
        </p:nvSpPr>
        <p:spPr>
          <a:xfrm>
            <a:off x="7752045"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02</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44" name="文本框 243"/>
          <p:cNvSpPr txBox="1"/>
          <p:nvPr/>
        </p:nvSpPr>
        <p:spPr>
          <a:xfrm>
            <a:off x="9415267"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01</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45" name="文本框 244"/>
          <p:cNvSpPr txBox="1"/>
          <p:nvPr/>
        </p:nvSpPr>
        <p:spPr>
          <a:xfrm>
            <a:off x="10638758"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02</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14" name="文本框 213"/>
          <p:cNvSpPr txBox="1"/>
          <p:nvPr/>
        </p:nvSpPr>
        <p:spPr>
          <a:xfrm>
            <a:off x="9238221"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竞品突围</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15" name="文本框 214"/>
          <p:cNvSpPr txBox="1"/>
          <p:nvPr/>
        </p:nvSpPr>
        <p:spPr>
          <a:xfrm>
            <a:off x="10461713"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成本合理</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17" name="文本框 216"/>
          <p:cNvSpPr txBox="1"/>
          <p:nvPr/>
        </p:nvSpPr>
        <p:spPr>
          <a:xfrm>
            <a:off x="6351508"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多元拓渠</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18" name="文本框 217"/>
          <p:cNvSpPr txBox="1"/>
          <p:nvPr/>
        </p:nvSpPr>
        <p:spPr>
          <a:xfrm>
            <a:off x="7574999"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质量严管</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20" name="文本框 219"/>
          <p:cNvSpPr txBox="1"/>
          <p:nvPr/>
        </p:nvSpPr>
        <p:spPr>
          <a:xfrm>
            <a:off x="3464794"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技术攻克</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21" name="文本框 220"/>
          <p:cNvSpPr txBox="1"/>
          <p:nvPr/>
        </p:nvSpPr>
        <p:spPr>
          <a:xfrm>
            <a:off x="4688286"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进度把控</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23" name="文本框 222"/>
          <p:cNvSpPr txBox="1"/>
          <p:nvPr/>
        </p:nvSpPr>
        <p:spPr>
          <a:xfrm>
            <a:off x="578081"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新客引入</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24" name="文本框 223"/>
          <p:cNvSpPr txBox="1"/>
          <p:nvPr/>
        </p:nvSpPr>
        <p:spPr>
          <a:xfrm>
            <a:off x="1801572"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品牌扩声</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46" name="文本框 45"/>
          <p:cNvSpPr txBox="1"/>
          <p:nvPr/>
        </p:nvSpPr>
        <p:spPr>
          <a:xfrm rot="5400000">
            <a:off x="4127278" y="2632334"/>
            <a:ext cx="1620000" cy="864000"/>
          </a:xfrm>
          <a:prstGeom prst="rect">
            <a:avLst/>
          </a:prstGeom>
          <a:noFill/>
        </p:spPr>
        <p:txBody>
          <a:bodyPr vert="eaVert" wrap="none">
            <a:prstTxWarp prst="textArchDown">
              <a:avLst/>
            </a:prstTxWarp>
            <a:spAutoFit/>
          </a:bodyPr>
          <a:lstStyle/>
          <a:p>
            <a:pPr algn="ctr"/>
            <a:r>
              <a:rPr lang="zh-CN" altLang="en-US" sz="2000" i="0" dirty="0">
                <a:solidFill>
                  <a:schemeClr val="bg1"/>
                </a:solidFill>
                <a:latin typeface="+mj-ea"/>
                <a:ea typeface="+mj-ea"/>
                <a:cs typeface="思源黑体 CN Normal" panose="020B0400000000000000" pitchFamily="34" charset="-122"/>
              </a:rPr>
              <a:t>市场破局</a:t>
            </a:r>
            <a:endParaRPr lang="zh-CN" altLang="en-US" sz="2000" dirty="0">
              <a:solidFill>
                <a:schemeClr val="bg1"/>
              </a:solidFill>
              <a:latin typeface="+mj-ea"/>
              <a:ea typeface="+mj-ea"/>
              <a:cs typeface="思源黑体 CN Normal" panose="020B0400000000000000" pitchFamily="34" charset="-122"/>
            </a:endParaRPr>
          </a:p>
        </p:txBody>
      </p:sp>
      <p:sp>
        <p:nvSpPr>
          <p:cNvPr id="48" name="文本框 47"/>
          <p:cNvSpPr txBox="1"/>
          <p:nvPr/>
        </p:nvSpPr>
        <p:spPr>
          <a:xfrm rot="5400000">
            <a:off x="6448221" y="2632334"/>
            <a:ext cx="1728000" cy="864000"/>
          </a:xfrm>
          <a:prstGeom prst="rect">
            <a:avLst/>
          </a:prstGeom>
          <a:noFill/>
        </p:spPr>
        <p:txBody>
          <a:bodyPr vert="eaVert" wrap="none">
            <a:prstTxWarp prst="textArchUp">
              <a:avLst/>
            </a:prstTxWarp>
            <a:spAutoFit/>
          </a:bodyPr>
          <a:lstStyle/>
          <a:p>
            <a:pPr algn="ctr"/>
            <a:r>
              <a:rPr lang="zh-CN" altLang="en-US" sz="2000" i="0" dirty="0">
                <a:solidFill>
                  <a:schemeClr val="bg1"/>
                </a:solidFill>
                <a:latin typeface="+mj-ea"/>
                <a:ea typeface="+mj-ea"/>
                <a:cs typeface="思源黑体 CN Normal" panose="020B0400000000000000" pitchFamily="34" charset="-122"/>
              </a:rPr>
              <a:t>项目攻坚</a:t>
            </a:r>
            <a:endParaRPr lang="zh-CN" altLang="en-US" sz="2000" dirty="0">
              <a:solidFill>
                <a:schemeClr val="bg1"/>
              </a:solidFill>
              <a:latin typeface="+mj-ea"/>
              <a:ea typeface="+mj-ea"/>
              <a:cs typeface="思源黑体 CN Normal" panose="020B0400000000000000" pitchFamily="34" charset="-122"/>
            </a:endParaRPr>
          </a:p>
        </p:txBody>
      </p:sp>
      <p:sp>
        <p:nvSpPr>
          <p:cNvPr id="76" name="文本框 75"/>
          <p:cNvSpPr txBox="1"/>
          <p:nvPr/>
        </p:nvSpPr>
        <p:spPr>
          <a:xfrm>
            <a:off x="2366083" y="2646941"/>
            <a:ext cx="1512000" cy="307777"/>
          </a:xfrm>
          <a:prstGeom prst="roundRect">
            <a:avLst>
              <a:gd name="adj" fmla="val 50000"/>
            </a:avLst>
          </a:prstGeom>
          <a:solidFill>
            <a:schemeClr val="accent1">
              <a:alpha val="30000"/>
            </a:schemeClr>
          </a:solidFill>
        </p:spPr>
        <p:txBody>
          <a:bodyPr wrap="square" tIns="18000" bIns="0" anchor="ctr">
            <a:noAutofit/>
          </a:bodyPr>
          <a:lstStyle/>
          <a:p>
            <a:pPr algn="ctr"/>
            <a:r>
              <a:rPr lang="zh-CN" altLang="en-US" sz="1400">
                <a:solidFill>
                  <a:schemeClr val="tx2"/>
                </a:solidFill>
                <a:latin typeface="+mj-ea"/>
                <a:ea typeface="+mj-ea"/>
                <a:cs typeface="思源黑体 CN Normal" panose="020B0400000000000000" pitchFamily="34" charset="-122"/>
              </a:rPr>
              <a:t>品牌声量扩</a:t>
            </a:r>
            <a:endParaRPr lang="zh-CN" altLang="en-US" sz="1400" dirty="0">
              <a:solidFill>
                <a:schemeClr val="tx2"/>
              </a:solidFill>
              <a:latin typeface="+mj-ea"/>
              <a:ea typeface="+mj-ea"/>
              <a:cs typeface="思源黑体 CN Normal" panose="020B0400000000000000" pitchFamily="34" charset="-122"/>
            </a:endParaRPr>
          </a:p>
        </p:txBody>
      </p:sp>
      <p:sp>
        <p:nvSpPr>
          <p:cNvPr id="78" name="文本框 77"/>
          <p:cNvSpPr txBox="1"/>
          <p:nvPr/>
        </p:nvSpPr>
        <p:spPr>
          <a:xfrm>
            <a:off x="2366083" y="3179115"/>
            <a:ext cx="1512000" cy="307777"/>
          </a:xfrm>
          <a:prstGeom prst="roundRect">
            <a:avLst>
              <a:gd name="adj" fmla="val 50000"/>
            </a:avLst>
          </a:prstGeom>
          <a:solidFill>
            <a:schemeClr val="accent1">
              <a:alpha val="30000"/>
            </a:schemeClr>
          </a:solidFill>
        </p:spPr>
        <p:txBody>
          <a:bodyPr wrap="square" tIns="18000" bIns="0" anchor="ctr">
            <a:noAutofit/>
          </a:bodyPr>
          <a:lstStyle/>
          <a:p>
            <a:pPr algn="ctr"/>
            <a:r>
              <a:rPr lang="zh-CN" altLang="en-US" sz="1400" dirty="0">
                <a:solidFill>
                  <a:schemeClr val="tx2"/>
                </a:solidFill>
                <a:latin typeface="+mj-ea"/>
                <a:ea typeface="+mj-ea"/>
                <a:cs typeface="思源黑体 CN Normal" panose="020B0400000000000000" pitchFamily="34" charset="-122"/>
              </a:rPr>
              <a:t>渠道多元拓</a:t>
            </a:r>
            <a:endParaRPr lang="zh-CN" altLang="en-US" sz="1400" dirty="0">
              <a:solidFill>
                <a:schemeClr val="tx2"/>
              </a:solidFill>
              <a:latin typeface="+mj-ea"/>
              <a:ea typeface="+mj-ea"/>
              <a:cs typeface="思源黑体 CN Normal" panose="020B0400000000000000" pitchFamily="34" charset="-122"/>
            </a:endParaRPr>
          </a:p>
        </p:txBody>
      </p:sp>
      <p:sp>
        <p:nvSpPr>
          <p:cNvPr id="87" name="文本框 86"/>
          <p:cNvSpPr txBox="1"/>
          <p:nvPr/>
        </p:nvSpPr>
        <p:spPr>
          <a:xfrm>
            <a:off x="8320468" y="2645726"/>
            <a:ext cx="1512000" cy="307777"/>
          </a:xfrm>
          <a:prstGeom prst="roundRect">
            <a:avLst>
              <a:gd name="adj" fmla="val 50000"/>
            </a:avLst>
          </a:prstGeom>
          <a:solidFill>
            <a:schemeClr val="accent1">
              <a:alpha val="30000"/>
            </a:schemeClr>
          </a:solidFill>
        </p:spPr>
        <p:txBody>
          <a:bodyPr wrap="square" tIns="18000" bIns="0" anchor="ctr">
            <a:noAutofit/>
          </a:bodyPr>
          <a:lstStyle>
            <a:defPPr>
              <a:defRPr lang="zh-CN"/>
            </a:defPPr>
            <a:lvl1pPr algn="ctr">
              <a:defRPr sz="1400">
                <a:latin typeface="+mj-ea"/>
                <a:ea typeface="+mj-ea"/>
              </a:defRPr>
            </a:lvl1pPr>
          </a:lstStyle>
          <a:p>
            <a:r>
              <a:rPr lang="zh-CN" altLang="en-US" dirty="0">
                <a:solidFill>
                  <a:schemeClr val="tx2"/>
                </a:solidFill>
                <a:cs typeface="思源黑体 CN Normal" panose="020B0400000000000000" pitchFamily="34" charset="-122"/>
              </a:rPr>
              <a:t>进度高效控</a:t>
            </a:r>
            <a:endParaRPr lang="zh-CN" altLang="en-US" dirty="0">
              <a:solidFill>
                <a:schemeClr val="tx2"/>
              </a:solidFill>
              <a:cs typeface="思源黑体 CN Normal" panose="020B0400000000000000" pitchFamily="34" charset="-122"/>
            </a:endParaRPr>
          </a:p>
        </p:txBody>
      </p:sp>
      <p:sp>
        <p:nvSpPr>
          <p:cNvPr id="88" name="文本框 87"/>
          <p:cNvSpPr txBox="1"/>
          <p:nvPr/>
        </p:nvSpPr>
        <p:spPr>
          <a:xfrm>
            <a:off x="8320468" y="3176685"/>
            <a:ext cx="1512000" cy="309600"/>
          </a:xfrm>
          <a:prstGeom prst="roundRect">
            <a:avLst>
              <a:gd name="adj" fmla="val 50000"/>
            </a:avLst>
          </a:prstGeom>
          <a:solidFill>
            <a:schemeClr val="accent1">
              <a:alpha val="30000"/>
            </a:schemeClr>
          </a:solidFill>
        </p:spPr>
        <p:txBody>
          <a:bodyPr wrap="square" tIns="18000" bIns="0" anchor="ctr">
            <a:noAutofit/>
          </a:bodyPr>
          <a:lstStyle>
            <a:defPPr>
              <a:defRPr lang="zh-CN"/>
            </a:defPPr>
            <a:lvl1pPr algn="ctr">
              <a:defRPr sz="1400">
                <a:latin typeface="+mj-ea"/>
                <a:ea typeface="+mj-ea"/>
              </a:defRPr>
            </a:lvl1pPr>
          </a:lstStyle>
          <a:p>
            <a:r>
              <a:rPr lang="zh-CN" altLang="en-US">
                <a:solidFill>
                  <a:schemeClr val="tx2"/>
                </a:solidFill>
                <a:cs typeface="思源黑体 CN Normal" panose="020B0400000000000000" pitchFamily="34" charset="-122"/>
              </a:rPr>
              <a:t>质量严格管</a:t>
            </a:r>
            <a:endParaRPr lang="zh-CN" altLang="en-US" dirty="0">
              <a:solidFill>
                <a:schemeClr val="tx2"/>
              </a:solidFill>
              <a:cs typeface="思源黑体 CN Normal" panose="020B0400000000000000" pitchFamily="34" charset="-122"/>
            </a:endParaRPr>
          </a:p>
        </p:txBody>
      </p:sp>
      <p:sp>
        <p:nvSpPr>
          <p:cNvPr id="63" name="文本框 62"/>
          <p:cNvSpPr txBox="1"/>
          <p:nvPr/>
        </p:nvSpPr>
        <p:spPr>
          <a:xfrm>
            <a:off x="2552975" y="2114767"/>
            <a:ext cx="1512000" cy="307777"/>
          </a:xfrm>
          <a:prstGeom prst="roundRect">
            <a:avLst>
              <a:gd name="adj" fmla="val 50000"/>
            </a:avLst>
          </a:prstGeom>
          <a:solidFill>
            <a:schemeClr val="accent1">
              <a:alpha val="30000"/>
            </a:schemeClr>
          </a:solidFill>
        </p:spPr>
        <p:txBody>
          <a:bodyPr wrap="square" tIns="18000" bIns="0" anchor="ctr">
            <a:noAutofit/>
          </a:bodyPr>
          <a:lstStyle/>
          <a:p>
            <a:pPr algn="ctr"/>
            <a:r>
              <a:rPr lang="zh-CN" altLang="en-US" sz="1400" dirty="0">
                <a:solidFill>
                  <a:schemeClr val="tx2"/>
                </a:solidFill>
                <a:latin typeface="+mj-ea"/>
                <a:ea typeface="+mj-ea"/>
                <a:cs typeface="思源黑体 CN Normal" panose="020B0400000000000000" pitchFamily="34" charset="-122"/>
              </a:rPr>
              <a:t>新客精准引</a:t>
            </a:r>
            <a:endParaRPr lang="zh-CN" altLang="en-US" sz="1400" dirty="0">
              <a:solidFill>
                <a:schemeClr val="tx2"/>
              </a:solidFill>
              <a:latin typeface="+mj-ea"/>
              <a:ea typeface="+mj-ea"/>
              <a:cs typeface="思源黑体 CN Normal" panose="020B0400000000000000" pitchFamily="34" charset="-122"/>
            </a:endParaRPr>
          </a:p>
        </p:txBody>
      </p:sp>
      <p:sp>
        <p:nvSpPr>
          <p:cNvPr id="79" name="文本框 78"/>
          <p:cNvSpPr txBox="1"/>
          <p:nvPr/>
        </p:nvSpPr>
        <p:spPr>
          <a:xfrm>
            <a:off x="2552974" y="3711290"/>
            <a:ext cx="1512000" cy="307777"/>
          </a:xfrm>
          <a:prstGeom prst="roundRect">
            <a:avLst>
              <a:gd name="adj" fmla="val 50000"/>
            </a:avLst>
          </a:prstGeom>
          <a:solidFill>
            <a:schemeClr val="accent1">
              <a:alpha val="30000"/>
            </a:schemeClr>
          </a:solidFill>
        </p:spPr>
        <p:txBody>
          <a:bodyPr wrap="square" tIns="18000" bIns="0" anchor="ctr">
            <a:noAutofit/>
          </a:bodyPr>
          <a:lstStyle/>
          <a:p>
            <a:pPr algn="ctr"/>
            <a:r>
              <a:rPr lang="zh-CN" altLang="en-US" sz="1400" dirty="0">
                <a:solidFill>
                  <a:schemeClr val="tx2"/>
                </a:solidFill>
                <a:latin typeface="+mj-ea"/>
                <a:ea typeface="+mj-ea"/>
                <a:cs typeface="思源黑体 CN Normal" panose="020B0400000000000000" pitchFamily="34" charset="-122"/>
              </a:rPr>
              <a:t>竞品差异突</a:t>
            </a:r>
            <a:endParaRPr lang="zh-CN" altLang="en-US" sz="1400" dirty="0">
              <a:solidFill>
                <a:schemeClr val="tx2"/>
              </a:solidFill>
              <a:latin typeface="+mj-ea"/>
              <a:ea typeface="+mj-ea"/>
              <a:cs typeface="思源黑体 CN Normal" panose="020B0400000000000000" pitchFamily="34" charset="-122"/>
            </a:endParaRPr>
          </a:p>
        </p:txBody>
      </p:sp>
      <p:sp>
        <p:nvSpPr>
          <p:cNvPr id="86" name="文本框 85"/>
          <p:cNvSpPr txBox="1"/>
          <p:nvPr/>
        </p:nvSpPr>
        <p:spPr>
          <a:xfrm>
            <a:off x="8131654" y="2114767"/>
            <a:ext cx="1512000" cy="307777"/>
          </a:xfrm>
          <a:prstGeom prst="roundRect">
            <a:avLst>
              <a:gd name="adj" fmla="val 50000"/>
            </a:avLst>
          </a:prstGeom>
          <a:solidFill>
            <a:schemeClr val="accent1">
              <a:alpha val="30000"/>
            </a:schemeClr>
          </a:solidFill>
        </p:spPr>
        <p:txBody>
          <a:bodyPr wrap="square" tIns="18000" bIns="0" anchor="ctr">
            <a:noAutofit/>
          </a:bodyPr>
          <a:lstStyle>
            <a:defPPr>
              <a:defRPr lang="zh-CN"/>
            </a:defPPr>
            <a:lvl1pPr algn="ctr">
              <a:defRPr sz="1400">
                <a:latin typeface="+mj-ea"/>
                <a:ea typeface="+mj-ea"/>
              </a:defRPr>
            </a:lvl1pPr>
          </a:lstStyle>
          <a:p>
            <a:r>
              <a:rPr lang="zh-CN" altLang="en-US" dirty="0">
                <a:solidFill>
                  <a:schemeClr val="tx2"/>
                </a:solidFill>
                <a:cs typeface="思源黑体 CN Normal" panose="020B0400000000000000" pitchFamily="34" charset="-122"/>
              </a:rPr>
              <a:t>技术难题克</a:t>
            </a:r>
            <a:endParaRPr lang="zh-CN" altLang="en-US" dirty="0">
              <a:solidFill>
                <a:schemeClr val="tx2"/>
              </a:solidFill>
              <a:cs typeface="思源黑体 CN Normal" panose="020B0400000000000000" pitchFamily="34" charset="-122"/>
            </a:endParaRPr>
          </a:p>
        </p:txBody>
      </p:sp>
      <p:sp>
        <p:nvSpPr>
          <p:cNvPr id="89" name="文本框 88"/>
          <p:cNvSpPr txBox="1"/>
          <p:nvPr/>
        </p:nvSpPr>
        <p:spPr>
          <a:xfrm>
            <a:off x="8131653" y="3709467"/>
            <a:ext cx="1512000" cy="309600"/>
          </a:xfrm>
          <a:prstGeom prst="roundRect">
            <a:avLst>
              <a:gd name="adj" fmla="val 50000"/>
            </a:avLst>
          </a:prstGeom>
          <a:solidFill>
            <a:schemeClr val="accent1">
              <a:alpha val="30000"/>
            </a:schemeClr>
          </a:solidFill>
        </p:spPr>
        <p:txBody>
          <a:bodyPr wrap="square" tIns="18000" bIns="0" anchor="ctr">
            <a:noAutofit/>
          </a:bodyPr>
          <a:lstStyle>
            <a:defPPr>
              <a:defRPr lang="zh-CN"/>
            </a:defPPr>
            <a:lvl1pPr algn="ctr">
              <a:defRPr sz="1400">
                <a:latin typeface="+mj-ea"/>
                <a:ea typeface="+mj-ea"/>
              </a:defRPr>
            </a:lvl1pPr>
          </a:lstStyle>
          <a:p>
            <a:r>
              <a:rPr lang="zh-CN" altLang="en-US" dirty="0">
                <a:solidFill>
                  <a:schemeClr val="tx2"/>
                </a:solidFill>
                <a:cs typeface="思源黑体 CN Normal" panose="020B0400000000000000" pitchFamily="34" charset="-122"/>
              </a:rPr>
              <a:t>成本合理控</a:t>
            </a:r>
            <a:endParaRPr lang="zh-CN" altLang="en-US" dirty="0">
              <a:solidFill>
                <a:schemeClr val="tx2"/>
              </a:solidFill>
              <a:cs typeface="思源黑体 CN Normal" panose="020B0400000000000000" pitchFamily="34" charset="-122"/>
            </a:endParaRPr>
          </a:p>
        </p:txBody>
      </p:sp>
      <p:sp>
        <p:nvSpPr>
          <p:cNvPr id="126" name="文本框 125"/>
          <p:cNvSpPr txBox="1"/>
          <p:nvPr/>
        </p:nvSpPr>
        <p:spPr>
          <a:xfrm>
            <a:off x="5253552" y="3330220"/>
            <a:ext cx="1689525" cy="523220"/>
          </a:xfrm>
          <a:prstGeom prst="rect">
            <a:avLst/>
          </a:prstGeom>
          <a:noFill/>
        </p:spPr>
        <p:txBody>
          <a:bodyPr wrap="square">
            <a:spAutoFit/>
          </a:bodyPr>
          <a:lstStyle/>
          <a:p>
            <a:pPr algn="ctr"/>
            <a:r>
              <a:rPr lang="zh-CN" altLang="en-US" sz="2800" b="1"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双关突破</a:t>
            </a:r>
            <a:endParaRPr lang="zh-CN" altLang="en-US" sz="28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51" name="组合 250"/>
          <p:cNvGrpSpPr/>
          <p:nvPr/>
        </p:nvGrpSpPr>
        <p:grpSpPr>
          <a:xfrm>
            <a:off x="5667526" y="2220622"/>
            <a:ext cx="856948" cy="965198"/>
            <a:chOff x="5668198" y="2414472"/>
            <a:chExt cx="856948" cy="965198"/>
          </a:xfrm>
          <a:effectLst>
            <a:outerShdw blurRad="50800" dist="38100" dir="2700000" algn="tl" rotWithShape="0">
              <a:prstClr val="black">
                <a:alpha val="40000"/>
              </a:prstClr>
            </a:outerShdw>
          </a:effectLst>
        </p:grpSpPr>
        <p:sp>
          <p:nvSpPr>
            <p:cNvPr id="249" name="任意多边形: 形状 248"/>
            <p:cNvSpPr/>
            <p:nvPr/>
          </p:nvSpPr>
          <p:spPr>
            <a:xfrm>
              <a:off x="5668198" y="2414472"/>
              <a:ext cx="856948" cy="965198"/>
            </a:xfrm>
            <a:custGeom>
              <a:avLst/>
              <a:gdLst>
                <a:gd name="connsiteX0" fmla="*/ 616062 w 856948"/>
                <a:gd name="connsiteY0" fmla="*/ 298420 h 965198"/>
                <a:gd name="connsiteX1" fmla="*/ 552043 w 856948"/>
                <a:gd name="connsiteY1" fmla="*/ 308728 h 965198"/>
                <a:gd name="connsiteX2" fmla="*/ 508097 w 856948"/>
                <a:gd name="connsiteY2" fmla="*/ 355386 h 965198"/>
                <a:gd name="connsiteX3" fmla="*/ 480971 w 856948"/>
                <a:gd name="connsiteY3" fmla="*/ 492648 h 965198"/>
                <a:gd name="connsiteX4" fmla="*/ 462524 w 856948"/>
                <a:gd name="connsiteY4" fmla="*/ 593018 h 965198"/>
                <a:gd name="connsiteX5" fmla="*/ 442993 w 856948"/>
                <a:gd name="connsiteY5" fmla="*/ 661377 h 965198"/>
                <a:gd name="connsiteX6" fmla="*/ 428887 w 856948"/>
                <a:gd name="connsiteY6" fmla="*/ 672771 h 965198"/>
                <a:gd name="connsiteX7" fmla="*/ 414781 w 856948"/>
                <a:gd name="connsiteY7" fmla="*/ 661377 h 965198"/>
                <a:gd name="connsiteX8" fmla="*/ 394165 w 856948"/>
                <a:gd name="connsiteY8" fmla="*/ 589220 h 965198"/>
                <a:gd name="connsiteX9" fmla="*/ 368665 w 856948"/>
                <a:gd name="connsiteY9" fmla="*/ 450873 h 965198"/>
                <a:gd name="connsiteX10" fmla="*/ 349134 w 856948"/>
                <a:gd name="connsiteY10" fmla="*/ 352674 h 965198"/>
                <a:gd name="connsiteX11" fmla="*/ 302476 w 856948"/>
                <a:gd name="connsiteY11" fmla="*/ 307100 h 965198"/>
                <a:gd name="connsiteX12" fmla="*/ 223265 w 856948"/>
                <a:gd name="connsiteY12" fmla="*/ 297877 h 965198"/>
                <a:gd name="connsiteX13" fmla="*/ 210244 w 856948"/>
                <a:gd name="connsiteY13" fmla="*/ 292994 h 965198"/>
                <a:gd name="connsiteX14" fmla="*/ 214042 w 856948"/>
                <a:gd name="connsiteY14" fmla="*/ 277261 h 965198"/>
                <a:gd name="connsiteX15" fmla="*/ 268838 w 856948"/>
                <a:gd name="connsiteY15" fmla="*/ 222465 h 965198"/>
                <a:gd name="connsiteX16" fmla="*/ 322007 w 856948"/>
                <a:gd name="connsiteY16" fmla="*/ 161700 h 965198"/>
                <a:gd name="connsiteX17" fmla="*/ 365410 w 856948"/>
                <a:gd name="connsiteY17" fmla="*/ 109617 h 965198"/>
                <a:gd name="connsiteX18" fmla="*/ 414238 w 856948"/>
                <a:gd name="connsiteY18" fmla="*/ 35832 h 965198"/>
                <a:gd name="connsiteX19" fmla="*/ 429429 w 856948"/>
                <a:gd name="connsiteY19" fmla="*/ 22811 h 965198"/>
                <a:gd name="connsiteX20" fmla="*/ 443535 w 856948"/>
                <a:gd name="connsiteY20" fmla="*/ 35289 h 965198"/>
                <a:gd name="connsiteX21" fmla="*/ 496704 w 856948"/>
                <a:gd name="connsiteY21" fmla="*/ 112872 h 965198"/>
                <a:gd name="connsiteX22" fmla="*/ 574830 w 856948"/>
                <a:gd name="connsiteY22" fmla="*/ 206188 h 965198"/>
                <a:gd name="connsiteX23" fmla="*/ 618775 w 856948"/>
                <a:gd name="connsiteY23" fmla="*/ 249591 h 965198"/>
                <a:gd name="connsiteX24" fmla="*/ 646444 w 856948"/>
                <a:gd name="connsiteY24" fmla="*/ 279431 h 965198"/>
                <a:gd name="connsiteX25" fmla="*/ 648072 w 856948"/>
                <a:gd name="connsiteY25" fmla="*/ 292452 h 965198"/>
                <a:gd name="connsiteX26" fmla="*/ 638306 w 856948"/>
                <a:gd name="connsiteY26" fmla="*/ 297335 h 965198"/>
                <a:gd name="connsiteX27" fmla="*/ 616062 w 856948"/>
                <a:gd name="connsiteY27" fmla="*/ 298420 h 965198"/>
                <a:gd name="connsiteX28" fmla="*/ 338283 w 856948"/>
                <a:gd name="connsiteY28" fmla="*/ 738960 h 965198"/>
                <a:gd name="connsiteX29" fmla="*/ 275349 w 856948"/>
                <a:gd name="connsiteY29" fmla="*/ 697727 h 965198"/>
                <a:gd name="connsiteX30" fmla="*/ 222723 w 856948"/>
                <a:gd name="connsiteY30" fmla="*/ 642931 h 965198"/>
                <a:gd name="connsiteX31" fmla="*/ 180405 w 856948"/>
                <a:gd name="connsiteY31" fmla="*/ 590305 h 965198"/>
                <a:gd name="connsiteX32" fmla="*/ 148395 w 856948"/>
                <a:gd name="connsiteY32" fmla="*/ 538764 h 965198"/>
                <a:gd name="connsiteX33" fmla="*/ 126151 w 856948"/>
                <a:gd name="connsiteY33" fmla="*/ 484510 h 965198"/>
                <a:gd name="connsiteX34" fmla="*/ 105535 w 856948"/>
                <a:gd name="connsiteY34" fmla="*/ 382513 h 965198"/>
                <a:gd name="connsiteX35" fmla="*/ 107705 w 856948"/>
                <a:gd name="connsiteY35" fmla="*/ 219752 h 965198"/>
                <a:gd name="connsiteX36" fmla="*/ 140257 w 856948"/>
                <a:gd name="connsiteY36" fmla="*/ 129691 h 965198"/>
                <a:gd name="connsiteX37" fmla="*/ 160331 w 856948"/>
                <a:gd name="connsiteY37" fmla="*/ 80320 h 965198"/>
                <a:gd name="connsiteX38" fmla="*/ 159788 w 856948"/>
                <a:gd name="connsiteY38" fmla="*/ 74352 h 965198"/>
                <a:gd name="connsiteX39" fmla="*/ 153820 w 856948"/>
                <a:gd name="connsiteY39" fmla="*/ 76522 h 965198"/>
                <a:gd name="connsiteX40" fmla="*/ 122896 w 856948"/>
                <a:gd name="connsiteY40" fmla="*/ 104734 h 965198"/>
                <a:gd name="connsiteX41" fmla="*/ 58334 w 856948"/>
                <a:gd name="connsiteY41" fmla="*/ 183944 h 965198"/>
                <a:gd name="connsiteX42" fmla="*/ 39887 w 856948"/>
                <a:gd name="connsiteY42" fmla="*/ 246336 h 965198"/>
                <a:gd name="connsiteX43" fmla="*/ 32835 w 856948"/>
                <a:gd name="connsiteY43" fmla="*/ 300590 h 965198"/>
                <a:gd name="connsiteX44" fmla="*/ 26867 w 856948"/>
                <a:gd name="connsiteY44" fmla="*/ 320664 h 965198"/>
                <a:gd name="connsiteX45" fmla="*/ 14931 w 856948"/>
                <a:gd name="connsiteY45" fmla="*/ 341823 h 965198"/>
                <a:gd name="connsiteX46" fmla="*/ 282 w 856948"/>
                <a:gd name="connsiteY46" fmla="*/ 425916 h 965198"/>
                <a:gd name="connsiteX47" fmla="*/ 4623 w 856948"/>
                <a:gd name="connsiteY47" fmla="*/ 500244 h 965198"/>
                <a:gd name="connsiteX48" fmla="*/ 27952 w 856948"/>
                <a:gd name="connsiteY48" fmla="*/ 577284 h 965198"/>
                <a:gd name="connsiteX49" fmla="*/ 59961 w 856948"/>
                <a:gd name="connsiteY49" fmla="*/ 630453 h 965198"/>
                <a:gd name="connsiteX50" fmla="*/ 120726 w 856948"/>
                <a:gd name="connsiteY50" fmla="*/ 699355 h 965198"/>
                <a:gd name="connsiteX51" fmla="*/ 189085 w 856948"/>
                <a:gd name="connsiteY51" fmla="*/ 750896 h 965198"/>
                <a:gd name="connsiteX52" fmla="*/ 278061 w 856948"/>
                <a:gd name="connsiteY52" fmla="*/ 793214 h 965198"/>
                <a:gd name="connsiteX53" fmla="*/ 373006 w 856948"/>
                <a:gd name="connsiteY53" fmla="*/ 814373 h 965198"/>
                <a:gd name="connsiteX54" fmla="*/ 496704 w 856948"/>
                <a:gd name="connsiteY54" fmla="*/ 806235 h 965198"/>
                <a:gd name="connsiteX55" fmla="*/ 530884 w 856948"/>
                <a:gd name="connsiteY55" fmla="*/ 794842 h 965198"/>
                <a:gd name="connsiteX56" fmla="*/ 573202 w 856948"/>
                <a:gd name="connsiteY56" fmla="*/ 776938 h 965198"/>
                <a:gd name="connsiteX57" fmla="*/ 578085 w 856948"/>
                <a:gd name="connsiteY57" fmla="*/ 769885 h 965198"/>
                <a:gd name="connsiteX58" fmla="*/ 570489 w 856948"/>
                <a:gd name="connsiteY58" fmla="*/ 766630 h 965198"/>
                <a:gd name="connsiteX59" fmla="*/ 499417 w 856948"/>
                <a:gd name="connsiteY59" fmla="*/ 766630 h 965198"/>
                <a:gd name="connsiteX60" fmla="*/ 338283 w 856948"/>
                <a:gd name="connsiteY60" fmla="*/ 738960 h 965198"/>
                <a:gd name="connsiteX61" fmla="*/ 854779 w 856948"/>
                <a:gd name="connsiteY61" fmla="*/ 366780 h 965198"/>
                <a:gd name="connsiteX62" fmla="*/ 821142 w 856948"/>
                <a:gd name="connsiteY62" fmla="*/ 244709 h 965198"/>
                <a:gd name="connsiteX63" fmla="*/ 797270 w 856948"/>
                <a:gd name="connsiteY63" fmla="*/ 193710 h 965198"/>
                <a:gd name="connsiteX64" fmla="*/ 765803 w 856948"/>
                <a:gd name="connsiteY64" fmla="*/ 147594 h 965198"/>
                <a:gd name="connsiteX65" fmla="*/ 720230 w 856948"/>
                <a:gd name="connsiteY65" fmla="*/ 104734 h 965198"/>
                <a:gd name="connsiteX66" fmla="*/ 678997 w 856948"/>
                <a:gd name="connsiteY66" fmla="*/ 62959 h 965198"/>
                <a:gd name="connsiteX67" fmla="*/ 648072 w 856948"/>
                <a:gd name="connsiteY67" fmla="*/ 15215 h 965198"/>
                <a:gd name="connsiteX68" fmla="*/ 636679 w 856948"/>
                <a:gd name="connsiteY68" fmla="*/ 24 h 965198"/>
                <a:gd name="connsiteX69" fmla="*/ 629626 w 856948"/>
                <a:gd name="connsiteY69" fmla="*/ 17385 h 965198"/>
                <a:gd name="connsiteX70" fmla="*/ 631796 w 856948"/>
                <a:gd name="connsiteY70" fmla="*/ 77065 h 965198"/>
                <a:gd name="connsiteX71" fmla="*/ 679539 w 856948"/>
                <a:gd name="connsiteY71" fmla="*/ 170924 h 965198"/>
                <a:gd name="connsiteX72" fmla="*/ 757665 w 856948"/>
                <a:gd name="connsiteY72" fmla="*/ 242539 h 965198"/>
                <a:gd name="connsiteX73" fmla="*/ 783164 w 856948"/>
                <a:gd name="connsiteY73" fmla="*/ 283771 h 965198"/>
                <a:gd name="connsiteX74" fmla="*/ 780994 w 856948"/>
                <a:gd name="connsiteY74" fmla="*/ 295707 h 965198"/>
                <a:gd name="connsiteX75" fmla="*/ 769600 w 856948"/>
                <a:gd name="connsiteY75" fmla="*/ 292994 h 965198"/>
                <a:gd name="connsiteX76" fmla="*/ 747899 w 856948"/>
                <a:gd name="connsiteY76" fmla="*/ 271836 h 965198"/>
                <a:gd name="connsiteX77" fmla="*/ 693103 w 856948"/>
                <a:gd name="connsiteY77" fmla="*/ 226262 h 965198"/>
                <a:gd name="connsiteX78" fmla="*/ 678997 w 856948"/>
                <a:gd name="connsiteY78" fmla="*/ 230060 h 965198"/>
                <a:gd name="connsiteX79" fmla="*/ 677912 w 856948"/>
                <a:gd name="connsiteY79" fmla="*/ 248506 h 965198"/>
                <a:gd name="connsiteX80" fmla="*/ 696358 w 856948"/>
                <a:gd name="connsiteY80" fmla="*/ 315239 h 965198"/>
                <a:gd name="connsiteX81" fmla="*/ 729995 w 856948"/>
                <a:gd name="connsiteY81" fmla="*/ 373833 h 965198"/>
                <a:gd name="connsiteX82" fmla="*/ 772856 w 856948"/>
                <a:gd name="connsiteY82" fmla="*/ 410183 h 965198"/>
                <a:gd name="connsiteX83" fmla="*/ 810291 w 856948"/>
                <a:gd name="connsiteY83" fmla="*/ 524115 h 965198"/>
                <a:gd name="connsiteX84" fmla="*/ 807578 w 856948"/>
                <a:gd name="connsiteY84" fmla="*/ 564806 h 965198"/>
                <a:gd name="connsiteX85" fmla="*/ 815716 w 856948"/>
                <a:gd name="connsiteY85" fmla="*/ 568061 h 965198"/>
                <a:gd name="connsiteX86" fmla="*/ 834705 w 856948"/>
                <a:gd name="connsiteY86" fmla="*/ 538221 h 965198"/>
                <a:gd name="connsiteX87" fmla="*/ 856949 w 856948"/>
                <a:gd name="connsiteY87" fmla="*/ 407470 h 965198"/>
                <a:gd name="connsiteX88" fmla="*/ 854779 w 856948"/>
                <a:gd name="connsiteY88" fmla="*/ 366780 h 965198"/>
                <a:gd name="connsiteX89" fmla="*/ 485311 w 856948"/>
                <a:gd name="connsiteY89" fmla="*/ 891413 h 965198"/>
                <a:gd name="connsiteX90" fmla="*/ 433227 w 856948"/>
                <a:gd name="connsiteY90" fmla="*/ 835532 h 965198"/>
                <a:gd name="connsiteX91" fmla="*/ 428344 w 856948"/>
                <a:gd name="connsiteY91" fmla="*/ 831734 h 965198"/>
                <a:gd name="connsiteX92" fmla="*/ 424004 w 856948"/>
                <a:gd name="connsiteY92" fmla="*/ 836075 h 965198"/>
                <a:gd name="connsiteX93" fmla="*/ 400675 w 856948"/>
                <a:gd name="connsiteY93" fmla="*/ 871882 h 965198"/>
                <a:gd name="connsiteX94" fmla="*/ 359985 w 856948"/>
                <a:gd name="connsiteY94" fmla="*/ 898466 h 965198"/>
                <a:gd name="connsiteX95" fmla="*/ 368665 w 856948"/>
                <a:gd name="connsiteY95" fmla="*/ 903892 h 965198"/>
                <a:gd name="connsiteX96" fmla="*/ 373006 w 856948"/>
                <a:gd name="connsiteY96" fmla="*/ 906062 h 965198"/>
                <a:gd name="connsiteX97" fmla="*/ 424004 w 856948"/>
                <a:gd name="connsiteY97" fmla="*/ 959773 h 965198"/>
                <a:gd name="connsiteX98" fmla="*/ 428887 w 856948"/>
                <a:gd name="connsiteY98" fmla="*/ 965198 h 965198"/>
                <a:gd name="connsiteX99" fmla="*/ 433227 w 856948"/>
                <a:gd name="connsiteY99" fmla="*/ 959231 h 965198"/>
                <a:gd name="connsiteX100" fmla="*/ 455471 w 856948"/>
                <a:gd name="connsiteY100" fmla="*/ 925593 h 965198"/>
                <a:gd name="connsiteX101" fmla="*/ 497789 w 856948"/>
                <a:gd name="connsiteY101" fmla="*/ 899009 h 965198"/>
                <a:gd name="connsiteX102" fmla="*/ 485311 w 856948"/>
                <a:gd name="connsiteY102" fmla="*/ 891413 h 965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856948" h="965198">
                  <a:moveTo>
                    <a:pt x="616062" y="298420"/>
                  </a:moveTo>
                  <a:cubicBezTo>
                    <a:pt x="593818" y="296250"/>
                    <a:pt x="572117" y="300590"/>
                    <a:pt x="552043" y="308728"/>
                  </a:cubicBezTo>
                  <a:cubicBezTo>
                    <a:pt x="530884" y="316866"/>
                    <a:pt x="515150" y="332600"/>
                    <a:pt x="508097" y="355386"/>
                  </a:cubicBezTo>
                  <a:cubicBezTo>
                    <a:pt x="493991" y="400417"/>
                    <a:pt x="490736" y="447075"/>
                    <a:pt x="480971" y="492648"/>
                  </a:cubicBezTo>
                  <a:cubicBezTo>
                    <a:pt x="473918" y="525743"/>
                    <a:pt x="469035" y="559380"/>
                    <a:pt x="462524" y="593018"/>
                  </a:cubicBezTo>
                  <a:cubicBezTo>
                    <a:pt x="457641" y="616347"/>
                    <a:pt x="453844" y="639676"/>
                    <a:pt x="442993" y="661377"/>
                  </a:cubicBezTo>
                  <a:cubicBezTo>
                    <a:pt x="440280" y="667345"/>
                    <a:pt x="437025" y="672771"/>
                    <a:pt x="428887" y="672771"/>
                  </a:cubicBezTo>
                  <a:cubicBezTo>
                    <a:pt x="420749" y="672771"/>
                    <a:pt x="417494" y="667888"/>
                    <a:pt x="414781" y="661377"/>
                  </a:cubicBezTo>
                  <a:cubicBezTo>
                    <a:pt x="403388" y="638591"/>
                    <a:pt x="400132" y="613634"/>
                    <a:pt x="394165" y="589220"/>
                  </a:cubicBezTo>
                  <a:cubicBezTo>
                    <a:pt x="383856" y="543647"/>
                    <a:pt x="377346" y="496989"/>
                    <a:pt x="368665" y="450873"/>
                  </a:cubicBezTo>
                  <a:cubicBezTo>
                    <a:pt x="362155" y="417778"/>
                    <a:pt x="359985" y="384141"/>
                    <a:pt x="349134" y="352674"/>
                  </a:cubicBezTo>
                  <a:cubicBezTo>
                    <a:pt x="341538" y="330430"/>
                    <a:pt x="325262" y="315239"/>
                    <a:pt x="302476" y="307100"/>
                  </a:cubicBezTo>
                  <a:cubicBezTo>
                    <a:pt x="276434" y="297877"/>
                    <a:pt x="249850" y="297335"/>
                    <a:pt x="223265" y="297877"/>
                  </a:cubicBezTo>
                  <a:cubicBezTo>
                    <a:pt x="217840" y="297877"/>
                    <a:pt x="212414" y="297877"/>
                    <a:pt x="210244" y="292994"/>
                  </a:cubicBezTo>
                  <a:cubicBezTo>
                    <a:pt x="208074" y="287569"/>
                    <a:pt x="209702" y="282686"/>
                    <a:pt x="214042" y="277261"/>
                  </a:cubicBezTo>
                  <a:cubicBezTo>
                    <a:pt x="229776" y="256644"/>
                    <a:pt x="251477" y="241453"/>
                    <a:pt x="268838" y="222465"/>
                  </a:cubicBezTo>
                  <a:cubicBezTo>
                    <a:pt x="287285" y="202933"/>
                    <a:pt x="305188" y="182317"/>
                    <a:pt x="322007" y="161700"/>
                  </a:cubicBezTo>
                  <a:cubicBezTo>
                    <a:pt x="336113" y="144339"/>
                    <a:pt x="351847" y="128063"/>
                    <a:pt x="365410" y="109617"/>
                  </a:cubicBezTo>
                  <a:cubicBezTo>
                    <a:pt x="382771" y="85745"/>
                    <a:pt x="401217" y="62416"/>
                    <a:pt x="414238" y="35832"/>
                  </a:cubicBezTo>
                  <a:cubicBezTo>
                    <a:pt x="417494" y="28779"/>
                    <a:pt x="422376" y="22811"/>
                    <a:pt x="429429" y="22811"/>
                  </a:cubicBezTo>
                  <a:cubicBezTo>
                    <a:pt x="435397" y="22811"/>
                    <a:pt x="440280" y="28779"/>
                    <a:pt x="443535" y="35289"/>
                  </a:cubicBezTo>
                  <a:cubicBezTo>
                    <a:pt x="458184" y="62959"/>
                    <a:pt x="477173" y="87915"/>
                    <a:pt x="496704" y="112872"/>
                  </a:cubicBezTo>
                  <a:cubicBezTo>
                    <a:pt x="521661" y="145424"/>
                    <a:pt x="548245" y="175806"/>
                    <a:pt x="574830" y="206188"/>
                  </a:cubicBezTo>
                  <a:cubicBezTo>
                    <a:pt x="588393" y="221922"/>
                    <a:pt x="603041" y="236028"/>
                    <a:pt x="618775" y="249591"/>
                  </a:cubicBezTo>
                  <a:cubicBezTo>
                    <a:pt x="629083" y="258272"/>
                    <a:pt x="637764" y="268580"/>
                    <a:pt x="646444" y="279431"/>
                  </a:cubicBezTo>
                  <a:cubicBezTo>
                    <a:pt x="650242" y="283771"/>
                    <a:pt x="649700" y="288112"/>
                    <a:pt x="648072" y="292452"/>
                  </a:cubicBezTo>
                  <a:cubicBezTo>
                    <a:pt x="646987" y="296250"/>
                    <a:pt x="642647" y="297335"/>
                    <a:pt x="638306" y="297335"/>
                  </a:cubicBezTo>
                  <a:cubicBezTo>
                    <a:pt x="630711" y="298420"/>
                    <a:pt x="623658" y="298420"/>
                    <a:pt x="616062" y="298420"/>
                  </a:cubicBezTo>
                  <a:close/>
                  <a:moveTo>
                    <a:pt x="338283" y="738960"/>
                  </a:moveTo>
                  <a:cubicBezTo>
                    <a:pt x="314954" y="728652"/>
                    <a:pt x="293795" y="715089"/>
                    <a:pt x="275349" y="697727"/>
                  </a:cubicBezTo>
                  <a:cubicBezTo>
                    <a:pt x="256903" y="680909"/>
                    <a:pt x="240084" y="661377"/>
                    <a:pt x="222723" y="642931"/>
                  </a:cubicBezTo>
                  <a:cubicBezTo>
                    <a:pt x="207532" y="626655"/>
                    <a:pt x="193426" y="608751"/>
                    <a:pt x="180405" y="590305"/>
                  </a:cubicBezTo>
                  <a:cubicBezTo>
                    <a:pt x="168469" y="574029"/>
                    <a:pt x="157618" y="556668"/>
                    <a:pt x="148395" y="538764"/>
                  </a:cubicBezTo>
                  <a:cubicBezTo>
                    <a:pt x="139172" y="521403"/>
                    <a:pt x="130491" y="503499"/>
                    <a:pt x="126151" y="484510"/>
                  </a:cubicBezTo>
                  <a:cubicBezTo>
                    <a:pt x="118013" y="450873"/>
                    <a:pt x="112588" y="416693"/>
                    <a:pt x="105535" y="382513"/>
                  </a:cubicBezTo>
                  <a:cubicBezTo>
                    <a:pt x="94684" y="327717"/>
                    <a:pt x="94141" y="273463"/>
                    <a:pt x="107705" y="219752"/>
                  </a:cubicBezTo>
                  <a:cubicBezTo>
                    <a:pt x="115300" y="188827"/>
                    <a:pt x="127779" y="158988"/>
                    <a:pt x="140257" y="129691"/>
                  </a:cubicBezTo>
                  <a:cubicBezTo>
                    <a:pt x="147310" y="113415"/>
                    <a:pt x="153820" y="97138"/>
                    <a:pt x="160331" y="80320"/>
                  </a:cubicBezTo>
                  <a:cubicBezTo>
                    <a:pt x="161416" y="78150"/>
                    <a:pt x="161958" y="75437"/>
                    <a:pt x="159788" y="74352"/>
                  </a:cubicBezTo>
                  <a:cubicBezTo>
                    <a:pt x="157618" y="73267"/>
                    <a:pt x="155991" y="74352"/>
                    <a:pt x="153820" y="76522"/>
                  </a:cubicBezTo>
                  <a:cubicBezTo>
                    <a:pt x="143512" y="86288"/>
                    <a:pt x="133204" y="94968"/>
                    <a:pt x="122896" y="104734"/>
                  </a:cubicBezTo>
                  <a:cubicBezTo>
                    <a:pt x="97396" y="128063"/>
                    <a:pt x="74067" y="153020"/>
                    <a:pt x="58334" y="183944"/>
                  </a:cubicBezTo>
                  <a:cubicBezTo>
                    <a:pt x="48568" y="204018"/>
                    <a:pt x="42600" y="224635"/>
                    <a:pt x="39887" y="246336"/>
                  </a:cubicBezTo>
                  <a:cubicBezTo>
                    <a:pt x="37175" y="264240"/>
                    <a:pt x="31749" y="282144"/>
                    <a:pt x="32835" y="300590"/>
                  </a:cubicBezTo>
                  <a:cubicBezTo>
                    <a:pt x="33377" y="308186"/>
                    <a:pt x="32292" y="314696"/>
                    <a:pt x="26867" y="320664"/>
                  </a:cubicBezTo>
                  <a:cubicBezTo>
                    <a:pt x="21441" y="326632"/>
                    <a:pt x="17643" y="334227"/>
                    <a:pt x="14931" y="341823"/>
                  </a:cubicBezTo>
                  <a:cubicBezTo>
                    <a:pt x="4623" y="368950"/>
                    <a:pt x="1367" y="397162"/>
                    <a:pt x="282" y="425916"/>
                  </a:cubicBezTo>
                  <a:cubicBezTo>
                    <a:pt x="-803" y="450873"/>
                    <a:pt x="1367" y="475830"/>
                    <a:pt x="4623" y="500244"/>
                  </a:cubicBezTo>
                  <a:cubicBezTo>
                    <a:pt x="8420" y="527371"/>
                    <a:pt x="16558" y="552870"/>
                    <a:pt x="27952" y="577284"/>
                  </a:cubicBezTo>
                  <a:cubicBezTo>
                    <a:pt x="36632" y="596273"/>
                    <a:pt x="48026" y="613092"/>
                    <a:pt x="59961" y="630453"/>
                  </a:cubicBezTo>
                  <a:cubicBezTo>
                    <a:pt x="77865" y="655952"/>
                    <a:pt x="98482" y="678739"/>
                    <a:pt x="120726" y="699355"/>
                  </a:cubicBezTo>
                  <a:cubicBezTo>
                    <a:pt x="141342" y="718886"/>
                    <a:pt x="164671" y="735705"/>
                    <a:pt x="189085" y="750896"/>
                  </a:cubicBezTo>
                  <a:cubicBezTo>
                    <a:pt x="217297" y="768800"/>
                    <a:pt x="246594" y="782906"/>
                    <a:pt x="278061" y="793214"/>
                  </a:cubicBezTo>
                  <a:cubicBezTo>
                    <a:pt x="308986" y="802980"/>
                    <a:pt x="339911" y="811118"/>
                    <a:pt x="373006" y="814373"/>
                  </a:cubicBezTo>
                  <a:cubicBezTo>
                    <a:pt x="414781" y="818171"/>
                    <a:pt x="456014" y="817086"/>
                    <a:pt x="496704" y="806235"/>
                  </a:cubicBezTo>
                  <a:cubicBezTo>
                    <a:pt x="508097" y="802980"/>
                    <a:pt x="519491" y="798639"/>
                    <a:pt x="530884" y="794842"/>
                  </a:cubicBezTo>
                  <a:cubicBezTo>
                    <a:pt x="545532" y="789959"/>
                    <a:pt x="560181" y="785076"/>
                    <a:pt x="573202" y="776938"/>
                  </a:cubicBezTo>
                  <a:cubicBezTo>
                    <a:pt x="575915" y="775310"/>
                    <a:pt x="578627" y="773683"/>
                    <a:pt x="578085" y="769885"/>
                  </a:cubicBezTo>
                  <a:cubicBezTo>
                    <a:pt x="577542" y="765545"/>
                    <a:pt x="573202" y="767172"/>
                    <a:pt x="570489" y="766630"/>
                  </a:cubicBezTo>
                  <a:cubicBezTo>
                    <a:pt x="547703" y="762289"/>
                    <a:pt x="525459" y="767172"/>
                    <a:pt x="499417" y="766630"/>
                  </a:cubicBezTo>
                  <a:cubicBezTo>
                    <a:pt x="444621" y="768257"/>
                    <a:pt x="389824" y="762289"/>
                    <a:pt x="338283" y="738960"/>
                  </a:cubicBezTo>
                  <a:close/>
                  <a:moveTo>
                    <a:pt x="854779" y="366780"/>
                  </a:moveTo>
                  <a:cubicBezTo>
                    <a:pt x="852066" y="323377"/>
                    <a:pt x="836333" y="284314"/>
                    <a:pt x="821142" y="244709"/>
                  </a:cubicBezTo>
                  <a:cubicBezTo>
                    <a:pt x="814631" y="227347"/>
                    <a:pt x="806493" y="209986"/>
                    <a:pt x="797270" y="193710"/>
                  </a:cubicBezTo>
                  <a:cubicBezTo>
                    <a:pt x="788589" y="177434"/>
                    <a:pt x="777739" y="161700"/>
                    <a:pt x="765803" y="147594"/>
                  </a:cubicBezTo>
                  <a:cubicBezTo>
                    <a:pt x="752239" y="131318"/>
                    <a:pt x="735963" y="118297"/>
                    <a:pt x="720230" y="104734"/>
                  </a:cubicBezTo>
                  <a:cubicBezTo>
                    <a:pt x="705581" y="91713"/>
                    <a:pt x="692018" y="77607"/>
                    <a:pt x="678997" y="62959"/>
                  </a:cubicBezTo>
                  <a:cubicBezTo>
                    <a:pt x="666518" y="48853"/>
                    <a:pt x="655125" y="33119"/>
                    <a:pt x="648072" y="15215"/>
                  </a:cubicBezTo>
                  <a:cubicBezTo>
                    <a:pt x="645359" y="8162"/>
                    <a:pt x="642104" y="-518"/>
                    <a:pt x="636679" y="24"/>
                  </a:cubicBezTo>
                  <a:cubicBezTo>
                    <a:pt x="629083" y="567"/>
                    <a:pt x="629626" y="11418"/>
                    <a:pt x="629626" y="17385"/>
                  </a:cubicBezTo>
                  <a:cubicBezTo>
                    <a:pt x="628541" y="37459"/>
                    <a:pt x="628541" y="56991"/>
                    <a:pt x="631796" y="77065"/>
                  </a:cubicBezTo>
                  <a:cubicBezTo>
                    <a:pt x="637221" y="113415"/>
                    <a:pt x="649700" y="146509"/>
                    <a:pt x="679539" y="170924"/>
                  </a:cubicBezTo>
                  <a:cubicBezTo>
                    <a:pt x="706666" y="193168"/>
                    <a:pt x="733250" y="216497"/>
                    <a:pt x="757665" y="242539"/>
                  </a:cubicBezTo>
                  <a:cubicBezTo>
                    <a:pt x="769058" y="254474"/>
                    <a:pt x="778824" y="267495"/>
                    <a:pt x="783164" y="283771"/>
                  </a:cubicBezTo>
                  <a:cubicBezTo>
                    <a:pt x="784249" y="288112"/>
                    <a:pt x="785334" y="292452"/>
                    <a:pt x="780994" y="295707"/>
                  </a:cubicBezTo>
                  <a:cubicBezTo>
                    <a:pt x="776653" y="298962"/>
                    <a:pt x="773398" y="295707"/>
                    <a:pt x="769600" y="292994"/>
                  </a:cubicBezTo>
                  <a:cubicBezTo>
                    <a:pt x="761462" y="287027"/>
                    <a:pt x="754952" y="278889"/>
                    <a:pt x="747899" y="271836"/>
                  </a:cubicBezTo>
                  <a:cubicBezTo>
                    <a:pt x="730538" y="256102"/>
                    <a:pt x="708294" y="245251"/>
                    <a:pt x="693103" y="226262"/>
                  </a:cubicBezTo>
                  <a:cubicBezTo>
                    <a:pt x="688762" y="220294"/>
                    <a:pt x="680624" y="223007"/>
                    <a:pt x="678997" y="230060"/>
                  </a:cubicBezTo>
                  <a:cubicBezTo>
                    <a:pt x="677912" y="236028"/>
                    <a:pt x="677369" y="242539"/>
                    <a:pt x="677912" y="248506"/>
                  </a:cubicBezTo>
                  <a:cubicBezTo>
                    <a:pt x="679539" y="271836"/>
                    <a:pt x="687135" y="294080"/>
                    <a:pt x="696358" y="315239"/>
                  </a:cubicBezTo>
                  <a:cubicBezTo>
                    <a:pt x="705581" y="335855"/>
                    <a:pt x="715889" y="355929"/>
                    <a:pt x="729995" y="373833"/>
                  </a:cubicBezTo>
                  <a:cubicBezTo>
                    <a:pt x="741931" y="389024"/>
                    <a:pt x="758750" y="397704"/>
                    <a:pt x="772856" y="410183"/>
                  </a:cubicBezTo>
                  <a:cubicBezTo>
                    <a:pt x="804865" y="437852"/>
                    <a:pt x="824939" y="482340"/>
                    <a:pt x="810291" y="524115"/>
                  </a:cubicBezTo>
                  <a:cubicBezTo>
                    <a:pt x="805408" y="537136"/>
                    <a:pt x="806493" y="550700"/>
                    <a:pt x="807578" y="564806"/>
                  </a:cubicBezTo>
                  <a:cubicBezTo>
                    <a:pt x="808121" y="572401"/>
                    <a:pt x="813003" y="571316"/>
                    <a:pt x="815716" y="568061"/>
                  </a:cubicBezTo>
                  <a:cubicBezTo>
                    <a:pt x="822769" y="558838"/>
                    <a:pt x="830365" y="549072"/>
                    <a:pt x="834705" y="538221"/>
                  </a:cubicBezTo>
                  <a:cubicBezTo>
                    <a:pt x="851524" y="498074"/>
                    <a:pt x="856949" y="455756"/>
                    <a:pt x="856949" y="407470"/>
                  </a:cubicBezTo>
                  <a:cubicBezTo>
                    <a:pt x="856949" y="397162"/>
                    <a:pt x="855864" y="381971"/>
                    <a:pt x="854779" y="366780"/>
                  </a:cubicBezTo>
                  <a:close/>
                  <a:moveTo>
                    <a:pt x="485311" y="891413"/>
                  </a:moveTo>
                  <a:cubicBezTo>
                    <a:pt x="460897" y="879478"/>
                    <a:pt x="442450" y="861574"/>
                    <a:pt x="433227" y="835532"/>
                  </a:cubicBezTo>
                  <a:cubicBezTo>
                    <a:pt x="432142" y="832819"/>
                    <a:pt x="430515" y="831734"/>
                    <a:pt x="428344" y="831734"/>
                  </a:cubicBezTo>
                  <a:cubicBezTo>
                    <a:pt x="425632" y="831734"/>
                    <a:pt x="425089" y="833904"/>
                    <a:pt x="424004" y="836075"/>
                  </a:cubicBezTo>
                  <a:cubicBezTo>
                    <a:pt x="419664" y="850181"/>
                    <a:pt x="410441" y="861031"/>
                    <a:pt x="400675" y="871882"/>
                  </a:cubicBezTo>
                  <a:cubicBezTo>
                    <a:pt x="389282" y="883818"/>
                    <a:pt x="374633" y="889786"/>
                    <a:pt x="359985" y="898466"/>
                  </a:cubicBezTo>
                  <a:cubicBezTo>
                    <a:pt x="363782" y="900636"/>
                    <a:pt x="366495" y="902264"/>
                    <a:pt x="368665" y="903892"/>
                  </a:cubicBezTo>
                  <a:cubicBezTo>
                    <a:pt x="369750" y="904434"/>
                    <a:pt x="371378" y="905519"/>
                    <a:pt x="373006" y="906062"/>
                  </a:cubicBezTo>
                  <a:cubicBezTo>
                    <a:pt x="397962" y="916370"/>
                    <a:pt x="414238" y="934816"/>
                    <a:pt x="424004" y="959773"/>
                  </a:cubicBezTo>
                  <a:cubicBezTo>
                    <a:pt x="425089" y="962486"/>
                    <a:pt x="425632" y="965198"/>
                    <a:pt x="428887" y="965198"/>
                  </a:cubicBezTo>
                  <a:cubicBezTo>
                    <a:pt x="432142" y="965198"/>
                    <a:pt x="432142" y="961943"/>
                    <a:pt x="433227" y="959231"/>
                  </a:cubicBezTo>
                  <a:cubicBezTo>
                    <a:pt x="438110" y="946210"/>
                    <a:pt x="446248" y="935359"/>
                    <a:pt x="455471" y="925593"/>
                  </a:cubicBezTo>
                  <a:cubicBezTo>
                    <a:pt x="466865" y="913657"/>
                    <a:pt x="481513" y="907147"/>
                    <a:pt x="497789" y="899009"/>
                  </a:cubicBezTo>
                  <a:cubicBezTo>
                    <a:pt x="492364" y="895211"/>
                    <a:pt x="489109" y="893041"/>
                    <a:pt x="485311" y="891413"/>
                  </a:cubicBezTo>
                  <a:close/>
                </a:path>
              </a:pathLst>
            </a:custGeom>
            <a:solidFill>
              <a:schemeClr val="bg1"/>
            </a:solidFill>
            <a:ln w="105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50" name="任意多边形: 形状 249"/>
            <p:cNvSpPr/>
            <p:nvPr/>
          </p:nvSpPr>
          <p:spPr>
            <a:xfrm>
              <a:off x="5764786" y="2436659"/>
              <a:ext cx="718241" cy="758005"/>
            </a:xfrm>
            <a:custGeom>
              <a:avLst/>
              <a:gdLst>
                <a:gd name="connsiteX0" fmla="*/ 556367 w 718241"/>
                <a:gd name="connsiteY0" fmla="*/ 641360 h 758005"/>
                <a:gd name="connsiteX1" fmla="*/ 484752 w 718241"/>
                <a:gd name="connsiteY1" fmla="*/ 626169 h 758005"/>
                <a:gd name="connsiteX2" fmla="*/ 387638 w 718241"/>
                <a:gd name="connsiteY2" fmla="*/ 595245 h 758005"/>
                <a:gd name="connsiteX3" fmla="*/ 380585 w 718241"/>
                <a:gd name="connsiteY3" fmla="*/ 594702 h 758005"/>
                <a:gd name="connsiteX4" fmla="*/ 365937 w 718241"/>
                <a:gd name="connsiteY4" fmla="*/ 575713 h 758005"/>
                <a:gd name="connsiteX5" fmla="*/ 383298 w 718241"/>
                <a:gd name="connsiteY5" fmla="*/ 488365 h 758005"/>
                <a:gd name="connsiteX6" fmla="*/ 388181 w 718241"/>
                <a:gd name="connsiteY6" fmla="*/ 455812 h 758005"/>
                <a:gd name="connsiteX7" fmla="*/ 399574 w 718241"/>
                <a:gd name="connsiteY7" fmla="*/ 444962 h 758005"/>
                <a:gd name="connsiteX8" fmla="*/ 523815 w 718241"/>
                <a:gd name="connsiteY8" fmla="*/ 392336 h 758005"/>
                <a:gd name="connsiteX9" fmla="*/ 598143 w 718241"/>
                <a:gd name="connsiteY9" fmla="*/ 344592 h 758005"/>
                <a:gd name="connsiteX10" fmla="*/ 618759 w 718241"/>
                <a:gd name="connsiteY10" fmla="*/ 338624 h 758005"/>
                <a:gd name="connsiteX11" fmla="*/ 626355 w 718241"/>
                <a:gd name="connsiteY11" fmla="*/ 342965 h 758005"/>
                <a:gd name="connsiteX12" fmla="*/ 661620 w 718241"/>
                <a:gd name="connsiteY12" fmla="*/ 377687 h 758005"/>
                <a:gd name="connsiteX13" fmla="*/ 708820 w 718241"/>
                <a:gd name="connsiteY13" fmla="*/ 430856 h 758005"/>
                <a:gd name="connsiteX14" fmla="*/ 714788 w 718241"/>
                <a:gd name="connsiteY14" fmla="*/ 499215 h 758005"/>
                <a:gd name="connsiteX15" fmla="*/ 714788 w 718241"/>
                <a:gd name="connsiteY15" fmla="*/ 548586 h 758005"/>
                <a:gd name="connsiteX16" fmla="*/ 710448 w 718241"/>
                <a:gd name="connsiteY16" fmla="*/ 556724 h 758005"/>
                <a:gd name="connsiteX17" fmla="*/ 635578 w 718241"/>
                <a:gd name="connsiteY17" fmla="*/ 618031 h 758005"/>
                <a:gd name="connsiteX18" fmla="*/ 556367 w 718241"/>
                <a:gd name="connsiteY18" fmla="*/ 641360 h 758005"/>
                <a:gd name="connsiteX19" fmla="*/ 168996 w 718241"/>
                <a:gd name="connsiteY19" fmla="*/ 648413 h 758005"/>
                <a:gd name="connsiteX20" fmla="*/ 209686 w 718241"/>
                <a:gd name="connsiteY20" fmla="*/ 622914 h 758005"/>
                <a:gd name="connsiteX21" fmla="*/ 295407 w 718241"/>
                <a:gd name="connsiteY21" fmla="*/ 596872 h 758005"/>
                <a:gd name="connsiteX22" fmla="*/ 300290 w 718241"/>
                <a:gd name="connsiteY22" fmla="*/ 589277 h 758005"/>
                <a:gd name="connsiteX23" fmla="*/ 286726 w 718241"/>
                <a:gd name="connsiteY23" fmla="*/ 516034 h 758005"/>
                <a:gd name="connsiteX24" fmla="*/ 278046 w 718241"/>
                <a:gd name="connsiteY24" fmla="*/ 465578 h 758005"/>
                <a:gd name="connsiteX25" fmla="*/ 269365 w 718241"/>
                <a:gd name="connsiteY25" fmla="*/ 461238 h 758005"/>
                <a:gd name="connsiteX26" fmla="*/ 233015 w 718241"/>
                <a:gd name="connsiteY26" fmla="*/ 487280 h 758005"/>
                <a:gd name="connsiteX27" fmla="*/ 165740 w 718241"/>
                <a:gd name="connsiteY27" fmla="*/ 556182 h 758005"/>
                <a:gd name="connsiteX28" fmla="*/ 124508 w 718241"/>
                <a:gd name="connsiteY28" fmla="*/ 610436 h 758005"/>
                <a:gd name="connsiteX29" fmla="*/ 125593 w 718241"/>
                <a:gd name="connsiteY29" fmla="*/ 619116 h 758005"/>
                <a:gd name="connsiteX30" fmla="*/ 153262 w 718241"/>
                <a:gd name="connsiteY30" fmla="*/ 648956 h 758005"/>
                <a:gd name="connsiteX31" fmla="*/ 160858 w 718241"/>
                <a:gd name="connsiteY31" fmla="*/ 656551 h 758005"/>
                <a:gd name="connsiteX32" fmla="*/ 168996 w 718241"/>
                <a:gd name="connsiteY32" fmla="*/ 648413 h 758005"/>
                <a:gd name="connsiteX33" fmla="*/ 6777 w 718241"/>
                <a:gd name="connsiteY33" fmla="*/ 248021 h 758005"/>
                <a:gd name="connsiteX34" fmla="*/ 65913 w 718241"/>
                <a:gd name="connsiteY34" fmla="*/ 157959 h 758005"/>
                <a:gd name="connsiteX35" fmla="*/ 117455 w 718241"/>
                <a:gd name="connsiteY35" fmla="*/ 51622 h 758005"/>
                <a:gd name="connsiteX36" fmla="*/ 131018 w 718241"/>
                <a:gd name="connsiteY36" fmla="*/ 7676 h 758005"/>
                <a:gd name="connsiteX37" fmla="*/ 120710 w 718241"/>
                <a:gd name="connsiteY37" fmla="*/ 1709 h 758005"/>
                <a:gd name="connsiteX38" fmla="*/ 75137 w 718241"/>
                <a:gd name="connsiteY38" fmla="*/ 38059 h 758005"/>
                <a:gd name="connsiteX39" fmla="*/ 64286 w 718241"/>
                <a:gd name="connsiteY39" fmla="*/ 48909 h 758005"/>
                <a:gd name="connsiteX40" fmla="*/ 45297 w 718241"/>
                <a:gd name="connsiteY40" fmla="*/ 104248 h 758005"/>
                <a:gd name="connsiteX41" fmla="*/ 10575 w 718241"/>
                <a:gd name="connsiteY41" fmla="*/ 198650 h 758005"/>
                <a:gd name="connsiteX42" fmla="*/ 1352 w 718241"/>
                <a:gd name="connsiteY42" fmla="*/ 249648 h 758005"/>
                <a:gd name="connsiteX43" fmla="*/ 6777 w 718241"/>
                <a:gd name="connsiteY43" fmla="*/ 248021 h 758005"/>
                <a:gd name="connsiteX44" fmla="*/ 27393 w 718241"/>
                <a:gd name="connsiteY44" fmla="*/ 380400 h 758005"/>
                <a:gd name="connsiteX45" fmla="*/ 40957 w 718241"/>
                <a:gd name="connsiteY45" fmla="*/ 325603 h 758005"/>
                <a:gd name="connsiteX46" fmla="*/ 71881 w 718241"/>
                <a:gd name="connsiteY46" fmla="*/ 258329 h 758005"/>
                <a:gd name="connsiteX47" fmla="*/ 71881 w 718241"/>
                <a:gd name="connsiteY47" fmla="*/ 243138 h 758005"/>
                <a:gd name="connsiteX48" fmla="*/ 56690 w 718241"/>
                <a:gd name="connsiteY48" fmla="*/ 243138 h 758005"/>
                <a:gd name="connsiteX49" fmla="*/ 7862 w 718241"/>
                <a:gd name="connsiteY49" fmla="*/ 274605 h 758005"/>
                <a:gd name="connsiteX50" fmla="*/ 266 w 718241"/>
                <a:gd name="connsiteY50" fmla="*/ 290881 h 758005"/>
                <a:gd name="connsiteX51" fmla="*/ 16000 w 718241"/>
                <a:gd name="connsiteY51" fmla="*/ 397761 h 758005"/>
                <a:gd name="connsiteX52" fmla="*/ 26308 w 718241"/>
                <a:gd name="connsiteY52" fmla="*/ 442792 h 758005"/>
                <a:gd name="connsiteX53" fmla="*/ 27393 w 718241"/>
                <a:gd name="connsiteY53" fmla="*/ 380400 h 758005"/>
                <a:gd name="connsiteX54" fmla="*/ 558538 w 718241"/>
                <a:gd name="connsiteY54" fmla="*/ 708092 h 758005"/>
                <a:gd name="connsiteX55" fmla="*/ 447860 w 718241"/>
                <a:gd name="connsiteY55" fmla="*/ 740645 h 758005"/>
                <a:gd name="connsiteX56" fmla="*/ 478242 w 718241"/>
                <a:gd name="connsiteY56" fmla="*/ 758006 h 758005"/>
                <a:gd name="connsiteX57" fmla="*/ 558538 w 718241"/>
                <a:gd name="connsiteY57" fmla="*/ 708092 h 75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18241" h="758005">
                  <a:moveTo>
                    <a:pt x="556367" y="641360"/>
                  </a:moveTo>
                  <a:cubicBezTo>
                    <a:pt x="530868" y="643530"/>
                    <a:pt x="508082" y="634307"/>
                    <a:pt x="484752" y="626169"/>
                  </a:cubicBezTo>
                  <a:cubicBezTo>
                    <a:pt x="452743" y="615318"/>
                    <a:pt x="420191" y="603925"/>
                    <a:pt x="387638" y="595245"/>
                  </a:cubicBezTo>
                  <a:cubicBezTo>
                    <a:pt x="385468" y="594702"/>
                    <a:pt x="382755" y="594702"/>
                    <a:pt x="380585" y="594702"/>
                  </a:cubicBezTo>
                  <a:cubicBezTo>
                    <a:pt x="361596" y="594160"/>
                    <a:pt x="359969" y="593617"/>
                    <a:pt x="365937" y="575713"/>
                  </a:cubicBezTo>
                  <a:cubicBezTo>
                    <a:pt x="374617" y="546959"/>
                    <a:pt x="376245" y="517119"/>
                    <a:pt x="383298" y="488365"/>
                  </a:cubicBezTo>
                  <a:cubicBezTo>
                    <a:pt x="386011" y="478056"/>
                    <a:pt x="387096" y="466663"/>
                    <a:pt x="388181" y="455812"/>
                  </a:cubicBezTo>
                  <a:cubicBezTo>
                    <a:pt x="388723" y="448217"/>
                    <a:pt x="391979" y="446047"/>
                    <a:pt x="399574" y="444962"/>
                  </a:cubicBezTo>
                  <a:cubicBezTo>
                    <a:pt x="445690" y="438994"/>
                    <a:pt x="488008" y="423260"/>
                    <a:pt x="523815" y="392336"/>
                  </a:cubicBezTo>
                  <a:cubicBezTo>
                    <a:pt x="546059" y="372804"/>
                    <a:pt x="569931" y="354900"/>
                    <a:pt x="598143" y="344592"/>
                  </a:cubicBezTo>
                  <a:cubicBezTo>
                    <a:pt x="604653" y="341880"/>
                    <a:pt x="611706" y="340794"/>
                    <a:pt x="618759" y="338624"/>
                  </a:cubicBezTo>
                  <a:cubicBezTo>
                    <a:pt x="622557" y="337539"/>
                    <a:pt x="624727" y="340794"/>
                    <a:pt x="626355" y="342965"/>
                  </a:cubicBezTo>
                  <a:cubicBezTo>
                    <a:pt x="635035" y="357613"/>
                    <a:pt x="648056" y="368464"/>
                    <a:pt x="661620" y="377687"/>
                  </a:cubicBezTo>
                  <a:cubicBezTo>
                    <a:pt x="681694" y="391793"/>
                    <a:pt x="698512" y="409154"/>
                    <a:pt x="708820" y="430856"/>
                  </a:cubicBezTo>
                  <a:cubicBezTo>
                    <a:pt x="719129" y="452557"/>
                    <a:pt x="720756" y="474801"/>
                    <a:pt x="714788" y="499215"/>
                  </a:cubicBezTo>
                  <a:cubicBezTo>
                    <a:pt x="710448" y="514949"/>
                    <a:pt x="703938" y="532310"/>
                    <a:pt x="714788" y="548586"/>
                  </a:cubicBezTo>
                  <a:cubicBezTo>
                    <a:pt x="716416" y="551299"/>
                    <a:pt x="712618" y="554554"/>
                    <a:pt x="710448" y="556724"/>
                  </a:cubicBezTo>
                  <a:cubicBezTo>
                    <a:pt x="687119" y="579511"/>
                    <a:pt x="663790" y="602298"/>
                    <a:pt x="635578" y="618031"/>
                  </a:cubicBezTo>
                  <a:cubicBezTo>
                    <a:pt x="610621" y="631052"/>
                    <a:pt x="585664" y="644615"/>
                    <a:pt x="556367" y="641360"/>
                  </a:cubicBezTo>
                  <a:close/>
                  <a:moveTo>
                    <a:pt x="168996" y="648413"/>
                  </a:moveTo>
                  <a:cubicBezTo>
                    <a:pt x="180931" y="637020"/>
                    <a:pt x="195037" y="629424"/>
                    <a:pt x="209686" y="622914"/>
                  </a:cubicBezTo>
                  <a:cubicBezTo>
                    <a:pt x="236813" y="610436"/>
                    <a:pt x="266110" y="602840"/>
                    <a:pt x="295407" y="596872"/>
                  </a:cubicBezTo>
                  <a:cubicBezTo>
                    <a:pt x="300290" y="595787"/>
                    <a:pt x="300832" y="594702"/>
                    <a:pt x="300290" y="589277"/>
                  </a:cubicBezTo>
                  <a:cubicBezTo>
                    <a:pt x="297034" y="564862"/>
                    <a:pt x="290524" y="540448"/>
                    <a:pt x="286726" y="516034"/>
                  </a:cubicBezTo>
                  <a:cubicBezTo>
                    <a:pt x="284556" y="499215"/>
                    <a:pt x="280758" y="482397"/>
                    <a:pt x="278046" y="465578"/>
                  </a:cubicBezTo>
                  <a:cubicBezTo>
                    <a:pt x="276961" y="460153"/>
                    <a:pt x="276418" y="456897"/>
                    <a:pt x="269365" y="461238"/>
                  </a:cubicBezTo>
                  <a:cubicBezTo>
                    <a:pt x="256344" y="468833"/>
                    <a:pt x="244408" y="477514"/>
                    <a:pt x="233015" y="487280"/>
                  </a:cubicBezTo>
                  <a:cubicBezTo>
                    <a:pt x="208601" y="508439"/>
                    <a:pt x="186357" y="531225"/>
                    <a:pt x="165740" y="556182"/>
                  </a:cubicBezTo>
                  <a:cubicBezTo>
                    <a:pt x="151092" y="573543"/>
                    <a:pt x="138071" y="591989"/>
                    <a:pt x="124508" y="610436"/>
                  </a:cubicBezTo>
                  <a:cubicBezTo>
                    <a:pt x="122337" y="613691"/>
                    <a:pt x="122337" y="615861"/>
                    <a:pt x="125593" y="619116"/>
                  </a:cubicBezTo>
                  <a:cubicBezTo>
                    <a:pt x="135358" y="628882"/>
                    <a:pt x="144039" y="639190"/>
                    <a:pt x="153262" y="648956"/>
                  </a:cubicBezTo>
                  <a:cubicBezTo>
                    <a:pt x="155432" y="651668"/>
                    <a:pt x="159230" y="651668"/>
                    <a:pt x="160858" y="656551"/>
                  </a:cubicBezTo>
                  <a:cubicBezTo>
                    <a:pt x="162485" y="650583"/>
                    <a:pt x="166283" y="651126"/>
                    <a:pt x="168996" y="648413"/>
                  </a:cubicBezTo>
                  <a:close/>
                  <a:moveTo>
                    <a:pt x="6777" y="248021"/>
                  </a:moveTo>
                  <a:cubicBezTo>
                    <a:pt x="29563" y="219809"/>
                    <a:pt x="48552" y="189426"/>
                    <a:pt x="65913" y="157959"/>
                  </a:cubicBezTo>
                  <a:cubicBezTo>
                    <a:pt x="84902" y="123237"/>
                    <a:pt x="102806" y="87972"/>
                    <a:pt x="117455" y="51622"/>
                  </a:cubicBezTo>
                  <a:cubicBezTo>
                    <a:pt x="123422" y="37516"/>
                    <a:pt x="129933" y="23410"/>
                    <a:pt x="131018" y="7676"/>
                  </a:cubicBezTo>
                  <a:cubicBezTo>
                    <a:pt x="131561" y="-462"/>
                    <a:pt x="127763" y="-1547"/>
                    <a:pt x="120710" y="1709"/>
                  </a:cubicBezTo>
                  <a:cubicBezTo>
                    <a:pt x="102806" y="10389"/>
                    <a:pt x="88700" y="24495"/>
                    <a:pt x="75137" y="38059"/>
                  </a:cubicBezTo>
                  <a:cubicBezTo>
                    <a:pt x="71339" y="41856"/>
                    <a:pt x="64286" y="41856"/>
                    <a:pt x="64286" y="48909"/>
                  </a:cubicBezTo>
                  <a:cubicBezTo>
                    <a:pt x="63201" y="68983"/>
                    <a:pt x="52893" y="86344"/>
                    <a:pt x="45297" y="104248"/>
                  </a:cubicBezTo>
                  <a:cubicBezTo>
                    <a:pt x="32276" y="135173"/>
                    <a:pt x="19798" y="166640"/>
                    <a:pt x="10575" y="198650"/>
                  </a:cubicBezTo>
                  <a:cubicBezTo>
                    <a:pt x="6234" y="214926"/>
                    <a:pt x="4607" y="231744"/>
                    <a:pt x="1352" y="249648"/>
                  </a:cubicBezTo>
                  <a:cubicBezTo>
                    <a:pt x="4607" y="248563"/>
                    <a:pt x="5692" y="248563"/>
                    <a:pt x="6777" y="248021"/>
                  </a:cubicBezTo>
                  <a:close/>
                  <a:moveTo>
                    <a:pt x="27393" y="380400"/>
                  </a:moveTo>
                  <a:cubicBezTo>
                    <a:pt x="29021" y="360868"/>
                    <a:pt x="34989" y="342965"/>
                    <a:pt x="40957" y="325603"/>
                  </a:cubicBezTo>
                  <a:cubicBezTo>
                    <a:pt x="49095" y="302274"/>
                    <a:pt x="61573" y="280573"/>
                    <a:pt x="71881" y="258329"/>
                  </a:cubicBezTo>
                  <a:cubicBezTo>
                    <a:pt x="74052" y="253446"/>
                    <a:pt x="76764" y="248021"/>
                    <a:pt x="71881" y="243138"/>
                  </a:cubicBezTo>
                  <a:cubicBezTo>
                    <a:pt x="66999" y="239340"/>
                    <a:pt x="62116" y="240968"/>
                    <a:pt x="56690" y="243138"/>
                  </a:cubicBezTo>
                  <a:cubicBezTo>
                    <a:pt x="38787" y="251276"/>
                    <a:pt x="23596" y="263212"/>
                    <a:pt x="7862" y="274605"/>
                  </a:cubicBezTo>
                  <a:cubicBezTo>
                    <a:pt x="1352" y="279488"/>
                    <a:pt x="-819" y="283828"/>
                    <a:pt x="266" y="290881"/>
                  </a:cubicBezTo>
                  <a:cubicBezTo>
                    <a:pt x="4064" y="326688"/>
                    <a:pt x="7319" y="362496"/>
                    <a:pt x="16000" y="397761"/>
                  </a:cubicBezTo>
                  <a:cubicBezTo>
                    <a:pt x="19255" y="411867"/>
                    <a:pt x="17628" y="426515"/>
                    <a:pt x="26308" y="442792"/>
                  </a:cubicBezTo>
                  <a:cubicBezTo>
                    <a:pt x="24681" y="420005"/>
                    <a:pt x="25766" y="400474"/>
                    <a:pt x="27393" y="380400"/>
                  </a:cubicBezTo>
                  <a:close/>
                  <a:moveTo>
                    <a:pt x="558538" y="708092"/>
                  </a:moveTo>
                  <a:cubicBezTo>
                    <a:pt x="517847" y="707550"/>
                    <a:pt x="485295" y="733049"/>
                    <a:pt x="447860" y="740645"/>
                  </a:cubicBezTo>
                  <a:cubicBezTo>
                    <a:pt x="469561" y="742272"/>
                    <a:pt x="479870" y="748240"/>
                    <a:pt x="478242" y="758006"/>
                  </a:cubicBezTo>
                  <a:cubicBezTo>
                    <a:pt x="506996" y="741730"/>
                    <a:pt x="536836" y="731964"/>
                    <a:pt x="558538" y="708092"/>
                  </a:cubicBezTo>
                  <a:close/>
                </a:path>
              </a:pathLst>
            </a:custGeom>
            <a:solidFill>
              <a:schemeClr val="bg1">
                <a:alpha val="30000"/>
              </a:schemeClr>
            </a:solidFill>
            <a:ln w="105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57" name="组合 256"/>
          <p:cNvGrpSpPr/>
          <p:nvPr/>
        </p:nvGrpSpPr>
        <p:grpSpPr>
          <a:xfrm>
            <a:off x="3821479" y="2204761"/>
            <a:ext cx="523824" cy="1719146"/>
            <a:chOff x="3821479" y="2335111"/>
            <a:chExt cx="523824" cy="1719146"/>
          </a:xfrm>
        </p:grpSpPr>
        <p:sp>
          <p:nvSpPr>
            <p:cNvPr id="49" name="椭圆 48"/>
            <p:cNvSpPr/>
            <p:nvPr>
              <p:custDataLst>
                <p:tags r:id="rId1"/>
              </p:custDataLst>
            </p:nvPr>
          </p:nvSpPr>
          <p:spPr>
            <a:xfrm>
              <a:off x="4218636" y="2335111"/>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50" name="椭圆 49"/>
            <p:cNvSpPr/>
            <p:nvPr>
              <p:custDataLst>
                <p:tags r:id="rId2"/>
              </p:custDataLst>
            </p:nvPr>
          </p:nvSpPr>
          <p:spPr>
            <a:xfrm>
              <a:off x="4001479" y="2865937"/>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51" name="椭圆 50"/>
            <p:cNvSpPr/>
            <p:nvPr>
              <p:custDataLst>
                <p:tags r:id="rId3"/>
              </p:custDataLst>
            </p:nvPr>
          </p:nvSpPr>
          <p:spPr>
            <a:xfrm>
              <a:off x="4001479" y="3396763"/>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52" name="椭圆 51"/>
            <p:cNvSpPr/>
            <p:nvPr>
              <p:custDataLst>
                <p:tags r:id="rId4"/>
              </p:custDataLst>
            </p:nvPr>
          </p:nvSpPr>
          <p:spPr>
            <a:xfrm>
              <a:off x="4218636" y="3927590"/>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53" name="任意多边形: 形状 252"/>
            <p:cNvSpPr/>
            <p:nvPr/>
          </p:nvSpPr>
          <p:spPr>
            <a:xfrm>
              <a:off x="4023360" y="2399005"/>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54" name="任意多边形: 形状 253"/>
            <p:cNvSpPr/>
            <p:nvPr/>
          </p:nvSpPr>
          <p:spPr>
            <a:xfrm>
              <a:off x="3821479" y="2929270"/>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55" name="任意多边形: 形状 254"/>
            <p:cNvSpPr/>
            <p:nvPr/>
          </p:nvSpPr>
          <p:spPr>
            <a:xfrm>
              <a:off x="3821479" y="3460096"/>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56" name="任意多边形: 形状 255"/>
            <p:cNvSpPr/>
            <p:nvPr/>
          </p:nvSpPr>
          <p:spPr>
            <a:xfrm>
              <a:off x="4023360" y="3990923"/>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58" name="组合 257"/>
          <p:cNvGrpSpPr/>
          <p:nvPr/>
        </p:nvGrpSpPr>
        <p:grpSpPr>
          <a:xfrm flipH="1">
            <a:off x="7852173" y="2201990"/>
            <a:ext cx="523823" cy="1719146"/>
            <a:chOff x="3821479" y="2335111"/>
            <a:chExt cx="523823" cy="1719146"/>
          </a:xfrm>
        </p:grpSpPr>
        <p:sp>
          <p:nvSpPr>
            <p:cNvPr id="259" name="椭圆 258"/>
            <p:cNvSpPr/>
            <p:nvPr>
              <p:custDataLst>
                <p:tags r:id="rId5"/>
              </p:custDataLst>
            </p:nvPr>
          </p:nvSpPr>
          <p:spPr>
            <a:xfrm>
              <a:off x="4218635" y="2335111"/>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60" name="椭圆 259"/>
            <p:cNvSpPr/>
            <p:nvPr>
              <p:custDataLst>
                <p:tags r:id="rId6"/>
              </p:custDataLst>
            </p:nvPr>
          </p:nvSpPr>
          <p:spPr>
            <a:xfrm>
              <a:off x="4001479" y="2865937"/>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61" name="椭圆 260"/>
            <p:cNvSpPr/>
            <p:nvPr>
              <p:custDataLst>
                <p:tags r:id="rId7"/>
              </p:custDataLst>
            </p:nvPr>
          </p:nvSpPr>
          <p:spPr>
            <a:xfrm>
              <a:off x="4001479" y="3396763"/>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62" name="椭圆 261"/>
            <p:cNvSpPr/>
            <p:nvPr>
              <p:custDataLst>
                <p:tags r:id="rId8"/>
              </p:custDataLst>
            </p:nvPr>
          </p:nvSpPr>
          <p:spPr>
            <a:xfrm>
              <a:off x="4218635" y="3927590"/>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63" name="任意多边形: 形状 262"/>
            <p:cNvSpPr/>
            <p:nvPr/>
          </p:nvSpPr>
          <p:spPr>
            <a:xfrm>
              <a:off x="4023360" y="2399005"/>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64" name="任意多边形: 形状 263"/>
            <p:cNvSpPr/>
            <p:nvPr/>
          </p:nvSpPr>
          <p:spPr>
            <a:xfrm>
              <a:off x="3821479" y="2929270"/>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65" name="任意多边形: 形状 264"/>
            <p:cNvSpPr/>
            <p:nvPr/>
          </p:nvSpPr>
          <p:spPr>
            <a:xfrm>
              <a:off x="3821479" y="3460096"/>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66" name="任意多边形: 形状 265"/>
            <p:cNvSpPr/>
            <p:nvPr/>
          </p:nvSpPr>
          <p:spPr>
            <a:xfrm>
              <a:off x="4023360" y="3990923"/>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15"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重点工作汇报</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9"/>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矩形 325"/>
          <p:cNvSpPr/>
          <p:nvPr/>
        </p:nvSpPr>
        <p:spPr>
          <a:xfrm>
            <a:off x="334964" y="900113"/>
            <a:ext cx="5725038" cy="3492000"/>
          </a:xfrm>
          <a:prstGeom prst="rect">
            <a:avLst/>
          </a:prstGeom>
          <a:solidFill>
            <a:schemeClr val="accent1">
              <a:lumMod val="20000"/>
              <a:lumOff val="80000"/>
              <a:alpha val="16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27" name="矩形 326"/>
          <p:cNvSpPr/>
          <p:nvPr/>
        </p:nvSpPr>
        <p:spPr>
          <a:xfrm>
            <a:off x="6132001" y="900113"/>
            <a:ext cx="5725037" cy="3492000"/>
          </a:xfrm>
          <a:prstGeom prst="rect">
            <a:avLst/>
          </a:prstGeom>
          <a:solidFill>
            <a:schemeClr val="accent1">
              <a:lumMod val="20000"/>
              <a:lumOff val="80000"/>
              <a:alpha val="16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28" name="矩形 327"/>
          <p:cNvSpPr/>
          <p:nvPr/>
        </p:nvSpPr>
        <p:spPr>
          <a:xfrm>
            <a:off x="336000" y="4449857"/>
            <a:ext cx="11520000" cy="2155917"/>
          </a:xfrm>
          <a:prstGeom prst="rect">
            <a:avLst/>
          </a:prstGeom>
          <a:solidFill>
            <a:schemeClr val="accent1">
              <a:lumMod val="20000"/>
              <a:lumOff val="80000"/>
              <a:alpha val="16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82" name="文本框 181"/>
          <p:cNvSpPr txBox="1"/>
          <p:nvPr/>
        </p:nvSpPr>
        <p:spPr>
          <a:xfrm flipH="1">
            <a:off x="8521732" y="1298100"/>
            <a:ext cx="2492990" cy="383619"/>
          </a:xfrm>
          <a:prstGeom prst="roundRect">
            <a:avLst>
              <a:gd name="adj" fmla="val 6801"/>
            </a:avLst>
          </a:prstGeom>
          <a:noFill/>
        </p:spPr>
        <p:txBody>
          <a:bodyPr wrap="none" rtlCol="0" anchor="ctr">
            <a:noAutofit/>
          </a:bodyPr>
          <a:lstStyle>
            <a:defPPr>
              <a:defRPr lang="zh-CN"/>
            </a:defPPr>
            <a:lvl1pPr marR="0" lvl="0" indent="0" algn="ctr" fontAlgn="auto">
              <a:lnSpc>
                <a:spcPct val="100000"/>
              </a:lnSpc>
              <a:spcBef>
                <a:spcPts val="0"/>
              </a:spcBef>
              <a:spcAft>
                <a:spcPts val="0"/>
              </a:spcAft>
              <a:buClrTx/>
              <a:buSzTx/>
              <a:buFontTx/>
              <a:buNone/>
              <a:defRPr kumimoji="0" sz="1400" b="0" i="0" u="none" strike="noStrike" cap="none" spc="0" normalizeH="0" baseline="0">
                <a:ln>
                  <a:noFill/>
                </a:ln>
                <a:solidFill>
                  <a:schemeClr val="tx2"/>
                </a:solidFill>
                <a:effectLst/>
                <a:uLnTx/>
                <a:uFillTx/>
                <a:latin typeface="OPPOSans B" panose="00020600040101010101" charset="-122"/>
                <a:ea typeface="OPPOSans B" panose="00020600040101010101" charset="-122"/>
              </a:defRPr>
            </a:lvl1pPr>
          </a:lstStyle>
          <a:p>
            <a:r>
              <a:rPr lang="zh-CN" altLang="en-US" sz="1800" dirty="0">
                <a:latin typeface="+mj-ea"/>
                <a:ea typeface="+mj-ea"/>
                <a:cs typeface="思源黑体 CN Normal" panose="020B0400000000000000" pitchFamily="34" charset="-122"/>
              </a:rPr>
              <a:t>研发勇创新</a:t>
            </a:r>
            <a:r>
              <a:rPr lang="en-US" altLang="zh-CN" sz="1800" dirty="0">
                <a:latin typeface="+mj-ea"/>
                <a:ea typeface="+mj-ea"/>
                <a:cs typeface="思源黑体 CN Normal" panose="020B0400000000000000" pitchFamily="34" charset="-122"/>
              </a:rPr>
              <a:t>·</a:t>
            </a:r>
            <a:r>
              <a:rPr lang="zh-CN" altLang="en-US" sz="1800" dirty="0">
                <a:latin typeface="+mj-ea"/>
                <a:ea typeface="+mj-ea"/>
                <a:cs typeface="思源黑体 CN Normal" panose="020B0400000000000000" pitchFamily="34" charset="-122"/>
              </a:rPr>
              <a:t>品质严管控</a:t>
            </a:r>
            <a:endParaRPr lang="zh-CN" altLang="en-US" sz="1800" dirty="0">
              <a:latin typeface="+mj-ea"/>
              <a:ea typeface="+mj-ea"/>
              <a:cs typeface="思源黑体 CN Normal" panose="020B0400000000000000" pitchFamily="34" charset="-122"/>
            </a:endParaRPr>
          </a:p>
        </p:txBody>
      </p:sp>
      <p:sp>
        <p:nvSpPr>
          <p:cNvPr id="219" name="文本框 218"/>
          <p:cNvSpPr txBox="1"/>
          <p:nvPr/>
        </p:nvSpPr>
        <p:spPr>
          <a:xfrm>
            <a:off x="1181701" y="1299885"/>
            <a:ext cx="2492990" cy="380048"/>
          </a:xfrm>
          <a:prstGeom prst="roundRect">
            <a:avLst>
              <a:gd name="adj" fmla="val 5611"/>
            </a:avLst>
          </a:prstGeom>
          <a:noFill/>
        </p:spPr>
        <p:txBody>
          <a:bodyPr wrap="none" rtlCol="0" anchor="ctr">
            <a:noAutofit/>
          </a:bodyPr>
          <a:lstStyle>
            <a:defPPr>
              <a:defRPr lang="zh-CN"/>
            </a:defPPr>
            <a:lvl1pPr algn="ctr">
              <a:defRPr>
                <a:solidFill>
                  <a:schemeClr val="bg1"/>
                </a:solidFill>
                <a:effectLst>
                  <a:outerShdw blurRad="38100" dist="38100" dir="2700000" algn="tl">
                    <a:srgbClr val="000000">
                      <a:alpha val="43137"/>
                    </a:srgbClr>
                  </a:outerShdw>
                </a:effectLst>
                <a:latin typeface="+mj-ea"/>
                <a:ea typeface="+mj-ea"/>
              </a:defRPr>
            </a:lvl1pPr>
          </a:lstStyle>
          <a:p>
            <a:pPr>
              <a:defRPr/>
            </a:pPr>
            <a:r>
              <a:rPr kumimoji="0" lang="zh-CN" altLang="en-US" b="0" i="0" u="none" strike="noStrike" kern="1200" cap="none" spc="0" normalizeH="0" baseline="0" noProof="0" dirty="0">
                <a:ln>
                  <a:noFill/>
                </a:ln>
                <a:solidFill>
                  <a:schemeClr val="tx2"/>
                </a:solidFill>
                <a:effectLst/>
                <a:uLnTx/>
                <a:uFillTx/>
                <a:cs typeface="思源黑体 CN Normal" panose="020B0400000000000000" pitchFamily="34" charset="-122"/>
              </a:rPr>
              <a:t>流量巧布局</a:t>
            </a:r>
            <a:r>
              <a:rPr lang="en-US" altLang="zh-CN" dirty="0">
                <a:solidFill>
                  <a:schemeClr val="tx2"/>
                </a:solidFill>
                <a:effectLst/>
                <a:cs typeface="思源黑体 CN Normal" panose="020B0400000000000000" pitchFamily="34" charset="-122"/>
              </a:rPr>
              <a:t>·</a:t>
            </a:r>
            <a:r>
              <a:rPr lang="zh-CN" altLang="en-US" dirty="0">
                <a:solidFill>
                  <a:schemeClr val="tx2"/>
                </a:solidFill>
                <a:effectLst/>
                <a:cs typeface="思源黑体 CN Normal" panose="020B0400000000000000" pitchFamily="34" charset="-122"/>
              </a:rPr>
              <a:t>数据定策略</a:t>
            </a:r>
            <a:endParaRPr kumimoji="0" lang="zh-CN" altLang="en-US" b="0" i="0" u="none" strike="noStrike" kern="1200" cap="none" spc="0" normalizeH="0" baseline="0" noProof="0" dirty="0">
              <a:ln>
                <a:noFill/>
              </a:ln>
              <a:solidFill>
                <a:schemeClr val="tx2"/>
              </a:solidFill>
              <a:effectLst/>
              <a:uLnTx/>
              <a:uFillTx/>
              <a:cs typeface="思源黑体 CN Normal" panose="020B0400000000000000" pitchFamily="34" charset="-122"/>
            </a:endParaRPr>
          </a:p>
        </p:txBody>
      </p:sp>
      <p:grpSp>
        <p:nvGrpSpPr>
          <p:cNvPr id="2" name="组合 1"/>
          <p:cNvGrpSpPr/>
          <p:nvPr/>
        </p:nvGrpSpPr>
        <p:grpSpPr>
          <a:xfrm>
            <a:off x="4209062" y="1350166"/>
            <a:ext cx="3773876" cy="3916014"/>
            <a:chOff x="4586840" y="2134180"/>
            <a:chExt cx="3018319" cy="3132000"/>
          </a:xfrm>
        </p:grpSpPr>
        <p:sp>
          <p:nvSpPr>
            <p:cNvPr id="168" name="任意多边形: 形状 167"/>
            <p:cNvSpPr/>
            <p:nvPr/>
          </p:nvSpPr>
          <p:spPr bwMode="auto">
            <a:xfrm>
              <a:off x="4811748" y="3669401"/>
              <a:ext cx="2569327" cy="1596779"/>
            </a:xfrm>
            <a:custGeom>
              <a:avLst/>
              <a:gdLst>
                <a:gd name="connsiteX0" fmla="*/ 1659743 w 3319691"/>
                <a:gd name="connsiteY0" fmla="*/ 0 h 2053453"/>
                <a:gd name="connsiteX1" fmla="*/ 3319691 w 3319691"/>
                <a:gd name="connsiteY1" fmla="*/ 958440 h 2053453"/>
                <a:gd name="connsiteX2" fmla="*/ 1793234 w 3319691"/>
                <a:gd name="connsiteY2" fmla="*/ 1912138 h 2053453"/>
                <a:gd name="connsiteX3" fmla="*/ 1787840 w 3319691"/>
                <a:gd name="connsiteY3" fmla="*/ 1912258 h 2053453"/>
                <a:gd name="connsiteX4" fmla="*/ 1646645 w 3319691"/>
                <a:gd name="connsiteY4" fmla="*/ 2053453 h 2053453"/>
                <a:gd name="connsiteX5" fmla="*/ 1501440 w 3319691"/>
                <a:gd name="connsiteY5" fmla="*/ 1908248 h 2053453"/>
                <a:gd name="connsiteX6" fmla="*/ 1422932 w 3319691"/>
                <a:gd name="connsiteY6" fmla="*/ 1902369 h 2053453"/>
                <a:gd name="connsiteX7" fmla="*/ 701509 w 3319691"/>
                <a:gd name="connsiteY7" fmla="*/ 1659743 h 2053453"/>
                <a:gd name="connsiteX8" fmla="*/ 0 w 3319691"/>
                <a:gd name="connsiteY8" fmla="*/ 958440 h 205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9691" h="2053453">
                  <a:moveTo>
                    <a:pt x="1659743" y="0"/>
                  </a:moveTo>
                  <a:lnTo>
                    <a:pt x="3319691" y="958440"/>
                  </a:lnTo>
                  <a:cubicBezTo>
                    <a:pt x="2988861" y="1531303"/>
                    <a:pt x="2406961" y="1868803"/>
                    <a:pt x="1793234" y="1912138"/>
                  </a:cubicBezTo>
                  <a:lnTo>
                    <a:pt x="1787840" y="1912258"/>
                  </a:lnTo>
                  <a:lnTo>
                    <a:pt x="1646645" y="2053453"/>
                  </a:lnTo>
                  <a:lnTo>
                    <a:pt x="1501440" y="1908248"/>
                  </a:lnTo>
                  <a:lnTo>
                    <a:pt x="1422932" y="1902369"/>
                  </a:lnTo>
                  <a:cubicBezTo>
                    <a:pt x="1175857" y="1871696"/>
                    <a:pt x="930705" y="1792075"/>
                    <a:pt x="701509" y="1659743"/>
                  </a:cubicBezTo>
                  <a:cubicBezTo>
                    <a:pt x="410142" y="1491686"/>
                    <a:pt x="168263" y="1249602"/>
                    <a:pt x="0" y="958440"/>
                  </a:cubicBezTo>
                  <a:close/>
                </a:path>
              </a:pathLst>
            </a:custGeom>
            <a:solidFill>
              <a:schemeClr val="accent1"/>
            </a:solidFill>
            <a:ln w="0">
              <a:noFill/>
              <a:prstDash val="solid"/>
              <a:round/>
            </a:ln>
            <a:effectLst/>
          </p:spPr>
          <p:txBody>
            <a:bodyPr vert="horz" wrap="square" lIns="91440" tIns="45720" rIns="91440" bIns="45720" numCol="1" anchor="t" anchorCtr="0" compatLnSpc="1">
              <a:noAutofit/>
            </a:bodyPr>
            <a:lstStyle/>
            <a:p>
              <a:endParaRPr lang="zh-CN" altLang="en-US" sz="2000" dirty="0">
                <a:latin typeface="思源黑体 CN Normal" panose="020B0400000000000000" pitchFamily="34" charset="-122"/>
                <a:cs typeface="思源黑体 CN Normal" panose="020B0400000000000000" pitchFamily="34" charset="-122"/>
              </a:endParaRPr>
            </a:p>
          </p:txBody>
        </p:sp>
        <p:sp>
          <p:nvSpPr>
            <p:cNvPr id="169" name="任意多边形: 形状 168"/>
            <p:cNvSpPr/>
            <p:nvPr/>
          </p:nvSpPr>
          <p:spPr bwMode="auto">
            <a:xfrm>
              <a:off x="6122344" y="2134180"/>
              <a:ext cx="1482815" cy="2236691"/>
            </a:xfrm>
            <a:custGeom>
              <a:avLst/>
              <a:gdLst>
                <a:gd name="connsiteX0" fmla="*/ 0 w 1915867"/>
                <a:gd name="connsiteY0" fmla="*/ 0 h 2876378"/>
                <a:gd name="connsiteX1" fmla="*/ 1588695 w 1915867"/>
                <a:gd name="connsiteY1" fmla="*/ 845429 h 2876378"/>
                <a:gd name="connsiteX2" fmla="*/ 1609642 w 1915867"/>
                <a:gd name="connsiteY2" fmla="*/ 879943 h 2876378"/>
                <a:gd name="connsiteX3" fmla="*/ 1809209 w 1915867"/>
                <a:gd name="connsiteY3" fmla="*/ 937688 h 2876378"/>
                <a:gd name="connsiteX4" fmla="*/ 1750539 w 1915867"/>
                <a:gd name="connsiteY4" fmla="*/ 1140450 h 2876378"/>
                <a:gd name="connsiteX5" fmla="*/ 1765324 w 1915867"/>
                <a:gd name="connsiteY5" fmla="*/ 1171172 h 2876378"/>
                <a:gd name="connsiteX6" fmla="*/ 1915867 w 1915867"/>
                <a:gd name="connsiteY6" fmla="*/ 1917654 h 2876378"/>
                <a:gd name="connsiteX7" fmla="*/ 1659250 w 1915867"/>
                <a:gd name="connsiteY7" fmla="*/ 2876378 h 2876378"/>
                <a:gd name="connsiteX8" fmla="*/ 0 w 1915867"/>
                <a:gd name="connsiteY8" fmla="*/ 1917654 h 2876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867" h="2876378">
                  <a:moveTo>
                    <a:pt x="0" y="0"/>
                  </a:moveTo>
                  <a:cubicBezTo>
                    <a:pt x="661382" y="0"/>
                    <a:pt x="1244422" y="335335"/>
                    <a:pt x="1588695" y="845429"/>
                  </a:cubicBezTo>
                  <a:lnTo>
                    <a:pt x="1609642" y="879943"/>
                  </a:lnTo>
                  <a:lnTo>
                    <a:pt x="1809209" y="937688"/>
                  </a:lnTo>
                  <a:lnTo>
                    <a:pt x="1750539" y="1140450"/>
                  </a:lnTo>
                  <a:lnTo>
                    <a:pt x="1765324" y="1171172"/>
                  </a:lnTo>
                  <a:cubicBezTo>
                    <a:pt x="1862264" y="1400602"/>
                    <a:pt x="1915867" y="1652855"/>
                    <a:pt x="1915867" y="1917654"/>
                  </a:cubicBezTo>
                  <a:cubicBezTo>
                    <a:pt x="1915867" y="2254146"/>
                    <a:pt x="1827236" y="2584862"/>
                    <a:pt x="1659250" y="2876378"/>
                  </a:cubicBezTo>
                  <a:lnTo>
                    <a:pt x="0" y="1917654"/>
                  </a:lnTo>
                  <a:close/>
                </a:path>
              </a:pathLst>
            </a:custGeom>
            <a:solidFill>
              <a:schemeClr val="accent1"/>
            </a:solidFill>
            <a:ln w="0">
              <a:noFill/>
              <a:prstDash val="solid"/>
              <a:round/>
            </a:ln>
            <a:effectLst/>
          </p:spPr>
          <p:txBody>
            <a:bodyPr vert="horz" wrap="square" lIns="91440" tIns="45720" rIns="91440" bIns="45720" numCol="1" anchor="t" anchorCtr="0" compatLnSpc="1">
              <a:noAutofit/>
            </a:bodyPr>
            <a:lstStyle/>
            <a:p>
              <a:endParaRPr lang="zh-CN" altLang="en-US" sz="2000" dirty="0">
                <a:latin typeface="思源黑体 CN Normal" panose="020B0400000000000000" pitchFamily="34" charset="-122"/>
                <a:cs typeface="思源黑体 CN Normal" panose="020B0400000000000000" pitchFamily="34" charset="-122"/>
              </a:endParaRPr>
            </a:p>
          </p:txBody>
        </p:sp>
        <p:sp>
          <p:nvSpPr>
            <p:cNvPr id="170" name="任意多边形: 形状 169"/>
            <p:cNvSpPr/>
            <p:nvPr/>
          </p:nvSpPr>
          <p:spPr bwMode="auto">
            <a:xfrm>
              <a:off x="4586840" y="2134180"/>
              <a:ext cx="1483638" cy="2235355"/>
            </a:xfrm>
            <a:custGeom>
              <a:avLst/>
              <a:gdLst>
                <a:gd name="connsiteX0" fmla="*/ 1916827 w 1916930"/>
                <a:gd name="connsiteY0" fmla="*/ 0 h 2874660"/>
                <a:gd name="connsiteX1" fmla="*/ 1916930 w 1916930"/>
                <a:gd name="connsiteY1" fmla="*/ 1916475 h 2874660"/>
                <a:gd name="connsiteX2" fmla="*/ 257084 w 1916930"/>
                <a:gd name="connsiteY2" fmla="*/ 2874660 h 2874660"/>
                <a:gd name="connsiteX3" fmla="*/ 121641 w 1916930"/>
                <a:gd name="connsiteY3" fmla="*/ 1245227 h 2874660"/>
                <a:gd name="connsiteX4" fmla="*/ 166098 w 1916930"/>
                <a:gd name="connsiteY4" fmla="*/ 1141560 h 2874660"/>
                <a:gd name="connsiteX5" fmla="*/ 107107 w 1916930"/>
                <a:gd name="connsiteY5" fmla="*/ 937688 h 2874660"/>
                <a:gd name="connsiteX6" fmla="*/ 306032 w 1916930"/>
                <a:gd name="connsiteY6" fmla="*/ 880128 h 2874660"/>
                <a:gd name="connsiteX7" fmla="*/ 387834 w 1916930"/>
                <a:gd name="connsiteY7" fmla="*/ 760120 h 2874660"/>
                <a:gd name="connsiteX8" fmla="*/ 958593 w 1916930"/>
                <a:gd name="connsiteY8" fmla="*/ 256712 h 2874660"/>
                <a:gd name="connsiteX9" fmla="*/ 1916827 w 1916930"/>
                <a:gd name="connsiteY9" fmla="*/ 0 h 287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16930" h="2874660">
                  <a:moveTo>
                    <a:pt x="1916827" y="0"/>
                  </a:moveTo>
                  <a:lnTo>
                    <a:pt x="1916930" y="1916475"/>
                  </a:lnTo>
                  <a:lnTo>
                    <a:pt x="257084" y="2874660"/>
                  </a:lnTo>
                  <a:cubicBezTo>
                    <a:pt x="-40605" y="2359052"/>
                    <a:pt x="-71476" y="1762609"/>
                    <a:pt x="121641" y="1245227"/>
                  </a:cubicBezTo>
                  <a:lnTo>
                    <a:pt x="166098" y="1141560"/>
                  </a:lnTo>
                  <a:lnTo>
                    <a:pt x="107107" y="937688"/>
                  </a:lnTo>
                  <a:lnTo>
                    <a:pt x="306032" y="880128"/>
                  </a:lnTo>
                  <a:lnTo>
                    <a:pt x="387834" y="760120"/>
                  </a:lnTo>
                  <a:cubicBezTo>
                    <a:pt x="537916" y="561493"/>
                    <a:pt x="729422" y="389012"/>
                    <a:pt x="958593" y="256712"/>
                  </a:cubicBezTo>
                  <a:cubicBezTo>
                    <a:pt x="1249961" y="88561"/>
                    <a:pt x="1580507" y="0"/>
                    <a:pt x="1916827" y="0"/>
                  </a:cubicBezTo>
                  <a:close/>
                </a:path>
              </a:pathLst>
            </a:custGeom>
            <a:solidFill>
              <a:schemeClr val="accent1"/>
            </a:solidFill>
            <a:ln w="0">
              <a:noFill/>
              <a:prstDash val="solid"/>
              <a:round/>
            </a:ln>
            <a:effectLst/>
          </p:spPr>
          <p:txBody>
            <a:bodyPr vert="horz" wrap="square" lIns="91440" tIns="45720" rIns="91440" bIns="45720" numCol="1" anchor="t" anchorCtr="0" compatLnSpc="1">
              <a:noAutofit/>
            </a:bodyPr>
            <a:lstStyle/>
            <a:p>
              <a:endParaRPr lang="zh-CN" altLang="en-US" sz="2000" dirty="0">
                <a:latin typeface="思源黑体 CN Normal" panose="020B0400000000000000" pitchFamily="34" charset="-122"/>
                <a:cs typeface="思源黑体 CN Normal" panose="020B0400000000000000" pitchFamily="34" charset="-122"/>
              </a:endParaRPr>
            </a:p>
          </p:txBody>
        </p:sp>
        <p:sp>
          <p:nvSpPr>
            <p:cNvPr id="178" name="文本框 39"/>
            <p:cNvSpPr txBox="1"/>
            <p:nvPr/>
          </p:nvSpPr>
          <p:spPr>
            <a:xfrm rot="3600000">
              <a:off x="4918987" y="2355606"/>
              <a:ext cx="2521567" cy="2465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ArchUp">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产品驱动</a:t>
              </a:r>
              <a:r>
                <a:rPr kumimoji="0" lang="en-US" altLang="zh-CN"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a:t>
              </a:r>
              <a:r>
                <a:rPr kumimoji="0" lang="zh-CN" altLang="en-US"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品质致胜</a:t>
              </a:r>
              <a:endParaRPr kumimoji="0" lang="en-US" altLang="zh-CN"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endParaRPr>
            </a:p>
          </p:txBody>
        </p:sp>
        <p:sp>
          <p:nvSpPr>
            <p:cNvPr id="179" name="文本框 34"/>
            <p:cNvSpPr txBox="1"/>
            <p:nvPr/>
          </p:nvSpPr>
          <p:spPr>
            <a:xfrm rot="18000000">
              <a:off x="4837215" y="2327419"/>
              <a:ext cx="2434721" cy="2553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ArchUp">
                <a:avLst>
                  <a:gd name="adj" fmla="val 7923325"/>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流量驱动</a:t>
              </a:r>
              <a:r>
                <a:rPr lang="en-US" altLang="zh-CN" sz="2400" kern="100" dirty="0">
                  <a:solidFill>
                    <a:schemeClr val="bg1"/>
                  </a:solidFill>
                  <a:latin typeface="+mj-ea"/>
                  <a:ea typeface="+mj-ea"/>
                  <a:cs typeface="思源黑体 CN Normal" panose="020B0400000000000000" pitchFamily="34" charset="-122"/>
                  <a:sym typeface="思源黑体 CN Normal" panose="020B0400000000000000" pitchFamily="34" charset="-122"/>
                </a:rPr>
                <a:t>·</a:t>
              </a:r>
              <a:r>
                <a:rPr kumimoji="0" lang="zh-CN" altLang="en-US" sz="2400" b="0"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精准拓客</a:t>
              </a:r>
              <a:endParaRPr kumimoji="0" lang="en-US" altLang="zh-CN" sz="2400" b="0"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endParaRPr>
            </a:p>
          </p:txBody>
        </p:sp>
        <p:sp>
          <p:nvSpPr>
            <p:cNvPr id="180" name="文本框 34"/>
            <p:cNvSpPr txBox="1"/>
            <p:nvPr/>
          </p:nvSpPr>
          <p:spPr>
            <a:xfrm>
              <a:off x="4885023" y="2609668"/>
              <a:ext cx="2321396" cy="22928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ArchDown">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服务驱动</a:t>
              </a:r>
              <a:r>
                <a:rPr kumimoji="0" lang="en-US" altLang="zh-CN"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a:t>
              </a:r>
              <a:r>
                <a:rPr kumimoji="0" lang="zh-CN" altLang="en-US"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口碑传播</a:t>
              </a:r>
              <a:endParaRPr kumimoji="0" lang="en-US" altLang="zh-CN" sz="2400" b="0"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endParaRPr>
            </a:p>
          </p:txBody>
        </p:sp>
        <p:sp>
          <p:nvSpPr>
            <p:cNvPr id="249" name="椭圆 25" descr="KSO_WM_UNIT_INDEX=1_9&amp;KSO_WM_UNIT_TYPE=q_i&amp;KSO_WM_UNIT_ID=wpsdiag20161011_2*q_i*1_9&amp;KSO_WM_UNIT_LAYERLEVEL=1_1&amp;KSO_WM_UNIT_CLEAR=1&amp;KSO_WM_TAG_VERSION=1.0&amp;KSO_WM_BEAUTIFY_FLAG=#wm#&amp;KSO_WM_TEMPLATE_CATEGORY=wpsdiag&amp;KSO_WM_TEMPLATE_INDEX=20161011&amp;KSO_WM_SLIDE_ITEM_CNT=3&amp;KSO_WM_DIAGRAM_GROUP_CODE=q1_1&amp;KSO_WM_UNIT_FILL_FORE_SCHEMECOLOR_INDEX=14&amp;KSO_WM_UNIT_FILL_BACK_SCHEMECOLOR_INDEX=0&amp;KSO_WM_UNIT_LINE_FORE_SCHEMECOLOR_INDEX=14&amp;KSO_WM_UNIT_LINE_BACK_SCHEMECOLOR_INDEX=0&amp;KSO_WM_UNIT_FILL_TYPE=1&amp;KSO_WM_UNIT_LINE_FILL_TYPE=1"/>
            <p:cNvSpPr/>
            <p:nvPr/>
          </p:nvSpPr>
          <p:spPr>
            <a:xfrm rot="34153">
              <a:off x="5062703" y="2650745"/>
              <a:ext cx="2066592" cy="2084204"/>
            </a:xfrm>
            <a:prstGeom prst="ellipse">
              <a:avLst/>
            </a:prstGeom>
            <a:solidFill>
              <a:srgbClr val="FFFFFF"/>
            </a:solidFill>
            <a:ln w="12700" cap="flat" cmpd="sng" algn="ctr">
              <a:solidFill>
                <a:srgbClr val="FFFFFF">
                  <a:alpha val="40000"/>
                </a:srgb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black"/>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50" name="椭圆 249"/>
            <p:cNvSpPr/>
            <p:nvPr/>
          </p:nvSpPr>
          <p:spPr>
            <a:xfrm>
              <a:off x="5189022" y="2785870"/>
              <a:ext cx="1813956" cy="1813956"/>
            </a:xfrm>
            <a:prstGeom prst="ellipse">
              <a:avLst/>
            </a:prstGeom>
            <a:gradFill>
              <a:gsLst>
                <a:gs pos="6000">
                  <a:schemeClr val="accent2">
                    <a:lumMod val="60000"/>
                    <a:lumOff val="40000"/>
                  </a:schemeClr>
                </a:gs>
                <a:gs pos="55000">
                  <a:schemeClr val="accent2"/>
                </a:gs>
              </a:gsLst>
              <a:path path="circle">
                <a:fillToRect r="100000" b="100000"/>
              </a:path>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51" name="文本框 35"/>
            <p:cNvSpPr txBox="1"/>
            <p:nvPr/>
          </p:nvSpPr>
          <p:spPr>
            <a:xfrm>
              <a:off x="5564263" y="3249893"/>
              <a:ext cx="1063472" cy="88590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00" cap="none" spc="0" normalizeH="0" baseline="0" noProof="0" dirty="0" err="1">
                  <a:ln>
                    <a:noFill/>
                  </a:ln>
                  <a:solidFill>
                    <a:schemeClr val="bg1"/>
                  </a:solidFill>
                  <a:uLnTx/>
                  <a:uFillTx/>
                  <a:latin typeface="思源黑体 CN Heavy" panose="020B0A00000000000000" charset="-122"/>
                  <a:ea typeface="思源黑体 CN Heavy" panose="020B0A00000000000000" charset="-122"/>
                  <a:cs typeface="思源黑体 CN Normal" panose="020B0400000000000000" pitchFamily="34" charset="-122"/>
                  <a:sym typeface="思源黑体 CN Normal" panose="020B0400000000000000" pitchFamily="34" charset="-122"/>
                </a:rPr>
                <a:t>三驱</a:t>
              </a:r>
              <a:endParaRPr kumimoji="0" lang="en-US" altLang="zh-CN" sz="4000" b="0" i="0" u="none" strike="noStrike" kern="100" cap="none" spc="0" normalizeH="0" baseline="0" noProof="0" dirty="0">
                <a:ln>
                  <a:noFill/>
                </a:ln>
                <a:solidFill>
                  <a:schemeClr val="bg1"/>
                </a:solidFill>
                <a:uLnTx/>
                <a:uFillTx/>
                <a:latin typeface="思源黑体 CN Heavy" panose="020B0A00000000000000" charset="-122"/>
                <a:ea typeface="思源黑体 CN Heavy" panose="020B0A00000000000000" charset="-122"/>
                <a:cs typeface="思源黑体 CN Normal" panose="020B0400000000000000" pitchFamily="34" charset="-122"/>
                <a:sym typeface="思源黑体 CN Normal" panose="020B04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00" cap="none" spc="0" normalizeH="0" baseline="0" noProof="0" dirty="0" err="1">
                  <a:ln>
                    <a:noFill/>
                  </a:ln>
                  <a:solidFill>
                    <a:schemeClr val="bg1"/>
                  </a:solidFill>
                  <a:uLnTx/>
                  <a:uFillTx/>
                  <a:latin typeface="思源黑体 CN Heavy" panose="020B0A00000000000000" charset="-122"/>
                  <a:ea typeface="思源黑体 CN Heavy" panose="020B0A00000000000000" charset="-122"/>
                  <a:cs typeface="思源黑体 CN Normal" panose="020B0400000000000000" pitchFamily="34" charset="-122"/>
                  <a:sym typeface="思源黑体 CN Normal" panose="020B0400000000000000" pitchFamily="34" charset="-122"/>
                </a:rPr>
                <a:t>共振</a:t>
              </a:r>
              <a:endParaRPr kumimoji="0" lang="en-US" altLang="zh-CN" sz="4000" b="0" i="0" u="none" strike="noStrike" kern="100" cap="none" spc="0" normalizeH="0" baseline="0" noProof="0" dirty="0">
                <a:ln>
                  <a:noFill/>
                </a:ln>
                <a:solidFill>
                  <a:schemeClr val="bg1"/>
                </a:solidFill>
                <a:uLnTx/>
                <a:uFillTx/>
                <a:latin typeface="思源黑体 CN Heavy" panose="020B0A00000000000000" charset="-122"/>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sp>
        <p:nvSpPr>
          <p:cNvPr id="13"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阶段总结</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25" name="图形 2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7528" y="1215034"/>
            <a:ext cx="549750" cy="549750"/>
          </a:xfrm>
          <a:prstGeom prst="rect">
            <a:avLst/>
          </a:prstGeom>
        </p:spPr>
      </p:pic>
      <p:pic>
        <p:nvPicPr>
          <p:cNvPr id="27" name="图形 2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73232" y="1237909"/>
            <a:ext cx="504000" cy="504000"/>
          </a:xfrm>
          <a:prstGeom prst="rect">
            <a:avLst/>
          </a:prstGeom>
        </p:spPr>
      </p:pic>
      <p:sp>
        <p:nvSpPr>
          <p:cNvPr id="31" name="文本框 30"/>
          <p:cNvSpPr txBox="1"/>
          <p:nvPr/>
        </p:nvSpPr>
        <p:spPr>
          <a:xfrm>
            <a:off x="707471" y="1903379"/>
            <a:ext cx="1639882" cy="615553"/>
          </a:xfrm>
          <a:prstGeom prst="rect">
            <a:avLst/>
          </a:prstGeom>
          <a:noFill/>
          <a:ln w="3175">
            <a:solidFill>
              <a:schemeClr val="accent1"/>
            </a:solidFill>
            <a:prstDash val="dash"/>
          </a:ln>
        </p:spPr>
        <p:txBody>
          <a:bodyPr wrap="square" lIns="108000" tIns="72000" rIns="108000" bIns="72000">
            <a:noAutofit/>
          </a:bodyPr>
          <a:lstStyle/>
          <a:p>
            <a:r>
              <a:rPr lang="en-US" altLang="zh-CN" sz="2000" dirty="0">
                <a:solidFill>
                  <a:schemeClr val="bg2"/>
                </a:solidFill>
                <a:latin typeface="+mj-ea"/>
                <a:ea typeface="+mj-ea"/>
                <a:cs typeface="思源黑体 CN Normal" panose="020B0400000000000000" pitchFamily="34" charset="-122"/>
              </a:rPr>
              <a:t>40</a:t>
            </a:r>
            <a:r>
              <a:rPr lang="en-US" altLang="zh-CN" sz="1600" dirty="0">
                <a:solidFill>
                  <a:schemeClr val="bg2"/>
                </a:solidFill>
                <a:latin typeface="+mj-ea"/>
                <a:ea typeface="+mj-ea"/>
                <a:cs typeface="思源黑体 CN Normal" panose="020B0400000000000000" pitchFamily="34" charset="-122"/>
              </a:rPr>
              <a:t>%</a:t>
            </a:r>
            <a:endParaRPr lang="en-US" altLang="zh-CN" sz="20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社交媒体渠道流量</a:t>
            </a:r>
            <a:endParaRPr lang="zh-CN" altLang="en-US" sz="1400" dirty="0">
              <a:latin typeface="+mn-ea"/>
              <a:cs typeface="思源黑体 CN Normal" panose="020B0400000000000000" pitchFamily="34" charset="-122"/>
            </a:endParaRPr>
          </a:p>
        </p:txBody>
      </p:sp>
      <p:sp>
        <p:nvSpPr>
          <p:cNvPr id="32" name="文本框 31"/>
          <p:cNvSpPr txBox="1"/>
          <p:nvPr/>
        </p:nvSpPr>
        <p:spPr>
          <a:xfrm>
            <a:off x="2440669" y="1903379"/>
            <a:ext cx="1639882" cy="615553"/>
          </a:xfrm>
          <a:prstGeom prst="rect">
            <a:avLst/>
          </a:prstGeom>
          <a:noFill/>
          <a:ln w="3175">
            <a:solidFill>
              <a:schemeClr val="accent1"/>
            </a:solidFill>
            <a:prstDash val="dash"/>
          </a:ln>
        </p:spPr>
        <p:txBody>
          <a:bodyPr wrap="square" lIns="108000" tIns="72000" rIns="108000" bIns="72000">
            <a:noAutofit/>
          </a:bodyPr>
          <a:lstStyle/>
          <a:p>
            <a:r>
              <a:rPr lang="en-US" altLang="zh-CN" sz="2000" dirty="0">
                <a:solidFill>
                  <a:schemeClr val="bg2"/>
                </a:solidFill>
                <a:latin typeface="+mj-ea"/>
                <a:ea typeface="+mj-ea"/>
                <a:cs typeface="思源黑体 CN Normal" panose="020B0400000000000000" pitchFamily="34" charset="-122"/>
              </a:rPr>
              <a:t>31</a:t>
            </a:r>
            <a:r>
              <a:rPr lang="en-US" altLang="zh-CN" sz="1600" dirty="0">
                <a:solidFill>
                  <a:schemeClr val="bg2"/>
                </a:solidFill>
                <a:latin typeface="+mj-ea"/>
                <a:ea typeface="+mj-ea"/>
                <a:cs typeface="思源黑体 CN Normal" panose="020B0400000000000000" pitchFamily="34" charset="-122"/>
              </a:rPr>
              <a:t>%</a:t>
            </a:r>
            <a:endParaRPr lang="en-US" altLang="zh-CN" sz="16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搜索引擎渠道流量</a:t>
            </a:r>
            <a:endParaRPr lang="zh-CN" altLang="en-US" sz="1400" dirty="0">
              <a:latin typeface="+mn-ea"/>
              <a:cs typeface="思源黑体 CN Normal" panose="020B0400000000000000" pitchFamily="34" charset="-122"/>
            </a:endParaRPr>
          </a:p>
        </p:txBody>
      </p:sp>
      <p:sp>
        <p:nvSpPr>
          <p:cNvPr id="33" name="文本框 32"/>
          <p:cNvSpPr txBox="1"/>
          <p:nvPr/>
        </p:nvSpPr>
        <p:spPr>
          <a:xfrm>
            <a:off x="706677" y="2753083"/>
            <a:ext cx="1639882" cy="615553"/>
          </a:xfrm>
          <a:prstGeom prst="rect">
            <a:avLst/>
          </a:prstGeom>
          <a:noFill/>
          <a:ln w="3175">
            <a:solidFill>
              <a:schemeClr val="accent1"/>
            </a:solidFill>
            <a:prstDash val="dash"/>
          </a:ln>
        </p:spPr>
        <p:txBody>
          <a:bodyPr wrap="square" lIns="108000" tIns="72000" rIns="108000" bIns="72000">
            <a:noAutofit/>
          </a:bodyPr>
          <a:lstStyle/>
          <a:p>
            <a:r>
              <a:rPr lang="en-US" altLang="zh-CN" sz="2000" dirty="0">
                <a:solidFill>
                  <a:schemeClr val="bg2"/>
                </a:solidFill>
                <a:latin typeface="+mj-ea"/>
                <a:ea typeface="+mj-ea"/>
                <a:cs typeface="思源黑体 CN Normal" panose="020B0400000000000000" pitchFamily="34" charset="-122"/>
              </a:rPr>
              <a:t>21</a:t>
            </a:r>
            <a:r>
              <a:rPr lang="en-US" altLang="zh-CN" sz="1600" dirty="0">
                <a:solidFill>
                  <a:schemeClr val="bg2"/>
                </a:solidFill>
                <a:latin typeface="+mj-ea"/>
                <a:ea typeface="+mj-ea"/>
                <a:cs typeface="思源黑体 CN Normal" panose="020B0400000000000000" pitchFamily="34" charset="-122"/>
              </a:rPr>
              <a:t>%</a:t>
            </a:r>
            <a:endParaRPr lang="en-US" altLang="zh-CN" sz="16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广告投放渠道流量</a:t>
            </a:r>
            <a:endParaRPr lang="zh-CN" altLang="en-US" sz="1400" dirty="0">
              <a:latin typeface="+mn-ea"/>
              <a:cs typeface="思源黑体 CN Normal" panose="020B0400000000000000" pitchFamily="34" charset="-122"/>
            </a:endParaRPr>
          </a:p>
        </p:txBody>
      </p:sp>
      <p:sp>
        <p:nvSpPr>
          <p:cNvPr id="34" name="文本框 33"/>
          <p:cNvSpPr txBox="1"/>
          <p:nvPr/>
        </p:nvSpPr>
        <p:spPr>
          <a:xfrm>
            <a:off x="2440669" y="2753083"/>
            <a:ext cx="1639882" cy="615553"/>
          </a:xfrm>
          <a:prstGeom prst="rect">
            <a:avLst/>
          </a:prstGeom>
          <a:noFill/>
          <a:ln w="3175">
            <a:solidFill>
              <a:schemeClr val="accent1"/>
            </a:solidFill>
            <a:prstDash val="dash"/>
          </a:ln>
        </p:spPr>
        <p:txBody>
          <a:bodyPr wrap="square" lIns="108000" tIns="72000" rIns="108000" bIns="72000">
            <a:noAutofit/>
          </a:bodyPr>
          <a:lstStyle/>
          <a:p>
            <a:r>
              <a:rPr lang="en-US" altLang="zh-CN" sz="2000" dirty="0">
                <a:solidFill>
                  <a:schemeClr val="bg2"/>
                </a:solidFill>
                <a:latin typeface="+mj-ea"/>
                <a:ea typeface="+mj-ea"/>
                <a:cs typeface="思源黑体 CN Normal" panose="020B0400000000000000" pitchFamily="34" charset="-122"/>
              </a:rPr>
              <a:t>8</a:t>
            </a:r>
            <a:r>
              <a:rPr lang="en-US" altLang="zh-CN" sz="1600" dirty="0">
                <a:solidFill>
                  <a:schemeClr val="bg2"/>
                </a:solidFill>
                <a:latin typeface="+mj-ea"/>
                <a:ea typeface="+mj-ea"/>
                <a:cs typeface="思源黑体 CN Normal" panose="020B0400000000000000" pitchFamily="34" charset="-122"/>
              </a:rPr>
              <a:t>%</a:t>
            </a:r>
            <a:endParaRPr lang="en-US" altLang="zh-CN" sz="16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线下活动渠道流量</a:t>
            </a:r>
            <a:endParaRPr lang="zh-CN" altLang="en-US" sz="1400" dirty="0">
              <a:latin typeface="+mn-ea"/>
              <a:cs typeface="思源黑体 CN Normal" panose="020B0400000000000000" pitchFamily="34" charset="-122"/>
            </a:endParaRPr>
          </a:p>
        </p:txBody>
      </p:sp>
      <p:sp>
        <p:nvSpPr>
          <p:cNvPr id="36" name="文本框 35"/>
          <p:cNvSpPr txBox="1"/>
          <p:nvPr/>
        </p:nvSpPr>
        <p:spPr>
          <a:xfrm>
            <a:off x="707471" y="3608449"/>
            <a:ext cx="3482135" cy="596830"/>
          </a:xfrm>
          <a:prstGeom prst="rect">
            <a:avLst/>
          </a:prstGeom>
          <a:noFill/>
        </p:spPr>
        <p:txBody>
          <a:bodyPr wrap="square">
            <a:spAutoFit/>
          </a:bodyPr>
          <a:lstStyle/>
          <a:p>
            <a:pPr>
              <a:lnSpc>
                <a:spcPct val="120000"/>
              </a:lnSpc>
            </a:pPr>
            <a:r>
              <a:rPr lang="zh-CN" altLang="en-US" sz="1400" b="0" i="0" dirty="0">
                <a:solidFill>
                  <a:srgbClr val="0D0D0D"/>
                </a:solidFill>
                <a:effectLst/>
                <a:latin typeface="+mn-ea"/>
                <a:cs typeface="思源黑体 CN Normal" panose="020B0400000000000000" pitchFamily="34" charset="-122"/>
              </a:rPr>
              <a:t>其中年轻群体流量占比较大，中年群体流量占比较小，老年群体流量忽略不计</a:t>
            </a:r>
            <a:endParaRPr lang="zh-CN" altLang="en-US" sz="1400" dirty="0">
              <a:latin typeface="+mn-ea"/>
              <a:cs typeface="思源黑体 CN Normal" panose="020B0400000000000000" pitchFamily="34" charset="-122"/>
            </a:endParaRPr>
          </a:p>
        </p:txBody>
      </p:sp>
      <p:sp>
        <p:nvSpPr>
          <p:cNvPr id="41" name="文本框 40"/>
          <p:cNvSpPr txBox="1"/>
          <p:nvPr/>
        </p:nvSpPr>
        <p:spPr>
          <a:xfrm>
            <a:off x="8129351" y="2468636"/>
            <a:ext cx="1620000" cy="900000"/>
          </a:xfrm>
          <a:prstGeom prst="rect">
            <a:avLst/>
          </a:prstGeom>
          <a:noFill/>
          <a:ln w="3175">
            <a:solidFill>
              <a:schemeClr val="accent1"/>
            </a:solidFill>
            <a:prstDash val="dash"/>
          </a:ln>
        </p:spPr>
        <p:txBody>
          <a:bodyPr wrap="square" lIns="180000" rIns="180000" anchor="ctr">
            <a:noAutofit/>
          </a:bodyPr>
          <a:lstStyle/>
          <a:p>
            <a:pPr algn="ctr">
              <a:buNone/>
            </a:pPr>
            <a:r>
              <a:rPr lang="en-US" altLang="zh-CN" sz="3600" dirty="0">
                <a:solidFill>
                  <a:schemeClr val="bg2"/>
                </a:solidFill>
                <a:latin typeface="+mj-ea"/>
                <a:ea typeface="+mj-ea"/>
                <a:cs typeface="思源黑体 CN Normal" panose="020B0400000000000000" pitchFamily="34" charset="-122"/>
              </a:rPr>
              <a:t>12</a:t>
            </a:r>
            <a:r>
              <a:rPr lang="zh-CN" altLang="en-US" sz="2000" dirty="0">
                <a:solidFill>
                  <a:schemeClr val="bg2"/>
                </a:solidFill>
                <a:latin typeface="+mj-ea"/>
                <a:ea typeface="+mj-ea"/>
                <a:cs typeface="思源黑体 CN Normal" panose="020B0400000000000000" pitchFamily="34" charset="-122"/>
              </a:rPr>
              <a:t>项</a:t>
            </a:r>
            <a:endParaRPr lang="en-US" altLang="zh-CN" sz="2000" dirty="0">
              <a:solidFill>
                <a:schemeClr val="bg2"/>
              </a:solidFill>
              <a:latin typeface="+mj-ea"/>
              <a:ea typeface="+mj-ea"/>
              <a:cs typeface="思源黑体 CN Normal" panose="020B0400000000000000" pitchFamily="34" charset="-122"/>
            </a:endParaRPr>
          </a:p>
          <a:p>
            <a:pPr algn="ctr">
              <a:buNone/>
            </a:pPr>
            <a:r>
              <a:rPr lang="zh-CN" altLang="en-US" sz="1400" b="0" i="0" dirty="0">
                <a:solidFill>
                  <a:srgbClr val="0D0D0D"/>
                </a:solidFill>
                <a:effectLst/>
                <a:latin typeface="+mn-ea"/>
                <a:cs typeface="思源黑体 CN Normal" panose="020B0400000000000000" pitchFamily="34" charset="-122"/>
              </a:rPr>
              <a:t>年度新研发技术</a:t>
            </a:r>
            <a:endParaRPr lang="zh-CN" altLang="en-US" sz="1400" b="0" i="0" dirty="0">
              <a:solidFill>
                <a:srgbClr val="0D0D0D"/>
              </a:solidFill>
              <a:effectLst/>
              <a:latin typeface="+mn-ea"/>
              <a:cs typeface="思源黑体 CN Normal" panose="020B0400000000000000" pitchFamily="34" charset="-122"/>
            </a:endParaRPr>
          </a:p>
        </p:txBody>
      </p:sp>
      <p:sp>
        <p:nvSpPr>
          <p:cNvPr id="43" name="文本框 42"/>
          <p:cNvSpPr txBox="1"/>
          <p:nvPr/>
        </p:nvSpPr>
        <p:spPr>
          <a:xfrm>
            <a:off x="9875736" y="2468636"/>
            <a:ext cx="1620000" cy="900000"/>
          </a:xfrm>
          <a:prstGeom prst="rect">
            <a:avLst/>
          </a:prstGeom>
          <a:noFill/>
          <a:ln w="3175">
            <a:solidFill>
              <a:schemeClr val="accent1"/>
            </a:solidFill>
            <a:prstDash val="dash"/>
          </a:ln>
        </p:spPr>
        <p:txBody>
          <a:bodyPr wrap="square" lIns="180000" rIns="180000" anchor="ctr">
            <a:noAutofit/>
          </a:bodyPr>
          <a:lstStyle/>
          <a:p>
            <a:pPr algn="ctr"/>
            <a:r>
              <a:rPr lang="en-US" altLang="zh-CN" sz="3200" dirty="0">
                <a:solidFill>
                  <a:schemeClr val="bg2"/>
                </a:solidFill>
                <a:latin typeface="+mj-ea"/>
                <a:ea typeface="+mj-ea"/>
                <a:cs typeface="思源黑体 CN Normal" panose="020B0400000000000000" pitchFamily="34" charset="-122"/>
              </a:rPr>
              <a:t>99.8</a:t>
            </a:r>
            <a:r>
              <a:rPr lang="en-US" altLang="zh-CN" sz="2000" dirty="0">
                <a:solidFill>
                  <a:schemeClr val="bg2"/>
                </a:solidFill>
                <a:latin typeface="+mj-ea"/>
                <a:ea typeface="+mj-ea"/>
                <a:cs typeface="思源黑体 CN Normal" panose="020B0400000000000000" pitchFamily="34" charset="-122"/>
              </a:rPr>
              <a:t>%</a:t>
            </a:r>
            <a:endParaRPr lang="en-US" altLang="zh-CN" sz="2000" dirty="0">
              <a:solidFill>
                <a:schemeClr val="bg2"/>
              </a:solidFill>
              <a:latin typeface="+mj-ea"/>
              <a:ea typeface="+mj-ea"/>
              <a:cs typeface="思源黑体 CN Normal" panose="020B0400000000000000" pitchFamily="34" charset="-122"/>
            </a:endParaRPr>
          </a:p>
          <a:p>
            <a:pPr algn="ctr"/>
            <a:r>
              <a:rPr lang="zh-CN" altLang="en-US" sz="1400" b="0" i="0" dirty="0">
                <a:solidFill>
                  <a:srgbClr val="0D0D0D"/>
                </a:solidFill>
                <a:effectLst/>
                <a:latin typeface="+mn-ea"/>
                <a:cs typeface="思源黑体 CN Normal" panose="020B0400000000000000" pitchFamily="34" charset="-122"/>
              </a:rPr>
              <a:t>产品合格率</a:t>
            </a:r>
            <a:endParaRPr lang="zh-CN" altLang="en-US" sz="1400" b="0" i="0" dirty="0">
              <a:solidFill>
                <a:srgbClr val="0D0D0D"/>
              </a:solidFill>
              <a:effectLst/>
              <a:latin typeface="+mn-ea"/>
              <a:cs typeface="思源黑体 CN Normal" panose="020B0400000000000000" pitchFamily="34" charset="-122"/>
            </a:endParaRPr>
          </a:p>
        </p:txBody>
      </p:sp>
      <p:sp>
        <p:nvSpPr>
          <p:cNvPr id="44" name="文本框 43"/>
          <p:cNvSpPr txBox="1"/>
          <p:nvPr/>
        </p:nvSpPr>
        <p:spPr>
          <a:xfrm>
            <a:off x="8272163" y="3546894"/>
            <a:ext cx="3233733" cy="668966"/>
          </a:xfrm>
          <a:prstGeom prst="rect">
            <a:avLst/>
          </a:prstGeom>
          <a:noFill/>
        </p:spPr>
        <p:txBody>
          <a:bodyPr wrap="square">
            <a:spAutoFit/>
          </a:bodyPr>
          <a:lstStyle/>
          <a:p>
            <a:pPr algn="r">
              <a:lnSpc>
                <a:spcPct val="120000"/>
              </a:lnSpc>
              <a:buNone/>
            </a:pPr>
            <a:r>
              <a:rPr lang="zh-CN" altLang="en-US" sz="1600" b="0" i="0" dirty="0">
                <a:solidFill>
                  <a:srgbClr val="0D0D0D"/>
                </a:solidFill>
                <a:effectLst/>
                <a:latin typeface="+mn-ea"/>
                <a:cs typeface="思源黑体 CN Normal" panose="020B0400000000000000" pitchFamily="34" charset="-122"/>
              </a:rPr>
              <a:t>研发全力攻坚突破技术壁垒促创新，严控品质打造精品铸就行业卓越</a:t>
            </a:r>
            <a:endParaRPr lang="zh-CN" altLang="en-US" sz="1600" b="0" i="0" dirty="0">
              <a:solidFill>
                <a:srgbClr val="0D0D0D"/>
              </a:solidFill>
              <a:effectLst/>
              <a:latin typeface="+mn-ea"/>
              <a:cs typeface="思源黑体 CN Normal" panose="020B0400000000000000" pitchFamily="34" charset="-122"/>
            </a:endParaRPr>
          </a:p>
        </p:txBody>
      </p:sp>
      <p:sp>
        <p:nvSpPr>
          <p:cNvPr id="48" name="文本框 47"/>
          <p:cNvSpPr txBox="1"/>
          <p:nvPr/>
        </p:nvSpPr>
        <p:spPr>
          <a:xfrm>
            <a:off x="8129351" y="1903379"/>
            <a:ext cx="1620000" cy="432000"/>
          </a:xfrm>
          <a:prstGeom prst="roundRect">
            <a:avLst>
              <a:gd name="adj" fmla="val 50000"/>
            </a:avLst>
          </a:prstGeom>
          <a:solidFill>
            <a:schemeClr val="accent1">
              <a:alpha val="30000"/>
            </a:schemeClr>
          </a:solidFill>
        </p:spPr>
        <p:txBody>
          <a:bodyPr wrap="square" anchor="ctr">
            <a:noAutofit/>
          </a:bodyPr>
          <a:lstStyle/>
          <a:p>
            <a:pPr algn="ctr">
              <a:lnSpc>
                <a:spcPts val="2100"/>
              </a:lnSpc>
              <a:buNone/>
            </a:pPr>
            <a:r>
              <a:rPr lang="zh-CN" altLang="en-US" sz="1600" i="0" dirty="0">
                <a:solidFill>
                  <a:schemeClr val="tx2"/>
                </a:solidFill>
                <a:effectLst/>
                <a:latin typeface="+mj-ea"/>
                <a:ea typeface="+mj-ea"/>
                <a:cs typeface="思源黑体 CN Normal" panose="020B0400000000000000" pitchFamily="34" charset="-122"/>
              </a:rPr>
              <a:t>技术新攻坚</a:t>
            </a:r>
            <a:endParaRPr lang="zh-CN" altLang="en-US" sz="1600" i="0" dirty="0">
              <a:solidFill>
                <a:schemeClr val="tx2"/>
              </a:solidFill>
              <a:effectLst/>
              <a:latin typeface="+mj-ea"/>
              <a:ea typeface="+mj-ea"/>
              <a:cs typeface="思源黑体 CN Normal" panose="020B0400000000000000" pitchFamily="34" charset="-122"/>
            </a:endParaRPr>
          </a:p>
        </p:txBody>
      </p:sp>
      <p:sp>
        <p:nvSpPr>
          <p:cNvPr id="49" name="文本框 48"/>
          <p:cNvSpPr txBox="1"/>
          <p:nvPr/>
        </p:nvSpPr>
        <p:spPr>
          <a:xfrm>
            <a:off x="9885168" y="1903379"/>
            <a:ext cx="1620000" cy="432000"/>
          </a:xfrm>
          <a:prstGeom prst="roundRect">
            <a:avLst>
              <a:gd name="adj" fmla="val 50000"/>
            </a:avLst>
          </a:prstGeom>
          <a:solidFill>
            <a:schemeClr val="accent1">
              <a:alpha val="30000"/>
            </a:schemeClr>
          </a:solidFill>
        </p:spPr>
        <p:txBody>
          <a:bodyPr wrap="square" anchor="ctr">
            <a:noAutofit/>
          </a:bodyPr>
          <a:lstStyle/>
          <a:p>
            <a:pPr algn="ctr">
              <a:lnSpc>
                <a:spcPts val="2100"/>
              </a:lnSpc>
              <a:buNone/>
            </a:pPr>
            <a:r>
              <a:rPr lang="zh-CN" altLang="en-US" sz="1600" i="0" dirty="0">
                <a:solidFill>
                  <a:schemeClr val="tx2"/>
                </a:solidFill>
                <a:effectLst/>
                <a:latin typeface="+mj-ea"/>
                <a:ea typeface="+mj-ea"/>
                <a:cs typeface="思源黑体 CN Normal" panose="020B0400000000000000" pitchFamily="34" charset="-122"/>
              </a:rPr>
              <a:t>质量零缺陷</a:t>
            </a:r>
            <a:endParaRPr lang="zh-CN" altLang="en-US" sz="1600" i="0" dirty="0">
              <a:solidFill>
                <a:schemeClr val="tx2"/>
              </a:solidFill>
              <a:effectLst/>
              <a:latin typeface="+mj-ea"/>
              <a:ea typeface="+mj-ea"/>
              <a:cs typeface="思源黑体 CN Normal" panose="020B0400000000000000" pitchFamily="34" charset="-122"/>
            </a:endParaRPr>
          </a:p>
        </p:txBody>
      </p:sp>
      <p:sp>
        <p:nvSpPr>
          <p:cNvPr id="51" name="文本框 50"/>
          <p:cNvSpPr txBox="1"/>
          <p:nvPr/>
        </p:nvSpPr>
        <p:spPr>
          <a:xfrm>
            <a:off x="5368579" y="5399934"/>
            <a:ext cx="1454842" cy="309600"/>
          </a:xfrm>
          <a:prstGeom prst="roundRect">
            <a:avLst>
              <a:gd name="adj" fmla="val 50000"/>
            </a:avLst>
          </a:prstGeom>
          <a:solidFill>
            <a:schemeClr val="accent2"/>
          </a:solidFill>
        </p:spPr>
        <p:txBody>
          <a:bodyPr wrap="square" anchor="ctr">
            <a:noAutofit/>
          </a:bodyPr>
          <a:lstStyle>
            <a:defPPr>
              <a:defRPr lang="zh-CN"/>
            </a:defPPr>
            <a:lvl1pPr algn="ctr">
              <a:lnSpc>
                <a:spcPts val="2100"/>
              </a:lnSpc>
              <a:buNone/>
              <a:defRPr sz="1600" b="1" i="0">
                <a:solidFill>
                  <a:schemeClr val="bg2"/>
                </a:solidFill>
                <a:effectLst/>
                <a:latin typeface="PingFangSC-Semibold"/>
              </a:defRPr>
            </a:lvl1pPr>
          </a:lstStyle>
          <a:p>
            <a:r>
              <a:rPr lang="zh-CN" altLang="en-US" b="0" dirty="0">
                <a:solidFill>
                  <a:schemeClr val="bg1"/>
                </a:solidFill>
                <a:latin typeface="+mj-ea"/>
                <a:ea typeface="+mj-ea"/>
                <a:cs typeface="思源黑体 CN Normal" panose="020B0400000000000000" pitchFamily="34" charset="-122"/>
              </a:rPr>
              <a:t>贴心伴行</a:t>
            </a:r>
            <a:endParaRPr lang="zh-CN" altLang="en-US" b="0" dirty="0">
              <a:solidFill>
                <a:schemeClr val="bg1"/>
              </a:solidFill>
              <a:latin typeface="+mj-ea"/>
              <a:ea typeface="+mj-ea"/>
              <a:cs typeface="思源黑体 CN Normal" panose="020B0400000000000000" pitchFamily="34" charset="-122"/>
            </a:endParaRPr>
          </a:p>
        </p:txBody>
      </p:sp>
      <p:sp>
        <p:nvSpPr>
          <p:cNvPr id="52" name="文本框 51"/>
          <p:cNvSpPr txBox="1"/>
          <p:nvPr/>
        </p:nvSpPr>
        <p:spPr>
          <a:xfrm>
            <a:off x="5368579" y="5809876"/>
            <a:ext cx="1454842" cy="309600"/>
          </a:xfrm>
          <a:prstGeom prst="roundRect">
            <a:avLst>
              <a:gd name="adj" fmla="val 50000"/>
            </a:avLst>
          </a:prstGeom>
          <a:solidFill>
            <a:schemeClr val="accent2"/>
          </a:solidFill>
        </p:spPr>
        <p:txBody>
          <a:bodyPr wrap="square" anchor="ctr">
            <a:noAutofit/>
          </a:bodyPr>
          <a:lstStyle>
            <a:defPPr>
              <a:defRPr lang="zh-CN"/>
            </a:defPPr>
            <a:lvl1pPr algn="ctr">
              <a:lnSpc>
                <a:spcPts val="2100"/>
              </a:lnSpc>
              <a:buNone/>
              <a:defRPr sz="1600" b="1" i="0">
                <a:solidFill>
                  <a:schemeClr val="bg2"/>
                </a:solidFill>
                <a:effectLst/>
                <a:latin typeface="PingFangSC-Semibold"/>
              </a:defRPr>
            </a:lvl1pPr>
          </a:lstStyle>
          <a:p>
            <a:r>
              <a:rPr lang="zh-CN" altLang="en-US" b="0" dirty="0">
                <a:solidFill>
                  <a:schemeClr val="bg1"/>
                </a:solidFill>
                <a:latin typeface="+mj-ea"/>
                <a:ea typeface="+mj-ea"/>
                <a:cs typeface="思源黑体 CN Normal" panose="020B0400000000000000" pitchFamily="34" charset="-122"/>
              </a:rPr>
              <a:t>高效解忧</a:t>
            </a:r>
            <a:endParaRPr lang="zh-CN" altLang="en-US" b="0" dirty="0">
              <a:solidFill>
                <a:schemeClr val="bg1"/>
              </a:solidFill>
              <a:latin typeface="+mj-ea"/>
              <a:ea typeface="+mj-ea"/>
              <a:cs typeface="思源黑体 CN Normal" panose="020B0400000000000000" pitchFamily="34" charset="-122"/>
            </a:endParaRPr>
          </a:p>
        </p:txBody>
      </p:sp>
      <p:sp>
        <p:nvSpPr>
          <p:cNvPr id="53" name="文本框 52"/>
          <p:cNvSpPr txBox="1"/>
          <p:nvPr/>
        </p:nvSpPr>
        <p:spPr>
          <a:xfrm>
            <a:off x="5368579" y="6219817"/>
            <a:ext cx="1454842" cy="309600"/>
          </a:xfrm>
          <a:prstGeom prst="roundRect">
            <a:avLst>
              <a:gd name="adj" fmla="val 50000"/>
            </a:avLst>
          </a:prstGeom>
          <a:solidFill>
            <a:schemeClr val="accent2"/>
          </a:solidFill>
        </p:spPr>
        <p:txBody>
          <a:bodyPr wrap="square" anchor="ctr">
            <a:noAutofit/>
          </a:bodyPr>
          <a:lstStyle>
            <a:defPPr>
              <a:defRPr lang="zh-CN"/>
            </a:defPPr>
            <a:lvl1pPr algn="ctr">
              <a:lnSpc>
                <a:spcPts val="2100"/>
              </a:lnSpc>
              <a:buNone/>
              <a:defRPr sz="1600" b="1" i="0">
                <a:solidFill>
                  <a:schemeClr val="bg2"/>
                </a:solidFill>
                <a:effectLst/>
                <a:latin typeface="PingFangSC-Semibold"/>
              </a:defRPr>
            </a:lvl1pPr>
          </a:lstStyle>
          <a:p>
            <a:r>
              <a:rPr lang="zh-CN" altLang="en-US" b="0" dirty="0">
                <a:solidFill>
                  <a:schemeClr val="bg1"/>
                </a:solidFill>
                <a:latin typeface="+mj-ea"/>
                <a:ea typeface="+mj-ea"/>
                <a:cs typeface="思源黑体 CN Normal" panose="020B0400000000000000" pitchFamily="34" charset="-122"/>
              </a:rPr>
              <a:t>诚意制胜</a:t>
            </a:r>
            <a:endParaRPr lang="zh-CN" altLang="en-US" b="0" dirty="0">
              <a:solidFill>
                <a:schemeClr val="bg1"/>
              </a:solidFill>
              <a:latin typeface="+mj-ea"/>
              <a:ea typeface="+mj-ea"/>
              <a:cs typeface="思源黑体 CN Normal" panose="020B0400000000000000" pitchFamily="34" charset="-122"/>
            </a:endParaRPr>
          </a:p>
        </p:txBody>
      </p:sp>
      <p:sp>
        <p:nvSpPr>
          <p:cNvPr id="150" name="文本框 149"/>
          <p:cNvSpPr txBox="1"/>
          <p:nvPr/>
        </p:nvSpPr>
        <p:spPr>
          <a:xfrm>
            <a:off x="707471" y="4664083"/>
            <a:ext cx="2052000" cy="615553"/>
          </a:xfrm>
          <a:prstGeom prst="rect">
            <a:avLst/>
          </a:prstGeom>
          <a:noFill/>
          <a:ln w="3175">
            <a:solidFill>
              <a:schemeClr val="accent1"/>
            </a:solidFill>
            <a:prstDash val="dash"/>
          </a:ln>
        </p:spPr>
        <p:txBody>
          <a:bodyPr wrap="square" lIns="108000" rIns="108000">
            <a:spAutoFit/>
          </a:bodyPr>
          <a:lstStyle/>
          <a:p>
            <a:r>
              <a:rPr lang="en-US" altLang="zh-CN" sz="2000" dirty="0">
                <a:solidFill>
                  <a:schemeClr val="bg2"/>
                </a:solidFill>
                <a:latin typeface="+mj-ea"/>
                <a:ea typeface="+mj-ea"/>
                <a:cs typeface="思源黑体 CN Normal" panose="020B0400000000000000" pitchFamily="34" charset="-122"/>
              </a:rPr>
              <a:t>92</a:t>
            </a:r>
            <a:r>
              <a:rPr lang="en-US" altLang="zh-CN" sz="1400" dirty="0">
                <a:solidFill>
                  <a:schemeClr val="bg2"/>
                </a:solidFill>
                <a:latin typeface="+mj-ea"/>
                <a:ea typeface="+mj-ea"/>
                <a:cs typeface="思源黑体 CN Normal" panose="020B0400000000000000" pitchFamily="34" charset="-122"/>
              </a:rPr>
              <a:t>%</a:t>
            </a:r>
            <a:endParaRPr lang="en-US" altLang="zh-CN" sz="20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客户定制需求满足率达</a:t>
            </a:r>
            <a:endParaRPr lang="en-US" altLang="zh-CN" sz="1400" b="0" i="0" dirty="0">
              <a:solidFill>
                <a:srgbClr val="0D0D0D"/>
              </a:solidFill>
              <a:effectLst/>
              <a:latin typeface="+mn-ea"/>
              <a:cs typeface="思源黑体 CN Normal" panose="020B0400000000000000" pitchFamily="34" charset="-122"/>
            </a:endParaRPr>
          </a:p>
        </p:txBody>
      </p:sp>
      <p:sp>
        <p:nvSpPr>
          <p:cNvPr id="152" name="文本框 151"/>
          <p:cNvSpPr txBox="1"/>
          <p:nvPr/>
        </p:nvSpPr>
        <p:spPr>
          <a:xfrm>
            <a:off x="2939392" y="4664083"/>
            <a:ext cx="1692000" cy="615553"/>
          </a:xfrm>
          <a:prstGeom prst="rect">
            <a:avLst/>
          </a:prstGeom>
          <a:noFill/>
          <a:ln w="3175">
            <a:solidFill>
              <a:schemeClr val="accent1"/>
            </a:solidFill>
            <a:prstDash val="dash"/>
          </a:ln>
        </p:spPr>
        <p:txBody>
          <a:bodyPr wrap="square" lIns="108000" rIns="108000">
            <a:spAutoFit/>
          </a:bodyPr>
          <a:lstStyle/>
          <a:p>
            <a:r>
              <a:rPr lang="en-US" altLang="zh-CN" sz="2000" dirty="0">
                <a:solidFill>
                  <a:schemeClr val="bg2"/>
                </a:solidFill>
                <a:latin typeface="+mj-ea"/>
                <a:ea typeface="+mj-ea"/>
                <a:cs typeface="思源黑体 CN Normal" panose="020B0400000000000000" pitchFamily="34" charset="-122"/>
              </a:rPr>
              <a:t>15</a:t>
            </a:r>
            <a:r>
              <a:rPr lang="zh-CN" altLang="en-US" sz="1400" dirty="0">
                <a:solidFill>
                  <a:schemeClr val="bg2"/>
                </a:solidFill>
                <a:latin typeface="+mj-ea"/>
                <a:ea typeface="+mj-ea"/>
                <a:cs typeface="思源黑体 CN Normal" panose="020B0400000000000000" pitchFamily="34" charset="-122"/>
              </a:rPr>
              <a:t>分钟</a:t>
            </a:r>
            <a:endParaRPr lang="en-US" altLang="zh-CN" sz="14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问题平均响应时间</a:t>
            </a:r>
            <a:endParaRPr lang="en-US" altLang="zh-CN" sz="1400" b="0" i="0" dirty="0">
              <a:solidFill>
                <a:srgbClr val="0D0D0D"/>
              </a:solidFill>
              <a:effectLst/>
              <a:latin typeface="+mn-ea"/>
              <a:cs typeface="思源黑体 CN Normal" panose="020B0400000000000000" pitchFamily="34" charset="-122"/>
            </a:endParaRPr>
          </a:p>
        </p:txBody>
      </p:sp>
      <p:sp>
        <p:nvSpPr>
          <p:cNvPr id="154" name="文本框 153"/>
          <p:cNvSpPr txBox="1"/>
          <p:nvPr/>
        </p:nvSpPr>
        <p:spPr>
          <a:xfrm>
            <a:off x="7950464" y="4664083"/>
            <a:ext cx="1692000" cy="615553"/>
          </a:xfrm>
          <a:prstGeom prst="rect">
            <a:avLst/>
          </a:prstGeom>
          <a:noFill/>
          <a:ln w="3175">
            <a:solidFill>
              <a:schemeClr val="accent1"/>
            </a:solidFill>
            <a:prstDash val="dash"/>
          </a:ln>
        </p:spPr>
        <p:txBody>
          <a:bodyPr wrap="square" lIns="108000" rIns="108000">
            <a:spAutoFit/>
          </a:bodyPr>
          <a:lstStyle/>
          <a:p>
            <a:r>
              <a:rPr lang="en-US" altLang="zh-CN" sz="2000" dirty="0">
                <a:solidFill>
                  <a:schemeClr val="bg2"/>
                </a:solidFill>
                <a:latin typeface="+mj-ea"/>
                <a:ea typeface="+mj-ea"/>
                <a:cs typeface="思源黑体 CN Normal" panose="020B0400000000000000" pitchFamily="34" charset="-122"/>
              </a:rPr>
              <a:t>98</a:t>
            </a:r>
            <a:r>
              <a:rPr lang="en-US" altLang="zh-CN" sz="1400" dirty="0">
                <a:solidFill>
                  <a:schemeClr val="bg2"/>
                </a:solidFill>
                <a:latin typeface="+mj-ea"/>
                <a:ea typeface="+mj-ea"/>
                <a:cs typeface="思源黑体 CN Normal" panose="020B0400000000000000" pitchFamily="34" charset="-122"/>
              </a:rPr>
              <a:t>%</a:t>
            </a:r>
            <a:endParaRPr lang="en-US" altLang="zh-CN" sz="14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服务全程跟踪率</a:t>
            </a:r>
            <a:endParaRPr lang="en-US" altLang="zh-CN" sz="1400" b="0" i="0" dirty="0">
              <a:solidFill>
                <a:srgbClr val="0D0D0D"/>
              </a:solidFill>
              <a:effectLst/>
              <a:latin typeface="+mn-ea"/>
              <a:cs typeface="思源黑体 CN Normal" panose="020B0400000000000000" pitchFamily="34" charset="-122"/>
            </a:endParaRPr>
          </a:p>
        </p:txBody>
      </p:sp>
      <p:sp>
        <p:nvSpPr>
          <p:cNvPr id="156" name="文本框 155"/>
          <p:cNvSpPr txBox="1"/>
          <p:nvPr/>
        </p:nvSpPr>
        <p:spPr>
          <a:xfrm>
            <a:off x="9803736" y="4664083"/>
            <a:ext cx="1692000" cy="615553"/>
          </a:xfrm>
          <a:prstGeom prst="rect">
            <a:avLst/>
          </a:prstGeom>
          <a:noFill/>
          <a:ln w="3175">
            <a:solidFill>
              <a:schemeClr val="accent1"/>
            </a:solidFill>
            <a:prstDash val="dash"/>
          </a:ln>
        </p:spPr>
        <p:txBody>
          <a:bodyPr wrap="square" lIns="108000" rIns="108000">
            <a:spAutoFit/>
          </a:bodyPr>
          <a:lstStyle/>
          <a:p>
            <a:r>
              <a:rPr lang="en-US" altLang="zh-CN" sz="2000" dirty="0">
                <a:solidFill>
                  <a:schemeClr val="bg2"/>
                </a:solidFill>
                <a:latin typeface="+mj-ea"/>
                <a:ea typeface="+mj-ea"/>
                <a:cs typeface="思源黑体 CN Normal" panose="020B0400000000000000" pitchFamily="34" charset="-122"/>
              </a:rPr>
              <a:t>25</a:t>
            </a:r>
            <a:r>
              <a:rPr lang="en-US" altLang="zh-CN" sz="1400" dirty="0">
                <a:solidFill>
                  <a:schemeClr val="bg2"/>
                </a:solidFill>
                <a:latin typeface="+mj-ea"/>
                <a:ea typeface="+mj-ea"/>
                <a:cs typeface="思源黑体 CN Normal" panose="020B0400000000000000" pitchFamily="34" charset="-122"/>
              </a:rPr>
              <a:t>%</a:t>
            </a:r>
            <a:endParaRPr lang="en-US" altLang="zh-CN" sz="14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满意度同比提高</a:t>
            </a:r>
            <a:endParaRPr lang="en-US" altLang="zh-CN" sz="1400" b="0" i="0" dirty="0">
              <a:solidFill>
                <a:srgbClr val="0D0D0D"/>
              </a:solidFill>
              <a:effectLst/>
              <a:latin typeface="+mn-ea"/>
              <a:cs typeface="思源黑体 CN Normal" panose="020B0400000000000000" pitchFamily="34" charset="-122"/>
            </a:endParaRPr>
          </a:p>
        </p:txBody>
      </p:sp>
      <p:sp>
        <p:nvSpPr>
          <p:cNvPr id="136" name="箭头: 燕尾形 135"/>
          <p:cNvSpPr/>
          <p:nvPr/>
        </p:nvSpPr>
        <p:spPr>
          <a:xfrm>
            <a:off x="6929317" y="5609652"/>
            <a:ext cx="396000" cy="249306"/>
          </a:xfrm>
          <a:prstGeom prst="notchedRightArrow">
            <a:avLst/>
          </a:prstGeom>
          <a:gradFill>
            <a:gsLst>
              <a:gs pos="0">
                <a:schemeClr val="accent2">
                  <a:alpha val="0"/>
                </a:schemeClr>
              </a:gs>
              <a:gs pos="100000">
                <a:schemeClr val="accent2"/>
              </a:gs>
            </a:gsLst>
            <a:lin ang="0" scaled="0"/>
          </a:gradFill>
          <a:ln w="6350">
            <a:gradFill>
              <a:gsLst>
                <a:gs pos="7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2" name="箭头: 燕尾形 141"/>
          <p:cNvSpPr/>
          <p:nvPr/>
        </p:nvSpPr>
        <p:spPr>
          <a:xfrm flipH="1">
            <a:off x="4826995" y="5609652"/>
            <a:ext cx="396000" cy="249306"/>
          </a:xfrm>
          <a:prstGeom prst="notchedRightArrow">
            <a:avLst/>
          </a:prstGeom>
          <a:gradFill>
            <a:gsLst>
              <a:gs pos="0">
                <a:schemeClr val="accent2">
                  <a:alpha val="0"/>
                </a:schemeClr>
              </a:gs>
              <a:gs pos="100000">
                <a:schemeClr val="accent2"/>
              </a:gs>
            </a:gsLst>
            <a:lin ang="0" scaled="0"/>
          </a:gradFill>
          <a:ln w="6350">
            <a:gradFill>
              <a:gsLst>
                <a:gs pos="7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0" name="文本框 159"/>
          <p:cNvSpPr txBox="1"/>
          <p:nvPr/>
        </p:nvSpPr>
        <p:spPr>
          <a:xfrm>
            <a:off x="1124358" y="5580417"/>
            <a:ext cx="3672000" cy="307777"/>
          </a:xfrm>
          <a:prstGeom prst="rect">
            <a:avLst/>
          </a:prstGeom>
          <a:noFill/>
        </p:spPr>
        <p:txBody>
          <a:bodyPr wrap="square" lIns="0" rIns="0">
            <a:spAutoFit/>
          </a:bodyPr>
          <a:lstStyle/>
          <a:p>
            <a:r>
              <a:rPr lang="zh-CN" altLang="en-US" sz="1400" b="0" i="0" dirty="0">
                <a:solidFill>
                  <a:srgbClr val="0D0D0D"/>
                </a:solidFill>
                <a:effectLst/>
                <a:latin typeface="+mn-ea"/>
                <a:cs typeface="思源黑体 CN Normal" panose="020B0400000000000000" pitchFamily="34" charset="-122"/>
              </a:rPr>
              <a:t>依据客户独特需求，量身定制打造服务方案</a:t>
            </a:r>
            <a:endParaRPr lang="zh-CN" altLang="en-US" sz="1400" b="0" i="0" dirty="0">
              <a:solidFill>
                <a:srgbClr val="0D0D0D"/>
              </a:solidFill>
              <a:effectLst/>
              <a:latin typeface="+mn-ea"/>
              <a:cs typeface="思源黑体 CN Normal" panose="020B0400000000000000" pitchFamily="34" charset="-122"/>
            </a:endParaRPr>
          </a:p>
        </p:txBody>
      </p:sp>
      <p:sp>
        <p:nvSpPr>
          <p:cNvPr id="162" name="文本框 161"/>
          <p:cNvSpPr txBox="1"/>
          <p:nvPr/>
        </p:nvSpPr>
        <p:spPr>
          <a:xfrm>
            <a:off x="7388774" y="5580417"/>
            <a:ext cx="3672000" cy="307777"/>
          </a:xfrm>
          <a:prstGeom prst="rect">
            <a:avLst/>
          </a:prstGeom>
          <a:noFill/>
        </p:spPr>
        <p:txBody>
          <a:bodyPr wrap="square" lIns="0" rIns="0">
            <a:spAutoFit/>
          </a:bodyPr>
          <a:lstStyle/>
          <a:p>
            <a:pPr algn="r"/>
            <a:r>
              <a:rPr lang="zh-CN" altLang="en-US" sz="1400" b="0" i="0" dirty="0">
                <a:solidFill>
                  <a:srgbClr val="0D0D0D"/>
                </a:solidFill>
                <a:effectLst/>
                <a:latin typeface="+mn-ea"/>
                <a:cs typeface="思源黑体 CN Normal" panose="020B0400000000000000" pitchFamily="34" charset="-122"/>
              </a:rPr>
              <a:t>服务全程紧密跟踪服务，给客户满满安全感</a:t>
            </a:r>
            <a:endParaRPr lang="zh-CN" altLang="en-US" sz="1400" b="0" i="0" dirty="0">
              <a:solidFill>
                <a:srgbClr val="0D0D0D"/>
              </a:solidFill>
              <a:effectLst/>
              <a:latin typeface="+mn-ea"/>
              <a:cs typeface="思源黑体 CN Normal" panose="020B0400000000000000" pitchFamily="34" charset="-122"/>
            </a:endParaRPr>
          </a:p>
        </p:txBody>
      </p:sp>
      <p:grpSp>
        <p:nvGrpSpPr>
          <p:cNvPr id="173" name="组合 172"/>
          <p:cNvGrpSpPr/>
          <p:nvPr/>
        </p:nvGrpSpPr>
        <p:grpSpPr>
          <a:xfrm>
            <a:off x="706677" y="5562637"/>
            <a:ext cx="343336" cy="343336"/>
            <a:chOff x="455860" y="5534217"/>
            <a:chExt cx="343336" cy="343336"/>
          </a:xfrm>
        </p:grpSpPr>
        <p:sp>
          <p:nvSpPr>
            <p:cNvPr id="172" name="矩形: 圆角 171"/>
            <p:cNvSpPr/>
            <p:nvPr/>
          </p:nvSpPr>
          <p:spPr>
            <a:xfrm>
              <a:off x="455860" y="5534217"/>
              <a:ext cx="343336" cy="343336"/>
            </a:xfrm>
            <a:prstGeom prst="roundRect">
              <a:avLst>
                <a:gd name="adj" fmla="val 1574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71" name="图形 17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358" y="5594715"/>
              <a:ext cx="222340" cy="222340"/>
            </a:xfrm>
            <a:prstGeom prst="rect">
              <a:avLst/>
            </a:prstGeom>
          </p:spPr>
        </p:pic>
      </p:grpSp>
      <p:grpSp>
        <p:nvGrpSpPr>
          <p:cNvPr id="197" name="组合 196"/>
          <p:cNvGrpSpPr/>
          <p:nvPr/>
        </p:nvGrpSpPr>
        <p:grpSpPr>
          <a:xfrm>
            <a:off x="11154687" y="5562637"/>
            <a:ext cx="343336" cy="343336"/>
            <a:chOff x="11161832" y="5554734"/>
            <a:chExt cx="343336" cy="343336"/>
          </a:xfrm>
        </p:grpSpPr>
        <p:sp>
          <p:nvSpPr>
            <p:cNvPr id="184" name="矩形: 圆角 183"/>
            <p:cNvSpPr/>
            <p:nvPr/>
          </p:nvSpPr>
          <p:spPr>
            <a:xfrm>
              <a:off x="11161832" y="5554734"/>
              <a:ext cx="343336" cy="343336"/>
            </a:xfrm>
            <a:prstGeom prst="roundRect">
              <a:avLst>
                <a:gd name="adj" fmla="val 1574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96" name="图形 195"/>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07500" y="5600402"/>
              <a:ext cx="252000" cy="252000"/>
            </a:xfrm>
            <a:prstGeom prst="rect">
              <a:avLst/>
            </a:prstGeom>
          </p:spPr>
        </p:pic>
      </p:grpSp>
      <p:sp>
        <p:nvSpPr>
          <p:cNvPr id="139" name="箭头: 燕尾形 138"/>
          <p:cNvSpPr/>
          <p:nvPr/>
        </p:nvSpPr>
        <p:spPr>
          <a:xfrm>
            <a:off x="6929317" y="6070394"/>
            <a:ext cx="396000" cy="249306"/>
          </a:xfrm>
          <a:prstGeom prst="notchedRightArrow">
            <a:avLst/>
          </a:prstGeom>
          <a:gradFill>
            <a:gsLst>
              <a:gs pos="0">
                <a:schemeClr val="accent2">
                  <a:alpha val="0"/>
                </a:schemeClr>
              </a:gs>
              <a:gs pos="100000">
                <a:schemeClr val="accent2"/>
              </a:gs>
            </a:gsLst>
            <a:lin ang="0" scaled="0"/>
          </a:gradFill>
          <a:ln w="6350">
            <a:gradFill>
              <a:gsLst>
                <a:gs pos="7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4" name="箭头: 燕尾形 143"/>
          <p:cNvSpPr/>
          <p:nvPr/>
        </p:nvSpPr>
        <p:spPr>
          <a:xfrm flipH="1">
            <a:off x="4826995" y="6070394"/>
            <a:ext cx="396000" cy="249306"/>
          </a:xfrm>
          <a:prstGeom prst="notchedRightArrow">
            <a:avLst/>
          </a:prstGeom>
          <a:gradFill>
            <a:gsLst>
              <a:gs pos="0">
                <a:schemeClr val="accent2">
                  <a:alpha val="0"/>
                </a:schemeClr>
              </a:gs>
              <a:gs pos="100000">
                <a:schemeClr val="accent2"/>
              </a:gs>
            </a:gsLst>
            <a:lin ang="0" scaled="0"/>
          </a:gradFill>
          <a:ln w="6350">
            <a:gradFill>
              <a:gsLst>
                <a:gs pos="7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1" name="文本框 160"/>
          <p:cNvSpPr txBox="1"/>
          <p:nvPr/>
        </p:nvSpPr>
        <p:spPr>
          <a:xfrm>
            <a:off x="1124358" y="6041159"/>
            <a:ext cx="3672000" cy="307777"/>
          </a:xfrm>
          <a:prstGeom prst="rect">
            <a:avLst/>
          </a:prstGeom>
          <a:noFill/>
        </p:spPr>
        <p:txBody>
          <a:bodyPr wrap="square" lIns="0" rIns="0">
            <a:spAutoFit/>
          </a:bodyPr>
          <a:lstStyle/>
          <a:p>
            <a:r>
              <a:rPr lang="zh-CN" altLang="en-US" sz="1400" b="0" i="0" dirty="0">
                <a:solidFill>
                  <a:srgbClr val="0D0D0D"/>
                </a:solidFill>
                <a:effectLst/>
                <a:latin typeface="+mn-ea"/>
                <a:cs typeface="思源黑体 CN Normal" panose="020B0400000000000000" pitchFamily="34" charset="-122"/>
              </a:rPr>
              <a:t>问题快速响应，高效</a:t>
            </a:r>
            <a:r>
              <a:rPr lang="zh-CN" altLang="en-US" sz="1400" dirty="0">
                <a:solidFill>
                  <a:srgbClr val="0D0D0D"/>
                </a:solidFill>
                <a:latin typeface="+mn-ea"/>
                <a:cs typeface="思源黑体 CN Normal" panose="020B0400000000000000" pitchFamily="34" charset="-122"/>
              </a:rPr>
              <a:t>快速</a:t>
            </a:r>
            <a:r>
              <a:rPr lang="zh-CN" altLang="en-US" sz="1400" b="0" i="0" dirty="0">
                <a:solidFill>
                  <a:srgbClr val="0D0D0D"/>
                </a:solidFill>
                <a:effectLst/>
                <a:latin typeface="+mn-ea"/>
                <a:cs typeface="思源黑体 CN Normal" panose="020B0400000000000000" pitchFamily="34" charset="-122"/>
              </a:rPr>
              <a:t>解决，让客户无忧</a:t>
            </a:r>
            <a:endParaRPr lang="zh-CN" altLang="en-US" sz="1400" b="0" i="0" dirty="0">
              <a:solidFill>
                <a:srgbClr val="0D0D0D"/>
              </a:solidFill>
              <a:effectLst/>
              <a:latin typeface="+mn-ea"/>
              <a:cs typeface="思源黑体 CN Normal" panose="020B0400000000000000" pitchFamily="34" charset="-122"/>
            </a:endParaRPr>
          </a:p>
        </p:txBody>
      </p:sp>
      <p:sp>
        <p:nvSpPr>
          <p:cNvPr id="165" name="文本框 164"/>
          <p:cNvSpPr txBox="1"/>
          <p:nvPr/>
        </p:nvSpPr>
        <p:spPr>
          <a:xfrm>
            <a:off x="7401738" y="6041159"/>
            <a:ext cx="3672000" cy="307777"/>
          </a:xfrm>
          <a:prstGeom prst="rect">
            <a:avLst/>
          </a:prstGeom>
          <a:noFill/>
        </p:spPr>
        <p:txBody>
          <a:bodyPr wrap="square" lIns="0" rIns="0">
            <a:spAutoFit/>
          </a:bodyPr>
          <a:lstStyle/>
          <a:p>
            <a:pPr algn="r"/>
            <a:r>
              <a:rPr lang="zh-CN" altLang="en-US" sz="1400" b="0" i="0" dirty="0">
                <a:solidFill>
                  <a:srgbClr val="0D0D0D"/>
                </a:solidFill>
                <a:effectLst/>
                <a:latin typeface="+mn-ea"/>
                <a:cs typeface="思源黑体 CN Normal" panose="020B0400000000000000" pitchFamily="34" charset="-122"/>
              </a:rPr>
              <a:t>根据反馈不断改进服务，推动口碑持续上升</a:t>
            </a:r>
            <a:endParaRPr lang="zh-CN" altLang="en-US" sz="1400" b="0" i="0" dirty="0">
              <a:solidFill>
                <a:srgbClr val="0D0D0D"/>
              </a:solidFill>
              <a:effectLst/>
              <a:latin typeface="+mn-ea"/>
              <a:cs typeface="思源黑体 CN Normal" panose="020B0400000000000000" pitchFamily="34" charset="-122"/>
            </a:endParaRPr>
          </a:p>
        </p:txBody>
      </p:sp>
      <p:grpSp>
        <p:nvGrpSpPr>
          <p:cNvPr id="194" name="组合 193"/>
          <p:cNvGrpSpPr/>
          <p:nvPr/>
        </p:nvGrpSpPr>
        <p:grpSpPr>
          <a:xfrm>
            <a:off x="706677" y="6023379"/>
            <a:ext cx="343336" cy="343336"/>
            <a:chOff x="726521" y="6002880"/>
            <a:chExt cx="343336" cy="343336"/>
          </a:xfrm>
        </p:grpSpPr>
        <p:sp>
          <p:nvSpPr>
            <p:cNvPr id="177" name="矩形: 圆角 176"/>
            <p:cNvSpPr/>
            <p:nvPr/>
          </p:nvSpPr>
          <p:spPr>
            <a:xfrm>
              <a:off x="726521" y="6002880"/>
              <a:ext cx="343336" cy="343336"/>
            </a:xfrm>
            <a:prstGeom prst="roundRect">
              <a:avLst>
                <a:gd name="adj" fmla="val 1574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91" name="图形 190"/>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6589" y="6062948"/>
              <a:ext cx="223200" cy="223200"/>
            </a:xfrm>
            <a:prstGeom prst="rect">
              <a:avLst/>
            </a:prstGeom>
          </p:spPr>
        </p:pic>
      </p:grpSp>
      <p:grpSp>
        <p:nvGrpSpPr>
          <p:cNvPr id="202" name="组合 201"/>
          <p:cNvGrpSpPr/>
          <p:nvPr/>
        </p:nvGrpSpPr>
        <p:grpSpPr>
          <a:xfrm>
            <a:off x="11154687" y="6023379"/>
            <a:ext cx="343336" cy="343336"/>
            <a:chOff x="11161832" y="6002880"/>
            <a:chExt cx="343336" cy="343336"/>
          </a:xfrm>
        </p:grpSpPr>
        <p:sp>
          <p:nvSpPr>
            <p:cNvPr id="188" name="矩形: 圆角 187"/>
            <p:cNvSpPr/>
            <p:nvPr/>
          </p:nvSpPr>
          <p:spPr>
            <a:xfrm>
              <a:off x="11161832" y="6002880"/>
              <a:ext cx="343336" cy="343336"/>
            </a:xfrm>
            <a:prstGeom prst="roundRect">
              <a:avLst>
                <a:gd name="adj" fmla="val 1574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200" name="图形 199"/>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21900" y="6062948"/>
              <a:ext cx="223200" cy="223200"/>
            </a:xfrm>
            <a:prstGeom prst="rect">
              <a:avLst/>
            </a:prstGeom>
          </p:spPr>
        </p:pic>
      </p:grpSp>
    </p:spTree>
    <p:custDataLst>
      <p:tags r:id="rId1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梯形"/>
          <p:cNvSpPr/>
          <p:nvPr/>
        </p:nvSpPr>
        <p:spPr>
          <a:xfrm flipV="1">
            <a:off x="335027" y="1290473"/>
            <a:ext cx="11522011" cy="125936"/>
          </a:xfrm>
          <a:prstGeom prst="trapezoid">
            <a:avLst>
              <a:gd name="adj" fmla="val 119447"/>
            </a:avLst>
          </a:prstGeom>
          <a:gradFill>
            <a:gsLst>
              <a:gs pos="0">
                <a:schemeClr val="accent1">
                  <a:lumMod val="20000"/>
                  <a:lumOff val="80000"/>
                  <a:alpha val="0"/>
                </a:schemeClr>
              </a:gs>
              <a:gs pos="100000">
                <a:schemeClr val="accent1">
                  <a:lumMod val="40000"/>
                  <a:lumOff val="60000"/>
                  <a:alpha val="60000"/>
                </a:schemeClr>
              </a:gs>
            </a:gsLst>
            <a:lin ang="5400000" scaled="1"/>
          </a:gradFill>
          <a:ln w="6350">
            <a:gradFill>
              <a:gsLst>
                <a:gs pos="29000">
                  <a:schemeClr val="bg1">
                    <a:alpha val="0"/>
                  </a:schemeClr>
                </a:gs>
                <a:gs pos="87000">
                  <a:schemeClr val="accent1">
                    <a:lumMod val="60000"/>
                    <a:lumOff val="40000"/>
                  </a:schemeClr>
                </a:gs>
              </a:gsLst>
              <a:lin ang="5400000" scaled="1"/>
            </a:gradFill>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schemeClr val="bg1"/>
              </a:solidFill>
              <a:latin typeface="+mj-ea"/>
              <a:ea typeface="+mj-ea"/>
              <a:cs typeface="思源黑体 CN Normal" panose="020B0400000000000000" pitchFamily="34" charset="-122"/>
            </a:endParaRPr>
          </a:p>
        </p:txBody>
      </p:sp>
      <p:sp>
        <p:nvSpPr>
          <p:cNvPr id="115" name="矩形: 圆角 114"/>
          <p:cNvSpPr/>
          <p:nvPr/>
        </p:nvSpPr>
        <p:spPr>
          <a:xfrm>
            <a:off x="336000" y="5674578"/>
            <a:ext cx="11520000" cy="931195"/>
          </a:xfrm>
          <a:prstGeom prst="roundRect">
            <a:avLst>
              <a:gd name="adj" fmla="val 0"/>
            </a:avLst>
          </a:prstGeom>
          <a:solidFill>
            <a:schemeClr val="accent2">
              <a:lumMod val="20000"/>
              <a:lumOff val="80000"/>
              <a:alpha val="21000"/>
            </a:schemeClr>
          </a:solidFill>
          <a:ln w="31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26" name="组合 25"/>
          <p:cNvGrpSpPr/>
          <p:nvPr/>
        </p:nvGrpSpPr>
        <p:grpSpPr>
          <a:xfrm>
            <a:off x="2971254" y="1733075"/>
            <a:ext cx="6249493" cy="3378200"/>
            <a:chOff x="2992362" y="1733075"/>
            <a:chExt cx="6249493" cy="3378200"/>
          </a:xfrm>
        </p:grpSpPr>
        <p:sp>
          <p:nvSpPr>
            <p:cNvPr id="28" name="任意多边形: 形状 27"/>
            <p:cNvSpPr/>
            <p:nvPr/>
          </p:nvSpPr>
          <p:spPr>
            <a:xfrm>
              <a:off x="2992362" y="1733075"/>
              <a:ext cx="1836000" cy="3378200"/>
            </a:xfrm>
            <a:custGeom>
              <a:avLst/>
              <a:gdLst>
                <a:gd name="connsiteX0" fmla="*/ 0 w 1168990"/>
                <a:gd name="connsiteY0" fmla="*/ 0 h 4987970"/>
                <a:gd name="connsiteX1" fmla="*/ 130458 w 1168990"/>
                <a:gd name="connsiteY1" fmla="*/ 155697 h 4987970"/>
                <a:gd name="connsiteX2" fmla="*/ 1059461 w 1168990"/>
                <a:gd name="connsiteY2" fmla="*/ 964632 h 4987970"/>
                <a:gd name="connsiteX3" fmla="*/ 1168990 w 1168990"/>
                <a:gd name="connsiteY3" fmla="*/ 1031197 h 4987970"/>
                <a:gd name="connsiteX4" fmla="*/ 1168990 w 1168990"/>
                <a:gd name="connsiteY4" fmla="*/ 3965391 h 4987970"/>
                <a:gd name="connsiteX5" fmla="*/ 1059461 w 1168990"/>
                <a:gd name="connsiteY5" fmla="*/ 4031956 h 4987970"/>
                <a:gd name="connsiteX6" fmla="*/ 130458 w 1168990"/>
                <a:gd name="connsiteY6" fmla="*/ 4840891 h 4987970"/>
                <a:gd name="connsiteX7" fmla="*/ 7221 w 1168990"/>
                <a:gd name="connsiteY7" fmla="*/ 4987970 h 4987970"/>
                <a:gd name="connsiteX8" fmla="*/ 0 w 1168990"/>
                <a:gd name="connsiteY8" fmla="*/ 4987970 h 4987970"/>
                <a:gd name="connsiteX9" fmla="*/ 0 w 1168990"/>
                <a:gd name="connsiteY9" fmla="*/ 0 h 498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8990" h="4987970">
                  <a:moveTo>
                    <a:pt x="0" y="0"/>
                  </a:moveTo>
                  <a:lnTo>
                    <a:pt x="130458" y="155697"/>
                  </a:lnTo>
                  <a:cubicBezTo>
                    <a:pt x="412496" y="476388"/>
                    <a:pt x="724361" y="749061"/>
                    <a:pt x="1059461" y="964632"/>
                  </a:cubicBezTo>
                  <a:lnTo>
                    <a:pt x="1168990" y="1031197"/>
                  </a:lnTo>
                  <a:lnTo>
                    <a:pt x="1168990" y="3965391"/>
                  </a:lnTo>
                  <a:lnTo>
                    <a:pt x="1059461" y="4031956"/>
                  </a:lnTo>
                  <a:cubicBezTo>
                    <a:pt x="724361" y="4247528"/>
                    <a:pt x="412496" y="4520201"/>
                    <a:pt x="130458" y="4840891"/>
                  </a:cubicBezTo>
                  <a:lnTo>
                    <a:pt x="7221" y="4987970"/>
                  </a:lnTo>
                  <a:lnTo>
                    <a:pt x="0" y="4987970"/>
                  </a:lnTo>
                  <a:lnTo>
                    <a:pt x="0" y="0"/>
                  </a:lnTo>
                  <a:close/>
                </a:path>
              </a:pathLst>
            </a:custGeom>
            <a:gradFill>
              <a:gsLst>
                <a:gs pos="0">
                  <a:schemeClr val="accent1">
                    <a:lumMod val="20000"/>
                    <a:lumOff val="80000"/>
                    <a:alpha val="0"/>
                  </a:schemeClr>
                </a:gs>
                <a:gs pos="100000">
                  <a:schemeClr val="accent1">
                    <a:lumMod val="20000"/>
                    <a:lumOff val="80000"/>
                    <a:alpha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9" name="任意多边形: 形状 28"/>
            <p:cNvSpPr/>
            <p:nvPr/>
          </p:nvSpPr>
          <p:spPr>
            <a:xfrm flipH="1">
              <a:off x="7405855" y="1733075"/>
              <a:ext cx="1836000" cy="3378200"/>
            </a:xfrm>
            <a:custGeom>
              <a:avLst/>
              <a:gdLst>
                <a:gd name="connsiteX0" fmla="*/ 0 w 1168990"/>
                <a:gd name="connsiteY0" fmla="*/ 0 h 4987970"/>
                <a:gd name="connsiteX1" fmla="*/ 130458 w 1168990"/>
                <a:gd name="connsiteY1" fmla="*/ 155697 h 4987970"/>
                <a:gd name="connsiteX2" fmla="*/ 1059461 w 1168990"/>
                <a:gd name="connsiteY2" fmla="*/ 964632 h 4987970"/>
                <a:gd name="connsiteX3" fmla="*/ 1168990 w 1168990"/>
                <a:gd name="connsiteY3" fmla="*/ 1031197 h 4987970"/>
                <a:gd name="connsiteX4" fmla="*/ 1168990 w 1168990"/>
                <a:gd name="connsiteY4" fmla="*/ 3965391 h 4987970"/>
                <a:gd name="connsiteX5" fmla="*/ 1059461 w 1168990"/>
                <a:gd name="connsiteY5" fmla="*/ 4031956 h 4987970"/>
                <a:gd name="connsiteX6" fmla="*/ 130458 w 1168990"/>
                <a:gd name="connsiteY6" fmla="*/ 4840891 h 4987970"/>
                <a:gd name="connsiteX7" fmla="*/ 7221 w 1168990"/>
                <a:gd name="connsiteY7" fmla="*/ 4987970 h 4987970"/>
                <a:gd name="connsiteX8" fmla="*/ 0 w 1168990"/>
                <a:gd name="connsiteY8" fmla="*/ 4987970 h 4987970"/>
                <a:gd name="connsiteX9" fmla="*/ 0 w 1168990"/>
                <a:gd name="connsiteY9" fmla="*/ 0 h 498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8990" h="4987970">
                  <a:moveTo>
                    <a:pt x="0" y="0"/>
                  </a:moveTo>
                  <a:lnTo>
                    <a:pt x="130458" y="155697"/>
                  </a:lnTo>
                  <a:cubicBezTo>
                    <a:pt x="412496" y="476388"/>
                    <a:pt x="724361" y="749061"/>
                    <a:pt x="1059461" y="964632"/>
                  </a:cubicBezTo>
                  <a:lnTo>
                    <a:pt x="1168990" y="1031197"/>
                  </a:lnTo>
                  <a:lnTo>
                    <a:pt x="1168990" y="3965391"/>
                  </a:lnTo>
                  <a:lnTo>
                    <a:pt x="1059461" y="4031956"/>
                  </a:lnTo>
                  <a:cubicBezTo>
                    <a:pt x="724361" y="4247528"/>
                    <a:pt x="412496" y="4520201"/>
                    <a:pt x="130458" y="4840891"/>
                  </a:cubicBezTo>
                  <a:lnTo>
                    <a:pt x="7221" y="4987970"/>
                  </a:lnTo>
                  <a:lnTo>
                    <a:pt x="0" y="4987970"/>
                  </a:lnTo>
                  <a:lnTo>
                    <a:pt x="0" y="0"/>
                  </a:lnTo>
                  <a:close/>
                </a:path>
              </a:pathLst>
            </a:custGeom>
            <a:gradFill>
              <a:gsLst>
                <a:gs pos="0">
                  <a:schemeClr val="accent1">
                    <a:lumMod val="20000"/>
                    <a:lumOff val="80000"/>
                    <a:alpha val="0"/>
                  </a:schemeClr>
                </a:gs>
                <a:gs pos="100000">
                  <a:schemeClr val="accent1">
                    <a:lumMod val="20000"/>
                    <a:lumOff val="80000"/>
                    <a:alpha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2" name="椭圆 1"/>
          <p:cNvSpPr/>
          <p:nvPr/>
        </p:nvSpPr>
        <p:spPr>
          <a:xfrm>
            <a:off x="4406900" y="1736103"/>
            <a:ext cx="3378200" cy="3378200"/>
          </a:xfrm>
          <a:prstGeom prst="ellipse">
            <a:avLst/>
          </a:prstGeom>
          <a:solidFill>
            <a:schemeClr val="bg1"/>
          </a:solidFill>
          <a:ln>
            <a:noFill/>
          </a:ln>
          <a:effectLst>
            <a:outerShdw blurRad="1270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 name="椭圆 4"/>
          <p:cNvSpPr>
            <a:spLocks noChangeAspect="1"/>
          </p:cNvSpPr>
          <p:nvPr/>
        </p:nvSpPr>
        <p:spPr>
          <a:xfrm>
            <a:off x="5718000" y="1444102"/>
            <a:ext cx="756000" cy="756000"/>
          </a:xfrm>
          <a:prstGeom prst="ellipse">
            <a:avLst/>
          </a:prstGeom>
          <a:solidFill>
            <a:schemeClr val="accent1"/>
          </a:solidFill>
          <a:effectLst/>
        </p:spPr>
        <p:txBody>
          <a:bodyPr wrap="none" rtlCol="0" anchor="ctr">
            <a:noAutofit/>
          </a:bodyPr>
          <a:lstStyle/>
          <a:p>
            <a:pPr algn="ctr"/>
            <a:r>
              <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政</a:t>
            </a:r>
            <a:endPar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 name="椭圆 5"/>
          <p:cNvSpPr>
            <a:spLocks noChangeAspect="1"/>
          </p:cNvSpPr>
          <p:nvPr/>
        </p:nvSpPr>
        <p:spPr>
          <a:xfrm>
            <a:off x="5718000" y="4644248"/>
            <a:ext cx="756000" cy="756000"/>
          </a:xfrm>
          <a:prstGeom prst="ellipse">
            <a:avLst/>
          </a:prstGeom>
          <a:solidFill>
            <a:schemeClr val="accent2"/>
          </a:solidFill>
          <a:effectLst/>
        </p:spPr>
        <p:txBody>
          <a:bodyPr wrap="none" rtlCol="0" anchor="ctr">
            <a:noAutofit/>
          </a:bodyPr>
          <a:lstStyle/>
          <a:p>
            <a:pPr algn="ctr"/>
            <a:r>
              <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企</a:t>
            </a:r>
            <a:endPar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7" name="组合 6"/>
          <p:cNvGrpSpPr/>
          <p:nvPr/>
        </p:nvGrpSpPr>
        <p:grpSpPr>
          <a:xfrm>
            <a:off x="4137876" y="1445581"/>
            <a:ext cx="3916248" cy="3916247"/>
            <a:chOff x="3482681" y="1877660"/>
            <a:chExt cx="3024001" cy="3024000"/>
          </a:xfrm>
        </p:grpSpPr>
        <p:sp>
          <p:nvSpPr>
            <p:cNvPr id="8" name="弧形 7"/>
            <p:cNvSpPr>
              <a:spLocks noChangeAspect="1"/>
            </p:cNvSpPr>
            <p:nvPr/>
          </p:nvSpPr>
          <p:spPr>
            <a:xfrm>
              <a:off x="3482681" y="1877660"/>
              <a:ext cx="3024000" cy="3024000"/>
            </a:xfrm>
            <a:prstGeom prst="arc">
              <a:avLst>
                <a:gd name="adj1" fmla="val 17324430"/>
                <a:gd name="adj2" fmla="val 20449983"/>
              </a:avLst>
            </a:prstGeom>
            <a:ln w="104775" cap="rnd">
              <a:gradFill>
                <a:gsLst>
                  <a:gs pos="3000">
                    <a:schemeClr val="accent1">
                      <a:alpha val="0"/>
                    </a:schemeClr>
                  </a:gs>
                  <a:gs pos="36000">
                    <a:schemeClr val="accent1"/>
                  </a:gs>
                  <a:gs pos="75000">
                    <a:schemeClr val="accent1"/>
                  </a:gs>
                </a:gsLst>
                <a:lin ang="5400000" scaled="1"/>
              </a:gradFill>
              <a:prstDash val="soli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 name="弧形 8"/>
            <p:cNvSpPr>
              <a:spLocks noChangeAspect="1"/>
            </p:cNvSpPr>
            <p:nvPr/>
          </p:nvSpPr>
          <p:spPr>
            <a:xfrm rot="5400000">
              <a:off x="3482681" y="1877660"/>
              <a:ext cx="3024000" cy="3024000"/>
            </a:xfrm>
            <a:prstGeom prst="arc">
              <a:avLst>
                <a:gd name="adj1" fmla="val 17324430"/>
                <a:gd name="adj2" fmla="val 20449983"/>
              </a:avLst>
            </a:prstGeom>
            <a:ln w="104775" cap="rnd">
              <a:gradFill>
                <a:gsLst>
                  <a:gs pos="3000">
                    <a:schemeClr val="accent1">
                      <a:alpha val="0"/>
                    </a:schemeClr>
                  </a:gs>
                  <a:gs pos="36000">
                    <a:schemeClr val="accent1"/>
                  </a:gs>
                  <a:gs pos="75000">
                    <a:schemeClr val="accent1"/>
                  </a:gs>
                </a:gsLst>
                <a:lin ang="5400000" scaled="1"/>
              </a:gradFill>
              <a:prstDash val="soli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 name="弧形 9"/>
            <p:cNvSpPr>
              <a:spLocks noChangeAspect="1"/>
            </p:cNvSpPr>
            <p:nvPr/>
          </p:nvSpPr>
          <p:spPr>
            <a:xfrm rot="10800000">
              <a:off x="3482682" y="1877660"/>
              <a:ext cx="3024000" cy="3024000"/>
            </a:xfrm>
            <a:prstGeom prst="arc">
              <a:avLst>
                <a:gd name="adj1" fmla="val 17324430"/>
                <a:gd name="adj2" fmla="val 20449983"/>
              </a:avLst>
            </a:prstGeom>
            <a:ln w="104775" cap="rnd">
              <a:gradFill>
                <a:gsLst>
                  <a:gs pos="3000">
                    <a:schemeClr val="accent1">
                      <a:alpha val="0"/>
                    </a:schemeClr>
                  </a:gs>
                  <a:gs pos="36000">
                    <a:schemeClr val="accent1"/>
                  </a:gs>
                  <a:gs pos="75000">
                    <a:schemeClr val="accent1"/>
                  </a:gs>
                </a:gsLst>
                <a:lin ang="5400000" scaled="1"/>
              </a:gradFill>
              <a:prstDash val="soli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 name="弧形 10"/>
            <p:cNvSpPr>
              <a:spLocks noChangeAspect="1"/>
            </p:cNvSpPr>
            <p:nvPr/>
          </p:nvSpPr>
          <p:spPr>
            <a:xfrm rot="16200000">
              <a:off x="3482681" y="1877660"/>
              <a:ext cx="3024000" cy="3024000"/>
            </a:xfrm>
            <a:prstGeom prst="arc">
              <a:avLst>
                <a:gd name="adj1" fmla="val 17324430"/>
                <a:gd name="adj2" fmla="val 20449983"/>
              </a:avLst>
            </a:prstGeom>
            <a:ln w="104775" cap="rnd">
              <a:gradFill>
                <a:gsLst>
                  <a:gs pos="3000">
                    <a:schemeClr val="accent1">
                      <a:alpha val="0"/>
                    </a:schemeClr>
                  </a:gs>
                  <a:gs pos="36000">
                    <a:schemeClr val="accent1"/>
                  </a:gs>
                  <a:gs pos="75000">
                    <a:schemeClr val="accent1"/>
                  </a:gs>
                </a:gsLst>
                <a:lin ang="5400000" scaled="1"/>
              </a:gradFill>
              <a:prstDash val="soli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3" name="椭圆 2"/>
          <p:cNvSpPr>
            <a:spLocks noChangeAspect="1"/>
          </p:cNvSpPr>
          <p:nvPr/>
        </p:nvSpPr>
        <p:spPr>
          <a:xfrm>
            <a:off x="4089746" y="3047203"/>
            <a:ext cx="756000" cy="756000"/>
          </a:xfrm>
          <a:prstGeom prst="ellipse">
            <a:avLst/>
          </a:prstGeom>
          <a:solidFill>
            <a:schemeClr val="accent1"/>
          </a:solidFill>
          <a:effectLst/>
        </p:spPr>
        <p:txBody>
          <a:bodyPr wrap="none" rtlCol="0" anchor="ctr">
            <a:noAutofit/>
          </a:bodyPr>
          <a:lstStyle/>
          <a:p>
            <a:pPr algn="ctr"/>
            <a:r>
              <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校</a:t>
            </a:r>
            <a:endPar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 name="椭圆 3"/>
          <p:cNvSpPr>
            <a:spLocks noChangeAspect="1"/>
          </p:cNvSpPr>
          <p:nvPr/>
        </p:nvSpPr>
        <p:spPr>
          <a:xfrm>
            <a:off x="7346254" y="3047203"/>
            <a:ext cx="756000" cy="756000"/>
          </a:xfrm>
          <a:prstGeom prst="ellipse">
            <a:avLst/>
          </a:prstGeom>
          <a:solidFill>
            <a:schemeClr val="accent1"/>
          </a:solidFill>
          <a:effectLst/>
        </p:spPr>
        <p:txBody>
          <a:bodyPr wrap="none" rtlCol="0" anchor="ctr">
            <a:noAutofit/>
          </a:bodyPr>
          <a:lstStyle/>
          <a:p>
            <a:pPr algn="ctr"/>
            <a:r>
              <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院</a:t>
            </a:r>
            <a:endPar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2" name="椭圆 21"/>
          <p:cNvSpPr/>
          <p:nvPr/>
        </p:nvSpPr>
        <p:spPr>
          <a:xfrm>
            <a:off x="4905163" y="2234366"/>
            <a:ext cx="2381674" cy="2381674"/>
          </a:xfrm>
          <a:prstGeom prst="ellipse">
            <a:avLst/>
          </a:prstGeom>
          <a:gradFill>
            <a:gsLst>
              <a:gs pos="6000">
                <a:schemeClr val="accent1">
                  <a:lumMod val="60000"/>
                  <a:lumOff val="40000"/>
                </a:schemeClr>
              </a:gs>
              <a:gs pos="55000">
                <a:schemeClr val="accent1"/>
              </a:gs>
            </a:gsLst>
            <a:path path="circle">
              <a:fillToRect r="100000" b="100000"/>
            </a:path>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 name="文本框 23"/>
          <p:cNvSpPr txBox="1"/>
          <p:nvPr/>
        </p:nvSpPr>
        <p:spPr>
          <a:xfrm>
            <a:off x="5209515" y="3269980"/>
            <a:ext cx="1772970" cy="1006045"/>
          </a:xfrm>
          <a:prstGeom prst="rect">
            <a:avLst/>
          </a:prstGeom>
          <a:noFill/>
        </p:spPr>
        <p:txBody>
          <a:bodyPr wrap="square">
            <a:spAutoFit/>
          </a:bodyPr>
          <a:lstStyle/>
          <a:p>
            <a:pPr algn="ctr">
              <a:lnSpc>
                <a:spcPct val="125000"/>
              </a:lnSpc>
            </a:pPr>
            <a:r>
              <a:rPr lang="zh-CN" altLang="en-US"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中高企盟</a:t>
            </a:r>
            <a:endParaRPr lang="en-US" altLang="zh-CN"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a:p>
            <a:pPr algn="ctr">
              <a:lnSpc>
                <a:spcPct val="125000"/>
              </a:lnSpc>
            </a:pPr>
            <a:r>
              <a:rPr lang="zh-CN" altLang="en-US"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育才赋能</a:t>
            </a:r>
            <a:endParaRPr lang="zh-CN" altLang="en-US"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27" name="图形 2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46000" y="2445355"/>
            <a:ext cx="900000" cy="900000"/>
          </a:xfrm>
          <a:prstGeom prst="rect">
            <a:avLst/>
          </a:prstGeom>
          <a:effectLst/>
        </p:spPr>
      </p:pic>
      <p:grpSp>
        <p:nvGrpSpPr>
          <p:cNvPr id="13" name="组合 12"/>
          <p:cNvGrpSpPr/>
          <p:nvPr/>
        </p:nvGrpSpPr>
        <p:grpSpPr>
          <a:xfrm>
            <a:off x="338137" y="1424175"/>
            <a:ext cx="2880000" cy="3996000"/>
            <a:chOff x="338138" y="1424175"/>
            <a:chExt cx="2676334" cy="3996000"/>
          </a:xfrm>
        </p:grpSpPr>
        <p:sp>
          <p:nvSpPr>
            <p:cNvPr id="39" name="矩形: 圆角 38"/>
            <p:cNvSpPr/>
            <p:nvPr/>
          </p:nvSpPr>
          <p:spPr>
            <a:xfrm>
              <a:off x="338138" y="1821608"/>
              <a:ext cx="2676334" cy="3598567"/>
            </a:xfrm>
            <a:prstGeom prst="roundRect">
              <a:avLst>
                <a:gd name="adj" fmla="val 0"/>
              </a:avLst>
            </a:prstGeom>
            <a:solidFill>
              <a:schemeClr val="accent1">
                <a:lumMod val="20000"/>
                <a:lumOff val="80000"/>
                <a:alpha val="21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40" name="矩形: 剪去单角 39"/>
            <p:cNvSpPr/>
            <p:nvPr/>
          </p:nvSpPr>
          <p:spPr>
            <a:xfrm>
              <a:off x="338138" y="1424175"/>
              <a:ext cx="2676334" cy="488464"/>
            </a:xfrm>
            <a:prstGeom prst="snip1Rect">
              <a:avLst/>
            </a:prstGeom>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mj-ea"/>
                  <a:ea typeface="+mj-ea"/>
                  <a:cs typeface="思源黑体 CN Normal" panose="020B0400000000000000" pitchFamily="34" charset="-122"/>
                </a:rPr>
                <a:t>多元发展培养方向</a:t>
              </a:r>
              <a:endParaRPr lang="zh-CN" altLang="en-US" sz="2000" dirty="0">
                <a:solidFill>
                  <a:schemeClr val="bg1"/>
                </a:solidFill>
                <a:latin typeface="+mj-ea"/>
                <a:ea typeface="+mj-ea"/>
                <a:cs typeface="思源黑体 CN Normal" panose="020B0400000000000000" pitchFamily="34" charset="-122"/>
              </a:endParaRPr>
            </a:p>
          </p:txBody>
        </p:sp>
      </p:grpSp>
      <p:grpSp>
        <p:nvGrpSpPr>
          <p:cNvPr id="14" name="组合 13"/>
          <p:cNvGrpSpPr/>
          <p:nvPr/>
        </p:nvGrpSpPr>
        <p:grpSpPr>
          <a:xfrm>
            <a:off x="9002969" y="1424175"/>
            <a:ext cx="2844000" cy="3996000"/>
            <a:chOff x="9172528" y="1424175"/>
            <a:chExt cx="2676334" cy="3996000"/>
          </a:xfrm>
        </p:grpSpPr>
        <p:sp>
          <p:nvSpPr>
            <p:cNvPr id="51" name="矩形: 圆角 50"/>
            <p:cNvSpPr/>
            <p:nvPr/>
          </p:nvSpPr>
          <p:spPr>
            <a:xfrm flipH="1">
              <a:off x="9172528" y="1821608"/>
              <a:ext cx="2676334" cy="3598567"/>
            </a:xfrm>
            <a:prstGeom prst="roundRect">
              <a:avLst>
                <a:gd name="adj" fmla="val 0"/>
              </a:avLst>
            </a:prstGeom>
            <a:solidFill>
              <a:schemeClr val="accent1">
                <a:lumMod val="20000"/>
                <a:lumOff val="80000"/>
                <a:alpha val="21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2" name="矩形: 剪去单角 51"/>
            <p:cNvSpPr/>
            <p:nvPr/>
          </p:nvSpPr>
          <p:spPr>
            <a:xfrm flipH="1">
              <a:off x="9172528" y="1424175"/>
              <a:ext cx="2676334" cy="488464"/>
            </a:xfrm>
            <a:prstGeom prst="snip1Rect">
              <a:avLst/>
            </a:prstGeom>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mj-ea"/>
                  <a:ea typeface="+mj-ea"/>
                  <a:cs typeface="思源黑体 CN Normal" panose="020B0400000000000000" pitchFamily="34" charset="-122"/>
                </a:rPr>
                <a:t>多岗位双方向选择</a:t>
              </a:r>
              <a:endParaRPr lang="zh-CN" altLang="en-US" sz="2000" dirty="0">
                <a:solidFill>
                  <a:schemeClr val="bg1"/>
                </a:solidFill>
                <a:latin typeface="+mj-ea"/>
                <a:ea typeface="+mj-ea"/>
                <a:cs typeface="思源黑体 CN Normal" panose="020B0400000000000000" pitchFamily="34" charset="-122"/>
              </a:endParaRPr>
            </a:p>
          </p:txBody>
        </p:sp>
      </p:grpSp>
      <p:sp>
        <p:nvSpPr>
          <p:cNvPr id="53" name="矩形: 圆角 52"/>
          <p:cNvSpPr/>
          <p:nvPr/>
        </p:nvSpPr>
        <p:spPr>
          <a:xfrm>
            <a:off x="547606" y="2128376"/>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4" name="矩形: 圆角 53"/>
          <p:cNvSpPr/>
          <p:nvPr/>
        </p:nvSpPr>
        <p:spPr>
          <a:xfrm>
            <a:off x="547606" y="3215928"/>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5" name="矩形: 圆角 54"/>
          <p:cNvSpPr/>
          <p:nvPr/>
        </p:nvSpPr>
        <p:spPr>
          <a:xfrm>
            <a:off x="547606" y="4303480"/>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8" name="矩形: 圆角 57"/>
          <p:cNvSpPr/>
          <p:nvPr/>
        </p:nvSpPr>
        <p:spPr>
          <a:xfrm>
            <a:off x="9194438" y="2128376"/>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9" name="矩形: 圆角 58"/>
          <p:cNvSpPr/>
          <p:nvPr/>
        </p:nvSpPr>
        <p:spPr>
          <a:xfrm>
            <a:off x="9194438" y="3215928"/>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0" name="矩形: 圆角 59"/>
          <p:cNvSpPr/>
          <p:nvPr/>
        </p:nvSpPr>
        <p:spPr>
          <a:xfrm>
            <a:off x="9194438" y="4303480"/>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8" name="文本框 67"/>
          <p:cNvSpPr txBox="1"/>
          <p:nvPr/>
        </p:nvSpPr>
        <p:spPr>
          <a:xfrm>
            <a:off x="896137" y="2209404"/>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专业技能深耕</a:t>
            </a:r>
            <a:endParaRPr lang="zh-CN" altLang="en-US" sz="1600" i="0" dirty="0">
              <a:solidFill>
                <a:schemeClr val="tx2"/>
              </a:solidFill>
              <a:latin typeface="+mj-ea"/>
              <a:ea typeface="+mj-ea"/>
              <a:cs typeface="思源黑体 CN Normal" panose="020B0400000000000000" pitchFamily="34" charset="-122"/>
            </a:endParaRPr>
          </a:p>
        </p:txBody>
      </p:sp>
      <p:grpSp>
        <p:nvGrpSpPr>
          <p:cNvPr id="81" name="组合 80"/>
          <p:cNvGrpSpPr/>
          <p:nvPr/>
        </p:nvGrpSpPr>
        <p:grpSpPr>
          <a:xfrm>
            <a:off x="775210" y="2366466"/>
            <a:ext cx="2005855" cy="0"/>
            <a:chOff x="869950" y="2362200"/>
            <a:chExt cx="2005855" cy="0"/>
          </a:xfrm>
        </p:grpSpPr>
        <p:sp>
          <p:nvSpPr>
            <p:cNvPr id="79" name="任意多边形: 形状 78"/>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0" name="任意多边形: 形状 79"/>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84" name="文本框 83"/>
          <p:cNvSpPr txBox="1"/>
          <p:nvPr/>
        </p:nvSpPr>
        <p:spPr>
          <a:xfrm>
            <a:off x="896137" y="3296956"/>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学科知识融合</a:t>
            </a:r>
            <a:endParaRPr lang="zh-CN" altLang="en-US" sz="1600" i="0" dirty="0">
              <a:solidFill>
                <a:schemeClr val="tx2"/>
              </a:solidFill>
              <a:latin typeface="+mj-ea"/>
              <a:ea typeface="+mj-ea"/>
              <a:cs typeface="思源黑体 CN Normal" panose="020B0400000000000000" pitchFamily="34" charset="-122"/>
            </a:endParaRPr>
          </a:p>
        </p:txBody>
      </p:sp>
      <p:grpSp>
        <p:nvGrpSpPr>
          <p:cNvPr id="86" name="组合 85"/>
          <p:cNvGrpSpPr/>
          <p:nvPr/>
        </p:nvGrpSpPr>
        <p:grpSpPr>
          <a:xfrm>
            <a:off x="775210" y="3454018"/>
            <a:ext cx="2005855" cy="0"/>
            <a:chOff x="869950" y="2362200"/>
            <a:chExt cx="2005855" cy="0"/>
          </a:xfrm>
        </p:grpSpPr>
        <p:sp>
          <p:nvSpPr>
            <p:cNvPr id="87" name="任意多边形: 形状 86"/>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8" name="任意多边形: 形状 87"/>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90" name="文本框 89"/>
          <p:cNvSpPr txBox="1"/>
          <p:nvPr/>
        </p:nvSpPr>
        <p:spPr>
          <a:xfrm>
            <a:off x="896137" y="4384508"/>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创新能力激发</a:t>
            </a:r>
            <a:endParaRPr lang="zh-CN" altLang="en-US" sz="1600" i="0" dirty="0">
              <a:solidFill>
                <a:schemeClr val="tx2"/>
              </a:solidFill>
              <a:latin typeface="+mj-ea"/>
              <a:ea typeface="+mj-ea"/>
              <a:cs typeface="思源黑体 CN Normal" panose="020B0400000000000000" pitchFamily="34" charset="-122"/>
            </a:endParaRPr>
          </a:p>
        </p:txBody>
      </p:sp>
      <p:grpSp>
        <p:nvGrpSpPr>
          <p:cNvPr id="92" name="组合 91"/>
          <p:cNvGrpSpPr/>
          <p:nvPr/>
        </p:nvGrpSpPr>
        <p:grpSpPr>
          <a:xfrm>
            <a:off x="775210" y="4541570"/>
            <a:ext cx="2005855" cy="0"/>
            <a:chOff x="869950" y="2362200"/>
            <a:chExt cx="2005855" cy="0"/>
          </a:xfrm>
        </p:grpSpPr>
        <p:sp>
          <p:nvSpPr>
            <p:cNvPr id="93" name="任意多边形: 形状 92"/>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4" name="任意多边形: 形状 93"/>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96" name="文本框 95"/>
          <p:cNvSpPr txBox="1"/>
          <p:nvPr/>
        </p:nvSpPr>
        <p:spPr>
          <a:xfrm>
            <a:off x="9542969" y="2209404"/>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定向岗位培养</a:t>
            </a:r>
            <a:endParaRPr lang="zh-CN" altLang="en-US" sz="1600" i="0" dirty="0">
              <a:solidFill>
                <a:schemeClr val="tx2"/>
              </a:solidFill>
              <a:latin typeface="+mj-ea"/>
              <a:ea typeface="+mj-ea"/>
              <a:cs typeface="思源黑体 CN Normal" panose="020B0400000000000000" pitchFamily="34" charset="-122"/>
            </a:endParaRPr>
          </a:p>
        </p:txBody>
      </p:sp>
      <p:grpSp>
        <p:nvGrpSpPr>
          <p:cNvPr id="98" name="组合 97"/>
          <p:cNvGrpSpPr/>
          <p:nvPr/>
        </p:nvGrpSpPr>
        <p:grpSpPr>
          <a:xfrm>
            <a:off x="9422042" y="2366466"/>
            <a:ext cx="2005855" cy="0"/>
            <a:chOff x="869950" y="2362200"/>
            <a:chExt cx="2005855" cy="0"/>
          </a:xfrm>
        </p:grpSpPr>
        <p:sp>
          <p:nvSpPr>
            <p:cNvPr id="99" name="任意多边形: 形状 98"/>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0" name="任意多边形: 形状 99"/>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102" name="文本框 101"/>
          <p:cNvSpPr txBox="1"/>
          <p:nvPr/>
        </p:nvSpPr>
        <p:spPr>
          <a:xfrm>
            <a:off x="9542969" y="3296956"/>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高校升学衔接</a:t>
            </a:r>
            <a:endParaRPr lang="zh-CN" altLang="en-US" sz="1600" i="0" dirty="0">
              <a:solidFill>
                <a:schemeClr val="tx2"/>
              </a:solidFill>
              <a:latin typeface="+mj-ea"/>
              <a:ea typeface="+mj-ea"/>
              <a:cs typeface="思源黑体 CN Normal" panose="020B0400000000000000" pitchFamily="34" charset="-122"/>
            </a:endParaRPr>
          </a:p>
        </p:txBody>
      </p:sp>
      <p:grpSp>
        <p:nvGrpSpPr>
          <p:cNvPr id="104" name="组合 103"/>
          <p:cNvGrpSpPr/>
          <p:nvPr/>
        </p:nvGrpSpPr>
        <p:grpSpPr>
          <a:xfrm>
            <a:off x="9422042" y="3454018"/>
            <a:ext cx="2005855" cy="0"/>
            <a:chOff x="869950" y="2362200"/>
            <a:chExt cx="2005855" cy="0"/>
          </a:xfrm>
        </p:grpSpPr>
        <p:sp>
          <p:nvSpPr>
            <p:cNvPr id="105" name="任意多边形: 形状 104"/>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6" name="任意多边形: 形状 105"/>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108" name="文本框 107"/>
          <p:cNvSpPr txBox="1"/>
          <p:nvPr/>
        </p:nvSpPr>
        <p:spPr>
          <a:xfrm>
            <a:off x="9542969" y="4384508"/>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企业实践互换</a:t>
            </a:r>
            <a:endParaRPr lang="zh-CN" altLang="en-US" sz="1600" i="0" dirty="0">
              <a:solidFill>
                <a:schemeClr val="tx2"/>
              </a:solidFill>
              <a:latin typeface="+mj-ea"/>
              <a:ea typeface="+mj-ea"/>
              <a:cs typeface="思源黑体 CN Normal" panose="020B0400000000000000" pitchFamily="34" charset="-122"/>
            </a:endParaRPr>
          </a:p>
        </p:txBody>
      </p:sp>
      <p:sp>
        <p:nvSpPr>
          <p:cNvPr id="69" name="文本框 68"/>
          <p:cNvSpPr txBox="1"/>
          <p:nvPr/>
        </p:nvSpPr>
        <p:spPr>
          <a:xfrm>
            <a:off x="680137" y="2542579"/>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以行业前沿技术为导向，中职注重基础实操</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85" name="文本框 84"/>
          <p:cNvSpPr txBox="1"/>
          <p:nvPr/>
        </p:nvSpPr>
        <p:spPr>
          <a:xfrm>
            <a:off x="680137" y="3630131"/>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打破学科壁垒，结合多学科知识，培养复合型人才</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91" name="文本框 90"/>
          <p:cNvSpPr txBox="1"/>
          <p:nvPr/>
        </p:nvSpPr>
        <p:spPr>
          <a:xfrm>
            <a:off x="680137" y="4717683"/>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通过企业真实项目、高校科研等，鼓励学生提出新想法</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97" name="文本框 96"/>
          <p:cNvSpPr txBox="1"/>
          <p:nvPr/>
        </p:nvSpPr>
        <p:spPr>
          <a:xfrm>
            <a:off x="9326969" y="2542579"/>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企业根据自身发展战略，与高校制定人才培养方案</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03" name="文本框 102"/>
          <p:cNvSpPr txBox="1"/>
          <p:nvPr/>
        </p:nvSpPr>
        <p:spPr>
          <a:xfrm>
            <a:off x="9326969" y="3630131"/>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中职学生在完成基础学业后，通过考核进高校深造</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09" name="文本框 108"/>
          <p:cNvSpPr txBox="1"/>
          <p:nvPr/>
        </p:nvSpPr>
        <p:spPr>
          <a:xfrm>
            <a:off x="9326969" y="4717683"/>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学生到企业进行实习实践，企业派技术人员交流学习</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grpSp>
        <p:nvGrpSpPr>
          <p:cNvPr id="110" name="组合 109"/>
          <p:cNvGrpSpPr/>
          <p:nvPr/>
        </p:nvGrpSpPr>
        <p:grpSpPr>
          <a:xfrm>
            <a:off x="9422042" y="4541570"/>
            <a:ext cx="2005855" cy="0"/>
            <a:chOff x="869950" y="2362200"/>
            <a:chExt cx="2005855" cy="0"/>
          </a:xfrm>
        </p:grpSpPr>
        <p:sp>
          <p:nvSpPr>
            <p:cNvPr id="111" name="任意多边形: 形状 110"/>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2" name="任意多边形: 形状 111"/>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12" name="任意多边形: 形状 11"/>
          <p:cNvSpPr>
            <a:spLocks noChangeAspect="1"/>
          </p:cNvSpPr>
          <p:nvPr/>
        </p:nvSpPr>
        <p:spPr bwMode="auto">
          <a:xfrm flipV="1">
            <a:off x="5686500" y="5377914"/>
            <a:ext cx="819000" cy="387991"/>
          </a:xfrm>
          <a:custGeom>
            <a:avLst/>
            <a:gdLst>
              <a:gd name="connsiteX0" fmla="*/ 0 w 922961"/>
              <a:gd name="connsiteY0" fmla="*/ 537814 h 537814"/>
              <a:gd name="connsiteX1" fmla="*/ 182195 w 922961"/>
              <a:gd name="connsiteY1" fmla="*/ 385584 h 537814"/>
              <a:gd name="connsiteX2" fmla="*/ 0 w 922961"/>
              <a:gd name="connsiteY2" fmla="*/ 385584 h 537814"/>
              <a:gd name="connsiteX3" fmla="*/ 461481 w 922961"/>
              <a:gd name="connsiteY3" fmla="*/ 0 h 537814"/>
              <a:gd name="connsiteX4" fmla="*/ 922961 w 922961"/>
              <a:gd name="connsiteY4" fmla="*/ 385584 h 537814"/>
              <a:gd name="connsiteX5" fmla="*/ 740767 w 922961"/>
              <a:gd name="connsiteY5" fmla="*/ 385584 h 537814"/>
              <a:gd name="connsiteX6" fmla="*/ 922961 w 922961"/>
              <a:gd name="connsiteY6" fmla="*/ 537814 h 53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61" h="537814">
                <a:moveTo>
                  <a:pt x="0" y="537814"/>
                </a:moveTo>
                <a:lnTo>
                  <a:pt x="182195" y="385584"/>
                </a:lnTo>
                <a:lnTo>
                  <a:pt x="0" y="385584"/>
                </a:lnTo>
                <a:lnTo>
                  <a:pt x="461481" y="0"/>
                </a:lnTo>
                <a:lnTo>
                  <a:pt x="922961" y="385584"/>
                </a:lnTo>
                <a:lnTo>
                  <a:pt x="740767" y="385584"/>
                </a:lnTo>
                <a:lnTo>
                  <a:pt x="922961" y="537814"/>
                </a:lnTo>
                <a:close/>
              </a:path>
            </a:pathLst>
          </a:custGeom>
          <a:gradFill>
            <a:gsLst>
              <a:gs pos="4000">
                <a:schemeClr val="accent2">
                  <a:alpha val="0"/>
                </a:schemeClr>
              </a:gs>
              <a:gs pos="59000">
                <a:schemeClr val="accent2"/>
              </a:gs>
              <a:gs pos="100000">
                <a:schemeClr val="accent2"/>
              </a:gs>
            </a:gsLst>
            <a:lin ang="16200000" scaled="0"/>
          </a:gradFill>
          <a:ln w="3175" cap="flat" cmpd="sng" algn="ctr">
            <a:gradFill>
              <a:gsLst>
                <a:gs pos="0">
                  <a:schemeClr val="accent2">
                    <a:alpha val="0"/>
                  </a:schemeClr>
                </a:gs>
                <a:gs pos="100000">
                  <a:schemeClr val="accent2"/>
                </a:gs>
              </a:gsLst>
              <a:lin ang="16200000" scaled="0"/>
            </a:gradFill>
            <a:prstDash val="solid"/>
            <a:round/>
            <a:headEnd type="none" w="med" len="med"/>
            <a:tailEnd type="none" w="med" len="med"/>
          </a:ln>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 typeface="思源黑体 CN Normal" panose="020B0400000000000000" pitchFamily="34" charset="-122"/>
              <a:buNone/>
            </a:pPr>
            <a:endParaRPr kumimoji="0" lang="zh-CN" altLang="en-US" sz="1800" b="0" i="0" u="none" strike="noStrike" cap="none" normalizeH="0" baseline="0" dirty="0">
              <a:ln>
                <a:noFill/>
              </a:ln>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126" name="组合 125"/>
          <p:cNvGrpSpPr/>
          <p:nvPr/>
        </p:nvGrpSpPr>
        <p:grpSpPr>
          <a:xfrm>
            <a:off x="489067" y="5798175"/>
            <a:ext cx="3564000" cy="684000"/>
            <a:chOff x="675788" y="5798175"/>
            <a:chExt cx="3449759" cy="684000"/>
          </a:xfrm>
        </p:grpSpPr>
        <p:sp>
          <p:nvSpPr>
            <p:cNvPr id="119" name="矩形: 圆角 118"/>
            <p:cNvSpPr/>
            <p:nvPr/>
          </p:nvSpPr>
          <p:spPr>
            <a:xfrm>
              <a:off x="1353547" y="5798175"/>
              <a:ext cx="2772000" cy="684000"/>
            </a:xfrm>
            <a:prstGeom prst="roundRect">
              <a:avLst>
                <a:gd name="adj" fmla="val 2595"/>
              </a:avLst>
            </a:prstGeom>
            <a:solidFill>
              <a:schemeClr val="bg1"/>
            </a:solidFill>
            <a:ln w="6350">
              <a:solidFill>
                <a:schemeClr val="bg1"/>
              </a:solidFill>
            </a:ln>
            <a:effectLst>
              <a:outerShdw blurRad="127000" sx="102000" sy="1020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8" name="矩形: 圆角 117"/>
            <p:cNvSpPr/>
            <p:nvPr/>
          </p:nvSpPr>
          <p:spPr>
            <a:xfrm>
              <a:off x="675788" y="5798175"/>
              <a:ext cx="756000" cy="684000"/>
            </a:xfrm>
            <a:prstGeom prst="roundRect">
              <a:avLst>
                <a:gd name="adj" fmla="val 3824"/>
              </a:avLst>
            </a:prstGeom>
            <a:solidFill>
              <a:schemeClr val="accent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5" name="文本框 124"/>
            <p:cNvSpPr txBox="1"/>
            <p:nvPr/>
          </p:nvSpPr>
          <p:spPr>
            <a:xfrm>
              <a:off x="765032" y="5909343"/>
              <a:ext cx="577513" cy="461665"/>
            </a:xfrm>
            <a:prstGeom prst="rect">
              <a:avLst/>
            </a:prstGeom>
            <a:noFill/>
          </p:spPr>
          <p:txBody>
            <a:bodyPr wrap="none" rtlCol="0">
              <a:spAutoFit/>
            </a:bodyPr>
            <a:lstStyle/>
            <a:p>
              <a:pPr algn="ctr"/>
              <a:r>
                <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3</a:t>
              </a:r>
              <a:r>
                <a:rPr lang="zh-CN" altLang="en-US" dirty="0">
                  <a:solidFill>
                    <a:schemeClr val="bg1"/>
                  </a:solidFill>
                  <a:latin typeface="+mj-ea"/>
                  <a:ea typeface="+mj-ea"/>
                  <a:cs typeface="思源黑体 CN Normal" panose="020B0400000000000000" pitchFamily="34" charset="-122"/>
                </a:rPr>
                <a:t>月</a:t>
              </a:r>
              <a:endParaRPr lang="zh-CN" altLang="en-US" dirty="0">
                <a:solidFill>
                  <a:schemeClr val="bg1"/>
                </a:solidFill>
                <a:latin typeface="+mj-ea"/>
                <a:ea typeface="+mj-ea"/>
                <a:cs typeface="思源黑体 CN Normal" panose="020B0400000000000000" pitchFamily="34" charset="-122"/>
              </a:endParaRPr>
            </a:p>
          </p:txBody>
        </p:sp>
        <p:sp>
          <p:nvSpPr>
            <p:cNvPr id="121" name="文本框 120"/>
            <p:cNvSpPr txBox="1"/>
            <p:nvPr/>
          </p:nvSpPr>
          <p:spPr>
            <a:xfrm>
              <a:off x="1414433" y="5878565"/>
              <a:ext cx="2700000" cy="523220"/>
            </a:xfrm>
            <a:prstGeom prst="rect">
              <a:avLst/>
            </a:prstGeom>
            <a:noFill/>
          </p:spPr>
          <p:txBody>
            <a:bodyPr wrap="square">
              <a:spAutoFit/>
            </a:bodyPr>
            <a:lstStyle/>
            <a:p>
              <a:r>
                <a:rPr lang="zh-CN" altLang="en-US" sz="1400" b="0" i="0" dirty="0">
                  <a:solidFill>
                    <a:srgbClr val="0D0D0D"/>
                  </a:solidFill>
                  <a:latin typeface="+mn-ea"/>
                  <a:cs typeface="思源黑体 CN Normal" panose="020B0400000000000000" pitchFamily="34" charset="-122"/>
                </a:rPr>
                <a:t>平均入职适应期从原来的</a:t>
              </a:r>
              <a:r>
                <a:rPr lang="en-US" altLang="zh-CN" sz="1400" b="0" i="0" dirty="0">
                  <a:solidFill>
                    <a:srgbClr val="0D0D0D"/>
                  </a:solidFill>
                  <a:latin typeface="+mn-ea"/>
                  <a:cs typeface="思源黑体 CN Normal" panose="020B0400000000000000" pitchFamily="34" charset="-122"/>
                </a:rPr>
                <a:t>6</a:t>
              </a:r>
              <a:r>
                <a:rPr lang="zh-CN" altLang="en-US" sz="1400" b="0" i="0" dirty="0">
                  <a:solidFill>
                    <a:srgbClr val="0D0D0D"/>
                  </a:solidFill>
                  <a:latin typeface="+mn-ea"/>
                  <a:cs typeface="思源黑体 CN Normal" panose="020B0400000000000000" pitchFamily="34" charset="-122"/>
                </a:rPr>
                <a:t>个月缩短至</a:t>
              </a:r>
              <a:r>
                <a:rPr lang="en-US" altLang="zh-CN" sz="1400" b="0" i="0" dirty="0">
                  <a:solidFill>
                    <a:srgbClr val="0D0D0D"/>
                  </a:solidFill>
                  <a:latin typeface="+mn-ea"/>
                  <a:cs typeface="思源黑体 CN Normal" panose="020B0400000000000000" pitchFamily="34" charset="-122"/>
                </a:rPr>
                <a:t>3</a:t>
              </a:r>
              <a:r>
                <a:rPr lang="zh-CN" altLang="en-US" sz="1400" b="0" i="0" dirty="0">
                  <a:solidFill>
                    <a:srgbClr val="0D0D0D"/>
                  </a:solidFill>
                  <a:latin typeface="+mn-ea"/>
                  <a:cs typeface="思源黑体 CN Normal" panose="020B0400000000000000" pitchFamily="34" charset="-122"/>
                </a:rPr>
                <a:t>个月</a:t>
              </a:r>
              <a:endParaRPr lang="zh-CN" altLang="en-US" sz="1400" dirty="0">
                <a:latin typeface="+mn-ea"/>
                <a:cs typeface="思源黑体 CN Normal" panose="020B0400000000000000" pitchFamily="34" charset="-122"/>
              </a:endParaRPr>
            </a:p>
          </p:txBody>
        </p:sp>
      </p:grpSp>
      <p:grpSp>
        <p:nvGrpSpPr>
          <p:cNvPr id="132" name="组合 131"/>
          <p:cNvGrpSpPr/>
          <p:nvPr/>
        </p:nvGrpSpPr>
        <p:grpSpPr>
          <a:xfrm>
            <a:off x="4293150" y="5798175"/>
            <a:ext cx="3564000" cy="684000"/>
            <a:chOff x="664583" y="5798175"/>
            <a:chExt cx="3460964" cy="684000"/>
          </a:xfrm>
        </p:grpSpPr>
        <p:sp>
          <p:nvSpPr>
            <p:cNvPr id="133" name="矩形: 圆角 132"/>
            <p:cNvSpPr/>
            <p:nvPr/>
          </p:nvSpPr>
          <p:spPr>
            <a:xfrm>
              <a:off x="1353547" y="5798175"/>
              <a:ext cx="2772000" cy="684000"/>
            </a:xfrm>
            <a:prstGeom prst="roundRect">
              <a:avLst>
                <a:gd name="adj" fmla="val 2595"/>
              </a:avLst>
            </a:prstGeom>
            <a:solidFill>
              <a:schemeClr val="bg1"/>
            </a:solidFill>
            <a:ln w="6350">
              <a:solidFill>
                <a:schemeClr val="bg1"/>
              </a:solidFill>
            </a:ln>
            <a:effectLst>
              <a:outerShdw blurRad="127000" sx="102000" sy="1020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4" name="矩形: 圆角 133"/>
            <p:cNvSpPr/>
            <p:nvPr/>
          </p:nvSpPr>
          <p:spPr>
            <a:xfrm>
              <a:off x="670185" y="5798175"/>
              <a:ext cx="756000" cy="684000"/>
            </a:xfrm>
            <a:prstGeom prst="roundRect">
              <a:avLst>
                <a:gd name="adj" fmla="val 3824"/>
              </a:avLst>
            </a:prstGeom>
            <a:solidFill>
              <a:schemeClr val="accent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5" name="文本框 134"/>
            <p:cNvSpPr txBox="1"/>
            <p:nvPr/>
          </p:nvSpPr>
          <p:spPr>
            <a:xfrm>
              <a:off x="664583" y="5909343"/>
              <a:ext cx="767205" cy="461665"/>
            </a:xfrm>
            <a:prstGeom prst="rect">
              <a:avLst/>
            </a:prstGeom>
            <a:noFill/>
          </p:spPr>
          <p:txBody>
            <a:bodyPr wrap="square" rtlCol="0">
              <a:spAutoFit/>
            </a:bodyPr>
            <a:lstStyle/>
            <a:p>
              <a:pPr algn="ctr"/>
              <a:r>
                <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60</a:t>
              </a:r>
              <a:r>
                <a:rPr lang="en-US" altLang="zh-CN"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a:t>
              </a:r>
              <a:endParaRPr lang="zh-CN" altLang="en-US" sz="1600" dirty="0">
                <a:solidFill>
                  <a:schemeClr val="bg1"/>
                </a:solidFill>
                <a:latin typeface="+mj-ea"/>
                <a:ea typeface="+mj-ea"/>
                <a:cs typeface="思源黑体 CN Normal" panose="020B0400000000000000" pitchFamily="34" charset="-122"/>
              </a:endParaRPr>
            </a:p>
          </p:txBody>
        </p:sp>
        <p:sp>
          <p:nvSpPr>
            <p:cNvPr id="136" name="文本框 135"/>
            <p:cNvSpPr txBox="1"/>
            <p:nvPr/>
          </p:nvSpPr>
          <p:spPr>
            <a:xfrm>
              <a:off x="1414433" y="5878565"/>
              <a:ext cx="2700000" cy="523220"/>
            </a:xfrm>
            <a:prstGeom prst="rect">
              <a:avLst/>
            </a:prstGeom>
            <a:noFill/>
          </p:spPr>
          <p:txBody>
            <a:bodyPr wrap="square">
              <a:spAutoFit/>
            </a:bodyPr>
            <a:lstStyle/>
            <a:p>
              <a:r>
                <a:rPr lang="zh-CN" altLang="en-US" sz="1400" b="0" i="0" dirty="0">
                  <a:solidFill>
                    <a:srgbClr val="0D0D0D"/>
                  </a:solidFill>
                  <a:latin typeface="+mn-ea"/>
                  <a:cs typeface="思源黑体 CN Normal" panose="020B0400000000000000" pitchFamily="34" charset="-122"/>
                </a:rPr>
                <a:t>岗位技能考核中的优秀率</a:t>
              </a:r>
              <a:r>
                <a:rPr lang="en-US" altLang="zh-CN" sz="1400" b="0" i="0" dirty="0">
                  <a:solidFill>
                    <a:srgbClr val="0D0D0D"/>
                  </a:solidFill>
                  <a:latin typeface="+mn-ea"/>
                  <a:cs typeface="思源黑体 CN Normal" panose="020B0400000000000000" pitchFamily="34" charset="-122"/>
                </a:rPr>
                <a:t>60%</a:t>
              </a:r>
              <a:r>
                <a:rPr lang="zh-CN" altLang="en-US" sz="1400" b="0" i="0" dirty="0">
                  <a:solidFill>
                    <a:srgbClr val="0D0D0D"/>
                  </a:solidFill>
                  <a:latin typeface="+mn-ea"/>
                  <a:cs typeface="思源黑体 CN Normal" panose="020B0400000000000000" pitchFamily="34" charset="-122"/>
                </a:rPr>
                <a:t>，社招人员</a:t>
              </a:r>
              <a:r>
                <a:rPr lang="zh-CN" altLang="en-US" sz="1400" dirty="0">
                  <a:solidFill>
                    <a:srgbClr val="0D0D0D"/>
                  </a:solidFill>
                  <a:latin typeface="+mn-ea"/>
                  <a:cs typeface="思源黑体 CN Normal" panose="020B0400000000000000" pitchFamily="34" charset="-122"/>
                </a:rPr>
                <a:t>是</a:t>
              </a:r>
              <a:r>
                <a:rPr lang="en-US" altLang="zh-CN" sz="1400" b="0" i="0" dirty="0">
                  <a:solidFill>
                    <a:srgbClr val="0D0D0D"/>
                  </a:solidFill>
                  <a:latin typeface="+mn-ea"/>
                  <a:cs typeface="思源黑体 CN Normal" panose="020B0400000000000000" pitchFamily="34" charset="-122"/>
                </a:rPr>
                <a:t>30%</a:t>
              </a:r>
              <a:endParaRPr lang="en-US" altLang="zh-CN" sz="1400" b="0" i="0" dirty="0">
                <a:solidFill>
                  <a:srgbClr val="0D0D0D"/>
                </a:solidFill>
                <a:latin typeface="+mn-ea"/>
                <a:cs typeface="思源黑体 CN Normal" panose="020B0400000000000000" pitchFamily="34" charset="-122"/>
              </a:endParaRPr>
            </a:p>
          </p:txBody>
        </p:sp>
      </p:grpSp>
      <p:grpSp>
        <p:nvGrpSpPr>
          <p:cNvPr id="137" name="组合 136"/>
          <p:cNvGrpSpPr/>
          <p:nvPr/>
        </p:nvGrpSpPr>
        <p:grpSpPr>
          <a:xfrm>
            <a:off x="8101022" y="5798175"/>
            <a:ext cx="3560212" cy="684000"/>
            <a:chOff x="672113" y="5798175"/>
            <a:chExt cx="3453434" cy="684000"/>
          </a:xfrm>
        </p:grpSpPr>
        <p:sp>
          <p:nvSpPr>
            <p:cNvPr id="138" name="矩形: 圆角 137"/>
            <p:cNvSpPr/>
            <p:nvPr/>
          </p:nvSpPr>
          <p:spPr>
            <a:xfrm>
              <a:off x="1353547" y="5798175"/>
              <a:ext cx="2772000" cy="684000"/>
            </a:xfrm>
            <a:prstGeom prst="roundRect">
              <a:avLst>
                <a:gd name="adj" fmla="val 2595"/>
              </a:avLst>
            </a:prstGeom>
            <a:solidFill>
              <a:schemeClr val="bg1"/>
            </a:solidFill>
            <a:ln w="6350">
              <a:solidFill>
                <a:schemeClr val="bg1"/>
              </a:solidFill>
            </a:ln>
            <a:effectLst>
              <a:outerShdw blurRad="127000" sx="102000" sy="1020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9" name="矩形: 圆角 138"/>
            <p:cNvSpPr/>
            <p:nvPr/>
          </p:nvSpPr>
          <p:spPr>
            <a:xfrm>
              <a:off x="672113" y="5798175"/>
              <a:ext cx="756000" cy="684000"/>
            </a:xfrm>
            <a:prstGeom prst="roundRect">
              <a:avLst>
                <a:gd name="adj" fmla="val 3824"/>
              </a:avLst>
            </a:prstGeom>
            <a:solidFill>
              <a:schemeClr val="accent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0" name="文本框 139"/>
            <p:cNvSpPr txBox="1"/>
            <p:nvPr/>
          </p:nvSpPr>
          <p:spPr>
            <a:xfrm>
              <a:off x="692325" y="5909343"/>
              <a:ext cx="715576" cy="461665"/>
            </a:xfrm>
            <a:prstGeom prst="rect">
              <a:avLst/>
            </a:prstGeom>
            <a:noFill/>
          </p:spPr>
          <p:txBody>
            <a:bodyPr wrap="none" rtlCol="0">
              <a:spAutoFit/>
            </a:bodyPr>
            <a:lstStyle/>
            <a:p>
              <a:pPr algn="ctr"/>
              <a:r>
                <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10</a:t>
              </a:r>
              <a:r>
                <a:rPr lang="en-US" altLang="zh-CN"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a:t>
              </a:r>
              <a:endParaRPr lang="zh-CN" altLang="en-US" dirty="0">
                <a:solidFill>
                  <a:schemeClr val="bg1"/>
                </a:solidFill>
                <a:latin typeface="+mj-ea"/>
                <a:ea typeface="+mj-ea"/>
                <a:cs typeface="思源黑体 CN Normal" panose="020B0400000000000000" pitchFamily="34" charset="-122"/>
              </a:endParaRPr>
            </a:p>
          </p:txBody>
        </p:sp>
        <p:sp>
          <p:nvSpPr>
            <p:cNvPr id="141" name="文本框 140"/>
            <p:cNvSpPr txBox="1"/>
            <p:nvPr/>
          </p:nvSpPr>
          <p:spPr>
            <a:xfrm>
              <a:off x="1414433" y="5878565"/>
              <a:ext cx="2700000" cy="523220"/>
            </a:xfrm>
            <a:prstGeom prst="rect">
              <a:avLst/>
            </a:prstGeom>
            <a:noFill/>
          </p:spPr>
          <p:txBody>
            <a:bodyPr wrap="square">
              <a:spAutoFit/>
            </a:bodyPr>
            <a:lstStyle/>
            <a:p>
              <a:r>
                <a:rPr lang="zh-CN" altLang="en-US" sz="1400" b="0" i="0" dirty="0">
                  <a:solidFill>
                    <a:srgbClr val="0D0D0D"/>
                  </a:solidFill>
                  <a:latin typeface="+mn-ea"/>
                  <a:cs typeface="思源黑体 CN Normal" panose="020B0400000000000000" pitchFamily="34" charset="-122"/>
                </a:rPr>
                <a:t>学生离职率仅为</a:t>
              </a:r>
              <a:r>
                <a:rPr lang="en-US" altLang="zh-CN" sz="1400" b="0" i="0" dirty="0">
                  <a:solidFill>
                    <a:srgbClr val="0D0D0D"/>
                  </a:solidFill>
                  <a:latin typeface="+mn-ea"/>
                  <a:cs typeface="思源黑体 CN Normal" panose="020B0400000000000000" pitchFamily="34" charset="-122"/>
                </a:rPr>
                <a:t>10%</a:t>
              </a:r>
              <a:r>
                <a:rPr lang="zh-CN" altLang="en-US" sz="1400" b="0" i="0" dirty="0">
                  <a:solidFill>
                    <a:srgbClr val="0D0D0D"/>
                  </a:solidFill>
                  <a:latin typeface="+mn-ea"/>
                  <a:cs typeface="思源黑体 CN Normal" panose="020B0400000000000000" pitchFamily="34" charset="-122"/>
                </a:rPr>
                <a:t>，社招人员第一年离职率达到</a:t>
              </a:r>
              <a:r>
                <a:rPr lang="en-US" altLang="zh-CN" sz="1400" b="0" i="0" dirty="0">
                  <a:solidFill>
                    <a:srgbClr val="0D0D0D"/>
                  </a:solidFill>
                  <a:latin typeface="+mn-ea"/>
                  <a:cs typeface="思源黑体 CN Normal" panose="020B0400000000000000" pitchFamily="34" charset="-122"/>
                </a:rPr>
                <a:t>25%</a:t>
              </a:r>
              <a:endParaRPr lang="en-US" altLang="zh-CN" sz="1400" b="0" i="0" dirty="0">
                <a:solidFill>
                  <a:srgbClr val="0D0D0D"/>
                </a:solidFill>
                <a:latin typeface="+mn-ea"/>
                <a:cs typeface="思源黑体 CN Normal" panose="020B0400000000000000" pitchFamily="34" charset="-122"/>
              </a:endParaRPr>
            </a:p>
          </p:txBody>
        </p:sp>
      </p:grpSp>
      <p:sp>
        <p:nvSpPr>
          <p:cNvPr id="17"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重点项目汇报</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3" name="文本框 32"/>
          <p:cNvSpPr txBox="1"/>
          <p:nvPr/>
        </p:nvSpPr>
        <p:spPr>
          <a:xfrm>
            <a:off x="336000" y="822791"/>
            <a:ext cx="11520000" cy="468000"/>
          </a:xfrm>
          <a:prstGeom prst="rect">
            <a:avLst/>
          </a:prstGeom>
          <a:solidFill>
            <a:schemeClr val="accent1"/>
          </a:solidFill>
          <a:ln w="6350">
            <a:noFill/>
          </a:ln>
          <a:effectLst>
            <a:outerShdw blurRad="127000" dist="63500" dir="5400000" algn="t"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defPPr>
              <a:defRPr lang="zh-CN"/>
            </a:defPPr>
            <a:lvl1pPr algn="ctr">
              <a:defRPr sz="1945">
                <a:solidFill>
                  <a:schemeClr val="bg1"/>
                </a:solidFill>
                <a:effectLst>
                  <a:outerShdw blurRad="137160" dist="41148" dir="2699997" algn="tl">
                    <a:srgbClr val="000000">
                      <a:alpha val="40000"/>
                    </a:srgbClr>
                  </a:outerShdw>
                </a:effectLst>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effectLst/>
                <a:cs typeface="思源黑体 CN Normal" panose="020B0400000000000000" pitchFamily="34" charset="-122"/>
              </a:rPr>
              <a:t>推动产业升级人才支撑</a:t>
            </a:r>
            <a:endParaRPr lang="zh-CN" altLang="en-US" sz="2400" dirty="0">
              <a:effectLst/>
              <a:cs typeface="思源黑体 CN Normal" panose="020B0400000000000000" pitchFamily="34" charset="-122"/>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图表 78"/>
          <p:cNvGraphicFramePr>
            <a:graphicFrameLocks noChangeAspect="1"/>
          </p:cNvGraphicFramePr>
          <p:nvPr/>
        </p:nvGraphicFramePr>
        <p:xfrm>
          <a:off x="2370000" y="1351400"/>
          <a:ext cx="7452000" cy="49680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80" name="图表 79"/>
          <p:cNvGraphicFramePr>
            <a:graphicFrameLocks noChangeAspect="1"/>
          </p:cNvGraphicFramePr>
          <p:nvPr/>
        </p:nvGraphicFramePr>
        <p:xfrm>
          <a:off x="2775000" y="1621400"/>
          <a:ext cx="6642000" cy="4428000"/>
        </p:xfrm>
        <a:graphic>
          <a:graphicData uri="http://schemas.openxmlformats.org/drawingml/2006/chart">
            <c:chart xmlns:c="http://schemas.openxmlformats.org/drawingml/2006/chart" xmlns:r="http://schemas.openxmlformats.org/officeDocument/2006/relationships" r:id="rId2"/>
          </a:graphicData>
        </a:graphic>
      </p:graphicFrame>
      <p:grpSp>
        <p:nvGrpSpPr>
          <p:cNvPr id="81" name="组合 80"/>
          <p:cNvGrpSpPr/>
          <p:nvPr/>
        </p:nvGrpSpPr>
        <p:grpSpPr>
          <a:xfrm>
            <a:off x="3677005" y="1417127"/>
            <a:ext cx="4837990" cy="4726894"/>
            <a:chOff x="3677006" y="1586426"/>
            <a:chExt cx="4837990" cy="4726894"/>
          </a:xfrm>
        </p:grpSpPr>
        <p:sp>
          <p:nvSpPr>
            <p:cNvPr id="82" name="椭圆 81"/>
            <p:cNvSpPr/>
            <p:nvPr/>
          </p:nvSpPr>
          <p:spPr>
            <a:xfrm>
              <a:off x="5231585" y="1735832"/>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3" name="椭圆 82"/>
            <p:cNvSpPr/>
            <p:nvPr/>
          </p:nvSpPr>
          <p:spPr>
            <a:xfrm>
              <a:off x="6833748" y="1735832"/>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4" name="椭圆 83"/>
            <p:cNvSpPr/>
            <p:nvPr/>
          </p:nvSpPr>
          <p:spPr>
            <a:xfrm>
              <a:off x="6032667" y="1586426"/>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5" name="椭圆 84"/>
            <p:cNvSpPr/>
            <p:nvPr/>
          </p:nvSpPr>
          <p:spPr>
            <a:xfrm rot="8700000">
              <a:off x="7970857" y="5267690"/>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6" name="椭圆 85"/>
            <p:cNvSpPr/>
            <p:nvPr/>
          </p:nvSpPr>
          <p:spPr>
            <a:xfrm rot="8700000">
              <a:off x="6658442" y="6186653"/>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7" name="椭圆 86"/>
            <p:cNvSpPr/>
            <p:nvPr/>
          </p:nvSpPr>
          <p:spPr>
            <a:xfrm rot="8700000">
              <a:off x="7400345" y="5849558"/>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8" name="椭圆 87"/>
            <p:cNvSpPr/>
            <p:nvPr/>
          </p:nvSpPr>
          <p:spPr>
            <a:xfrm rot="12900000" flipH="1">
              <a:off x="4094477" y="5267690"/>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9" name="椭圆 88"/>
            <p:cNvSpPr/>
            <p:nvPr/>
          </p:nvSpPr>
          <p:spPr>
            <a:xfrm rot="12900000" flipH="1">
              <a:off x="5406892" y="6186653"/>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0" name="椭圆 89"/>
            <p:cNvSpPr/>
            <p:nvPr/>
          </p:nvSpPr>
          <p:spPr>
            <a:xfrm rot="12900000" flipH="1">
              <a:off x="4664989" y="5849558"/>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1" name="椭圆 90"/>
            <p:cNvSpPr/>
            <p:nvPr/>
          </p:nvSpPr>
          <p:spPr>
            <a:xfrm rot="4200000">
              <a:off x="7840357" y="2430477"/>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2" name="椭圆 91"/>
            <p:cNvSpPr/>
            <p:nvPr/>
          </p:nvSpPr>
          <p:spPr>
            <a:xfrm rot="4200000">
              <a:off x="8388329" y="3936017"/>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3" name="椭圆 92"/>
            <p:cNvSpPr/>
            <p:nvPr/>
          </p:nvSpPr>
          <p:spPr>
            <a:xfrm rot="4200000">
              <a:off x="8254739" y="3132148"/>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4" name="椭圆 93"/>
            <p:cNvSpPr/>
            <p:nvPr/>
          </p:nvSpPr>
          <p:spPr>
            <a:xfrm rot="17400000" flipH="1">
              <a:off x="4224978" y="2430477"/>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5" name="椭圆 94"/>
            <p:cNvSpPr/>
            <p:nvPr/>
          </p:nvSpPr>
          <p:spPr>
            <a:xfrm rot="17400000" flipH="1">
              <a:off x="3677006" y="3936017"/>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6" name="椭圆 95"/>
            <p:cNvSpPr/>
            <p:nvPr/>
          </p:nvSpPr>
          <p:spPr>
            <a:xfrm rot="17400000" flipH="1">
              <a:off x="3810596" y="3132148"/>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grpSp>
      <p:sp>
        <p:nvSpPr>
          <p:cNvPr id="2" name="矩形: 圆角 1"/>
          <p:cNvSpPr/>
          <p:nvPr/>
        </p:nvSpPr>
        <p:spPr>
          <a:xfrm>
            <a:off x="336000" y="675142"/>
            <a:ext cx="11520000" cy="6124936"/>
          </a:xfrm>
          <a:prstGeom prst="roundRect">
            <a:avLst>
              <a:gd name="adj" fmla="val 50000"/>
            </a:avLst>
          </a:prstGeom>
          <a:noFill/>
          <a:ln>
            <a:gradFill>
              <a:gsLst>
                <a:gs pos="0">
                  <a:schemeClr val="accent1"/>
                </a:gs>
                <a:gs pos="81000">
                  <a:srgbClr val="B4D7FE">
                    <a:alpha val="0"/>
                  </a:srgbClr>
                </a:gs>
                <a:gs pos="19000">
                  <a:srgbClr val="B4D7FE">
                    <a:alpha val="0"/>
                  </a:srgb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 name="任意多边形: 形状 2"/>
          <p:cNvSpPr/>
          <p:nvPr/>
        </p:nvSpPr>
        <p:spPr>
          <a:xfrm>
            <a:off x="425451" y="769253"/>
            <a:ext cx="11341099" cy="5941924"/>
          </a:xfrm>
          <a:custGeom>
            <a:avLst/>
            <a:gdLst>
              <a:gd name="connsiteX0" fmla="*/ 7879508 w 11160122"/>
              <a:gd name="connsiteY0" fmla="*/ 3784895 h 5941924"/>
              <a:gd name="connsiteX1" fmla="*/ 11044434 w 11160122"/>
              <a:gd name="connsiteY1" fmla="*/ 3784895 h 5941924"/>
              <a:gd name="connsiteX2" fmla="*/ 11026553 w 11160122"/>
              <a:gd name="connsiteY2" fmla="*/ 3854436 h 5941924"/>
              <a:gd name="connsiteX3" fmla="*/ 8189160 w 11160122"/>
              <a:gd name="connsiteY3" fmla="*/ 5941924 h 5941924"/>
              <a:gd name="connsiteX4" fmla="*/ 5616061 w 11160122"/>
              <a:gd name="connsiteY4" fmla="*/ 5941924 h 5941924"/>
              <a:gd name="connsiteX5" fmla="*/ 5616061 w 11160122"/>
              <a:gd name="connsiteY5" fmla="*/ 5516029 h 5941924"/>
              <a:gd name="connsiteX6" fmla="*/ 5824834 w 11160122"/>
              <a:gd name="connsiteY6" fmla="*/ 5505487 h 5941924"/>
              <a:gd name="connsiteX7" fmla="*/ 7866432 w 11160122"/>
              <a:gd name="connsiteY7" fmla="*/ 3835750 h 5941924"/>
              <a:gd name="connsiteX8" fmla="*/ 115687 w 11160122"/>
              <a:gd name="connsiteY8" fmla="*/ 3784895 h 5941924"/>
              <a:gd name="connsiteX9" fmla="*/ 3280615 w 11160122"/>
              <a:gd name="connsiteY9" fmla="*/ 3784895 h 5941924"/>
              <a:gd name="connsiteX10" fmla="*/ 3293692 w 11160122"/>
              <a:gd name="connsiteY10" fmla="*/ 3835750 h 5941924"/>
              <a:gd name="connsiteX11" fmla="*/ 5335289 w 11160122"/>
              <a:gd name="connsiteY11" fmla="*/ 5505487 h 5941924"/>
              <a:gd name="connsiteX12" fmla="*/ 5544061 w 11160122"/>
              <a:gd name="connsiteY12" fmla="*/ 5516029 h 5941924"/>
              <a:gd name="connsiteX13" fmla="*/ 5544061 w 11160122"/>
              <a:gd name="connsiteY13" fmla="*/ 5941924 h 5941924"/>
              <a:gd name="connsiteX14" fmla="*/ 2970961 w 11160122"/>
              <a:gd name="connsiteY14" fmla="*/ 5941924 h 5941924"/>
              <a:gd name="connsiteX15" fmla="*/ 133568 w 11160122"/>
              <a:gd name="connsiteY15" fmla="*/ 3854436 h 5941924"/>
              <a:gd name="connsiteX16" fmla="*/ 584463 w 11160122"/>
              <a:gd name="connsiteY16" fmla="*/ 1206805 h 5941924"/>
              <a:gd name="connsiteX17" fmla="*/ 4107131 w 11160122"/>
              <a:gd name="connsiteY17" fmla="*/ 1206805 h 5941924"/>
              <a:gd name="connsiteX18" fmla="*/ 4107131 w 11160122"/>
              <a:gd name="connsiteY18" fmla="*/ 1239224 h 5941924"/>
              <a:gd name="connsiteX19" fmla="*/ 4057255 w 11160122"/>
              <a:gd name="connsiteY19" fmla="*/ 1276520 h 5941924"/>
              <a:gd name="connsiteX20" fmla="*/ 3186062 w 11160122"/>
              <a:gd name="connsiteY20" fmla="*/ 3123847 h 5941924"/>
              <a:gd name="connsiteX21" fmla="*/ 3234700 w 11160122"/>
              <a:gd name="connsiteY21" fmla="*/ 3606322 h 5941924"/>
              <a:gd name="connsiteX22" fmla="*/ 3262103 w 11160122"/>
              <a:gd name="connsiteY22" fmla="*/ 3712895 h 5941924"/>
              <a:gd name="connsiteX23" fmla="*/ 97175 w 11160122"/>
              <a:gd name="connsiteY23" fmla="*/ 3712895 h 5941924"/>
              <a:gd name="connsiteX24" fmla="*/ 60359 w 11160122"/>
              <a:gd name="connsiteY24" fmla="*/ 3569715 h 5941924"/>
              <a:gd name="connsiteX25" fmla="*/ 0 w 11160122"/>
              <a:gd name="connsiteY25" fmla="*/ 2970962 h 5941924"/>
              <a:gd name="connsiteX26" fmla="*/ 507394 w 11160122"/>
              <a:gd name="connsiteY26" fmla="*/ 1309869 h 5941924"/>
              <a:gd name="connsiteX27" fmla="*/ 7052992 w 11160122"/>
              <a:gd name="connsiteY27" fmla="*/ 1206804 h 5941924"/>
              <a:gd name="connsiteX28" fmla="*/ 10575658 w 11160122"/>
              <a:gd name="connsiteY28" fmla="*/ 1206804 h 5941924"/>
              <a:gd name="connsiteX29" fmla="*/ 10652728 w 11160122"/>
              <a:gd name="connsiteY29" fmla="*/ 1309869 h 5941924"/>
              <a:gd name="connsiteX30" fmla="*/ 11160122 w 11160122"/>
              <a:gd name="connsiteY30" fmla="*/ 2970962 h 5941924"/>
              <a:gd name="connsiteX31" fmla="*/ 11099763 w 11160122"/>
              <a:gd name="connsiteY31" fmla="*/ 3569715 h 5941924"/>
              <a:gd name="connsiteX32" fmla="*/ 11062947 w 11160122"/>
              <a:gd name="connsiteY32" fmla="*/ 3712895 h 5941924"/>
              <a:gd name="connsiteX33" fmla="*/ 7898021 w 11160122"/>
              <a:gd name="connsiteY33" fmla="*/ 3712895 h 5941924"/>
              <a:gd name="connsiteX34" fmla="*/ 7925423 w 11160122"/>
              <a:gd name="connsiteY34" fmla="*/ 3606322 h 5941924"/>
              <a:gd name="connsiteX35" fmla="*/ 7974061 w 11160122"/>
              <a:gd name="connsiteY35" fmla="*/ 3123847 h 5941924"/>
              <a:gd name="connsiteX36" fmla="*/ 7102868 w 11160122"/>
              <a:gd name="connsiteY36" fmla="*/ 1276520 h 5941924"/>
              <a:gd name="connsiteX37" fmla="*/ 7052992 w 11160122"/>
              <a:gd name="connsiteY37" fmla="*/ 1239224 h 5941924"/>
              <a:gd name="connsiteX38" fmla="*/ 2970962 w 11160122"/>
              <a:gd name="connsiteY38" fmla="*/ 0 h 5941924"/>
              <a:gd name="connsiteX39" fmla="*/ 8189160 w 11160122"/>
              <a:gd name="connsiteY39" fmla="*/ 0 h 5941924"/>
              <a:gd name="connsiteX40" fmla="*/ 10481699 w 11160122"/>
              <a:gd name="connsiteY40" fmla="*/ 1081155 h 5941924"/>
              <a:gd name="connsiteX41" fmla="*/ 10521817 w 11160122"/>
              <a:gd name="connsiteY41" fmla="*/ 1134803 h 5941924"/>
              <a:gd name="connsiteX42" fmla="*/ 6912148 w 11160122"/>
              <a:gd name="connsiteY42" fmla="*/ 1134803 h 5941924"/>
              <a:gd name="connsiteX43" fmla="*/ 6721184 w 11160122"/>
              <a:gd name="connsiteY43" fmla="*/ 1018790 h 5941924"/>
              <a:gd name="connsiteX44" fmla="*/ 5580061 w 11160122"/>
              <a:gd name="connsiteY44" fmla="*/ 729847 h 5941924"/>
              <a:gd name="connsiteX45" fmla="*/ 4438939 w 11160122"/>
              <a:gd name="connsiteY45" fmla="*/ 1018790 h 5941924"/>
              <a:gd name="connsiteX46" fmla="*/ 4247975 w 11160122"/>
              <a:gd name="connsiteY46" fmla="*/ 1134803 h 5941924"/>
              <a:gd name="connsiteX47" fmla="*/ 638306 w 11160122"/>
              <a:gd name="connsiteY47" fmla="*/ 1134803 h 5941924"/>
              <a:gd name="connsiteX48" fmla="*/ 678424 w 11160122"/>
              <a:gd name="connsiteY48" fmla="*/ 1081155 h 5941924"/>
              <a:gd name="connsiteX49" fmla="*/ 2970962 w 11160122"/>
              <a:gd name="connsiteY49" fmla="*/ 0 h 594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1160122" h="5941924">
                <a:moveTo>
                  <a:pt x="7879508" y="3784895"/>
                </a:moveTo>
                <a:lnTo>
                  <a:pt x="11044434" y="3784895"/>
                </a:lnTo>
                <a:lnTo>
                  <a:pt x="11026553" y="3854436"/>
                </a:lnTo>
                <a:cubicBezTo>
                  <a:pt x="10650396" y="5063821"/>
                  <a:pt x="9522324" y="5941924"/>
                  <a:pt x="8189160" y="5941924"/>
                </a:cubicBezTo>
                <a:lnTo>
                  <a:pt x="5616061" y="5941924"/>
                </a:lnTo>
                <a:lnTo>
                  <a:pt x="5616061" y="5516029"/>
                </a:lnTo>
                <a:lnTo>
                  <a:pt x="5824834" y="5505487"/>
                </a:lnTo>
                <a:cubicBezTo>
                  <a:pt x="6790585" y="5407410"/>
                  <a:pt x="7586640" y="4735309"/>
                  <a:pt x="7866432" y="3835750"/>
                </a:cubicBezTo>
                <a:close/>
                <a:moveTo>
                  <a:pt x="115687" y="3784895"/>
                </a:moveTo>
                <a:lnTo>
                  <a:pt x="3280615" y="3784895"/>
                </a:lnTo>
                <a:lnTo>
                  <a:pt x="3293692" y="3835750"/>
                </a:lnTo>
                <a:cubicBezTo>
                  <a:pt x="3573483" y="4735309"/>
                  <a:pt x="4369537" y="5407410"/>
                  <a:pt x="5335289" y="5505487"/>
                </a:cubicBezTo>
                <a:lnTo>
                  <a:pt x="5544061" y="5516029"/>
                </a:lnTo>
                <a:lnTo>
                  <a:pt x="5544061" y="5941924"/>
                </a:lnTo>
                <a:lnTo>
                  <a:pt x="2970961" y="5941924"/>
                </a:lnTo>
                <a:cubicBezTo>
                  <a:pt x="1637799" y="5941924"/>
                  <a:pt x="509727" y="5063821"/>
                  <a:pt x="133568" y="3854436"/>
                </a:cubicBezTo>
                <a:close/>
                <a:moveTo>
                  <a:pt x="584463" y="1206805"/>
                </a:moveTo>
                <a:lnTo>
                  <a:pt x="4107131" y="1206805"/>
                </a:lnTo>
                <a:lnTo>
                  <a:pt x="4107131" y="1239224"/>
                </a:lnTo>
                <a:lnTo>
                  <a:pt x="4057255" y="1276520"/>
                </a:lnTo>
                <a:cubicBezTo>
                  <a:pt x="3525196" y="1715615"/>
                  <a:pt x="3186062" y="2380127"/>
                  <a:pt x="3186062" y="3123847"/>
                </a:cubicBezTo>
                <a:cubicBezTo>
                  <a:pt x="3186062" y="3289118"/>
                  <a:pt x="3202810" y="3450478"/>
                  <a:pt x="3234700" y="3606322"/>
                </a:cubicBezTo>
                <a:lnTo>
                  <a:pt x="3262103" y="3712895"/>
                </a:lnTo>
                <a:lnTo>
                  <a:pt x="97175" y="3712895"/>
                </a:lnTo>
                <a:lnTo>
                  <a:pt x="60359" y="3569715"/>
                </a:lnTo>
                <a:cubicBezTo>
                  <a:pt x="20784" y="3376312"/>
                  <a:pt x="0" y="3176064"/>
                  <a:pt x="0" y="2970962"/>
                </a:cubicBezTo>
                <a:cubicBezTo>
                  <a:pt x="0" y="2355656"/>
                  <a:pt x="187052" y="1784038"/>
                  <a:pt x="507394" y="1309869"/>
                </a:cubicBezTo>
                <a:close/>
                <a:moveTo>
                  <a:pt x="7052992" y="1206804"/>
                </a:moveTo>
                <a:lnTo>
                  <a:pt x="10575658" y="1206804"/>
                </a:lnTo>
                <a:lnTo>
                  <a:pt x="10652728" y="1309869"/>
                </a:lnTo>
                <a:cubicBezTo>
                  <a:pt x="10973070" y="1784038"/>
                  <a:pt x="11160122" y="2355656"/>
                  <a:pt x="11160122" y="2970962"/>
                </a:cubicBezTo>
                <a:cubicBezTo>
                  <a:pt x="11160122" y="3176064"/>
                  <a:pt x="11139338" y="3376312"/>
                  <a:pt x="11099763" y="3569715"/>
                </a:cubicBezTo>
                <a:lnTo>
                  <a:pt x="11062947" y="3712895"/>
                </a:lnTo>
                <a:lnTo>
                  <a:pt x="7898021" y="3712895"/>
                </a:lnTo>
                <a:lnTo>
                  <a:pt x="7925423" y="3606322"/>
                </a:lnTo>
                <a:cubicBezTo>
                  <a:pt x="7957314" y="3450478"/>
                  <a:pt x="7974061" y="3289118"/>
                  <a:pt x="7974061" y="3123847"/>
                </a:cubicBezTo>
                <a:cubicBezTo>
                  <a:pt x="7974061" y="2380127"/>
                  <a:pt x="7634928" y="1715615"/>
                  <a:pt x="7102868" y="1276520"/>
                </a:cubicBezTo>
                <a:lnTo>
                  <a:pt x="7052992" y="1239224"/>
                </a:lnTo>
                <a:close/>
                <a:moveTo>
                  <a:pt x="2970962" y="0"/>
                </a:moveTo>
                <a:lnTo>
                  <a:pt x="8189160" y="0"/>
                </a:lnTo>
                <a:cubicBezTo>
                  <a:pt x="9112120" y="0"/>
                  <a:pt x="9936781" y="420866"/>
                  <a:pt x="10481699" y="1081155"/>
                </a:cubicBezTo>
                <a:lnTo>
                  <a:pt x="10521817" y="1134803"/>
                </a:lnTo>
                <a:lnTo>
                  <a:pt x="6912148" y="1134803"/>
                </a:lnTo>
                <a:lnTo>
                  <a:pt x="6721184" y="1018790"/>
                </a:lnTo>
                <a:cubicBezTo>
                  <a:pt x="6381970" y="834518"/>
                  <a:pt x="5993239" y="729847"/>
                  <a:pt x="5580061" y="729847"/>
                </a:cubicBezTo>
                <a:cubicBezTo>
                  <a:pt x="5166883" y="729847"/>
                  <a:pt x="4778152" y="834518"/>
                  <a:pt x="4438939" y="1018790"/>
                </a:cubicBezTo>
                <a:lnTo>
                  <a:pt x="4247975" y="1134803"/>
                </a:lnTo>
                <a:lnTo>
                  <a:pt x="638306" y="1134803"/>
                </a:lnTo>
                <a:lnTo>
                  <a:pt x="678424" y="1081155"/>
                </a:lnTo>
                <a:cubicBezTo>
                  <a:pt x="1223342" y="420866"/>
                  <a:pt x="2048003" y="0"/>
                  <a:pt x="2970962" y="0"/>
                </a:cubicBezTo>
                <a:close/>
              </a:path>
            </a:pathLst>
          </a:custGeom>
          <a:gradFill flip="none" rotWithShape="1">
            <a:gsLst>
              <a:gs pos="41000">
                <a:schemeClr val="accent1">
                  <a:lumMod val="20000"/>
                  <a:lumOff val="80000"/>
                  <a:alpha val="0"/>
                </a:schemeClr>
              </a:gs>
              <a:gs pos="100000">
                <a:schemeClr val="accent1">
                  <a:lumMod val="20000"/>
                  <a:lumOff val="80000"/>
                  <a:alpha val="60000"/>
                </a:schemeClr>
              </a:gs>
            </a:gsLst>
            <a:path path="circle">
              <a:fillToRect l="50000" t="50000" r="50000" b="50000"/>
            </a:path>
            <a:tileRect/>
          </a:grad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 name="任意多边形: 形状 3"/>
          <p:cNvSpPr/>
          <p:nvPr/>
        </p:nvSpPr>
        <p:spPr>
          <a:xfrm>
            <a:off x="4558595" y="1980800"/>
            <a:ext cx="43354" cy="32420"/>
          </a:xfrm>
          <a:custGeom>
            <a:avLst/>
            <a:gdLst>
              <a:gd name="connsiteX0" fmla="*/ 0 w 43354"/>
              <a:gd name="connsiteY0" fmla="*/ 0 h 32420"/>
              <a:gd name="connsiteX1" fmla="*/ 43354 w 43354"/>
              <a:gd name="connsiteY1" fmla="*/ 0 h 32420"/>
              <a:gd name="connsiteX2" fmla="*/ 0 w 43354"/>
              <a:gd name="connsiteY2" fmla="*/ 32420 h 32420"/>
              <a:gd name="connsiteX3" fmla="*/ 0 w 43354"/>
              <a:gd name="connsiteY3" fmla="*/ 0 h 32420"/>
            </a:gdLst>
            <a:ahLst/>
            <a:cxnLst>
              <a:cxn ang="0">
                <a:pos x="connsiteX0" y="connsiteY0"/>
              </a:cxn>
              <a:cxn ang="0">
                <a:pos x="connsiteX1" y="connsiteY1"/>
              </a:cxn>
              <a:cxn ang="0">
                <a:pos x="connsiteX2" y="connsiteY2"/>
              </a:cxn>
              <a:cxn ang="0">
                <a:pos x="connsiteX3" y="connsiteY3"/>
              </a:cxn>
            </a:cxnLst>
            <a:rect l="l" t="t" r="r" b="b"/>
            <a:pathLst>
              <a:path w="43354" h="32420">
                <a:moveTo>
                  <a:pt x="0" y="0"/>
                </a:moveTo>
                <a:lnTo>
                  <a:pt x="43354" y="0"/>
                </a:lnTo>
                <a:lnTo>
                  <a:pt x="0" y="32420"/>
                </a:lnTo>
                <a:lnTo>
                  <a:pt x="0" y="0"/>
                </a:lnTo>
                <a:close/>
              </a:path>
            </a:pathLst>
          </a:custGeom>
          <a:solidFill>
            <a:schemeClr val="accent1">
              <a:lumMod val="20000"/>
              <a:lumOff val="80000"/>
              <a:alpha val="34000"/>
            </a:schemeClr>
          </a:solid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76" name="组合 75"/>
          <p:cNvGrpSpPr/>
          <p:nvPr/>
        </p:nvGrpSpPr>
        <p:grpSpPr>
          <a:xfrm>
            <a:off x="5007419" y="823929"/>
            <a:ext cx="2177163" cy="604776"/>
            <a:chOff x="4942944" y="823929"/>
            <a:chExt cx="2177163" cy="604776"/>
          </a:xfrm>
        </p:grpSpPr>
        <p:sp>
          <p:nvSpPr>
            <p:cNvPr id="11" name="文本框 85"/>
            <p:cNvSpPr txBox="1"/>
            <p:nvPr/>
          </p:nvSpPr>
          <p:spPr>
            <a:xfrm>
              <a:off x="4942944" y="1151706"/>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捕捉变化，把握市场先机</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2" name="文本框 86"/>
            <p:cNvSpPr txBox="1"/>
            <p:nvPr/>
          </p:nvSpPr>
          <p:spPr>
            <a:xfrm>
              <a:off x="5221525" y="823929"/>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latin typeface="+mj-ea"/>
                  <a:ea typeface="+mj-ea"/>
                </a:defRPr>
              </a:lvl1pPr>
            </a:lstStyle>
            <a:p>
              <a:r>
                <a:rPr lang="zh-CN" altLang="en-US" dirty="0">
                  <a:cs typeface="思源黑体 CN Normal" panose="020B0400000000000000" pitchFamily="34" charset="-122"/>
                </a:rPr>
                <a:t>技术前沿洞察</a:t>
              </a:r>
              <a:endParaRPr lang="zh-CN" altLang="en-US" dirty="0">
                <a:cs typeface="思源黑体 CN Normal" panose="020B0400000000000000" pitchFamily="34" charset="-122"/>
              </a:endParaRPr>
            </a:p>
          </p:txBody>
        </p:sp>
      </p:grpSp>
      <p:grpSp>
        <p:nvGrpSpPr>
          <p:cNvPr id="98" name="组合 97"/>
          <p:cNvGrpSpPr/>
          <p:nvPr/>
        </p:nvGrpSpPr>
        <p:grpSpPr>
          <a:xfrm>
            <a:off x="4359172" y="2105161"/>
            <a:ext cx="3473657" cy="3460479"/>
            <a:chOff x="4359172" y="2190251"/>
            <a:chExt cx="3473657" cy="3460479"/>
          </a:xfrm>
        </p:grpSpPr>
        <p:sp>
          <p:nvSpPr>
            <p:cNvPr id="59" name="星形: 五角 1"/>
            <p:cNvSpPr/>
            <p:nvPr/>
          </p:nvSpPr>
          <p:spPr>
            <a:xfrm>
              <a:off x="4359172" y="2190251"/>
              <a:ext cx="3473657" cy="3460479"/>
            </a:xfrm>
            <a:custGeom>
              <a:avLst/>
              <a:gdLst>
                <a:gd name="connsiteX0" fmla="*/ 264699 w 3873914"/>
                <a:gd name="connsiteY0" fmla="*/ 1207914 h 3859218"/>
                <a:gd name="connsiteX1" fmla="*/ 1032275 w 3873914"/>
                <a:gd name="connsiteY1" fmla="*/ 1029498 h 3859218"/>
                <a:gd name="connsiteX2" fmla="*/ 1253313 w 3873914"/>
                <a:gd name="connsiteY2" fmla="*/ 863355 h 3859218"/>
                <a:gd name="connsiteX3" fmla="*/ 1638489 w 3873914"/>
                <a:gd name="connsiteY3" fmla="*/ 174858 h 3859218"/>
                <a:gd name="connsiteX4" fmla="*/ 2235425 w 3873914"/>
                <a:gd name="connsiteY4" fmla="*/ 174858 h 3859218"/>
                <a:gd name="connsiteX5" fmla="*/ 2620601 w 3873914"/>
                <a:gd name="connsiteY5" fmla="*/ 863355 h 3859218"/>
                <a:gd name="connsiteX6" fmla="*/ 2841638 w 3873914"/>
                <a:gd name="connsiteY6" fmla="*/ 1029498 h 3859218"/>
                <a:gd name="connsiteX7" fmla="*/ 3609215 w 3873914"/>
                <a:gd name="connsiteY7" fmla="*/ 1207914 h 3859218"/>
                <a:gd name="connsiteX8" fmla="*/ 3793341 w 3873914"/>
                <a:gd name="connsiteY8" fmla="*/ 1761380 h 3859218"/>
                <a:gd name="connsiteX9" fmla="*/ 3254653 w 3873914"/>
                <a:gd name="connsiteY9" fmla="*/ 2400814 h 3859218"/>
                <a:gd name="connsiteX10" fmla="*/ 3175651 w 3873914"/>
                <a:gd name="connsiteY10" fmla="*/ 2652544 h 3859218"/>
                <a:gd name="connsiteX11" fmla="*/ 3252394 w 3873914"/>
                <a:gd name="connsiteY11" fmla="*/ 3485319 h 3859218"/>
                <a:gd name="connsiteX12" fmla="*/ 2769442 w 3873914"/>
                <a:gd name="connsiteY12" fmla="*/ 3827648 h 3859218"/>
                <a:gd name="connsiteX13" fmla="*/ 2079352 w 3873914"/>
                <a:gd name="connsiteY13" fmla="*/ 3511628 h 3859218"/>
                <a:gd name="connsiteX14" fmla="*/ 1794562 w 3873914"/>
                <a:gd name="connsiteY14" fmla="*/ 3511628 h 3859218"/>
                <a:gd name="connsiteX15" fmla="*/ 1104473 w 3873914"/>
                <a:gd name="connsiteY15" fmla="*/ 3827648 h 3859218"/>
                <a:gd name="connsiteX16" fmla="*/ 621520 w 3873914"/>
                <a:gd name="connsiteY16" fmla="*/ 3485319 h 3859218"/>
                <a:gd name="connsiteX17" fmla="*/ 698263 w 3873914"/>
                <a:gd name="connsiteY17" fmla="*/ 2652544 h 3859218"/>
                <a:gd name="connsiteX18" fmla="*/ 619262 w 3873914"/>
                <a:gd name="connsiteY18" fmla="*/ 2400814 h 3859218"/>
                <a:gd name="connsiteX19" fmla="*/ 80574 w 3873914"/>
                <a:gd name="connsiteY19" fmla="*/ 1761380 h 3859218"/>
                <a:gd name="connsiteX20" fmla="*/ 264699 w 3873914"/>
                <a:gd name="connsiteY20" fmla="*/ 1207914 h 3859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3914" h="3859218">
                  <a:moveTo>
                    <a:pt x="264699" y="1207914"/>
                  </a:moveTo>
                  <a:lnTo>
                    <a:pt x="1032275" y="1029498"/>
                  </a:lnTo>
                  <a:cubicBezTo>
                    <a:pt x="1126065" y="1007698"/>
                    <a:pt x="1206301" y="947388"/>
                    <a:pt x="1253313" y="863355"/>
                  </a:cubicBezTo>
                  <a:lnTo>
                    <a:pt x="1638489" y="174858"/>
                  </a:lnTo>
                  <a:cubicBezTo>
                    <a:pt x="1768920" y="-58285"/>
                    <a:pt x="2104994" y="-58285"/>
                    <a:pt x="2235425" y="174858"/>
                  </a:cubicBezTo>
                  <a:lnTo>
                    <a:pt x="2620601" y="863355"/>
                  </a:lnTo>
                  <a:cubicBezTo>
                    <a:pt x="2667613" y="947388"/>
                    <a:pt x="2747849" y="1007698"/>
                    <a:pt x="2841638" y="1029498"/>
                  </a:cubicBezTo>
                  <a:lnTo>
                    <a:pt x="3609215" y="1207914"/>
                  </a:lnTo>
                  <a:cubicBezTo>
                    <a:pt x="3857772" y="1265688"/>
                    <a:pt x="3957751" y="1566220"/>
                    <a:pt x="3793341" y="1761380"/>
                  </a:cubicBezTo>
                  <a:lnTo>
                    <a:pt x="3254653" y="2400814"/>
                  </a:lnTo>
                  <a:cubicBezTo>
                    <a:pt x="3195694" y="2470799"/>
                    <a:pt x="3167254" y="2561421"/>
                    <a:pt x="3175651" y="2652544"/>
                  </a:cubicBezTo>
                  <a:lnTo>
                    <a:pt x="3252394" y="3485319"/>
                  </a:lnTo>
                  <a:cubicBezTo>
                    <a:pt x="3276520" y="3747122"/>
                    <a:pt x="3008482" y="3937115"/>
                    <a:pt x="2769442" y="3827648"/>
                  </a:cubicBezTo>
                  <a:lnTo>
                    <a:pt x="2079352" y="3511628"/>
                  </a:lnTo>
                  <a:cubicBezTo>
                    <a:pt x="1988931" y="3470220"/>
                    <a:pt x="1884983" y="3470220"/>
                    <a:pt x="1794562" y="3511628"/>
                  </a:cubicBezTo>
                  <a:lnTo>
                    <a:pt x="1104473" y="3827648"/>
                  </a:lnTo>
                  <a:cubicBezTo>
                    <a:pt x="865432" y="3937115"/>
                    <a:pt x="597394" y="3747122"/>
                    <a:pt x="621520" y="3485319"/>
                  </a:cubicBezTo>
                  <a:lnTo>
                    <a:pt x="698263" y="2652544"/>
                  </a:lnTo>
                  <a:cubicBezTo>
                    <a:pt x="706661" y="2561421"/>
                    <a:pt x="678220" y="2470799"/>
                    <a:pt x="619262" y="2400814"/>
                  </a:cubicBezTo>
                  <a:lnTo>
                    <a:pt x="80574" y="1761380"/>
                  </a:lnTo>
                  <a:cubicBezTo>
                    <a:pt x="-83837" y="1566220"/>
                    <a:pt x="16143" y="1265688"/>
                    <a:pt x="264699" y="1207914"/>
                  </a:cubicBezTo>
                </a:path>
              </a:pathLst>
            </a:custGeom>
            <a:solidFill>
              <a:schemeClr val="bg1"/>
            </a:solidFill>
            <a:ln>
              <a:noFill/>
            </a:ln>
            <a:effectLst>
              <a:outerShdw blurRad="1270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nvGrpSpPr>
            <p:cNvPr id="60" name="组合 59"/>
            <p:cNvGrpSpPr/>
            <p:nvPr/>
          </p:nvGrpSpPr>
          <p:grpSpPr>
            <a:xfrm>
              <a:off x="4564154" y="2423568"/>
              <a:ext cx="3063693" cy="3082478"/>
              <a:chOff x="4506110" y="2080668"/>
              <a:chExt cx="3063693" cy="3082478"/>
            </a:xfrm>
          </p:grpSpPr>
          <p:sp>
            <p:nvSpPr>
              <p:cNvPr id="5" name="星形: 五角 1"/>
              <p:cNvSpPr>
                <a:spLocks noChangeAspect="1"/>
              </p:cNvSpPr>
              <p:nvPr/>
            </p:nvSpPr>
            <p:spPr>
              <a:xfrm>
                <a:off x="4789525" y="2337905"/>
                <a:ext cx="2484000" cy="2474582"/>
              </a:xfrm>
              <a:custGeom>
                <a:avLst/>
                <a:gdLst>
                  <a:gd name="connsiteX0" fmla="*/ 264699 w 3873914"/>
                  <a:gd name="connsiteY0" fmla="*/ 1207914 h 3859218"/>
                  <a:gd name="connsiteX1" fmla="*/ 1032275 w 3873914"/>
                  <a:gd name="connsiteY1" fmla="*/ 1029498 h 3859218"/>
                  <a:gd name="connsiteX2" fmla="*/ 1253313 w 3873914"/>
                  <a:gd name="connsiteY2" fmla="*/ 863355 h 3859218"/>
                  <a:gd name="connsiteX3" fmla="*/ 1638489 w 3873914"/>
                  <a:gd name="connsiteY3" fmla="*/ 174858 h 3859218"/>
                  <a:gd name="connsiteX4" fmla="*/ 2235425 w 3873914"/>
                  <a:gd name="connsiteY4" fmla="*/ 174858 h 3859218"/>
                  <a:gd name="connsiteX5" fmla="*/ 2620601 w 3873914"/>
                  <a:gd name="connsiteY5" fmla="*/ 863355 h 3859218"/>
                  <a:gd name="connsiteX6" fmla="*/ 2841638 w 3873914"/>
                  <a:gd name="connsiteY6" fmla="*/ 1029498 h 3859218"/>
                  <a:gd name="connsiteX7" fmla="*/ 3609215 w 3873914"/>
                  <a:gd name="connsiteY7" fmla="*/ 1207914 h 3859218"/>
                  <a:gd name="connsiteX8" fmla="*/ 3793341 w 3873914"/>
                  <a:gd name="connsiteY8" fmla="*/ 1761380 h 3859218"/>
                  <a:gd name="connsiteX9" fmla="*/ 3254653 w 3873914"/>
                  <a:gd name="connsiteY9" fmla="*/ 2400814 h 3859218"/>
                  <a:gd name="connsiteX10" fmla="*/ 3175651 w 3873914"/>
                  <a:gd name="connsiteY10" fmla="*/ 2652544 h 3859218"/>
                  <a:gd name="connsiteX11" fmla="*/ 3252394 w 3873914"/>
                  <a:gd name="connsiteY11" fmla="*/ 3485319 h 3859218"/>
                  <a:gd name="connsiteX12" fmla="*/ 2769442 w 3873914"/>
                  <a:gd name="connsiteY12" fmla="*/ 3827648 h 3859218"/>
                  <a:gd name="connsiteX13" fmla="*/ 2079352 w 3873914"/>
                  <a:gd name="connsiteY13" fmla="*/ 3511628 h 3859218"/>
                  <a:gd name="connsiteX14" fmla="*/ 1794562 w 3873914"/>
                  <a:gd name="connsiteY14" fmla="*/ 3511628 h 3859218"/>
                  <a:gd name="connsiteX15" fmla="*/ 1104473 w 3873914"/>
                  <a:gd name="connsiteY15" fmla="*/ 3827648 h 3859218"/>
                  <a:gd name="connsiteX16" fmla="*/ 621520 w 3873914"/>
                  <a:gd name="connsiteY16" fmla="*/ 3485319 h 3859218"/>
                  <a:gd name="connsiteX17" fmla="*/ 698263 w 3873914"/>
                  <a:gd name="connsiteY17" fmla="*/ 2652544 h 3859218"/>
                  <a:gd name="connsiteX18" fmla="*/ 619262 w 3873914"/>
                  <a:gd name="connsiteY18" fmla="*/ 2400814 h 3859218"/>
                  <a:gd name="connsiteX19" fmla="*/ 80574 w 3873914"/>
                  <a:gd name="connsiteY19" fmla="*/ 1761380 h 3859218"/>
                  <a:gd name="connsiteX20" fmla="*/ 264699 w 3873914"/>
                  <a:gd name="connsiteY20" fmla="*/ 1207914 h 3859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3914" h="3859218">
                    <a:moveTo>
                      <a:pt x="264699" y="1207914"/>
                    </a:moveTo>
                    <a:lnTo>
                      <a:pt x="1032275" y="1029498"/>
                    </a:lnTo>
                    <a:cubicBezTo>
                      <a:pt x="1126065" y="1007698"/>
                      <a:pt x="1206301" y="947388"/>
                      <a:pt x="1253313" y="863355"/>
                    </a:cubicBezTo>
                    <a:lnTo>
                      <a:pt x="1638489" y="174858"/>
                    </a:lnTo>
                    <a:cubicBezTo>
                      <a:pt x="1768920" y="-58285"/>
                      <a:pt x="2104994" y="-58285"/>
                      <a:pt x="2235425" y="174858"/>
                    </a:cubicBezTo>
                    <a:lnTo>
                      <a:pt x="2620601" y="863355"/>
                    </a:lnTo>
                    <a:cubicBezTo>
                      <a:pt x="2667613" y="947388"/>
                      <a:pt x="2747849" y="1007698"/>
                      <a:pt x="2841638" y="1029498"/>
                    </a:cubicBezTo>
                    <a:lnTo>
                      <a:pt x="3609215" y="1207914"/>
                    </a:lnTo>
                    <a:cubicBezTo>
                      <a:pt x="3857772" y="1265688"/>
                      <a:pt x="3957751" y="1566220"/>
                      <a:pt x="3793341" y="1761380"/>
                    </a:cubicBezTo>
                    <a:lnTo>
                      <a:pt x="3254653" y="2400814"/>
                    </a:lnTo>
                    <a:cubicBezTo>
                      <a:pt x="3195694" y="2470799"/>
                      <a:pt x="3167254" y="2561421"/>
                      <a:pt x="3175651" y="2652544"/>
                    </a:cubicBezTo>
                    <a:lnTo>
                      <a:pt x="3252394" y="3485319"/>
                    </a:lnTo>
                    <a:cubicBezTo>
                      <a:pt x="3276520" y="3747122"/>
                      <a:pt x="3008482" y="3937115"/>
                      <a:pt x="2769442" y="3827648"/>
                    </a:cubicBezTo>
                    <a:lnTo>
                      <a:pt x="2079352" y="3511628"/>
                    </a:lnTo>
                    <a:cubicBezTo>
                      <a:pt x="1988931" y="3470220"/>
                      <a:pt x="1884983" y="3470220"/>
                      <a:pt x="1794562" y="3511628"/>
                    </a:cubicBezTo>
                    <a:lnTo>
                      <a:pt x="1104473" y="3827648"/>
                    </a:lnTo>
                    <a:cubicBezTo>
                      <a:pt x="865432" y="3937115"/>
                      <a:pt x="597394" y="3747122"/>
                      <a:pt x="621520" y="3485319"/>
                    </a:cubicBezTo>
                    <a:lnTo>
                      <a:pt x="698263" y="2652544"/>
                    </a:lnTo>
                    <a:cubicBezTo>
                      <a:pt x="706661" y="2561421"/>
                      <a:pt x="678220" y="2470799"/>
                      <a:pt x="619262" y="2400814"/>
                    </a:cubicBezTo>
                    <a:lnTo>
                      <a:pt x="80574" y="1761380"/>
                    </a:lnTo>
                    <a:cubicBezTo>
                      <a:pt x="-83837" y="1566220"/>
                      <a:pt x="16143" y="1265688"/>
                      <a:pt x="264699" y="1207914"/>
                    </a:cubicBezTo>
                  </a:path>
                </a:pathLst>
              </a:custGeom>
              <a:gradFill>
                <a:gsLst>
                  <a:gs pos="6000">
                    <a:schemeClr val="accent2">
                      <a:lumMod val="60000"/>
                      <a:lumOff val="40000"/>
                    </a:schemeClr>
                  </a:gs>
                  <a:gs pos="55000">
                    <a:schemeClr val="accent2"/>
                  </a:gs>
                </a:gsLst>
                <a:path path="circle">
                  <a:fillToRect r="100000" b="100000"/>
                </a:path>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6" name="组合 5"/>
              <p:cNvGrpSpPr/>
              <p:nvPr/>
            </p:nvGrpSpPr>
            <p:grpSpPr>
              <a:xfrm>
                <a:off x="5635525" y="2080668"/>
                <a:ext cx="792000" cy="792000"/>
                <a:chOff x="5700000" y="2338721"/>
                <a:chExt cx="792000" cy="792000"/>
              </a:xfrm>
            </p:grpSpPr>
            <p:sp>
              <p:nvSpPr>
                <p:cNvPr id="34" name="椭圆 33"/>
                <p:cNvSpPr>
                  <a:spLocks noChangeAspect="1"/>
                </p:cNvSpPr>
                <p:nvPr/>
              </p:nvSpPr>
              <p:spPr>
                <a:xfrm>
                  <a:off x="5700000" y="2338721"/>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5" name="文本框 56"/>
                <p:cNvSpPr txBox="1"/>
                <p:nvPr/>
              </p:nvSpPr>
              <p:spPr>
                <a:xfrm>
                  <a:off x="5774086" y="2545150"/>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预判</a:t>
                  </a:r>
                  <a:endParaRPr lang="zh-CN" altLang="en-US" i="0" dirty="0">
                    <a:solidFill>
                      <a:schemeClr val="bg1"/>
                    </a:solidFill>
                    <a:latin typeface="+mj-ea"/>
                    <a:ea typeface="+mj-ea"/>
                    <a:cs typeface="思源黑体 CN Normal" panose="020B0400000000000000" pitchFamily="34" charset="-122"/>
                  </a:endParaRPr>
                </a:p>
              </p:txBody>
            </p:sp>
          </p:grpSp>
          <p:grpSp>
            <p:nvGrpSpPr>
              <p:cNvPr id="7" name="组合 6"/>
              <p:cNvGrpSpPr/>
              <p:nvPr/>
            </p:nvGrpSpPr>
            <p:grpSpPr>
              <a:xfrm>
                <a:off x="6355525" y="4371146"/>
                <a:ext cx="792000" cy="792000"/>
                <a:chOff x="6420000" y="4629199"/>
                <a:chExt cx="792000" cy="792000"/>
              </a:xfrm>
            </p:grpSpPr>
            <p:sp>
              <p:nvSpPr>
                <p:cNvPr id="32" name="椭圆 31"/>
                <p:cNvSpPr>
                  <a:spLocks noChangeAspect="1"/>
                </p:cNvSpPr>
                <p:nvPr/>
              </p:nvSpPr>
              <p:spPr>
                <a:xfrm>
                  <a:off x="6420000" y="4629199"/>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3" name="文本框 58"/>
                <p:cNvSpPr txBox="1"/>
                <p:nvPr/>
              </p:nvSpPr>
              <p:spPr>
                <a:xfrm>
                  <a:off x="6494086" y="4835628"/>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应对</a:t>
                  </a:r>
                  <a:endParaRPr lang="zh-CN" altLang="en-US" i="0" dirty="0">
                    <a:solidFill>
                      <a:schemeClr val="bg1"/>
                    </a:solidFill>
                    <a:latin typeface="+mj-ea"/>
                    <a:ea typeface="+mj-ea"/>
                    <a:cs typeface="思源黑体 CN Normal" panose="020B0400000000000000" pitchFamily="34" charset="-122"/>
                  </a:endParaRPr>
                </a:p>
              </p:txBody>
            </p:sp>
          </p:grpSp>
          <p:grpSp>
            <p:nvGrpSpPr>
              <p:cNvPr id="8" name="组合 7"/>
              <p:cNvGrpSpPr/>
              <p:nvPr/>
            </p:nvGrpSpPr>
            <p:grpSpPr>
              <a:xfrm>
                <a:off x="4915525" y="4371146"/>
                <a:ext cx="792000" cy="792000"/>
                <a:chOff x="4980000" y="4629199"/>
                <a:chExt cx="792000" cy="792000"/>
              </a:xfrm>
            </p:grpSpPr>
            <p:sp>
              <p:nvSpPr>
                <p:cNvPr id="30" name="椭圆 29"/>
                <p:cNvSpPr>
                  <a:spLocks noChangeAspect="1"/>
                </p:cNvSpPr>
                <p:nvPr/>
              </p:nvSpPr>
              <p:spPr>
                <a:xfrm>
                  <a:off x="4980000" y="4629199"/>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1" name="文本框 59"/>
                <p:cNvSpPr txBox="1"/>
                <p:nvPr/>
              </p:nvSpPr>
              <p:spPr>
                <a:xfrm>
                  <a:off x="5054086" y="4835628"/>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监控</a:t>
                  </a:r>
                  <a:endParaRPr lang="zh-CN" altLang="en-US" i="0" dirty="0">
                    <a:solidFill>
                      <a:schemeClr val="bg1"/>
                    </a:solidFill>
                    <a:latin typeface="+mj-ea"/>
                    <a:ea typeface="+mj-ea"/>
                    <a:cs typeface="思源黑体 CN Normal" panose="020B0400000000000000" pitchFamily="34" charset="-122"/>
                  </a:endParaRPr>
                </a:p>
              </p:txBody>
            </p:sp>
          </p:grpSp>
          <p:grpSp>
            <p:nvGrpSpPr>
              <p:cNvPr id="9" name="组合 8"/>
              <p:cNvGrpSpPr/>
              <p:nvPr/>
            </p:nvGrpSpPr>
            <p:grpSpPr>
              <a:xfrm>
                <a:off x="4506110" y="2935468"/>
                <a:ext cx="792000" cy="792000"/>
                <a:chOff x="4570585" y="3193521"/>
                <a:chExt cx="792000" cy="792000"/>
              </a:xfrm>
            </p:grpSpPr>
            <p:sp>
              <p:nvSpPr>
                <p:cNvPr id="28" name="椭圆 27"/>
                <p:cNvSpPr>
                  <a:spLocks noChangeAspect="1"/>
                </p:cNvSpPr>
                <p:nvPr/>
              </p:nvSpPr>
              <p:spPr>
                <a:xfrm>
                  <a:off x="4570585" y="3193521"/>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9" name="文本框 60"/>
                <p:cNvSpPr txBox="1"/>
                <p:nvPr/>
              </p:nvSpPr>
              <p:spPr>
                <a:xfrm>
                  <a:off x="4644671" y="3399950"/>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调整</a:t>
                  </a:r>
                  <a:endParaRPr lang="zh-CN" altLang="en-US" i="0" dirty="0">
                    <a:solidFill>
                      <a:schemeClr val="bg1"/>
                    </a:solidFill>
                    <a:latin typeface="+mj-ea"/>
                    <a:ea typeface="+mj-ea"/>
                    <a:cs typeface="思源黑体 CN Normal" panose="020B0400000000000000" pitchFamily="34" charset="-122"/>
                  </a:endParaRPr>
                </a:p>
              </p:txBody>
            </p:sp>
          </p:grpSp>
          <p:sp>
            <p:nvSpPr>
              <p:cNvPr id="10" name="文本框 70"/>
              <p:cNvSpPr txBox="1"/>
              <p:nvPr/>
            </p:nvSpPr>
            <p:spPr>
              <a:xfrm>
                <a:off x="5477527" y="3770421"/>
                <a:ext cx="1107996" cy="64633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稳创</a:t>
                </a:r>
                <a:endParaRPr lang="zh-CN" altLang="en-US" sz="36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27" name="图形 20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3698" y="3015200"/>
                <a:ext cx="755654" cy="755654"/>
              </a:xfrm>
              <a:prstGeom prst="rect">
                <a:avLst/>
              </a:prstGeom>
              <a:effectLst>
                <a:outerShdw blurRad="50800" dist="38100" dir="2700000" algn="tl" rotWithShape="0">
                  <a:prstClr val="black">
                    <a:alpha val="40000"/>
                  </a:prstClr>
                </a:outerShdw>
              </a:effectLst>
            </p:spPr>
          </p:pic>
          <p:grpSp>
            <p:nvGrpSpPr>
              <p:cNvPr id="38" name="组合 37"/>
              <p:cNvGrpSpPr/>
              <p:nvPr/>
            </p:nvGrpSpPr>
            <p:grpSpPr>
              <a:xfrm>
                <a:off x="6777803" y="2923697"/>
                <a:ext cx="792000" cy="792000"/>
                <a:chOff x="6829415" y="3193521"/>
                <a:chExt cx="792000" cy="792000"/>
              </a:xfrm>
            </p:grpSpPr>
            <p:sp>
              <p:nvSpPr>
                <p:cNvPr id="56" name="椭圆 55"/>
                <p:cNvSpPr>
                  <a:spLocks noChangeAspect="1"/>
                </p:cNvSpPr>
                <p:nvPr/>
              </p:nvSpPr>
              <p:spPr>
                <a:xfrm>
                  <a:off x="6829415" y="3193521"/>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7" name="文本框 57"/>
                <p:cNvSpPr txBox="1"/>
                <p:nvPr/>
              </p:nvSpPr>
              <p:spPr>
                <a:xfrm>
                  <a:off x="6903501" y="3399950"/>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评估</a:t>
                  </a:r>
                  <a:endParaRPr lang="zh-CN" altLang="en-US" i="0" dirty="0">
                    <a:solidFill>
                      <a:schemeClr val="bg1"/>
                    </a:solidFill>
                    <a:latin typeface="+mj-ea"/>
                    <a:ea typeface="+mj-ea"/>
                    <a:cs typeface="思源黑体 CN Normal" panose="020B0400000000000000" pitchFamily="34" charset="-122"/>
                  </a:endParaRPr>
                </a:p>
              </p:txBody>
            </p:sp>
          </p:grpSp>
        </p:grpSp>
      </p:grpSp>
      <p:sp>
        <p:nvSpPr>
          <p:cNvPr id="37" name="任意多边形: 形状 36"/>
          <p:cNvSpPr/>
          <p:nvPr/>
        </p:nvSpPr>
        <p:spPr>
          <a:xfrm>
            <a:off x="7473965" y="1969029"/>
            <a:ext cx="43354" cy="32420"/>
          </a:xfrm>
          <a:custGeom>
            <a:avLst/>
            <a:gdLst>
              <a:gd name="connsiteX0" fmla="*/ 0 w 43354"/>
              <a:gd name="connsiteY0" fmla="*/ 0 h 32420"/>
              <a:gd name="connsiteX1" fmla="*/ 43354 w 43354"/>
              <a:gd name="connsiteY1" fmla="*/ 0 h 32420"/>
              <a:gd name="connsiteX2" fmla="*/ 43354 w 43354"/>
              <a:gd name="connsiteY2" fmla="*/ 32420 h 32420"/>
              <a:gd name="connsiteX3" fmla="*/ 0 w 43354"/>
              <a:gd name="connsiteY3" fmla="*/ 0 h 32420"/>
            </a:gdLst>
            <a:ahLst/>
            <a:cxnLst>
              <a:cxn ang="0">
                <a:pos x="connsiteX0" y="connsiteY0"/>
              </a:cxn>
              <a:cxn ang="0">
                <a:pos x="connsiteX1" y="connsiteY1"/>
              </a:cxn>
              <a:cxn ang="0">
                <a:pos x="connsiteX2" y="connsiteY2"/>
              </a:cxn>
              <a:cxn ang="0">
                <a:pos x="connsiteX3" y="connsiteY3"/>
              </a:cxn>
            </a:cxnLst>
            <a:rect l="l" t="t" r="r" b="b"/>
            <a:pathLst>
              <a:path w="43354" h="32420">
                <a:moveTo>
                  <a:pt x="0" y="0"/>
                </a:moveTo>
                <a:lnTo>
                  <a:pt x="43354" y="0"/>
                </a:lnTo>
                <a:lnTo>
                  <a:pt x="43354" y="32420"/>
                </a:lnTo>
                <a:lnTo>
                  <a:pt x="0" y="0"/>
                </a:lnTo>
                <a:close/>
              </a:path>
            </a:pathLst>
          </a:custGeom>
          <a:solidFill>
            <a:schemeClr val="accent1">
              <a:lumMod val="20000"/>
              <a:lumOff val="80000"/>
              <a:alpha val="34000"/>
            </a:schemeClr>
          </a:solid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68" name="组合 67"/>
          <p:cNvGrpSpPr/>
          <p:nvPr/>
        </p:nvGrpSpPr>
        <p:grpSpPr>
          <a:xfrm>
            <a:off x="3546719" y="6059863"/>
            <a:ext cx="2227963" cy="591429"/>
            <a:chOff x="3488675" y="6059863"/>
            <a:chExt cx="2227963" cy="591429"/>
          </a:xfrm>
        </p:grpSpPr>
        <p:sp>
          <p:nvSpPr>
            <p:cNvPr id="25" name="文本框 129"/>
            <p:cNvSpPr txBox="1"/>
            <p:nvPr/>
          </p:nvSpPr>
          <p:spPr>
            <a:xfrm>
              <a:off x="3539475" y="6374293"/>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了解反馈，调整项目策略</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26" name="文本框 130"/>
            <p:cNvSpPr txBox="1"/>
            <p:nvPr/>
          </p:nvSpPr>
          <p:spPr>
            <a:xfrm>
              <a:off x="3488675" y="6059863"/>
              <a:ext cx="1620000" cy="307777"/>
            </a:xfrm>
            <a:prstGeom prst="roundRect">
              <a:avLst>
                <a:gd name="adj" fmla="val 50000"/>
              </a:avLst>
            </a:prstGeom>
            <a:solidFill>
              <a:schemeClr val="accent1"/>
            </a:solidFill>
            <a:ln w="12700">
              <a:solidFill>
                <a:schemeClr val="bg1"/>
              </a:solid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舆情及时监控</a:t>
              </a:r>
              <a:endParaRPr lang="zh-CN" altLang="en-US" dirty="0">
                <a:effectLst/>
                <a:cs typeface="思源黑体 CN Normal" panose="020B0400000000000000" pitchFamily="34" charset="-122"/>
              </a:endParaRPr>
            </a:p>
          </p:txBody>
        </p:sp>
      </p:grpSp>
      <p:grpSp>
        <p:nvGrpSpPr>
          <p:cNvPr id="62" name="组合 61"/>
          <p:cNvGrpSpPr/>
          <p:nvPr/>
        </p:nvGrpSpPr>
        <p:grpSpPr>
          <a:xfrm>
            <a:off x="2560471" y="1236090"/>
            <a:ext cx="2245739" cy="591429"/>
            <a:chOff x="2748636" y="1236090"/>
            <a:chExt cx="2245739" cy="591429"/>
          </a:xfrm>
        </p:grpSpPr>
        <p:sp>
          <p:nvSpPr>
            <p:cNvPr id="13" name="文本框 90"/>
            <p:cNvSpPr txBox="1"/>
            <p:nvPr/>
          </p:nvSpPr>
          <p:spPr>
            <a:xfrm>
              <a:off x="2748636" y="1550520"/>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紧跟趋势，避免技术落后</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4" name="文本框 84"/>
            <p:cNvSpPr txBox="1"/>
            <p:nvPr/>
          </p:nvSpPr>
          <p:spPr>
            <a:xfrm>
              <a:off x="3374375" y="1236090"/>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市场动态洞察</a:t>
              </a:r>
              <a:endParaRPr lang="zh-CN" altLang="en-US" dirty="0">
                <a:effectLst/>
                <a:cs typeface="思源黑体 CN Normal" panose="020B0400000000000000" pitchFamily="34" charset="-122"/>
              </a:endParaRPr>
            </a:p>
          </p:txBody>
        </p:sp>
      </p:grpSp>
      <p:grpSp>
        <p:nvGrpSpPr>
          <p:cNvPr id="77" name="组合 76"/>
          <p:cNvGrpSpPr/>
          <p:nvPr/>
        </p:nvGrpSpPr>
        <p:grpSpPr>
          <a:xfrm>
            <a:off x="7347680" y="1236090"/>
            <a:ext cx="2283850" cy="591429"/>
            <a:chOff x="7081538" y="1224319"/>
            <a:chExt cx="2283850" cy="591429"/>
          </a:xfrm>
        </p:grpSpPr>
        <p:sp>
          <p:nvSpPr>
            <p:cNvPr id="40" name="文本框 88"/>
            <p:cNvSpPr txBox="1"/>
            <p:nvPr/>
          </p:nvSpPr>
          <p:spPr>
            <a:xfrm>
              <a:off x="7188225" y="1538749"/>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合规前行，规避政策风险</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1" name="文本框 91"/>
            <p:cNvSpPr txBox="1"/>
            <p:nvPr/>
          </p:nvSpPr>
          <p:spPr>
            <a:xfrm>
              <a:off x="7081538" y="1224319"/>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latin typeface="+mj-ea"/>
                  <a:ea typeface="+mj-ea"/>
                </a:defRPr>
              </a:lvl1pPr>
            </a:lstStyle>
            <a:p>
              <a:r>
                <a:rPr lang="zh-CN" altLang="en-US" dirty="0">
                  <a:cs typeface="思源黑体 CN Normal" panose="020B0400000000000000" pitchFamily="34" charset="-122"/>
                </a:rPr>
                <a:t>政策法规洞察</a:t>
              </a:r>
              <a:endParaRPr lang="zh-CN" altLang="en-US" dirty="0">
                <a:cs typeface="思源黑体 CN Normal" panose="020B0400000000000000" pitchFamily="34" charset="-122"/>
              </a:endParaRPr>
            </a:p>
          </p:txBody>
        </p:sp>
      </p:grpSp>
      <p:grpSp>
        <p:nvGrpSpPr>
          <p:cNvPr id="63" name="组合 62"/>
          <p:cNvGrpSpPr/>
          <p:nvPr/>
        </p:nvGrpSpPr>
        <p:grpSpPr>
          <a:xfrm>
            <a:off x="1574173" y="2062530"/>
            <a:ext cx="2245739" cy="591429"/>
            <a:chOff x="1768956" y="2062530"/>
            <a:chExt cx="2245739" cy="591429"/>
          </a:xfrm>
        </p:grpSpPr>
        <p:sp>
          <p:nvSpPr>
            <p:cNvPr id="15" name="文本框 114"/>
            <p:cNvSpPr txBox="1"/>
            <p:nvPr/>
          </p:nvSpPr>
          <p:spPr>
            <a:xfrm>
              <a:off x="1768956" y="2376960"/>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随机应变，适应市场变化</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6" name="文本框 115"/>
            <p:cNvSpPr txBox="1"/>
            <p:nvPr/>
          </p:nvSpPr>
          <p:spPr>
            <a:xfrm>
              <a:off x="2394695" y="2062530"/>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策略动态调整</a:t>
              </a:r>
              <a:endParaRPr lang="zh-CN" altLang="en-US" dirty="0">
                <a:effectLst/>
                <a:cs typeface="思源黑体 CN Normal" panose="020B0400000000000000" pitchFamily="34" charset="-122"/>
              </a:endParaRPr>
            </a:p>
          </p:txBody>
        </p:sp>
      </p:grpSp>
      <p:grpSp>
        <p:nvGrpSpPr>
          <p:cNvPr id="74" name="组合 73"/>
          <p:cNvGrpSpPr/>
          <p:nvPr/>
        </p:nvGrpSpPr>
        <p:grpSpPr>
          <a:xfrm>
            <a:off x="8333978" y="2062530"/>
            <a:ext cx="2283850" cy="591429"/>
            <a:chOff x="8023108" y="2050759"/>
            <a:chExt cx="2283850" cy="591429"/>
          </a:xfrm>
        </p:grpSpPr>
        <p:sp>
          <p:nvSpPr>
            <p:cNvPr id="42" name="文本框 95"/>
            <p:cNvSpPr txBox="1"/>
            <p:nvPr/>
          </p:nvSpPr>
          <p:spPr>
            <a:xfrm>
              <a:off x="8129795" y="2365189"/>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合理配置，保障项目推进</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3" name="文本框 96"/>
            <p:cNvSpPr txBox="1"/>
            <p:nvPr/>
          </p:nvSpPr>
          <p:spPr>
            <a:xfrm>
              <a:off x="8023108" y="2050759"/>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资源适配评估</a:t>
              </a:r>
              <a:endParaRPr lang="zh-CN" altLang="en-US" dirty="0">
                <a:effectLst/>
                <a:cs typeface="思源黑体 CN Normal" panose="020B0400000000000000" pitchFamily="34" charset="-122"/>
              </a:endParaRPr>
            </a:p>
          </p:txBody>
        </p:sp>
      </p:grpSp>
      <p:grpSp>
        <p:nvGrpSpPr>
          <p:cNvPr id="64" name="组合 63"/>
          <p:cNvGrpSpPr/>
          <p:nvPr/>
        </p:nvGrpSpPr>
        <p:grpSpPr>
          <a:xfrm>
            <a:off x="1247794" y="2888908"/>
            <a:ext cx="2245739" cy="591429"/>
            <a:chOff x="1355665" y="2888908"/>
            <a:chExt cx="2245739" cy="591429"/>
          </a:xfrm>
        </p:grpSpPr>
        <p:sp>
          <p:nvSpPr>
            <p:cNvPr id="17" name="文本框 117"/>
            <p:cNvSpPr txBox="1"/>
            <p:nvPr/>
          </p:nvSpPr>
          <p:spPr>
            <a:xfrm>
              <a:off x="1355665" y="3203338"/>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持续改进，提升项目性能</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8" name="文本框 118"/>
            <p:cNvSpPr txBox="1"/>
            <p:nvPr/>
          </p:nvSpPr>
          <p:spPr>
            <a:xfrm>
              <a:off x="1981404" y="2888908"/>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技术优化调整</a:t>
              </a:r>
              <a:endParaRPr lang="zh-CN" altLang="en-US" dirty="0">
                <a:effectLst/>
                <a:cs typeface="思源黑体 CN Normal" panose="020B0400000000000000" pitchFamily="34" charset="-122"/>
              </a:endParaRPr>
            </a:p>
          </p:txBody>
        </p:sp>
      </p:grpSp>
      <p:grpSp>
        <p:nvGrpSpPr>
          <p:cNvPr id="73" name="组合 72"/>
          <p:cNvGrpSpPr/>
          <p:nvPr/>
        </p:nvGrpSpPr>
        <p:grpSpPr>
          <a:xfrm>
            <a:off x="8660356" y="2888908"/>
            <a:ext cx="2283850" cy="591429"/>
            <a:chOff x="8436399" y="2877137"/>
            <a:chExt cx="2283850" cy="591429"/>
          </a:xfrm>
        </p:grpSpPr>
        <p:sp>
          <p:nvSpPr>
            <p:cNvPr id="44" name="文本框 98"/>
            <p:cNvSpPr txBox="1"/>
            <p:nvPr/>
          </p:nvSpPr>
          <p:spPr>
            <a:xfrm>
              <a:off x="8543086" y="3191567"/>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知人善任，发挥团队优势</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5" name="文本框 99"/>
            <p:cNvSpPr txBox="1"/>
            <p:nvPr/>
          </p:nvSpPr>
          <p:spPr>
            <a:xfrm>
              <a:off x="8436399" y="2877137"/>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团队能力评估</a:t>
              </a:r>
              <a:endParaRPr lang="zh-CN" altLang="en-US" dirty="0">
                <a:effectLst/>
                <a:cs typeface="思源黑体 CN Normal" panose="020B0400000000000000" pitchFamily="34" charset="-122"/>
              </a:endParaRPr>
            </a:p>
          </p:txBody>
        </p:sp>
      </p:grpSp>
      <p:grpSp>
        <p:nvGrpSpPr>
          <p:cNvPr id="65" name="组合 64"/>
          <p:cNvGrpSpPr/>
          <p:nvPr/>
        </p:nvGrpSpPr>
        <p:grpSpPr>
          <a:xfrm>
            <a:off x="1061207" y="3715286"/>
            <a:ext cx="2245739" cy="591429"/>
            <a:chOff x="1215154" y="3715286"/>
            <a:chExt cx="2245739" cy="591429"/>
          </a:xfrm>
        </p:grpSpPr>
        <p:sp>
          <p:nvSpPr>
            <p:cNvPr id="19" name="文本框 120"/>
            <p:cNvSpPr txBox="1"/>
            <p:nvPr/>
          </p:nvSpPr>
          <p:spPr>
            <a:xfrm>
              <a:off x="1215154" y="4029716"/>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合理调配，增强团队战斗力</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20" name="文本框 121"/>
            <p:cNvSpPr txBox="1"/>
            <p:nvPr/>
          </p:nvSpPr>
          <p:spPr>
            <a:xfrm>
              <a:off x="1840893" y="3715286"/>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团队结构调整</a:t>
              </a:r>
              <a:endParaRPr lang="zh-CN" altLang="en-US" dirty="0">
                <a:effectLst/>
                <a:cs typeface="思源黑体 CN Normal" panose="020B0400000000000000" pitchFamily="34" charset="-122"/>
              </a:endParaRPr>
            </a:p>
          </p:txBody>
        </p:sp>
      </p:grpSp>
      <p:grpSp>
        <p:nvGrpSpPr>
          <p:cNvPr id="72" name="组合 71"/>
          <p:cNvGrpSpPr/>
          <p:nvPr/>
        </p:nvGrpSpPr>
        <p:grpSpPr>
          <a:xfrm>
            <a:off x="8846943" y="3715286"/>
            <a:ext cx="2283850" cy="591429"/>
            <a:chOff x="8576909" y="3703515"/>
            <a:chExt cx="2283850" cy="591429"/>
          </a:xfrm>
        </p:grpSpPr>
        <p:sp>
          <p:nvSpPr>
            <p:cNvPr id="46" name="文本框 101"/>
            <p:cNvSpPr txBox="1"/>
            <p:nvPr/>
          </p:nvSpPr>
          <p:spPr>
            <a:xfrm>
              <a:off x="8683596" y="4017945"/>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知己知彼，制定有效策略</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7" name="文本框 102"/>
            <p:cNvSpPr txBox="1"/>
            <p:nvPr/>
          </p:nvSpPr>
          <p:spPr>
            <a:xfrm>
              <a:off x="8576909" y="3703515"/>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竞争态势评估</a:t>
              </a:r>
              <a:endParaRPr lang="zh-CN" altLang="en-US" dirty="0">
                <a:effectLst/>
                <a:cs typeface="思源黑体 CN Normal" panose="020B0400000000000000" pitchFamily="34" charset="-122"/>
              </a:endParaRPr>
            </a:p>
          </p:txBody>
        </p:sp>
      </p:grpSp>
      <p:grpSp>
        <p:nvGrpSpPr>
          <p:cNvPr id="66" name="组合 65"/>
          <p:cNvGrpSpPr/>
          <p:nvPr/>
        </p:nvGrpSpPr>
        <p:grpSpPr>
          <a:xfrm>
            <a:off x="1286050" y="4696985"/>
            <a:ext cx="2245739" cy="591429"/>
            <a:chOff x="1423029" y="4696985"/>
            <a:chExt cx="2245739" cy="591429"/>
          </a:xfrm>
        </p:grpSpPr>
        <p:sp>
          <p:nvSpPr>
            <p:cNvPr id="21" name="文本框 123"/>
            <p:cNvSpPr txBox="1"/>
            <p:nvPr/>
          </p:nvSpPr>
          <p:spPr>
            <a:xfrm>
              <a:off x="1423029" y="5011415"/>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掌握动态，确保按时交付</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22" name="文本框 124"/>
            <p:cNvSpPr txBox="1"/>
            <p:nvPr/>
          </p:nvSpPr>
          <p:spPr>
            <a:xfrm>
              <a:off x="2048768" y="4696985"/>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进度实时监控</a:t>
              </a:r>
              <a:endParaRPr lang="zh-CN" altLang="en-US" dirty="0">
                <a:effectLst/>
                <a:cs typeface="思源黑体 CN Normal" panose="020B0400000000000000" pitchFamily="34" charset="-122"/>
              </a:endParaRPr>
            </a:p>
          </p:txBody>
        </p:sp>
      </p:grpSp>
      <p:grpSp>
        <p:nvGrpSpPr>
          <p:cNvPr id="71" name="组合 70"/>
          <p:cNvGrpSpPr/>
          <p:nvPr/>
        </p:nvGrpSpPr>
        <p:grpSpPr>
          <a:xfrm>
            <a:off x="8622100" y="4696985"/>
            <a:ext cx="2283850" cy="591429"/>
            <a:chOff x="8369034" y="4685214"/>
            <a:chExt cx="2283850" cy="591429"/>
          </a:xfrm>
        </p:grpSpPr>
        <p:sp>
          <p:nvSpPr>
            <p:cNvPr id="48" name="文本框 104"/>
            <p:cNvSpPr txBox="1"/>
            <p:nvPr/>
          </p:nvSpPr>
          <p:spPr>
            <a:xfrm>
              <a:off x="8475721" y="4999644"/>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合理预算，控制成本支出</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9" name="文本框 105"/>
            <p:cNvSpPr txBox="1"/>
            <p:nvPr/>
          </p:nvSpPr>
          <p:spPr>
            <a:xfrm>
              <a:off x="8369034" y="4685214"/>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财务风险防范</a:t>
              </a:r>
              <a:endParaRPr lang="zh-CN" altLang="en-US" dirty="0">
                <a:effectLst/>
                <a:cs typeface="思源黑体 CN Normal" panose="020B0400000000000000" pitchFamily="34" charset="-122"/>
              </a:endParaRPr>
            </a:p>
          </p:txBody>
        </p:sp>
      </p:grpSp>
      <p:grpSp>
        <p:nvGrpSpPr>
          <p:cNvPr id="67" name="组合 66"/>
          <p:cNvGrpSpPr/>
          <p:nvPr/>
        </p:nvGrpSpPr>
        <p:grpSpPr>
          <a:xfrm>
            <a:off x="1896689" y="5378424"/>
            <a:ext cx="2177163" cy="591429"/>
            <a:chOff x="1973895" y="5378424"/>
            <a:chExt cx="2177163" cy="591429"/>
          </a:xfrm>
        </p:grpSpPr>
        <p:sp>
          <p:nvSpPr>
            <p:cNvPr id="23" name="文本框 126"/>
            <p:cNvSpPr txBox="1"/>
            <p:nvPr/>
          </p:nvSpPr>
          <p:spPr>
            <a:xfrm>
              <a:off x="1973895" y="5692854"/>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严格把关，保证项目品质</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24" name="文本框 127"/>
            <p:cNvSpPr txBox="1"/>
            <p:nvPr/>
          </p:nvSpPr>
          <p:spPr>
            <a:xfrm>
              <a:off x="2531058" y="5378424"/>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质量全程监控</a:t>
              </a:r>
              <a:endParaRPr lang="zh-CN" altLang="en-US" dirty="0">
                <a:effectLst/>
                <a:cs typeface="思源黑体 CN Normal" panose="020B0400000000000000" pitchFamily="34" charset="-122"/>
              </a:endParaRPr>
            </a:p>
          </p:txBody>
        </p:sp>
      </p:grpSp>
      <p:grpSp>
        <p:nvGrpSpPr>
          <p:cNvPr id="70" name="组合 69"/>
          <p:cNvGrpSpPr/>
          <p:nvPr/>
        </p:nvGrpSpPr>
        <p:grpSpPr>
          <a:xfrm>
            <a:off x="8118148" y="5378424"/>
            <a:ext cx="2177163" cy="591429"/>
            <a:chOff x="7886744" y="5366653"/>
            <a:chExt cx="2177163" cy="591429"/>
          </a:xfrm>
        </p:grpSpPr>
        <p:sp>
          <p:nvSpPr>
            <p:cNvPr id="50" name="文本框 107"/>
            <p:cNvSpPr txBox="1"/>
            <p:nvPr/>
          </p:nvSpPr>
          <p:spPr>
            <a:xfrm>
              <a:off x="7886744" y="5681083"/>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合规操作，避免法律纠纷</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51" name="文本框 108"/>
            <p:cNvSpPr txBox="1"/>
            <p:nvPr/>
          </p:nvSpPr>
          <p:spPr>
            <a:xfrm>
              <a:off x="7886744" y="5366653"/>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法律风险防范</a:t>
              </a:r>
              <a:endParaRPr lang="zh-CN" altLang="en-US" dirty="0">
                <a:effectLst/>
                <a:cs typeface="思源黑体 CN Normal" panose="020B0400000000000000" pitchFamily="34" charset="-122"/>
              </a:endParaRPr>
            </a:p>
          </p:txBody>
        </p:sp>
      </p:grpSp>
      <p:grpSp>
        <p:nvGrpSpPr>
          <p:cNvPr id="69" name="组合 68"/>
          <p:cNvGrpSpPr/>
          <p:nvPr/>
        </p:nvGrpSpPr>
        <p:grpSpPr>
          <a:xfrm>
            <a:off x="6417319" y="6059863"/>
            <a:ext cx="2227963" cy="591429"/>
            <a:chOff x="6359275" y="6048092"/>
            <a:chExt cx="2227963" cy="591429"/>
          </a:xfrm>
        </p:grpSpPr>
        <p:sp>
          <p:nvSpPr>
            <p:cNvPr id="52" name="文本框 110"/>
            <p:cNvSpPr txBox="1"/>
            <p:nvPr/>
          </p:nvSpPr>
          <p:spPr>
            <a:xfrm>
              <a:off x="6359275" y="6362522"/>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保障安全，消除潜在隐患</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53" name="文本框 111"/>
            <p:cNvSpPr txBox="1"/>
            <p:nvPr/>
          </p:nvSpPr>
          <p:spPr>
            <a:xfrm>
              <a:off x="6967238" y="6048092"/>
              <a:ext cx="1620000" cy="307777"/>
            </a:xfrm>
            <a:prstGeom prst="roundRect">
              <a:avLst>
                <a:gd name="adj" fmla="val 50000"/>
              </a:avLst>
            </a:prstGeom>
            <a:solidFill>
              <a:schemeClr val="accent1"/>
            </a:solidFill>
            <a:ln w="12700">
              <a:solidFill>
                <a:schemeClr val="bg1"/>
              </a:solid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安全风险防范</a:t>
              </a:r>
              <a:endParaRPr lang="zh-CN" altLang="en-US" dirty="0">
                <a:effectLst/>
                <a:cs typeface="思源黑体 CN Normal" panose="020B0400000000000000" pitchFamily="34" charset="-122"/>
              </a:endParaRPr>
            </a:p>
          </p:txBody>
        </p:sp>
      </p:grpSp>
      <p:sp>
        <p:nvSpPr>
          <p:cNvPr id="103"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运营动态汇报</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任意多边形: 形状 97"/>
          <p:cNvSpPr/>
          <p:nvPr/>
        </p:nvSpPr>
        <p:spPr>
          <a:xfrm>
            <a:off x="4559983" y="3618395"/>
            <a:ext cx="3072036" cy="1441977"/>
          </a:xfrm>
          <a:custGeom>
            <a:avLst/>
            <a:gdLst>
              <a:gd name="connsiteX0" fmla="*/ 724945 w 3072036"/>
              <a:gd name="connsiteY0" fmla="*/ 0 h 1441977"/>
              <a:gd name="connsiteX1" fmla="*/ 2347092 w 3072036"/>
              <a:gd name="connsiteY1" fmla="*/ 0 h 1441977"/>
              <a:gd name="connsiteX2" fmla="*/ 2491713 w 3072036"/>
              <a:gd name="connsiteY2" fmla="*/ 330915 h 1441977"/>
              <a:gd name="connsiteX3" fmla="*/ 2710387 w 3072036"/>
              <a:gd name="connsiteY3" fmla="*/ 781559 h 1441977"/>
              <a:gd name="connsiteX4" fmla="*/ 3066850 w 3072036"/>
              <a:gd name="connsiteY4" fmla="*/ 1433439 h 1441977"/>
              <a:gd name="connsiteX5" fmla="*/ 3072036 w 3072036"/>
              <a:gd name="connsiteY5" fmla="*/ 1441977 h 1441977"/>
              <a:gd name="connsiteX6" fmla="*/ 0 w 3072036"/>
              <a:gd name="connsiteY6" fmla="*/ 1441977 h 1441977"/>
              <a:gd name="connsiteX7" fmla="*/ 5186 w 3072036"/>
              <a:gd name="connsiteY7" fmla="*/ 1433439 h 1441977"/>
              <a:gd name="connsiteX8" fmla="*/ 361649 w 3072036"/>
              <a:gd name="connsiteY8" fmla="*/ 781559 h 1441977"/>
              <a:gd name="connsiteX9" fmla="*/ 580323 w 3072036"/>
              <a:gd name="connsiteY9" fmla="*/ 330915 h 1441977"/>
              <a:gd name="connsiteX10" fmla="*/ 724945 w 3072036"/>
              <a:gd name="connsiteY10" fmla="*/ 0 h 144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2036" h="1441977">
                <a:moveTo>
                  <a:pt x="724945" y="0"/>
                </a:moveTo>
                <a:lnTo>
                  <a:pt x="2347092" y="0"/>
                </a:lnTo>
                <a:lnTo>
                  <a:pt x="2491713" y="330915"/>
                </a:lnTo>
                <a:cubicBezTo>
                  <a:pt x="2560127" y="479324"/>
                  <a:pt x="2633088" y="629851"/>
                  <a:pt x="2710387" y="781559"/>
                </a:cubicBezTo>
                <a:cubicBezTo>
                  <a:pt x="2826336" y="1009122"/>
                  <a:pt x="2945872" y="1227225"/>
                  <a:pt x="3066850" y="1433439"/>
                </a:cubicBezTo>
                <a:lnTo>
                  <a:pt x="3072036" y="1441977"/>
                </a:lnTo>
                <a:lnTo>
                  <a:pt x="0" y="1441977"/>
                </a:lnTo>
                <a:lnTo>
                  <a:pt x="5186" y="1433439"/>
                </a:lnTo>
                <a:cubicBezTo>
                  <a:pt x="126165" y="1227225"/>
                  <a:pt x="245700" y="1009122"/>
                  <a:pt x="361649" y="781559"/>
                </a:cubicBezTo>
                <a:cubicBezTo>
                  <a:pt x="438948" y="629851"/>
                  <a:pt x="511909" y="479324"/>
                  <a:pt x="580323" y="330915"/>
                </a:cubicBezTo>
                <a:lnTo>
                  <a:pt x="724945" y="0"/>
                </a:lnTo>
                <a:close/>
              </a:path>
            </a:pathLst>
          </a:custGeom>
          <a:gradFill>
            <a:gsLst>
              <a:gs pos="0">
                <a:schemeClr val="accent3">
                  <a:lumMod val="7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5" name="任意多边形: 形状 94"/>
          <p:cNvSpPr/>
          <p:nvPr/>
        </p:nvSpPr>
        <p:spPr>
          <a:xfrm>
            <a:off x="3402986" y="5168372"/>
            <a:ext cx="5386029" cy="1441978"/>
          </a:xfrm>
          <a:custGeom>
            <a:avLst/>
            <a:gdLst>
              <a:gd name="connsiteX0" fmla="*/ 1091398 w 5386029"/>
              <a:gd name="connsiteY0" fmla="*/ 0 h 1441978"/>
              <a:gd name="connsiteX1" fmla="*/ 4294632 w 5386029"/>
              <a:gd name="connsiteY1" fmla="*/ 0 h 1441978"/>
              <a:gd name="connsiteX2" fmla="*/ 4406128 w 5386029"/>
              <a:gd name="connsiteY2" fmla="*/ 183563 h 1441978"/>
              <a:gd name="connsiteX3" fmla="*/ 5293716 w 5386029"/>
              <a:gd name="connsiteY3" fmla="*/ 1352786 h 1441978"/>
              <a:gd name="connsiteX4" fmla="*/ 5386029 w 5386029"/>
              <a:gd name="connsiteY4" fmla="*/ 1441978 h 1441978"/>
              <a:gd name="connsiteX5" fmla="*/ 0 w 5386029"/>
              <a:gd name="connsiteY5" fmla="*/ 1441978 h 1441978"/>
              <a:gd name="connsiteX6" fmla="*/ 92313 w 5386029"/>
              <a:gd name="connsiteY6" fmla="*/ 1352786 h 1441978"/>
              <a:gd name="connsiteX7" fmla="*/ 979901 w 5386029"/>
              <a:gd name="connsiteY7" fmla="*/ 183563 h 1441978"/>
              <a:gd name="connsiteX8" fmla="*/ 1091398 w 5386029"/>
              <a:gd name="connsiteY8" fmla="*/ 0 h 1441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86029" h="1441978">
                <a:moveTo>
                  <a:pt x="1091398" y="0"/>
                </a:moveTo>
                <a:lnTo>
                  <a:pt x="4294632" y="0"/>
                </a:lnTo>
                <a:lnTo>
                  <a:pt x="4406128" y="183563"/>
                </a:lnTo>
                <a:cubicBezTo>
                  <a:pt x="4710841" y="667857"/>
                  <a:pt x="5017870" y="1070252"/>
                  <a:pt x="5293716" y="1352786"/>
                </a:cubicBezTo>
                <a:lnTo>
                  <a:pt x="5386029" y="1441978"/>
                </a:lnTo>
                <a:lnTo>
                  <a:pt x="0" y="1441978"/>
                </a:lnTo>
                <a:lnTo>
                  <a:pt x="92313" y="1352786"/>
                </a:lnTo>
                <a:cubicBezTo>
                  <a:pt x="368159" y="1070252"/>
                  <a:pt x="675189" y="667857"/>
                  <a:pt x="979901" y="183563"/>
                </a:cubicBezTo>
                <a:lnTo>
                  <a:pt x="1091398" y="0"/>
                </a:lnTo>
                <a:close/>
              </a:path>
            </a:pathLst>
          </a:custGeom>
          <a:gradFill>
            <a:gsLst>
              <a:gs pos="0">
                <a:schemeClr val="accent1"/>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1" name="任意多边形: 形状 100"/>
          <p:cNvSpPr/>
          <p:nvPr/>
        </p:nvSpPr>
        <p:spPr>
          <a:xfrm>
            <a:off x="5026491" y="1782133"/>
            <a:ext cx="2145974" cy="1732912"/>
          </a:xfrm>
          <a:custGeom>
            <a:avLst/>
            <a:gdLst>
              <a:gd name="connsiteX0" fmla="*/ 1072987 w 2145974"/>
              <a:gd name="connsiteY0" fmla="*/ 0 h 1732912"/>
              <a:gd name="connsiteX1" fmla="*/ 2145974 w 2145974"/>
              <a:gd name="connsiteY1" fmla="*/ 792000 h 1732912"/>
              <a:gd name="connsiteX2" fmla="*/ 1501317 w 2145974"/>
              <a:gd name="connsiteY2" fmla="*/ 792000 h 1732912"/>
              <a:gd name="connsiteX3" fmla="*/ 1537899 w 2145974"/>
              <a:gd name="connsiteY3" fmla="*/ 918656 h 1732912"/>
              <a:gd name="connsiteX4" fmla="*/ 1670961 w 2145974"/>
              <a:gd name="connsiteY4" fmla="*/ 1314298 h 1732912"/>
              <a:gd name="connsiteX5" fmla="*/ 1833432 w 2145974"/>
              <a:gd name="connsiteY5" fmla="*/ 1732912 h 1732912"/>
              <a:gd name="connsiteX6" fmla="*/ 305588 w 2145974"/>
              <a:gd name="connsiteY6" fmla="*/ 1732912 h 1732912"/>
              <a:gd name="connsiteX7" fmla="*/ 468059 w 2145974"/>
              <a:gd name="connsiteY7" fmla="*/ 1314298 h 1732912"/>
              <a:gd name="connsiteX8" fmla="*/ 601120 w 2145974"/>
              <a:gd name="connsiteY8" fmla="*/ 918656 h 1732912"/>
              <a:gd name="connsiteX9" fmla="*/ 637703 w 2145974"/>
              <a:gd name="connsiteY9" fmla="*/ 792000 h 1732912"/>
              <a:gd name="connsiteX10" fmla="*/ 0 w 2145974"/>
              <a:gd name="connsiteY10" fmla="*/ 792000 h 173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5974" h="1732912">
                <a:moveTo>
                  <a:pt x="1072987" y="0"/>
                </a:moveTo>
                <a:lnTo>
                  <a:pt x="2145974" y="792000"/>
                </a:lnTo>
                <a:lnTo>
                  <a:pt x="1501317" y="792000"/>
                </a:lnTo>
                <a:lnTo>
                  <a:pt x="1537899" y="918656"/>
                </a:lnTo>
                <a:cubicBezTo>
                  <a:pt x="1577149" y="1045919"/>
                  <a:pt x="1621572" y="1178112"/>
                  <a:pt x="1670961" y="1314298"/>
                </a:cubicBezTo>
                <a:lnTo>
                  <a:pt x="1833432" y="1732912"/>
                </a:lnTo>
                <a:lnTo>
                  <a:pt x="305588" y="1732912"/>
                </a:lnTo>
                <a:lnTo>
                  <a:pt x="468059" y="1314298"/>
                </a:lnTo>
                <a:cubicBezTo>
                  <a:pt x="517447" y="1178112"/>
                  <a:pt x="561871" y="1045919"/>
                  <a:pt x="601120" y="918656"/>
                </a:cubicBezTo>
                <a:lnTo>
                  <a:pt x="637703" y="792000"/>
                </a:lnTo>
                <a:lnTo>
                  <a:pt x="0" y="792000"/>
                </a:lnTo>
                <a:close/>
              </a:path>
            </a:pathLst>
          </a:custGeom>
          <a:gradFill>
            <a:gsLst>
              <a:gs pos="0">
                <a:schemeClr val="accent3"/>
              </a:gs>
              <a:gs pos="100000">
                <a:schemeClr val="accent3">
                  <a:lumMod val="7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6" name="文本框 35"/>
          <p:cNvSpPr txBox="1"/>
          <p:nvPr/>
        </p:nvSpPr>
        <p:spPr>
          <a:xfrm>
            <a:off x="5014849" y="6040577"/>
            <a:ext cx="2160000" cy="369332"/>
          </a:xfrm>
          <a:prstGeom prst="rect">
            <a:avLst/>
          </a:prstGeom>
          <a:noFill/>
        </p:spPr>
        <p:txBody>
          <a:bodyPr wrap="square">
            <a:sp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需求破壁 精准定义</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8" name="文本框 47"/>
          <p:cNvSpPr txBox="1"/>
          <p:nvPr/>
        </p:nvSpPr>
        <p:spPr>
          <a:xfrm>
            <a:off x="5016000" y="4460341"/>
            <a:ext cx="2160000" cy="369332"/>
          </a:xfrm>
          <a:prstGeom prst="rect">
            <a:avLst/>
          </a:prstGeom>
          <a:noFill/>
        </p:spPr>
        <p:txBody>
          <a:bodyPr wrap="square">
            <a:sp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材料跃迁 性能倍增</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9" name="文本框 48"/>
          <p:cNvSpPr txBox="1"/>
          <p:nvPr/>
        </p:nvSpPr>
        <p:spPr>
          <a:xfrm>
            <a:off x="5438317" y="2841204"/>
            <a:ext cx="1315366" cy="646331"/>
          </a:xfrm>
          <a:prstGeom prst="rect">
            <a:avLst/>
          </a:prstGeom>
          <a:noFill/>
        </p:spPr>
        <p:txBody>
          <a:bodyPr wrap="square">
            <a:sp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智联闭环</a:t>
            </a:r>
            <a:endParaRPr lang="en-US" altLang="zh-CN"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动态进化</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1" name="组合 10"/>
          <p:cNvGrpSpPr/>
          <p:nvPr/>
        </p:nvGrpSpPr>
        <p:grpSpPr>
          <a:xfrm>
            <a:off x="6704817" y="2073069"/>
            <a:ext cx="5148000" cy="4537281"/>
            <a:chOff x="6528063" y="2073069"/>
            <a:chExt cx="5148000" cy="4537281"/>
          </a:xfrm>
        </p:grpSpPr>
        <p:grpSp>
          <p:nvGrpSpPr>
            <p:cNvPr id="137" name="组合 136"/>
            <p:cNvGrpSpPr/>
            <p:nvPr/>
          </p:nvGrpSpPr>
          <p:grpSpPr>
            <a:xfrm flipH="1">
              <a:off x="6528063" y="2073069"/>
              <a:ext cx="5148000" cy="1441976"/>
              <a:chOff x="661031" y="1958814"/>
              <a:chExt cx="5148000" cy="1008000"/>
            </a:xfrm>
          </p:grpSpPr>
          <p:sp>
            <p:nvSpPr>
              <p:cNvPr id="144" name="矩形 143"/>
              <p:cNvSpPr/>
              <p:nvPr/>
            </p:nvSpPr>
            <p:spPr>
              <a:xfrm>
                <a:off x="661031" y="1958814"/>
                <a:ext cx="5148000" cy="1008000"/>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45" name="直接连接符 144"/>
              <p:cNvCxnSpPr/>
              <p:nvPr/>
            </p:nvCxnSpPr>
            <p:spPr>
              <a:xfrm flipH="1">
                <a:off x="661032" y="1958814"/>
                <a:ext cx="1" cy="1008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38" name="组合 137"/>
            <p:cNvGrpSpPr/>
            <p:nvPr/>
          </p:nvGrpSpPr>
          <p:grpSpPr>
            <a:xfrm flipH="1">
              <a:off x="6528063" y="3619558"/>
              <a:ext cx="5148000" cy="1444303"/>
              <a:chOff x="528637" y="3618395"/>
              <a:chExt cx="5148000" cy="1444303"/>
            </a:xfrm>
          </p:grpSpPr>
          <p:sp>
            <p:nvSpPr>
              <p:cNvPr id="142" name="矩形 141"/>
              <p:cNvSpPr/>
              <p:nvPr/>
            </p:nvSpPr>
            <p:spPr>
              <a:xfrm>
                <a:off x="528637" y="3618395"/>
                <a:ext cx="5148000" cy="1441976"/>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43" name="直接连接符 142"/>
              <p:cNvCxnSpPr/>
              <p:nvPr/>
            </p:nvCxnSpPr>
            <p:spPr>
              <a:xfrm flipH="1">
                <a:off x="528638" y="3620722"/>
                <a:ext cx="1" cy="144197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39" name="组合 138"/>
            <p:cNvGrpSpPr/>
            <p:nvPr/>
          </p:nvGrpSpPr>
          <p:grpSpPr>
            <a:xfrm flipH="1">
              <a:off x="6528063" y="5168374"/>
              <a:ext cx="5148000" cy="1441976"/>
              <a:chOff x="661031" y="1958814"/>
              <a:chExt cx="5148000" cy="1008000"/>
            </a:xfrm>
          </p:grpSpPr>
          <p:sp>
            <p:nvSpPr>
              <p:cNvPr id="140" name="矩形 139"/>
              <p:cNvSpPr/>
              <p:nvPr/>
            </p:nvSpPr>
            <p:spPr>
              <a:xfrm>
                <a:off x="661031" y="1958814"/>
                <a:ext cx="5148000" cy="1008000"/>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41" name="直接连接符 140"/>
              <p:cNvCxnSpPr/>
              <p:nvPr/>
            </p:nvCxnSpPr>
            <p:spPr>
              <a:xfrm flipH="1">
                <a:off x="661032" y="1958814"/>
                <a:ext cx="1" cy="1008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20" name="组合 119"/>
            <p:cNvGrpSpPr/>
            <p:nvPr/>
          </p:nvGrpSpPr>
          <p:grpSpPr>
            <a:xfrm>
              <a:off x="8947467" y="5310100"/>
              <a:ext cx="2484000" cy="1137837"/>
              <a:chOff x="8947467" y="5281813"/>
              <a:chExt cx="2484000" cy="1137837"/>
            </a:xfrm>
          </p:grpSpPr>
          <p:sp>
            <p:nvSpPr>
              <p:cNvPr id="39" name="文本框 38"/>
              <p:cNvSpPr txBox="1"/>
              <p:nvPr/>
            </p:nvSpPr>
            <p:spPr>
              <a:xfrm>
                <a:off x="9775467" y="5281813"/>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实施策略</a:t>
                </a:r>
                <a:endParaRPr lang="zh-CN" altLang="en-US" sz="1800" dirty="0">
                  <a:effectLst/>
                  <a:cs typeface="思源黑体 CN Normal" panose="020B0400000000000000" pitchFamily="34" charset="-122"/>
                </a:endParaRPr>
              </a:p>
            </p:txBody>
          </p:sp>
          <p:grpSp>
            <p:nvGrpSpPr>
              <p:cNvPr id="50" name="组合 49"/>
              <p:cNvGrpSpPr/>
              <p:nvPr/>
            </p:nvGrpSpPr>
            <p:grpSpPr>
              <a:xfrm>
                <a:off x="8947467" y="5758330"/>
                <a:ext cx="2484000" cy="661320"/>
                <a:chOff x="8745555" y="5598183"/>
                <a:chExt cx="2782916" cy="661320"/>
              </a:xfrm>
            </p:grpSpPr>
            <p:sp>
              <p:nvSpPr>
                <p:cNvPr id="40" name="文本框 39"/>
                <p:cNvSpPr txBox="1"/>
                <p:nvPr/>
              </p:nvSpPr>
              <p:spPr>
                <a:xfrm>
                  <a:off x="8745555" y="5598183"/>
                  <a:ext cx="1368000" cy="288000"/>
                </a:xfrm>
                <a:prstGeom prst="roundRect">
                  <a:avLst>
                    <a:gd name="adj" fmla="val 8819"/>
                  </a:avLst>
                </a:prstGeom>
                <a:solidFill>
                  <a:schemeClr val="accent1">
                    <a:lumMod val="20000"/>
                    <a:lumOff val="80000"/>
                    <a:alpha val="40000"/>
                  </a:schemeClr>
                </a:solidFill>
                <a:ln w="3175">
                  <a:solidFill>
                    <a:schemeClr val="accent1"/>
                  </a:solidFill>
                </a:ln>
              </p:spPr>
              <p:txBody>
                <a:bodyPr wrap="square" lIns="0" tIns="0" rIns="0" bIns="0" anchor="ctr">
                  <a:noAutofit/>
                </a:bodyPr>
                <a:lstStyle/>
                <a:p>
                  <a:pPr algn="ctr" fontAlgn="base"/>
                  <a:r>
                    <a:rPr lang="zh-CN" altLang="en-US" sz="1200" b="0" i="0" dirty="0">
                      <a:latin typeface="思源黑体 CN Normal" panose="020B0400000000000000" pitchFamily="34" charset="-122"/>
                      <a:cs typeface="思源黑体 CN Normal" panose="020B0400000000000000" pitchFamily="34" charset="-122"/>
                    </a:rPr>
                    <a:t>产线跟拍</a:t>
                  </a:r>
                  <a:r>
                    <a:rPr lang="en-US" altLang="zh-CN" sz="1200" b="0" i="0" dirty="0">
                      <a:latin typeface="思源黑体 CN Normal" panose="020B0400000000000000" pitchFamily="34" charset="-122"/>
                      <a:cs typeface="思源黑体 CN Normal" panose="020B0400000000000000" pitchFamily="34" charset="-122"/>
                    </a:rPr>
                    <a:t>6</a:t>
                  </a:r>
                  <a:r>
                    <a:rPr lang="zh-CN" altLang="en-US" sz="1200" b="0" i="0" dirty="0">
                      <a:latin typeface="思源黑体 CN Normal" panose="020B0400000000000000" pitchFamily="34" charset="-122"/>
                      <a:cs typeface="思源黑体 CN Normal" panose="020B0400000000000000" pitchFamily="34" charset="-122"/>
                    </a:rPr>
                    <a:t>小时</a:t>
                  </a:r>
                  <a:endParaRPr lang="zh-CN" altLang="en-US" sz="1200" b="0" i="0" dirty="0">
                    <a:latin typeface="思源黑体 CN Normal" panose="020B0400000000000000" pitchFamily="34" charset="-122"/>
                    <a:cs typeface="思源黑体 CN Normal" panose="020B0400000000000000" pitchFamily="34" charset="-122"/>
                  </a:endParaRPr>
                </a:p>
              </p:txBody>
            </p:sp>
            <p:sp>
              <p:nvSpPr>
                <p:cNvPr id="41" name="文本框 40"/>
                <p:cNvSpPr txBox="1"/>
                <p:nvPr/>
              </p:nvSpPr>
              <p:spPr>
                <a:xfrm>
                  <a:off x="10160471" y="5598183"/>
                  <a:ext cx="1368000" cy="288000"/>
                </a:xfrm>
                <a:prstGeom prst="roundRect">
                  <a:avLst>
                    <a:gd name="adj" fmla="val 7297"/>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误差溯源仪测</a:t>
                  </a:r>
                  <a:endParaRPr lang="zh-CN" altLang="en-US" dirty="0">
                    <a:latin typeface="思源黑体 CN Normal" panose="020B0400000000000000" pitchFamily="34" charset="-122"/>
                    <a:cs typeface="思源黑体 CN Normal" panose="020B0400000000000000" pitchFamily="34" charset="-122"/>
                  </a:endParaRPr>
                </a:p>
              </p:txBody>
            </p:sp>
            <p:sp>
              <p:nvSpPr>
                <p:cNvPr id="42" name="文本框 41"/>
                <p:cNvSpPr txBox="1"/>
                <p:nvPr/>
              </p:nvSpPr>
              <p:spPr>
                <a:xfrm>
                  <a:off x="8745555" y="5971503"/>
                  <a:ext cx="1368000" cy="288000"/>
                </a:xfrm>
                <a:prstGeom prst="roundRect">
                  <a:avLst>
                    <a:gd name="adj" fmla="val 6745"/>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成本数据建模</a:t>
                  </a:r>
                  <a:endParaRPr lang="zh-CN" altLang="en-US" dirty="0">
                    <a:latin typeface="思源黑体 CN Normal" panose="020B0400000000000000" pitchFamily="34" charset="-122"/>
                    <a:cs typeface="思源黑体 CN Normal" panose="020B0400000000000000" pitchFamily="34" charset="-122"/>
                  </a:endParaRPr>
                </a:p>
              </p:txBody>
            </p:sp>
            <p:sp>
              <p:nvSpPr>
                <p:cNvPr id="43" name="文本框 42"/>
                <p:cNvSpPr txBox="1"/>
                <p:nvPr/>
              </p:nvSpPr>
              <p:spPr>
                <a:xfrm>
                  <a:off x="10160471" y="5971503"/>
                  <a:ext cx="1368000" cy="288000"/>
                </a:xfrm>
                <a:prstGeom prst="roundRect">
                  <a:avLst>
                    <a:gd name="adj" fmla="val 7848"/>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访谈</a:t>
                  </a:r>
                  <a:r>
                    <a:rPr lang="en-US" altLang="zh-CN" dirty="0">
                      <a:latin typeface="思源黑体 CN Normal" panose="020B0400000000000000" pitchFamily="34" charset="-122"/>
                      <a:cs typeface="思源黑体 CN Normal" panose="020B0400000000000000" pitchFamily="34" charset="-122"/>
                    </a:rPr>
                    <a:t>30</a:t>
                  </a:r>
                  <a:r>
                    <a:rPr lang="zh-CN" altLang="en-US" dirty="0">
                      <a:latin typeface="思源黑体 CN Normal" panose="020B0400000000000000" pitchFamily="34" charset="-122"/>
                      <a:cs typeface="思源黑体 CN Normal" panose="020B0400000000000000" pitchFamily="34" charset="-122"/>
                    </a:rPr>
                    <a:t>位技师</a:t>
                  </a:r>
                  <a:endParaRPr lang="zh-CN" altLang="en-US" dirty="0">
                    <a:latin typeface="思源黑体 CN Normal" panose="020B0400000000000000" pitchFamily="34" charset="-122"/>
                    <a:cs typeface="思源黑体 CN Normal" panose="020B0400000000000000" pitchFamily="34" charset="-122"/>
                  </a:endParaRPr>
                </a:p>
              </p:txBody>
            </p:sp>
          </p:grpSp>
        </p:grpSp>
        <p:grpSp>
          <p:nvGrpSpPr>
            <p:cNvPr id="119" name="组合 118"/>
            <p:cNvGrpSpPr/>
            <p:nvPr/>
          </p:nvGrpSpPr>
          <p:grpSpPr>
            <a:xfrm>
              <a:off x="8947467" y="3760121"/>
              <a:ext cx="2484000" cy="1137837"/>
              <a:chOff x="8947467" y="3731431"/>
              <a:chExt cx="2484000" cy="1137837"/>
            </a:xfrm>
          </p:grpSpPr>
          <p:sp>
            <p:nvSpPr>
              <p:cNvPr id="53" name="文本框 52"/>
              <p:cNvSpPr txBox="1"/>
              <p:nvPr/>
            </p:nvSpPr>
            <p:spPr>
              <a:xfrm>
                <a:off x="9775467" y="3731431"/>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检测策略</a:t>
                </a:r>
                <a:endParaRPr lang="zh-CN" altLang="en-US" sz="1800" dirty="0">
                  <a:effectLst/>
                  <a:cs typeface="思源黑体 CN Normal" panose="020B0400000000000000" pitchFamily="34" charset="-122"/>
                </a:endParaRPr>
              </a:p>
            </p:txBody>
          </p:sp>
          <p:grpSp>
            <p:nvGrpSpPr>
              <p:cNvPr id="54" name="组合 53"/>
              <p:cNvGrpSpPr/>
              <p:nvPr/>
            </p:nvGrpSpPr>
            <p:grpSpPr>
              <a:xfrm>
                <a:off x="8947467" y="4207948"/>
                <a:ext cx="2484000" cy="661320"/>
                <a:chOff x="8745555" y="5598183"/>
                <a:chExt cx="2782916" cy="661320"/>
              </a:xfrm>
            </p:grpSpPr>
            <p:sp>
              <p:nvSpPr>
                <p:cNvPr id="57" name="文本框 56"/>
                <p:cNvSpPr txBox="1"/>
                <p:nvPr/>
              </p:nvSpPr>
              <p:spPr>
                <a:xfrm>
                  <a:off x="8745555" y="5598183"/>
                  <a:ext cx="1368000" cy="288000"/>
                </a:xfrm>
                <a:prstGeom prst="roundRect">
                  <a:avLst>
                    <a:gd name="adj" fmla="val 8819"/>
                  </a:avLst>
                </a:prstGeom>
                <a:solidFill>
                  <a:schemeClr val="accent1">
                    <a:lumMod val="20000"/>
                    <a:lumOff val="80000"/>
                    <a:alpha val="40000"/>
                  </a:schemeClr>
                </a:solidFill>
                <a:ln w="3175">
                  <a:solidFill>
                    <a:schemeClr val="accent1"/>
                  </a:solidFill>
                </a:ln>
              </p:spPr>
              <p:txBody>
                <a:bodyPr wrap="square" lIns="0" tIns="0" rIns="0" bIns="0" anchor="ctr">
                  <a:noAutofit/>
                </a:bodyPr>
                <a:lstStyle/>
                <a:p>
                  <a:pPr algn="ctr" fontAlgn="base"/>
                  <a:r>
                    <a:rPr lang="zh-CN" altLang="en-US" sz="1200" b="0" i="0" dirty="0">
                      <a:latin typeface="思源黑体 CN Normal" panose="020B0400000000000000" pitchFamily="34" charset="-122"/>
                      <a:cs typeface="思源黑体 CN Normal" panose="020B0400000000000000" pitchFamily="34" charset="-122"/>
                    </a:rPr>
                    <a:t>纤维层</a:t>
                  </a:r>
                  <a:r>
                    <a:rPr lang="en-US" altLang="zh-CN" sz="1200" b="0" i="0" dirty="0">
                      <a:latin typeface="思源黑体 CN Normal" panose="020B0400000000000000" pitchFamily="34" charset="-122"/>
                      <a:cs typeface="思源黑体 CN Normal" panose="020B0400000000000000" pitchFamily="34" charset="-122"/>
                    </a:rPr>
                    <a:t>7</a:t>
                  </a:r>
                  <a:r>
                    <a:rPr lang="zh-CN" altLang="en-US" sz="1200" b="0" i="0" dirty="0">
                      <a:latin typeface="思源黑体 CN Normal" panose="020B0400000000000000" pitchFamily="34" charset="-122"/>
                      <a:cs typeface="思源黑体 CN Normal" panose="020B0400000000000000" pitchFamily="34" charset="-122"/>
                    </a:rPr>
                    <a:t>向仿真</a:t>
                  </a:r>
                  <a:endParaRPr lang="zh-CN" altLang="en-US" sz="1200" b="0" i="0" dirty="0">
                    <a:latin typeface="思源黑体 CN Normal" panose="020B0400000000000000" pitchFamily="34" charset="-122"/>
                    <a:cs typeface="思源黑体 CN Normal" panose="020B0400000000000000" pitchFamily="34" charset="-122"/>
                  </a:endParaRPr>
                </a:p>
              </p:txBody>
            </p:sp>
            <p:sp>
              <p:nvSpPr>
                <p:cNvPr id="58" name="文本框 57"/>
                <p:cNvSpPr txBox="1"/>
                <p:nvPr/>
              </p:nvSpPr>
              <p:spPr>
                <a:xfrm>
                  <a:off x="10160471" y="5598183"/>
                  <a:ext cx="1368000" cy="288000"/>
                </a:xfrm>
                <a:prstGeom prst="roundRect">
                  <a:avLst>
                    <a:gd name="adj" fmla="val 7297"/>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钛合金打印晶格</a:t>
                  </a:r>
                  <a:endParaRPr lang="zh-CN" altLang="en-US" dirty="0">
                    <a:latin typeface="思源黑体 CN Normal" panose="020B0400000000000000" pitchFamily="34" charset="-122"/>
                    <a:cs typeface="思源黑体 CN Normal" panose="020B0400000000000000" pitchFamily="34" charset="-122"/>
                  </a:endParaRPr>
                </a:p>
              </p:txBody>
            </p:sp>
            <p:sp>
              <p:nvSpPr>
                <p:cNvPr id="59" name="文本框 58"/>
                <p:cNvSpPr txBox="1"/>
                <p:nvPr/>
              </p:nvSpPr>
              <p:spPr>
                <a:xfrm>
                  <a:off x="8745555" y="5971503"/>
                  <a:ext cx="1368000" cy="288000"/>
                </a:xfrm>
                <a:prstGeom prst="roundRect">
                  <a:avLst>
                    <a:gd name="adj" fmla="val 6745"/>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模态试验</a:t>
                  </a:r>
                  <a:r>
                    <a:rPr lang="en-US" altLang="zh-CN" dirty="0">
                      <a:latin typeface="思源黑体 CN Normal" panose="020B0400000000000000" pitchFamily="34" charset="-122"/>
                      <a:cs typeface="思源黑体 CN Normal" panose="020B0400000000000000" pitchFamily="34" charset="-122"/>
                    </a:rPr>
                    <a:t>120Hz</a:t>
                  </a:r>
                  <a:endParaRPr lang="zh-CN" altLang="en-US" dirty="0">
                    <a:latin typeface="思源黑体 CN Normal" panose="020B0400000000000000" pitchFamily="34" charset="-122"/>
                    <a:cs typeface="思源黑体 CN Normal" panose="020B0400000000000000" pitchFamily="34" charset="-122"/>
                  </a:endParaRPr>
                </a:p>
              </p:txBody>
            </p:sp>
            <p:sp>
              <p:nvSpPr>
                <p:cNvPr id="60" name="文本框 59"/>
                <p:cNvSpPr txBox="1"/>
                <p:nvPr/>
              </p:nvSpPr>
              <p:spPr>
                <a:xfrm>
                  <a:off x="10160471" y="5971503"/>
                  <a:ext cx="1368000" cy="288000"/>
                </a:xfrm>
                <a:prstGeom prst="roundRect">
                  <a:avLst>
                    <a:gd name="adj" fmla="val 7848"/>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台架</a:t>
                  </a:r>
                  <a:r>
                    <a:rPr lang="en-US" altLang="zh-CN" dirty="0">
                      <a:latin typeface="思源黑体 CN Normal" panose="020B0400000000000000" pitchFamily="34" charset="-122"/>
                      <a:cs typeface="思源黑体 CN Normal" panose="020B0400000000000000" pitchFamily="34" charset="-122"/>
                    </a:rPr>
                    <a:t>10</a:t>
                  </a:r>
                  <a:r>
                    <a:rPr lang="zh-CN" altLang="en-US" dirty="0">
                      <a:latin typeface="思源黑体 CN Normal" panose="020B0400000000000000" pitchFamily="34" charset="-122"/>
                      <a:cs typeface="思源黑体 CN Normal" panose="020B0400000000000000" pitchFamily="34" charset="-122"/>
                    </a:rPr>
                    <a:t>万次验证</a:t>
                  </a:r>
                  <a:endParaRPr lang="zh-CN" altLang="en-US" dirty="0">
                    <a:latin typeface="思源黑体 CN Normal" panose="020B0400000000000000" pitchFamily="34" charset="-122"/>
                    <a:cs typeface="思源黑体 CN Normal" panose="020B0400000000000000" pitchFamily="34" charset="-122"/>
                  </a:endParaRPr>
                </a:p>
              </p:txBody>
            </p:sp>
          </p:grpSp>
        </p:grpSp>
        <p:grpSp>
          <p:nvGrpSpPr>
            <p:cNvPr id="118" name="组合 117"/>
            <p:cNvGrpSpPr/>
            <p:nvPr/>
          </p:nvGrpSpPr>
          <p:grpSpPr>
            <a:xfrm>
              <a:off x="8947467" y="2214251"/>
              <a:ext cx="2484000" cy="1137837"/>
              <a:chOff x="8947467" y="2270071"/>
              <a:chExt cx="2484000" cy="1137837"/>
            </a:xfrm>
          </p:grpSpPr>
          <p:sp>
            <p:nvSpPr>
              <p:cNvPr id="62" name="文本框 61"/>
              <p:cNvSpPr txBox="1"/>
              <p:nvPr/>
            </p:nvSpPr>
            <p:spPr>
              <a:xfrm>
                <a:off x="9775467" y="2270071"/>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技术策略</a:t>
                </a:r>
                <a:endParaRPr lang="zh-CN" altLang="en-US" sz="1800" dirty="0">
                  <a:effectLst/>
                  <a:cs typeface="思源黑体 CN Normal" panose="020B0400000000000000" pitchFamily="34" charset="-122"/>
                </a:endParaRPr>
              </a:p>
            </p:txBody>
          </p:sp>
          <p:grpSp>
            <p:nvGrpSpPr>
              <p:cNvPr id="63" name="组合 62"/>
              <p:cNvGrpSpPr/>
              <p:nvPr/>
            </p:nvGrpSpPr>
            <p:grpSpPr>
              <a:xfrm>
                <a:off x="8947467" y="2746588"/>
                <a:ext cx="2484000" cy="661320"/>
                <a:chOff x="8745555" y="5598183"/>
                <a:chExt cx="2782916" cy="661320"/>
              </a:xfrm>
            </p:grpSpPr>
            <p:sp>
              <p:nvSpPr>
                <p:cNvPr id="66" name="文本框 65"/>
                <p:cNvSpPr txBox="1"/>
                <p:nvPr/>
              </p:nvSpPr>
              <p:spPr>
                <a:xfrm>
                  <a:off x="8745555" y="5598183"/>
                  <a:ext cx="1368000" cy="288000"/>
                </a:xfrm>
                <a:prstGeom prst="roundRect">
                  <a:avLst>
                    <a:gd name="adj" fmla="val 8819"/>
                  </a:avLst>
                </a:prstGeom>
                <a:solidFill>
                  <a:schemeClr val="accent1">
                    <a:lumMod val="20000"/>
                    <a:lumOff val="80000"/>
                    <a:alpha val="40000"/>
                  </a:schemeClr>
                </a:solidFill>
                <a:ln w="3175">
                  <a:solidFill>
                    <a:schemeClr val="accent1"/>
                  </a:solidFill>
                </a:ln>
              </p:spPr>
              <p:txBody>
                <a:bodyPr wrap="square" lIns="0" tIns="0" rIns="0" bIns="0" anchor="ctr">
                  <a:noAutofit/>
                </a:bodyPr>
                <a:lstStyle/>
                <a:p>
                  <a:pPr algn="ctr" fontAlgn="base"/>
                  <a:r>
                    <a:rPr lang="zh-CN" altLang="en-US" sz="1200" b="0" i="0" dirty="0">
                      <a:latin typeface="思源黑体 CN Normal" panose="020B0400000000000000" pitchFamily="34" charset="-122"/>
                      <a:cs typeface="思源黑体 CN Normal" panose="020B0400000000000000" pitchFamily="34" charset="-122"/>
                    </a:rPr>
                    <a:t>传感阵列布控</a:t>
                  </a:r>
                  <a:endParaRPr lang="zh-CN" altLang="en-US" sz="1200" b="0" i="0" dirty="0">
                    <a:latin typeface="思源黑体 CN Normal" panose="020B0400000000000000" pitchFamily="34" charset="-122"/>
                    <a:cs typeface="思源黑体 CN Normal" panose="020B0400000000000000" pitchFamily="34" charset="-122"/>
                  </a:endParaRPr>
                </a:p>
              </p:txBody>
            </p:sp>
            <p:sp>
              <p:nvSpPr>
                <p:cNvPr id="67" name="文本框 66"/>
                <p:cNvSpPr txBox="1"/>
                <p:nvPr/>
              </p:nvSpPr>
              <p:spPr>
                <a:xfrm>
                  <a:off x="10160471" y="5598183"/>
                  <a:ext cx="1368000" cy="288000"/>
                </a:xfrm>
                <a:prstGeom prst="roundRect">
                  <a:avLst>
                    <a:gd name="adj" fmla="val 7297"/>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边缘计算延迟</a:t>
                  </a:r>
                  <a:endParaRPr lang="zh-CN" altLang="en-US" dirty="0">
                    <a:latin typeface="思源黑体 CN Normal" panose="020B0400000000000000" pitchFamily="34" charset="-122"/>
                    <a:cs typeface="思源黑体 CN Normal" panose="020B0400000000000000" pitchFamily="34" charset="-122"/>
                  </a:endParaRPr>
                </a:p>
              </p:txBody>
            </p:sp>
            <p:sp>
              <p:nvSpPr>
                <p:cNvPr id="68" name="文本框 67"/>
                <p:cNvSpPr txBox="1"/>
                <p:nvPr/>
              </p:nvSpPr>
              <p:spPr>
                <a:xfrm>
                  <a:off x="8745555" y="5971503"/>
                  <a:ext cx="1368000" cy="288000"/>
                </a:xfrm>
                <a:prstGeom prst="roundRect">
                  <a:avLst>
                    <a:gd name="adj" fmla="val 6745"/>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云端实时校准</a:t>
                  </a:r>
                  <a:endParaRPr lang="zh-CN" altLang="en-US" dirty="0">
                    <a:latin typeface="思源黑体 CN Normal" panose="020B0400000000000000" pitchFamily="34" charset="-122"/>
                    <a:cs typeface="思源黑体 CN Normal" panose="020B0400000000000000" pitchFamily="34" charset="-122"/>
                  </a:endParaRPr>
                </a:p>
              </p:txBody>
            </p:sp>
            <p:sp>
              <p:nvSpPr>
                <p:cNvPr id="69" name="文本框 68"/>
                <p:cNvSpPr txBox="1"/>
                <p:nvPr/>
              </p:nvSpPr>
              <p:spPr>
                <a:xfrm>
                  <a:off x="10160471" y="5971503"/>
                  <a:ext cx="1368000" cy="288000"/>
                </a:xfrm>
                <a:prstGeom prst="roundRect">
                  <a:avLst>
                    <a:gd name="adj" fmla="val 7848"/>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en-US" altLang="zh-CN" dirty="0">
                      <a:latin typeface="思源黑体 CN Normal" panose="020B0400000000000000" pitchFamily="34" charset="-122"/>
                      <a:cs typeface="思源黑体 CN Normal" panose="020B0400000000000000" pitchFamily="34" charset="-122"/>
                    </a:rPr>
                    <a:t>OTA </a:t>
                  </a:r>
                  <a:r>
                    <a:rPr lang="zh-CN" altLang="en-US" dirty="0">
                      <a:latin typeface="思源黑体 CN Normal" panose="020B0400000000000000" pitchFamily="34" charset="-122"/>
                      <a:cs typeface="思源黑体 CN Normal" panose="020B0400000000000000" pitchFamily="34" charset="-122"/>
                    </a:rPr>
                    <a:t>升级迭代</a:t>
                  </a:r>
                  <a:endParaRPr lang="zh-CN" altLang="en-US" dirty="0">
                    <a:latin typeface="思源黑体 CN Normal" panose="020B0400000000000000" pitchFamily="34" charset="-122"/>
                    <a:cs typeface="思源黑体 CN Normal" panose="020B0400000000000000" pitchFamily="34" charset="-122"/>
                  </a:endParaRPr>
                </a:p>
              </p:txBody>
            </p:sp>
          </p:grpSp>
        </p:grpSp>
      </p:grpSp>
      <p:grpSp>
        <p:nvGrpSpPr>
          <p:cNvPr id="10" name="组合 9"/>
          <p:cNvGrpSpPr/>
          <p:nvPr/>
        </p:nvGrpSpPr>
        <p:grpSpPr>
          <a:xfrm>
            <a:off x="334964" y="2073069"/>
            <a:ext cx="5148000" cy="4537281"/>
            <a:chOff x="528637" y="2073069"/>
            <a:chExt cx="5148000" cy="4537281"/>
          </a:xfrm>
        </p:grpSpPr>
        <p:grpSp>
          <p:nvGrpSpPr>
            <p:cNvPr id="108" name="组合 107"/>
            <p:cNvGrpSpPr/>
            <p:nvPr/>
          </p:nvGrpSpPr>
          <p:grpSpPr>
            <a:xfrm>
              <a:off x="528637" y="2073069"/>
              <a:ext cx="5148000" cy="1441976"/>
              <a:chOff x="661031" y="1958814"/>
              <a:chExt cx="5148000" cy="1008000"/>
            </a:xfrm>
          </p:grpSpPr>
          <p:sp>
            <p:nvSpPr>
              <p:cNvPr id="106" name="矩形 105"/>
              <p:cNvSpPr/>
              <p:nvPr/>
            </p:nvSpPr>
            <p:spPr>
              <a:xfrm>
                <a:off x="661031" y="1958814"/>
                <a:ext cx="5148000" cy="1008000"/>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07" name="直接连接符 106"/>
              <p:cNvCxnSpPr/>
              <p:nvPr/>
            </p:nvCxnSpPr>
            <p:spPr>
              <a:xfrm flipH="1">
                <a:off x="661032" y="1958814"/>
                <a:ext cx="1" cy="1008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24" name="组合 123"/>
            <p:cNvGrpSpPr/>
            <p:nvPr/>
          </p:nvGrpSpPr>
          <p:grpSpPr>
            <a:xfrm>
              <a:off x="528637" y="3619558"/>
              <a:ext cx="5148000" cy="1444303"/>
              <a:chOff x="528637" y="3618395"/>
              <a:chExt cx="5148000" cy="1444303"/>
            </a:xfrm>
          </p:grpSpPr>
          <p:sp>
            <p:nvSpPr>
              <p:cNvPr id="110" name="矩形 109"/>
              <p:cNvSpPr/>
              <p:nvPr/>
            </p:nvSpPr>
            <p:spPr>
              <a:xfrm>
                <a:off x="528637" y="3618395"/>
                <a:ext cx="5148000" cy="1441976"/>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11" name="直接连接符 110"/>
              <p:cNvCxnSpPr/>
              <p:nvPr/>
            </p:nvCxnSpPr>
            <p:spPr>
              <a:xfrm flipH="1">
                <a:off x="528638" y="3620722"/>
                <a:ext cx="1" cy="144197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12" name="组合 111"/>
            <p:cNvGrpSpPr/>
            <p:nvPr/>
          </p:nvGrpSpPr>
          <p:grpSpPr>
            <a:xfrm>
              <a:off x="528637" y="5168374"/>
              <a:ext cx="5148000" cy="1441976"/>
              <a:chOff x="661031" y="1958814"/>
              <a:chExt cx="5148000" cy="1008000"/>
            </a:xfrm>
          </p:grpSpPr>
          <p:sp>
            <p:nvSpPr>
              <p:cNvPr id="113" name="矩形 112"/>
              <p:cNvSpPr/>
              <p:nvPr/>
            </p:nvSpPr>
            <p:spPr>
              <a:xfrm>
                <a:off x="661031" y="1958814"/>
                <a:ext cx="5148000" cy="1008000"/>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14" name="直接连接符 113"/>
              <p:cNvCxnSpPr/>
              <p:nvPr/>
            </p:nvCxnSpPr>
            <p:spPr>
              <a:xfrm flipH="1">
                <a:off x="661032" y="1958814"/>
                <a:ext cx="1" cy="1008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17" name="组合 116"/>
            <p:cNvGrpSpPr/>
            <p:nvPr/>
          </p:nvGrpSpPr>
          <p:grpSpPr>
            <a:xfrm>
              <a:off x="760534" y="5428050"/>
              <a:ext cx="2556000" cy="922625"/>
              <a:chOff x="760534" y="5281813"/>
              <a:chExt cx="2556000" cy="922625"/>
            </a:xfrm>
          </p:grpSpPr>
          <p:sp>
            <p:nvSpPr>
              <p:cNvPr id="46" name="文本框 45"/>
              <p:cNvSpPr txBox="1"/>
              <p:nvPr/>
            </p:nvSpPr>
            <p:spPr>
              <a:xfrm>
                <a:off x="760534" y="5281813"/>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痛点扫描</a:t>
                </a:r>
                <a:endParaRPr lang="zh-CN" altLang="en-US" sz="1800" dirty="0">
                  <a:effectLst/>
                  <a:cs typeface="思源黑体 CN Normal" panose="020B0400000000000000" pitchFamily="34" charset="-122"/>
                </a:endParaRPr>
              </a:p>
            </p:txBody>
          </p:sp>
          <p:sp>
            <p:nvSpPr>
              <p:cNvPr id="47" name="文本框 46"/>
              <p:cNvSpPr txBox="1"/>
              <p:nvPr/>
            </p:nvSpPr>
            <p:spPr>
              <a:xfrm>
                <a:off x="760534" y="5737644"/>
                <a:ext cx="2556000" cy="466794"/>
              </a:xfrm>
              <a:prstGeom prst="rect">
                <a:avLst/>
              </a:prstGeom>
              <a:noFill/>
            </p:spPr>
            <p:txBody>
              <a:bodyPr wrap="square" lIns="0" tIns="0" rIns="0" bIns="0">
                <a:spAutoFit/>
              </a:bodyPr>
              <a:lstStyle/>
              <a:p>
                <a:pPr algn="l" fontAlgn="base">
                  <a:lnSpc>
                    <a:spcPct val="110000"/>
                  </a:lnSpc>
                </a:pPr>
                <a:r>
                  <a:rPr lang="zh-CN" altLang="en-US" sz="1400" b="0" i="0" dirty="0">
                    <a:latin typeface="+mn-ea"/>
                    <a:cs typeface="思源黑体 CN Normal" panose="020B0400000000000000" pitchFamily="34" charset="-122"/>
                  </a:rPr>
                  <a:t>用</a:t>
                </a:r>
                <a:r>
                  <a:rPr lang="en-US" altLang="zh-CN" sz="1400" b="0" i="0" dirty="0">
                    <a:latin typeface="+mn-ea"/>
                    <a:cs typeface="思源黑体 CN Normal" panose="020B0400000000000000" pitchFamily="34" charset="-122"/>
                  </a:rPr>
                  <a:t>3</a:t>
                </a:r>
                <a:r>
                  <a:rPr lang="zh-CN" altLang="en-US" sz="1400" b="0" i="0" dirty="0">
                    <a:latin typeface="+mn-ea"/>
                    <a:cs typeface="思源黑体 CN Normal" panose="020B0400000000000000" pitchFamily="34" charset="-122"/>
                  </a:rPr>
                  <a:t>周走访</a:t>
                </a:r>
                <a:r>
                  <a:rPr lang="en-US" altLang="zh-CN" sz="1400" b="0" i="0" dirty="0">
                    <a:latin typeface="+mn-ea"/>
                    <a:cs typeface="思源黑体 CN Normal" panose="020B0400000000000000" pitchFamily="34" charset="-122"/>
                  </a:rPr>
                  <a:t>12</a:t>
                </a:r>
                <a:r>
                  <a:rPr lang="zh-CN" altLang="en-US" sz="1400" b="0" i="0" dirty="0">
                    <a:latin typeface="+mn-ea"/>
                    <a:cs typeface="思源黑体 CN Normal" panose="020B0400000000000000" pitchFamily="34" charset="-122"/>
                  </a:rPr>
                  <a:t>条产线，锁定发动机夹具</a:t>
                </a:r>
                <a:r>
                  <a:rPr lang="en-US" altLang="zh-CN" sz="1400" b="0" i="0" dirty="0">
                    <a:latin typeface="+mn-ea"/>
                    <a:cs typeface="思源黑体 CN Normal" panose="020B0400000000000000" pitchFamily="34" charset="-122"/>
                  </a:rPr>
                  <a:t>0.3 mm</a:t>
                </a:r>
                <a:r>
                  <a:rPr lang="zh-CN" altLang="en-US" sz="1400" b="0" i="0" dirty="0">
                    <a:latin typeface="+mn-ea"/>
                    <a:cs typeface="思源黑体 CN Normal" panose="020B0400000000000000" pitchFamily="34" charset="-122"/>
                  </a:rPr>
                  <a:t>重复定位</a:t>
                </a:r>
                <a:endParaRPr lang="zh-CN" altLang="en-US" sz="1400" b="0" i="0" dirty="0">
                  <a:latin typeface="+mn-ea"/>
                  <a:cs typeface="思源黑体 CN Normal" panose="020B0400000000000000" pitchFamily="34" charset="-122"/>
                </a:endParaRPr>
              </a:p>
            </p:txBody>
          </p:sp>
        </p:grpSp>
        <p:grpSp>
          <p:nvGrpSpPr>
            <p:cNvPr id="116" name="组合 115"/>
            <p:cNvGrpSpPr/>
            <p:nvPr/>
          </p:nvGrpSpPr>
          <p:grpSpPr>
            <a:xfrm>
              <a:off x="760534" y="3880397"/>
              <a:ext cx="2556000" cy="922625"/>
              <a:chOff x="760534" y="3731431"/>
              <a:chExt cx="2556000" cy="922625"/>
            </a:xfrm>
          </p:grpSpPr>
          <p:sp>
            <p:nvSpPr>
              <p:cNvPr id="55" name="文本框 54"/>
              <p:cNvSpPr txBox="1"/>
              <p:nvPr/>
            </p:nvSpPr>
            <p:spPr>
              <a:xfrm>
                <a:off x="760534" y="3731431"/>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轻量化模型</a:t>
                </a:r>
                <a:endParaRPr lang="zh-CN" altLang="en-US" sz="1800" dirty="0">
                  <a:effectLst/>
                  <a:cs typeface="思源黑体 CN Normal" panose="020B0400000000000000" pitchFamily="34" charset="-122"/>
                </a:endParaRPr>
              </a:p>
            </p:txBody>
          </p:sp>
          <p:sp>
            <p:nvSpPr>
              <p:cNvPr id="56" name="文本框 55"/>
              <p:cNvSpPr txBox="1"/>
              <p:nvPr/>
            </p:nvSpPr>
            <p:spPr>
              <a:xfrm>
                <a:off x="760534" y="4187262"/>
                <a:ext cx="2556000" cy="466794"/>
              </a:xfrm>
              <a:prstGeom prst="rect">
                <a:avLst/>
              </a:prstGeom>
              <a:noFill/>
            </p:spPr>
            <p:txBody>
              <a:bodyPr wrap="square" lIns="0" tIns="0" rIns="0" bIns="0">
                <a:spAutoFit/>
              </a:bodyPr>
              <a:lstStyle/>
              <a:p>
                <a:pPr algn="l" fontAlgn="base">
                  <a:lnSpc>
                    <a:spcPct val="110000"/>
                  </a:lnSpc>
                </a:pPr>
                <a:r>
                  <a:rPr lang="zh-CN" altLang="en-US" sz="1400" b="0" i="0" dirty="0">
                    <a:latin typeface="+mn-ea"/>
                    <a:cs typeface="思源黑体 CN Normal" panose="020B0400000000000000" pitchFamily="34" charset="-122"/>
                  </a:rPr>
                  <a:t>碳纤维</a:t>
                </a:r>
                <a:r>
                  <a:rPr lang="en-US" altLang="zh-CN" sz="1400" b="0" i="0" dirty="0">
                    <a:latin typeface="+mn-ea"/>
                    <a:cs typeface="思源黑体 CN Normal" panose="020B0400000000000000" pitchFamily="34" charset="-122"/>
                  </a:rPr>
                  <a:t>-</a:t>
                </a:r>
                <a:r>
                  <a:rPr lang="zh-CN" altLang="en-US" sz="1400" b="0" i="0" dirty="0">
                    <a:latin typeface="+mn-ea"/>
                    <a:cs typeface="思源黑体 CN Normal" panose="020B0400000000000000" pitchFamily="34" charset="-122"/>
                  </a:rPr>
                  <a:t>钛复合夹具重量降</a:t>
                </a:r>
                <a:r>
                  <a:rPr lang="en-US" altLang="zh-CN" sz="1400" b="0" i="0" dirty="0">
                    <a:latin typeface="+mn-ea"/>
                    <a:cs typeface="思源黑体 CN Normal" panose="020B0400000000000000" pitchFamily="34" charset="-122"/>
                  </a:rPr>
                  <a:t>42%</a:t>
                </a:r>
                <a:r>
                  <a:rPr lang="zh-CN" altLang="en-US" sz="1400" b="0" i="0" dirty="0">
                    <a:latin typeface="+mn-ea"/>
                    <a:cs typeface="思源黑体 CN Normal" panose="020B0400000000000000" pitchFamily="34" charset="-122"/>
                  </a:rPr>
                  <a:t>，主轴加速度由</a:t>
                </a:r>
                <a:r>
                  <a:rPr lang="en-US" altLang="zh-CN" sz="1400" b="0" i="0" dirty="0">
                    <a:latin typeface="+mn-ea"/>
                    <a:cs typeface="思源黑体 CN Normal" panose="020B0400000000000000" pitchFamily="34" charset="-122"/>
                  </a:rPr>
                  <a:t>1g</a:t>
                </a:r>
                <a:r>
                  <a:rPr lang="zh-CN" altLang="en-US" sz="1400" b="0" i="0" dirty="0">
                    <a:latin typeface="+mn-ea"/>
                    <a:cs typeface="思源黑体 CN Normal" panose="020B0400000000000000" pitchFamily="34" charset="-122"/>
                  </a:rPr>
                  <a:t>提至</a:t>
                </a:r>
                <a:r>
                  <a:rPr lang="en-US" altLang="zh-CN" sz="1400" b="0" i="0" dirty="0">
                    <a:latin typeface="+mn-ea"/>
                    <a:cs typeface="思源黑体 CN Normal" panose="020B0400000000000000" pitchFamily="34" charset="-122"/>
                  </a:rPr>
                  <a:t>2.5g</a:t>
                </a:r>
                <a:endParaRPr lang="zh-CN" altLang="en-US" sz="1400" b="0" i="0" dirty="0">
                  <a:latin typeface="+mn-ea"/>
                  <a:cs typeface="思源黑体 CN Normal" panose="020B0400000000000000" pitchFamily="34" charset="-122"/>
                </a:endParaRPr>
              </a:p>
            </p:txBody>
          </p:sp>
        </p:grpSp>
        <p:grpSp>
          <p:nvGrpSpPr>
            <p:cNvPr id="115" name="组合 114"/>
            <p:cNvGrpSpPr/>
            <p:nvPr/>
          </p:nvGrpSpPr>
          <p:grpSpPr>
            <a:xfrm>
              <a:off x="760534" y="2332745"/>
              <a:ext cx="2556000" cy="922625"/>
              <a:chOff x="760534" y="2270071"/>
              <a:chExt cx="2556000" cy="922625"/>
            </a:xfrm>
          </p:grpSpPr>
          <p:sp>
            <p:nvSpPr>
              <p:cNvPr id="64" name="文本框 63"/>
              <p:cNvSpPr txBox="1"/>
              <p:nvPr/>
            </p:nvSpPr>
            <p:spPr>
              <a:xfrm>
                <a:off x="760534" y="2270071"/>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自动适应</a:t>
                </a:r>
                <a:endParaRPr lang="zh-CN" altLang="en-US" sz="1800" dirty="0">
                  <a:effectLst/>
                  <a:cs typeface="思源黑体 CN Normal" panose="020B0400000000000000" pitchFamily="34" charset="-122"/>
                </a:endParaRPr>
              </a:p>
            </p:txBody>
          </p:sp>
          <p:sp>
            <p:nvSpPr>
              <p:cNvPr id="65" name="文本框 64"/>
              <p:cNvSpPr txBox="1"/>
              <p:nvPr/>
            </p:nvSpPr>
            <p:spPr>
              <a:xfrm>
                <a:off x="760534" y="2725902"/>
                <a:ext cx="2556000" cy="466794"/>
              </a:xfrm>
              <a:prstGeom prst="rect">
                <a:avLst/>
              </a:prstGeom>
              <a:noFill/>
            </p:spPr>
            <p:txBody>
              <a:bodyPr wrap="square" lIns="0" tIns="0" rIns="0" bIns="0">
                <a:spAutoFit/>
              </a:bodyPr>
              <a:lstStyle/>
              <a:p>
                <a:pPr algn="l" fontAlgn="base">
                  <a:lnSpc>
                    <a:spcPct val="110000"/>
                  </a:lnSpc>
                </a:pPr>
                <a:r>
                  <a:rPr lang="zh-CN" altLang="en-US" sz="1400" b="0" i="0" dirty="0">
                    <a:latin typeface="+mn-ea"/>
                    <a:cs typeface="思源黑体 CN Normal" panose="020B0400000000000000" pitchFamily="34" charset="-122"/>
                  </a:rPr>
                  <a:t>云端算法</a:t>
                </a:r>
                <a:r>
                  <a:rPr lang="en-US" altLang="zh-CN" sz="1400" b="0" i="0" dirty="0">
                    <a:latin typeface="+mn-ea"/>
                    <a:cs typeface="思源黑体 CN Normal" panose="020B0400000000000000" pitchFamily="34" charset="-122"/>
                  </a:rPr>
                  <a:t>0.1</a:t>
                </a:r>
                <a:r>
                  <a:rPr lang="zh-CN" altLang="en-US" sz="1400" b="0" i="0" dirty="0">
                    <a:latin typeface="+mn-ea"/>
                    <a:cs typeface="思源黑体 CN Normal" panose="020B0400000000000000" pitchFamily="34" charset="-122"/>
                  </a:rPr>
                  <a:t>秒调整夹紧力，首年良品率从</a:t>
                </a:r>
                <a:r>
                  <a:rPr lang="en-US" altLang="zh-CN" sz="1400" b="0" i="0" dirty="0">
                    <a:latin typeface="+mn-ea"/>
                    <a:cs typeface="思源黑体 CN Normal" panose="020B0400000000000000" pitchFamily="34" charset="-122"/>
                  </a:rPr>
                  <a:t>92%</a:t>
                </a:r>
                <a:r>
                  <a:rPr lang="zh-CN" altLang="en-US" sz="1400" b="0" i="0" dirty="0">
                    <a:latin typeface="+mn-ea"/>
                    <a:cs typeface="思源黑体 CN Normal" panose="020B0400000000000000" pitchFamily="34" charset="-122"/>
                  </a:rPr>
                  <a:t>升至</a:t>
                </a:r>
                <a:r>
                  <a:rPr lang="en-US" altLang="zh-CN" sz="1400" b="0" i="0" dirty="0">
                    <a:latin typeface="+mn-ea"/>
                    <a:cs typeface="思源黑体 CN Normal" panose="020B0400000000000000" pitchFamily="34" charset="-122"/>
                  </a:rPr>
                  <a:t>99.1%</a:t>
                </a:r>
                <a:endParaRPr lang="zh-CN" altLang="en-US" sz="1400" b="0" i="0" dirty="0">
                  <a:latin typeface="+mn-ea"/>
                  <a:cs typeface="思源黑体 CN Normal" panose="020B0400000000000000" pitchFamily="34" charset="-122"/>
                </a:endParaRPr>
              </a:p>
            </p:txBody>
          </p:sp>
        </p:grpSp>
      </p:grpSp>
      <p:pic>
        <p:nvPicPr>
          <p:cNvPr id="147" name="图形 14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29432" y="2209094"/>
            <a:ext cx="533137" cy="533137"/>
          </a:xfrm>
          <a:prstGeom prst="rect">
            <a:avLst/>
          </a:prstGeom>
          <a:effectLst/>
        </p:spPr>
      </p:pic>
      <p:pic>
        <p:nvPicPr>
          <p:cNvPr id="149" name="图形 14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08000" y="3809892"/>
            <a:ext cx="576000" cy="576000"/>
          </a:xfrm>
          <a:prstGeom prst="rect">
            <a:avLst/>
          </a:prstGeom>
          <a:effectLst/>
        </p:spPr>
      </p:pic>
      <p:pic>
        <p:nvPicPr>
          <p:cNvPr id="151" name="图形 15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26000" y="5369544"/>
            <a:ext cx="540000" cy="540000"/>
          </a:xfrm>
          <a:prstGeom prst="rect">
            <a:avLst/>
          </a:prstGeom>
          <a:effectLst/>
        </p:spPr>
      </p:pic>
      <p:grpSp>
        <p:nvGrpSpPr>
          <p:cNvPr id="171" name="组合 170"/>
          <p:cNvGrpSpPr/>
          <p:nvPr/>
        </p:nvGrpSpPr>
        <p:grpSpPr>
          <a:xfrm>
            <a:off x="3336615" y="5490100"/>
            <a:ext cx="5518770" cy="464633"/>
            <a:chOff x="3025788" y="2557340"/>
            <a:chExt cx="5518770" cy="464633"/>
          </a:xfrm>
        </p:grpSpPr>
        <p:sp>
          <p:nvSpPr>
            <p:cNvPr id="172" name="箭头: 右 171"/>
            <p:cNvSpPr/>
            <p:nvPr/>
          </p:nvSpPr>
          <p:spPr>
            <a:xfrm>
              <a:off x="786055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3" name="箭头: 右 172"/>
            <p:cNvSpPr/>
            <p:nvPr/>
          </p:nvSpPr>
          <p:spPr>
            <a:xfrm flipH="1">
              <a:off x="302578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174" name="组合 173"/>
          <p:cNvGrpSpPr/>
          <p:nvPr/>
        </p:nvGrpSpPr>
        <p:grpSpPr>
          <a:xfrm>
            <a:off x="3690407" y="4109393"/>
            <a:ext cx="4811187" cy="464633"/>
            <a:chOff x="3653361" y="2557340"/>
            <a:chExt cx="4811187" cy="464633"/>
          </a:xfrm>
        </p:grpSpPr>
        <p:sp>
          <p:nvSpPr>
            <p:cNvPr id="175" name="箭头: 右 174"/>
            <p:cNvSpPr/>
            <p:nvPr/>
          </p:nvSpPr>
          <p:spPr>
            <a:xfrm>
              <a:off x="778054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6" name="箭头: 右 175"/>
            <p:cNvSpPr/>
            <p:nvPr/>
          </p:nvSpPr>
          <p:spPr>
            <a:xfrm flipH="1">
              <a:off x="3653361"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177" name="组合 176"/>
          <p:cNvGrpSpPr/>
          <p:nvPr/>
        </p:nvGrpSpPr>
        <p:grpSpPr>
          <a:xfrm>
            <a:off x="3926350" y="2561741"/>
            <a:ext cx="4339300" cy="464633"/>
            <a:chOff x="4205258" y="2557340"/>
            <a:chExt cx="4339300" cy="464633"/>
          </a:xfrm>
        </p:grpSpPr>
        <p:sp>
          <p:nvSpPr>
            <p:cNvPr id="178" name="箭头: 右 177"/>
            <p:cNvSpPr/>
            <p:nvPr/>
          </p:nvSpPr>
          <p:spPr>
            <a:xfrm>
              <a:off x="786055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9" name="箭头: 右 178"/>
            <p:cNvSpPr/>
            <p:nvPr/>
          </p:nvSpPr>
          <p:spPr>
            <a:xfrm flipH="1">
              <a:off x="420525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9" name="组合 8"/>
          <p:cNvGrpSpPr/>
          <p:nvPr/>
        </p:nvGrpSpPr>
        <p:grpSpPr>
          <a:xfrm>
            <a:off x="334964" y="777766"/>
            <a:ext cx="2232972" cy="938466"/>
            <a:chOff x="334964" y="777766"/>
            <a:chExt cx="2232972" cy="938466"/>
          </a:xfrm>
        </p:grpSpPr>
        <p:sp>
          <p:nvSpPr>
            <p:cNvPr id="208" name="文本框 207"/>
            <p:cNvSpPr txBox="1"/>
            <p:nvPr/>
          </p:nvSpPr>
          <p:spPr>
            <a:xfrm>
              <a:off x="334964" y="777766"/>
              <a:ext cx="2232972" cy="936000"/>
            </a:xfrm>
            <a:prstGeom prst="roundRect">
              <a:avLst>
                <a:gd name="adj" fmla="val 4349"/>
              </a:avLst>
            </a:prstGeom>
            <a:solidFill>
              <a:schemeClr val="accent2"/>
            </a:solidFill>
            <a:ln w="6350">
              <a:noFill/>
            </a:ln>
          </p:spPr>
          <p:txBody>
            <a:bodyPr wrap="square" lIns="180000" rIns="108000" anchor="ctr">
              <a:noAutofit/>
            </a:bodyPr>
            <a:lstStyle/>
            <a:p>
              <a:pPr>
                <a:lnSpc>
                  <a:spcPct val="120000"/>
                </a:lnSpc>
              </a:pPr>
              <a:endParaRPr lang="zh-CN" altLang="en-US" sz="1400" dirty="0">
                <a:latin typeface="+mn-ea"/>
                <a:cs typeface="思源黑体 CN Normal" panose="020B0400000000000000" pitchFamily="34" charset="-122"/>
              </a:endParaRPr>
            </a:p>
          </p:txBody>
        </p:sp>
        <p:sp>
          <p:nvSpPr>
            <p:cNvPr id="181" name="文本框 180"/>
            <p:cNvSpPr txBox="1"/>
            <p:nvPr/>
          </p:nvSpPr>
          <p:spPr>
            <a:xfrm>
              <a:off x="458422" y="1254567"/>
              <a:ext cx="1986057" cy="461665"/>
            </a:xfrm>
            <a:prstGeom prst="rect">
              <a:avLst/>
            </a:prstGeom>
            <a:noFill/>
            <a:ln w="6350">
              <a:noFill/>
            </a:ln>
          </p:spPr>
          <p:txBody>
            <a:bodyPr wrap="square" lIns="108000" rIns="108000" anchor="b">
              <a:spAutoFit/>
            </a:bodyPr>
            <a:lstStyle/>
            <a:p>
              <a:pPr algn="ctr"/>
              <a:r>
                <a:rPr lang="zh-CN" altLang="en-US"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三阶段递进</a:t>
              </a:r>
              <a:endPar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01" name="组合 200"/>
            <p:cNvGrpSpPr/>
            <p:nvPr/>
          </p:nvGrpSpPr>
          <p:grpSpPr>
            <a:xfrm>
              <a:off x="1162520" y="874526"/>
              <a:ext cx="577860" cy="349536"/>
              <a:chOff x="1367377" y="882599"/>
              <a:chExt cx="531027" cy="349536"/>
            </a:xfrm>
            <a:solidFill>
              <a:schemeClr val="bg1"/>
            </a:solidFill>
          </p:grpSpPr>
          <p:sp>
            <p:nvSpPr>
              <p:cNvPr id="189" name="任意多边形: 形状 188"/>
              <p:cNvSpPr/>
              <p:nvPr/>
            </p:nvSpPr>
            <p:spPr>
              <a:xfrm>
                <a:off x="1414861" y="882599"/>
                <a:ext cx="390836" cy="349536"/>
              </a:xfrm>
              <a:custGeom>
                <a:avLst/>
                <a:gdLst>
                  <a:gd name="connsiteX0" fmla="*/ 289502 w 390836"/>
                  <a:gd name="connsiteY0" fmla="*/ 153511 h 349536"/>
                  <a:gd name="connsiteX1" fmla="*/ 290041 w 390836"/>
                  <a:gd name="connsiteY1" fmla="*/ 154624 h 349536"/>
                  <a:gd name="connsiteX2" fmla="*/ 290448 w 390836"/>
                  <a:gd name="connsiteY2" fmla="*/ 155796 h 349536"/>
                  <a:gd name="connsiteX3" fmla="*/ 290687 w 390836"/>
                  <a:gd name="connsiteY3" fmla="*/ 157005 h 349536"/>
                  <a:gd name="connsiteX4" fmla="*/ 290759 w 390836"/>
                  <a:gd name="connsiteY4" fmla="*/ 158237 h 349536"/>
                  <a:gd name="connsiteX5" fmla="*/ 290687 w 390836"/>
                  <a:gd name="connsiteY5" fmla="*/ 159470 h 349536"/>
                  <a:gd name="connsiteX6" fmla="*/ 290448 w 390836"/>
                  <a:gd name="connsiteY6" fmla="*/ 160678 h 349536"/>
                  <a:gd name="connsiteX7" fmla="*/ 290041 w 390836"/>
                  <a:gd name="connsiteY7" fmla="*/ 161851 h 349536"/>
                  <a:gd name="connsiteX8" fmla="*/ 289502 w 390836"/>
                  <a:gd name="connsiteY8" fmla="*/ 162964 h 349536"/>
                  <a:gd name="connsiteX9" fmla="*/ 288808 w 390836"/>
                  <a:gd name="connsiteY9" fmla="*/ 163993 h 349536"/>
                  <a:gd name="connsiteX10" fmla="*/ 287995 w 390836"/>
                  <a:gd name="connsiteY10" fmla="*/ 164914 h 349536"/>
                  <a:gd name="connsiteX11" fmla="*/ 287073 w 390836"/>
                  <a:gd name="connsiteY11" fmla="*/ 165740 h 349536"/>
                  <a:gd name="connsiteX12" fmla="*/ 286044 w 390836"/>
                  <a:gd name="connsiteY12" fmla="*/ 166422 h 349536"/>
                  <a:gd name="connsiteX13" fmla="*/ 284931 w 390836"/>
                  <a:gd name="connsiteY13" fmla="*/ 166973 h 349536"/>
                  <a:gd name="connsiteX14" fmla="*/ 283759 w 390836"/>
                  <a:gd name="connsiteY14" fmla="*/ 167367 h 349536"/>
                  <a:gd name="connsiteX15" fmla="*/ 282550 w 390836"/>
                  <a:gd name="connsiteY15" fmla="*/ 167606 h 349536"/>
                  <a:gd name="connsiteX16" fmla="*/ 281317 w 390836"/>
                  <a:gd name="connsiteY16" fmla="*/ 167690 h 349536"/>
                  <a:gd name="connsiteX17" fmla="*/ 109511 w 390836"/>
                  <a:gd name="connsiteY17" fmla="*/ 167690 h 349536"/>
                  <a:gd name="connsiteX18" fmla="*/ 108278 w 390836"/>
                  <a:gd name="connsiteY18" fmla="*/ 167606 h 349536"/>
                  <a:gd name="connsiteX19" fmla="*/ 107070 w 390836"/>
                  <a:gd name="connsiteY19" fmla="*/ 167367 h 349536"/>
                  <a:gd name="connsiteX20" fmla="*/ 105897 w 390836"/>
                  <a:gd name="connsiteY20" fmla="*/ 166960 h 349536"/>
                  <a:gd name="connsiteX21" fmla="*/ 104784 w 390836"/>
                  <a:gd name="connsiteY21" fmla="*/ 166422 h 349536"/>
                  <a:gd name="connsiteX22" fmla="*/ 103767 w 390836"/>
                  <a:gd name="connsiteY22" fmla="*/ 165740 h 349536"/>
                  <a:gd name="connsiteX23" fmla="*/ 102834 w 390836"/>
                  <a:gd name="connsiteY23" fmla="*/ 164914 h 349536"/>
                  <a:gd name="connsiteX24" fmla="*/ 102020 w 390836"/>
                  <a:gd name="connsiteY24" fmla="*/ 163993 h 349536"/>
                  <a:gd name="connsiteX25" fmla="*/ 101326 w 390836"/>
                  <a:gd name="connsiteY25" fmla="*/ 162964 h 349536"/>
                  <a:gd name="connsiteX26" fmla="*/ 100788 w 390836"/>
                  <a:gd name="connsiteY26" fmla="*/ 161851 h 349536"/>
                  <a:gd name="connsiteX27" fmla="*/ 100393 w 390836"/>
                  <a:gd name="connsiteY27" fmla="*/ 160678 h 349536"/>
                  <a:gd name="connsiteX28" fmla="*/ 100153 w 390836"/>
                  <a:gd name="connsiteY28" fmla="*/ 159482 h 349536"/>
                  <a:gd name="connsiteX29" fmla="*/ 100070 w 390836"/>
                  <a:gd name="connsiteY29" fmla="*/ 158237 h 349536"/>
                  <a:gd name="connsiteX30" fmla="*/ 100142 w 390836"/>
                  <a:gd name="connsiteY30" fmla="*/ 157005 h 349536"/>
                  <a:gd name="connsiteX31" fmla="*/ 100381 w 390836"/>
                  <a:gd name="connsiteY31" fmla="*/ 155796 h 349536"/>
                  <a:gd name="connsiteX32" fmla="*/ 100788 w 390836"/>
                  <a:gd name="connsiteY32" fmla="*/ 154624 h 349536"/>
                  <a:gd name="connsiteX33" fmla="*/ 101326 w 390836"/>
                  <a:gd name="connsiteY33" fmla="*/ 153511 h 349536"/>
                  <a:gd name="connsiteX34" fmla="*/ 187242 w 390836"/>
                  <a:gd name="connsiteY34" fmla="*/ 4727 h 349536"/>
                  <a:gd name="connsiteX35" fmla="*/ 187924 w 390836"/>
                  <a:gd name="connsiteY35" fmla="*/ 3698 h 349536"/>
                  <a:gd name="connsiteX36" fmla="*/ 188737 w 390836"/>
                  <a:gd name="connsiteY36" fmla="*/ 2776 h 349536"/>
                  <a:gd name="connsiteX37" fmla="*/ 189659 w 390836"/>
                  <a:gd name="connsiteY37" fmla="*/ 1962 h 349536"/>
                  <a:gd name="connsiteX38" fmla="*/ 190688 w 390836"/>
                  <a:gd name="connsiteY38" fmla="*/ 1268 h 349536"/>
                  <a:gd name="connsiteX39" fmla="*/ 191801 w 390836"/>
                  <a:gd name="connsiteY39" fmla="*/ 730 h 349536"/>
                  <a:gd name="connsiteX40" fmla="*/ 192973 w 390836"/>
                  <a:gd name="connsiteY40" fmla="*/ 323 h 349536"/>
                  <a:gd name="connsiteX41" fmla="*/ 194182 w 390836"/>
                  <a:gd name="connsiteY41" fmla="*/ 84 h 349536"/>
                  <a:gd name="connsiteX42" fmla="*/ 195414 w 390836"/>
                  <a:gd name="connsiteY42" fmla="*/ 0 h 349536"/>
                  <a:gd name="connsiteX43" fmla="*/ 196647 w 390836"/>
                  <a:gd name="connsiteY43" fmla="*/ 84 h 349536"/>
                  <a:gd name="connsiteX44" fmla="*/ 197855 w 390836"/>
                  <a:gd name="connsiteY44" fmla="*/ 323 h 349536"/>
                  <a:gd name="connsiteX45" fmla="*/ 199028 w 390836"/>
                  <a:gd name="connsiteY45" fmla="*/ 730 h 349536"/>
                  <a:gd name="connsiteX46" fmla="*/ 200141 w 390836"/>
                  <a:gd name="connsiteY46" fmla="*/ 1268 h 349536"/>
                  <a:gd name="connsiteX47" fmla="*/ 201170 w 390836"/>
                  <a:gd name="connsiteY47" fmla="*/ 1962 h 349536"/>
                  <a:gd name="connsiteX48" fmla="*/ 202091 w 390836"/>
                  <a:gd name="connsiteY48" fmla="*/ 2776 h 349536"/>
                  <a:gd name="connsiteX49" fmla="*/ 202905 w 390836"/>
                  <a:gd name="connsiteY49" fmla="*/ 3698 h 349536"/>
                  <a:gd name="connsiteX50" fmla="*/ 203599 w 390836"/>
                  <a:gd name="connsiteY50" fmla="*/ 4727 h 349536"/>
                  <a:gd name="connsiteX51" fmla="*/ 289502 w 390836"/>
                  <a:gd name="connsiteY51" fmla="*/ 153511 h 349536"/>
                  <a:gd name="connsiteX52" fmla="*/ 66649 w 390836"/>
                  <a:gd name="connsiteY52" fmla="*/ 245624 h 349536"/>
                  <a:gd name="connsiteX53" fmla="*/ 57189 w 390836"/>
                  <a:gd name="connsiteY53" fmla="*/ 236178 h 349536"/>
                  <a:gd name="connsiteX54" fmla="*/ 58775 w 390836"/>
                  <a:gd name="connsiteY54" fmla="*/ 230930 h 349536"/>
                  <a:gd name="connsiteX55" fmla="*/ 83976 w 390836"/>
                  <a:gd name="connsiteY55" fmla="*/ 193154 h 349536"/>
                  <a:gd name="connsiteX56" fmla="*/ 91837 w 390836"/>
                  <a:gd name="connsiteY56" fmla="*/ 188942 h 349536"/>
                  <a:gd name="connsiteX57" fmla="*/ 299003 w 390836"/>
                  <a:gd name="connsiteY57" fmla="*/ 188942 h 349536"/>
                  <a:gd name="connsiteX58" fmla="*/ 306853 w 390836"/>
                  <a:gd name="connsiteY58" fmla="*/ 193154 h 349536"/>
                  <a:gd name="connsiteX59" fmla="*/ 332053 w 390836"/>
                  <a:gd name="connsiteY59" fmla="*/ 230930 h 349536"/>
                  <a:gd name="connsiteX60" fmla="*/ 329427 w 390836"/>
                  <a:gd name="connsiteY60" fmla="*/ 244038 h 349536"/>
                  <a:gd name="connsiteX61" fmla="*/ 324192 w 390836"/>
                  <a:gd name="connsiteY61" fmla="*/ 245624 h 349536"/>
                  <a:gd name="connsiteX62" fmla="*/ 66637 w 390836"/>
                  <a:gd name="connsiteY62" fmla="*/ 245624 h 349536"/>
                  <a:gd name="connsiteX63" fmla="*/ 9440 w 390836"/>
                  <a:gd name="connsiteY63" fmla="*/ 349536 h 349536"/>
                  <a:gd name="connsiteX64" fmla="*/ 0 w 390836"/>
                  <a:gd name="connsiteY64" fmla="*/ 340070 h 349536"/>
                  <a:gd name="connsiteX65" fmla="*/ 1447 w 390836"/>
                  <a:gd name="connsiteY65" fmla="*/ 335058 h 349536"/>
                  <a:gd name="connsiteX66" fmla="*/ 43160 w 390836"/>
                  <a:gd name="connsiteY66" fmla="*/ 268922 h 349536"/>
                  <a:gd name="connsiteX67" fmla="*/ 51153 w 390836"/>
                  <a:gd name="connsiteY67" fmla="*/ 264519 h 349536"/>
                  <a:gd name="connsiteX68" fmla="*/ 339675 w 390836"/>
                  <a:gd name="connsiteY68" fmla="*/ 264519 h 349536"/>
                  <a:gd name="connsiteX69" fmla="*/ 347667 w 390836"/>
                  <a:gd name="connsiteY69" fmla="*/ 268922 h 349536"/>
                  <a:gd name="connsiteX70" fmla="*/ 389383 w 390836"/>
                  <a:gd name="connsiteY70" fmla="*/ 335046 h 349536"/>
                  <a:gd name="connsiteX71" fmla="*/ 386422 w 390836"/>
                  <a:gd name="connsiteY71" fmla="*/ 348082 h 349536"/>
                  <a:gd name="connsiteX72" fmla="*/ 381387 w 390836"/>
                  <a:gd name="connsiteY72" fmla="*/ 349536 h 349536"/>
                  <a:gd name="connsiteX73" fmla="*/ 9452 w 390836"/>
                  <a:gd name="connsiteY73" fmla="*/ 349536 h 34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90836" h="349536">
                    <a:moveTo>
                      <a:pt x="289502" y="153511"/>
                    </a:moveTo>
                    <a:cubicBezTo>
                      <a:pt x="289710" y="153870"/>
                      <a:pt x="289889" y="154241"/>
                      <a:pt x="290041" y="154624"/>
                    </a:cubicBezTo>
                    <a:cubicBezTo>
                      <a:pt x="290200" y="155007"/>
                      <a:pt x="290336" y="155397"/>
                      <a:pt x="290448" y="155796"/>
                    </a:cubicBezTo>
                    <a:cubicBezTo>
                      <a:pt x="290551" y="156195"/>
                      <a:pt x="290631" y="156598"/>
                      <a:pt x="290687" y="157005"/>
                    </a:cubicBezTo>
                    <a:cubicBezTo>
                      <a:pt x="290735" y="157411"/>
                      <a:pt x="290759" y="157823"/>
                      <a:pt x="290759" y="158237"/>
                    </a:cubicBezTo>
                    <a:cubicBezTo>
                      <a:pt x="290759" y="158652"/>
                      <a:pt x="290735" y="159063"/>
                      <a:pt x="290687" y="159470"/>
                    </a:cubicBezTo>
                    <a:cubicBezTo>
                      <a:pt x="290631" y="159885"/>
                      <a:pt x="290551" y="160288"/>
                      <a:pt x="290448" y="160678"/>
                    </a:cubicBezTo>
                    <a:cubicBezTo>
                      <a:pt x="290336" y="161077"/>
                      <a:pt x="290200" y="161468"/>
                      <a:pt x="290041" y="161851"/>
                    </a:cubicBezTo>
                    <a:cubicBezTo>
                      <a:pt x="289881" y="162234"/>
                      <a:pt x="289702" y="162605"/>
                      <a:pt x="289502" y="162964"/>
                    </a:cubicBezTo>
                    <a:cubicBezTo>
                      <a:pt x="289295" y="163323"/>
                      <a:pt x="289063" y="163666"/>
                      <a:pt x="288808" y="163993"/>
                    </a:cubicBezTo>
                    <a:cubicBezTo>
                      <a:pt x="288561" y="164312"/>
                      <a:pt x="288290" y="164619"/>
                      <a:pt x="287995" y="164914"/>
                    </a:cubicBezTo>
                    <a:cubicBezTo>
                      <a:pt x="287708" y="165209"/>
                      <a:pt x="287400" y="165485"/>
                      <a:pt x="287073" y="165740"/>
                    </a:cubicBezTo>
                    <a:cubicBezTo>
                      <a:pt x="286746" y="165987"/>
                      <a:pt x="286403" y="166215"/>
                      <a:pt x="286044" y="166422"/>
                    </a:cubicBezTo>
                    <a:cubicBezTo>
                      <a:pt x="285685" y="166630"/>
                      <a:pt x="285314" y="166813"/>
                      <a:pt x="284931" y="166973"/>
                    </a:cubicBezTo>
                    <a:cubicBezTo>
                      <a:pt x="284548" y="167132"/>
                      <a:pt x="284158" y="167263"/>
                      <a:pt x="283759" y="167367"/>
                    </a:cubicBezTo>
                    <a:cubicBezTo>
                      <a:pt x="283360" y="167471"/>
                      <a:pt x="282957" y="167551"/>
                      <a:pt x="282550" y="167606"/>
                    </a:cubicBezTo>
                    <a:cubicBezTo>
                      <a:pt x="282143" y="167662"/>
                      <a:pt x="281732" y="167690"/>
                      <a:pt x="281317" y="167690"/>
                    </a:cubicBezTo>
                    <a:lnTo>
                      <a:pt x="109511" y="167690"/>
                    </a:lnTo>
                    <a:cubicBezTo>
                      <a:pt x="109096" y="167690"/>
                      <a:pt x="108685" y="167662"/>
                      <a:pt x="108278" y="167606"/>
                    </a:cubicBezTo>
                    <a:cubicBezTo>
                      <a:pt x="107872" y="167551"/>
                      <a:pt x="107469" y="167471"/>
                      <a:pt x="107070" y="167367"/>
                    </a:cubicBezTo>
                    <a:cubicBezTo>
                      <a:pt x="106671" y="167256"/>
                      <a:pt x="106280" y="167120"/>
                      <a:pt x="105897" y="166960"/>
                    </a:cubicBezTo>
                    <a:cubicBezTo>
                      <a:pt x="105514" y="166801"/>
                      <a:pt x="105143" y="166622"/>
                      <a:pt x="104784" y="166422"/>
                    </a:cubicBezTo>
                    <a:cubicBezTo>
                      <a:pt x="104433" y="166215"/>
                      <a:pt x="104094" y="165987"/>
                      <a:pt x="103767" y="165740"/>
                    </a:cubicBezTo>
                    <a:cubicBezTo>
                      <a:pt x="103440" y="165485"/>
                      <a:pt x="103129" y="165209"/>
                      <a:pt x="102834" y="164914"/>
                    </a:cubicBezTo>
                    <a:cubicBezTo>
                      <a:pt x="102539" y="164627"/>
                      <a:pt x="102267" y="164320"/>
                      <a:pt x="102020" y="163993"/>
                    </a:cubicBezTo>
                    <a:cubicBezTo>
                      <a:pt x="101765" y="163666"/>
                      <a:pt x="101534" y="163323"/>
                      <a:pt x="101326" y="162964"/>
                    </a:cubicBezTo>
                    <a:cubicBezTo>
                      <a:pt x="101127" y="162605"/>
                      <a:pt x="100947" y="162234"/>
                      <a:pt x="100788" y="161851"/>
                    </a:cubicBezTo>
                    <a:cubicBezTo>
                      <a:pt x="100628" y="161476"/>
                      <a:pt x="100496" y="161085"/>
                      <a:pt x="100393" y="160678"/>
                    </a:cubicBezTo>
                    <a:cubicBezTo>
                      <a:pt x="100281" y="160280"/>
                      <a:pt x="100201" y="159881"/>
                      <a:pt x="100153" y="159482"/>
                    </a:cubicBezTo>
                    <a:cubicBezTo>
                      <a:pt x="100098" y="159067"/>
                      <a:pt x="100070" y="158652"/>
                      <a:pt x="100070" y="158237"/>
                    </a:cubicBezTo>
                    <a:cubicBezTo>
                      <a:pt x="100070" y="157823"/>
                      <a:pt x="100093" y="157411"/>
                      <a:pt x="100142" y="157005"/>
                    </a:cubicBezTo>
                    <a:cubicBezTo>
                      <a:pt x="100198" y="156598"/>
                      <a:pt x="100277" y="156195"/>
                      <a:pt x="100381" y="155796"/>
                    </a:cubicBezTo>
                    <a:cubicBezTo>
                      <a:pt x="100492" y="155397"/>
                      <a:pt x="100628" y="155007"/>
                      <a:pt x="100788" y="154624"/>
                    </a:cubicBezTo>
                    <a:cubicBezTo>
                      <a:pt x="100947" y="154241"/>
                      <a:pt x="101127" y="153870"/>
                      <a:pt x="101326" y="153511"/>
                    </a:cubicBezTo>
                    <a:lnTo>
                      <a:pt x="187242" y="4727"/>
                    </a:lnTo>
                    <a:cubicBezTo>
                      <a:pt x="187441" y="4368"/>
                      <a:pt x="187668" y="4025"/>
                      <a:pt x="187924" y="3698"/>
                    </a:cubicBezTo>
                    <a:cubicBezTo>
                      <a:pt x="188171" y="3378"/>
                      <a:pt x="188442" y="3071"/>
                      <a:pt x="188737" y="2776"/>
                    </a:cubicBezTo>
                    <a:cubicBezTo>
                      <a:pt x="189024" y="2481"/>
                      <a:pt x="189331" y="2210"/>
                      <a:pt x="189659" y="1962"/>
                    </a:cubicBezTo>
                    <a:cubicBezTo>
                      <a:pt x="189994" y="1707"/>
                      <a:pt x="190337" y="1476"/>
                      <a:pt x="190688" y="1268"/>
                    </a:cubicBezTo>
                    <a:cubicBezTo>
                      <a:pt x="191046" y="1061"/>
                      <a:pt x="191417" y="882"/>
                      <a:pt x="191801" y="730"/>
                    </a:cubicBezTo>
                    <a:cubicBezTo>
                      <a:pt x="192184" y="570"/>
                      <a:pt x="192574" y="435"/>
                      <a:pt x="192973" y="323"/>
                    </a:cubicBezTo>
                    <a:cubicBezTo>
                      <a:pt x="193372" y="219"/>
                      <a:pt x="193775" y="140"/>
                      <a:pt x="194182" y="84"/>
                    </a:cubicBezTo>
                    <a:cubicBezTo>
                      <a:pt x="194588" y="28"/>
                      <a:pt x="194999" y="0"/>
                      <a:pt x="195414" y="0"/>
                    </a:cubicBezTo>
                    <a:cubicBezTo>
                      <a:pt x="195829" y="0"/>
                      <a:pt x="196240" y="28"/>
                      <a:pt x="196647" y="84"/>
                    </a:cubicBezTo>
                    <a:cubicBezTo>
                      <a:pt x="197054" y="140"/>
                      <a:pt x="197456" y="219"/>
                      <a:pt x="197855" y="323"/>
                    </a:cubicBezTo>
                    <a:cubicBezTo>
                      <a:pt x="198254" y="435"/>
                      <a:pt x="198645" y="570"/>
                      <a:pt x="199028" y="730"/>
                    </a:cubicBezTo>
                    <a:cubicBezTo>
                      <a:pt x="199411" y="889"/>
                      <a:pt x="199782" y="1069"/>
                      <a:pt x="200141" y="1268"/>
                    </a:cubicBezTo>
                    <a:cubicBezTo>
                      <a:pt x="200500" y="1476"/>
                      <a:pt x="200843" y="1707"/>
                      <a:pt x="201170" y="1962"/>
                    </a:cubicBezTo>
                    <a:cubicBezTo>
                      <a:pt x="201489" y="2210"/>
                      <a:pt x="201796" y="2481"/>
                      <a:pt x="202091" y="2776"/>
                    </a:cubicBezTo>
                    <a:cubicBezTo>
                      <a:pt x="202386" y="3063"/>
                      <a:pt x="202658" y="3370"/>
                      <a:pt x="202905" y="3698"/>
                    </a:cubicBezTo>
                    <a:cubicBezTo>
                      <a:pt x="203160" y="4025"/>
                      <a:pt x="203391" y="4368"/>
                      <a:pt x="203599" y="4727"/>
                    </a:cubicBezTo>
                    <a:lnTo>
                      <a:pt x="289502" y="153511"/>
                    </a:lnTo>
                    <a:close/>
                    <a:moveTo>
                      <a:pt x="66649" y="245624"/>
                    </a:moveTo>
                    <a:cubicBezTo>
                      <a:pt x="61428" y="245628"/>
                      <a:pt x="57193" y="241398"/>
                      <a:pt x="57189" y="236178"/>
                    </a:cubicBezTo>
                    <a:cubicBezTo>
                      <a:pt x="57188" y="234311"/>
                      <a:pt x="57740" y="232484"/>
                      <a:pt x="58775" y="230930"/>
                    </a:cubicBezTo>
                    <a:lnTo>
                      <a:pt x="83976" y="193154"/>
                    </a:lnTo>
                    <a:cubicBezTo>
                      <a:pt x="85727" y="190524"/>
                      <a:pt x="88677" y="188944"/>
                      <a:pt x="91837" y="188942"/>
                    </a:cubicBezTo>
                    <a:lnTo>
                      <a:pt x="299003" y="188942"/>
                    </a:lnTo>
                    <a:cubicBezTo>
                      <a:pt x="302159" y="188948"/>
                      <a:pt x="305104" y="190528"/>
                      <a:pt x="306853" y="193154"/>
                    </a:cubicBezTo>
                    <a:lnTo>
                      <a:pt x="332053" y="230930"/>
                    </a:lnTo>
                    <a:cubicBezTo>
                      <a:pt x="334948" y="235275"/>
                      <a:pt x="333772" y="241144"/>
                      <a:pt x="329427" y="244038"/>
                    </a:cubicBezTo>
                    <a:cubicBezTo>
                      <a:pt x="327876" y="245072"/>
                      <a:pt x="326055" y="245623"/>
                      <a:pt x="324192" y="245624"/>
                    </a:cubicBezTo>
                    <a:lnTo>
                      <a:pt x="66637" y="245624"/>
                    </a:lnTo>
                    <a:close/>
                    <a:moveTo>
                      <a:pt x="9440" y="349536"/>
                    </a:moveTo>
                    <a:cubicBezTo>
                      <a:pt x="4219" y="349529"/>
                      <a:pt x="-7" y="345291"/>
                      <a:pt x="0" y="340070"/>
                    </a:cubicBezTo>
                    <a:cubicBezTo>
                      <a:pt x="2" y="338297"/>
                      <a:pt x="503" y="336560"/>
                      <a:pt x="1447" y="335058"/>
                    </a:cubicBezTo>
                    <a:lnTo>
                      <a:pt x="43160" y="268922"/>
                    </a:lnTo>
                    <a:cubicBezTo>
                      <a:pt x="44892" y="266180"/>
                      <a:pt x="47910" y="264518"/>
                      <a:pt x="51153" y="264519"/>
                    </a:cubicBezTo>
                    <a:lnTo>
                      <a:pt x="339675" y="264519"/>
                    </a:lnTo>
                    <a:cubicBezTo>
                      <a:pt x="342920" y="264518"/>
                      <a:pt x="345936" y="266180"/>
                      <a:pt x="347667" y="268922"/>
                    </a:cubicBezTo>
                    <a:lnTo>
                      <a:pt x="389383" y="335046"/>
                    </a:lnTo>
                    <a:cubicBezTo>
                      <a:pt x="392162" y="339463"/>
                      <a:pt x="390837" y="345300"/>
                      <a:pt x="386422" y="348082"/>
                    </a:cubicBezTo>
                    <a:cubicBezTo>
                      <a:pt x="384912" y="349031"/>
                      <a:pt x="383169" y="349535"/>
                      <a:pt x="381387" y="349536"/>
                    </a:cubicBezTo>
                    <a:lnTo>
                      <a:pt x="9452" y="349536"/>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nvGrpSpPr>
              <p:cNvPr id="197" name="组合 196"/>
              <p:cNvGrpSpPr/>
              <p:nvPr/>
            </p:nvGrpSpPr>
            <p:grpSpPr>
              <a:xfrm>
                <a:off x="1747249" y="1065892"/>
                <a:ext cx="151155" cy="128468"/>
                <a:chOff x="1747249" y="1065892"/>
                <a:chExt cx="151155" cy="128468"/>
              </a:xfrm>
              <a:grpFill/>
            </p:grpSpPr>
            <p:sp>
              <p:nvSpPr>
                <p:cNvPr id="194" name="任意多边形: 形状 193"/>
                <p:cNvSpPr/>
                <p:nvPr/>
              </p:nvSpPr>
              <p:spPr>
                <a:xfrm>
                  <a:off x="1768513" y="1080983"/>
                  <a:ext cx="129891" cy="113377"/>
                </a:xfrm>
                <a:custGeom>
                  <a:avLst/>
                  <a:gdLst>
                    <a:gd name="connsiteX0" fmla="*/ 0 w 129891"/>
                    <a:gd name="connsiteY0" fmla="*/ 0 h 113377"/>
                    <a:gd name="connsiteX1" fmla="*/ 73209 w 129891"/>
                    <a:gd name="connsiteY1" fmla="*/ 0 h 113377"/>
                    <a:gd name="connsiteX2" fmla="*/ 113293 w 129891"/>
                    <a:gd name="connsiteY2" fmla="*/ 16597 h 113377"/>
                    <a:gd name="connsiteX3" fmla="*/ 129891 w 129891"/>
                    <a:gd name="connsiteY3" fmla="*/ 56683 h 113377"/>
                    <a:gd name="connsiteX4" fmla="*/ 113293 w 129891"/>
                    <a:gd name="connsiteY4" fmla="*/ 96768 h 113377"/>
                    <a:gd name="connsiteX5" fmla="*/ 73209 w 129891"/>
                    <a:gd name="connsiteY5" fmla="*/ 113377 h 113377"/>
                    <a:gd name="connsiteX6" fmla="*/ 47232 w 129891"/>
                    <a:gd name="connsiteY6" fmla="*/ 113377 h 113377"/>
                    <a:gd name="connsiteX7" fmla="*/ 35420 w 129891"/>
                    <a:gd name="connsiteY7" fmla="*/ 94471 h 113377"/>
                    <a:gd name="connsiteX8" fmla="*/ 73209 w 129891"/>
                    <a:gd name="connsiteY8" fmla="*/ 94471 h 113377"/>
                    <a:gd name="connsiteX9" fmla="*/ 99928 w 129891"/>
                    <a:gd name="connsiteY9" fmla="*/ 83402 h 113377"/>
                    <a:gd name="connsiteX10" fmla="*/ 110995 w 129891"/>
                    <a:gd name="connsiteY10" fmla="*/ 56683 h 113377"/>
                    <a:gd name="connsiteX11" fmla="*/ 99928 w 129891"/>
                    <a:gd name="connsiteY11" fmla="*/ 29963 h 113377"/>
                    <a:gd name="connsiteX12" fmla="*/ 73209 w 129891"/>
                    <a:gd name="connsiteY12" fmla="*/ 18906 h 113377"/>
                    <a:gd name="connsiteX13" fmla="*/ 0 w 129891"/>
                    <a:gd name="connsiteY13" fmla="*/ 18906 h 11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891" h="113377">
                      <a:moveTo>
                        <a:pt x="0" y="0"/>
                      </a:moveTo>
                      <a:lnTo>
                        <a:pt x="73209" y="0"/>
                      </a:lnTo>
                      <a:cubicBezTo>
                        <a:pt x="88861" y="0"/>
                        <a:pt x="102222" y="5532"/>
                        <a:pt x="113293" y="16597"/>
                      </a:cubicBezTo>
                      <a:cubicBezTo>
                        <a:pt x="124360" y="27669"/>
                        <a:pt x="129891" y="41031"/>
                        <a:pt x="129891" y="56683"/>
                      </a:cubicBezTo>
                      <a:cubicBezTo>
                        <a:pt x="129891" y="72334"/>
                        <a:pt x="124360" y="85696"/>
                        <a:pt x="113293" y="96768"/>
                      </a:cubicBezTo>
                      <a:cubicBezTo>
                        <a:pt x="102222" y="107841"/>
                        <a:pt x="88861" y="113377"/>
                        <a:pt x="73209" y="113377"/>
                      </a:cubicBezTo>
                      <a:lnTo>
                        <a:pt x="47232" y="113377"/>
                      </a:lnTo>
                      <a:lnTo>
                        <a:pt x="35420" y="94471"/>
                      </a:lnTo>
                      <a:lnTo>
                        <a:pt x="73209" y="94471"/>
                      </a:lnTo>
                      <a:cubicBezTo>
                        <a:pt x="83641" y="94471"/>
                        <a:pt x="92547" y="90782"/>
                        <a:pt x="99928" y="83402"/>
                      </a:cubicBezTo>
                      <a:cubicBezTo>
                        <a:pt x="107308" y="76023"/>
                        <a:pt x="110995" y="67117"/>
                        <a:pt x="110995" y="56683"/>
                      </a:cubicBezTo>
                      <a:cubicBezTo>
                        <a:pt x="110995" y="46248"/>
                        <a:pt x="107308" y="37342"/>
                        <a:pt x="99928" y="29963"/>
                      </a:cubicBezTo>
                      <a:cubicBezTo>
                        <a:pt x="92547" y="22592"/>
                        <a:pt x="83641" y="18906"/>
                        <a:pt x="73209" y="18906"/>
                      </a:cubicBezTo>
                      <a:lnTo>
                        <a:pt x="0" y="18906"/>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196" name="任意多边形: 形状 195"/>
                <p:cNvSpPr/>
                <p:nvPr/>
              </p:nvSpPr>
              <p:spPr>
                <a:xfrm>
                  <a:off x="1747249" y="1065892"/>
                  <a:ext cx="28348" cy="49085"/>
                </a:xfrm>
                <a:custGeom>
                  <a:avLst/>
                  <a:gdLst>
                    <a:gd name="connsiteX0" fmla="*/ 28348 w 28348"/>
                    <a:gd name="connsiteY0" fmla="*/ 0 h 49085"/>
                    <a:gd name="connsiteX1" fmla="*/ 28348 w 28348"/>
                    <a:gd name="connsiteY1" fmla="*/ 49085 h 49085"/>
                    <a:gd name="connsiteX2" fmla="*/ 0 w 28348"/>
                    <a:gd name="connsiteY2" fmla="*/ 24542 h 49085"/>
                    <a:gd name="connsiteX3" fmla="*/ 0 w 28348"/>
                    <a:gd name="connsiteY3" fmla="*/ 24530 h 49085"/>
                  </a:gdLst>
                  <a:ahLst/>
                  <a:cxnLst>
                    <a:cxn ang="0">
                      <a:pos x="connsiteX0" y="connsiteY0"/>
                    </a:cxn>
                    <a:cxn ang="0">
                      <a:pos x="connsiteX1" y="connsiteY1"/>
                    </a:cxn>
                    <a:cxn ang="0">
                      <a:pos x="connsiteX2" y="connsiteY2"/>
                    </a:cxn>
                    <a:cxn ang="0">
                      <a:pos x="connsiteX3" y="connsiteY3"/>
                    </a:cxn>
                  </a:cxnLst>
                  <a:rect l="l" t="t" r="r" b="b"/>
                  <a:pathLst>
                    <a:path w="28348" h="49085">
                      <a:moveTo>
                        <a:pt x="28348" y="0"/>
                      </a:moveTo>
                      <a:lnTo>
                        <a:pt x="28348" y="49085"/>
                      </a:lnTo>
                      <a:lnTo>
                        <a:pt x="0" y="24542"/>
                      </a:lnTo>
                      <a:lnTo>
                        <a:pt x="0" y="24530"/>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198" name="组合 197"/>
              <p:cNvGrpSpPr/>
              <p:nvPr/>
            </p:nvGrpSpPr>
            <p:grpSpPr>
              <a:xfrm flipH="1">
                <a:off x="1367377" y="980136"/>
                <a:ext cx="151155" cy="128468"/>
                <a:chOff x="1747249" y="1065892"/>
                <a:chExt cx="151155" cy="128468"/>
              </a:xfrm>
              <a:grpFill/>
            </p:grpSpPr>
            <p:sp>
              <p:nvSpPr>
                <p:cNvPr id="199" name="任意多边形: 形状 198"/>
                <p:cNvSpPr/>
                <p:nvPr/>
              </p:nvSpPr>
              <p:spPr>
                <a:xfrm>
                  <a:off x="1768513" y="1080983"/>
                  <a:ext cx="129891" cy="113377"/>
                </a:xfrm>
                <a:custGeom>
                  <a:avLst/>
                  <a:gdLst>
                    <a:gd name="connsiteX0" fmla="*/ 0 w 129891"/>
                    <a:gd name="connsiteY0" fmla="*/ 0 h 113377"/>
                    <a:gd name="connsiteX1" fmla="*/ 73209 w 129891"/>
                    <a:gd name="connsiteY1" fmla="*/ 0 h 113377"/>
                    <a:gd name="connsiteX2" fmla="*/ 113293 w 129891"/>
                    <a:gd name="connsiteY2" fmla="*/ 16597 h 113377"/>
                    <a:gd name="connsiteX3" fmla="*/ 129891 w 129891"/>
                    <a:gd name="connsiteY3" fmla="*/ 56683 h 113377"/>
                    <a:gd name="connsiteX4" fmla="*/ 113293 w 129891"/>
                    <a:gd name="connsiteY4" fmla="*/ 96768 h 113377"/>
                    <a:gd name="connsiteX5" fmla="*/ 73209 w 129891"/>
                    <a:gd name="connsiteY5" fmla="*/ 113377 h 113377"/>
                    <a:gd name="connsiteX6" fmla="*/ 47232 w 129891"/>
                    <a:gd name="connsiteY6" fmla="*/ 113377 h 113377"/>
                    <a:gd name="connsiteX7" fmla="*/ 35420 w 129891"/>
                    <a:gd name="connsiteY7" fmla="*/ 94471 h 113377"/>
                    <a:gd name="connsiteX8" fmla="*/ 73209 w 129891"/>
                    <a:gd name="connsiteY8" fmla="*/ 94471 h 113377"/>
                    <a:gd name="connsiteX9" fmla="*/ 99928 w 129891"/>
                    <a:gd name="connsiteY9" fmla="*/ 83402 h 113377"/>
                    <a:gd name="connsiteX10" fmla="*/ 110995 w 129891"/>
                    <a:gd name="connsiteY10" fmla="*/ 56683 h 113377"/>
                    <a:gd name="connsiteX11" fmla="*/ 99928 w 129891"/>
                    <a:gd name="connsiteY11" fmla="*/ 29963 h 113377"/>
                    <a:gd name="connsiteX12" fmla="*/ 73209 w 129891"/>
                    <a:gd name="connsiteY12" fmla="*/ 18906 h 113377"/>
                    <a:gd name="connsiteX13" fmla="*/ 0 w 129891"/>
                    <a:gd name="connsiteY13" fmla="*/ 18906 h 11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891" h="113377">
                      <a:moveTo>
                        <a:pt x="0" y="0"/>
                      </a:moveTo>
                      <a:lnTo>
                        <a:pt x="73209" y="0"/>
                      </a:lnTo>
                      <a:cubicBezTo>
                        <a:pt x="88861" y="0"/>
                        <a:pt x="102222" y="5532"/>
                        <a:pt x="113293" y="16597"/>
                      </a:cubicBezTo>
                      <a:cubicBezTo>
                        <a:pt x="124360" y="27669"/>
                        <a:pt x="129891" y="41031"/>
                        <a:pt x="129891" y="56683"/>
                      </a:cubicBezTo>
                      <a:cubicBezTo>
                        <a:pt x="129891" y="72334"/>
                        <a:pt x="124360" y="85696"/>
                        <a:pt x="113293" y="96768"/>
                      </a:cubicBezTo>
                      <a:cubicBezTo>
                        <a:pt x="102222" y="107841"/>
                        <a:pt x="88861" y="113377"/>
                        <a:pt x="73209" y="113377"/>
                      </a:cubicBezTo>
                      <a:lnTo>
                        <a:pt x="47232" y="113377"/>
                      </a:lnTo>
                      <a:lnTo>
                        <a:pt x="35420" y="94471"/>
                      </a:lnTo>
                      <a:lnTo>
                        <a:pt x="73209" y="94471"/>
                      </a:lnTo>
                      <a:cubicBezTo>
                        <a:pt x="83641" y="94471"/>
                        <a:pt x="92547" y="90782"/>
                        <a:pt x="99928" y="83402"/>
                      </a:cubicBezTo>
                      <a:cubicBezTo>
                        <a:pt x="107308" y="76023"/>
                        <a:pt x="110995" y="67117"/>
                        <a:pt x="110995" y="56683"/>
                      </a:cubicBezTo>
                      <a:cubicBezTo>
                        <a:pt x="110995" y="46248"/>
                        <a:pt x="107308" y="37342"/>
                        <a:pt x="99928" y="29963"/>
                      </a:cubicBezTo>
                      <a:cubicBezTo>
                        <a:pt x="92547" y="22592"/>
                        <a:pt x="83641" y="18906"/>
                        <a:pt x="73209" y="18906"/>
                      </a:cubicBezTo>
                      <a:lnTo>
                        <a:pt x="0" y="18906"/>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00" name="任意多边形: 形状 199"/>
                <p:cNvSpPr/>
                <p:nvPr/>
              </p:nvSpPr>
              <p:spPr>
                <a:xfrm>
                  <a:off x="1747249" y="1065892"/>
                  <a:ext cx="28348" cy="49085"/>
                </a:xfrm>
                <a:custGeom>
                  <a:avLst/>
                  <a:gdLst>
                    <a:gd name="connsiteX0" fmla="*/ 28348 w 28348"/>
                    <a:gd name="connsiteY0" fmla="*/ 0 h 49085"/>
                    <a:gd name="connsiteX1" fmla="*/ 28348 w 28348"/>
                    <a:gd name="connsiteY1" fmla="*/ 49085 h 49085"/>
                    <a:gd name="connsiteX2" fmla="*/ 0 w 28348"/>
                    <a:gd name="connsiteY2" fmla="*/ 24542 h 49085"/>
                    <a:gd name="connsiteX3" fmla="*/ 0 w 28348"/>
                    <a:gd name="connsiteY3" fmla="*/ 24530 h 49085"/>
                  </a:gdLst>
                  <a:ahLst/>
                  <a:cxnLst>
                    <a:cxn ang="0">
                      <a:pos x="connsiteX0" y="connsiteY0"/>
                    </a:cxn>
                    <a:cxn ang="0">
                      <a:pos x="connsiteX1" y="connsiteY1"/>
                    </a:cxn>
                    <a:cxn ang="0">
                      <a:pos x="connsiteX2" y="connsiteY2"/>
                    </a:cxn>
                    <a:cxn ang="0">
                      <a:pos x="connsiteX3" y="connsiteY3"/>
                    </a:cxn>
                  </a:cxnLst>
                  <a:rect l="l" t="t" r="r" b="b"/>
                  <a:pathLst>
                    <a:path w="28348" h="49085">
                      <a:moveTo>
                        <a:pt x="28348" y="0"/>
                      </a:moveTo>
                      <a:lnTo>
                        <a:pt x="28348" y="49085"/>
                      </a:lnTo>
                      <a:lnTo>
                        <a:pt x="0" y="24542"/>
                      </a:lnTo>
                      <a:lnTo>
                        <a:pt x="0" y="24530"/>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grpSp>
      <p:grpSp>
        <p:nvGrpSpPr>
          <p:cNvPr id="210" name="组合 209"/>
          <p:cNvGrpSpPr/>
          <p:nvPr/>
        </p:nvGrpSpPr>
        <p:grpSpPr>
          <a:xfrm>
            <a:off x="2782896" y="777766"/>
            <a:ext cx="2880000" cy="936000"/>
            <a:chOff x="2664407" y="930169"/>
            <a:chExt cx="2880000" cy="936000"/>
          </a:xfrm>
        </p:grpSpPr>
        <p:sp>
          <p:nvSpPr>
            <p:cNvPr id="182" name="文本框 181"/>
            <p:cNvSpPr txBox="1"/>
            <p:nvPr/>
          </p:nvSpPr>
          <p:spPr>
            <a:xfrm>
              <a:off x="2664407" y="930169"/>
              <a:ext cx="2880000" cy="936000"/>
            </a:xfrm>
            <a:prstGeom prst="roundRect">
              <a:avLst>
                <a:gd name="adj" fmla="val 3664"/>
              </a:avLst>
            </a:prstGeom>
            <a:solidFill>
              <a:schemeClr val="accent2">
                <a:lumMod val="20000"/>
                <a:lumOff val="80000"/>
                <a:alpha val="40000"/>
              </a:schemeClr>
            </a:solidFill>
            <a:ln w="6350">
              <a:noFill/>
            </a:ln>
          </p:spPr>
          <p:txBody>
            <a:bodyPr wrap="square" lIns="180000" rIns="108000" anchor="ctr">
              <a:noAutofit/>
            </a:bodyPr>
            <a:lstStyle/>
            <a:p>
              <a:pPr>
                <a:lnSpc>
                  <a:spcPct val="120000"/>
                </a:lnSpc>
              </a:pPr>
              <a:r>
                <a:rPr lang="zh-CN" altLang="en-US" sz="1400" b="0" i="0" dirty="0">
                  <a:latin typeface="+mn-ea"/>
                  <a:cs typeface="思源黑体 CN Normal" panose="020B0400000000000000" pitchFamily="34" charset="-122"/>
                </a:rPr>
                <a:t>先精准扫描产线痛点，锁定</a:t>
              </a:r>
              <a:r>
                <a:rPr lang="en-US" altLang="zh-CN" sz="1400" b="0" i="0" dirty="0">
                  <a:latin typeface="+mn-ea"/>
                  <a:cs typeface="思源黑体 CN Normal" panose="020B0400000000000000" pitchFamily="34" charset="-122"/>
                </a:rPr>
                <a:t>0.3</a:t>
              </a:r>
              <a:r>
                <a:rPr lang="zh-CN" altLang="en-US" sz="1400" b="0" i="0" dirty="0">
                  <a:latin typeface="+mn-ea"/>
                  <a:cs typeface="思源黑体 CN Normal" panose="020B0400000000000000" pitchFamily="34" charset="-122"/>
                </a:rPr>
                <a:t>毫米偏差废损源</a:t>
              </a:r>
              <a:endParaRPr lang="zh-CN" altLang="en-US" sz="1400" dirty="0">
                <a:latin typeface="+mn-ea"/>
                <a:cs typeface="思源黑体 CN Normal" panose="020B0400000000000000" pitchFamily="34" charset="-122"/>
              </a:endParaRPr>
            </a:p>
          </p:txBody>
        </p:sp>
        <p:sp>
          <p:nvSpPr>
            <p:cNvPr id="205" name="文本框 204"/>
            <p:cNvSpPr txBox="1"/>
            <p:nvPr/>
          </p:nvSpPr>
          <p:spPr>
            <a:xfrm>
              <a:off x="2664408" y="930169"/>
              <a:ext cx="235417" cy="237514"/>
            </a:xfrm>
            <a:custGeom>
              <a:avLst/>
              <a:gdLst>
                <a:gd name="connsiteX0" fmla="*/ 0 w 235417"/>
                <a:gd name="connsiteY0" fmla="*/ 0 h 237514"/>
                <a:gd name="connsiteX1" fmla="*/ 234994 w 235417"/>
                <a:gd name="connsiteY1" fmla="*/ 0 h 237514"/>
                <a:gd name="connsiteX2" fmla="*/ 235417 w 235417"/>
                <a:gd name="connsiteY2" fmla="*/ 2097 h 237514"/>
                <a:gd name="connsiteX3" fmla="*/ 0 w 235417"/>
                <a:gd name="connsiteY3" fmla="*/ 237514 h 237514"/>
              </a:gdLst>
              <a:ahLst/>
              <a:cxnLst>
                <a:cxn ang="0">
                  <a:pos x="connsiteX0" y="connsiteY0"/>
                </a:cxn>
                <a:cxn ang="0">
                  <a:pos x="connsiteX1" y="connsiteY1"/>
                </a:cxn>
                <a:cxn ang="0">
                  <a:pos x="connsiteX2" y="connsiteY2"/>
                </a:cxn>
                <a:cxn ang="0">
                  <a:pos x="connsiteX3" y="connsiteY3"/>
                </a:cxn>
              </a:cxnLst>
              <a:rect l="l" t="t" r="r" b="b"/>
              <a:pathLst>
                <a:path w="235417" h="237514">
                  <a:moveTo>
                    <a:pt x="0" y="0"/>
                  </a:moveTo>
                  <a:lnTo>
                    <a:pt x="234994" y="0"/>
                  </a:lnTo>
                  <a:lnTo>
                    <a:pt x="235417" y="2097"/>
                  </a:lnTo>
                  <a:cubicBezTo>
                    <a:pt x="235417" y="132114"/>
                    <a:pt x="130017" y="237514"/>
                    <a:pt x="0" y="237514"/>
                  </a:cubicBezTo>
                  <a:close/>
                </a:path>
              </a:pathLst>
            </a:custGeom>
            <a:solidFill>
              <a:schemeClr val="accent2"/>
            </a:solidFill>
            <a:ln w="6350">
              <a:noFill/>
            </a:ln>
          </p:spPr>
          <p:txBody>
            <a:bodyPr wrap="square" lIns="0" tIns="36000" rIns="36000" bIns="72000" anchor="ctr">
              <a:noAutofit/>
            </a:bodyPr>
            <a:lstStyle/>
            <a:p>
              <a:pPr algn="ctr">
                <a:lnSpc>
                  <a:spcPct val="120000"/>
                </a:lnSpc>
              </a:pPr>
              <a:r>
                <a:rPr lang="en-US" altLang="zh-CN" sz="1000" dirty="0">
                  <a:solidFill>
                    <a:schemeClr val="bg1"/>
                  </a:solidFill>
                  <a:latin typeface="+mj-ea"/>
                  <a:ea typeface="+mj-ea"/>
                  <a:cs typeface="思源黑体 CN Normal" panose="020B0400000000000000" pitchFamily="34" charset="-122"/>
                </a:rPr>
                <a:t>1</a:t>
              </a:r>
              <a:endParaRPr lang="zh-CN" altLang="en-US" sz="1000" dirty="0">
                <a:solidFill>
                  <a:schemeClr val="bg1"/>
                </a:solidFill>
                <a:latin typeface="+mj-ea"/>
                <a:ea typeface="+mj-ea"/>
                <a:cs typeface="思源黑体 CN Normal" panose="020B0400000000000000" pitchFamily="34" charset="-122"/>
              </a:endParaRPr>
            </a:p>
          </p:txBody>
        </p:sp>
      </p:grpSp>
      <p:grpSp>
        <p:nvGrpSpPr>
          <p:cNvPr id="211" name="组合 210"/>
          <p:cNvGrpSpPr/>
          <p:nvPr/>
        </p:nvGrpSpPr>
        <p:grpSpPr>
          <a:xfrm>
            <a:off x="5877856" y="777766"/>
            <a:ext cx="2880000" cy="936000"/>
            <a:chOff x="5764002" y="930169"/>
            <a:chExt cx="2880000" cy="936000"/>
          </a:xfrm>
        </p:grpSpPr>
        <p:sp>
          <p:nvSpPr>
            <p:cNvPr id="183" name="文本框 182"/>
            <p:cNvSpPr txBox="1"/>
            <p:nvPr/>
          </p:nvSpPr>
          <p:spPr>
            <a:xfrm>
              <a:off x="5764002" y="930169"/>
              <a:ext cx="2880000" cy="936000"/>
            </a:xfrm>
            <a:prstGeom prst="roundRect">
              <a:avLst>
                <a:gd name="adj" fmla="val 5812"/>
              </a:avLst>
            </a:prstGeom>
            <a:solidFill>
              <a:schemeClr val="accent2">
                <a:lumMod val="20000"/>
                <a:lumOff val="80000"/>
                <a:alpha val="40000"/>
              </a:schemeClr>
            </a:solidFill>
            <a:ln w="6350">
              <a:noFill/>
            </a:ln>
          </p:spPr>
          <p:txBody>
            <a:bodyPr wrap="square" lIns="180000" rIns="108000" anchor="ctr">
              <a:noAutofit/>
            </a:bodyPr>
            <a:lstStyle/>
            <a:p>
              <a:pPr>
                <a:lnSpc>
                  <a:spcPct val="120000"/>
                </a:lnSpc>
              </a:pPr>
              <a:r>
                <a:rPr lang="zh-CN" altLang="en-US" sz="1400" b="0" i="0" dirty="0">
                  <a:latin typeface="+mn-ea"/>
                  <a:cs typeface="思源黑体 CN Normal" panose="020B0400000000000000" pitchFamily="34" charset="-122"/>
                </a:rPr>
                <a:t>引入碳纤维</a:t>
              </a:r>
              <a:r>
                <a:rPr lang="en-US" altLang="zh-CN" sz="1400" b="0" i="0" dirty="0">
                  <a:latin typeface="+mn-ea"/>
                  <a:cs typeface="思源黑体 CN Normal" panose="020B0400000000000000" pitchFamily="34" charset="-122"/>
                </a:rPr>
                <a:t>-</a:t>
              </a:r>
              <a:r>
                <a:rPr lang="zh-CN" altLang="en-US" sz="1400" b="0" i="0" dirty="0">
                  <a:latin typeface="+mn-ea"/>
                  <a:cs typeface="思源黑体 CN Normal" panose="020B0400000000000000" pitchFamily="34" charset="-122"/>
                </a:rPr>
                <a:t>钛复合结构，实现</a:t>
              </a:r>
              <a:r>
                <a:rPr lang="en-US" altLang="zh-CN" sz="1400" b="0" i="0" dirty="0">
                  <a:latin typeface="+mn-ea"/>
                  <a:cs typeface="思源黑体 CN Normal" panose="020B0400000000000000" pitchFamily="34" charset="-122"/>
                </a:rPr>
                <a:t>42%</a:t>
              </a:r>
              <a:r>
                <a:rPr lang="zh-CN" altLang="en-US" sz="1400" b="0" i="0" dirty="0">
                  <a:latin typeface="+mn-ea"/>
                  <a:cs typeface="思源黑体 CN Normal" panose="020B0400000000000000" pitchFamily="34" charset="-122"/>
                </a:rPr>
                <a:t>轻量化与</a:t>
              </a:r>
              <a:r>
                <a:rPr lang="en-US" altLang="zh-CN" sz="1400" b="0" i="0" dirty="0">
                  <a:latin typeface="+mn-ea"/>
                  <a:cs typeface="思源黑体 CN Normal" panose="020B0400000000000000" pitchFamily="34" charset="-122"/>
                </a:rPr>
                <a:t>2.5g</a:t>
              </a:r>
              <a:r>
                <a:rPr lang="zh-CN" altLang="en-US" sz="1400" b="0" i="0" dirty="0">
                  <a:latin typeface="+mn-ea"/>
                  <a:cs typeface="思源黑体 CN Normal" panose="020B0400000000000000" pitchFamily="34" charset="-122"/>
                </a:rPr>
                <a:t>加速度</a:t>
              </a:r>
              <a:endParaRPr lang="zh-CN" altLang="en-US" sz="1400" dirty="0">
                <a:latin typeface="+mn-ea"/>
                <a:cs typeface="思源黑体 CN Normal" panose="020B0400000000000000" pitchFamily="34" charset="-122"/>
              </a:endParaRPr>
            </a:p>
          </p:txBody>
        </p:sp>
        <p:sp>
          <p:nvSpPr>
            <p:cNvPr id="206" name="文本框 205"/>
            <p:cNvSpPr txBox="1"/>
            <p:nvPr/>
          </p:nvSpPr>
          <p:spPr>
            <a:xfrm>
              <a:off x="5764002" y="930169"/>
              <a:ext cx="235417" cy="237514"/>
            </a:xfrm>
            <a:custGeom>
              <a:avLst/>
              <a:gdLst>
                <a:gd name="connsiteX0" fmla="*/ 0 w 235417"/>
                <a:gd name="connsiteY0" fmla="*/ 0 h 237514"/>
                <a:gd name="connsiteX1" fmla="*/ 234994 w 235417"/>
                <a:gd name="connsiteY1" fmla="*/ 0 h 237514"/>
                <a:gd name="connsiteX2" fmla="*/ 235417 w 235417"/>
                <a:gd name="connsiteY2" fmla="*/ 2097 h 237514"/>
                <a:gd name="connsiteX3" fmla="*/ 0 w 235417"/>
                <a:gd name="connsiteY3" fmla="*/ 237514 h 237514"/>
              </a:gdLst>
              <a:ahLst/>
              <a:cxnLst>
                <a:cxn ang="0">
                  <a:pos x="connsiteX0" y="connsiteY0"/>
                </a:cxn>
                <a:cxn ang="0">
                  <a:pos x="connsiteX1" y="connsiteY1"/>
                </a:cxn>
                <a:cxn ang="0">
                  <a:pos x="connsiteX2" y="connsiteY2"/>
                </a:cxn>
                <a:cxn ang="0">
                  <a:pos x="connsiteX3" y="connsiteY3"/>
                </a:cxn>
              </a:cxnLst>
              <a:rect l="l" t="t" r="r" b="b"/>
              <a:pathLst>
                <a:path w="235417" h="237514">
                  <a:moveTo>
                    <a:pt x="0" y="0"/>
                  </a:moveTo>
                  <a:lnTo>
                    <a:pt x="234994" y="0"/>
                  </a:lnTo>
                  <a:lnTo>
                    <a:pt x="235417" y="2097"/>
                  </a:lnTo>
                  <a:cubicBezTo>
                    <a:pt x="235417" y="132114"/>
                    <a:pt x="130017" y="237514"/>
                    <a:pt x="0" y="237514"/>
                  </a:cubicBezTo>
                  <a:close/>
                </a:path>
              </a:pathLst>
            </a:custGeom>
            <a:solidFill>
              <a:schemeClr val="accent2"/>
            </a:solidFill>
            <a:ln w="6350">
              <a:noFill/>
            </a:ln>
          </p:spPr>
          <p:txBody>
            <a:bodyPr wrap="square" lIns="0" tIns="36000" rIns="36000" bIns="72000" anchor="ctr">
              <a:noAutofit/>
            </a:bodyPr>
            <a:lstStyle/>
            <a:p>
              <a:pPr algn="ctr">
                <a:lnSpc>
                  <a:spcPct val="120000"/>
                </a:lnSpc>
              </a:pPr>
              <a:r>
                <a:rPr lang="en-US" altLang="zh-CN" sz="1000" dirty="0">
                  <a:solidFill>
                    <a:schemeClr val="bg1"/>
                  </a:solidFill>
                  <a:latin typeface="+mj-ea"/>
                  <a:ea typeface="+mj-ea"/>
                  <a:cs typeface="思源黑体 CN Normal" panose="020B0400000000000000" pitchFamily="34" charset="-122"/>
                </a:rPr>
                <a:t>2</a:t>
              </a:r>
              <a:endParaRPr lang="zh-CN" altLang="en-US" sz="1000" dirty="0">
                <a:solidFill>
                  <a:schemeClr val="bg1"/>
                </a:solidFill>
                <a:latin typeface="+mj-ea"/>
                <a:ea typeface="+mj-ea"/>
                <a:cs typeface="思源黑体 CN Normal" panose="020B0400000000000000" pitchFamily="34" charset="-122"/>
              </a:endParaRPr>
            </a:p>
          </p:txBody>
        </p:sp>
      </p:grpSp>
      <p:grpSp>
        <p:nvGrpSpPr>
          <p:cNvPr id="212" name="组合 211"/>
          <p:cNvGrpSpPr/>
          <p:nvPr/>
        </p:nvGrpSpPr>
        <p:grpSpPr>
          <a:xfrm>
            <a:off x="8972817" y="777766"/>
            <a:ext cx="2880000" cy="936000"/>
            <a:chOff x="8863597" y="930169"/>
            <a:chExt cx="2880000" cy="936000"/>
          </a:xfrm>
        </p:grpSpPr>
        <p:sp>
          <p:nvSpPr>
            <p:cNvPr id="184" name="文本框 183"/>
            <p:cNvSpPr txBox="1"/>
            <p:nvPr/>
          </p:nvSpPr>
          <p:spPr>
            <a:xfrm>
              <a:off x="8863597" y="930169"/>
              <a:ext cx="2880000" cy="936000"/>
            </a:xfrm>
            <a:prstGeom prst="roundRect">
              <a:avLst>
                <a:gd name="adj" fmla="val 4003"/>
              </a:avLst>
            </a:prstGeom>
            <a:solidFill>
              <a:schemeClr val="accent2">
                <a:lumMod val="20000"/>
                <a:lumOff val="80000"/>
                <a:alpha val="40000"/>
              </a:schemeClr>
            </a:solidFill>
            <a:ln w="6350">
              <a:noFill/>
            </a:ln>
          </p:spPr>
          <p:txBody>
            <a:bodyPr wrap="square" lIns="180000" rIns="108000" anchor="ctr">
              <a:noAutofit/>
            </a:bodyPr>
            <a:lstStyle/>
            <a:p>
              <a:pPr>
                <a:lnSpc>
                  <a:spcPct val="120000"/>
                </a:lnSpc>
              </a:pPr>
              <a:r>
                <a:rPr lang="zh-CN" altLang="en-US" sz="1400" b="0" i="0" dirty="0">
                  <a:latin typeface="+mn-ea"/>
                  <a:cs typeface="思源黑体 CN Normal" panose="020B0400000000000000" pitchFamily="34" charset="-122"/>
                </a:rPr>
                <a:t>嵌入</a:t>
              </a:r>
              <a:r>
                <a:rPr lang="en-US" altLang="zh-CN" sz="1400" b="0" i="0" dirty="0">
                  <a:latin typeface="+mn-ea"/>
                  <a:cs typeface="思源黑体 CN Normal" panose="020B0400000000000000" pitchFamily="34" charset="-122"/>
                </a:rPr>
                <a:t>MEMS</a:t>
              </a:r>
              <a:r>
                <a:rPr lang="zh-CN" altLang="en-US" sz="1400" b="0" i="0" dirty="0">
                  <a:latin typeface="+mn-ea"/>
                  <a:cs typeface="思源黑体 CN Normal" panose="020B0400000000000000" pitchFamily="34" charset="-122"/>
                </a:rPr>
                <a:t>阵列与算法，为高端制造提供可持续进化基座</a:t>
              </a:r>
              <a:endParaRPr lang="zh-CN" altLang="en-US" sz="1400" dirty="0">
                <a:latin typeface="+mn-ea"/>
                <a:cs typeface="思源黑体 CN Normal" panose="020B0400000000000000" pitchFamily="34" charset="-122"/>
              </a:endParaRPr>
            </a:p>
          </p:txBody>
        </p:sp>
        <p:sp>
          <p:nvSpPr>
            <p:cNvPr id="207" name="文本框 206"/>
            <p:cNvSpPr txBox="1"/>
            <p:nvPr/>
          </p:nvSpPr>
          <p:spPr>
            <a:xfrm>
              <a:off x="8863597" y="930169"/>
              <a:ext cx="235417" cy="237514"/>
            </a:xfrm>
            <a:custGeom>
              <a:avLst/>
              <a:gdLst>
                <a:gd name="connsiteX0" fmla="*/ 0 w 235417"/>
                <a:gd name="connsiteY0" fmla="*/ 0 h 237514"/>
                <a:gd name="connsiteX1" fmla="*/ 234994 w 235417"/>
                <a:gd name="connsiteY1" fmla="*/ 0 h 237514"/>
                <a:gd name="connsiteX2" fmla="*/ 235417 w 235417"/>
                <a:gd name="connsiteY2" fmla="*/ 2097 h 237514"/>
                <a:gd name="connsiteX3" fmla="*/ 0 w 235417"/>
                <a:gd name="connsiteY3" fmla="*/ 237514 h 237514"/>
              </a:gdLst>
              <a:ahLst/>
              <a:cxnLst>
                <a:cxn ang="0">
                  <a:pos x="connsiteX0" y="connsiteY0"/>
                </a:cxn>
                <a:cxn ang="0">
                  <a:pos x="connsiteX1" y="connsiteY1"/>
                </a:cxn>
                <a:cxn ang="0">
                  <a:pos x="connsiteX2" y="connsiteY2"/>
                </a:cxn>
                <a:cxn ang="0">
                  <a:pos x="connsiteX3" y="connsiteY3"/>
                </a:cxn>
              </a:cxnLst>
              <a:rect l="l" t="t" r="r" b="b"/>
              <a:pathLst>
                <a:path w="235417" h="237514">
                  <a:moveTo>
                    <a:pt x="0" y="0"/>
                  </a:moveTo>
                  <a:lnTo>
                    <a:pt x="234994" y="0"/>
                  </a:lnTo>
                  <a:lnTo>
                    <a:pt x="235417" y="2097"/>
                  </a:lnTo>
                  <a:cubicBezTo>
                    <a:pt x="235417" y="132114"/>
                    <a:pt x="130017" y="237514"/>
                    <a:pt x="0" y="237514"/>
                  </a:cubicBezTo>
                  <a:close/>
                </a:path>
              </a:pathLst>
            </a:custGeom>
            <a:solidFill>
              <a:schemeClr val="accent2"/>
            </a:solidFill>
            <a:ln w="6350">
              <a:noFill/>
            </a:ln>
          </p:spPr>
          <p:txBody>
            <a:bodyPr wrap="square" lIns="0" tIns="36000" rIns="36000" bIns="72000" anchor="ctr">
              <a:noAutofit/>
            </a:bodyPr>
            <a:lstStyle/>
            <a:p>
              <a:pPr algn="ctr">
                <a:lnSpc>
                  <a:spcPct val="120000"/>
                </a:lnSpc>
              </a:pPr>
              <a:r>
                <a:rPr lang="en-US" altLang="zh-CN" sz="1000" dirty="0">
                  <a:solidFill>
                    <a:schemeClr val="bg1"/>
                  </a:solidFill>
                  <a:latin typeface="+mj-ea"/>
                  <a:ea typeface="+mj-ea"/>
                  <a:cs typeface="思源黑体 CN Normal" panose="020B0400000000000000" pitchFamily="34" charset="-122"/>
                </a:rPr>
                <a:t>3</a:t>
              </a:r>
              <a:endParaRPr lang="zh-CN" altLang="en-US" sz="1000" dirty="0">
                <a:solidFill>
                  <a:schemeClr val="bg1"/>
                </a:solidFill>
                <a:latin typeface="+mj-ea"/>
                <a:ea typeface="+mj-ea"/>
                <a:cs typeface="思源黑体 CN Normal" panose="020B0400000000000000" pitchFamily="34" charset="-122"/>
              </a:endParaRPr>
            </a:p>
          </p:txBody>
        </p:sp>
      </p:grpSp>
      <p:sp>
        <p:nvSpPr>
          <p:cNvPr id="6"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递进关系</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阶段总结</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7"/>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336000" y="826426"/>
            <a:ext cx="2792144" cy="5761183"/>
            <a:chOff x="521441" y="826426"/>
            <a:chExt cx="2700000" cy="5761183"/>
          </a:xfrm>
        </p:grpSpPr>
        <p:sp>
          <p:nvSpPr>
            <p:cNvPr id="2" name="矩形: 圆角 1"/>
            <p:cNvSpPr/>
            <p:nvPr/>
          </p:nvSpPr>
          <p:spPr>
            <a:xfrm>
              <a:off x="521441" y="1722239"/>
              <a:ext cx="2700000" cy="4865370"/>
            </a:xfrm>
            <a:prstGeom prst="roundRect">
              <a:avLst>
                <a:gd name="adj" fmla="val 2697"/>
              </a:avLst>
            </a:prstGeom>
            <a:solidFill>
              <a:schemeClr val="bg1"/>
            </a:solidFill>
            <a:ln w="3175">
              <a:solidFill>
                <a:schemeClr val="accent1"/>
              </a:solidFill>
              <a:prstDash val="dash"/>
            </a:ln>
            <a:effectLst>
              <a:outerShdw blurRad="127000" sx="102000" sy="102000" algn="ctr"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 name="任意多边形: 形状 8"/>
            <p:cNvSpPr/>
            <p:nvPr/>
          </p:nvSpPr>
          <p:spPr>
            <a:xfrm flipH="1">
              <a:off x="631508" y="826426"/>
              <a:ext cx="2180147" cy="889463"/>
            </a:xfrm>
            <a:custGeom>
              <a:avLst/>
              <a:gdLst>
                <a:gd name="connsiteX0" fmla="*/ 1459561 w 2075308"/>
                <a:gd name="connsiteY0" fmla="*/ 358 h 889463"/>
                <a:gd name="connsiteX1" fmla="*/ 1393959 w 2075308"/>
                <a:gd name="connsiteY1" fmla="*/ 12828 h 889463"/>
                <a:gd name="connsiteX2" fmla="*/ 74498 w 2075308"/>
                <a:gd name="connsiteY2" fmla="*/ 641500 h 889463"/>
                <a:gd name="connsiteX3" fmla="*/ 130552 w 2075308"/>
                <a:gd name="connsiteY3" fmla="*/ 889463 h 889463"/>
                <a:gd name="connsiteX4" fmla="*/ 1450013 w 2075308"/>
                <a:gd name="connsiteY4" fmla="*/ 889463 h 889463"/>
                <a:gd name="connsiteX5" fmla="*/ 1453326 w 2075308"/>
                <a:gd name="connsiteY5" fmla="*/ 888794 h 889463"/>
                <a:gd name="connsiteX6" fmla="*/ 1453326 w 2075308"/>
                <a:gd name="connsiteY6" fmla="*/ 889463 h 889463"/>
                <a:gd name="connsiteX7" fmla="*/ 2075308 w 2075308"/>
                <a:gd name="connsiteY7" fmla="*/ 889463 h 889463"/>
                <a:gd name="connsiteX8" fmla="*/ 1580330 w 2075308"/>
                <a:gd name="connsiteY8" fmla="*/ 420510 h 889463"/>
                <a:gd name="connsiteX9" fmla="*/ 1580330 w 2075308"/>
                <a:gd name="connsiteY9" fmla="*/ 130474 h 889463"/>
                <a:gd name="connsiteX10" fmla="*/ 1459561 w 2075308"/>
                <a:gd name="connsiteY10" fmla="*/ 358 h 8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308" h="889463">
                  <a:moveTo>
                    <a:pt x="1459561" y="358"/>
                  </a:moveTo>
                  <a:cubicBezTo>
                    <a:pt x="1438036" y="-1257"/>
                    <a:pt x="1415578" y="2527"/>
                    <a:pt x="1393959" y="12828"/>
                  </a:cubicBezTo>
                  <a:lnTo>
                    <a:pt x="74498" y="641500"/>
                  </a:lnTo>
                  <a:cubicBezTo>
                    <a:pt x="-50925" y="701259"/>
                    <a:pt x="-8381" y="889463"/>
                    <a:pt x="130552" y="889463"/>
                  </a:cubicBezTo>
                  <a:lnTo>
                    <a:pt x="1450013" y="889463"/>
                  </a:lnTo>
                  <a:lnTo>
                    <a:pt x="1453326" y="888794"/>
                  </a:lnTo>
                  <a:lnTo>
                    <a:pt x="1453326" y="889463"/>
                  </a:lnTo>
                  <a:lnTo>
                    <a:pt x="2075308" y="889463"/>
                  </a:lnTo>
                  <a:lnTo>
                    <a:pt x="1580330" y="420510"/>
                  </a:lnTo>
                  <a:lnTo>
                    <a:pt x="1580330" y="130474"/>
                  </a:lnTo>
                  <a:cubicBezTo>
                    <a:pt x="1580330" y="58631"/>
                    <a:pt x="1524139" y="5201"/>
                    <a:pt x="1459561" y="358"/>
                  </a:cubicBezTo>
                  <a:close/>
                </a:path>
              </a:pathLst>
            </a:custGeom>
            <a:solidFill>
              <a:schemeClr val="accent1"/>
            </a:solidFill>
            <a:ln w="9525" cap="rnd">
              <a:solidFill>
                <a:schemeClr val="bg1"/>
              </a:solidFill>
              <a:round/>
            </a:ln>
            <a:effectLst>
              <a:outerShdw blurRad="76200" sx="102000" sy="102000" algn="ctr" rotWithShape="0">
                <a:schemeClr val="accent1">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22" name="组合 21"/>
          <p:cNvGrpSpPr/>
          <p:nvPr/>
        </p:nvGrpSpPr>
        <p:grpSpPr>
          <a:xfrm>
            <a:off x="3245285" y="826426"/>
            <a:ext cx="2792144" cy="5761183"/>
            <a:chOff x="521441" y="826426"/>
            <a:chExt cx="2700000" cy="5761183"/>
          </a:xfrm>
        </p:grpSpPr>
        <p:sp>
          <p:nvSpPr>
            <p:cNvPr id="23" name="矩形: 圆角 22"/>
            <p:cNvSpPr/>
            <p:nvPr/>
          </p:nvSpPr>
          <p:spPr>
            <a:xfrm>
              <a:off x="521441" y="1722239"/>
              <a:ext cx="2700000" cy="4865370"/>
            </a:xfrm>
            <a:prstGeom prst="roundRect">
              <a:avLst>
                <a:gd name="adj" fmla="val 2697"/>
              </a:avLst>
            </a:prstGeom>
            <a:solidFill>
              <a:schemeClr val="bg1"/>
            </a:solidFill>
            <a:ln w="3175">
              <a:solidFill>
                <a:schemeClr val="accent2"/>
              </a:solidFill>
              <a:prstDash val="dash"/>
            </a:ln>
            <a:effectLst>
              <a:outerShdw blurRad="127000" sx="102000" sy="102000" algn="ctr" rotWithShape="0">
                <a:schemeClr val="accent2">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4" name="任意多边形: 形状 23"/>
            <p:cNvSpPr/>
            <p:nvPr/>
          </p:nvSpPr>
          <p:spPr>
            <a:xfrm flipH="1">
              <a:off x="631508" y="826426"/>
              <a:ext cx="2180147" cy="889463"/>
            </a:xfrm>
            <a:custGeom>
              <a:avLst/>
              <a:gdLst>
                <a:gd name="connsiteX0" fmla="*/ 1459561 w 2075308"/>
                <a:gd name="connsiteY0" fmla="*/ 358 h 889463"/>
                <a:gd name="connsiteX1" fmla="*/ 1393959 w 2075308"/>
                <a:gd name="connsiteY1" fmla="*/ 12828 h 889463"/>
                <a:gd name="connsiteX2" fmla="*/ 74498 w 2075308"/>
                <a:gd name="connsiteY2" fmla="*/ 641500 h 889463"/>
                <a:gd name="connsiteX3" fmla="*/ 130552 w 2075308"/>
                <a:gd name="connsiteY3" fmla="*/ 889463 h 889463"/>
                <a:gd name="connsiteX4" fmla="*/ 1450013 w 2075308"/>
                <a:gd name="connsiteY4" fmla="*/ 889463 h 889463"/>
                <a:gd name="connsiteX5" fmla="*/ 1453326 w 2075308"/>
                <a:gd name="connsiteY5" fmla="*/ 888794 h 889463"/>
                <a:gd name="connsiteX6" fmla="*/ 1453326 w 2075308"/>
                <a:gd name="connsiteY6" fmla="*/ 889463 h 889463"/>
                <a:gd name="connsiteX7" fmla="*/ 2075308 w 2075308"/>
                <a:gd name="connsiteY7" fmla="*/ 889463 h 889463"/>
                <a:gd name="connsiteX8" fmla="*/ 1580330 w 2075308"/>
                <a:gd name="connsiteY8" fmla="*/ 420510 h 889463"/>
                <a:gd name="connsiteX9" fmla="*/ 1580330 w 2075308"/>
                <a:gd name="connsiteY9" fmla="*/ 130474 h 889463"/>
                <a:gd name="connsiteX10" fmla="*/ 1459561 w 2075308"/>
                <a:gd name="connsiteY10" fmla="*/ 358 h 8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308" h="889463">
                  <a:moveTo>
                    <a:pt x="1459561" y="358"/>
                  </a:moveTo>
                  <a:cubicBezTo>
                    <a:pt x="1438036" y="-1257"/>
                    <a:pt x="1415578" y="2527"/>
                    <a:pt x="1393959" y="12828"/>
                  </a:cubicBezTo>
                  <a:lnTo>
                    <a:pt x="74498" y="641500"/>
                  </a:lnTo>
                  <a:cubicBezTo>
                    <a:pt x="-50925" y="701259"/>
                    <a:pt x="-8381" y="889463"/>
                    <a:pt x="130552" y="889463"/>
                  </a:cubicBezTo>
                  <a:lnTo>
                    <a:pt x="1450013" y="889463"/>
                  </a:lnTo>
                  <a:lnTo>
                    <a:pt x="1453326" y="888794"/>
                  </a:lnTo>
                  <a:lnTo>
                    <a:pt x="1453326" y="889463"/>
                  </a:lnTo>
                  <a:lnTo>
                    <a:pt x="2075308" y="889463"/>
                  </a:lnTo>
                  <a:lnTo>
                    <a:pt x="1580330" y="420510"/>
                  </a:lnTo>
                  <a:lnTo>
                    <a:pt x="1580330" y="130474"/>
                  </a:lnTo>
                  <a:cubicBezTo>
                    <a:pt x="1580330" y="58631"/>
                    <a:pt x="1524139" y="5201"/>
                    <a:pt x="1459561" y="358"/>
                  </a:cubicBezTo>
                  <a:close/>
                </a:path>
              </a:pathLst>
            </a:custGeom>
            <a:solidFill>
              <a:schemeClr val="accent2"/>
            </a:solidFill>
            <a:ln w="9525" cap="rnd">
              <a:solidFill>
                <a:schemeClr val="bg1"/>
              </a:solidFill>
              <a:round/>
            </a:ln>
            <a:effectLst>
              <a:outerShdw blurRad="76200" sx="102000" sy="102000" algn="ctr" rotWithShape="0">
                <a:schemeClr val="accent2">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25" name="组合 24"/>
          <p:cNvGrpSpPr/>
          <p:nvPr/>
        </p:nvGrpSpPr>
        <p:grpSpPr>
          <a:xfrm>
            <a:off x="6154570" y="826426"/>
            <a:ext cx="2792144" cy="5761183"/>
            <a:chOff x="521441" y="826426"/>
            <a:chExt cx="2700000" cy="5761183"/>
          </a:xfrm>
        </p:grpSpPr>
        <p:sp>
          <p:nvSpPr>
            <p:cNvPr id="26" name="矩形: 圆角 25"/>
            <p:cNvSpPr/>
            <p:nvPr/>
          </p:nvSpPr>
          <p:spPr>
            <a:xfrm>
              <a:off x="521441" y="1722239"/>
              <a:ext cx="2700000" cy="4865370"/>
            </a:xfrm>
            <a:prstGeom prst="roundRect">
              <a:avLst>
                <a:gd name="adj" fmla="val 2697"/>
              </a:avLst>
            </a:prstGeom>
            <a:solidFill>
              <a:schemeClr val="bg1"/>
            </a:solidFill>
            <a:ln w="3175">
              <a:solidFill>
                <a:schemeClr val="accent1"/>
              </a:solidFill>
              <a:prstDash val="dash"/>
            </a:ln>
            <a:effectLst>
              <a:outerShdw blurRad="127000" sx="102000" sy="102000" algn="ctr"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7" name="任意多边形: 形状 26"/>
            <p:cNvSpPr/>
            <p:nvPr/>
          </p:nvSpPr>
          <p:spPr>
            <a:xfrm flipH="1">
              <a:off x="631508" y="826426"/>
              <a:ext cx="2180147" cy="889463"/>
            </a:xfrm>
            <a:custGeom>
              <a:avLst/>
              <a:gdLst>
                <a:gd name="connsiteX0" fmla="*/ 1459561 w 2075308"/>
                <a:gd name="connsiteY0" fmla="*/ 358 h 889463"/>
                <a:gd name="connsiteX1" fmla="*/ 1393959 w 2075308"/>
                <a:gd name="connsiteY1" fmla="*/ 12828 h 889463"/>
                <a:gd name="connsiteX2" fmla="*/ 74498 w 2075308"/>
                <a:gd name="connsiteY2" fmla="*/ 641500 h 889463"/>
                <a:gd name="connsiteX3" fmla="*/ 130552 w 2075308"/>
                <a:gd name="connsiteY3" fmla="*/ 889463 h 889463"/>
                <a:gd name="connsiteX4" fmla="*/ 1450013 w 2075308"/>
                <a:gd name="connsiteY4" fmla="*/ 889463 h 889463"/>
                <a:gd name="connsiteX5" fmla="*/ 1453326 w 2075308"/>
                <a:gd name="connsiteY5" fmla="*/ 888794 h 889463"/>
                <a:gd name="connsiteX6" fmla="*/ 1453326 w 2075308"/>
                <a:gd name="connsiteY6" fmla="*/ 889463 h 889463"/>
                <a:gd name="connsiteX7" fmla="*/ 2075308 w 2075308"/>
                <a:gd name="connsiteY7" fmla="*/ 889463 h 889463"/>
                <a:gd name="connsiteX8" fmla="*/ 1580330 w 2075308"/>
                <a:gd name="connsiteY8" fmla="*/ 420510 h 889463"/>
                <a:gd name="connsiteX9" fmla="*/ 1580330 w 2075308"/>
                <a:gd name="connsiteY9" fmla="*/ 130474 h 889463"/>
                <a:gd name="connsiteX10" fmla="*/ 1459561 w 2075308"/>
                <a:gd name="connsiteY10" fmla="*/ 358 h 8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308" h="889463">
                  <a:moveTo>
                    <a:pt x="1459561" y="358"/>
                  </a:moveTo>
                  <a:cubicBezTo>
                    <a:pt x="1438036" y="-1257"/>
                    <a:pt x="1415578" y="2527"/>
                    <a:pt x="1393959" y="12828"/>
                  </a:cubicBezTo>
                  <a:lnTo>
                    <a:pt x="74498" y="641500"/>
                  </a:lnTo>
                  <a:cubicBezTo>
                    <a:pt x="-50925" y="701259"/>
                    <a:pt x="-8381" y="889463"/>
                    <a:pt x="130552" y="889463"/>
                  </a:cubicBezTo>
                  <a:lnTo>
                    <a:pt x="1450013" y="889463"/>
                  </a:lnTo>
                  <a:lnTo>
                    <a:pt x="1453326" y="888794"/>
                  </a:lnTo>
                  <a:lnTo>
                    <a:pt x="1453326" y="889463"/>
                  </a:lnTo>
                  <a:lnTo>
                    <a:pt x="2075308" y="889463"/>
                  </a:lnTo>
                  <a:lnTo>
                    <a:pt x="1580330" y="420510"/>
                  </a:lnTo>
                  <a:lnTo>
                    <a:pt x="1580330" y="130474"/>
                  </a:lnTo>
                  <a:cubicBezTo>
                    <a:pt x="1580330" y="58631"/>
                    <a:pt x="1524139" y="5201"/>
                    <a:pt x="1459561" y="358"/>
                  </a:cubicBezTo>
                  <a:close/>
                </a:path>
              </a:pathLst>
            </a:custGeom>
            <a:solidFill>
              <a:schemeClr val="accent1"/>
            </a:solidFill>
            <a:ln w="9525" cap="rnd">
              <a:solidFill>
                <a:schemeClr val="bg1"/>
              </a:solidFill>
              <a:round/>
            </a:ln>
            <a:effectLst>
              <a:outerShdw blurRad="76200" sx="102000" sy="102000" algn="ctr" rotWithShape="0">
                <a:schemeClr val="accent1">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28" name="组合 27"/>
          <p:cNvGrpSpPr/>
          <p:nvPr/>
        </p:nvGrpSpPr>
        <p:grpSpPr>
          <a:xfrm>
            <a:off x="9063856" y="823151"/>
            <a:ext cx="2792144" cy="5764458"/>
            <a:chOff x="521441" y="823151"/>
            <a:chExt cx="2700000" cy="5764458"/>
          </a:xfrm>
        </p:grpSpPr>
        <p:sp>
          <p:nvSpPr>
            <p:cNvPr id="29" name="矩形: 圆角 28"/>
            <p:cNvSpPr/>
            <p:nvPr/>
          </p:nvSpPr>
          <p:spPr>
            <a:xfrm>
              <a:off x="521441" y="1722239"/>
              <a:ext cx="2700000" cy="4865370"/>
            </a:xfrm>
            <a:prstGeom prst="roundRect">
              <a:avLst>
                <a:gd name="adj" fmla="val 2697"/>
              </a:avLst>
            </a:prstGeom>
            <a:solidFill>
              <a:schemeClr val="bg1"/>
            </a:solidFill>
            <a:ln w="3175">
              <a:solidFill>
                <a:schemeClr val="accent2"/>
              </a:solidFill>
              <a:prstDash val="dash"/>
            </a:ln>
            <a:effectLst>
              <a:outerShdw blurRad="127000" sx="102000" sy="102000" algn="ctr" rotWithShape="0">
                <a:schemeClr val="accent2">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0" name="任意多边形: 形状 29"/>
            <p:cNvSpPr/>
            <p:nvPr/>
          </p:nvSpPr>
          <p:spPr>
            <a:xfrm flipH="1">
              <a:off x="631508" y="823151"/>
              <a:ext cx="2180147" cy="889463"/>
            </a:xfrm>
            <a:custGeom>
              <a:avLst/>
              <a:gdLst>
                <a:gd name="connsiteX0" fmla="*/ 1459561 w 2075308"/>
                <a:gd name="connsiteY0" fmla="*/ 358 h 889463"/>
                <a:gd name="connsiteX1" fmla="*/ 1393959 w 2075308"/>
                <a:gd name="connsiteY1" fmla="*/ 12828 h 889463"/>
                <a:gd name="connsiteX2" fmla="*/ 74498 w 2075308"/>
                <a:gd name="connsiteY2" fmla="*/ 641500 h 889463"/>
                <a:gd name="connsiteX3" fmla="*/ 130552 w 2075308"/>
                <a:gd name="connsiteY3" fmla="*/ 889463 h 889463"/>
                <a:gd name="connsiteX4" fmla="*/ 1450013 w 2075308"/>
                <a:gd name="connsiteY4" fmla="*/ 889463 h 889463"/>
                <a:gd name="connsiteX5" fmla="*/ 1453326 w 2075308"/>
                <a:gd name="connsiteY5" fmla="*/ 888794 h 889463"/>
                <a:gd name="connsiteX6" fmla="*/ 1453326 w 2075308"/>
                <a:gd name="connsiteY6" fmla="*/ 889463 h 889463"/>
                <a:gd name="connsiteX7" fmla="*/ 2075308 w 2075308"/>
                <a:gd name="connsiteY7" fmla="*/ 889463 h 889463"/>
                <a:gd name="connsiteX8" fmla="*/ 1580330 w 2075308"/>
                <a:gd name="connsiteY8" fmla="*/ 420510 h 889463"/>
                <a:gd name="connsiteX9" fmla="*/ 1580330 w 2075308"/>
                <a:gd name="connsiteY9" fmla="*/ 130474 h 889463"/>
                <a:gd name="connsiteX10" fmla="*/ 1459561 w 2075308"/>
                <a:gd name="connsiteY10" fmla="*/ 358 h 8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308" h="889463">
                  <a:moveTo>
                    <a:pt x="1459561" y="358"/>
                  </a:moveTo>
                  <a:cubicBezTo>
                    <a:pt x="1438036" y="-1257"/>
                    <a:pt x="1415578" y="2527"/>
                    <a:pt x="1393959" y="12828"/>
                  </a:cubicBezTo>
                  <a:lnTo>
                    <a:pt x="74498" y="641500"/>
                  </a:lnTo>
                  <a:cubicBezTo>
                    <a:pt x="-50925" y="701259"/>
                    <a:pt x="-8381" y="889463"/>
                    <a:pt x="130552" y="889463"/>
                  </a:cubicBezTo>
                  <a:lnTo>
                    <a:pt x="1450013" y="889463"/>
                  </a:lnTo>
                  <a:lnTo>
                    <a:pt x="1453326" y="888794"/>
                  </a:lnTo>
                  <a:lnTo>
                    <a:pt x="1453326" y="889463"/>
                  </a:lnTo>
                  <a:lnTo>
                    <a:pt x="2075308" y="889463"/>
                  </a:lnTo>
                  <a:lnTo>
                    <a:pt x="1580330" y="420510"/>
                  </a:lnTo>
                  <a:lnTo>
                    <a:pt x="1580330" y="130474"/>
                  </a:lnTo>
                  <a:cubicBezTo>
                    <a:pt x="1580330" y="58631"/>
                    <a:pt x="1524139" y="5201"/>
                    <a:pt x="1459561" y="358"/>
                  </a:cubicBezTo>
                  <a:close/>
                </a:path>
              </a:pathLst>
            </a:custGeom>
            <a:solidFill>
              <a:schemeClr val="accent2"/>
            </a:solidFill>
            <a:ln w="9525" cap="rnd">
              <a:solidFill>
                <a:schemeClr val="bg1"/>
              </a:solidFill>
              <a:round/>
            </a:ln>
            <a:effectLst>
              <a:outerShdw blurRad="76200" sx="102000" sy="102000" algn="ctr" rotWithShape="0">
                <a:schemeClr val="accent2">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31" name="文本框 30"/>
          <p:cNvSpPr txBox="1"/>
          <p:nvPr/>
        </p:nvSpPr>
        <p:spPr>
          <a:xfrm>
            <a:off x="995000" y="1290207"/>
            <a:ext cx="114580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第一季度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2" name="文本框 31"/>
          <p:cNvSpPr txBox="1"/>
          <p:nvPr/>
        </p:nvSpPr>
        <p:spPr>
          <a:xfrm>
            <a:off x="3908430" y="1290207"/>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第二季度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3" name="文本框 32"/>
          <p:cNvSpPr txBox="1"/>
          <p:nvPr/>
        </p:nvSpPr>
        <p:spPr>
          <a:xfrm>
            <a:off x="6821859" y="1290207"/>
            <a:ext cx="114580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第三季度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4" name="文本框 33"/>
          <p:cNvSpPr txBox="1"/>
          <p:nvPr/>
        </p:nvSpPr>
        <p:spPr>
          <a:xfrm>
            <a:off x="9735290" y="1290207"/>
            <a:ext cx="114580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第四季度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44" name="组合 43"/>
          <p:cNvGrpSpPr/>
          <p:nvPr/>
        </p:nvGrpSpPr>
        <p:grpSpPr>
          <a:xfrm>
            <a:off x="503687" y="1858603"/>
            <a:ext cx="2456770" cy="361637"/>
            <a:chOff x="643733" y="1858603"/>
            <a:chExt cx="2375694" cy="361637"/>
          </a:xfrm>
        </p:grpSpPr>
        <p:sp>
          <p:nvSpPr>
            <p:cNvPr id="38" name="文本框 37"/>
            <p:cNvSpPr txBox="1"/>
            <p:nvPr/>
          </p:nvSpPr>
          <p:spPr>
            <a:xfrm>
              <a:off x="643733"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研产品</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9" name="文本框 38"/>
            <p:cNvSpPr txBox="1"/>
            <p:nvPr/>
          </p:nvSpPr>
          <p:spPr>
            <a:xfrm>
              <a:off x="1453581"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搭团队</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0" name="文本框 39"/>
            <p:cNvSpPr txBox="1"/>
            <p:nvPr/>
          </p:nvSpPr>
          <p:spPr>
            <a:xfrm>
              <a:off x="2263427"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找投资</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1" name="矩形: 圆角 40"/>
            <p:cNvSpPr/>
            <p:nvPr/>
          </p:nvSpPr>
          <p:spPr>
            <a:xfrm>
              <a:off x="1415857" y="1949421"/>
              <a:ext cx="21600" cy="180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2" name="矩形: 圆角 41"/>
            <p:cNvSpPr/>
            <p:nvPr/>
          </p:nvSpPr>
          <p:spPr>
            <a:xfrm>
              <a:off x="2225705" y="1949421"/>
              <a:ext cx="21600" cy="180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9" name="组合 58"/>
          <p:cNvGrpSpPr/>
          <p:nvPr/>
        </p:nvGrpSpPr>
        <p:grpSpPr>
          <a:xfrm>
            <a:off x="3412972" y="1858603"/>
            <a:ext cx="2456770" cy="361637"/>
            <a:chOff x="643733" y="1858603"/>
            <a:chExt cx="2375694" cy="361637"/>
          </a:xfrm>
        </p:grpSpPr>
        <p:sp>
          <p:nvSpPr>
            <p:cNvPr id="69" name="文本框 68"/>
            <p:cNvSpPr txBox="1"/>
            <p:nvPr/>
          </p:nvSpPr>
          <p:spPr>
            <a:xfrm>
              <a:off x="643733"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测产品</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0" name="文本框 69"/>
            <p:cNvSpPr txBox="1"/>
            <p:nvPr/>
          </p:nvSpPr>
          <p:spPr>
            <a:xfrm>
              <a:off x="1453581"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拓渠道</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1" name="文本框 70"/>
            <p:cNvSpPr txBox="1"/>
            <p:nvPr/>
          </p:nvSpPr>
          <p:spPr>
            <a:xfrm>
              <a:off x="2263427"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树品牌</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2" name="矩形: 圆角 71"/>
            <p:cNvSpPr/>
            <p:nvPr/>
          </p:nvSpPr>
          <p:spPr>
            <a:xfrm>
              <a:off x="1415857" y="1949421"/>
              <a:ext cx="21600" cy="1800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3" name="矩形: 圆角 72"/>
            <p:cNvSpPr/>
            <p:nvPr/>
          </p:nvSpPr>
          <p:spPr>
            <a:xfrm>
              <a:off x="2225705" y="1949421"/>
              <a:ext cx="21600" cy="1800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75" name="组合 74"/>
          <p:cNvGrpSpPr/>
          <p:nvPr/>
        </p:nvGrpSpPr>
        <p:grpSpPr>
          <a:xfrm>
            <a:off x="6322256" y="1858603"/>
            <a:ext cx="2456770" cy="361637"/>
            <a:chOff x="643737" y="1858603"/>
            <a:chExt cx="2375710" cy="361637"/>
          </a:xfrm>
        </p:grpSpPr>
        <p:sp>
          <p:nvSpPr>
            <p:cNvPr id="85" name="文本框 84"/>
            <p:cNvSpPr txBox="1"/>
            <p:nvPr/>
          </p:nvSpPr>
          <p:spPr>
            <a:xfrm>
              <a:off x="643737"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促销售</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6" name="文本框 85"/>
            <p:cNvSpPr txBox="1"/>
            <p:nvPr/>
          </p:nvSpPr>
          <p:spPr>
            <a:xfrm>
              <a:off x="1453591"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优服务</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7" name="文本框 86"/>
            <p:cNvSpPr txBox="1"/>
            <p:nvPr/>
          </p:nvSpPr>
          <p:spPr>
            <a:xfrm>
              <a:off x="2263442"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 研新品</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8" name="矩形: 圆角 87"/>
            <p:cNvSpPr/>
            <p:nvPr/>
          </p:nvSpPr>
          <p:spPr>
            <a:xfrm>
              <a:off x="1415867" y="1949421"/>
              <a:ext cx="21600" cy="180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9" name="矩形: 圆角 88"/>
            <p:cNvSpPr/>
            <p:nvPr/>
          </p:nvSpPr>
          <p:spPr>
            <a:xfrm>
              <a:off x="2225705" y="1949421"/>
              <a:ext cx="21600" cy="180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91" name="组合 90"/>
          <p:cNvGrpSpPr/>
          <p:nvPr/>
        </p:nvGrpSpPr>
        <p:grpSpPr>
          <a:xfrm>
            <a:off x="9231542" y="1858603"/>
            <a:ext cx="2456770" cy="361637"/>
            <a:chOff x="643737" y="1858603"/>
            <a:chExt cx="2375710" cy="361637"/>
          </a:xfrm>
        </p:grpSpPr>
        <p:sp>
          <p:nvSpPr>
            <p:cNvPr id="101" name="文本框 100"/>
            <p:cNvSpPr txBox="1"/>
            <p:nvPr/>
          </p:nvSpPr>
          <p:spPr>
            <a:xfrm>
              <a:off x="643737"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盘成果</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2" name="文本框 101"/>
            <p:cNvSpPr txBox="1"/>
            <p:nvPr/>
          </p:nvSpPr>
          <p:spPr>
            <a:xfrm>
              <a:off x="1453591"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维客户</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3" name="文本框 102"/>
            <p:cNvSpPr txBox="1"/>
            <p:nvPr/>
          </p:nvSpPr>
          <p:spPr>
            <a:xfrm>
              <a:off x="2263442"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谋新划</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4" name="矩形: 圆角 103"/>
            <p:cNvSpPr/>
            <p:nvPr/>
          </p:nvSpPr>
          <p:spPr>
            <a:xfrm>
              <a:off x="1415867" y="1949421"/>
              <a:ext cx="21600" cy="1800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5" name="矩形: 圆角 104"/>
            <p:cNvSpPr/>
            <p:nvPr/>
          </p:nvSpPr>
          <p:spPr>
            <a:xfrm>
              <a:off x="2225705" y="1949421"/>
              <a:ext cx="21600" cy="1800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pic>
        <p:nvPicPr>
          <p:cNvPr id="125" name="图形 12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17985" y="5105583"/>
            <a:ext cx="446743" cy="432000"/>
          </a:xfrm>
          <a:prstGeom prst="rect">
            <a:avLst/>
          </a:prstGeom>
        </p:spPr>
      </p:pic>
      <p:sp>
        <p:nvSpPr>
          <p:cNvPr id="45" name="文本框 44"/>
          <p:cNvSpPr txBox="1"/>
          <p:nvPr/>
        </p:nvSpPr>
        <p:spPr>
          <a:xfrm>
            <a:off x="1192258" y="2741973"/>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精研发</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49" name="文本框 48"/>
          <p:cNvSpPr txBox="1"/>
          <p:nvPr/>
        </p:nvSpPr>
        <p:spPr>
          <a:xfrm>
            <a:off x="466300" y="3046995"/>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180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聚焦智能家居核心产品，投入专业研发团队，深入研究用户需求</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7" name="文本框 66"/>
          <p:cNvSpPr txBox="1"/>
          <p:nvPr/>
        </p:nvSpPr>
        <p:spPr>
          <a:xfrm>
            <a:off x="4101542" y="2741973"/>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严测试</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68" name="文本框 67"/>
          <p:cNvSpPr txBox="1"/>
          <p:nvPr/>
        </p:nvSpPr>
        <p:spPr>
          <a:xfrm>
            <a:off x="3375585" y="3046995"/>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180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对研发出的智能家居产品进行全面严格测试，确保产品质量和稳定性</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3" name="文本框 82"/>
          <p:cNvSpPr txBox="1"/>
          <p:nvPr/>
        </p:nvSpPr>
        <p:spPr>
          <a:xfrm>
            <a:off x="7010827" y="2741973"/>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冲业绩</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84" name="文本框 83"/>
          <p:cNvSpPr txBox="1"/>
          <p:nvPr/>
        </p:nvSpPr>
        <p:spPr>
          <a:xfrm>
            <a:off x="6284870" y="3046995"/>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180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制定针对性营销策略，全力推动智能家居产品销售，实现业绩增长</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9" name="文本框 98"/>
          <p:cNvSpPr txBox="1"/>
          <p:nvPr/>
        </p:nvSpPr>
        <p:spPr>
          <a:xfrm>
            <a:off x="9920113" y="2741973"/>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总经验</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100" name="文本框 99"/>
          <p:cNvSpPr txBox="1"/>
          <p:nvPr/>
        </p:nvSpPr>
        <p:spPr>
          <a:xfrm>
            <a:off x="9194156" y="3046995"/>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180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对全年销售数据、市场反馈、项目进展等进行全面盘点，总结经验</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pic>
        <p:nvPicPr>
          <p:cNvPr id="112" name="图形 1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64543" y="2384005"/>
            <a:ext cx="335057" cy="324000"/>
          </a:xfrm>
          <a:prstGeom prst="rect">
            <a:avLst/>
          </a:prstGeom>
        </p:spPr>
      </p:pic>
      <p:pic>
        <p:nvPicPr>
          <p:cNvPr id="121" name="图形 12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92443" y="2384005"/>
            <a:ext cx="297829" cy="288000"/>
          </a:xfrm>
          <a:prstGeom prst="rect">
            <a:avLst/>
          </a:prstGeom>
        </p:spPr>
      </p:pic>
      <p:pic>
        <p:nvPicPr>
          <p:cNvPr id="127" name="图形 12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83113" y="2384005"/>
            <a:ext cx="335057" cy="324000"/>
          </a:xfrm>
          <a:prstGeom prst="rect">
            <a:avLst/>
          </a:prstGeom>
        </p:spPr>
      </p:pic>
      <p:pic>
        <p:nvPicPr>
          <p:cNvPr id="133" name="图形 13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92399" y="2384005"/>
            <a:ext cx="335057" cy="324000"/>
          </a:xfrm>
          <a:prstGeom prst="rect">
            <a:avLst/>
          </a:prstGeom>
        </p:spPr>
      </p:pic>
      <p:sp>
        <p:nvSpPr>
          <p:cNvPr id="46" name="文本框 45"/>
          <p:cNvSpPr txBox="1"/>
          <p:nvPr/>
        </p:nvSpPr>
        <p:spPr>
          <a:xfrm>
            <a:off x="1192258" y="4130170"/>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组精英</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50" name="文本框 49"/>
          <p:cNvSpPr txBox="1"/>
          <p:nvPr/>
        </p:nvSpPr>
        <p:spPr>
          <a:xfrm>
            <a:off x="466300" y="4435192"/>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广纳贤才，招募技术、市场、运营等多领域专业人才，推动项目进展</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5" name="文本框 64"/>
          <p:cNvSpPr txBox="1"/>
          <p:nvPr/>
        </p:nvSpPr>
        <p:spPr>
          <a:xfrm>
            <a:off x="4101542" y="4130170"/>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铺路径</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66" name="文本框 65"/>
          <p:cNvSpPr txBox="1"/>
          <p:nvPr/>
        </p:nvSpPr>
        <p:spPr>
          <a:xfrm>
            <a:off x="3375585" y="4435192"/>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与电商平台、实体经销商建立合作，搭建和社交媒体账号，推广打通</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1" name="文本框 80"/>
          <p:cNvSpPr txBox="1"/>
          <p:nvPr/>
        </p:nvSpPr>
        <p:spPr>
          <a:xfrm>
            <a:off x="7010827" y="4130170"/>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提体验</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82" name="文本框 81"/>
          <p:cNvSpPr txBox="1"/>
          <p:nvPr/>
        </p:nvSpPr>
        <p:spPr>
          <a:xfrm>
            <a:off x="6284870" y="4435192"/>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建立完善售后服务体系，及时响应客户咨询和投诉，提升客户满意度</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7" name="文本框 96"/>
          <p:cNvSpPr txBox="1"/>
          <p:nvPr/>
        </p:nvSpPr>
        <p:spPr>
          <a:xfrm>
            <a:off x="9920113" y="4130170"/>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固关系</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98" name="文本框 97"/>
          <p:cNvSpPr txBox="1"/>
          <p:nvPr/>
        </p:nvSpPr>
        <p:spPr>
          <a:xfrm>
            <a:off x="9194156" y="4435192"/>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加强与老客户的沟通与互动，开展客户回馈活动，了解客户需求变化</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pic>
        <p:nvPicPr>
          <p:cNvPr id="114" name="图形 113"/>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64543" y="3770729"/>
            <a:ext cx="335057" cy="324000"/>
          </a:xfrm>
          <a:prstGeom prst="rect">
            <a:avLst/>
          </a:prstGeom>
        </p:spPr>
      </p:pic>
      <p:pic>
        <p:nvPicPr>
          <p:cNvPr id="123" name="图形 122"/>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473828" y="3770729"/>
            <a:ext cx="335057" cy="324000"/>
          </a:xfrm>
          <a:prstGeom prst="rect">
            <a:avLst/>
          </a:prstGeom>
        </p:spPr>
      </p:pic>
      <p:pic>
        <p:nvPicPr>
          <p:cNvPr id="129" name="图形 128"/>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01728" y="3770729"/>
            <a:ext cx="297829" cy="288000"/>
          </a:xfrm>
          <a:prstGeom prst="rect">
            <a:avLst/>
          </a:prstGeom>
        </p:spPr>
      </p:pic>
      <p:pic>
        <p:nvPicPr>
          <p:cNvPr id="135" name="图形 134"/>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292399" y="3770729"/>
            <a:ext cx="335057" cy="324000"/>
          </a:xfrm>
          <a:prstGeom prst="rect">
            <a:avLst/>
          </a:prstGeom>
        </p:spPr>
      </p:pic>
      <p:sp>
        <p:nvSpPr>
          <p:cNvPr id="47" name="文本框 46"/>
          <p:cNvSpPr txBox="1"/>
          <p:nvPr/>
        </p:nvSpPr>
        <p:spPr>
          <a:xfrm>
            <a:off x="1192258" y="5531267"/>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寻资金</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51" name="文本框 50"/>
          <p:cNvSpPr txBox="1"/>
          <p:nvPr/>
        </p:nvSpPr>
        <p:spPr>
          <a:xfrm>
            <a:off x="466300" y="5836290"/>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与各大投资机构对接，展示项目潜力与市场前景，争取解决项目资金</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文本框 62"/>
          <p:cNvSpPr txBox="1"/>
          <p:nvPr/>
        </p:nvSpPr>
        <p:spPr>
          <a:xfrm>
            <a:off x="4101542" y="5531267"/>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塑形象</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64" name="文本框 63"/>
          <p:cNvSpPr txBox="1"/>
          <p:nvPr/>
        </p:nvSpPr>
        <p:spPr>
          <a:xfrm>
            <a:off x="3375585" y="5836290"/>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参加行业展会、举办新品发布会等活动，提升品牌知名度，塑造品牌形象</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9" name="文本框 78"/>
          <p:cNvSpPr txBox="1"/>
          <p:nvPr/>
        </p:nvSpPr>
        <p:spPr>
          <a:xfrm>
            <a:off x="7010827" y="5531267"/>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推创新</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80" name="文本框 79"/>
          <p:cNvSpPr txBox="1"/>
          <p:nvPr/>
        </p:nvSpPr>
        <p:spPr>
          <a:xfrm>
            <a:off x="6284870" y="5836290"/>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根据市场反馈和行业发展趋势，保持创新活力，满足不断变化的需求</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5" name="文本框 94"/>
          <p:cNvSpPr txBox="1"/>
          <p:nvPr/>
        </p:nvSpPr>
        <p:spPr>
          <a:xfrm>
            <a:off x="9920113" y="5531267"/>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定方向</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96" name="文本框 95"/>
          <p:cNvSpPr txBox="1"/>
          <p:nvPr/>
        </p:nvSpPr>
        <p:spPr>
          <a:xfrm>
            <a:off x="9194156" y="5836290"/>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制定发展战略和业务计划，明确目标与重点，为发展指明方向</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pic>
        <p:nvPicPr>
          <p:cNvPr id="116" name="图形 1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64543" y="5158924"/>
            <a:ext cx="335057" cy="324000"/>
          </a:xfrm>
          <a:prstGeom prst="rect">
            <a:avLst/>
          </a:prstGeom>
        </p:spPr>
      </p:pic>
      <p:pic>
        <p:nvPicPr>
          <p:cNvPr id="131" name="图形 130"/>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83113" y="5158924"/>
            <a:ext cx="335057" cy="324000"/>
          </a:xfrm>
          <a:prstGeom prst="rect">
            <a:avLst/>
          </a:prstGeom>
        </p:spPr>
      </p:pic>
      <p:pic>
        <p:nvPicPr>
          <p:cNvPr id="137" name="图形 136"/>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292399" y="5158924"/>
            <a:ext cx="335057" cy="324000"/>
          </a:xfrm>
          <a:prstGeom prst="rect">
            <a:avLst/>
          </a:prstGeom>
        </p:spPr>
      </p:pic>
      <p:sp>
        <p:nvSpPr>
          <p:cNvPr id="139" name="矩形 138"/>
          <p:cNvSpPr/>
          <p:nvPr/>
        </p:nvSpPr>
        <p:spPr>
          <a:xfrm>
            <a:off x="559372" y="2194840"/>
            <a:ext cx="2345401" cy="3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40" name="矩形 139"/>
          <p:cNvSpPr/>
          <p:nvPr/>
        </p:nvSpPr>
        <p:spPr>
          <a:xfrm>
            <a:off x="3468656" y="2194840"/>
            <a:ext cx="2345401"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41" name="矩形 140"/>
          <p:cNvSpPr/>
          <p:nvPr/>
        </p:nvSpPr>
        <p:spPr>
          <a:xfrm>
            <a:off x="6377941" y="2194840"/>
            <a:ext cx="2345401" cy="3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42" name="矩形 141"/>
          <p:cNvSpPr/>
          <p:nvPr/>
        </p:nvSpPr>
        <p:spPr>
          <a:xfrm>
            <a:off x="9287227" y="2194840"/>
            <a:ext cx="2345401"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53" name="任意多边形: 形状 152"/>
          <p:cNvSpPr/>
          <p:nvPr/>
        </p:nvSpPr>
        <p:spPr>
          <a:xfrm>
            <a:off x="691905" y="3652807"/>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54" name="任意多边形: 形状 153"/>
          <p:cNvSpPr/>
          <p:nvPr/>
        </p:nvSpPr>
        <p:spPr>
          <a:xfrm>
            <a:off x="691905" y="5041004"/>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57" name="任意多边形: 形状 156"/>
          <p:cNvSpPr/>
          <p:nvPr/>
        </p:nvSpPr>
        <p:spPr>
          <a:xfrm>
            <a:off x="3601190" y="3652807"/>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2"/>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58" name="任意多边形: 形状 157"/>
          <p:cNvSpPr/>
          <p:nvPr/>
        </p:nvSpPr>
        <p:spPr>
          <a:xfrm>
            <a:off x="3601190" y="5041004"/>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2"/>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0" name="任意多边形: 形状 159"/>
          <p:cNvSpPr/>
          <p:nvPr/>
        </p:nvSpPr>
        <p:spPr>
          <a:xfrm>
            <a:off x="6510475" y="3652807"/>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1" name="任意多边形: 形状 160"/>
          <p:cNvSpPr/>
          <p:nvPr/>
        </p:nvSpPr>
        <p:spPr>
          <a:xfrm>
            <a:off x="6510475" y="5041004"/>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3" name="任意多边形: 形状 162"/>
          <p:cNvSpPr/>
          <p:nvPr/>
        </p:nvSpPr>
        <p:spPr>
          <a:xfrm>
            <a:off x="9419761" y="3652807"/>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2"/>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4" name="任意多边形: 形状 163"/>
          <p:cNvSpPr/>
          <p:nvPr/>
        </p:nvSpPr>
        <p:spPr>
          <a:xfrm>
            <a:off x="9419761" y="5041004"/>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2"/>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 name="大标题"/>
          <p:cNvSpPr txBox="1"/>
          <p:nvPr/>
        </p:nvSpPr>
        <p:spPr>
          <a:xfrm>
            <a:off x="313944" y="147026"/>
            <a:ext cx="5379123"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并列关系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季度工作完成情况</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2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任意多边形: 形状 317"/>
          <p:cNvSpPr/>
          <p:nvPr/>
        </p:nvSpPr>
        <p:spPr>
          <a:xfrm>
            <a:off x="0" y="837923"/>
            <a:ext cx="12192001" cy="6020077"/>
          </a:xfrm>
          <a:custGeom>
            <a:avLst/>
            <a:gdLst>
              <a:gd name="connsiteX0" fmla="*/ 12192001 w 12192001"/>
              <a:gd name="connsiteY0" fmla="*/ 0 h 6020077"/>
              <a:gd name="connsiteX1" fmla="*/ 12192001 w 12192001"/>
              <a:gd name="connsiteY1" fmla="*/ 6020077 h 6020077"/>
              <a:gd name="connsiteX2" fmla="*/ 7721016 w 12192001"/>
              <a:gd name="connsiteY2" fmla="*/ 5483315 h 6020077"/>
              <a:gd name="connsiteX3" fmla="*/ 7756555 w 12192001"/>
              <a:gd name="connsiteY3" fmla="*/ 5461724 h 6020077"/>
              <a:gd name="connsiteX4" fmla="*/ 9065999 w 12192001"/>
              <a:gd name="connsiteY4" fmla="*/ 2998954 h 6020077"/>
              <a:gd name="connsiteX5" fmla="*/ 7756555 w 12192001"/>
              <a:gd name="connsiteY5" fmla="*/ 536184 h 6020077"/>
              <a:gd name="connsiteX6" fmla="*/ 7751486 w 12192001"/>
              <a:gd name="connsiteY6" fmla="*/ 533105 h 6020077"/>
              <a:gd name="connsiteX7" fmla="*/ 0 w 12192001"/>
              <a:gd name="connsiteY7" fmla="*/ 0 h 6020077"/>
              <a:gd name="connsiteX8" fmla="*/ 4440516 w 12192001"/>
              <a:gd name="connsiteY8" fmla="*/ 533105 h 6020077"/>
              <a:gd name="connsiteX9" fmla="*/ 4435446 w 12192001"/>
              <a:gd name="connsiteY9" fmla="*/ 536184 h 6020077"/>
              <a:gd name="connsiteX10" fmla="*/ 3126001 w 12192001"/>
              <a:gd name="connsiteY10" fmla="*/ 2998954 h 6020077"/>
              <a:gd name="connsiteX11" fmla="*/ 4435446 w 12192001"/>
              <a:gd name="connsiteY11" fmla="*/ 5461724 h 6020077"/>
              <a:gd name="connsiteX12" fmla="*/ 4470985 w 12192001"/>
              <a:gd name="connsiteY12" fmla="*/ 5483315 h 6020077"/>
              <a:gd name="connsiteX13" fmla="*/ 0 w 12192001"/>
              <a:gd name="connsiteY13" fmla="*/ 6020077 h 602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1" h="6020077">
                <a:moveTo>
                  <a:pt x="12192001" y="0"/>
                </a:moveTo>
                <a:lnTo>
                  <a:pt x="12192001" y="6020077"/>
                </a:lnTo>
                <a:lnTo>
                  <a:pt x="7721016" y="5483315"/>
                </a:lnTo>
                <a:lnTo>
                  <a:pt x="7756555" y="5461724"/>
                </a:lnTo>
                <a:cubicBezTo>
                  <a:pt x="8546579" y="4927994"/>
                  <a:pt x="9065999" y="4024132"/>
                  <a:pt x="9065999" y="2998954"/>
                </a:cubicBezTo>
                <a:cubicBezTo>
                  <a:pt x="9065999" y="1973776"/>
                  <a:pt x="8546579" y="1069915"/>
                  <a:pt x="7756555" y="536184"/>
                </a:cubicBezTo>
                <a:lnTo>
                  <a:pt x="7751486" y="533105"/>
                </a:lnTo>
                <a:close/>
                <a:moveTo>
                  <a:pt x="0" y="0"/>
                </a:moveTo>
                <a:lnTo>
                  <a:pt x="4440516" y="533105"/>
                </a:lnTo>
                <a:lnTo>
                  <a:pt x="4435446" y="536184"/>
                </a:lnTo>
                <a:cubicBezTo>
                  <a:pt x="3645421" y="1069915"/>
                  <a:pt x="3126001" y="1973776"/>
                  <a:pt x="3126001" y="2998954"/>
                </a:cubicBezTo>
                <a:cubicBezTo>
                  <a:pt x="3126001" y="4024132"/>
                  <a:pt x="3645421" y="4927994"/>
                  <a:pt x="4435446" y="5461724"/>
                </a:cubicBezTo>
                <a:lnTo>
                  <a:pt x="4470985" y="5483315"/>
                </a:lnTo>
                <a:lnTo>
                  <a:pt x="0" y="6020077"/>
                </a:lnTo>
                <a:close/>
              </a:path>
            </a:pathLst>
          </a:custGeom>
          <a:gradFill flip="none" rotWithShape="1">
            <a:gsLst>
              <a:gs pos="30000">
                <a:schemeClr val="accent1">
                  <a:lumMod val="20000"/>
                  <a:lumOff val="80000"/>
                  <a:alpha val="0"/>
                </a:schemeClr>
              </a:gs>
              <a:gs pos="86000">
                <a:schemeClr val="accent1">
                  <a:lumMod val="20000"/>
                  <a:lumOff val="80000"/>
                  <a:alpha val="40000"/>
                </a:schemeClr>
              </a:gs>
            </a:gsLst>
            <a:path path="circle">
              <a:fillToRect l="50000" t="50000" r="50000" b="50000"/>
            </a:path>
            <a:tileRect/>
          </a:gradFill>
          <a:ln w="3175">
            <a:gradFill>
              <a:gsLst>
                <a:gs pos="0">
                  <a:schemeClr val="accent1"/>
                </a:gs>
                <a:gs pos="50000">
                  <a:srgbClr val="023E80">
                    <a:alpha val="0"/>
                  </a:srgbClr>
                </a:gs>
                <a:gs pos="100000">
                  <a:schemeClr val="accent1"/>
                </a:gs>
              </a:gsLst>
              <a:lin ang="0" scaled="0"/>
            </a:gra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aphicFrame>
        <p:nvGraphicFramePr>
          <p:cNvPr id="71" name="图表 70"/>
          <p:cNvGraphicFramePr>
            <a:graphicFrameLocks noChangeAspect="1"/>
          </p:cNvGraphicFramePr>
          <p:nvPr/>
        </p:nvGraphicFramePr>
        <p:xfrm>
          <a:off x="1641001" y="884766"/>
          <a:ext cx="8909999" cy="5940000"/>
        </p:xfrm>
        <a:graphic>
          <a:graphicData uri="http://schemas.openxmlformats.org/drawingml/2006/chart">
            <c:chart xmlns:c="http://schemas.openxmlformats.org/drawingml/2006/chart" xmlns:r="http://schemas.openxmlformats.org/officeDocument/2006/relationships" r:id="rId1"/>
          </a:graphicData>
        </a:graphic>
      </p:graphicFrame>
      <p:sp>
        <p:nvSpPr>
          <p:cNvPr id="16"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树状图</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市场拓展规划</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 name="任意多边形: 形状 7"/>
          <p:cNvSpPr/>
          <p:nvPr/>
        </p:nvSpPr>
        <p:spPr>
          <a:xfrm>
            <a:off x="4336688" y="4895015"/>
            <a:ext cx="3493910" cy="1746954"/>
          </a:xfrm>
          <a:custGeom>
            <a:avLst/>
            <a:gdLst>
              <a:gd name="connsiteX0" fmla="*/ 0 w 1800000"/>
              <a:gd name="connsiteY0" fmla="*/ 0 h 900000"/>
              <a:gd name="connsiteX1" fmla="*/ 1800000 w 1800000"/>
              <a:gd name="connsiteY1" fmla="*/ 0 h 900000"/>
              <a:gd name="connsiteX2" fmla="*/ 900000 w 1800000"/>
              <a:gd name="connsiteY2" fmla="*/ 900000 h 900000"/>
              <a:gd name="connsiteX3" fmla="*/ 0 w 1800000"/>
              <a:gd name="connsiteY3" fmla="*/ 0 h 900000"/>
            </a:gdLst>
            <a:ahLst/>
            <a:cxnLst>
              <a:cxn ang="0">
                <a:pos x="connsiteX0" y="connsiteY0"/>
              </a:cxn>
              <a:cxn ang="0">
                <a:pos x="connsiteX1" y="connsiteY1"/>
              </a:cxn>
              <a:cxn ang="0">
                <a:pos x="connsiteX2" y="connsiteY2"/>
              </a:cxn>
              <a:cxn ang="0">
                <a:pos x="connsiteX3" y="connsiteY3"/>
              </a:cxn>
            </a:cxnLst>
            <a:rect l="l" t="t" r="r" b="b"/>
            <a:pathLst>
              <a:path w="1800000" h="900000">
                <a:moveTo>
                  <a:pt x="0" y="0"/>
                </a:moveTo>
                <a:lnTo>
                  <a:pt x="1800000" y="0"/>
                </a:lnTo>
                <a:cubicBezTo>
                  <a:pt x="1800000" y="497056"/>
                  <a:pt x="1397056" y="900000"/>
                  <a:pt x="900000" y="900000"/>
                </a:cubicBezTo>
                <a:cubicBezTo>
                  <a:pt x="402944" y="900000"/>
                  <a:pt x="0" y="497056"/>
                  <a:pt x="0" y="0"/>
                </a:cubicBezTo>
                <a:close/>
              </a:path>
            </a:pathLst>
          </a:custGeom>
          <a:gradFill>
            <a:gsLst>
              <a:gs pos="0">
                <a:schemeClr val="accent3"/>
              </a:gs>
              <a:gs pos="5000">
                <a:schemeClr val="accent3">
                  <a:lumMod val="75000"/>
                </a:schemeClr>
              </a:gs>
              <a:gs pos="37000">
                <a:schemeClr val="accent1"/>
              </a:gs>
              <a:gs pos="89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 name="椭圆 9"/>
          <p:cNvSpPr/>
          <p:nvPr/>
        </p:nvSpPr>
        <p:spPr>
          <a:xfrm>
            <a:off x="4336688" y="4555430"/>
            <a:ext cx="3493910" cy="683786"/>
          </a:xfrm>
          <a:prstGeom prst="ellipse">
            <a:avLst/>
          </a:prstGeom>
          <a:gradFill>
            <a:gsLst>
              <a:gs pos="0">
                <a:schemeClr val="accent3">
                  <a:lumMod val="20000"/>
                  <a:lumOff val="80000"/>
                </a:schemeClr>
              </a:gs>
              <a:gs pos="7700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 name="椭圆 10"/>
          <p:cNvSpPr/>
          <p:nvPr/>
        </p:nvSpPr>
        <p:spPr>
          <a:xfrm>
            <a:off x="4511384" y="4617810"/>
            <a:ext cx="3144519" cy="52924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366" name="组合 365"/>
          <p:cNvGrpSpPr/>
          <p:nvPr/>
        </p:nvGrpSpPr>
        <p:grpSpPr>
          <a:xfrm>
            <a:off x="5113153" y="2217852"/>
            <a:ext cx="2129193" cy="2878649"/>
            <a:chOff x="5654342" y="2426482"/>
            <a:chExt cx="2908239" cy="3960556"/>
          </a:xfrm>
        </p:grpSpPr>
        <p:grpSp>
          <p:nvGrpSpPr>
            <p:cNvPr id="14" name="图形 2"/>
            <p:cNvGrpSpPr/>
            <p:nvPr/>
          </p:nvGrpSpPr>
          <p:grpSpPr>
            <a:xfrm>
              <a:off x="5744639" y="2426482"/>
              <a:ext cx="2350859" cy="3960556"/>
              <a:chOff x="5744639" y="2426482"/>
              <a:chExt cx="2350859" cy="3960556"/>
            </a:xfrm>
          </p:grpSpPr>
          <p:sp>
            <p:nvSpPr>
              <p:cNvPr id="19" name="任意多边形: 形状 18"/>
              <p:cNvSpPr/>
              <p:nvPr/>
            </p:nvSpPr>
            <p:spPr>
              <a:xfrm>
                <a:off x="5744639" y="2439250"/>
                <a:ext cx="2331660" cy="3947788"/>
              </a:xfrm>
              <a:custGeom>
                <a:avLst/>
                <a:gdLst>
                  <a:gd name="connsiteX0" fmla="*/ 2209911 w 2331660"/>
                  <a:gd name="connsiteY0" fmla="*/ 291533 h 3947788"/>
                  <a:gd name="connsiteX1" fmla="*/ 2109951 w 2331660"/>
                  <a:gd name="connsiteY1" fmla="*/ 406633 h 3947788"/>
                  <a:gd name="connsiteX2" fmla="*/ 2109951 w 2331660"/>
                  <a:gd name="connsiteY2" fmla="*/ 807595 h 3947788"/>
                  <a:gd name="connsiteX3" fmla="*/ 2077297 w 2331660"/>
                  <a:gd name="connsiteY3" fmla="*/ 872965 h 3947788"/>
                  <a:gd name="connsiteX4" fmla="*/ 1916338 w 2331660"/>
                  <a:gd name="connsiteY4" fmla="*/ 993654 h 3947788"/>
                  <a:gd name="connsiteX5" fmla="*/ 1858242 w 2331660"/>
                  <a:gd name="connsiteY5" fmla="*/ 964590 h 3947788"/>
                  <a:gd name="connsiteX6" fmla="*/ 1858242 w 2331660"/>
                  <a:gd name="connsiteY6" fmla="*/ 793672 h 3947788"/>
                  <a:gd name="connsiteX7" fmla="*/ 1740675 w 2331660"/>
                  <a:gd name="connsiteY7" fmla="*/ 663025 h 3947788"/>
                  <a:gd name="connsiteX8" fmla="*/ 1636564 w 2331660"/>
                  <a:gd name="connsiteY8" fmla="*/ 709790 h 3947788"/>
                  <a:gd name="connsiteX9" fmla="*/ 1577094 w 2331660"/>
                  <a:gd name="connsiteY9" fmla="*/ 716439 h 3947788"/>
                  <a:gd name="connsiteX10" fmla="*/ 1401837 w 2331660"/>
                  <a:gd name="connsiteY10" fmla="*/ 585012 h 3947788"/>
                  <a:gd name="connsiteX11" fmla="*/ 1365094 w 2331660"/>
                  <a:gd name="connsiteY11" fmla="*/ 511494 h 3947788"/>
                  <a:gd name="connsiteX12" fmla="*/ 1365094 w 2331660"/>
                  <a:gd name="connsiteY12" fmla="*/ 115621 h 3947788"/>
                  <a:gd name="connsiteX13" fmla="*/ 1265134 w 2331660"/>
                  <a:gd name="connsiteY13" fmla="*/ 521 h 3947788"/>
                  <a:gd name="connsiteX14" fmla="*/ 1143353 w 2331660"/>
                  <a:gd name="connsiteY14" fmla="*/ 110844 h 3947788"/>
                  <a:gd name="connsiteX15" fmla="*/ 1143353 w 2331660"/>
                  <a:gd name="connsiteY15" fmla="*/ 612858 h 3947788"/>
                  <a:gd name="connsiteX16" fmla="*/ 1187683 w 2331660"/>
                  <a:gd name="connsiteY16" fmla="*/ 701548 h 3947788"/>
                  <a:gd name="connsiteX17" fmla="*/ 1580372 w 2331660"/>
                  <a:gd name="connsiteY17" fmla="*/ 996057 h 3947788"/>
                  <a:gd name="connsiteX18" fmla="*/ 1608811 w 2331660"/>
                  <a:gd name="connsiteY18" fmla="*/ 1052936 h 3947788"/>
                  <a:gd name="connsiteX19" fmla="*/ 1608811 w 2331660"/>
                  <a:gd name="connsiteY19" fmla="*/ 1909897 h 3947788"/>
                  <a:gd name="connsiteX20" fmla="*/ 1576657 w 2331660"/>
                  <a:gd name="connsiteY20" fmla="*/ 1987567 h 3947788"/>
                  <a:gd name="connsiteX21" fmla="*/ 1344677 w 2331660"/>
                  <a:gd name="connsiteY21" fmla="*/ 2219516 h 3947788"/>
                  <a:gd name="connsiteX22" fmla="*/ 1285457 w 2331660"/>
                  <a:gd name="connsiteY22" fmla="*/ 2195010 h 3947788"/>
                  <a:gd name="connsiteX23" fmla="*/ 1285457 w 2331660"/>
                  <a:gd name="connsiteY23" fmla="*/ 2127142 h 3947788"/>
                  <a:gd name="connsiteX24" fmla="*/ 1244530 w 2331660"/>
                  <a:gd name="connsiteY24" fmla="*/ 2035330 h 3947788"/>
                  <a:gd name="connsiteX25" fmla="*/ 1233573 w 2331660"/>
                  <a:gd name="connsiteY25" fmla="*/ 2021907 h 3947788"/>
                  <a:gd name="connsiteX26" fmla="*/ 763463 w 2331660"/>
                  <a:gd name="connsiteY26" fmla="*/ 1551891 h 3947788"/>
                  <a:gd name="connsiteX27" fmla="*/ 724972 w 2331660"/>
                  <a:gd name="connsiteY27" fmla="*/ 1458955 h 3947788"/>
                  <a:gd name="connsiteX28" fmla="*/ 724972 w 2331660"/>
                  <a:gd name="connsiteY28" fmla="*/ 350910 h 3947788"/>
                  <a:gd name="connsiteX29" fmla="*/ 612494 w 2331660"/>
                  <a:gd name="connsiteY29" fmla="*/ 221418 h 3947788"/>
                  <a:gd name="connsiteX30" fmla="*/ 475510 w 2331660"/>
                  <a:gd name="connsiteY30" fmla="*/ 345540 h 3947788"/>
                  <a:gd name="connsiteX31" fmla="*/ 475510 w 2331660"/>
                  <a:gd name="connsiteY31" fmla="*/ 1002114 h 3947788"/>
                  <a:gd name="connsiteX32" fmla="*/ 424001 w 2331660"/>
                  <a:gd name="connsiteY32" fmla="*/ 1027868 h 3947788"/>
                  <a:gd name="connsiteX33" fmla="*/ 274779 w 2331660"/>
                  <a:gd name="connsiteY33" fmla="*/ 915952 h 3947788"/>
                  <a:gd name="connsiteX34" fmla="*/ 221740 w 2331660"/>
                  <a:gd name="connsiteY34" fmla="*/ 809874 h 3947788"/>
                  <a:gd name="connsiteX35" fmla="*/ 221740 w 2331660"/>
                  <a:gd name="connsiteY35" fmla="*/ 434355 h 3947788"/>
                  <a:gd name="connsiteX36" fmla="*/ 121781 w 2331660"/>
                  <a:gd name="connsiteY36" fmla="*/ 319255 h 3947788"/>
                  <a:gd name="connsiteX37" fmla="*/ 0 w 2331660"/>
                  <a:gd name="connsiteY37" fmla="*/ 429578 h 3947788"/>
                  <a:gd name="connsiteX38" fmla="*/ 0 w 2331660"/>
                  <a:gd name="connsiteY38" fmla="*/ 931592 h 3947788"/>
                  <a:gd name="connsiteX39" fmla="*/ 44361 w 2331660"/>
                  <a:gd name="connsiteY39" fmla="*/ 1020282 h 3947788"/>
                  <a:gd name="connsiteX40" fmla="*/ 428434 w 2331660"/>
                  <a:gd name="connsiteY40" fmla="*/ 1308361 h 3947788"/>
                  <a:gd name="connsiteX41" fmla="*/ 475510 w 2331660"/>
                  <a:gd name="connsiteY41" fmla="*/ 1402514 h 3947788"/>
                  <a:gd name="connsiteX42" fmla="*/ 475510 w 2331660"/>
                  <a:gd name="connsiteY42" fmla="*/ 1565065 h 3947788"/>
                  <a:gd name="connsiteX43" fmla="*/ 512035 w 2331660"/>
                  <a:gd name="connsiteY43" fmla="*/ 1653224 h 3947788"/>
                  <a:gd name="connsiteX44" fmla="*/ 996598 w 2331660"/>
                  <a:gd name="connsiteY44" fmla="*/ 2137787 h 3947788"/>
                  <a:gd name="connsiteX45" fmla="*/ 1035933 w 2331660"/>
                  <a:gd name="connsiteY45" fmla="*/ 2232752 h 3947788"/>
                  <a:gd name="connsiteX46" fmla="*/ 1035933 w 2331660"/>
                  <a:gd name="connsiteY46" fmla="*/ 2657315 h 3947788"/>
                  <a:gd name="connsiteX47" fmla="*/ 969220 w 2331660"/>
                  <a:gd name="connsiteY47" fmla="*/ 2684942 h 3947788"/>
                  <a:gd name="connsiteX48" fmla="*/ 627042 w 2331660"/>
                  <a:gd name="connsiteY48" fmla="*/ 2342764 h 3947788"/>
                  <a:gd name="connsiteX49" fmla="*/ 455905 w 2331660"/>
                  <a:gd name="connsiteY49" fmla="*/ 2330682 h 3947788"/>
                  <a:gd name="connsiteX50" fmla="*/ 446821 w 2331660"/>
                  <a:gd name="connsiteY50" fmla="*/ 2515305 h 3947788"/>
                  <a:gd name="connsiteX51" fmla="*/ 1015547 w 2331660"/>
                  <a:gd name="connsiteY51" fmla="*/ 3084031 h 3947788"/>
                  <a:gd name="connsiteX52" fmla="*/ 1035964 w 2331660"/>
                  <a:gd name="connsiteY52" fmla="*/ 3100452 h 3947788"/>
                  <a:gd name="connsiteX53" fmla="*/ 1035964 w 2331660"/>
                  <a:gd name="connsiteY53" fmla="*/ 3817713 h 3947788"/>
                  <a:gd name="connsiteX54" fmla="*/ 1148442 w 2331660"/>
                  <a:gd name="connsiteY54" fmla="*/ 3947204 h 3947788"/>
                  <a:gd name="connsiteX55" fmla="*/ 1285426 w 2331660"/>
                  <a:gd name="connsiteY55" fmla="*/ 3823082 h 3947788"/>
                  <a:gd name="connsiteX56" fmla="*/ 1285426 w 2331660"/>
                  <a:gd name="connsiteY56" fmla="*/ 2715411 h 3947788"/>
                  <a:gd name="connsiteX57" fmla="*/ 1344739 w 2331660"/>
                  <a:gd name="connsiteY57" fmla="*/ 2572183 h 3947788"/>
                  <a:gd name="connsiteX58" fmla="*/ 1821686 w 2331660"/>
                  <a:gd name="connsiteY58" fmla="*/ 2095268 h 3947788"/>
                  <a:gd name="connsiteX59" fmla="*/ 1858242 w 2331660"/>
                  <a:gd name="connsiteY59" fmla="*/ 2007047 h 3947788"/>
                  <a:gd name="connsiteX60" fmla="*/ 1858242 w 2331660"/>
                  <a:gd name="connsiteY60" fmla="*/ 1314448 h 3947788"/>
                  <a:gd name="connsiteX61" fmla="*/ 2287331 w 2331660"/>
                  <a:gd name="connsiteY61" fmla="*/ 992592 h 3947788"/>
                  <a:gd name="connsiteX62" fmla="*/ 2331660 w 2331660"/>
                  <a:gd name="connsiteY62" fmla="*/ 903902 h 3947788"/>
                  <a:gd name="connsiteX63" fmla="*/ 2331660 w 2331660"/>
                  <a:gd name="connsiteY63" fmla="*/ 401857 h 3947788"/>
                  <a:gd name="connsiteX64" fmla="*/ 2209911 w 2331660"/>
                  <a:gd name="connsiteY64" fmla="*/ 291533 h 394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331660" h="3947788">
                    <a:moveTo>
                      <a:pt x="2209911" y="291533"/>
                    </a:moveTo>
                    <a:cubicBezTo>
                      <a:pt x="2152283" y="297028"/>
                      <a:pt x="2109951" y="348724"/>
                      <a:pt x="2109951" y="406633"/>
                    </a:cubicBezTo>
                    <a:lnTo>
                      <a:pt x="2109951" y="807595"/>
                    </a:lnTo>
                    <a:cubicBezTo>
                      <a:pt x="2109951" y="833319"/>
                      <a:pt x="2097839" y="857513"/>
                      <a:pt x="2077297" y="872965"/>
                    </a:cubicBezTo>
                    <a:lnTo>
                      <a:pt x="1916338" y="993654"/>
                    </a:lnTo>
                    <a:cubicBezTo>
                      <a:pt x="1892425" y="1011604"/>
                      <a:pt x="1858242" y="994528"/>
                      <a:pt x="1858242" y="964590"/>
                    </a:cubicBezTo>
                    <a:lnTo>
                      <a:pt x="1858242" y="793672"/>
                    </a:lnTo>
                    <a:cubicBezTo>
                      <a:pt x="1858242" y="726460"/>
                      <a:pt x="1807762" y="666772"/>
                      <a:pt x="1740675" y="663025"/>
                    </a:cubicBezTo>
                    <a:cubicBezTo>
                      <a:pt x="1698375" y="660653"/>
                      <a:pt x="1660602" y="679477"/>
                      <a:pt x="1636564" y="709790"/>
                    </a:cubicBezTo>
                    <a:cubicBezTo>
                      <a:pt x="1622204" y="727865"/>
                      <a:pt x="1595575" y="730269"/>
                      <a:pt x="1577094" y="716439"/>
                    </a:cubicBezTo>
                    <a:lnTo>
                      <a:pt x="1401837" y="585012"/>
                    </a:lnTo>
                    <a:cubicBezTo>
                      <a:pt x="1378704" y="567655"/>
                      <a:pt x="1365094" y="540402"/>
                      <a:pt x="1365094" y="511494"/>
                    </a:cubicBezTo>
                    <a:lnTo>
                      <a:pt x="1365094" y="115621"/>
                    </a:lnTo>
                    <a:cubicBezTo>
                      <a:pt x="1365094" y="57712"/>
                      <a:pt x="1322762" y="6015"/>
                      <a:pt x="1265134" y="521"/>
                    </a:cubicBezTo>
                    <a:cubicBezTo>
                      <a:pt x="1199015" y="-5785"/>
                      <a:pt x="1143353" y="46036"/>
                      <a:pt x="1143353" y="110844"/>
                    </a:cubicBezTo>
                    <a:lnTo>
                      <a:pt x="1143353" y="612858"/>
                    </a:lnTo>
                    <a:cubicBezTo>
                      <a:pt x="1143353" y="647760"/>
                      <a:pt x="1159774" y="680632"/>
                      <a:pt x="1187683" y="701548"/>
                    </a:cubicBezTo>
                    <a:lnTo>
                      <a:pt x="1580372" y="996057"/>
                    </a:lnTo>
                    <a:cubicBezTo>
                      <a:pt x="1598291" y="1009481"/>
                      <a:pt x="1608811" y="1030553"/>
                      <a:pt x="1608811" y="1052936"/>
                    </a:cubicBezTo>
                    <a:lnTo>
                      <a:pt x="1608811" y="1909897"/>
                    </a:lnTo>
                    <a:cubicBezTo>
                      <a:pt x="1608811" y="1939023"/>
                      <a:pt x="1597261" y="1966963"/>
                      <a:pt x="1576657" y="1987567"/>
                    </a:cubicBezTo>
                    <a:lnTo>
                      <a:pt x="1344677" y="2219516"/>
                    </a:lnTo>
                    <a:cubicBezTo>
                      <a:pt x="1322825" y="2241399"/>
                      <a:pt x="1285457" y="2225915"/>
                      <a:pt x="1285457" y="2195010"/>
                    </a:cubicBezTo>
                    <a:lnTo>
                      <a:pt x="1285457" y="2127142"/>
                    </a:lnTo>
                    <a:cubicBezTo>
                      <a:pt x="1285457" y="2090648"/>
                      <a:pt x="1269505" y="2058119"/>
                      <a:pt x="1244530" y="2035330"/>
                    </a:cubicBezTo>
                    <a:cubicBezTo>
                      <a:pt x="1241065" y="2030741"/>
                      <a:pt x="1237725" y="2026090"/>
                      <a:pt x="1233573" y="2021907"/>
                    </a:cubicBezTo>
                    <a:lnTo>
                      <a:pt x="763463" y="1551891"/>
                    </a:lnTo>
                    <a:cubicBezTo>
                      <a:pt x="738833" y="1527260"/>
                      <a:pt x="724972" y="1493826"/>
                      <a:pt x="724972" y="1458955"/>
                    </a:cubicBezTo>
                    <a:lnTo>
                      <a:pt x="724972" y="350910"/>
                    </a:lnTo>
                    <a:cubicBezTo>
                      <a:pt x="724972" y="285789"/>
                      <a:pt x="677365" y="227599"/>
                      <a:pt x="612494" y="221418"/>
                    </a:cubicBezTo>
                    <a:cubicBezTo>
                      <a:pt x="538102" y="214331"/>
                      <a:pt x="475510" y="272615"/>
                      <a:pt x="475510" y="345540"/>
                    </a:cubicBezTo>
                    <a:lnTo>
                      <a:pt x="475510" y="1002114"/>
                    </a:lnTo>
                    <a:cubicBezTo>
                      <a:pt x="475510" y="1028649"/>
                      <a:pt x="445229" y="1043789"/>
                      <a:pt x="424001" y="1027868"/>
                    </a:cubicBezTo>
                    <a:lnTo>
                      <a:pt x="274779" y="915952"/>
                    </a:lnTo>
                    <a:cubicBezTo>
                      <a:pt x="241408" y="890916"/>
                      <a:pt x="221740" y="851612"/>
                      <a:pt x="221740" y="809874"/>
                    </a:cubicBezTo>
                    <a:lnTo>
                      <a:pt x="221740" y="434355"/>
                    </a:lnTo>
                    <a:cubicBezTo>
                      <a:pt x="221740" y="376446"/>
                      <a:pt x="179409" y="324749"/>
                      <a:pt x="121781" y="319255"/>
                    </a:cubicBezTo>
                    <a:cubicBezTo>
                      <a:pt x="55661" y="312949"/>
                      <a:pt x="0" y="364770"/>
                      <a:pt x="0" y="429578"/>
                    </a:cubicBezTo>
                    <a:lnTo>
                      <a:pt x="0" y="931592"/>
                    </a:lnTo>
                    <a:cubicBezTo>
                      <a:pt x="0" y="966494"/>
                      <a:pt x="16421" y="999366"/>
                      <a:pt x="44361" y="1020282"/>
                    </a:cubicBezTo>
                    <a:lnTo>
                      <a:pt x="428434" y="1308361"/>
                    </a:lnTo>
                    <a:cubicBezTo>
                      <a:pt x="458059" y="1330588"/>
                      <a:pt x="475510" y="1365458"/>
                      <a:pt x="475510" y="1402514"/>
                    </a:cubicBezTo>
                    <a:lnTo>
                      <a:pt x="475510" y="1565065"/>
                    </a:lnTo>
                    <a:cubicBezTo>
                      <a:pt x="475510" y="1598124"/>
                      <a:pt x="488653" y="1629842"/>
                      <a:pt x="512035" y="1653224"/>
                    </a:cubicBezTo>
                    <a:lnTo>
                      <a:pt x="996598" y="2137787"/>
                    </a:lnTo>
                    <a:cubicBezTo>
                      <a:pt x="1021791" y="2162949"/>
                      <a:pt x="1035933" y="2197132"/>
                      <a:pt x="1035933" y="2232752"/>
                    </a:cubicBezTo>
                    <a:lnTo>
                      <a:pt x="1035933" y="2657315"/>
                    </a:lnTo>
                    <a:cubicBezTo>
                      <a:pt x="1035933" y="2692154"/>
                      <a:pt x="993851" y="2709573"/>
                      <a:pt x="969220" y="2684942"/>
                    </a:cubicBezTo>
                    <a:lnTo>
                      <a:pt x="627042" y="2342764"/>
                    </a:lnTo>
                    <a:cubicBezTo>
                      <a:pt x="580964" y="2296686"/>
                      <a:pt x="506166" y="2289225"/>
                      <a:pt x="455905" y="2330682"/>
                    </a:cubicBezTo>
                    <a:cubicBezTo>
                      <a:pt x="398277" y="2378227"/>
                      <a:pt x="395249" y="2463764"/>
                      <a:pt x="446821" y="2515305"/>
                    </a:cubicBezTo>
                    <a:lnTo>
                      <a:pt x="1015547" y="3084031"/>
                    </a:lnTo>
                    <a:cubicBezTo>
                      <a:pt x="1021885" y="3090368"/>
                      <a:pt x="1028753" y="3095769"/>
                      <a:pt x="1035964" y="3100452"/>
                    </a:cubicBezTo>
                    <a:lnTo>
                      <a:pt x="1035964" y="3817713"/>
                    </a:lnTo>
                    <a:cubicBezTo>
                      <a:pt x="1035964" y="3882864"/>
                      <a:pt x="1083602" y="3941023"/>
                      <a:pt x="1148442" y="3947204"/>
                    </a:cubicBezTo>
                    <a:cubicBezTo>
                      <a:pt x="1222834" y="3954291"/>
                      <a:pt x="1285426" y="3896007"/>
                      <a:pt x="1285426" y="3823082"/>
                    </a:cubicBezTo>
                    <a:lnTo>
                      <a:pt x="1285426" y="2715411"/>
                    </a:lnTo>
                    <a:cubicBezTo>
                      <a:pt x="1285426" y="2661685"/>
                      <a:pt x="1306779" y="2610176"/>
                      <a:pt x="1344739" y="2572183"/>
                    </a:cubicBezTo>
                    <a:lnTo>
                      <a:pt x="1821686" y="2095268"/>
                    </a:lnTo>
                    <a:cubicBezTo>
                      <a:pt x="1845099" y="2071886"/>
                      <a:pt x="1858242" y="2040138"/>
                      <a:pt x="1858242" y="2007047"/>
                    </a:cubicBezTo>
                    <a:lnTo>
                      <a:pt x="1858242" y="1314448"/>
                    </a:lnTo>
                    <a:lnTo>
                      <a:pt x="2287331" y="992592"/>
                    </a:lnTo>
                    <a:cubicBezTo>
                      <a:pt x="2315240" y="971645"/>
                      <a:pt x="2331660" y="938773"/>
                      <a:pt x="2331660" y="903902"/>
                    </a:cubicBezTo>
                    <a:lnTo>
                      <a:pt x="2331660" y="401857"/>
                    </a:lnTo>
                    <a:cubicBezTo>
                      <a:pt x="2331660" y="337049"/>
                      <a:pt x="2276030" y="285196"/>
                      <a:pt x="2209911" y="291533"/>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0" name="任意多边形: 形状 19"/>
              <p:cNvSpPr/>
              <p:nvPr/>
            </p:nvSpPr>
            <p:spPr>
              <a:xfrm>
                <a:off x="5763837" y="2426482"/>
                <a:ext cx="2331661" cy="3947756"/>
              </a:xfrm>
              <a:custGeom>
                <a:avLst/>
                <a:gdLst>
                  <a:gd name="connsiteX0" fmla="*/ 2209848 w 2331660"/>
                  <a:gd name="connsiteY0" fmla="*/ 291533 h 3947757"/>
                  <a:gd name="connsiteX1" fmla="*/ 2109889 w 2331660"/>
                  <a:gd name="connsiteY1" fmla="*/ 406633 h 3947757"/>
                  <a:gd name="connsiteX2" fmla="*/ 2109889 w 2331660"/>
                  <a:gd name="connsiteY2" fmla="*/ 807595 h 3947757"/>
                  <a:gd name="connsiteX3" fmla="*/ 2077204 w 2331660"/>
                  <a:gd name="connsiteY3" fmla="*/ 872965 h 3947757"/>
                  <a:gd name="connsiteX4" fmla="*/ 1916276 w 2331660"/>
                  <a:gd name="connsiteY4" fmla="*/ 993654 h 3947757"/>
                  <a:gd name="connsiteX5" fmla="*/ 1858179 w 2331660"/>
                  <a:gd name="connsiteY5" fmla="*/ 964590 h 3947757"/>
                  <a:gd name="connsiteX6" fmla="*/ 1858179 w 2331660"/>
                  <a:gd name="connsiteY6" fmla="*/ 793703 h 3947757"/>
                  <a:gd name="connsiteX7" fmla="*/ 1740582 w 2331660"/>
                  <a:gd name="connsiteY7" fmla="*/ 663057 h 3947757"/>
                  <a:gd name="connsiteX8" fmla="*/ 1636470 w 2331660"/>
                  <a:gd name="connsiteY8" fmla="*/ 709821 h 3947757"/>
                  <a:gd name="connsiteX9" fmla="*/ 1577031 w 2331660"/>
                  <a:gd name="connsiteY9" fmla="*/ 716470 h 3947757"/>
                  <a:gd name="connsiteX10" fmla="*/ 1401775 w 2331660"/>
                  <a:gd name="connsiteY10" fmla="*/ 585043 h 3947757"/>
                  <a:gd name="connsiteX11" fmla="*/ 1365031 w 2331660"/>
                  <a:gd name="connsiteY11" fmla="*/ 511525 h 3947757"/>
                  <a:gd name="connsiteX12" fmla="*/ 1365031 w 2331660"/>
                  <a:gd name="connsiteY12" fmla="*/ 115621 h 3947757"/>
                  <a:gd name="connsiteX13" fmla="*/ 1265072 w 2331660"/>
                  <a:gd name="connsiteY13" fmla="*/ 521 h 3947757"/>
                  <a:gd name="connsiteX14" fmla="*/ 1143291 w 2331660"/>
                  <a:gd name="connsiteY14" fmla="*/ 110876 h 3947757"/>
                  <a:gd name="connsiteX15" fmla="*/ 1143291 w 2331660"/>
                  <a:gd name="connsiteY15" fmla="*/ 612890 h 3947757"/>
                  <a:gd name="connsiteX16" fmla="*/ 1187620 w 2331660"/>
                  <a:gd name="connsiteY16" fmla="*/ 701579 h 3947757"/>
                  <a:gd name="connsiteX17" fmla="*/ 1580309 w 2331660"/>
                  <a:gd name="connsiteY17" fmla="*/ 996089 h 3947757"/>
                  <a:gd name="connsiteX18" fmla="*/ 1608749 w 2331660"/>
                  <a:gd name="connsiteY18" fmla="*/ 1052967 h 3947757"/>
                  <a:gd name="connsiteX19" fmla="*/ 1608749 w 2331660"/>
                  <a:gd name="connsiteY19" fmla="*/ 1909897 h 3947757"/>
                  <a:gd name="connsiteX20" fmla="*/ 1576563 w 2331660"/>
                  <a:gd name="connsiteY20" fmla="*/ 1987567 h 3947757"/>
                  <a:gd name="connsiteX21" fmla="*/ 1344615 w 2331660"/>
                  <a:gd name="connsiteY21" fmla="*/ 2219516 h 3947757"/>
                  <a:gd name="connsiteX22" fmla="*/ 1285394 w 2331660"/>
                  <a:gd name="connsiteY22" fmla="*/ 2194978 h 3947757"/>
                  <a:gd name="connsiteX23" fmla="*/ 1285394 w 2331660"/>
                  <a:gd name="connsiteY23" fmla="*/ 2127111 h 3947757"/>
                  <a:gd name="connsiteX24" fmla="*/ 1244468 w 2331660"/>
                  <a:gd name="connsiteY24" fmla="*/ 2035299 h 3947757"/>
                  <a:gd name="connsiteX25" fmla="*/ 1233510 w 2331660"/>
                  <a:gd name="connsiteY25" fmla="*/ 2021907 h 3947757"/>
                  <a:gd name="connsiteX26" fmla="*/ 763432 w 2331660"/>
                  <a:gd name="connsiteY26" fmla="*/ 1551891 h 3947757"/>
                  <a:gd name="connsiteX27" fmla="*/ 724941 w 2331660"/>
                  <a:gd name="connsiteY27" fmla="*/ 1458955 h 3947757"/>
                  <a:gd name="connsiteX28" fmla="*/ 724941 w 2331660"/>
                  <a:gd name="connsiteY28" fmla="*/ 350910 h 3947757"/>
                  <a:gd name="connsiteX29" fmla="*/ 612463 w 2331660"/>
                  <a:gd name="connsiteY29" fmla="*/ 221418 h 3947757"/>
                  <a:gd name="connsiteX30" fmla="*/ 475479 w 2331660"/>
                  <a:gd name="connsiteY30" fmla="*/ 345571 h 3947757"/>
                  <a:gd name="connsiteX31" fmla="*/ 475479 w 2331660"/>
                  <a:gd name="connsiteY31" fmla="*/ 1002114 h 3947757"/>
                  <a:gd name="connsiteX32" fmla="*/ 423969 w 2331660"/>
                  <a:gd name="connsiteY32" fmla="*/ 1027868 h 3947757"/>
                  <a:gd name="connsiteX33" fmla="*/ 274748 w 2331660"/>
                  <a:gd name="connsiteY33" fmla="*/ 915952 h 3947757"/>
                  <a:gd name="connsiteX34" fmla="*/ 221709 w 2331660"/>
                  <a:gd name="connsiteY34" fmla="*/ 809874 h 3947757"/>
                  <a:gd name="connsiteX35" fmla="*/ 221709 w 2331660"/>
                  <a:gd name="connsiteY35" fmla="*/ 434355 h 3947757"/>
                  <a:gd name="connsiteX36" fmla="*/ 121750 w 2331660"/>
                  <a:gd name="connsiteY36" fmla="*/ 319255 h 3947757"/>
                  <a:gd name="connsiteX37" fmla="*/ 0 w 2331660"/>
                  <a:gd name="connsiteY37" fmla="*/ 429610 h 3947757"/>
                  <a:gd name="connsiteX38" fmla="*/ 0 w 2331660"/>
                  <a:gd name="connsiteY38" fmla="*/ 931624 h 3947757"/>
                  <a:gd name="connsiteX39" fmla="*/ 44361 w 2331660"/>
                  <a:gd name="connsiteY39" fmla="*/ 1020314 h 3947757"/>
                  <a:gd name="connsiteX40" fmla="*/ 428434 w 2331660"/>
                  <a:gd name="connsiteY40" fmla="*/ 1308361 h 3947757"/>
                  <a:gd name="connsiteX41" fmla="*/ 475510 w 2331660"/>
                  <a:gd name="connsiteY41" fmla="*/ 1402513 h 3947757"/>
                  <a:gd name="connsiteX42" fmla="*/ 475510 w 2331660"/>
                  <a:gd name="connsiteY42" fmla="*/ 1565065 h 3947757"/>
                  <a:gd name="connsiteX43" fmla="*/ 512035 w 2331660"/>
                  <a:gd name="connsiteY43" fmla="*/ 1653255 h 3947757"/>
                  <a:gd name="connsiteX44" fmla="*/ 996598 w 2331660"/>
                  <a:gd name="connsiteY44" fmla="*/ 2137819 h 3947757"/>
                  <a:gd name="connsiteX45" fmla="*/ 1035964 w 2331660"/>
                  <a:gd name="connsiteY45" fmla="*/ 2232783 h 3947757"/>
                  <a:gd name="connsiteX46" fmla="*/ 1035964 w 2331660"/>
                  <a:gd name="connsiteY46" fmla="*/ 2657346 h 3947757"/>
                  <a:gd name="connsiteX47" fmla="*/ 969251 w 2331660"/>
                  <a:gd name="connsiteY47" fmla="*/ 2684974 h 3947757"/>
                  <a:gd name="connsiteX48" fmla="*/ 626979 w 2331660"/>
                  <a:gd name="connsiteY48" fmla="*/ 2342732 h 3947757"/>
                  <a:gd name="connsiteX49" fmla="*/ 455874 w 2331660"/>
                  <a:gd name="connsiteY49" fmla="*/ 2330651 h 3947757"/>
                  <a:gd name="connsiteX50" fmla="*/ 446790 w 2331660"/>
                  <a:gd name="connsiteY50" fmla="*/ 2515273 h 3947757"/>
                  <a:gd name="connsiteX51" fmla="*/ 1015516 w 2331660"/>
                  <a:gd name="connsiteY51" fmla="*/ 3084000 h 3947757"/>
                  <a:gd name="connsiteX52" fmla="*/ 1035933 w 2331660"/>
                  <a:gd name="connsiteY52" fmla="*/ 3100420 h 3947757"/>
                  <a:gd name="connsiteX53" fmla="*/ 1035933 w 2331660"/>
                  <a:gd name="connsiteY53" fmla="*/ 3817681 h 3947757"/>
                  <a:gd name="connsiteX54" fmla="*/ 1148410 w 2331660"/>
                  <a:gd name="connsiteY54" fmla="*/ 3947173 h 3947757"/>
                  <a:gd name="connsiteX55" fmla="*/ 1285394 w 2331660"/>
                  <a:gd name="connsiteY55" fmla="*/ 3823051 h 3947757"/>
                  <a:gd name="connsiteX56" fmla="*/ 1285394 w 2331660"/>
                  <a:gd name="connsiteY56" fmla="*/ 2715380 h 3947757"/>
                  <a:gd name="connsiteX57" fmla="*/ 1344708 w 2331660"/>
                  <a:gd name="connsiteY57" fmla="*/ 2572152 h 3947757"/>
                  <a:gd name="connsiteX58" fmla="*/ 1821654 w 2331660"/>
                  <a:gd name="connsiteY58" fmla="*/ 2095237 h 3947757"/>
                  <a:gd name="connsiteX59" fmla="*/ 1858210 w 2331660"/>
                  <a:gd name="connsiteY59" fmla="*/ 2007047 h 3947757"/>
                  <a:gd name="connsiteX60" fmla="*/ 1858210 w 2331660"/>
                  <a:gd name="connsiteY60" fmla="*/ 1314417 h 3947757"/>
                  <a:gd name="connsiteX61" fmla="*/ 2287331 w 2331660"/>
                  <a:gd name="connsiteY61" fmla="*/ 992561 h 3947757"/>
                  <a:gd name="connsiteX62" fmla="*/ 2331660 w 2331660"/>
                  <a:gd name="connsiteY62" fmla="*/ 903871 h 3947757"/>
                  <a:gd name="connsiteX63" fmla="*/ 2331660 w 2331660"/>
                  <a:gd name="connsiteY63" fmla="*/ 401857 h 3947757"/>
                  <a:gd name="connsiteX64" fmla="*/ 2209848 w 2331660"/>
                  <a:gd name="connsiteY64" fmla="*/ 291533 h 394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331660" h="3947757">
                    <a:moveTo>
                      <a:pt x="2209848" y="291533"/>
                    </a:moveTo>
                    <a:cubicBezTo>
                      <a:pt x="2152220" y="297028"/>
                      <a:pt x="2109889" y="348755"/>
                      <a:pt x="2109889" y="406633"/>
                    </a:cubicBezTo>
                    <a:lnTo>
                      <a:pt x="2109889" y="807595"/>
                    </a:lnTo>
                    <a:cubicBezTo>
                      <a:pt x="2109889" y="833319"/>
                      <a:pt x="2097776" y="857544"/>
                      <a:pt x="2077204" y="872965"/>
                    </a:cubicBezTo>
                    <a:lnTo>
                      <a:pt x="1916276" y="993654"/>
                    </a:lnTo>
                    <a:cubicBezTo>
                      <a:pt x="1892363" y="1011604"/>
                      <a:pt x="1858179" y="994528"/>
                      <a:pt x="1858179" y="964590"/>
                    </a:cubicBezTo>
                    <a:lnTo>
                      <a:pt x="1858179" y="793703"/>
                    </a:lnTo>
                    <a:cubicBezTo>
                      <a:pt x="1858179" y="726491"/>
                      <a:pt x="1807700" y="666803"/>
                      <a:pt x="1740582" y="663057"/>
                    </a:cubicBezTo>
                    <a:cubicBezTo>
                      <a:pt x="1698313" y="660715"/>
                      <a:pt x="1660539" y="679540"/>
                      <a:pt x="1636470" y="709821"/>
                    </a:cubicBezTo>
                    <a:cubicBezTo>
                      <a:pt x="1622110" y="727896"/>
                      <a:pt x="1595481" y="730300"/>
                      <a:pt x="1577031" y="716470"/>
                    </a:cubicBezTo>
                    <a:lnTo>
                      <a:pt x="1401775" y="585043"/>
                    </a:lnTo>
                    <a:cubicBezTo>
                      <a:pt x="1378642" y="567686"/>
                      <a:pt x="1365031" y="540464"/>
                      <a:pt x="1365031" y="511525"/>
                    </a:cubicBezTo>
                    <a:lnTo>
                      <a:pt x="1365031" y="115621"/>
                    </a:lnTo>
                    <a:cubicBezTo>
                      <a:pt x="1365031" y="57712"/>
                      <a:pt x="1322700" y="6015"/>
                      <a:pt x="1265072" y="521"/>
                    </a:cubicBezTo>
                    <a:cubicBezTo>
                      <a:pt x="1198952" y="-5785"/>
                      <a:pt x="1143291" y="46036"/>
                      <a:pt x="1143291" y="110876"/>
                    </a:cubicBezTo>
                    <a:lnTo>
                      <a:pt x="1143291" y="612890"/>
                    </a:lnTo>
                    <a:cubicBezTo>
                      <a:pt x="1143291" y="647791"/>
                      <a:pt x="1159711" y="680632"/>
                      <a:pt x="1187620" y="701579"/>
                    </a:cubicBezTo>
                    <a:lnTo>
                      <a:pt x="1580309" y="996089"/>
                    </a:lnTo>
                    <a:cubicBezTo>
                      <a:pt x="1598228" y="1009512"/>
                      <a:pt x="1608749" y="1030584"/>
                      <a:pt x="1608749" y="1052967"/>
                    </a:cubicBezTo>
                    <a:lnTo>
                      <a:pt x="1608749" y="1909897"/>
                    </a:lnTo>
                    <a:cubicBezTo>
                      <a:pt x="1608749" y="1939023"/>
                      <a:pt x="1597167" y="1966963"/>
                      <a:pt x="1576563" y="1987567"/>
                    </a:cubicBezTo>
                    <a:lnTo>
                      <a:pt x="1344615" y="2219516"/>
                    </a:lnTo>
                    <a:cubicBezTo>
                      <a:pt x="1322762" y="2241368"/>
                      <a:pt x="1285394" y="2225915"/>
                      <a:pt x="1285394" y="2194978"/>
                    </a:cubicBezTo>
                    <a:lnTo>
                      <a:pt x="1285394" y="2127111"/>
                    </a:lnTo>
                    <a:cubicBezTo>
                      <a:pt x="1285394" y="2090617"/>
                      <a:pt x="1269442" y="2058119"/>
                      <a:pt x="1244468" y="2035299"/>
                    </a:cubicBezTo>
                    <a:cubicBezTo>
                      <a:pt x="1241003" y="2030710"/>
                      <a:pt x="1237662" y="2026059"/>
                      <a:pt x="1233510" y="2021907"/>
                    </a:cubicBezTo>
                    <a:lnTo>
                      <a:pt x="763432" y="1551891"/>
                    </a:lnTo>
                    <a:cubicBezTo>
                      <a:pt x="738801" y="1527260"/>
                      <a:pt x="724941" y="1493826"/>
                      <a:pt x="724941" y="1458955"/>
                    </a:cubicBezTo>
                    <a:lnTo>
                      <a:pt x="724941" y="350910"/>
                    </a:lnTo>
                    <a:cubicBezTo>
                      <a:pt x="724941" y="285789"/>
                      <a:pt x="677333" y="227599"/>
                      <a:pt x="612463" y="221418"/>
                    </a:cubicBezTo>
                    <a:cubicBezTo>
                      <a:pt x="538071" y="214331"/>
                      <a:pt x="475479" y="272615"/>
                      <a:pt x="475479" y="345571"/>
                    </a:cubicBezTo>
                    <a:lnTo>
                      <a:pt x="475479" y="1002114"/>
                    </a:lnTo>
                    <a:cubicBezTo>
                      <a:pt x="475479" y="1028649"/>
                      <a:pt x="445198" y="1043789"/>
                      <a:pt x="423969" y="1027868"/>
                    </a:cubicBezTo>
                    <a:lnTo>
                      <a:pt x="274748" y="915952"/>
                    </a:lnTo>
                    <a:cubicBezTo>
                      <a:pt x="241345" y="890916"/>
                      <a:pt x="221709" y="851612"/>
                      <a:pt x="221709" y="809874"/>
                    </a:cubicBezTo>
                    <a:lnTo>
                      <a:pt x="221709" y="434355"/>
                    </a:lnTo>
                    <a:cubicBezTo>
                      <a:pt x="221709" y="376477"/>
                      <a:pt x="179378" y="324749"/>
                      <a:pt x="121750" y="319255"/>
                    </a:cubicBezTo>
                    <a:cubicBezTo>
                      <a:pt x="55630" y="312949"/>
                      <a:pt x="0" y="364770"/>
                      <a:pt x="0" y="429610"/>
                    </a:cubicBezTo>
                    <a:lnTo>
                      <a:pt x="0" y="931624"/>
                    </a:lnTo>
                    <a:cubicBezTo>
                      <a:pt x="0" y="966525"/>
                      <a:pt x="16421" y="999366"/>
                      <a:pt x="44361" y="1020314"/>
                    </a:cubicBezTo>
                    <a:lnTo>
                      <a:pt x="428434" y="1308361"/>
                    </a:lnTo>
                    <a:cubicBezTo>
                      <a:pt x="458059" y="1330588"/>
                      <a:pt x="475510" y="1365458"/>
                      <a:pt x="475510" y="1402513"/>
                    </a:cubicBezTo>
                    <a:lnTo>
                      <a:pt x="475510" y="1565065"/>
                    </a:lnTo>
                    <a:cubicBezTo>
                      <a:pt x="475510" y="1598125"/>
                      <a:pt x="488653" y="1629842"/>
                      <a:pt x="512035" y="1653255"/>
                    </a:cubicBezTo>
                    <a:lnTo>
                      <a:pt x="996598" y="2137819"/>
                    </a:lnTo>
                    <a:cubicBezTo>
                      <a:pt x="1021791" y="2162980"/>
                      <a:pt x="1035964" y="2197164"/>
                      <a:pt x="1035964" y="2232783"/>
                    </a:cubicBezTo>
                    <a:lnTo>
                      <a:pt x="1035964" y="2657346"/>
                    </a:lnTo>
                    <a:cubicBezTo>
                      <a:pt x="1035964" y="2692185"/>
                      <a:pt x="993882" y="2709604"/>
                      <a:pt x="969251" y="2684974"/>
                    </a:cubicBezTo>
                    <a:lnTo>
                      <a:pt x="626979" y="2342732"/>
                    </a:lnTo>
                    <a:cubicBezTo>
                      <a:pt x="580933" y="2296686"/>
                      <a:pt x="506104" y="2289194"/>
                      <a:pt x="455874" y="2330651"/>
                    </a:cubicBezTo>
                    <a:cubicBezTo>
                      <a:pt x="398246" y="2378196"/>
                      <a:pt x="395218" y="2463733"/>
                      <a:pt x="446790" y="2515273"/>
                    </a:cubicBezTo>
                    <a:lnTo>
                      <a:pt x="1015516" y="3084000"/>
                    </a:lnTo>
                    <a:cubicBezTo>
                      <a:pt x="1021822" y="3090337"/>
                      <a:pt x="1028721" y="3095738"/>
                      <a:pt x="1035933" y="3100420"/>
                    </a:cubicBezTo>
                    <a:lnTo>
                      <a:pt x="1035933" y="3817681"/>
                    </a:lnTo>
                    <a:cubicBezTo>
                      <a:pt x="1035933" y="3882833"/>
                      <a:pt x="1083540" y="3940992"/>
                      <a:pt x="1148410" y="3947173"/>
                    </a:cubicBezTo>
                    <a:cubicBezTo>
                      <a:pt x="1222803" y="3954259"/>
                      <a:pt x="1285394" y="3895976"/>
                      <a:pt x="1285394" y="3823051"/>
                    </a:cubicBezTo>
                    <a:lnTo>
                      <a:pt x="1285394" y="2715380"/>
                    </a:lnTo>
                    <a:cubicBezTo>
                      <a:pt x="1285394" y="2661685"/>
                      <a:pt x="1306747" y="2610144"/>
                      <a:pt x="1344708" y="2572152"/>
                    </a:cubicBezTo>
                    <a:lnTo>
                      <a:pt x="1821654" y="2095237"/>
                    </a:lnTo>
                    <a:cubicBezTo>
                      <a:pt x="1845037" y="2071855"/>
                      <a:pt x="1858210" y="2040107"/>
                      <a:pt x="1858210" y="2007047"/>
                    </a:cubicBezTo>
                    <a:lnTo>
                      <a:pt x="1858210" y="1314417"/>
                    </a:lnTo>
                    <a:lnTo>
                      <a:pt x="2287331" y="992561"/>
                    </a:lnTo>
                    <a:cubicBezTo>
                      <a:pt x="2315240" y="971614"/>
                      <a:pt x="2331660" y="938741"/>
                      <a:pt x="2331660" y="903871"/>
                    </a:cubicBezTo>
                    <a:lnTo>
                      <a:pt x="2331660" y="401857"/>
                    </a:lnTo>
                    <a:cubicBezTo>
                      <a:pt x="2331629" y="337049"/>
                      <a:pt x="2275968" y="285227"/>
                      <a:pt x="2209848" y="291533"/>
                    </a:cubicBezTo>
                    <a:close/>
                  </a:path>
                </a:pathLst>
              </a:custGeom>
              <a:solidFill>
                <a:schemeClr val="accent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56" name="图形 2"/>
            <p:cNvGrpSpPr/>
            <p:nvPr/>
          </p:nvGrpSpPr>
          <p:grpSpPr>
            <a:xfrm>
              <a:off x="5777045" y="2766590"/>
              <a:ext cx="174770" cy="174538"/>
              <a:chOff x="5777045" y="2766590"/>
              <a:chExt cx="174770" cy="174538"/>
            </a:xfrm>
          </p:grpSpPr>
          <p:sp>
            <p:nvSpPr>
              <p:cNvPr id="257" name="任意多边形: 形状 256"/>
              <p:cNvSpPr/>
              <p:nvPr/>
            </p:nvSpPr>
            <p:spPr>
              <a:xfrm>
                <a:off x="5777045" y="2776361"/>
                <a:ext cx="164766" cy="164767"/>
              </a:xfrm>
              <a:custGeom>
                <a:avLst/>
                <a:gdLst>
                  <a:gd name="connsiteX0" fmla="*/ 164768 w 164767"/>
                  <a:gd name="connsiteY0" fmla="*/ 82384 h 164767"/>
                  <a:gd name="connsiteX1" fmla="*/ 82384 w 164767"/>
                  <a:gd name="connsiteY1" fmla="*/ 164768 h 164767"/>
                  <a:gd name="connsiteX2" fmla="*/ 0 w 164767"/>
                  <a:gd name="connsiteY2" fmla="*/ 82384 h 164767"/>
                  <a:gd name="connsiteX3" fmla="*/ 82384 w 164767"/>
                  <a:gd name="connsiteY3" fmla="*/ 0 h 164767"/>
                  <a:gd name="connsiteX4" fmla="*/ 164768 w 164767"/>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7" h="164767">
                    <a:moveTo>
                      <a:pt x="164768" y="82384"/>
                    </a:moveTo>
                    <a:cubicBezTo>
                      <a:pt x="164768" y="127868"/>
                      <a:pt x="127899" y="164768"/>
                      <a:pt x="82384" y="164768"/>
                    </a:cubicBezTo>
                    <a:cubicBezTo>
                      <a:pt x="36900" y="164768"/>
                      <a:pt x="0" y="127899"/>
                      <a:pt x="0" y="82384"/>
                    </a:cubicBezTo>
                    <a:cubicBezTo>
                      <a:pt x="0" y="36900"/>
                      <a:pt x="36868" y="0"/>
                      <a:pt x="82384" y="0"/>
                    </a:cubicBezTo>
                    <a:cubicBezTo>
                      <a:pt x="127868" y="0"/>
                      <a:pt x="164768" y="36900"/>
                      <a:pt x="164768" y="82384"/>
                    </a:cubicBezTo>
                    <a:close/>
                  </a:path>
                </a:pathLst>
              </a:custGeom>
              <a:solidFill>
                <a:schemeClr val="accent1">
                  <a:lumMod val="20000"/>
                  <a:lumOff val="8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58" name="任意多边形: 形状 257"/>
              <p:cNvSpPr/>
              <p:nvPr/>
            </p:nvSpPr>
            <p:spPr>
              <a:xfrm>
                <a:off x="5787047" y="2766590"/>
                <a:ext cx="164768" cy="164767"/>
              </a:xfrm>
              <a:custGeom>
                <a:avLst/>
                <a:gdLst>
                  <a:gd name="connsiteX0" fmla="*/ 164768 w 164767"/>
                  <a:gd name="connsiteY0" fmla="*/ 82384 h 164767"/>
                  <a:gd name="connsiteX1" fmla="*/ 82384 w 164767"/>
                  <a:gd name="connsiteY1" fmla="*/ 164768 h 164767"/>
                  <a:gd name="connsiteX2" fmla="*/ 0 w 164767"/>
                  <a:gd name="connsiteY2" fmla="*/ 82384 h 164767"/>
                  <a:gd name="connsiteX3" fmla="*/ 82384 w 164767"/>
                  <a:gd name="connsiteY3" fmla="*/ 0 h 164767"/>
                  <a:gd name="connsiteX4" fmla="*/ 164768 w 164767"/>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7" h="164767">
                    <a:moveTo>
                      <a:pt x="164768" y="82384"/>
                    </a:moveTo>
                    <a:cubicBezTo>
                      <a:pt x="164768" y="127868"/>
                      <a:pt x="127899" y="164768"/>
                      <a:pt x="82384" y="164768"/>
                    </a:cubicBezTo>
                    <a:cubicBezTo>
                      <a:pt x="36899" y="164768"/>
                      <a:pt x="0" y="127899"/>
                      <a:pt x="0" y="82384"/>
                    </a:cubicBezTo>
                    <a:cubicBezTo>
                      <a:pt x="0" y="36900"/>
                      <a:pt x="36868" y="0"/>
                      <a:pt x="82384" y="0"/>
                    </a:cubicBezTo>
                    <a:cubicBezTo>
                      <a:pt x="127899" y="0"/>
                      <a:pt x="164768" y="36868"/>
                      <a:pt x="164768" y="82384"/>
                    </a:cubicBezTo>
                    <a:close/>
                  </a:path>
                </a:pathLst>
              </a:custGeom>
              <a:solidFill>
                <a:schemeClr val="bg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62" name="图形 2"/>
            <p:cNvGrpSpPr/>
            <p:nvPr/>
          </p:nvGrpSpPr>
          <p:grpSpPr>
            <a:xfrm>
              <a:off x="7891739" y="2742303"/>
              <a:ext cx="178585" cy="174538"/>
              <a:chOff x="7891739" y="2742303"/>
              <a:chExt cx="178585" cy="174538"/>
            </a:xfrm>
          </p:grpSpPr>
          <p:sp>
            <p:nvSpPr>
              <p:cNvPr id="263" name="任意多边形: 形状 262"/>
              <p:cNvSpPr/>
              <p:nvPr/>
            </p:nvSpPr>
            <p:spPr>
              <a:xfrm>
                <a:off x="7891739" y="2752074"/>
                <a:ext cx="164736" cy="164767"/>
              </a:xfrm>
              <a:custGeom>
                <a:avLst/>
                <a:gdLst>
                  <a:gd name="connsiteX0" fmla="*/ 164737 w 164736"/>
                  <a:gd name="connsiteY0" fmla="*/ 82384 h 164767"/>
                  <a:gd name="connsiteX1" fmla="*/ 82384 w 164736"/>
                  <a:gd name="connsiteY1" fmla="*/ 164768 h 164767"/>
                  <a:gd name="connsiteX2" fmla="*/ 0 w 164736"/>
                  <a:gd name="connsiteY2" fmla="*/ 82384 h 164767"/>
                  <a:gd name="connsiteX3" fmla="*/ 82384 w 164736"/>
                  <a:gd name="connsiteY3" fmla="*/ 0 h 164767"/>
                  <a:gd name="connsiteX4" fmla="*/ 164737 w 164736"/>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36" h="164767">
                    <a:moveTo>
                      <a:pt x="164737" y="82384"/>
                    </a:moveTo>
                    <a:cubicBezTo>
                      <a:pt x="164737" y="127868"/>
                      <a:pt x="127868" y="164768"/>
                      <a:pt x="82384" y="164768"/>
                    </a:cubicBezTo>
                    <a:cubicBezTo>
                      <a:pt x="36900" y="164768"/>
                      <a:pt x="0" y="127868"/>
                      <a:pt x="0" y="82384"/>
                    </a:cubicBezTo>
                    <a:cubicBezTo>
                      <a:pt x="0" y="36900"/>
                      <a:pt x="36900" y="0"/>
                      <a:pt x="82384" y="0"/>
                    </a:cubicBezTo>
                    <a:cubicBezTo>
                      <a:pt x="127868" y="0"/>
                      <a:pt x="164737" y="36900"/>
                      <a:pt x="164737" y="82384"/>
                    </a:cubicBezTo>
                    <a:close/>
                  </a:path>
                </a:pathLst>
              </a:custGeom>
              <a:solidFill>
                <a:schemeClr val="accent1">
                  <a:lumMod val="20000"/>
                  <a:lumOff val="8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64" name="任意多边形: 形状 263"/>
              <p:cNvSpPr/>
              <p:nvPr/>
            </p:nvSpPr>
            <p:spPr>
              <a:xfrm>
                <a:off x="7905587" y="2742303"/>
                <a:ext cx="164737" cy="164767"/>
              </a:xfrm>
              <a:custGeom>
                <a:avLst/>
                <a:gdLst>
                  <a:gd name="connsiteX0" fmla="*/ 164737 w 164736"/>
                  <a:gd name="connsiteY0" fmla="*/ 82384 h 164767"/>
                  <a:gd name="connsiteX1" fmla="*/ 82353 w 164736"/>
                  <a:gd name="connsiteY1" fmla="*/ 164768 h 164767"/>
                  <a:gd name="connsiteX2" fmla="*/ 0 w 164736"/>
                  <a:gd name="connsiteY2" fmla="*/ 82384 h 164767"/>
                  <a:gd name="connsiteX3" fmla="*/ 82353 w 164736"/>
                  <a:gd name="connsiteY3" fmla="*/ 0 h 164767"/>
                  <a:gd name="connsiteX4" fmla="*/ 164737 w 164736"/>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36" h="164767">
                    <a:moveTo>
                      <a:pt x="164737" y="82384"/>
                    </a:moveTo>
                    <a:cubicBezTo>
                      <a:pt x="164737" y="127868"/>
                      <a:pt x="127837" y="164768"/>
                      <a:pt x="82353" y="164768"/>
                    </a:cubicBezTo>
                    <a:cubicBezTo>
                      <a:pt x="36868" y="164768"/>
                      <a:pt x="0" y="127899"/>
                      <a:pt x="0" y="82384"/>
                    </a:cubicBezTo>
                    <a:cubicBezTo>
                      <a:pt x="0" y="36900"/>
                      <a:pt x="36900" y="0"/>
                      <a:pt x="82353" y="0"/>
                    </a:cubicBezTo>
                    <a:cubicBezTo>
                      <a:pt x="127868" y="0"/>
                      <a:pt x="164737" y="36900"/>
                      <a:pt x="164737" y="82384"/>
                    </a:cubicBezTo>
                    <a:close/>
                  </a:path>
                </a:pathLst>
              </a:custGeom>
              <a:solidFill>
                <a:schemeClr val="bg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65" name="图形 2"/>
            <p:cNvGrpSpPr/>
            <p:nvPr/>
          </p:nvGrpSpPr>
          <p:grpSpPr>
            <a:xfrm>
              <a:off x="6199514" y="4764001"/>
              <a:ext cx="178472" cy="174539"/>
              <a:chOff x="6199514" y="4764001"/>
              <a:chExt cx="178472" cy="174539"/>
            </a:xfrm>
          </p:grpSpPr>
          <p:sp>
            <p:nvSpPr>
              <p:cNvPr id="266" name="任意多边形: 形状 265"/>
              <p:cNvSpPr/>
              <p:nvPr/>
            </p:nvSpPr>
            <p:spPr>
              <a:xfrm>
                <a:off x="6199514" y="4773772"/>
                <a:ext cx="164767" cy="164767"/>
              </a:xfrm>
              <a:custGeom>
                <a:avLst/>
                <a:gdLst>
                  <a:gd name="connsiteX0" fmla="*/ 164768 w 164767"/>
                  <a:gd name="connsiteY0" fmla="*/ 82384 h 164767"/>
                  <a:gd name="connsiteX1" fmla="*/ 82384 w 164767"/>
                  <a:gd name="connsiteY1" fmla="*/ 164768 h 164767"/>
                  <a:gd name="connsiteX2" fmla="*/ 0 w 164767"/>
                  <a:gd name="connsiteY2" fmla="*/ 82384 h 164767"/>
                  <a:gd name="connsiteX3" fmla="*/ 82384 w 164767"/>
                  <a:gd name="connsiteY3" fmla="*/ 0 h 164767"/>
                  <a:gd name="connsiteX4" fmla="*/ 164768 w 164767"/>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7" h="164767">
                    <a:moveTo>
                      <a:pt x="164768" y="82384"/>
                    </a:moveTo>
                    <a:cubicBezTo>
                      <a:pt x="164768" y="127868"/>
                      <a:pt x="127868" y="164768"/>
                      <a:pt x="82384" y="164768"/>
                    </a:cubicBezTo>
                    <a:cubicBezTo>
                      <a:pt x="36900" y="164768"/>
                      <a:pt x="0" y="127868"/>
                      <a:pt x="0" y="82384"/>
                    </a:cubicBezTo>
                    <a:cubicBezTo>
                      <a:pt x="0" y="36900"/>
                      <a:pt x="36900" y="0"/>
                      <a:pt x="82384" y="0"/>
                    </a:cubicBezTo>
                    <a:cubicBezTo>
                      <a:pt x="127899" y="0"/>
                      <a:pt x="164768" y="36900"/>
                      <a:pt x="164768" y="82384"/>
                    </a:cubicBezTo>
                    <a:close/>
                  </a:path>
                </a:pathLst>
              </a:custGeom>
              <a:solidFill>
                <a:srgbClr val="33302F"/>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67" name="任意多边形: 形状 266"/>
              <p:cNvSpPr/>
              <p:nvPr/>
            </p:nvSpPr>
            <p:spPr>
              <a:xfrm>
                <a:off x="6213219" y="4764001"/>
                <a:ext cx="164767" cy="164736"/>
              </a:xfrm>
              <a:custGeom>
                <a:avLst/>
                <a:gdLst>
                  <a:gd name="connsiteX0" fmla="*/ 164768 w 164767"/>
                  <a:gd name="connsiteY0" fmla="*/ 82384 h 164736"/>
                  <a:gd name="connsiteX1" fmla="*/ 82384 w 164767"/>
                  <a:gd name="connsiteY1" fmla="*/ 164737 h 164736"/>
                  <a:gd name="connsiteX2" fmla="*/ 0 w 164767"/>
                  <a:gd name="connsiteY2" fmla="*/ 82384 h 164736"/>
                  <a:gd name="connsiteX3" fmla="*/ 82384 w 164767"/>
                  <a:gd name="connsiteY3" fmla="*/ 0 h 164736"/>
                  <a:gd name="connsiteX4" fmla="*/ 164768 w 164767"/>
                  <a:gd name="connsiteY4" fmla="*/ 82384 h 164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7" h="164736">
                    <a:moveTo>
                      <a:pt x="164768" y="82384"/>
                    </a:moveTo>
                    <a:cubicBezTo>
                      <a:pt x="164768" y="127868"/>
                      <a:pt x="127868" y="164737"/>
                      <a:pt x="82384" y="164737"/>
                    </a:cubicBezTo>
                    <a:cubicBezTo>
                      <a:pt x="36868" y="164737"/>
                      <a:pt x="0" y="127900"/>
                      <a:pt x="0" y="82384"/>
                    </a:cubicBezTo>
                    <a:cubicBezTo>
                      <a:pt x="0" y="36868"/>
                      <a:pt x="36868" y="0"/>
                      <a:pt x="82384" y="0"/>
                    </a:cubicBezTo>
                    <a:cubicBezTo>
                      <a:pt x="127868" y="0"/>
                      <a:pt x="164768" y="36900"/>
                      <a:pt x="164768" y="82384"/>
                    </a:cubicBezTo>
                    <a:close/>
                  </a:path>
                </a:pathLst>
              </a:custGeom>
              <a:solidFill>
                <a:schemeClr val="bg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sp>
          <p:nvSpPr>
            <p:cNvPr id="268" name="任意多边形: 形状 267"/>
            <p:cNvSpPr/>
            <p:nvPr/>
          </p:nvSpPr>
          <p:spPr>
            <a:xfrm>
              <a:off x="8144198" y="3203877"/>
              <a:ext cx="418383" cy="211450"/>
            </a:xfrm>
            <a:custGeom>
              <a:avLst/>
              <a:gdLst>
                <a:gd name="connsiteX0" fmla="*/ 401493 w 418383"/>
                <a:gd name="connsiteY0" fmla="*/ 31199 h 211450"/>
                <a:gd name="connsiteX1" fmla="*/ 228015 w 418383"/>
                <a:gd name="connsiteY1" fmla="*/ 15372 h 211450"/>
                <a:gd name="connsiteX2" fmla="*/ 77358 w 418383"/>
                <a:gd name="connsiteY2" fmla="*/ 88921 h 211450"/>
                <a:gd name="connsiteX3" fmla="*/ 77264 w 418383"/>
                <a:gd name="connsiteY3" fmla="*/ 88921 h 211450"/>
                <a:gd name="connsiteX4" fmla="*/ 24693 w 418383"/>
                <a:gd name="connsiteY4" fmla="*/ 102969 h 211450"/>
                <a:gd name="connsiteX5" fmla="*/ 15734 w 418383"/>
                <a:gd name="connsiteY5" fmla="*/ 109400 h 211450"/>
                <a:gd name="connsiteX6" fmla="*/ 9521 w 418383"/>
                <a:gd name="connsiteY6" fmla="*/ 115518 h 211450"/>
                <a:gd name="connsiteX7" fmla="*/ 7430 w 418383"/>
                <a:gd name="connsiteY7" fmla="*/ 118047 h 211450"/>
                <a:gd name="connsiteX8" fmla="*/ 0 w 418383"/>
                <a:gd name="connsiteY8" fmla="*/ 129566 h 211450"/>
                <a:gd name="connsiteX9" fmla="*/ 12862 w 418383"/>
                <a:gd name="connsiteY9" fmla="*/ 142397 h 211450"/>
                <a:gd name="connsiteX10" fmla="*/ 25505 w 418383"/>
                <a:gd name="connsiteY10" fmla="*/ 130472 h 211450"/>
                <a:gd name="connsiteX11" fmla="*/ 26223 w 418383"/>
                <a:gd name="connsiteY11" fmla="*/ 129566 h 211450"/>
                <a:gd name="connsiteX12" fmla="*/ 30000 w 418383"/>
                <a:gd name="connsiteY12" fmla="*/ 125383 h 211450"/>
                <a:gd name="connsiteX13" fmla="*/ 35869 w 418383"/>
                <a:gd name="connsiteY13" fmla="*/ 120607 h 211450"/>
                <a:gd name="connsiteX14" fmla="*/ 74236 w 418383"/>
                <a:gd name="connsiteY14" fmla="*/ 107589 h 211450"/>
                <a:gd name="connsiteX15" fmla="*/ 223083 w 418383"/>
                <a:gd name="connsiteY15" fmla="*/ 211451 h 211450"/>
                <a:gd name="connsiteX16" fmla="*/ 418132 w 418383"/>
                <a:gd name="connsiteY16" fmla="*/ 44872 h 211450"/>
                <a:gd name="connsiteX17" fmla="*/ 401493 w 418383"/>
                <a:gd name="connsiteY17" fmla="*/ 31199 h 21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8383" h="211450">
                  <a:moveTo>
                    <a:pt x="401493" y="31199"/>
                  </a:moveTo>
                  <a:cubicBezTo>
                    <a:pt x="368714" y="45403"/>
                    <a:pt x="300316" y="63822"/>
                    <a:pt x="228015" y="15372"/>
                  </a:cubicBezTo>
                  <a:cubicBezTo>
                    <a:pt x="151438" y="-35951"/>
                    <a:pt x="95058" y="54862"/>
                    <a:pt x="77358" y="88921"/>
                  </a:cubicBezTo>
                  <a:cubicBezTo>
                    <a:pt x="77358" y="88921"/>
                    <a:pt x="77295" y="88921"/>
                    <a:pt x="77264" y="88921"/>
                  </a:cubicBezTo>
                  <a:cubicBezTo>
                    <a:pt x="58253" y="90076"/>
                    <a:pt x="38523" y="94540"/>
                    <a:pt x="24693" y="102969"/>
                  </a:cubicBezTo>
                  <a:cubicBezTo>
                    <a:pt x="21166" y="104686"/>
                    <a:pt x="18419" y="107495"/>
                    <a:pt x="15734" y="109400"/>
                  </a:cubicBezTo>
                  <a:cubicBezTo>
                    <a:pt x="12987" y="111304"/>
                    <a:pt x="11114" y="113645"/>
                    <a:pt x="9521" y="115518"/>
                  </a:cubicBezTo>
                  <a:cubicBezTo>
                    <a:pt x="8616" y="116611"/>
                    <a:pt x="8086" y="117235"/>
                    <a:pt x="7430" y="118047"/>
                  </a:cubicBezTo>
                  <a:cubicBezTo>
                    <a:pt x="3059" y="120107"/>
                    <a:pt x="0" y="124447"/>
                    <a:pt x="0" y="129566"/>
                  </a:cubicBezTo>
                  <a:cubicBezTo>
                    <a:pt x="0" y="136653"/>
                    <a:pt x="5775" y="142397"/>
                    <a:pt x="12862" y="142397"/>
                  </a:cubicBezTo>
                  <a:cubicBezTo>
                    <a:pt x="19605" y="142397"/>
                    <a:pt x="25006" y="137121"/>
                    <a:pt x="25505" y="130472"/>
                  </a:cubicBezTo>
                  <a:cubicBezTo>
                    <a:pt x="25786" y="130128"/>
                    <a:pt x="25911" y="129941"/>
                    <a:pt x="26223" y="129566"/>
                  </a:cubicBezTo>
                  <a:cubicBezTo>
                    <a:pt x="27128" y="128318"/>
                    <a:pt x="28127" y="126694"/>
                    <a:pt x="30000" y="125383"/>
                  </a:cubicBezTo>
                  <a:cubicBezTo>
                    <a:pt x="31811" y="124041"/>
                    <a:pt x="33278" y="121980"/>
                    <a:pt x="35869" y="120607"/>
                  </a:cubicBezTo>
                  <a:cubicBezTo>
                    <a:pt x="44361" y="114613"/>
                    <a:pt x="58752" y="109930"/>
                    <a:pt x="74236" y="107589"/>
                  </a:cubicBezTo>
                  <a:cubicBezTo>
                    <a:pt x="85100" y="130909"/>
                    <a:pt x="129304" y="211451"/>
                    <a:pt x="223083" y="211451"/>
                  </a:cubicBezTo>
                  <a:cubicBezTo>
                    <a:pt x="368308" y="211451"/>
                    <a:pt x="407768" y="96195"/>
                    <a:pt x="418132" y="44872"/>
                  </a:cubicBezTo>
                  <a:cubicBezTo>
                    <a:pt x="420067" y="35289"/>
                    <a:pt x="410483" y="27297"/>
                    <a:pt x="401493" y="31199"/>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69" name="任意多边形: 形状 268"/>
            <p:cNvSpPr/>
            <p:nvPr/>
          </p:nvSpPr>
          <p:spPr>
            <a:xfrm>
              <a:off x="7083728" y="5252770"/>
              <a:ext cx="560227" cy="283170"/>
            </a:xfrm>
            <a:custGeom>
              <a:avLst/>
              <a:gdLst>
                <a:gd name="connsiteX0" fmla="*/ 537602 w 560228"/>
                <a:gd name="connsiteY0" fmla="*/ 41763 h 283170"/>
                <a:gd name="connsiteX1" fmla="*/ 305311 w 560228"/>
                <a:gd name="connsiteY1" fmla="*/ 20597 h 283170"/>
                <a:gd name="connsiteX2" fmla="*/ 103518 w 560228"/>
                <a:gd name="connsiteY2" fmla="*/ 119058 h 283170"/>
                <a:gd name="connsiteX3" fmla="*/ 103425 w 560228"/>
                <a:gd name="connsiteY3" fmla="*/ 119090 h 283170"/>
                <a:gd name="connsiteX4" fmla="*/ 33060 w 560228"/>
                <a:gd name="connsiteY4" fmla="*/ 137883 h 283170"/>
                <a:gd name="connsiteX5" fmla="*/ 21010 w 560228"/>
                <a:gd name="connsiteY5" fmla="*/ 146530 h 283170"/>
                <a:gd name="connsiteX6" fmla="*/ 12706 w 560228"/>
                <a:gd name="connsiteY6" fmla="*/ 154740 h 283170"/>
                <a:gd name="connsiteX7" fmla="*/ 9896 w 560228"/>
                <a:gd name="connsiteY7" fmla="*/ 158112 h 283170"/>
                <a:gd name="connsiteX8" fmla="*/ 0 w 560228"/>
                <a:gd name="connsiteY8" fmla="*/ 173533 h 283170"/>
                <a:gd name="connsiteX9" fmla="*/ 17201 w 560228"/>
                <a:gd name="connsiteY9" fmla="*/ 190734 h 283170"/>
                <a:gd name="connsiteX10" fmla="*/ 34152 w 560228"/>
                <a:gd name="connsiteY10" fmla="*/ 174751 h 283170"/>
                <a:gd name="connsiteX11" fmla="*/ 35089 w 560228"/>
                <a:gd name="connsiteY11" fmla="*/ 173502 h 283170"/>
                <a:gd name="connsiteX12" fmla="*/ 40115 w 560228"/>
                <a:gd name="connsiteY12" fmla="*/ 167883 h 283170"/>
                <a:gd name="connsiteX13" fmla="*/ 48013 w 560228"/>
                <a:gd name="connsiteY13" fmla="*/ 161483 h 283170"/>
                <a:gd name="connsiteX14" fmla="*/ 99366 w 560228"/>
                <a:gd name="connsiteY14" fmla="*/ 144064 h 283170"/>
                <a:gd name="connsiteX15" fmla="*/ 298692 w 560228"/>
                <a:gd name="connsiteY15" fmla="*/ 283171 h 283170"/>
                <a:gd name="connsiteX16" fmla="*/ 559892 w 560228"/>
                <a:gd name="connsiteY16" fmla="*/ 60088 h 283170"/>
                <a:gd name="connsiteX17" fmla="*/ 537602 w 560228"/>
                <a:gd name="connsiteY17" fmla="*/ 41763 h 283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0228" h="283170">
                  <a:moveTo>
                    <a:pt x="537602" y="41763"/>
                  </a:moveTo>
                  <a:cubicBezTo>
                    <a:pt x="493741" y="60774"/>
                    <a:pt x="402117" y="85437"/>
                    <a:pt x="305311" y="20597"/>
                  </a:cubicBezTo>
                  <a:cubicBezTo>
                    <a:pt x="202729" y="-48144"/>
                    <a:pt x="127244" y="73418"/>
                    <a:pt x="103518" y="119058"/>
                  </a:cubicBezTo>
                  <a:cubicBezTo>
                    <a:pt x="103487" y="119090"/>
                    <a:pt x="103456" y="119058"/>
                    <a:pt x="103425" y="119090"/>
                  </a:cubicBezTo>
                  <a:cubicBezTo>
                    <a:pt x="77920" y="120619"/>
                    <a:pt x="51509" y="126613"/>
                    <a:pt x="33060" y="137883"/>
                  </a:cubicBezTo>
                  <a:cubicBezTo>
                    <a:pt x="28315" y="140224"/>
                    <a:pt x="24600" y="143970"/>
                    <a:pt x="21010" y="146530"/>
                  </a:cubicBezTo>
                  <a:cubicBezTo>
                    <a:pt x="17357" y="149059"/>
                    <a:pt x="14797" y="152180"/>
                    <a:pt x="12706" y="154740"/>
                  </a:cubicBezTo>
                  <a:cubicBezTo>
                    <a:pt x="11488" y="156208"/>
                    <a:pt x="10770" y="157051"/>
                    <a:pt x="9896" y="158112"/>
                  </a:cubicBezTo>
                  <a:cubicBezTo>
                    <a:pt x="4090" y="160859"/>
                    <a:pt x="0" y="166697"/>
                    <a:pt x="0" y="173533"/>
                  </a:cubicBezTo>
                  <a:cubicBezTo>
                    <a:pt x="0" y="183024"/>
                    <a:pt x="7711" y="190734"/>
                    <a:pt x="17201" y="190734"/>
                  </a:cubicBezTo>
                  <a:cubicBezTo>
                    <a:pt x="26254" y="190734"/>
                    <a:pt x="33497" y="183648"/>
                    <a:pt x="34152" y="174751"/>
                  </a:cubicBezTo>
                  <a:cubicBezTo>
                    <a:pt x="34496" y="174283"/>
                    <a:pt x="34683" y="174064"/>
                    <a:pt x="35089" y="173502"/>
                  </a:cubicBezTo>
                  <a:cubicBezTo>
                    <a:pt x="36275" y="171817"/>
                    <a:pt x="37618" y="169694"/>
                    <a:pt x="40115" y="167883"/>
                  </a:cubicBezTo>
                  <a:cubicBezTo>
                    <a:pt x="42519" y="166073"/>
                    <a:pt x="44517" y="163325"/>
                    <a:pt x="48013" y="161483"/>
                  </a:cubicBezTo>
                  <a:cubicBezTo>
                    <a:pt x="59345" y="153429"/>
                    <a:pt x="78607" y="147154"/>
                    <a:pt x="99366" y="144064"/>
                  </a:cubicBezTo>
                  <a:cubicBezTo>
                    <a:pt x="113914" y="175282"/>
                    <a:pt x="173134" y="283171"/>
                    <a:pt x="298692" y="283171"/>
                  </a:cubicBezTo>
                  <a:cubicBezTo>
                    <a:pt x="493179" y="283171"/>
                    <a:pt x="546031" y="128798"/>
                    <a:pt x="559892" y="60088"/>
                  </a:cubicBezTo>
                  <a:cubicBezTo>
                    <a:pt x="562483" y="47226"/>
                    <a:pt x="549652" y="36550"/>
                    <a:pt x="537602" y="41763"/>
                  </a:cubicBezTo>
                  <a:close/>
                </a:path>
              </a:pathLst>
            </a:custGeom>
            <a:solidFill>
              <a:schemeClr val="accent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nvGrpSpPr>
            <p:cNvPr id="271" name="图形 2"/>
            <p:cNvGrpSpPr/>
            <p:nvPr/>
          </p:nvGrpSpPr>
          <p:grpSpPr>
            <a:xfrm>
              <a:off x="7160805" y="2515474"/>
              <a:ext cx="449478" cy="453813"/>
              <a:chOff x="7160805" y="2515474"/>
              <a:chExt cx="449478" cy="453813"/>
            </a:xfrm>
            <a:solidFill>
              <a:srgbClr val="C9CACA"/>
            </a:solidFill>
          </p:grpSpPr>
          <p:sp>
            <p:nvSpPr>
              <p:cNvPr id="272" name="任意多边形: 形状 271"/>
              <p:cNvSpPr/>
              <p:nvPr/>
            </p:nvSpPr>
            <p:spPr>
              <a:xfrm>
                <a:off x="7167796" y="2530365"/>
                <a:ext cx="186622" cy="432491"/>
              </a:xfrm>
              <a:custGeom>
                <a:avLst/>
                <a:gdLst>
                  <a:gd name="connsiteX0" fmla="*/ 21230 w 186622"/>
                  <a:gd name="connsiteY0" fmla="*/ 432492 h 432491"/>
                  <a:gd name="connsiteX1" fmla="*/ 4248 w 186622"/>
                  <a:gd name="connsiteY1" fmla="*/ 424032 h 432491"/>
                  <a:gd name="connsiteX2" fmla="*/ 8493 w 186622"/>
                  <a:gd name="connsiteY2" fmla="*/ 394375 h 432491"/>
                  <a:gd name="connsiteX3" fmla="*/ 144259 w 186622"/>
                  <a:gd name="connsiteY3" fmla="*/ 292542 h 432491"/>
                  <a:gd name="connsiteX4" fmla="*/ 144259 w 186622"/>
                  <a:gd name="connsiteY4" fmla="*/ 21166 h 432491"/>
                  <a:gd name="connsiteX5" fmla="*/ 165457 w 186622"/>
                  <a:gd name="connsiteY5" fmla="*/ 0 h 432491"/>
                  <a:gd name="connsiteX6" fmla="*/ 186622 w 186622"/>
                  <a:gd name="connsiteY6" fmla="*/ 21166 h 432491"/>
                  <a:gd name="connsiteX7" fmla="*/ 186622 w 186622"/>
                  <a:gd name="connsiteY7" fmla="*/ 303125 h 432491"/>
                  <a:gd name="connsiteX8" fmla="*/ 178162 w 186622"/>
                  <a:gd name="connsiteY8" fmla="*/ 320076 h 432491"/>
                  <a:gd name="connsiteX9" fmla="*/ 33905 w 186622"/>
                  <a:gd name="connsiteY9" fmla="*/ 428246 h 432491"/>
                  <a:gd name="connsiteX10" fmla="*/ 21230 w 186622"/>
                  <a:gd name="connsiteY10" fmla="*/ 432492 h 43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6622" h="432491">
                    <a:moveTo>
                      <a:pt x="21230" y="432492"/>
                    </a:moveTo>
                    <a:cubicBezTo>
                      <a:pt x="14768" y="432492"/>
                      <a:pt x="8431" y="429557"/>
                      <a:pt x="4248" y="424032"/>
                    </a:cubicBezTo>
                    <a:cubicBezTo>
                      <a:pt x="-2776" y="414667"/>
                      <a:pt x="-903" y="401399"/>
                      <a:pt x="8493" y="394375"/>
                    </a:cubicBezTo>
                    <a:lnTo>
                      <a:pt x="144259" y="292542"/>
                    </a:lnTo>
                    <a:lnTo>
                      <a:pt x="144259" y="21166"/>
                    </a:lnTo>
                    <a:cubicBezTo>
                      <a:pt x="144259" y="9459"/>
                      <a:pt x="153719" y="0"/>
                      <a:pt x="165457" y="0"/>
                    </a:cubicBezTo>
                    <a:cubicBezTo>
                      <a:pt x="177163" y="0"/>
                      <a:pt x="186622" y="9490"/>
                      <a:pt x="186622" y="21166"/>
                    </a:cubicBezTo>
                    <a:lnTo>
                      <a:pt x="186622" y="303125"/>
                    </a:lnTo>
                    <a:cubicBezTo>
                      <a:pt x="186622" y="309806"/>
                      <a:pt x="183469" y="316081"/>
                      <a:pt x="178162" y="320076"/>
                    </a:cubicBezTo>
                    <a:lnTo>
                      <a:pt x="33905" y="428246"/>
                    </a:lnTo>
                    <a:cubicBezTo>
                      <a:pt x="30096" y="431118"/>
                      <a:pt x="25632" y="432492"/>
                      <a:pt x="21230" y="432492"/>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73" name="任意多边形: 形状 272"/>
              <p:cNvSpPr/>
              <p:nvPr/>
            </p:nvSpPr>
            <p:spPr>
              <a:xfrm>
                <a:off x="7296821" y="2515474"/>
                <a:ext cx="75422" cy="75422"/>
              </a:xfrm>
              <a:custGeom>
                <a:avLst/>
                <a:gdLst>
                  <a:gd name="connsiteX0" fmla="*/ 75422 w 75422"/>
                  <a:gd name="connsiteY0" fmla="*/ 37711 h 75422"/>
                  <a:gd name="connsiteX1" fmla="*/ 37711 w 75422"/>
                  <a:gd name="connsiteY1" fmla="*/ 75422 h 75422"/>
                  <a:gd name="connsiteX2" fmla="*/ 0 w 75422"/>
                  <a:gd name="connsiteY2" fmla="*/ 37711 h 75422"/>
                  <a:gd name="connsiteX3" fmla="*/ 37711 w 75422"/>
                  <a:gd name="connsiteY3" fmla="*/ 0 h 75422"/>
                  <a:gd name="connsiteX4" fmla="*/ 75422 w 75422"/>
                  <a:gd name="connsiteY4" fmla="*/ 37711 h 75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22" h="75422">
                    <a:moveTo>
                      <a:pt x="75422" y="37711"/>
                    </a:moveTo>
                    <a:cubicBezTo>
                      <a:pt x="75422" y="58533"/>
                      <a:pt x="58533" y="75422"/>
                      <a:pt x="37711" y="75422"/>
                    </a:cubicBezTo>
                    <a:cubicBezTo>
                      <a:pt x="16858" y="75422"/>
                      <a:pt x="0" y="58533"/>
                      <a:pt x="0" y="37711"/>
                    </a:cubicBezTo>
                    <a:cubicBezTo>
                      <a:pt x="0" y="16889"/>
                      <a:pt x="16858" y="0"/>
                      <a:pt x="37711" y="0"/>
                    </a:cubicBezTo>
                    <a:cubicBezTo>
                      <a:pt x="58533" y="0"/>
                      <a:pt x="75422" y="16889"/>
                      <a:pt x="75422" y="37711"/>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74" name="任意多边形: 形状 273"/>
              <p:cNvSpPr/>
              <p:nvPr/>
            </p:nvSpPr>
            <p:spPr>
              <a:xfrm>
                <a:off x="7160805" y="2893865"/>
                <a:ext cx="75422" cy="75422"/>
              </a:xfrm>
              <a:custGeom>
                <a:avLst/>
                <a:gdLst>
                  <a:gd name="connsiteX0" fmla="*/ 75422 w 75422"/>
                  <a:gd name="connsiteY0" fmla="*/ 37711 h 75422"/>
                  <a:gd name="connsiteX1" fmla="*/ 37711 w 75422"/>
                  <a:gd name="connsiteY1" fmla="*/ 75422 h 75422"/>
                  <a:gd name="connsiteX2" fmla="*/ 0 w 75422"/>
                  <a:gd name="connsiteY2" fmla="*/ 37711 h 75422"/>
                  <a:gd name="connsiteX3" fmla="*/ 37711 w 75422"/>
                  <a:gd name="connsiteY3" fmla="*/ 0 h 75422"/>
                  <a:gd name="connsiteX4" fmla="*/ 75422 w 75422"/>
                  <a:gd name="connsiteY4" fmla="*/ 37711 h 75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22" h="75422">
                    <a:moveTo>
                      <a:pt x="75422" y="37711"/>
                    </a:moveTo>
                    <a:cubicBezTo>
                      <a:pt x="75422" y="58533"/>
                      <a:pt x="58533" y="75422"/>
                      <a:pt x="37711" y="75422"/>
                    </a:cubicBezTo>
                    <a:cubicBezTo>
                      <a:pt x="16889" y="75422"/>
                      <a:pt x="0" y="58533"/>
                      <a:pt x="0" y="37711"/>
                    </a:cubicBezTo>
                    <a:cubicBezTo>
                      <a:pt x="0" y="16889"/>
                      <a:pt x="16889" y="0"/>
                      <a:pt x="37711" y="0"/>
                    </a:cubicBezTo>
                    <a:cubicBezTo>
                      <a:pt x="58533" y="31"/>
                      <a:pt x="75422" y="16889"/>
                      <a:pt x="75422" y="37711"/>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75" name="任意多边形: 形状 274"/>
              <p:cNvSpPr/>
              <p:nvPr/>
            </p:nvSpPr>
            <p:spPr>
              <a:xfrm>
                <a:off x="7337435" y="2630853"/>
                <a:ext cx="272848" cy="137922"/>
              </a:xfrm>
              <a:custGeom>
                <a:avLst/>
                <a:gdLst>
                  <a:gd name="connsiteX0" fmla="*/ 261824 w 272848"/>
                  <a:gd name="connsiteY0" fmla="*/ 20325 h 137922"/>
                  <a:gd name="connsiteX1" fmla="*/ 148691 w 272848"/>
                  <a:gd name="connsiteY1" fmla="*/ 10023 h 137922"/>
                  <a:gd name="connsiteX2" fmla="*/ 50417 w 272848"/>
                  <a:gd name="connsiteY2" fmla="*/ 58004 h 137922"/>
                  <a:gd name="connsiteX3" fmla="*/ 50354 w 272848"/>
                  <a:gd name="connsiteY3" fmla="*/ 58004 h 137922"/>
                  <a:gd name="connsiteX4" fmla="*/ 16077 w 272848"/>
                  <a:gd name="connsiteY4" fmla="*/ 67151 h 137922"/>
                  <a:gd name="connsiteX5" fmla="*/ 10240 w 272848"/>
                  <a:gd name="connsiteY5" fmla="*/ 71366 h 137922"/>
                  <a:gd name="connsiteX6" fmla="*/ 6181 w 272848"/>
                  <a:gd name="connsiteY6" fmla="*/ 75362 h 137922"/>
                  <a:gd name="connsiteX7" fmla="*/ 4807 w 272848"/>
                  <a:gd name="connsiteY7" fmla="*/ 77016 h 137922"/>
                  <a:gd name="connsiteX8" fmla="*/ 0 w 272848"/>
                  <a:gd name="connsiteY8" fmla="*/ 84540 h 137922"/>
                  <a:gd name="connsiteX9" fmla="*/ 8366 w 272848"/>
                  <a:gd name="connsiteY9" fmla="*/ 92906 h 137922"/>
                  <a:gd name="connsiteX10" fmla="*/ 16608 w 272848"/>
                  <a:gd name="connsiteY10" fmla="*/ 85133 h 137922"/>
                  <a:gd name="connsiteX11" fmla="*/ 17076 w 272848"/>
                  <a:gd name="connsiteY11" fmla="*/ 84540 h 137922"/>
                  <a:gd name="connsiteX12" fmla="*/ 19542 w 272848"/>
                  <a:gd name="connsiteY12" fmla="*/ 81792 h 137922"/>
                  <a:gd name="connsiteX13" fmla="*/ 23382 w 272848"/>
                  <a:gd name="connsiteY13" fmla="*/ 78671 h 137922"/>
                  <a:gd name="connsiteX14" fmla="*/ 48388 w 272848"/>
                  <a:gd name="connsiteY14" fmla="*/ 70179 h 137922"/>
                  <a:gd name="connsiteX15" fmla="*/ 145444 w 272848"/>
                  <a:gd name="connsiteY15" fmla="*/ 137922 h 137922"/>
                  <a:gd name="connsiteX16" fmla="*/ 272688 w 272848"/>
                  <a:gd name="connsiteY16" fmla="*/ 29253 h 137922"/>
                  <a:gd name="connsiteX17" fmla="*/ 261824 w 272848"/>
                  <a:gd name="connsiteY17" fmla="*/ 20325 h 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2848" h="137922">
                    <a:moveTo>
                      <a:pt x="261824" y="20325"/>
                    </a:moveTo>
                    <a:cubicBezTo>
                      <a:pt x="240440" y="29596"/>
                      <a:pt x="195829" y="41615"/>
                      <a:pt x="148691" y="10023"/>
                    </a:cubicBezTo>
                    <a:cubicBezTo>
                      <a:pt x="98742" y="-23443"/>
                      <a:pt x="61967" y="35777"/>
                      <a:pt x="50417" y="58004"/>
                    </a:cubicBezTo>
                    <a:cubicBezTo>
                      <a:pt x="50417" y="58004"/>
                      <a:pt x="50386" y="58004"/>
                      <a:pt x="50354" y="58004"/>
                    </a:cubicBezTo>
                    <a:cubicBezTo>
                      <a:pt x="37961" y="58754"/>
                      <a:pt x="25068" y="61657"/>
                      <a:pt x="16077" y="67151"/>
                    </a:cubicBezTo>
                    <a:cubicBezTo>
                      <a:pt x="13767" y="68275"/>
                      <a:pt x="11956" y="70117"/>
                      <a:pt x="10240" y="71366"/>
                    </a:cubicBezTo>
                    <a:cubicBezTo>
                      <a:pt x="8460" y="72583"/>
                      <a:pt x="7211" y="74113"/>
                      <a:pt x="6181" y="75362"/>
                    </a:cubicBezTo>
                    <a:cubicBezTo>
                      <a:pt x="5588" y="76080"/>
                      <a:pt x="5276" y="76485"/>
                      <a:pt x="4807" y="77016"/>
                    </a:cubicBezTo>
                    <a:cubicBezTo>
                      <a:pt x="1998" y="78359"/>
                      <a:pt x="0" y="81199"/>
                      <a:pt x="0" y="84540"/>
                    </a:cubicBezTo>
                    <a:cubicBezTo>
                      <a:pt x="0" y="89160"/>
                      <a:pt x="3777" y="92906"/>
                      <a:pt x="8366" y="92906"/>
                    </a:cubicBezTo>
                    <a:cubicBezTo>
                      <a:pt x="12768" y="92906"/>
                      <a:pt x="16327" y="89472"/>
                      <a:pt x="16608" y="85133"/>
                    </a:cubicBezTo>
                    <a:cubicBezTo>
                      <a:pt x="16795" y="84914"/>
                      <a:pt x="16889" y="84789"/>
                      <a:pt x="17076" y="84540"/>
                    </a:cubicBezTo>
                    <a:cubicBezTo>
                      <a:pt x="17669" y="83728"/>
                      <a:pt x="18325" y="82698"/>
                      <a:pt x="19542" y="81792"/>
                    </a:cubicBezTo>
                    <a:cubicBezTo>
                      <a:pt x="20697" y="80918"/>
                      <a:pt x="21665" y="79576"/>
                      <a:pt x="23382" y="78671"/>
                    </a:cubicBezTo>
                    <a:cubicBezTo>
                      <a:pt x="28908" y="74768"/>
                      <a:pt x="38304" y="71709"/>
                      <a:pt x="48388" y="70179"/>
                    </a:cubicBezTo>
                    <a:cubicBezTo>
                      <a:pt x="55443" y="85383"/>
                      <a:pt x="84288" y="137922"/>
                      <a:pt x="145444" y="137922"/>
                    </a:cubicBezTo>
                    <a:cubicBezTo>
                      <a:pt x="240190" y="137922"/>
                      <a:pt x="265914" y="62750"/>
                      <a:pt x="272688" y="29253"/>
                    </a:cubicBezTo>
                    <a:cubicBezTo>
                      <a:pt x="273937" y="22978"/>
                      <a:pt x="267662" y="17796"/>
                      <a:pt x="261824" y="20325"/>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76" name="图形 2"/>
            <p:cNvGrpSpPr/>
            <p:nvPr/>
          </p:nvGrpSpPr>
          <p:grpSpPr>
            <a:xfrm>
              <a:off x="6547812" y="3389074"/>
              <a:ext cx="1635230" cy="963476"/>
              <a:chOff x="6547812" y="3389074"/>
              <a:chExt cx="1635230" cy="963476"/>
            </a:xfrm>
            <a:solidFill>
              <a:srgbClr val="33302F"/>
            </a:solidFill>
          </p:grpSpPr>
          <p:sp>
            <p:nvSpPr>
              <p:cNvPr id="277" name="任意多边形: 形状 276"/>
              <p:cNvSpPr/>
              <p:nvPr/>
            </p:nvSpPr>
            <p:spPr>
              <a:xfrm>
                <a:off x="6547812" y="3389074"/>
                <a:ext cx="421713" cy="425842"/>
              </a:xfrm>
              <a:custGeom>
                <a:avLst/>
                <a:gdLst>
                  <a:gd name="connsiteX0" fmla="*/ 411357 w 421713"/>
                  <a:gd name="connsiteY0" fmla="*/ 127338 h 425842"/>
                  <a:gd name="connsiteX1" fmla="*/ 305217 w 421713"/>
                  <a:gd name="connsiteY1" fmla="*/ 117660 h 425842"/>
                  <a:gd name="connsiteX2" fmla="*/ 212999 w 421713"/>
                  <a:gd name="connsiteY2" fmla="*/ 162676 h 425842"/>
                  <a:gd name="connsiteX3" fmla="*/ 212968 w 421713"/>
                  <a:gd name="connsiteY3" fmla="*/ 162676 h 425842"/>
                  <a:gd name="connsiteX4" fmla="*/ 181657 w 421713"/>
                  <a:gd name="connsiteY4" fmla="*/ 170918 h 425842"/>
                  <a:gd name="connsiteX5" fmla="*/ 181657 w 421713"/>
                  <a:gd name="connsiteY5" fmla="*/ 64652 h 425842"/>
                  <a:gd name="connsiteX6" fmla="*/ 198358 w 421713"/>
                  <a:gd name="connsiteY6" fmla="*/ 35370 h 425842"/>
                  <a:gd name="connsiteX7" fmla="*/ 162988 w 421713"/>
                  <a:gd name="connsiteY7" fmla="*/ 0 h 425842"/>
                  <a:gd name="connsiteX8" fmla="*/ 127619 w 421713"/>
                  <a:gd name="connsiteY8" fmla="*/ 35370 h 425842"/>
                  <a:gd name="connsiteX9" fmla="*/ 141916 w 421713"/>
                  <a:gd name="connsiteY9" fmla="*/ 63060 h 425842"/>
                  <a:gd name="connsiteX10" fmla="*/ 141916 w 421713"/>
                  <a:gd name="connsiteY10" fmla="*/ 288453 h 425842"/>
                  <a:gd name="connsiteX11" fmla="*/ 49262 w 421713"/>
                  <a:gd name="connsiteY11" fmla="*/ 357944 h 425842"/>
                  <a:gd name="connsiteX12" fmla="*/ 35370 w 421713"/>
                  <a:gd name="connsiteY12" fmla="*/ 355103 h 425842"/>
                  <a:gd name="connsiteX13" fmla="*/ 0 w 421713"/>
                  <a:gd name="connsiteY13" fmla="*/ 390473 h 425842"/>
                  <a:gd name="connsiteX14" fmla="*/ 35370 w 421713"/>
                  <a:gd name="connsiteY14" fmla="*/ 425843 h 425842"/>
                  <a:gd name="connsiteX15" fmla="*/ 70490 w 421713"/>
                  <a:gd name="connsiteY15" fmla="*/ 391722 h 425842"/>
                  <a:gd name="connsiteX16" fmla="*/ 173696 w 421713"/>
                  <a:gd name="connsiteY16" fmla="*/ 314301 h 425842"/>
                  <a:gd name="connsiteX17" fmla="*/ 181657 w 421713"/>
                  <a:gd name="connsiteY17" fmla="*/ 298411 h 425842"/>
                  <a:gd name="connsiteX18" fmla="*/ 181657 w 421713"/>
                  <a:gd name="connsiteY18" fmla="*/ 187682 h 425842"/>
                  <a:gd name="connsiteX19" fmla="*/ 181719 w 421713"/>
                  <a:gd name="connsiteY19" fmla="*/ 187588 h 425842"/>
                  <a:gd name="connsiteX20" fmla="*/ 184029 w 421713"/>
                  <a:gd name="connsiteY20" fmla="*/ 185028 h 425842"/>
                  <a:gd name="connsiteX21" fmla="*/ 187650 w 421713"/>
                  <a:gd name="connsiteY21" fmla="*/ 182094 h 425842"/>
                  <a:gd name="connsiteX22" fmla="*/ 211126 w 421713"/>
                  <a:gd name="connsiteY22" fmla="*/ 174133 h 425842"/>
                  <a:gd name="connsiteX23" fmla="*/ 302189 w 421713"/>
                  <a:gd name="connsiteY23" fmla="*/ 237724 h 425842"/>
                  <a:gd name="connsiteX24" fmla="*/ 421566 w 421713"/>
                  <a:gd name="connsiteY24" fmla="*/ 135766 h 425842"/>
                  <a:gd name="connsiteX25" fmla="*/ 411357 w 421713"/>
                  <a:gd name="connsiteY25" fmla="*/ 127338 h 425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21713" h="425842">
                    <a:moveTo>
                      <a:pt x="411357" y="127338"/>
                    </a:moveTo>
                    <a:cubicBezTo>
                      <a:pt x="391316" y="136016"/>
                      <a:pt x="349452" y="147286"/>
                      <a:pt x="305217" y="117660"/>
                    </a:cubicBezTo>
                    <a:cubicBezTo>
                      <a:pt x="258359" y="86224"/>
                      <a:pt x="223832" y="141823"/>
                      <a:pt x="212999" y="162676"/>
                    </a:cubicBezTo>
                    <a:cubicBezTo>
                      <a:pt x="212999" y="162676"/>
                      <a:pt x="212968" y="162676"/>
                      <a:pt x="212968" y="162676"/>
                    </a:cubicBezTo>
                    <a:cubicBezTo>
                      <a:pt x="201636" y="163363"/>
                      <a:pt x="190054" y="166048"/>
                      <a:pt x="181657" y="170918"/>
                    </a:cubicBezTo>
                    <a:lnTo>
                      <a:pt x="181657" y="64652"/>
                    </a:lnTo>
                    <a:cubicBezTo>
                      <a:pt x="191459" y="58346"/>
                      <a:pt x="198358" y="47888"/>
                      <a:pt x="198358" y="35370"/>
                    </a:cubicBezTo>
                    <a:cubicBezTo>
                      <a:pt x="198358" y="15827"/>
                      <a:pt x="182531" y="0"/>
                      <a:pt x="162988" y="0"/>
                    </a:cubicBezTo>
                    <a:cubicBezTo>
                      <a:pt x="143446" y="0"/>
                      <a:pt x="127619" y="15827"/>
                      <a:pt x="127619" y="35370"/>
                    </a:cubicBezTo>
                    <a:cubicBezTo>
                      <a:pt x="127619" y="46858"/>
                      <a:pt x="133456" y="56567"/>
                      <a:pt x="141916" y="63060"/>
                    </a:cubicBezTo>
                    <a:lnTo>
                      <a:pt x="141916" y="288453"/>
                    </a:lnTo>
                    <a:lnTo>
                      <a:pt x="49262" y="357944"/>
                    </a:lnTo>
                    <a:cubicBezTo>
                      <a:pt x="44985" y="356133"/>
                      <a:pt x="40302" y="355103"/>
                      <a:pt x="35370" y="355103"/>
                    </a:cubicBezTo>
                    <a:cubicBezTo>
                      <a:pt x="15827" y="355103"/>
                      <a:pt x="0" y="370930"/>
                      <a:pt x="0" y="390473"/>
                    </a:cubicBezTo>
                    <a:cubicBezTo>
                      <a:pt x="0" y="410015"/>
                      <a:pt x="15827" y="425843"/>
                      <a:pt x="35370" y="425843"/>
                    </a:cubicBezTo>
                    <a:cubicBezTo>
                      <a:pt x="54475" y="425843"/>
                      <a:pt x="69803" y="410640"/>
                      <a:pt x="70490" y="391722"/>
                    </a:cubicBezTo>
                    <a:lnTo>
                      <a:pt x="173696" y="314301"/>
                    </a:lnTo>
                    <a:cubicBezTo>
                      <a:pt x="178691" y="310555"/>
                      <a:pt x="181657" y="304655"/>
                      <a:pt x="181657" y="298411"/>
                    </a:cubicBezTo>
                    <a:lnTo>
                      <a:pt x="181657" y="187682"/>
                    </a:lnTo>
                    <a:cubicBezTo>
                      <a:pt x="181688" y="187650"/>
                      <a:pt x="181688" y="187619"/>
                      <a:pt x="181719" y="187588"/>
                    </a:cubicBezTo>
                    <a:cubicBezTo>
                      <a:pt x="182250" y="186839"/>
                      <a:pt x="182874" y="185840"/>
                      <a:pt x="184029" y="185028"/>
                    </a:cubicBezTo>
                    <a:cubicBezTo>
                      <a:pt x="185153" y="184216"/>
                      <a:pt x="186058" y="182937"/>
                      <a:pt x="187650" y="182094"/>
                    </a:cubicBezTo>
                    <a:cubicBezTo>
                      <a:pt x="192833" y="178410"/>
                      <a:pt x="201636" y="175569"/>
                      <a:pt x="211126" y="174133"/>
                    </a:cubicBezTo>
                    <a:cubicBezTo>
                      <a:pt x="217776" y="188400"/>
                      <a:pt x="244841" y="237724"/>
                      <a:pt x="302189" y="237724"/>
                    </a:cubicBezTo>
                    <a:cubicBezTo>
                      <a:pt x="391097" y="237724"/>
                      <a:pt x="415228" y="167172"/>
                      <a:pt x="421566" y="135766"/>
                    </a:cubicBezTo>
                    <a:cubicBezTo>
                      <a:pt x="422721" y="129835"/>
                      <a:pt x="416883" y="124934"/>
                      <a:pt x="411357" y="127338"/>
                    </a:cubicBezTo>
                    <a:close/>
                  </a:path>
                </a:pathLst>
              </a:custGeom>
              <a:solidFill>
                <a:schemeClr val="accent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78" name="任意多边形: 形状 277"/>
              <p:cNvSpPr/>
              <p:nvPr/>
            </p:nvSpPr>
            <p:spPr>
              <a:xfrm>
                <a:off x="7678147" y="3842762"/>
                <a:ext cx="504895" cy="509787"/>
              </a:xfrm>
              <a:custGeom>
                <a:avLst/>
                <a:gdLst>
                  <a:gd name="connsiteX0" fmla="*/ 492524 w 504895"/>
                  <a:gd name="connsiteY0" fmla="*/ 152437 h 509787"/>
                  <a:gd name="connsiteX1" fmla="*/ 365436 w 504895"/>
                  <a:gd name="connsiteY1" fmla="*/ 140855 h 509787"/>
                  <a:gd name="connsiteX2" fmla="*/ 255019 w 504895"/>
                  <a:gd name="connsiteY2" fmla="*/ 194737 h 509787"/>
                  <a:gd name="connsiteX3" fmla="*/ 254956 w 504895"/>
                  <a:gd name="connsiteY3" fmla="*/ 194737 h 509787"/>
                  <a:gd name="connsiteX4" fmla="*/ 217463 w 504895"/>
                  <a:gd name="connsiteY4" fmla="*/ 204539 h 509787"/>
                  <a:gd name="connsiteX5" fmla="*/ 217463 w 504895"/>
                  <a:gd name="connsiteY5" fmla="*/ 78169 h 509787"/>
                  <a:gd name="connsiteX6" fmla="*/ 237474 w 504895"/>
                  <a:gd name="connsiteY6" fmla="*/ 42331 h 509787"/>
                  <a:gd name="connsiteX7" fmla="*/ 195111 w 504895"/>
                  <a:gd name="connsiteY7" fmla="*/ 0 h 509787"/>
                  <a:gd name="connsiteX8" fmla="*/ 152749 w 504895"/>
                  <a:gd name="connsiteY8" fmla="*/ 42331 h 509787"/>
                  <a:gd name="connsiteX9" fmla="*/ 169856 w 504895"/>
                  <a:gd name="connsiteY9" fmla="*/ 76172 h 509787"/>
                  <a:gd name="connsiteX10" fmla="*/ 169856 w 504895"/>
                  <a:gd name="connsiteY10" fmla="*/ 345332 h 509787"/>
                  <a:gd name="connsiteX11" fmla="*/ 59002 w 504895"/>
                  <a:gd name="connsiteY11" fmla="*/ 428496 h 509787"/>
                  <a:gd name="connsiteX12" fmla="*/ 42331 w 504895"/>
                  <a:gd name="connsiteY12" fmla="*/ 425093 h 509787"/>
                  <a:gd name="connsiteX13" fmla="*/ 0 w 504895"/>
                  <a:gd name="connsiteY13" fmla="*/ 467425 h 509787"/>
                  <a:gd name="connsiteX14" fmla="*/ 42331 w 504895"/>
                  <a:gd name="connsiteY14" fmla="*/ 509787 h 509787"/>
                  <a:gd name="connsiteX15" fmla="*/ 84569 w 504895"/>
                  <a:gd name="connsiteY15" fmla="*/ 468798 h 509787"/>
                  <a:gd name="connsiteX16" fmla="*/ 207973 w 504895"/>
                  <a:gd name="connsiteY16" fmla="*/ 376268 h 509787"/>
                  <a:gd name="connsiteX17" fmla="*/ 217495 w 504895"/>
                  <a:gd name="connsiteY17" fmla="*/ 357257 h 509787"/>
                  <a:gd name="connsiteX18" fmla="*/ 217495 w 504895"/>
                  <a:gd name="connsiteY18" fmla="*/ 224675 h 509787"/>
                  <a:gd name="connsiteX19" fmla="*/ 217588 w 504895"/>
                  <a:gd name="connsiteY19" fmla="*/ 224550 h 509787"/>
                  <a:gd name="connsiteX20" fmla="*/ 220336 w 504895"/>
                  <a:gd name="connsiteY20" fmla="*/ 221491 h 509787"/>
                  <a:gd name="connsiteX21" fmla="*/ 224675 w 504895"/>
                  <a:gd name="connsiteY21" fmla="*/ 217963 h 509787"/>
                  <a:gd name="connsiteX22" fmla="*/ 252771 w 504895"/>
                  <a:gd name="connsiteY22" fmla="*/ 208442 h 509787"/>
                  <a:gd name="connsiteX23" fmla="*/ 361815 w 504895"/>
                  <a:gd name="connsiteY23" fmla="*/ 284551 h 509787"/>
                  <a:gd name="connsiteX24" fmla="*/ 504699 w 504895"/>
                  <a:gd name="connsiteY24" fmla="*/ 162489 h 509787"/>
                  <a:gd name="connsiteX25" fmla="*/ 492524 w 504895"/>
                  <a:gd name="connsiteY25" fmla="*/ 152437 h 50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4895" h="509787">
                    <a:moveTo>
                      <a:pt x="492524" y="152437"/>
                    </a:moveTo>
                    <a:cubicBezTo>
                      <a:pt x="468517" y="162832"/>
                      <a:pt x="418413" y="176350"/>
                      <a:pt x="365436" y="140855"/>
                    </a:cubicBezTo>
                    <a:cubicBezTo>
                      <a:pt x="309337" y="103237"/>
                      <a:pt x="268036" y="169763"/>
                      <a:pt x="255019" y="194737"/>
                    </a:cubicBezTo>
                    <a:cubicBezTo>
                      <a:pt x="255019" y="194737"/>
                      <a:pt x="254987" y="194737"/>
                      <a:pt x="254956" y="194737"/>
                    </a:cubicBezTo>
                    <a:cubicBezTo>
                      <a:pt x="241408" y="195549"/>
                      <a:pt x="227516" y="198702"/>
                      <a:pt x="217463" y="204539"/>
                    </a:cubicBezTo>
                    <a:lnTo>
                      <a:pt x="217463" y="78169"/>
                    </a:lnTo>
                    <a:cubicBezTo>
                      <a:pt x="229420" y="70677"/>
                      <a:pt x="237474" y="57503"/>
                      <a:pt x="237474" y="42331"/>
                    </a:cubicBezTo>
                    <a:cubicBezTo>
                      <a:pt x="237474" y="18949"/>
                      <a:pt x="218494" y="0"/>
                      <a:pt x="195111" y="0"/>
                    </a:cubicBezTo>
                    <a:cubicBezTo>
                      <a:pt x="171729" y="0"/>
                      <a:pt x="152749" y="18949"/>
                      <a:pt x="152749" y="42331"/>
                    </a:cubicBezTo>
                    <a:cubicBezTo>
                      <a:pt x="152749" y="56223"/>
                      <a:pt x="159554" y="68461"/>
                      <a:pt x="169856" y="76172"/>
                    </a:cubicBezTo>
                    <a:lnTo>
                      <a:pt x="169856" y="345332"/>
                    </a:lnTo>
                    <a:lnTo>
                      <a:pt x="59002" y="428496"/>
                    </a:lnTo>
                    <a:cubicBezTo>
                      <a:pt x="53882" y="426311"/>
                      <a:pt x="48263" y="425093"/>
                      <a:pt x="42331" y="425093"/>
                    </a:cubicBezTo>
                    <a:cubicBezTo>
                      <a:pt x="18949" y="425093"/>
                      <a:pt x="0" y="444042"/>
                      <a:pt x="0" y="467425"/>
                    </a:cubicBezTo>
                    <a:cubicBezTo>
                      <a:pt x="0" y="490807"/>
                      <a:pt x="18949" y="509787"/>
                      <a:pt x="42331" y="509787"/>
                    </a:cubicBezTo>
                    <a:cubicBezTo>
                      <a:pt x="65245" y="509787"/>
                      <a:pt x="83820" y="491556"/>
                      <a:pt x="84569" y="468798"/>
                    </a:cubicBezTo>
                    <a:lnTo>
                      <a:pt x="207973" y="376268"/>
                    </a:lnTo>
                    <a:cubicBezTo>
                      <a:pt x="213967" y="371804"/>
                      <a:pt x="217495" y="364749"/>
                      <a:pt x="217495" y="357257"/>
                    </a:cubicBezTo>
                    <a:lnTo>
                      <a:pt x="217495" y="224675"/>
                    </a:lnTo>
                    <a:cubicBezTo>
                      <a:pt x="217526" y="224644"/>
                      <a:pt x="217557" y="224581"/>
                      <a:pt x="217588" y="224550"/>
                    </a:cubicBezTo>
                    <a:cubicBezTo>
                      <a:pt x="218244" y="223645"/>
                      <a:pt x="218962" y="222458"/>
                      <a:pt x="220336" y="221491"/>
                    </a:cubicBezTo>
                    <a:cubicBezTo>
                      <a:pt x="221647" y="220523"/>
                      <a:pt x="222739" y="218993"/>
                      <a:pt x="224675" y="217963"/>
                    </a:cubicBezTo>
                    <a:cubicBezTo>
                      <a:pt x="230887" y="213561"/>
                      <a:pt x="241408" y="210158"/>
                      <a:pt x="252771" y="208442"/>
                    </a:cubicBezTo>
                    <a:cubicBezTo>
                      <a:pt x="260731" y="225518"/>
                      <a:pt x="293135" y="284551"/>
                      <a:pt x="361815" y="284551"/>
                    </a:cubicBezTo>
                    <a:cubicBezTo>
                      <a:pt x="468205" y="284551"/>
                      <a:pt x="497113" y="200106"/>
                      <a:pt x="504699" y="162489"/>
                    </a:cubicBezTo>
                    <a:cubicBezTo>
                      <a:pt x="506166" y="155434"/>
                      <a:pt x="499142" y="149565"/>
                      <a:pt x="492524" y="152437"/>
                    </a:cubicBezTo>
                    <a:close/>
                  </a:path>
                </a:pathLst>
              </a:custGeom>
              <a:solidFill>
                <a:schemeClr val="accent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sp>
          <p:nvSpPr>
            <p:cNvPr id="279" name="任意多边形: 形状 278"/>
            <p:cNvSpPr/>
            <p:nvPr/>
          </p:nvSpPr>
          <p:spPr>
            <a:xfrm>
              <a:off x="5654342" y="3776505"/>
              <a:ext cx="569455" cy="287872"/>
            </a:xfrm>
            <a:custGeom>
              <a:avLst/>
              <a:gdLst>
                <a:gd name="connsiteX0" fmla="*/ 22956 w 569455"/>
                <a:gd name="connsiteY0" fmla="*/ 42438 h 287872"/>
                <a:gd name="connsiteX1" fmla="*/ 259057 w 569455"/>
                <a:gd name="connsiteY1" fmla="*/ 20929 h 287872"/>
                <a:gd name="connsiteX2" fmla="*/ 464158 w 569455"/>
                <a:gd name="connsiteY2" fmla="*/ 121045 h 287872"/>
                <a:gd name="connsiteX3" fmla="*/ 464283 w 569455"/>
                <a:gd name="connsiteY3" fmla="*/ 121045 h 287872"/>
                <a:gd name="connsiteX4" fmla="*/ 535803 w 569455"/>
                <a:gd name="connsiteY4" fmla="*/ 140181 h 287872"/>
                <a:gd name="connsiteX5" fmla="*/ 548040 w 569455"/>
                <a:gd name="connsiteY5" fmla="*/ 148953 h 287872"/>
                <a:gd name="connsiteX6" fmla="*/ 556500 w 569455"/>
                <a:gd name="connsiteY6" fmla="*/ 157289 h 287872"/>
                <a:gd name="connsiteX7" fmla="*/ 559372 w 569455"/>
                <a:gd name="connsiteY7" fmla="*/ 160723 h 287872"/>
                <a:gd name="connsiteX8" fmla="*/ 569456 w 569455"/>
                <a:gd name="connsiteY8" fmla="*/ 176425 h 287872"/>
                <a:gd name="connsiteX9" fmla="*/ 551974 w 569455"/>
                <a:gd name="connsiteY9" fmla="*/ 193907 h 287872"/>
                <a:gd name="connsiteX10" fmla="*/ 534742 w 569455"/>
                <a:gd name="connsiteY10" fmla="*/ 177674 h 287872"/>
                <a:gd name="connsiteX11" fmla="*/ 533774 w 569455"/>
                <a:gd name="connsiteY11" fmla="*/ 176425 h 287872"/>
                <a:gd name="connsiteX12" fmla="*/ 528685 w 569455"/>
                <a:gd name="connsiteY12" fmla="*/ 170712 h 287872"/>
                <a:gd name="connsiteX13" fmla="*/ 520662 w 569455"/>
                <a:gd name="connsiteY13" fmla="*/ 164188 h 287872"/>
                <a:gd name="connsiteX14" fmla="*/ 468466 w 569455"/>
                <a:gd name="connsiteY14" fmla="*/ 146487 h 287872"/>
                <a:gd name="connsiteX15" fmla="*/ 265862 w 569455"/>
                <a:gd name="connsiteY15" fmla="*/ 287873 h 287872"/>
                <a:gd name="connsiteX16" fmla="*/ 355 w 569455"/>
                <a:gd name="connsiteY16" fmla="*/ 61106 h 287872"/>
                <a:gd name="connsiteX17" fmla="*/ 22956 w 569455"/>
                <a:gd name="connsiteY17" fmla="*/ 42438 h 28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9455" h="287872">
                  <a:moveTo>
                    <a:pt x="22956" y="42438"/>
                  </a:moveTo>
                  <a:cubicBezTo>
                    <a:pt x="67567" y="61762"/>
                    <a:pt x="160689" y="86861"/>
                    <a:pt x="259057" y="20929"/>
                  </a:cubicBezTo>
                  <a:cubicBezTo>
                    <a:pt x="363324" y="-48936"/>
                    <a:pt x="440058" y="74655"/>
                    <a:pt x="464158" y="121045"/>
                  </a:cubicBezTo>
                  <a:cubicBezTo>
                    <a:pt x="464189" y="121045"/>
                    <a:pt x="464220" y="121045"/>
                    <a:pt x="464283" y="121045"/>
                  </a:cubicBezTo>
                  <a:cubicBezTo>
                    <a:pt x="490194" y="122606"/>
                    <a:pt x="517041" y="128693"/>
                    <a:pt x="535803" y="140181"/>
                  </a:cubicBezTo>
                  <a:cubicBezTo>
                    <a:pt x="540610" y="142523"/>
                    <a:pt x="544388" y="146362"/>
                    <a:pt x="548040" y="148953"/>
                  </a:cubicBezTo>
                  <a:cubicBezTo>
                    <a:pt x="551786" y="151545"/>
                    <a:pt x="554346" y="154729"/>
                    <a:pt x="556500" y="157289"/>
                  </a:cubicBezTo>
                  <a:cubicBezTo>
                    <a:pt x="557718" y="158756"/>
                    <a:pt x="558436" y="159630"/>
                    <a:pt x="559372" y="160723"/>
                  </a:cubicBezTo>
                  <a:cubicBezTo>
                    <a:pt x="565273" y="163532"/>
                    <a:pt x="569456" y="169432"/>
                    <a:pt x="569456" y="176425"/>
                  </a:cubicBezTo>
                  <a:cubicBezTo>
                    <a:pt x="569456" y="186072"/>
                    <a:pt x="561620" y="193907"/>
                    <a:pt x="551974" y="193907"/>
                  </a:cubicBezTo>
                  <a:cubicBezTo>
                    <a:pt x="542765" y="193907"/>
                    <a:pt x="535428" y="186727"/>
                    <a:pt x="534742" y="177674"/>
                  </a:cubicBezTo>
                  <a:cubicBezTo>
                    <a:pt x="534398" y="177206"/>
                    <a:pt x="534211" y="176956"/>
                    <a:pt x="533774" y="176425"/>
                  </a:cubicBezTo>
                  <a:cubicBezTo>
                    <a:pt x="532556" y="174708"/>
                    <a:pt x="531214" y="172554"/>
                    <a:pt x="528685" y="170712"/>
                  </a:cubicBezTo>
                  <a:cubicBezTo>
                    <a:pt x="526219" y="168902"/>
                    <a:pt x="524190" y="166061"/>
                    <a:pt x="520662" y="164188"/>
                  </a:cubicBezTo>
                  <a:cubicBezTo>
                    <a:pt x="509112" y="156009"/>
                    <a:pt x="489538" y="149640"/>
                    <a:pt x="468466" y="146487"/>
                  </a:cubicBezTo>
                  <a:cubicBezTo>
                    <a:pt x="453700" y="178236"/>
                    <a:pt x="393481" y="287873"/>
                    <a:pt x="265862" y="287873"/>
                  </a:cubicBezTo>
                  <a:cubicBezTo>
                    <a:pt x="68160" y="287873"/>
                    <a:pt x="14465" y="130972"/>
                    <a:pt x="355" y="61106"/>
                  </a:cubicBezTo>
                  <a:cubicBezTo>
                    <a:pt x="-2330" y="47995"/>
                    <a:pt x="10719" y="37131"/>
                    <a:pt x="22956" y="42438"/>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nvGrpSpPr>
            <p:cNvPr id="280" name="图形 2"/>
            <p:cNvGrpSpPr/>
            <p:nvPr/>
          </p:nvGrpSpPr>
          <p:grpSpPr>
            <a:xfrm>
              <a:off x="5832080" y="2426518"/>
              <a:ext cx="2263386" cy="3941892"/>
              <a:chOff x="5832080" y="2426518"/>
              <a:chExt cx="2263386" cy="3941892"/>
            </a:xfrm>
            <a:solidFill>
              <a:srgbClr val="33302F"/>
            </a:solidFill>
          </p:grpSpPr>
          <p:sp>
            <p:nvSpPr>
              <p:cNvPr id="281" name="任意多边形: 形状 280"/>
              <p:cNvSpPr/>
              <p:nvPr/>
            </p:nvSpPr>
            <p:spPr>
              <a:xfrm>
                <a:off x="7449851" y="3089345"/>
                <a:ext cx="215340" cy="341797"/>
              </a:xfrm>
              <a:custGeom>
                <a:avLst/>
                <a:gdLst>
                  <a:gd name="connsiteX0" fmla="*/ 43924 w 215340"/>
                  <a:gd name="connsiteY0" fmla="*/ 4189 h 341797"/>
                  <a:gd name="connsiteX1" fmla="*/ 161490 w 215340"/>
                  <a:gd name="connsiteY1" fmla="*/ 134836 h 341797"/>
                  <a:gd name="connsiteX2" fmla="*/ 161490 w 215340"/>
                  <a:gd name="connsiteY2" fmla="*/ 305754 h 341797"/>
                  <a:gd name="connsiteX3" fmla="*/ 215341 w 215340"/>
                  <a:gd name="connsiteY3" fmla="*/ 337127 h 341797"/>
                  <a:gd name="connsiteX4" fmla="*/ 172135 w 215340"/>
                  <a:gd name="connsiteY4" fmla="*/ 301758 h 341797"/>
                  <a:gd name="connsiteX5" fmla="*/ 172135 w 215340"/>
                  <a:gd name="connsiteY5" fmla="*/ 130840 h 341797"/>
                  <a:gd name="connsiteX6" fmla="*/ 54537 w 215340"/>
                  <a:gd name="connsiteY6" fmla="*/ 193 h 341797"/>
                  <a:gd name="connsiteX7" fmla="*/ 0 w 215340"/>
                  <a:gd name="connsiteY7" fmla="*/ 9621 h 341797"/>
                  <a:gd name="connsiteX8" fmla="*/ 43924 w 215340"/>
                  <a:gd name="connsiteY8" fmla="*/ 4189 h 3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340" h="341797">
                    <a:moveTo>
                      <a:pt x="43924" y="4189"/>
                    </a:moveTo>
                    <a:cubicBezTo>
                      <a:pt x="111011" y="7935"/>
                      <a:pt x="161490" y="67624"/>
                      <a:pt x="161490" y="134836"/>
                    </a:cubicBezTo>
                    <a:lnTo>
                      <a:pt x="161490" y="305754"/>
                    </a:lnTo>
                    <a:cubicBezTo>
                      <a:pt x="161490" y="333974"/>
                      <a:pt x="191802" y="350395"/>
                      <a:pt x="215341" y="337127"/>
                    </a:cubicBezTo>
                    <a:cubicBezTo>
                      <a:pt x="194237" y="341217"/>
                      <a:pt x="172135" y="325827"/>
                      <a:pt x="172135" y="301758"/>
                    </a:cubicBezTo>
                    <a:lnTo>
                      <a:pt x="172135" y="130840"/>
                    </a:lnTo>
                    <a:cubicBezTo>
                      <a:pt x="172135" y="63628"/>
                      <a:pt x="121656" y="3939"/>
                      <a:pt x="54537" y="193"/>
                    </a:cubicBezTo>
                    <a:cubicBezTo>
                      <a:pt x="35089" y="-899"/>
                      <a:pt x="16639" y="2691"/>
                      <a:pt x="0" y="9621"/>
                    </a:cubicBezTo>
                    <a:cubicBezTo>
                      <a:pt x="13767" y="5344"/>
                      <a:pt x="28502" y="3315"/>
                      <a:pt x="43924" y="4189"/>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2" name="任意多边形: 形状 281"/>
              <p:cNvSpPr/>
              <p:nvPr/>
            </p:nvSpPr>
            <p:spPr>
              <a:xfrm>
                <a:off x="6316893" y="2647356"/>
                <a:ext cx="773047" cy="2012743"/>
              </a:xfrm>
              <a:custGeom>
                <a:avLst/>
                <a:gdLst>
                  <a:gd name="connsiteX0" fmla="*/ 48731 w 773047"/>
                  <a:gd name="connsiteY0" fmla="*/ 4540 h 2012743"/>
                  <a:gd name="connsiteX1" fmla="*/ 161209 w 773047"/>
                  <a:gd name="connsiteY1" fmla="*/ 134031 h 2012743"/>
                  <a:gd name="connsiteX2" fmla="*/ 161209 w 773047"/>
                  <a:gd name="connsiteY2" fmla="*/ 1242077 h 2012743"/>
                  <a:gd name="connsiteX3" fmla="*/ 199700 w 773047"/>
                  <a:gd name="connsiteY3" fmla="*/ 1334981 h 2012743"/>
                  <a:gd name="connsiteX4" fmla="*/ 669747 w 773047"/>
                  <a:gd name="connsiteY4" fmla="*/ 1805028 h 2012743"/>
                  <a:gd name="connsiteX5" fmla="*/ 680705 w 773047"/>
                  <a:gd name="connsiteY5" fmla="*/ 1818452 h 2012743"/>
                  <a:gd name="connsiteX6" fmla="*/ 721632 w 773047"/>
                  <a:gd name="connsiteY6" fmla="*/ 1910264 h 2012743"/>
                  <a:gd name="connsiteX7" fmla="*/ 721632 w 773047"/>
                  <a:gd name="connsiteY7" fmla="*/ 1978131 h 2012743"/>
                  <a:gd name="connsiteX8" fmla="*/ 773047 w 773047"/>
                  <a:gd name="connsiteY8" fmla="*/ 2008381 h 2012743"/>
                  <a:gd name="connsiteX9" fmla="*/ 732277 w 773047"/>
                  <a:gd name="connsiteY9" fmla="*/ 1974104 h 2012743"/>
                  <a:gd name="connsiteX10" fmla="*/ 732277 w 773047"/>
                  <a:gd name="connsiteY10" fmla="*/ 1906237 h 2012743"/>
                  <a:gd name="connsiteX11" fmla="*/ 691350 w 773047"/>
                  <a:gd name="connsiteY11" fmla="*/ 1814425 h 2012743"/>
                  <a:gd name="connsiteX12" fmla="*/ 680393 w 773047"/>
                  <a:gd name="connsiteY12" fmla="*/ 1801032 h 2012743"/>
                  <a:gd name="connsiteX13" fmla="*/ 210377 w 773047"/>
                  <a:gd name="connsiteY13" fmla="*/ 1331017 h 2012743"/>
                  <a:gd name="connsiteX14" fmla="*/ 171885 w 773047"/>
                  <a:gd name="connsiteY14" fmla="*/ 1238081 h 2012743"/>
                  <a:gd name="connsiteX15" fmla="*/ 171885 w 773047"/>
                  <a:gd name="connsiteY15" fmla="*/ 130035 h 2012743"/>
                  <a:gd name="connsiteX16" fmla="*/ 59408 w 773047"/>
                  <a:gd name="connsiteY16" fmla="*/ 544 h 2012743"/>
                  <a:gd name="connsiteX17" fmla="*/ 0 w 773047"/>
                  <a:gd name="connsiteY17" fmla="*/ 9753 h 2012743"/>
                  <a:gd name="connsiteX18" fmla="*/ 48731 w 773047"/>
                  <a:gd name="connsiteY18" fmla="*/ 4540 h 2012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3047" h="2012743">
                    <a:moveTo>
                      <a:pt x="48731" y="4540"/>
                    </a:moveTo>
                    <a:cubicBezTo>
                      <a:pt x="113571" y="10721"/>
                      <a:pt x="161209" y="68880"/>
                      <a:pt x="161209" y="134031"/>
                    </a:cubicBezTo>
                    <a:lnTo>
                      <a:pt x="161209" y="1242077"/>
                    </a:lnTo>
                    <a:cubicBezTo>
                      <a:pt x="161209" y="1276916"/>
                      <a:pt x="175070" y="1310351"/>
                      <a:pt x="199700" y="1334981"/>
                    </a:cubicBezTo>
                    <a:lnTo>
                      <a:pt x="669747" y="1805028"/>
                    </a:lnTo>
                    <a:cubicBezTo>
                      <a:pt x="673931" y="1809212"/>
                      <a:pt x="677240" y="1813863"/>
                      <a:pt x="680705" y="1818452"/>
                    </a:cubicBezTo>
                    <a:cubicBezTo>
                      <a:pt x="705679" y="1841241"/>
                      <a:pt x="721632" y="1873801"/>
                      <a:pt x="721632" y="1910264"/>
                    </a:cubicBezTo>
                    <a:lnTo>
                      <a:pt x="721632" y="1978131"/>
                    </a:lnTo>
                    <a:cubicBezTo>
                      <a:pt x="721632" y="2005634"/>
                      <a:pt x="751164" y="2020744"/>
                      <a:pt x="773047" y="2008381"/>
                    </a:cubicBezTo>
                    <a:cubicBezTo>
                      <a:pt x="753318" y="2011815"/>
                      <a:pt x="732277" y="1997299"/>
                      <a:pt x="732277" y="1974104"/>
                    </a:cubicBezTo>
                    <a:lnTo>
                      <a:pt x="732277" y="1906237"/>
                    </a:lnTo>
                    <a:cubicBezTo>
                      <a:pt x="732277" y="1869743"/>
                      <a:pt x="716324" y="1837245"/>
                      <a:pt x="691350" y="1814425"/>
                    </a:cubicBezTo>
                    <a:cubicBezTo>
                      <a:pt x="687885" y="1809836"/>
                      <a:pt x="684545" y="1805184"/>
                      <a:pt x="680393" y="1801032"/>
                    </a:cubicBezTo>
                    <a:lnTo>
                      <a:pt x="210377" y="1331017"/>
                    </a:lnTo>
                    <a:cubicBezTo>
                      <a:pt x="185746" y="1306386"/>
                      <a:pt x="171885" y="1272951"/>
                      <a:pt x="171885" y="1238081"/>
                    </a:cubicBezTo>
                    <a:lnTo>
                      <a:pt x="171885" y="130035"/>
                    </a:lnTo>
                    <a:cubicBezTo>
                      <a:pt x="171885" y="64915"/>
                      <a:pt x="124278" y="6725"/>
                      <a:pt x="59408" y="544"/>
                    </a:cubicBezTo>
                    <a:cubicBezTo>
                      <a:pt x="38148" y="-1485"/>
                      <a:pt x="18138" y="2292"/>
                      <a:pt x="0" y="9753"/>
                    </a:cubicBezTo>
                    <a:cubicBezTo>
                      <a:pt x="15234" y="5102"/>
                      <a:pt x="31592" y="2916"/>
                      <a:pt x="48731" y="4540"/>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3" name="任意多边形: 形状 282"/>
              <p:cNvSpPr/>
              <p:nvPr/>
            </p:nvSpPr>
            <p:spPr>
              <a:xfrm>
                <a:off x="6975277" y="2426518"/>
                <a:ext cx="403022" cy="729119"/>
              </a:xfrm>
              <a:custGeom>
                <a:avLst/>
                <a:gdLst>
                  <a:gd name="connsiteX0" fmla="*/ 42925 w 403022"/>
                  <a:gd name="connsiteY0" fmla="*/ 4481 h 729119"/>
                  <a:gd name="connsiteX1" fmla="*/ 142884 w 403022"/>
                  <a:gd name="connsiteY1" fmla="*/ 119581 h 729119"/>
                  <a:gd name="connsiteX2" fmla="*/ 142884 w 403022"/>
                  <a:gd name="connsiteY2" fmla="*/ 515454 h 729119"/>
                  <a:gd name="connsiteX3" fmla="*/ 179628 w 403022"/>
                  <a:gd name="connsiteY3" fmla="*/ 588972 h 729119"/>
                  <a:gd name="connsiteX4" fmla="*/ 354884 w 403022"/>
                  <a:gd name="connsiteY4" fmla="*/ 720399 h 729119"/>
                  <a:gd name="connsiteX5" fmla="*/ 403022 w 403022"/>
                  <a:gd name="connsiteY5" fmla="*/ 723146 h 729119"/>
                  <a:gd name="connsiteX6" fmla="*/ 365530 w 403022"/>
                  <a:gd name="connsiteY6" fmla="*/ 716403 h 729119"/>
                  <a:gd name="connsiteX7" fmla="*/ 190273 w 403022"/>
                  <a:gd name="connsiteY7" fmla="*/ 584976 h 729119"/>
                  <a:gd name="connsiteX8" fmla="*/ 153529 w 403022"/>
                  <a:gd name="connsiteY8" fmla="*/ 511458 h 729119"/>
                  <a:gd name="connsiteX9" fmla="*/ 153529 w 403022"/>
                  <a:gd name="connsiteY9" fmla="*/ 115585 h 729119"/>
                  <a:gd name="connsiteX10" fmla="*/ 53570 w 403022"/>
                  <a:gd name="connsiteY10" fmla="*/ 485 h 729119"/>
                  <a:gd name="connsiteX11" fmla="*/ 0 w 403022"/>
                  <a:gd name="connsiteY11" fmla="*/ 9038 h 729119"/>
                  <a:gd name="connsiteX12" fmla="*/ 42925 w 403022"/>
                  <a:gd name="connsiteY12" fmla="*/ 4481 h 72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022" h="729119">
                    <a:moveTo>
                      <a:pt x="42925" y="4481"/>
                    </a:moveTo>
                    <a:cubicBezTo>
                      <a:pt x="100553" y="9975"/>
                      <a:pt x="142884" y="61672"/>
                      <a:pt x="142884" y="119581"/>
                    </a:cubicBezTo>
                    <a:lnTo>
                      <a:pt x="142884" y="515454"/>
                    </a:lnTo>
                    <a:cubicBezTo>
                      <a:pt x="142884" y="544362"/>
                      <a:pt x="156495" y="571615"/>
                      <a:pt x="179628" y="588972"/>
                    </a:cubicBezTo>
                    <a:lnTo>
                      <a:pt x="354884" y="720399"/>
                    </a:lnTo>
                    <a:cubicBezTo>
                      <a:pt x="369245" y="731201"/>
                      <a:pt x="388381" y="731794"/>
                      <a:pt x="403022" y="723146"/>
                    </a:cubicBezTo>
                    <a:cubicBezTo>
                      <a:pt x="390473" y="726424"/>
                      <a:pt x="376643" y="724707"/>
                      <a:pt x="365530" y="716403"/>
                    </a:cubicBezTo>
                    <a:lnTo>
                      <a:pt x="190273" y="584976"/>
                    </a:lnTo>
                    <a:cubicBezTo>
                      <a:pt x="167140" y="567619"/>
                      <a:pt x="153529" y="540397"/>
                      <a:pt x="153529" y="511458"/>
                    </a:cubicBezTo>
                    <a:lnTo>
                      <a:pt x="153529" y="115585"/>
                    </a:lnTo>
                    <a:cubicBezTo>
                      <a:pt x="153529" y="57676"/>
                      <a:pt x="111198" y="5979"/>
                      <a:pt x="53570" y="485"/>
                    </a:cubicBezTo>
                    <a:cubicBezTo>
                      <a:pt x="34371" y="-1357"/>
                      <a:pt x="16327" y="2170"/>
                      <a:pt x="0" y="9038"/>
                    </a:cubicBezTo>
                    <a:cubicBezTo>
                      <a:pt x="13486" y="4949"/>
                      <a:pt x="27846" y="3013"/>
                      <a:pt x="42925" y="4481"/>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4" name="任意多边形: 形状 283"/>
              <p:cNvSpPr/>
              <p:nvPr/>
            </p:nvSpPr>
            <p:spPr>
              <a:xfrm>
                <a:off x="6960980" y="2717495"/>
                <a:ext cx="1134487" cy="3650915"/>
              </a:xfrm>
              <a:custGeom>
                <a:avLst/>
                <a:gdLst>
                  <a:gd name="connsiteX0" fmla="*/ 1012706 w 1134487"/>
                  <a:gd name="connsiteY0" fmla="*/ 521 h 3650915"/>
                  <a:gd name="connsiteX1" fmla="*/ 983362 w 1134487"/>
                  <a:gd name="connsiteY1" fmla="*/ 8231 h 3650915"/>
                  <a:gd name="connsiteX2" fmla="*/ 1002030 w 1134487"/>
                  <a:gd name="connsiteY2" fmla="*/ 4516 h 3650915"/>
                  <a:gd name="connsiteX3" fmla="*/ 1123811 w 1134487"/>
                  <a:gd name="connsiteY3" fmla="*/ 114840 h 3650915"/>
                  <a:gd name="connsiteX4" fmla="*/ 1123811 w 1134487"/>
                  <a:gd name="connsiteY4" fmla="*/ 616854 h 3650915"/>
                  <a:gd name="connsiteX5" fmla="*/ 1079481 w 1134487"/>
                  <a:gd name="connsiteY5" fmla="*/ 705544 h 3650915"/>
                  <a:gd name="connsiteX6" fmla="*/ 650361 w 1134487"/>
                  <a:gd name="connsiteY6" fmla="*/ 1027400 h 3650915"/>
                  <a:gd name="connsiteX7" fmla="*/ 650361 w 1134487"/>
                  <a:gd name="connsiteY7" fmla="*/ 1719999 h 3650915"/>
                  <a:gd name="connsiteX8" fmla="*/ 613805 w 1134487"/>
                  <a:gd name="connsiteY8" fmla="*/ 1808221 h 3650915"/>
                  <a:gd name="connsiteX9" fmla="*/ 136890 w 1134487"/>
                  <a:gd name="connsiteY9" fmla="*/ 2285135 h 3650915"/>
                  <a:gd name="connsiteX10" fmla="*/ 77576 w 1134487"/>
                  <a:gd name="connsiteY10" fmla="*/ 2428363 h 3650915"/>
                  <a:gd name="connsiteX11" fmla="*/ 77576 w 1134487"/>
                  <a:gd name="connsiteY11" fmla="*/ 3536034 h 3650915"/>
                  <a:gd name="connsiteX12" fmla="*/ 0 w 1134487"/>
                  <a:gd name="connsiteY12" fmla="*/ 3650916 h 3650915"/>
                  <a:gd name="connsiteX13" fmla="*/ 88221 w 1134487"/>
                  <a:gd name="connsiteY13" fmla="*/ 3532007 h 3650915"/>
                  <a:gd name="connsiteX14" fmla="*/ 88221 w 1134487"/>
                  <a:gd name="connsiteY14" fmla="*/ 2424367 h 3650915"/>
                  <a:gd name="connsiteX15" fmla="*/ 147535 w 1134487"/>
                  <a:gd name="connsiteY15" fmla="*/ 2281140 h 3650915"/>
                  <a:gd name="connsiteX16" fmla="*/ 624482 w 1134487"/>
                  <a:gd name="connsiteY16" fmla="*/ 1804225 h 3650915"/>
                  <a:gd name="connsiteX17" fmla="*/ 661038 w 1134487"/>
                  <a:gd name="connsiteY17" fmla="*/ 1716034 h 3650915"/>
                  <a:gd name="connsiteX18" fmla="*/ 661038 w 1134487"/>
                  <a:gd name="connsiteY18" fmla="*/ 1023404 h 3650915"/>
                  <a:gd name="connsiteX19" fmla="*/ 1090158 w 1134487"/>
                  <a:gd name="connsiteY19" fmla="*/ 701548 h 3650915"/>
                  <a:gd name="connsiteX20" fmla="*/ 1134487 w 1134487"/>
                  <a:gd name="connsiteY20" fmla="*/ 612858 h 3650915"/>
                  <a:gd name="connsiteX21" fmla="*/ 1134487 w 1134487"/>
                  <a:gd name="connsiteY21" fmla="*/ 110844 h 3650915"/>
                  <a:gd name="connsiteX22" fmla="*/ 1012706 w 1134487"/>
                  <a:gd name="connsiteY22" fmla="*/ 521 h 365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4487" h="3650915">
                    <a:moveTo>
                      <a:pt x="1012706" y="521"/>
                    </a:moveTo>
                    <a:cubicBezTo>
                      <a:pt x="1002311" y="1520"/>
                      <a:pt x="992633" y="4485"/>
                      <a:pt x="983362" y="8231"/>
                    </a:cubicBezTo>
                    <a:cubicBezTo>
                      <a:pt x="989387" y="6514"/>
                      <a:pt x="995599" y="5141"/>
                      <a:pt x="1002030" y="4516"/>
                    </a:cubicBezTo>
                    <a:cubicBezTo>
                      <a:pt x="1068149" y="-1790"/>
                      <a:pt x="1123811" y="50032"/>
                      <a:pt x="1123811" y="114840"/>
                    </a:cubicBezTo>
                    <a:lnTo>
                      <a:pt x="1123811" y="616854"/>
                    </a:lnTo>
                    <a:cubicBezTo>
                      <a:pt x="1123811" y="651756"/>
                      <a:pt x="1107390" y="684597"/>
                      <a:pt x="1079481" y="705544"/>
                    </a:cubicBezTo>
                    <a:lnTo>
                      <a:pt x="650361" y="1027400"/>
                    </a:lnTo>
                    <a:lnTo>
                      <a:pt x="650361" y="1719999"/>
                    </a:lnTo>
                    <a:cubicBezTo>
                      <a:pt x="650361" y="1753090"/>
                      <a:pt x="637218" y="1784838"/>
                      <a:pt x="613805" y="1808221"/>
                    </a:cubicBezTo>
                    <a:lnTo>
                      <a:pt x="136890" y="2285135"/>
                    </a:lnTo>
                    <a:cubicBezTo>
                      <a:pt x="98929" y="2323096"/>
                      <a:pt x="77576" y="2374637"/>
                      <a:pt x="77576" y="2428363"/>
                    </a:cubicBezTo>
                    <a:lnTo>
                      <a:pt x="77576" y="3536034"/>
                    </a:lnTo>
                    <a:cubicBezTo>
                      <a:pt x="77576" y="3588106"/>
                      <a:pt x="45359" y="3632279"/>
                      <a:pt x="0" y="3650916"/>
                    </a:cubicBezTo>
                    <a:cubicBezTo>
                      <a:pt x="51010" y="3635276"/>
                      <a:pt x="88221" y="3588137"/>
                      <a:pt x="88221" y="3532007"/>
                    </a:cubicBezTo>
                    <a:lnTo>
                      <a:pt x="88221" y="2424367"/>
                    </a:lnTo>
                    <a:cubicBezTo>
                      <a:pt x="88221" y="2370641"/>
                      <a:pt x="109575" y="2319132"/>
                      <a:pt x="147535" y="2281140"/>
                    </a:cubicBezTo>
                    <a:lnTo>
                      <a:pt x="624482" y="1804225"/>
                    </a:lnTo>
                    <a:cubicBezTo>
                      <a:pt x="647864" y="1780843"/>
                      <a:pt x="661038" y="1749094"/>
                      <a:pt x="661038" y="1716034"/>
                    </a:cubicBezTo>
                    <a:lnTo>
                      <a:pt x="661038" y="1023404"/>
                    </a:lnTo>
                    <a:lnTo>
                      <a:pt x="1090158" y="701548"/>
                    </a:lnTo>
                    <a:cubicBezTo>
                      <a:pt x="1118067" y="680601"/>
                      <a:pt x="1134487" y="647729"/>
                      <a:pt x="1134487" y="612858"/>
                    </a:cubicBezTo>
                    <a:lnTo>
                      <a:pt x="1134487" y="110844"/>
                    </a:lnTo>
                    <a:cubicBezTo>
                      <a:pt x="1134487" y="46036"/>
                      <a:pt x="1078826" y="-5785"/>
                      <a:pt x="1012706" y="521"/>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5" name="任意多边形: 形状 284"/>
              <p:cNvSpPr/>
              <p:nvPr/>
            </p:nvSpPr>
            <p:spPr>
              <a:xfrm>
                <a:off x="6252179" y="4730378"/>
                <a:ext cx="516530" cy="396400"/>
              </a:xfrm>
              <a:custGeom>
                <a:avLst/>
                <a:gdLst>
                  <a:gd name="connsiteX0" fmla="*/ 127993 w 516530"/>
                  <a:gd name="connsiteY0" fmla="*/ 42863 h 396400"/>
                  <a:gd name="connsiteX1" fmla="*/ 470203 w 516530"/>
                  <a:gd name="connsiteY1" fmla="*/ 385073 h 396400"/>
                  <a:gd name="connsiteX2" fmla="*/ 516530 w 516530"/>
                  <a:gd name="connsiteY2" fmla="*/ 391348 h 396400"/>
                  <a:gd name="connsiteX3" fmla="*/ 480848 w 516530"/>
                  <a:gd name="connsiteY3" fmla="*/ 381077 h 396400"/>
                  <a:gd name="connsiteX4" fmla="*/ 138638 w 516530"/>
                  <a:gd name="connsiteY4" fmla="*/ 38836 h 396400"/>
                  <a:gd name="connsiteX5" fmla="*/ 0 w 516530"/>
                  <a:gd name="connsiteY5" fmla="*/ 8367 h 396400"/>
                  <a:gd name="connsiteX6" fmla="*/ 127993 w 516530"/>
                  <a:gd name="connsiteY6" fmla="*/ 42863 h 39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530" h="396400">
                    <a:moveTo>
                      <a:pt x="127993" y="42863"/>
                    </a:moveTo>
                    <a:lnTo>
                      <a:pt x="470203" y="385073"/>
                    </a:lnTo>
                    <a:cubicBezTo>
                      <a:pt x="483720" y="398590"/>
                      <a:pt x="502326" y="399121"/>
                      <a:pt x="516530" y="391348"/>
                    </a:cubicBezTo>
                    <a:cubicBezTo>
                      <a:pt x="504449" y="393970"/>
                      <a:pt x="491181" y="391379"/>
                      <a:pt x="480848" y="381077"/>
                    </a:cubicBezTo>
                    <a:lnTo>
                      <a:pt x="138638" y="38836"/>
                    </a:lnTo>
                    <a:cubicBezTo>
                      <a:pt x="101708" y="1905"/>
                      <a:pt x="46421" y="-9677"/>
                      <a:pt x="0" y="8367"/>
                    </a:cubicBezTo>
                    <a:cubicBezTo>
                      <a:pt x="44017" y="-4057"/>
                      <a:pt x="93872" y="8742"/>
                      <a:pt x="127993" y="42863"/>
                    </a:cubicBezTo>
                    <a:close/>
                  </a:path>
                </a:pathLst>
              </a:custGeom>
              <a:solidFill>
                <a:srgbClr val="33302F"/>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6" name="任意多边形: 形状 285"/>
              <p:cNvSpPr/>
              <p:nvPr/>
            </p:nvSpPr>
            <p:spPr>
              <a:xfrm>
                <a:off x="5832080" y="2745252"/>
                <a:ext cx="380482" cy="719503"/>
              </a:xfrm>
              <a:custGeom>
                <a:avLst/>
                <a:gdLst>
                  <a:gd name="connsiteX0" fmla="*/ 42862 w 380482"/>
                  <a:gd name="connsiteY0" fmla="*/ 4480 h 719503"/>
                  <a:gd name="connsiteX1" fmla="*/ 142822 w 380482"/>
                  <a:gd name="connsiteY1" fmla="*/ 119581 h 719503"/>
                  <a:gd name="connsiteX2" fmla="*/ 142822 w 380482"/>
                  <a:gd name="connsiteY2" fmla="*/ 495069 h 719503"/>
                  <a:gd name="connsiteX3" fmla="*/ 195861 w 380482"/>
                  <a:gd name="connsiteY3" fmla="*/ 601178 h 719503"/>
                  <a:gd name="connsiteX4" fmla="*/ 345082 w 380482"/>
                  <a:gd name="connsiteY4" fmla="*/ 713094 h 719503"/>
                  <a:gd name="connsiteX5" fmla="*/ 380483 w 380482"/>
                  <a:gd name="connsiteY5" fmla="*/ 714998 h 719503"/>
                  <a:gd name="connsiteX6" fmla="*/ 355758 w 380482"/>
                  <a:gd name="connsiteY6" fmla="*/ 709098 h 719503"/>
                  <a:gd name="connsiteX7" fmla="*/ 206537 w 380482"/>
                  <a:gd name="connsiteY7" fmla="*/ 597182 h 719503"/>
                  <a:gd name="connsiteX8" fmla="*/ 153498 w 380482"/>
                  <a:gd name="connsiteY8" fmla="*/ 491104 h 719503"/>
                  <a:gd name="connsiteX9" fmla="*/ 153498 w 380482"/>
                  <a:gd name="connsiteY9" fmla="*/ 115585 h 719503"/>
                  <a:gd name="connsiteX10" fmla="*/ 53539 w 380482"/>
                  <a:gd name="connsiteY10" fmla="*/ 485 h 719503"/>
                  <a:gd name="connsiteX11" fmla="*/ 0 w 380482"/>
                  <a:gd name="connsiteY11" fmla="*/ 9038 h 719503"/>
                  <a:gd name="connsiteX12" fmla="*/ 42862 w 380482"/>
                  <a:gd name="connsiteY12" fmla="*/ 4480 h 719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0482" h="719503">
                    <a:moveTo>
                      <a:pt x="42862" y="4480"/>
                    </a:moveTo>
                    <a:cubicBezTo>
                      <a:pt x="100490" y="9975"/>
                      <a:pt x="142822" y="61672"/>
                      <a:pt x="142822" y="119581"/>
                    </a:cubicBezTo>
                    <a:lnTo>
                      <a:pt x="142822" y="495069"/>
                    </a:lnTo>
                    <a:cubicBezTo>
                      <a:pt x="142822" y="536807"/>
                      <a:pt x="162458" y="576110"/>
                      <a:pt x="195861" y="601178"/>
                    </a:cubicBezTo>
                    <a:lnTo>
                      <a:pt x="345082" y="713094"/>
                    </a:lnTo>
                    <a:cubicBezTo>
                      <a:pt x="356320" y="721523"/>
                      <a:pt x="369994" y="721086"/>
                      <a:pt x="380483" y="714998"/>
                    </a:cubicBezTo>
                    <a:cubicBezTo>
                      <a:pt x="372273" y="716434"/>
                      <a:pt x="363438" y="714874"/>
                      <a:pt x="355758" y="709098"/>
                    </a:cubicBezTo>
                    <a:lnTo>
                      <a:pt x="206537" y="597182"/>
                    </a:lnTo>
                    <a:cubicBezTo>
                      <a:pt x="173134" y="572146"/>
                      <a:pt x="153498" y="532842"/>
                      <a:pt x="153498" y="491104"/>
                    </a:cubicBezTo>
                    <a:lnTo>
                      <a:pt x="153498" y="115585"/>
                    </a:lnTo>
                    <a:cubicBezTo>
                      <a:pt x="153498" y="57707"/>
                      <a:pt x="111167" y="5979"/>
                      <a:pt x="53539" y="485"/>
                    </a:cubicBezTo>
                    <a:cubicBezTo>
                      <a:pt x="34371" y="-1357"/>
                      <a:pt x="16296" y="2170"/>
                      <a:pt x="0" y="9038"/>
                    </a:cubicBezTo>
                    <a:cubicBezTo>
                      <a:pt x="13392" y="4949"/>
                      <a:pt x="27784" y="3013"/>
                      <a:pt x="42862" y="4480"/>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sp>
        <p:nvSpPr>
          <p:cNvPr id="2" name="椭圆 1"/>
          <p:cNvSpPr>
            <a:spLocks noChangeAspect="1"/>
          </p:cNvSpPr>
          <p:nvPr/>
        </p:nvSpPr>
        <p:spPr>
          <a:xfrm>
            <a:off x="4206000" y="2952176"/>
            <a:ext cx="1152739" cy="115273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 name="椭圆 2"/>
          <p:cNvSpPr>
            <a:spLocks noChangeAspect="1"/>
          </p:cNvSpPr>
          <p:nvPr/>
        </p:nvSpPr>
        <p:spPr>
          <a:xfrm>
            <a:off x="6833261" y="2952176"/>
            <a:ext cx="1152739" cy="115273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 name="椭圆 5"/>
          <p:cNvSpPr>
            <a:spLocks noChangeAspect="1"/>
          </p:cNvSpPr>
          <p:nvPr/>
        </p:nvSpPr>
        <p:spPr>
          <a:xfrm>
            <a:off x="4522577" y="1841549"/>
            <a:ext cx="1047945" cy="104794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 name="椭圆 6"/>
          <p:cNvSpPr>
            <a:spLocks noChangeAspect="1"/>
          </p:cNvSpPr>
          <p:nvPr/>
        </p:nvSpPr>
        <p:spPr>
          <a:xfrm>
            <a:off x="6648745" y="1841549"/>
            <a:ext cx="1047945" cy="104794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 name="椭圆 8"/>
          <p:cNvSpPr>
            <a:spLocks noChangeAspect="1"/>
          </p:cNvSpPr>
          <p:nvPr/>
        </p:nvSpPr>
        <p:spPr>
          <a:xfrm>
            <a:off x="5588973" y="1365654"/>
            <a:ext cx="978082" cy="97808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7" name="椭圆 76"/>
          <p:cNvSpPr/>
          <p:nvPr/>
        </p:nvSpPr>
        <p:spPr>
          <a:xfrm>
            <a:off x="4510443" y="4618321"/>
            <a:ext cx="3146400" cy="529200"/>
          </a:xfrm>
          <a:prstGeom prst="ellipse">
            <a:avLst/>
          </a:prstGeom>
          <a:gradFill>
            <a:gsLst>
              <a:gs pos="73000">
                <a:schemeClr val="accent1">
                  <a:lumMod val="20000"/>
                  <a:lumOff val="80000"/>
                  <a:alpha val="86000"/>
                </a:schemeClr>
              </a:gs>
              <a:gs pos="9000">
                <a:schemeClr val="bg1">
                  <a:alpha val="0"/>
                </a:schemeClr>
              </a:gs>
            </a:gsLst>
            <a:lin ang="54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3" name="文本框 72"/>
          <p:cNvSpPr txBox="1"/>
          <p:nvPr/>
        </p:nvSpPr>
        <p:spPr>
          <a:xfrm>
            <a:off x="5134209" y="5713095"/>
            <a:ext cx="1923583" cy="461665"/>
          </a:xfrm>
          <a:prstGeom prst="rect">
            <a:avLst/>
          </a:prstGeom>
          <a:noFill/>
        </p:spPr>
        <p:txBody>
          <a:bodyPr wrap="square">
            <a:spAutoFit/>
          </a:bodyPr>
          <a:lstStyle/>
          <a:p>
            <a:pPr algn="ctr"/>
            <a:r>
              <a:rPr lang="zh-CN" altLang="en-US" sz="2400"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精准智拓</a:t>
            </a:r>
            <a:endPar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9" name="文本框 78"/>
          <p:cNvSpPr txBox="1"/>
          <p:nvPr/>
        </p:nvSpPr>
        <p:spPr>
          <a:xfrm>
            <a:off x="4439439" y="3570803"/>
            <a:ext cx="685861" cy="369332"/>
          </a:xfrm>
          <a:prstGeom prst="rect">
            <a:avLst/>
          </a:prstGeom>
          <a:noFill/>
        </p:spPr>
        <p:txBody>
          <a:bodyPr wrap="square">
            <a:spAutoFit/>
          </a:bodyPr>
          <a:lstStyle/>
          <a:p>
            <a:pPr algn="ctr"/>
            <a:r>
              <a:rPr lang="zh-CN" altLang="en-US"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趋势</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0" name="文本框 79"/>
          <p:cNvSpPr txBox="1"/>
          <p:nvPr/>
        </p:nvSpPr>
        <p:spPr>
          <a:xfrm>
            <a:off x="4713714" y="2371382"/>
            <a:ext cx="685861" cy="369332"/>
          </a:xfrm>
          <a:prstGeom prst="rect">
            <a:avLst/>
          </a:prstGeom>
          <a:noFill/>
        </p:spPr>
        <p:txBody>
          <a:bodyPr wrap="square">
            <a:spAutoFit/>
          </a:bodyPr>
          <a:lstStyle/>
          <a:p>
            <a:pPr algn="ctr"/>
            <a:r>
              <a:rPr lang="zh-CN" altLang="en-US"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差异</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1" name="文本框 80"/>
          <p:cNvSpPr txBox="1"/>
          <p:nvPr/>
        </p:nvSpPr>
        <p:spPr>
          <a:xfrm>
            <a:off x="5753070" y="1838748"/>
            <a:ext cx="685861" cy="369332"/>
          </a:xfrm>
          <a:prstGeom prst="rect">
            <a:avLst/>
          </a:prstGeom>
          <a:noFill/>
        </p:spPr>
        <p:txBody>
          <a:bodyPr wrap="square">
            <a:spAutoFit/>
          </a:bodyPr>
          <a:lstStyle/>
          <a:p>
            <a:pPr algn="ctr"/>
            <a:r>
              <a:rPr lang="zh-CN" altLang="en-US"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渗透</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2" name="文本框 81"/>
          <p:cNvSpPr txBox="1"/>
          <p:nvPr/>
        </p:nvSpPr>
        <p:spPr>
          <a:xfrm>
            <a:off x="6851416" y="2371382"/>
            <a:ext cx="685861" cy="369332"/>
          </a:xfrm>
          <a:prstGeom prst="rect">
            <a:avLst/>
          </a:prstGeom>
          <a:noFill/>
        </p:spPr>
        <p:txBody>
          <a:bodyPr wrap="square">
            <a:spAutoFit/>
          </a:bodyPr>
          <a:lstStyle/>
          <a:p>
            <a:pPr algn="ctr"/>
            <a:r>
              <a:rPr lang="zh-CN" altLang="en-US"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粘性</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3" name="文本框 82"/>
          <p:cNvSpPr txBox="1"/>
          <p:nvPr/>
        </p:nvSpPr>
        <p:spPr>
          <a:xfrm>
            <a:off x="7066700" y="3570803"/>
            <a:ext cx="685861" cy="369332"/>
          </a:xfrm>
          <a:prstGeom prst="rect">
            <a:avLst/>
          </a:prstGeom>
          <a:noFill/>
        </p:spPr>
        <p:txBody>
          <a:bodyPr wrap="square">
            <a:spAutoFit/>
          </a:bodyP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共赢</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8" name="文本框 87"/>
          <p:cNvSpPr txBox="1"/>
          <p:nvPr/>
        </p:nvSpPr>
        <p:spPr>
          <a:xfrm>
            <a:off x="243073" y="2194349"/>
            <a:ext cx="2880000" cy="524824"/>
          </a:xfrm>
          <a:prstGeom prst="rect">
            <a:avLst/>
          </a:prstGeom>
          <a:noFill/>
        </p:spPr>
        <p:txBody>
          <a:bodyPr wrap="square">
            <a:spAutoFit/>
          </a:bodyPr>
          <a:lstStyle/>
          <a:p>
            <a:pPr algn="l">
              <a:lnSpc>
                <a:spcPct val="120000"/>
              </a:lnSpc>
              <a:buNone/>
            </a:pPr>
            <a:r>
              <a:rPr lang="zh-CN" altLang="en-US" sz="1200" b="0" i="0" dirty="0">
                <a:solidFill>
                  <a:srgbClr val="0D0D0D"/>
                </a:solidFill>
                <a:effectLst/>
                <a:latin typeface="+mn-ea"/>
                <a:cs typeface="思源黑体 CN Normal" panose="020B0400000000000000" pitchFamily="34" charset="-122"/>
              </a:rPr>
              <a:t>消费者偏好向全屋智能解决方案倾斜，需聚焦</a:t>
            </a:r>
            <a:r>
              <a:rPr lang="en-US" altLang="zh-CN" sz="1200" b="0" i="0" dirty="0" err="1">
                <a:solidFill>
                  <a:srgbClr val="0D0D0D"/>
                </a:solidFill>
                <a:effectLst/>
                <a:latin typeface="+mn-ea"/>
                <a:cs typeface="思源黑体 CN Normal" panose="020B0400000000000000" pitchFamily="34" charset="-122"/>
              </a:rPr>
              <a:t>AIoT</a:t>
            </a:r>
            <a:r>
              <a:rPr lang="zh-CN" altLang="en-US" sz="1200" b="0" i="0" dirty="0">
                <a:solidFill>
                  <a:srgbClr val="0D0D0D"/>
                </a:solidFill>
                <a:effectLst/>
                <a:latin typeface="+mn-ea"/>
                <a:cs typeface="思源黑体 CN Normal" panose="020B0400000000000000" pitchFamily="34" charset="-122"/>
              </a:rPr>
              <a:t>技术整合与场景化体验升级</a:t>
            </a:r>
            <a:endParaRPr lang="zh-CN" altLang="en-US" sz="1200" b="0" i="0" dirty="0">
              <a:solidFill>
                <a:srgbClr val="0D0D0D"/>
              </a:solidFill>
              <a:effectLst/>
              <a:latin typeface="+mn-ea"/>
              <a:cs typeface="思源黑体 CN Normal" panose="020B0400000000000000" pitchFamily="34" charset="-122"/>
            </a:endParaRPr>
          </a:p>
        </p:txBody>
      </p:sp>
      <p:sp>
        <p:nvSpPr>
          <p:cNvPr id="87" name="文本框 86"/>
          <p:cNvSpPr txBox="1"/>
          <p:nvPr/>
        </p:nvSpPr>
        <p:spPr>
          <a:xfrm>
            <a:off x="641643" y="1855992"/>
            <a:ext cx="2160000" cy="369332"/>
          </a:xfrm>
          <a:prstGeom prst="rect">
            <a:avLst/>
          </a:prstGeom>
          <a:noFill/>
        </p:spPr>
        <p:txBody>
          <a:bodyPr wrap="square">
            <a:spAutoFit/>
          </a:bodyPr>
          <a:lstStyle/>
          <a:p>
            <a:pPr algn="l">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市场洞察</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0" name="文本框 89"/>
          <p:cNvSpPr txBox="1"/>
          <p:nvPr/>
        </p:nvSpPr>
        <p:spPr>
          <a:xfrm>
            <a:off x="243073" y="3630323"/>
            <a:ext cx="2880000" cy="524824"/>
          </a:xfrm>
          <a:prstGeom prst="rect">
            <a:avLst/>
          </a:prstGeom>
          <a:noFill/>
        </p:spPr>
        <p:txBody>
          <a:bodyPr wrap="square">
            <a:spAutoFit/>
          </a:bodyPr>
          <a:lstStyle/>
          <a:p>
            <a:pPr algn="l">
              <a:lnSpc>
                <a:spcPct val="120000"/>
              </a:lnSpc>
              <a:buNone/>
            </a:pP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通过模块化产品</a:t>
            </a: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订阅制服务，打造差异化定价策略，抢占长尾市场</a:t>
            </a:r>
            <a:endParaRPr lang="zh-CN" altLang="en-US" sz="1200" b="0" i="0" dirty="0">
              <a:solidFill>
                <a:srgbClr val="0D0D0D"/>
              </a:solidFill>
              <a:effectLst/>
              <a:latin typeface="+mn-ea"/>
              <a:cs typeface="思源黑体 CN Normal" panose="020B0400000000000000" pitchFamily="34" charset="-122"/>
            </a:endParaRPr>
          </a:p>
        </p:txBody>
      </p:sp>
      <p:sp>
        <p:nvSpPr>
          <p:cNvPr id="89" name="文本框 88"/>
          <p:cNvSpPr txBox="1"/>
          <p:nvPr/>
        </p:nvSpPr>
        <p:spPr>
          <a:xfrm>
            <a:off x="641643" y="3291966"/>
            <a:ext cx="2160000" cy="369332"/>
          </a:xfrm>
          <a:prstGeom prst="rect">
            <a:avLst/>
          </a:prstGeom>
          <a:noFill/>
        </p:spPr>
        <p:txBody>
          <a:bodyPr wrap="square">
            <a:spAutoFit/>
          </a:bodyPr>
          <a:lstStyle/>
          <a:p>
            <a:pPr algn="l">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竞品破局</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2" name="文本框 91"/>
          <p:cNvSpPr txBox="1"/>
          <p:nvPr/>
        </p:nvSpPr>
        <p:spPr>
          <a:xfrm>
            <a:off x="243073" y="5066294"/>
            <a:ext cx="2880000" cy="524824"/>
          </a:xfrm>
          <a:prstGeom prst="rect">
            <a:avLst/>
          </a:prstGeom>
          <a:noFill/>
        </p:spPr>
        <p:txBody>
          <a:bodyPr wrap="square">
            <a:spAutoFit/>
          </a:bodyPr>
          <a:lstStyle/>
          <a:p>
            <a:pPr algn="l">
              <a:lnSpc>
                <a:spcPct val="120000"/>
              </a:lnSpc>
              <a:buNone/>
            </a:pP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规划“</a:t>
            </a:r>
            <a:r>
              <a:rPr lang="en-US" altLang="zh-CN" sz="1200" b="0" i="0" dirty="0">
                <a:solidFill>
                  <a:srgbClr val="0D0D0D"/>
                </a:solidFill>
                <a:effectLst/>
                <a:latin typeface="+mn-ea"/>
                <a:cs typeface="思源黑体 CN Normal" panose="020B0400000000000000" pitchFamily="34" charset="-122"/>
              </a:rPr>
              <a:t>1+N”</a:t>
            </a:r>
            <a:r>
              <a:rPr lang="zh-CN" altLang="en-US" sz="1200" b="0" i="0" dirty="0">
                <a:solidFill>
                  <a:srgbClr val="0D0D0D"/>
                </a:solidFill>
                <a:effectLst/>
                <a:latin typeface="+mn-ea"/>
                <a:cs typeface="思源黑体 CN Normal" panose="020B0400000000000000" pitchFamily="34" charset="-122"/>
              </a:rPr>
              <a:t>渠道网络：</a:t>
            </a:r>
            <a:r>
              <a:rPr lang="en-US" altLang="zh-CN" sz="1200" b="0" i="0" dirty="0">
                <a:solidFill>
                  <a:srgbClr val="0D0D0D"/>
                </a:solidFill>
                <a:effectLst/>
                <a:latin typeface="+mn-ea"/>
                <a:cs typeface="思源黑体 CN Normal" panose="020B0400000000000000" pitchFamily="34" charset="-122"/>
              </a:rPr>
              <a:t>1</a:t>
            </a:r>
            <a:r>
              <a:rPr lang="zh-CN" altLang="en-US" sz="1200" b="0" i="0" dirty="0">
                <a:solidFill>
                  <a:srgbClr val="0D0D0D"/>
                </a:solidFill>
                <a:effectLst/>
                <a:latin typeface="+mn-ea"/>
                <a:cs typeface="思源黑体 CN Normal" panose="020B0400000000000000" pitchFamily="34" charset="-122"/>
              </a:rPr>
              <a:t>个旗舰店辐射区域，</a:t>
            </a:r>
            <a:r>
              <a:rPr lang="en-US" altLang="zh-CN" sz="1200" b="0" i="0" dirty="0">
                <a:solidFill>
                  <a:srgbClr val="0D0D0D"/>
                </a:solidFill>
                <a:effectLst/>
                <a:latin typeface="+mn-ea"/>
                <a:cs typeface="思源黑体 CN Normal" panose="020B0400000000000000" pitchFamily="34" charset="-122"/>
              </a:rPr>
              <a:t>N</a:t>
            </a:r>
            <a:r>
              <a:rPr lang="zh-CN" altLang="en-US" sz="1200" b="0" i="0" dirty="0">
                <a:solidFill>
                  <a:srgbClr val="0D0D0D"/>
                </a:solidFill>
                <a:effectLst/>
                <a:latin typeface="+mn-ea"/>
                <a:cs typeface="思源黑体 CN Normal" panose="020B0400000000000000" pitchFamily="34" charset="-122"/>
              </a:rPr>
              <a:t>个社区快闪店触达高频用户</a:t>
            </a:r>
            <a:endParaRPr lang="zh-CN" altLang="en-US" sz="1200" b="0" i="0" dirty="0">
              <a:solidFill>
                <a:srgbClr val="0D0D0D"/>
              </a:solidFill>
              <a:effectLst/>
              <a:latin typeface="+mn-ea"/>
              <a:cs typeface="思源黑体 CN Normal" panose="020B0400000000000000" pitchFamily="34" charset="-122"/>
            </a:endParaRPr>
          </a:p>
        </p:txBody>
      </p:sp>
      <p:sp>
        <p:nvSpPr>
          <p:cNvPr id="91" name="文本框 90"/>
          <p:cNvSpPr txBox="1"/>
          <p:nvPr/>
        </p:nvSpPr>
        <p:spPr>
          <a:xfrm>
            <a:off x="641643" y="4727939"/>
            <a:ext cx="2160000" cy="369332"/>
          </a:xfrm>
          <a:prstGeom prst="rect">
            <a:avLst/>
          </a:prstGeom>
          <a:noFill/>
        </p:spPr>
        <p:txBody>
          <a:bodyPr wrap="square">
            <a:spAutoFit/>
          </a:bodyPr>
          <a:lstStyle/>
          <a:p>
            <a:pPr algn="l">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渠道深耕</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4" name="文本框 93"/>
          <p:cNvSpPr txBox="1"/>
          <p:nvPr/>
        </p:nvSpPr>
        <p:spPr>
          <a:xfrm>
            <a:off x="9083222" y="2194349"/>
            <a:ext cx="2880000" cy="524824"/>
          </a:xfrm>
          <a:prstGeom prst="rect">
            <a:avLst/>
          </a:prstGeom>
          <a:noFill/>
        </p:spPr>
        <p:txBody>
          <a:bodyPr wrap="square">
            <a:spAutoFit/>
          </a:bodyPr>
          <a:lstStyle>
            <a:defPPr>
              <a:defRPr lang="zh-CN"/>
            </a:defPPr>
            <a:lvl1pPr>
              <a:lnSpc>
                <a:spcPct val="120000"/>
              </a:lnSpc>
              <a:buNone/>
              <a:defRPr sz="1200" b="0" i="0">
                <a:solidFill>
                  <a:srgbClr val="0D0D0D"/>
                </a:solidFill>
                <a:effectLst/>
                <a:latin typeface="+mn-ea"/>
              </a:defRPr>
            </a:lvl1pPr>
          </a:lstStyle>
          <a:p>
            <a:pPr algn="r"/>
            <a:r>
              <a:rPr lang="zh-CN" altLang="en-US" dirty="0">
                <a:cs typeface="思源黑体 CN Normal" panose="020B0400000000000000" pitchFamily="34" charset="-122"/>
              </a:rPr>
              <a:t>推出“智能生活管家”会员体系，整合设备互联、专属优惠，提升</a:t>
            </a:r>
            <a:r>
              <a:rPr lang="en-US" altLang="zh-CN" dirty="0">
                <a:cs typeface="思源黑体 CN Normal" panose="020B0400000000000000" pitchFamily="34" charset="-122"/>
              </a:rPr>
              <a:t>LTV</a:t>
            </a:r>
            <a:endParaRPr lang="zh-CN" altLang="en-US" dirty="0">
              <a:cs typeface="思源黑体 CN Normal" panose="020B0400000000000000" pitchFamily="34" charset="-122"/>
            </a:endParaRPr>
          </a:p>
        </p:txBody>
      </p:sp>
      <p:sp>
        <p:nvSpPr>
          <p:cNvPr id="93" name="文本框 92"/>
          <p:cNvSpPr txBox="1"/>
          <p:nvPr/>
        </p:nvSpPr>
        <p:spPr>
          <a:xfrm>
            <a:off x="9390358" y="1855992"/>
            <a:ext cx="2160000" cy="369332"/>
          </a:xfrm>
          <a:prstGeom prst="rect">
            <a:avLst/>
          </a:prstGeom>
          <a:noFill/>
        </p:spPr>
        <p:txBody>
          <a:bodyPr wrap="square">
            <a:spAutoFit/>
          </a:bodyPr>
          <a:lstStyle/>
          <a:p>
            <a:pPr algn="r">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用户运营</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6" name="文本框 95"/>
          <p:cNvSpPr txBox="1"/>
          <p:nvPr/>
        </p:nvSpPr>
        <p:spPr>
          <a:xfrm>
            <a:off x="9083222" y="3630323"/>
            <a:ext cx="2880000" cy="524824"/>
          </a:xfrm>
          <a:prstGeom prst="rect">
            <a:avLst/>
          </a:prstGeom>
          <a:noFill/>
        </p:spPr>
        <p:txBody>
          <a:bodyPr wrap="square">
            <a:spAutoFit/>
          </a:bodyPr>
          <a:lstStyle>
            <a:defPPr>
              <a:defRPr lang="zh-CN"/>
            </a:defPPr>
            <a:lvl1pPr>
              <a:lnSpc>
                <a:spcPct val="120000"/>
              </a:lnSpc>
              <a:buNone/>
              <a:defRPr sz="1200" b="0" i="0">
                <a:solidFill>
                  <a:srgbClr val="0D0D0D"/>
                </a:solidFill>
                <a:effectLst/>
                <a:latin typeface="+mn-ea"/>
              </a:defRPr>
            </a:lvl1pPr>
          </a:lstStyle>
          <a:p>
            <a:pPr algn="r"/>
            <a:r>
              <a:rPr lang="zh-CN" altLang="en-US" dirty="0">
                <a:cs typeface="思源黑体 CN Normal" panose="020B0400000000000000" pitchFamily="34" charset="-122"/>
              </a:rPr>
              <a:t>与地产商、物业合作预装智能系统，降低用户初始成本</a:t>
            </a:r>
            <a:r>
              <a:rPr lang="en-US" altLang="zh-CN" dirty="0">
                <a:cs typeface="思源黑体 CN Normal" panose="020B0400000000000000" pitchFamily="34" charset="-122"/>
              </a:rPr>
              <a:t>,</a:t>
            </a:r>
            <a:r>
              <a:rPr lang="zh-CN" altLang="en-US" dirty="0">
                <a:cs typeface="思源黑体 CN Normal" panose="020B0400000000000000" pitchFamily="34" charset="-122"/>
              </a:rPr>
              <a:t>解决跨品牌互联痛点</a:t>
            </a:r>
            <a:endParaRPr lang="zh-CN" altLang="en-US" dirty="0">
              <a:cs typeface="思源黑体 CN Normal" panose="020B0400000000000000" pitchFamily="34" charset="-122"/>
            </a:endParaRPr>
          </a:p>
        </p:txBody>
      </p:sp>
      <p:sp>
        <p:nvSpPr>
          <p:cNvPr id="95" name="文本框 94"/>
          <p:cNvSpPr txBox="1"/>
          <p:nvPr/>
        </p:nvSpPr>
        <p:spPr>
          <a:xfrm>
            <a:off x="9390358" y="3291966"/>
            <a:ext cx="2160000" cy="369332"/>
          </a:xfrm>
          <a:prstGeom prst="rect">
            <a:avLst/>
          </a:prstGeom>
          <a:noFill/>
        </p:spPr>
        <p:txBody>
          <a:bodyPr wrap="square">
            <a:spAutoFit/>
          </a:bodyPr>
          <a:lstStyle/>
          <a:p>
            <a:pPr algn="r">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生态共建</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7" name="文本框 96"/>
          <p:cNvSpPr txBox="1"/>
          <p:nvPr/>
        </p:nvSpPr>
        <p:spPr>
          <a:xfrm>
            <a:off x="9390358" y="4727939"/>
            <a:ext cx="2160000" cy="369332"/>
          </a:xfrm>
          <a:prstGeom prst="rect">
            <a:avLst/>
          </a:prstGeom>
          <a:noFill/>
        </p:spPr>
        <p:txBody>
          <a:bodyPr wrap="square">
            <a:spAutoFit/>
          </a:bodyPr>
          <a:lstStyle/>
          <a:p>
            <a:pPr algn="r">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数据驱动</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8" name="文本框 97"/>
          <p:cNvSpPr txBox="1"/>
          <p:nvPr/>
        </p:nvSpPr>
        <p:spPr>
          <a:xfrm>
            <a:off x="9083222" y="5066294"/>
            <a:ext cx="2880000" cy="524824"/>
          </a:xfrm>
          <a:prstGeom prst="rect">
            <a:avLst/>
          </a:prstGeom>
          <a:noFill/>
        </p:spPr>
        <p:txBody>
          <a:bodyPr wrap="square">
            <a:spAutoFit/>
          </a:bodyPr>
          <a:lstStyle>
            <a:defPPr>
              <a:defRPr lang="zh-CN"/>
            </a:defPPr>
            <a:lvl1pPr>
              <a:lnSpc>
                <a:spcPct val="120000"/>
              </a:lnSpc>
              <a:buNone/>
              <a:defRPr sz="1200" b="0" i="0">
                <a:solidFill>
                  <a:srgbClr val="0D0D0D"/>
                </a:solidFill>
                <a:effectLst/>
                <a:latin typeface="+mn-ea"/>
              </a:defRPr>
            </a:lvl1pPr>
          </a:lstStyle>
          <a:p>
            <a:pPr algn="r"/>
            <a:r>
              <a:rPr lang="zh-CN" altLang="en-US" dirty="0">
                <a:cs typeface="思源黑体 CN Normal" panose="020B0400000000000000" pitchFamily="34" charset="-122"/>
              </a:rPr>
              <a:t>精准推送使转化率提升</a:t>
            </a:r>
            <a:r>
              <a:rPr lang="en-US" altLang="zh-CN" dirty="0">
                <a:cs typeface="思源黑体 CN Normal" panose="020B0400000000000000" pitchFamily="34" charset="-122"/>
              </a:rPr>
              <a:t>40%</a:t>
            </a:r>
            <a:r>
              <a:rPr lang="zh-CN" altLang="en-US" dirty="0">
                <a:cs typeface="思源黑体 CN Normal" panose="020B0400000000000000" pitchFamily="34" charset="-122"/>
              </a:rPr>
              <a:t>。建立“周复盘”机制，快速迭代市场策略</a:t>
            </a:r>
            <a:endParaRPr lang="zh-CN" altLang="en-US" dirty="0">
              <a:cs typeface="思源黑体 CN Normal" panose="020B0400000000000000" pitchFamily="34" charset="-122"/>
            </a:endParaRPr>
          </a:p>
        </p:txBody>
      </p:sp>
      <p:pic>
        <p:nvPicPr>
          <p:cNvPr id="107" name="图形 10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84369" y="3131269"/>
            <a:ext cx="396000" cy="396000"/>
          </a:xfrm>
          <a:prstGeom prst="rect">
            <a:avLst/>
          </a:prstGeom>
        </p:spPr>
      </p:pic>
      <p:pic>
        <p:nvPicPr>
          <p:cNvPr id="109" name="图形 10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84549" y="1998919"/>
            <a:ext cx="324000" cy="324000"/>
          </a:xfrm>
          <a:prstGeom prst="rect">
            <a:avLst/>
          </a:prstGeom>
        </p:spPr>
      </p:pic>
      <p:pic>
        <p:nvPicPr>
          <p:cNvPr id="111" name="图形 11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40981" y="1473161"/>
            <a:ext cx="310037" cy="310037"/>
          </a:xfrm>
          <a:prstGeom prst="rect">
            <a:avLst/>
          </a:prstGeom>
        </p:spPr>
      </p:pic>
      <p:pic>
        <p:nvPicPr>
          <p:cNvPr id="113" name="图形 11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92717" y="1980919"/>
            <a:ext cx="360000" cy="360000"/>
          </a:xfrm>
          <a:prstGeom prst="rect">
            <a:avLst/>
          </a:prstGeom>
        </p:spPr>
      </p:pic>
      <p:pic>
        <p:nvPicPr>
          <p:cNvPr id="115" name="图形 114"/>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90930" y="3163092"/>
            <a:ext cx="437400" cy="360000"/>
          </a:xfrm>
          <a:prstGeom prst="rect">
            <a:avLst/>
          </a:prstGeom>
        </p:spPr>
      </p:pic>
      <p:pic>
        <p:nvPicPr>
          <p:cNvPr id="117" name="图形 116"/>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88460" y="1835532"/>
            <a:ext cx="396000" cy="396000"/>
          </a:xfrm>
          <a:prstGeom prst="rect">
            <a:avLst/>
          </a:prstGeom>
        </p:spPr>
      </p:pic>
      <p:pic>
        <p:nvPicPr>
          <p:cNvPr id="119" name="图形 118"/>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8460" y="3234320"/>
            <a:ext cx="396000" cy="396000"/>
          </a:xfrm>
          <a:prstGeom prst="rect">
            <a:avLst/>
          </a:prstGeom>
        </p:spPr>
      </p:pic>
      <p:pic>
        <p:nvPicPr>
          <p:cNvPr id="121" name="图形 120"/>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8460" y="4686961"/>
            <a:ext cx="396000" cy="396000"/>
          </a:xfrm>
          <a:prstGeom prst="rect">
            <a:avLst/>
          </a:prstGeom>
        </p:spPr>
      </p:pic>
      <p:pic>
        <p:nvPicPr>
          <p:cNvPr id="123" name="图形 122"/>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1556690" y="1821852"/>
            <a:ext cx="360000" cy="360000"/>
          </a:xfrm>
          <a:prstGeom prst="rect">
            <a:avLst/>
          </a:prstGeom>
        </p:spPr>
      </p:pic>
      <p:pic>
        <p:nvPicPr>
          <p:cNvPr id="125" name="图形 124"/>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1520690" y="3241467"/>
            <a:ext cx="396000" cy="396000"/>
          </a:xfrm>
          <a:prstGeom prst="rect">
            <a:avLst/>
          </a:prstGeom>
        </p:spPr>
      </p:pic>
      <p:pic>
        <p:nvPicPr>
          <p:cNvPr id="127" name="图形 126"/>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507990" y="4655780"/>
            <a:ext cx="396000" cy="396000"/>
          </a:xfrm>
          <a:prstGeom prst="rect">
            <a:avLst/>
          </a:prstGeom>
        </p:spPr>
      </p:pic>
      <p:grpSp>
        <p:nvGrpSpPr>
          <p:cNvPr id="261" name="组合 260"/>
          <p:cNvGrpSpPr/>
          <p:nvPr/>
        </p:nvGrpSpPr>
        <p:grpSpPr>
          <a:xfrm>
            <a:off x="326551" y="2959100"/>
            <a:ext cx="2628900" cy="1453990"/>
            <a:chOff x="326551" y="2895600"/>
            <a:chExt cx="2628900" cy="1453990"/>
          </a:xfrm>
        </p:grpSpPr>
        <p:sp>
          <p:nvSpPr>
            <p:cNvPr id="259" name="任意多边形: 形状 258"/>
            <p:cNvSpPr/>
            <p:nvPr/>
          </p:nvSpPr>
          <p:spPr>
            <a:xfrm>
              <a:off x="326551" y="2895600"/>
              <a:ext cx="2628900" cy="0"/>
            </a:xfrm>
            <a:custGeom>
              <a:avLst/>
              <a:gdLst>
                <a:gd name="connsiteX0" fmla="*/ 0 w 2628900"/>
                <a:gd name="connsiteY0" fmla="*/ 0 h 0"/>
                <a:gd name="connsiteX1" fmla="*/ 2628900 w 2628900"/>
                <a:gd name="connsiteY1" fmla="*/ 0 h 0"/>
              </a:gdLst>
              <a:ahLst/>
              <a:cxnLst>
                <a:cxn ang="0">
                  <a:pos x="connsiteX0" y="connsiteY0"/>
                </a:cxn>
                <a:cxn ang="0">
                  <a:pos x="connsiteX1" y="connsiteY1"/>
                </a:cxn>
              </a:cxnLst>
              <a:rect l="l" t="t" r="r" b="b"/>
              <a:pathLst>
                <a:path w="2628900">
                  <a:moveTo>
                    <a:pt x="0" y="0"/>
                  </a:moveTo>
                  <a:lnTo>
                    <a:pt x="262890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60" name="任意多边形: 形状 259"/>
            <p:cNvSpPr/>
            <p:nvPr/>
          </p:nvSpPr>
          <p:spPr>
            <a:xfrm>
              <a:off x="326551" y="4349590"/>
              <a:ext cx="2628900" cy="0"/>
            </a:xfrm>
            <a:custGeom>
              <a:avLst/>
              <a:gdLst>
                <a:gd name="connsiteX0" fmla="*/ 0 w 2628900"/>
                <a:gd name="connsiteY0" fmla="*/ 0 h 0"/>
                <a:gd name="connsiteX1" fmla="*/ 2628900 w 2628900"/>
                <a:gd name="connsiteY1" fmla="*/ 0 h 0"/>
              </a:gdLst>
              <a:ahLst/>
              <a:cxnLst>
                <a:cxn ang="0">
                  <a:pos x="connsiteX0" y="connsiteY0"/>
                </a:cxn>
                <a:cxn ang="0">
                  <a:pos x="connsiteX1" y="connsiteY1"/>
                </a:cxn>
              </a:cxnLst>
              <a:rect l="l" t="t" r="r" b="b"/>
              <a:pathLst>
                <a:path w="2628900">
                  <a:moveTo>
                    <a:pt x="0" y="0"/>
                  </a:moveTo>
                  <a:lnTo>
                    <a:pt x="262890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270" name="组合 269"/>
          <p:cNvGrpSpPr/>
          <p:nvPr/>
        </p:nvGrpSpPr>
        <p:grpSpPr>
          <a:xfrm>
            <a:off x="9228138" y="2959100"/>
            <a:ext cx="2628900" cy="1453990"/>
            <a:chOff x="326551" y="2895600"/>
            <a:chExt cx="2628900" cy="1453990"/>
          </a:xfrm>
        </p:grpSpPr>
        <p:sp>
          <p:nvSpPr>
            <p:cNvPr id="287" name="任意多边形: 形状 286"/>
            <p:cNvSpPr/>
            <p:nvPr/>
          </p:nvSpPr>
          <p:spPr>
            <a:xfrm>
              <a:off x="326551" y="2895600"/>
              <a:ext cx="2628900" cy="0"/>
            </a:xfrm>
            <a:custGeom>
              <a:avLst/>
              <a:gdLst>
                <a:gd name="connsiteX0" fmla="*/ 0 w 2628900"/>
                <a:gd name="connsiteY0" fmla="*/ 0 h 0"/>
                <a:gd name="connsiteX1" fmla="*/ 2628900 w 2628900"/>
                <a:gd name="connsiteY1" fmla="*/ 0 h 0"/>
              </a:gdLst>
              <a:ahLst/>
              <a:cxnLst>
                <a:cxn ang="0">
                  <a:pos x="connsiteX0" y="connsiteY0"/>
                </a:cxn>
                <a:cxn ang="0">
                  <a:pos x="connsiteX1" y="connsiteY1"/>
                </a:cxn>
              </a:cxnLst>
              <a:rect l="l" t="t" r="r" b="b"/>
              <a:pathLst>
                <a:path w="2628900">
                  <a:moveTo>
                    <a:pt x="0" y="0"/>
                  </a:moveTo>
                  <a:lnTo>
                    <a:pt x="262890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88" name="任意多边形: 形状 287"/>
            <p:cNvSpPr/>
            <p:nvPr/>
          </p:nvSpPr>
          <p:spPr>
            <a:xfrm>
              <a:off x="326551" y="4349590"/>
              <a:ext cx="2628900" cy="0"/>
            </a:xfrm>
            <a:custGeom>
              <a:avLst/>
              <a:gdLst>
                <a:gd name="connsiteX0" fmla="*/ 0 w 2628900"/>
                <a:gd name="connsiteY0" fmla="*/ 0 h 0"/>
                <a:gd name="connsiteX1" fmla="*/ 2628900 w 2628900"/>
                <a:gd name="connsiteY1" fmla="*/ 0 h 0"/>
              </a:gdLst>
              <a:ahLst/>
              <a:cxnLst>
                <a:cxn ang="0">
                  <a:pos x="connsiteX0" y="connsiteY0"/>
                </a:cxn>
                <a:cxn ang="0">
                  <a:pos x="connsiteX1" y="connsiteY1"/>
                </a:cxn>
              </a:cxnLst>
              <a:rect l="l" t="t" r="r" b="b"/>
              <a:pathLst>
                <a:path w="2628900">
                  <a:moveTo>
                    <a:pt x="0" y="0"/>
                  </a:moveTo>
                  <a:lnTo>
                    <a:pt x="262890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pic>
        <p:nvPicPr>
          <p:cNvPr id="307" name="图片 306"/>
          <p:cNvPicPr/>
          <p:nvPr/>
        </p:nvPicPr>
        <p:blipFill>
          <a:blip r:embed="rId24">
            <a:duotone>
              <a:schemeClr val="accent1">
                <a:shade val="45000"/>
                <a:satMod val="135000"/>
              </a:schemeClr>
              <a:prstClr val="white"/>
            </a:duotone>
          </a:blip>
          <a:stretch>
            <a:fillRect/>
          </a:stretch>
        </p:blipFill>
        <p:spPr>
          <a:xfrm>
            <a:off x="4255837" y="6456584"/>
            <a:ext cx="3680327" cy="432000"/>
          </a:xfrm>
          <a:prstGeom prst="rect">
            <a:avLst/>
          </a:prstGeom>
          <a:effectLst>
            <a:softEdge rad="165100"/>
          </a:effectLst>
        </p:spPr>
      </p:pic>
      <p:grpSp>
        <p:nvGrpSpPr>
          <p:cNvPr id="308" name="组合 307"/>
          <p:cNvGrpSpPr/>
          <p:nvPr/>
        </p:nvGrpSpPr>
        <p:grpSpPr>
          <a:xfrm rot="16200000">
            <a:off x="5934712" y="5210458"/>
            <a:ext cx="322576" cy="644884"/>
            <a:chOff x="7091801" y="1310739"/>
            <a:chExt cx="990520" cy="661492"/>
          </a:xfrm>
        </p:grpSpPr>
        <p:sp>
          <p:nvSpPr>
            <p:cNvPr id="309" name="等腰三角形 308"/>
            <p:cNvSpPr/>
            <p:nvPr/>
          </p:nvSpPr>
          <p:spPr>
            <a:xfrm rot="5400000">
              <a:off x="7466450" y="1356360"/>
              <a:ext cx="661491" cy="570250"/>
            </a:xfrm>
            <a:prstGeom prst="triangle">
              <a:avLst/>
            </a:prstGeom>
            <a:gradFill flip="none" rotWithShape="1">
              <a:gsLst>
                <a:gs pos="100000">
                  <a:schemeClr val="bg1"/>
                </a:gs>
                <a:gs pos="0">
                  <a:schemeClr val="bg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10" name="等腰三角形 309"/>
            <p:cNvSpPr/>
            <p:nvPr/>
          </p:nvSpPr>
          <p:spPr>
            <a:xfrm rot="5400000">
              <a:off x="7046181" y="1356360"/>
              <a:ext cx="661491" cy="570251"/>
            </a:xfrm>
            <a:prstGeom prst="triangle">
              <a:avLst/>
            </a:prstGeom>
            <a:noFill/>
            <a:ln w="3175">
              <a:gradFill>
                <a:gsLst>
                  <a:gs pos="5000">
                    <a:schemeClr val="bg1">
                      <a:alpha val="0"/>
                    </a:schemeClr>
                  </a:gs>
                  <a:gs pos="100000">
                    <a:schemeClr val="bg1"/>
                  </a:gs>
                </a:gsLst>
                <a:lin ang="162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Tree>
    <p:custDataLst>
      <p:tags r:id="rId2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61719" y="6219792"/>
            <a:ext cx="4868562" cy="377862"/>
            <a:chOff x="3661719" y="5947271"/>
            <a:chExt cx="4868562" cy="650379"/>
          </a:xfrm>
        </p:grpSpPr>
        <p:sp>
          <p:nvSpPr>
            <p:cNvPr id="4" name="梯形 3"/>
            <p:cNvSpPr/>
            <p:nvPr/>
          </p:nvSpPr>
          <p:spPr>
            <a:xfrm>
              <a:off x="3661719" y="6240162"/>
              <a:ext cx="4868562" cy="357488"/>
            </a:xfrm>
            <a:prstGeom prst="trapezoid">
              <a:avLst>
                <a:gd name="adj" fmla="val 8163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 name="梯形 4"/>
            <p:cNvSpPr/>
            <p:nvPr/>
          </p:nvSpPr>
          <p:spPr>
            <a:xfrm>
              <a:off x="3837033" y="5947271"/>
              <a:ext cx="4517934" cy="287361"/>
            </a:xfrm>
            <a:prstGeom prst="trapezoid">
              <a:avLst>
                <a:gd name="adj" fmla="val 158963"/>
              </a:avLst>
            </a:prstGeom>
            <a:gradFill>
              <a:gsLst>
                <a:gs pos="66000">
                  <a:schemeClr val="accent3">
                    <a:alpha val="59000"/>
                  </a:schemeClr>
                </a:gs>
                <a:gs pos="0">
                  <a:schemeClr val="accent3">
                    <a:alpha val="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7" name="椭圆 6"/>
          <p:cNvSpPr/>
          <p:nvPr/>
        </p:nvSpPr>
        <p:spPr>
          <a:xfrm>
            <a:off x="5458701" y="6079363"/>
            <a:ext cx="1274599" cy="353302"/>
          </a:xfrm>
          <a:prstGeom prst="ellipse">
            <a:avLst/>
          </a:prstGeom>
          <a:solidFill>
            <a:schemeClr val="accent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 name="圆柱体 2"/>
          <p:cNvSpPr/>
          <p:nvPr/>
        </p:nvSpPr>
        <p:spPr>
          <a:xfrm>
            <a:off x="6003324" y="1375700"/>
            <a:ext cx="185351" cy="4860000"/>
          </a:xfrm>
          <a:prstGeom prst="ca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 name="六边形 7"/>
          <p:cNvSpPr/>
          <p:nvPr/>
        </p:nvSpPr>
        <p:spPr>
          <a:xfrm>
            <a:off x="346281" y="4272333"/>
            <a:ext cx="6519919" cy="1322962"/>
          </a:xfrm>
          <a:custGeom>
            <a:avLst/>
            <a:gdLst>
              <a:gd name="connsiteX0" fmla="*/ 17217 w 6519919"/>
              <a:gd name="connsiteY0" fmla="*/ 614757 h 1322962"/>
              <a:gd name="connsiteX1" fmla="*/ 520009 w 6519919"/>
              <a:gd name="connsiteY1" fmla="*/ 25276 h 1322962"/>
              <a:gd name="connsiteX2" fmla="*/ 574789 w 6519919"/>
              <a:gd name="connsiteY2" fmla="*/ 0 h 1322962"/>
              <a:gd name="connsiteX3" fmla="*/ 5945130 w 6519919"/>
              <a:gd name="connsiteY3" fmla="*/ 0 h 1322962"/>
              <a:gd name="connsiteX4" fmla="*/ 5999910 w 6519919"/>
              <a:gd name="connsiteY4" fmla="*/ 25276 h 1322962"/>
              <a:gd name="connsiteX5" fmla="*/ 6502703 w 6519919"/>
              <a:gd name="connsiteY5" fmla="*/ 614757 h 1322962"/>
              <a:gd name="connsiteX6" fmla="*/ 6502703 w 6519919"/>
              <a:gd name="connsiteY6" fmla="*/ 708205 h 1322962"/>
              <a:gd name="connsiteX7" fmla="*/ 5999910 w 6519919"/>
              <a:gd name="connsiteY7" fmla="*/ 1297686 h 1322962"/>
              <a:gd name="connsiteX8" fmla="*/ 5945130 w 6519919"/>
              <a:gd name="connsiteY8" fmla="*/ 1322962 h 1322962"/>
              <a:gd name="connsiteX9" fmla="*/ 574789 w 6519919"/>
              <a:gd name="connsiteY9" fmla="*/ 1322962 h 1322962"/>
              <a:gd name="connsiteX10" fmla="*/ 520009 w 6519919"/>
              <a:gd name="connsiteY10" fmla="*/ 1297686 h 1322962"/>
              <a:gd name="connsiteX11" fmla="*/ 17217 w 6519919"/>
              <a:gd name="connsiteY11" fmla="*/ 708205 h 1322962"/>
              <a:gd name="connsiteX12" fmla="*/ 17217 w 6519919"/>
              <a:gd name="connsiteY12" fmla="*/ 614757 h 132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919" h="1322962">
                <a:moveTo>
                  <a:pt x="17217" y="614757"/>
                </a:moveTo>
                <a:lnTo>
                  <a:pt x="520009" y="25276"/>
                </a:lnTo>
                <a:cubicBezTo>
                  <a:pt x="533699" y="9226"/>
                  <a:pt x="553694" y="0"/>
                  <a:pt x="574789" y="0"/>
                </a:cubicBezTo>
                <a:lnTo>
                  <a:pt x="5945130" y="0"/>
                </a:lnTo>
                <a:cubicBezTo>
                  <a:pt x="5966225" y="0"/>
                  <a:pt x="5986220" y="9226"/>
                  <a:pt x="5999910" y="25276"/>
                </a:cubicBezTo>
                <a:lnTo>
                  <a:pt x="6502703" y="614757"/>
                </a:lnTo>
                <a:cubicBezTo>
                  <a:pt x="6525658" y="641670"/>
                  <a:pt x="6525658" y="681292"/>
                  <a:pt x="6502703" y="708205"/>
                </a:cubicBezTo>
                <a:lnTo>
                  <a:pt x="5999910" y="1297686"/>
                </a:lnTo>
                <a:cubicBezTo>
                  <a:pt x="5986220" y="1313736"/>
                  <a:pt x="5966225" y="1322962"/>
                  <a:pt x="5945130" y="1322962"/>
                </a:cubicBezTo>
                <a:lnTo>
                  <a:pt x="574789" y="1322962"/>
                </a:lnTo>
                <a:cubicBezTo>
                  <a:pt x="553694" y="1322962"/>
                  <a:pt x="533699" y="1313736"/>
                  <a:pt x="520009" y="1297686"/>
                </a:cubicBezTo>
                <a:lnTo>
                  <a:pt x="17217" y="708205"/>
                </a:lnTo>
                <a:cubicBezTo>
                  <a:pt x="-5738" y="681292"/>
                  <a:pt x="-5738" y="641670"/>
                  <a:pt x="17217" y="614757"/>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14"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对比关系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全年业绩分析</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7" name="椭圆 16"/>
          <p:cNvSpPr>
            <a:spLocks noChangeAspect="1"/>
          </p:cNvSpPr>
          <p:nvPr/>
        </p:nvSpPr>
        <p:spPr>
          <a:xfrm>
            <a:off x="5988000" y="1244599"/>
            <a:ext cx="216000" cy="216000"/>
          </a:xfrm>
          <a:prstGeom prst="ellipse">
            <a:avLst/>
          </a:prstGeom>
          <a:solidFill>
            <a:schemeClr val="accent2"/>
          </a:solidFill>
          <a:ln>
            <a:noFill/>
          </a:ln>
          <a:effectLst>
            <a:outerShdw blurRad="50800" dist="38100" dir="5400000" algn="t" rotWithShape="0">
              <a:schemeClr val="accent2">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8" name="椭圆 17"/>
          <p:cNvSpPr>
            <a:spLocks noChangeAspect="1"/>
          </p:cNvSpPr>
          <p:nvPr/>
        </p:nvSpPr>
        <p:spPr>
          <a:xfrm>
            <a:off x="6060000" y="1316599"/>
            <a:ext cx="72000" cy="72000"/>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24" name="组合 23"/>
          <p:cNvGrpSpPr/>
          <p:nvPr/>
        </p:nvGrpSpPr>
        <p:grpSpPr>
          <a:xfrm>
            <a:off x="1733296" y="4455153"/>
            <a:ext cx="4306174" cy="957322"/>
            <a:chOff x="1733296" y="4432645"/>
            <a:chExt cx="4306174" cy="957322"/>
          </a:xfrm>
        </p:grpSpPr>
        <p:sp>
          <p:nvSpPr>
            <p:cNvPr id="22" name="文本框 21"/>
            <p:cNvSpPr txBox="1"/>
            <p:nvPr/>
          </p:nvSpPr>
          <p:spPr>
            <a:xfrm>
              <a:off x="1733296" y="4432645"/>
              <a:ext cx="3965575" cy="369332"/>
            </a:xfrm>
            <a:prstGeom prst="rect">
              <a:avLst/>
            </a:prstGeom>
            <a:noFill/>
          </p:spPr>
          <p:txBody>
            <a:bodyPr wrap="square">
              <a:spAutoFit/>
            </a:bodyPr>
            <a:lstStyle/>
            <a:p>
              <a:r>
                <a:rPr lang="zh-CN" altLang="en-US"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上半年</a:t>
              </a:r>
              <a:r>
                <a:rPr lang="en-US" altLang="zh-CN"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a:t>
              </a:r>
              <a:r>
                <a:rPr lang="zh-CN" altLang="en-US"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渠道扩张初见成效</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3" name="文本框 22"/>
            <p:cNvSpPr txBox="1"/>
            <p:nvPr/>
          </p:nvSpPr>
          <p:spPr>
            <a:xfrm>
              <a:off x="1733296" y="4866747"/>
              <a:ext cx="4306174" cy="523220"/>
            </a:xfrm>
            <a:prstGeom prst="rect">
              <a:avLst/>
            </a:prstGeom>
            <a:noFill/>
          </p:spPr>
          <p:txBody>
            <a:bodyPr wrap="square">
              <a:spAutoFit/>
            </a:bodyPr>
            <a:lstStyle/>
            <a:p>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新增</a:t>
              </a:r>
              <a:r>
                <a:rPr lang="en-US" altLang="zh-CN" sz="1400" b="0" i="0" dirty="0">
                  <a:solidFill>
                    <a:schemeClr val="bg1"/>
                  </a:solidFill>
                  <a:effectLst/>
                  <a:latin typeface="思源黑体 CN Normal" panose="020B0400000000000000" pitchFamily="34" charset="-122"/>
                  <a:cs typeface="思源黑体 CN Normal" panose="020B0400000000000000" pitchFamily="34" charset="-122"/>
                </a:rPr>
                <a:t>12</a:t>
              </a:r>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个线下体验店，线上渠道贡献率提升至</a:t>
              </a:r>
              <a:r>
                <a:rPr lang="en-US" altLang="zh-CN" sz="1400" b="0" i="0" dirty="0">
                  <a:solidFill>
                    <a:schemeClr val="bg1"/>
                  </a:solidFill>
                  <a:effectLst/>
                  <a:latin typeface="思源黑体 CN Normal" panose="020B0400000000000000" pitchFamily="34" charset="-122"/>
                  <a:cs typeface="思源黑体 CN Normal" panose="020B0400000000000000" pitchFamily="34" charset="-122"/>
                </a:rPr>
                <a:t>43%</a:t>
              </a:r>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，但区域市场渗透率不均衡</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grpSp>
        <p:nvGrpSpPr>
          <p:cNvPr id="44" name="组合 43"/>
          <p:cNvGrpSpPr/>
          <p:nvPr/>
        </p:nvGrpSpPr>
        <p:grpSpPr>
          <a:xfrm>
            <a:off x="5325801" y="1711408"/>
            <a:ext cx="6519919" cy="1322962"/>
            <a:chOff x="5325801" y="1978108"/>
            <a:chExt cx="6519919" cy="1322962"/>
          </a:xfrm>
        </p:grpSpPr>
        <p:sp>
          <p:nvSpPr>
            <p:cNvPr id="11" name="六边形 7"/>
            <p:cNvSpPr/>
            <p:nvPr/>
          </p:nvSpPr>
          <p:spPr>
            <a:xfrm>
              <a:off x="5325801" y="1978108"/>
              <a:ext cx="6519919" cy="1322962"/>
            </a:xfrm>
            <a:custGeom>
              <a:avLst/>
              <a:gdLst>
                <a:gd name="connsiteX0" fmla="*/ 17217 w 6519919"/>
                <a:gd name="connsiteY0" fmla="*/ 614757 h 1322962"/>
                <a:gd name="connsiteX1" fmla="*/ 520009 w 6519919"/>
                <a:gd name="connsiteY1" fmla="*/ 25276 h 1322962"/>
                <a:gd name="connsiteX2" fmla="*/ 574789 w 6519919"/>
                <a:gd name="connsiteY2" fmla="*/ 0 h 1322962"/>
                <a:gd name="connsiteX3" fmla="*/ 5945130 w 6519919"/>
                <a:gd name="connsiteY3" fmla="*/ 0 h 1322962"/>
                <a:gd name="connsiteX4" fmla="*/ 5999910 w 6519919"/>
                <a:gd name="connsiteY4" fmla="*/ 25276 h 1322962"/>
                <a:gd name="connsiteX5" fmla="*/ 6502703 w 6519919"/>
                <a:gd name="connsiteY5" fmla="*/ 614757 h 1322962"/>
                <a:gd name="connsiteX6" fmla="*/ 6502703 w 6519919"/>
                <a:gd name="connsiteY6" fmla="*/ 708205 h 1322962"/>
                <a:gd name="connsiteX7" fmla="*/ 5999910 w 6519919"/>
                <a:gd name="connsiteY7" fmla="*/ 1297686 h 1322962"/>
                <a:gd name="connsiteX8" fmla="*/ 5945130 w 6519919"/>
                <a:gd name="connsiteY8" fmla="*/ 1322962 h 1322962"/>
                <a:gd name="connsiteX9" fmla="*/ 574789 w 6519919"/>
                <a:gd name="connsiteY9" fmla="*/ 1322962 h 1322962"/>
                <a:gd name="connsiteX10" fmla="*/ 520009 w 6519919"/>
                <a:gd name="connsiteY10" fmla="*/ 1297686 h 1322962"/>
                <a:gd name="connsiteX11" fmla="*/ 17217 w 6519919"/>
                <a:gd name="connsiteY11" fmla="*/ 708205 h 1322962"/>
                <a:gd name="connsiteX12" fmla="*/ 17217 w 6519919"/>
                <a:gd name="connsiteY12" fmla="*/ 614757 h 132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919" h="1322962">
                  <a:moveTo>
                    <a:pt x="17217" y="614757"/>
                  </a:moveTo>
                  <a:lnTo>
                    <a:pt x="520009" y="25276"/>
                  </a:lnTo>
                  <a:cubicBezTo>
                    <a:pt x="533699" y="9226"/>
                    <a:pt x="553694" y="0"/>
                    <a:pt x="574789" y="0"/>
                  </a:cubicBezTo>
                  <a:lnTo>
                    <a:pt x="5945130" y="0"/>
                  </a:lnTo>
                  <a:cubicBezTo>
                    <a:pt x="5966225" y="0"/>
                    <a:pt x="5986220" y="9226"/>
                    <a:pt x="5999910" y="25276"/>
                  </a:cubicBezTo>
                  <a:lnTo>
                    <a:pt x="6502703" y="614757"/>
                  </a:lnTo>
                  <a:cubicBezTo>
                    <a:pt x="6525658" y="641670"/>
                    <a:pt x="6525658" y="681292"/>
                    <a:pt x="6502703" y="708205"/>
                  </a:cubicBezTo>
                  <a:lnTo>
                    <a:pt x="5999910" y="1297686"/>
                  </a:lnTo>
                  <a:cubicBezTo>
                    <a:pt x="5986220" y="1313736"/>
                    <a:pt x="5966225" y="1322962"/>
                    <a:pt x="5945130" y="1322962"/>
                  </a:cubicBezTo>
                  <a:lnTo>
                    <a:pt x="574789" y="1322962"/>
                  </a:lnTo>
                  <a:cubicBezTo>
                    <a:pt x="553694" y="1322962"/>
                    <a:pt x="533699" y="1313736"/>
                    <a:pt x="520009" y="1297686"/>
                  </a:cubicBezTo>
                  <a:lnTo>
                    <a:pt x="17217" y="708205"/>
                  </a:lnTo>
                  <a:cubicBezTo>
                    <a:pt x="-5738" y="681292"/>
                    <a:pt x="-5738" y="641670"/>
                    <a:pt x="17217" y="614757"/>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nvGrpSpPr>
            <p:cNvPr id="25" name="组合 24"/>
            <p:cNvGrpSpPr/>
            <p:nvPr/>
          </p:nvGrpSpPr>
          <p:grpSpPr>
            <a:xfrm>
              <a:off x="7372096" y="2160928"/>
              <a:ext cx="4306174" cy="957322"/>
              <a:chOff x="1733296" y="4432645"/>
              <a:chExt cx="4306174" cy="957322"/>
            </a:xfrm>
          </p:grpSpPr>
          <p:sp>
            <p:nvSpPr>
              <p:cNvPr id="26" name="文本框 25"/>
              <p:cNvSpPr txBox="1"/>
              <p:nvPr/>
            </p:nvSpPr>
            <p:spPr>
              <a:xfrm>
                <a:off x="1733296" y="4432645"/>
                <a:ext cx="3965575" cy="369332"/>
              </a:xfrm>
              <a:prstGeom prst="rect">
                <a:avLst/>
              </a:prstGeom>
              <a:noFill/>
            </p:spPr>
            <p:txBody>
              <a:bodyPr wrap="square">
                <a:spAutoFit/>
              </a:bodyPr>
              <a:lstStyle/>
              <a:p>
                <a:r>
                  <a:rPr lang="zh-CN" altLang="en-US"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下半年</a:t>
                </a:r>
                <a:r>
                  <a:rPr lang="en-US" altLang="zh-CN"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a:t>
                </a:r>
                <a:r>
                  <a:rPr lang="zh-CN" altLang="en-US"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结构优化驱动增长</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7" name="文本框 26"/>
              <p:cNvSpPr txBox="1"/>
              <p:nvPr/>
            </p:nvSpPr>
            <p:spPr>
              <a:xfrm>
                <a:off x="1733296" y="4866747"/>
                <a:ext cx="4306174" cy="523220"/>
              </a:xfrm>
              <a:prstGeom prst="rect">
                <a:avLst/>
              </a:prstGeom>
              <a:noFill/>
            </p:spPr>
            <p:txBody>
              <a:bodyPr wrap="square">
                <a:spAutoFit/>
              </a:bodyPr>
              <a:lstStyle/>
              <a:p>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砍掉</a:t>
                </a:r>
                <a:r>
                  <a:rPr lang="en-US" altLang="zh-CN" sz="1400" b="0" i="0" dirty="0">
                    <a:solidFill>
                      <a:schemeClr val="bg1"/>
                    </a:solidFill>
                    <a:effectLst/>
                    <a:latin typeface="思源黑体 CN Normal" panose="020B0400000000000000" pitchFamily="34" charset="-122"/>
                    <a:cs typeface="思源黑体 CN Normal" panose="020B0400000000000000" pitchFamily="34" charset="-122"/>
                  </a:rPr>
                  <a:t>3</a:t>
                </a:r>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条低效产品线，聚焦健康监测赛道，高毛利产品占比提升至</a:t>
                </a:r>
                <a:r>
                  <a:rPr lang="en-US" altLang="zh-CN" sz="1400" b="0" i="0" dirty="0">
                    <a:solidFill>
                      <a:schemeClr val="bg1"/>
                    </a:solidFill>
                    <a:effectLst/>
                    <a:latin typeface="思源黑体 CN Normal" panose="020B0400000000000000" pitchFamily="34" charset="-122"/>
                    <a:cs typeface="思源黑体 CN Normal" panose="020B0400000000000000" pitchFamily="34" charset="-122"/>
                  </a:rPr>
                  <a:t>58%</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grpSp>
      <p:sp>
        <p:nvSpPr>
          <p:cNvPr id="31" name="文本框 30"/>
          <p:cNvSpPr txBox="1"/>
          <p:nvPr/>
        </p:nvSpPr>
        <p:spPr>
          <a:xfrm>
            <a:off x="1339756" y="1569464"/>
            <a:ext cx="1944000" cy="360000"/>
          </a:xfrm>
          <a:prstGeom prst="roundRect">
            <a:avLst>
              <a:gd name="adj" fmla="val 50000"/>
            </a:avLst>
          </a:prstGeom>
          <a:solidFill>
            <a:schemeClr val="accent1"/>
          </a:solidFill>
        </p:spPr>
        <p:txBody>
          <a:bodyPr wrap="square" anchor="ctr">
            <a:noAutofit/>
          </a:bodyPr>
          <a:lstStyle/>
          <a:p>
            <a:pPr algn="ctr"/>
            <a:r>
              <a:rPr lang="zh-CN" altLang="en-US" sz="1600" i="0" dirty="0">
                <a:solidFill>
                  <a:schemeClr val="bg1"/>
                </a:solidFill>
                <a:effectLst/>
                <a:latin typeface="+mj-ea"/>
                <a:ea typeface="+mj-ea"/>
                <a:cs typeface="思源黑体 CN Normal" panose="020B0400000000000000" pitchFamily="34" charset="-122"/>
              </a:rPr>
              <a:t>产品推广板块</a:t>
            </a:r>
            <a:endParaRPr lang="zh-CN" altLang="en-US" sz="1600" i="0" dirty="0">
              <a:solidFill>
                <a:schemeClr val="bg1"/>
              </a:solidFill>
              <a:effectLst/>
              <a:latin typeface="+mj-ea"/>
              <a:ea typeface="+mj-ea"/>
              <a:cs typeface="思源黑体 CN Normal" panose="020B0400000000000000" pitchFamily="34" charset="-122"/>
            </a:endParaRPr>
          </a:p>
        </p:txBody>
      </p:sp>
      <p:sp>
        <p:nvSpPr>
          <p:cNvPr id="35" name="文本框 34"/>
          <p:cNvSpPr txBox="1"/>
          <p:nvPr/>
        </p:nvSpPr>
        <p:spPr>
          <a:xfrm>
            <a:off x="900428" y="3164718"/>
            <a:ext cx="4435334" cy="432491"/>
          </a:xfrm>
          <a:prstGeom prst="rect">
            <a:avLst/>
          </a:prstGeom>
          <a:noFill/>
        </p:spPr>
        <p:txBody>
          <a:bodyPr wrap="square" lIns="0" tIns="0" rIns="0" bIns="0">
            <a:spAutoFit/>
          </a:bodyPr>
          <a:lstStyle/>
          <a:p>
            <a:pPr algn="l">
              <a:lnSpc>
                <a:spcPct val="120000"/>
              </a:lnSpc>
            </a:pPr>
            <a:r>
              <a:rPr lang="en-US" altLang="zh-CN" sz="1200" b="0" i="0" dirty="0">
                <a:solidFill>
                  <a:srgbClr val="0D0D0D"/>
                </a:solidFill>
                <a:effectLst/>
                <a:latin typeface="+mn-ea"/>
                <a:cs typeface="思源黑体 CN Normal" panose="020B0400000000000000" pitchFamily="34" charset="-122"/>
              </a:rPr>
              <a:t>KOL</a:t>
            </a:r>
            <a:r>
              <a:rPr lang="zh-CN" altLang="en-US" sz="1200" b="0" i="0" dirty="0">
                <a:solidFill>
                  <a:srgbClr val="0D0D0D"/>
                </a:solidFill>
                <a:effectLst/>
                <a:latin typeface="+mn-ea"/>
                <a:cs typeface="思源黑体 CN Normal" panose="020B0400000000000000" pitchFamily="34" charset="-122"/>
              </a:rPr>
              <a:t>合作效果显著，头部博主带货占比</a:t>
            </a:r>
            <a:r>
              <a:rPr lang="en-US" altLang="zh-CN" sz="1200" b="0" i="0" dirty="0">
                <a:solidFill>
                  <a:srgbClr val="0D0D0D"/>
                </a:solidFill>
                <a:effectLst/>
                <a:latin typeface="+mn-ea"/>
                <a:cs typeface="思源黑体 CN Normal" panose="020B0400000000000000" pitchFamily="34" charset="-122"/>
              </a:rPr>
              <a:t>32%</a:t>
            </a:r>
            <a:r>
              <a:rPr lang="zh-CN" altLang="en-US" sz="1200" b="0" i="0" dirty="0">
                <a:solidFill>
                  <a:srgbClr val="0D0D0D"/>
                </a:solidFill>
                <a:effectLst/>
                <a:latin typeface="+mn-ea"/>
                <a:cs typeface="思源黑体 CN Normal" panose="020B0400000000000000" pitchFamily="34" charset="-122"/>
              </a:rPr>
              <a:t>，但下沉市场认知度不足，三四线城市占比仅</a:t>
            </a:r>
            <a:r>
              <a:rPr lang="en-US" altLang="zh-CN" sz="1200" b="0" i="0" dirty="0">
                <a:solidFill>
                  <a:srgbClr val="0D0D0D"/>
                </a:solidFill>
                <a:effectLst/>
                <a:latin typeface="+mn-ea"/>
                <a:cs typeface="思源黑体 CN Normal" panose="020B0400000000000000" pitchFamily="34" charset="-122"/>
              </a:rPr>
              <a:t>15%</a:t>
            </a:r>
            <a:endParaRPr lang="zh-CN" altLang="en-US" sz="1200" b="0" i="0" dirty="0">
              <a:solidFill>
                <a:srgbClr val="0D0D0D"/>
              </a:solidFill>
              <a:effectLst/>
              <a:latin typeface="+mn-ea"/>
              <a:cs typeface="思源黑体 CN Normal" panose="020B0400000000000000" pitchFamily="34" charset="-122"/>
            </a:endParaRPr>
          </a:p>
        </p:txBody>
      </p:sp>
      <p:grpSp>
        <p:nvGrpSpPr>
          <p:cNvPr id="43" name="组合 42"/>
          <p:cNvGrpSpPr/>
          <p:nvPr/>
        </p:nvGrpSpPr>
        <p:grpSpPr>
          <a:xfrm>
            <a:off x="900428" y="3737468"/>
            <a:ext cx="4557395" cy="288290"/>
            <a:chOff x="900428" y="3864468"/>
            <a:chExt cx="4557395" cy="288290"/>
          </a:xfrm>
        </p:grpSpPr>
        <p:sp>
          <p:nvSpPr>
            <p:cNvPr id="42" name="文本框 41"/>
            <p:cNvSpPr txBox="1"/>
            <p:nvPr/>
          </p:nvSpPr>
          <p:spPr>
            <a:xfrm>
              <a:off x="1407158" y="3864468"/>
              <a:ext cx="4050665" cy="288290"/>
            </a:xfrm>
            <a:prstGeom prst="roundRect">
              <a:avLst>
                <a:gd name="adj" fmla="val 50000"/>
              </a:avLst>
            </a:prstGeom>
            <a:noFill/>
            <a:ln w="3175">
              <a:solidFill>
                <a:schemeClr val="accent2"/>
              </a:solidFill>
            </a:ln>
          </p:spPr>
          <p:txBody>
            <a:bodyPr wrap="square" lIns="324000" anchor="ctr">
              <a:noAutofit/>
            </a:bodyPr>
            <a:lstStyle/>
            <a:p>
              <a:pPr algn="l"/>
              <a:r>
                <a:rPr lang="zh-CN" altLang="en-US" sz="1200" b="0" i="0" dirty="0">
                  <a:solidFill>
                    <a:srgbClr val="0D0D0D"/>
                  </a:solidFill>
                  <a:effectLst/>
                  <a:latin typeface="+mn-ea"/>
                  <a:cs typeface="思源黑体 CN Normal" panose="020B0400000000000000" pitchFamily="34" charset="-122"/>
                </a:rPr>
                <a:t>启动</a:t>
              </a: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百城体验官</a:t>
              </a: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计划，优化短视频内容投放策略</a:t>
              </a:r>
              <a:endParaRPr lang="zh-CN" altLang="en-US" sz="1200" b="0" i="0" dirty="0">
                <a:solidFill>
                  <a:srgbClr val="0D0D0D"/>
                </a:solidFill>
                <a:effectLst/>
                <a:latin typeface="+mn-ea"/>
                <a:cs typeface="思源黑体 CN Normal" panose="020B0400000000000000" pitchFamily="34" charset="-122"/>
              </a:endParaRPr>
            </a:p>
          </p:txBody>
        </p:sp>
        <p:sp>
          <p:nvSpPr>
            <p:cNvPr id="41" name="文本框 40"/>
            <p:cNvSpPr txBox="1"/>
            <p:nvPr/>
          </p:nvSpPr>
          <p:spPr>
            <a:xfrm>
              <a:off x="900428" y="3864468"/>
              <a:ext cx="794322" cy="288000"/>
            </a:xfrm>
            <a:prstGeom prst="roundRect">
              <a:avLst>
                <a:gd name="adj" fmla="val 50000"/>
              </a:avLst>
            </a:prstGeom>
            <a:solidFill>
              <a:schemeClr val="accent2"/>
            </a:solidFill>
            <a:ln w="3175">
              <a:solidFill>
                <a:schemeClr val="accent2"/>
              </a:solidFill>
            </a:ln>
          </p:spPr>
          <p:txBody>
            <a:bodyPr wrap="square" anchor="ctr">
              <a:noAutofit/>
            </a:bodyPr>
            <a:lstStyle/>
            <a:p>
              <a:pPr algn="ctr"/>
              <a:r>
                <a:rPr lang="zh-CN" altLang="en-US" sz="1400" i="0" dirty="0">
                  <a:solidFill>
                    <a:schemeClr val="bg1"/>
                  </a:solidFill>
                  <a:effectLst/>
                  <a:latin typeface="+mj-ea"/>
                  <a:ea typeface="+mj-ea"/>
                  <a:cs typeface="思源黑体 CN Normal" panose="020B0400000000000000" pitchFamily="34" charset="-122"/>
                </a:rPr>
                <a:t>对策</a:t>
              </a:r>
              <a:endParaRPr lang="zh-CN" altLang="en-US" sz="1400" i="0" dirty="0">
                <a:solidFill>
                  <a:schemeClr val="bg1"/>
                </a:solidFill>
                <a:effectLst/>
                <a:latin typeface="+mj-ea"/>
                <a:ea typeface="+mj-ea"/>
                <a:cs typeface="思源黑体 CN Normal" panose="020B0400000000000000" pitchFamily="34" charset="-122"/>
              </a:endParaRPr>
            </a:p>
          </p:txBody>
        </p:sp>
      </p:grpSp>
      <p:grpSp>
        <p:nvGrpSpPr>
          <p:cNvPr id="50" name="组合 49"/>
          <p:cNvGrpSpPr/>
          <p:nvPr/>
        </p:nvGrpSpPr>
        <p:grpSpPr>
          <a:xfrm>
            <a:off x="897473" y="2259369"/>
            <a:ext cx="1593638" cy="746423"/>
            <a:chOff x="897473" y="2259369"/>
            <a:chExt cx="1593638" cy="746423"/>
          </a:xfrm>
        </p:grpSpPr>
        <p:sp>
          <p:nvSpPr>
            <p:cNvPr id="32" name="文本框 31"/>
            <p:cNvSpPr txBox="1"/>
            <p:nvPr/>
          </p:nvSpPr>
          <p:spPr>
            <a:xfrm>
              <a:off x="907111" y="2259369"/>
              <a:ext cx="158400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2.8</a:t>
              </a:r>
              <a:r>
                <a:rPr lang="zh-CN" altLang="en-US" sz="1600" b="1" dirty="0">
                  <a:solidFill>
                    <a:schemeClr val="bg2"/>
                  </a:solidFill>
                  <a:latin typeface="+mn-ea"/>
                  <a:cs typeface="思源黑体 CN Normal" panose="020B0400000000000000" pitchFamily="34" charset="-122"/>
                </a:rPr>
                <a:t>万台</a:t>
              </a:r>
              <a:endParaRPr lang="en-US" altLang="zh-CN" sz="1600" b="1" dirty="0">
                <a:solidFill>
                  <a:schemeClr val="bg2"/>
                </a:solidFill>
                <a:latin typeface="+mn-ea"/>
                <a:cs typeface="思源黑体 CN Normal" panose="020B0400000000000000" pitchFamily="34" charset="-122"/>
              </a:endParaRPr>
            </a:p>
            <a:p>
              <a:pPr>
                <a:lnSpc>
                  <a:spcPct val="120000"/>
                </a:lnSpc>
              </a:pPr>
              <a:r>
                <a:rPr lang="zh-CN" altLang="en-US" sz="1200" b="0" i="0" dirty="0">
                  <a:solidFill>
                    <a:srgbClr val="0D0D0D"/>
                  </a:solidFill>
                  <a:effectLst/>
                  <a:latin typeface="+mn-ea"/>
                  <a:cs typeface="思源黑体 CN Normal" panose="020B0400000000000000" pitchFamily="34" charset="-122"/>
                </a:rPr>
                <a:t>旗舰款智能手表销量</a:t>
              </a:r>
              <a:endParaRPr lang="zh-CN" altLang="en-US" sz="1200" b="0" i="0" dirty="0">
                <a:solidFill>
                  <a:srgbClr val="0D0D0D"/>
                </a:solidFill>
                <a:effectLst/>
                <a:latin typeface="+mn-ea"/>
                <a:cs typeface="思源黑体 CN Normal" panose="020B0400000000000000" pitchFamily="34" charset="-122"/>
              </a:endParaRPr>
            </a:p>
          </p:txBody>
        </p:sp>
        <p:sp>
          <p:nvSpPr>
            <p:cNvPr id="46" name="任意多边形: 形状 45"/>
            <p:cNvSpPr/>
            <p:nvPr/>
          </p:nvSpPr>
          <p:spPr>
            <a:xfrm>
              <a:off x="897473"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51" name="组合 50"/>
          <p:cNvGrpSpPr/>
          <p:nvPr/>
        </p:nvGrpSpPr>
        <p:grpSpPr>
          <a:xfrm>
            <a:off x="2706917" y="2259369"/>
            <a:ext cx="1305560" cy="746423"/>
            <a:chOff x="2792684" y="2259369"/>
            <a:chExt cx="1305560" cy="746423"/>
          </a:xfrm>
        </p:grpSpPr>
        <p:sp>
          <p:nvSpPr>
            <p:cNvPr id="33" name="文本框 32"/>
            <p:cNvSpPr txBox="1"/>
            <p:nvPr/>
          </p:nvSpPr>
          <p:spPr>
            <a:xfrm>
              <a:off x="2792684" y="2259369"/>
              <a:ext cx="130556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+18</a:t>
              </a:r>
              <a:r>
                <a:rPr lang="en-US" altLang="zh-CN" sz="1600" b="1" dirty="0">
                  <a:solidFill>
                    <a:schemeClr val="bg2"/>
                  </a:solidFill>
                  <a:latin typeface="+mn-ea"/>
                  <a:cs typeface="思源黑体 CN Normal" panose="020B0400000000000000" pitchFamily="34" charset="-122"/>
                </a:rPr>
                <a:t>%</a:t>
              </a:r>
              <a:endParaRPr lang="en-US" altLang="zh-CN" sz="1400" b="1" dirty="0">
                <a:solidFill>
                  <a:schemeClr val="bg2"/>
                </a:solidFill>
                <a:latin typeface="+mn-ea"/>
                <a:cs typeface="思源黑体 CN Normal" panose="020B0400000000000000" pitchFamily="34" charset="-122"/>
              </a:endParaRPr>
            </a:p>
            <a:p>
              <a:pPr>
                <a:lnSpc>
                  <a:spcPct val="120000"/>
                </a:lnSpc>
              </a:pPr>
              <a:r>
                <a:rPr lang="en-US" altLang="zh-CN" sz="1200" b="0" i="0" dirty="0">
                  <a:solidFill>
                    <a:srgbClr val="0D0D0D"/>
                  </a:solidFill>
                  <a:effectLst/>
                  <a:latin typeface="+mn-ea"/>
                  <a:cs typeface="思源黑体 CN Normal" panose="020B0400000000000000" pitchFamily="34" charset="-122"/>
                </a:rPr>
                <a:t>X5</a:t>
              </a:r>
              <a:r>
                <a:rPr lang="zh-CN" altLang="en-US" sz="1200" b="0" i="0" dirty="0">
                  <a:solidFill>
                    <a:srgbClr val="0D0D0D"/>
                  </a:solidFill>
                  <a:effectLst/>
                  <a:latin typeface="+mn-ea"/>
                  <a:cs typeface="思源黑体 CN Normal" panose="020B0400000000000000" pitchFamily="34" charset="-122"/>
                </a:rPr>
                <a:t>产品销量同比</a:t>
              </a:r>
              <a:endParaRPr lang="zh-CN" altLang="en-US" sz="1200" b="0" i="0" dirty="0">
                <a:solidFill>
                  <a:srgbClr val="0D0D0D"/>
                </a:solidFill>
                <a:effectLst/>
                <a:latin typeface="+mn-ea"/>
                <a:cs typeface="思源黑体 CN Normal" panose="020B0400000000000000" pitchFamily="34" charset="-122"/>
              </a:endParaRPr>
            </a:p>
          </p:txBody>
        </p:sp>
        <p:sp>
          <p:nvSpPr>
            <p:cNvPr id="45" name="任意多边形: 形状 44"/>
            <p:cNvSpPr/>
            <p:nvPr/>
          </p:nvSpPr>
          <p:spPr>
            <a:xfrm>
              <a:off x="3576327" y="2290494"/>
              <a:ext cx="320332" cy="432491"/>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gradFill>
              <a:gsLst>
                <a:gs pos="0">
                  <a:schemeClr val="accent2"/>
                </a:gs>
                <a:gs pos="80000">
                  <a:schemeClr val="accent2">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47" name="任意多边形: 形状 46"/>
            <p:cNvSpPr/>
            <p:nvPr/>
          </p:nvSpPr>
          <p:spPr>
            <a:xfrm>
              <a:off x="2792686"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52" name="组合 51"/>
          <p:cNvGrpSpPr/>
          <p:nvPr/>
        </p:nvGrpSpPr>
        <p:grpSpPr>
          <a:xfrm>
            <a:off x="4228284" y="2259369"/>
            <a:ext cx="1116000" cy="746423"/>
            <a:chOff x="4228284" y="2259369"/>
            <a:chExt cx="1116000" cy="746423"/>
          </a:xfrm>
        </p:grpSpPr>
        <p:sp>
          <p:nvSpPr>
            <p:cNvPr id="34" name="文本框 33"/>
            <p:cNvSpPr txBox="1"/>
            <p:nvPr/>
          </p:nvSpPr>
          <p:spPr>
            <a:xfrm>
              <a:off x="4228284" y="2259369"/>
              <a:ext cx="111600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65</a:t>
              </a:r>
              <a:r>
                <a:rPr lang="en-US" altLang="zh-CN" sz="1600" b="1" dirty="0">
                  <a:solidFill>
                    <a:schemeClr val="bg2"/>
                  </a:solidFill>
                  <a:latin typeface="+mn-ea"/>
                  <a:cs typeface="思源黑体 CN Normal" panose="020B0400000000000000" pitchFamily="34" charset="-122"/>
                </a:rPr>
                <a:t>%</a:t>
              </a:r>
              <a:endParaRPr lang="en-US" altLang="zh-CN" sz="1600" b="1" dirty="0">
                <a:solidFill>
                  <a:schemeClr val="bg2"/>
                </a:solidFill>
                <a:latin typeface="+mn-ea"/>
                <a:cs typeface="思源黑体 CN Normal" panose="020B0400000000000000" pitchFamily="34" charset="-122"/>
              </a:endParaRPr>
            </a:p>
            <a:p>
              <a:pPr>
                <a:lnSpc>
                  <a:spcPct val="120000"/>
                </a:lnSpc>
              </a:pPr>
              <a:r>
                <a:rPr lang="zh-CN" altLang="en-US" sz="1200" b="0" i="0" dirty="0">
                  <a:solidFill>
                    <a:srgbClr val="0D0D0D"/>
                  </a:solidFill>
                  <a:effectLst/>
                  <a:latin typeface="+mn-ea"/>
                  <a:cs typeface="思源黑体 CN Normal" panose="020B0400000000000000" pitchFamily="34" charset="-122"/>
                </a:rPr>
                <a:t>首月完成目标</a:t>
              </a:r>
              <a:endParaRPr lang="zh-CN" altLang="en-US" sz="1200" b="0" i="0" dirty="0">
                <a:solidFill>
                  <a:srgbClr val="0D0D0D"/>
                </a:solidFill>
                <a:effectLst/>
                <a:latin typeface="+mn-ea"/>
                <a:cs typeface="思源黑体 CN Normal" panose="020B0400000000000000" pitchFamily="34" charset="-122"/>
              </a:endParaRPr>
            </a:p>
          </p:txBody>
        </p:sp>
        <p:sp>
          <p:nvSpPr>
            <p:cNvPr id="48" name="任意多边形: 形状 47"/>
            <p:cNvSpPr/>
            <p:nvPr/>
          </p:nvSpPr>
          <p:spPr>
            <a:xfrm>
              <a:off x="4234115"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72" name="文本框 71"/>
          <p:cNvSpPr txBox="1"/>
          <p:nvPr/>
        </p:nvSpPr>
        <p:spPr>
          <a:xfrm>
            <a:off x="7453110" y="3261070"/>
            <a:ext cx="1944000" cy="360000"/>
          </a:xfrm>
          <a:prstGeom prst="roundRect">
            <a:avLst>
              <a:gd name="adj" fmla="val 50000"/>
            </a:avLst>
          </a:prstGeom>
          <a:solidFill>
            <a:schemeClr val="accent1"/>
          </a:solidFill>
        </p:spPr>
        <p:txBody>
          <a:bodyPr wrap="square" anchor="ctr">
            <a:noAutofit/>
          </a:bodyPr>
          <a:lstStyle/>
          <a:p>
            <a:pPr algn="ctr"/>
            <a:r>
              <a:rPr lang="zh-CN" altLang="en-US" sz="1600" i="0" dirty="0">
                <a:solidFill>
                  <a:schemeClr val="bg1"/>
                </a:solidFill>
                <a:effectLst/>
                <a:latin typeface="+mj-ea"/>
                <a:ea typeface="+mj-ea"/>
                <a:cs typeface="思源黑体 CN Normal" panose="020B0400000000000000" pitchFamily="34" charset="-122"/>
              </a:rPr>
              <a:t>渠道管理板块</a:t>
            </a:r>
            <a:endParaRPr lang="zh-CN" altLang="en-US" sz="1600" i="0" dirty="0">
              <a:solidFill>
                <a:schemeClr val="bg1"/>
              </a:solidFill>
              <a:effectLst/>
              <a:latin typeface="+mj-ea"/>
              <a:ea typeface="+mj-ea"/>
              <a:cs typeface="思源黑体 CN Normal" panose="020B0400000000000000" pitchFamily="34" charset="-122"/>
            </a:endParaRPr>
          </a:p>
        </p:txBody>
      </p:sp>
      <p:sp>
        <p:nvSpPr>
          <p:cNvPr id="73" name="文本框 72"/>
          <p:cNvSpPr txBox="1"/>
          <p:nvPr/>
        </p:nvSpPr>
        <p:spPr>
          <a:xfrm>
            <a:off x="7013782" y="4856324"/>
            <a:ext cx="4435334" cy="432491"/>
          </a:xfrm>
          <a:prstGeom prst="rect">
            <a:avLst/>
          </a:prstGeom>
          <a:noFill/>
        </p:spPr>
        <p:txBody>
          <a:bodyPr wrap="square" lIns="0" tIns="0" rIns="0" bIns="0">
            <a:spAutoFit/>
          </a:bodyPr>
          <a:lstStyle/>
          <a:p>
            <a:pPr algn="l">
              <a:lnSpc>
                <a:spcPct val="120000"/>
              </a:lnSpc>
            </a:pPr>
            <a:r>
              <a:rPr lang="zh-CN" altLang="en-US" sz="1200" b="0" i="0" dirty="0">
                <a:solidFill>
                  <a:srgbClr val="0D0D0D"/>
                </a:solidFill>
                <a:effectLst/>
                <a:latin typeface="+mn-ea"/>
                <a:cs typeface="思源黑体 CN Normal" panose="020B0400000000000000" pitchFamily="34" charset="-122"/>
              </a:rPr>
              <a:t>门店</a:t>
            </a:r>
            <a:r>
              <a:rPr lang="en-US" altLang="zh-CN" sz="1200" b="0" i="0" dirty="0">
                <a:solidFill>
                  <a:srgbClr val="0D0D0D"/>
                </a:solidFill>
                <a:effectLst/>
                <a:latin typeface="+mn-ea"/>
                <a:cs typeface="思源黑体 CN Normal" panose="020B0400000000000000" pitchFamily="34" charset="-122"/>
              </a:rPr>
              <a:t>3</a:t>
            </a:r>
            <a:r>
              <a:rPr lang="zh-CN" altLang="en-US" sz="1200" b="0" i="0" dirty="0">
                <a:solidFill>
                  <a:srgbClr val="0D0D0D"/>
                </a:solidFill>
                <a:effectLst/>
                <a:latin typeface="+mn-ea"/>
                <a:cs typeface="思源黑体 CN Normal" panose="020B0400000000000000" pitchFamily="34" charset="-122"/>
              </a:rPr>
              <a:t>公里配送占比</a:t>
            </a:r>
            <a:r>
              <a:rPr lang="en-US" altLang="zh-CN" sz="1200" b="0" i="0" dirty="0">
                <a:solidFill>
                  <a:srgbClr val="0D0D0D"/>
                </a:solidFill>
                <a:effectLst/>
                <a:latin typeface="+mn-ea"/>
                <a:cs typeface="思源黑体 CN Normal" panose="020B0400000000000000" pitchFamily="34" charset="-122"/>
              </a:rPr>
              <a:t>60%</a:t>
            </a:r>
            <a:r>
              <a:rPr lang="zh-CN" altLang="en-US" sz="1200" b="0" i="0" dirty="0">
                <a:solidFill>
                  <a:srgbClr val="0D0D0D"/>
                </a:solidFill>
                <a:effectLst/>
                <a:latin typeface="+mn-ea"/>
                <a:cs typeface="思源黑体 CN Normal" panose="020B0400000000000000" pitchFamily="34" charset="-122"/>
              </a:rPr>
              <a:t>，健康数据白皮书下载量超</a:t>
            </a:r>
            <a:r>
              <a:rPr lang="en-US" altLang="zh-CN" sz="1200" b="0" i="0" dirty="0">
                <a:solidFill>
                  <a:srgbClr val="0D0D0D"/>
                </a:solidFill>
                <a:effectLst/>
                <a:latin typeface="+mn-ea"/>
                <a:cs typeface="思源黑体 CN Normal" panose="020B0400000000000000" pitchFamily="34" charset="-122"/>
              </a:rPr>
              <a:t>10</a:t>
            </a:r>
            <a:r>
              <a:rPr lang="zh-CN" altLang="en-US" sz="1200" b="0" i="0" dirty="0">
                <a:solidFill>
                  <a:srgbClr val="0D0D0D"/>
                </a:solidFill>
                <a:effectLst/>
                <a:latin typeface="+mn-ea"/>
                <a:cs typeface="思源黑体 CN Normal" panose="020B0400000000000000" pitchFamily="34" charset="-122"/>
              </a:rPr>
              <a:t>万次，但二次传播率不足</a:t>
            </a:r>
            <a:r>
              <a:rPr lang="en-US" altLang="zh-CN" sz="1200" b="0" i="0" dirty="0">
                <a:solidFill>
                  <a:srgbClr val="0D0D0D"/>
                </a:solidFill>
                <a:effectLst/>
                <a:latin typeface="+mn-ea"/>
                <a:cs typeface="思源黑体 CN Normal" panose="020B0400000000000000" pitchFamily="34" charset="-122"/>
              </a:rPr>
              <a:t>5%</a:t>
            </a:r>
            <a:endParaRPr lang="zh-CN" altLang="en-US" sz="1200" b="0" i="0" dirty="0">
              <a:solidFill>
                <a:srgbClr val="0D0D0D"/>
              </a:solidFill>
              <a:effectLst/>
              <a:latin typeface="+mn-ea"/>
              <a:cs typeface="思源黑体 CN Normal" panose="020B0400000000000000" pitchFamily="34" charset="-122"/>
            </a:endParaRPr>
          </a:p>
        </p:txBody>
      </p:sp>
      <p:grpSp>
        <p:nvGrpSpPr>
          <p:cNvPr id="74" name="组合 73"/>
          <p:cNvGrpSpPr/>
          <p:nvPr/>
        </p:nvGrpSpPr>
        <p:grpSpPr>
          <a:xfrm>
            <a:off x="7013782" y="5429074"/>
            <a:ext cx="4478277" cy="288000"/>
            <a:chOff x="900428" y="3864468"/>
            <a:chExt cx="4478277" cy="288000"/>
          </a:xfrm>
        </p:grpSpPr>
        <p:sp>
          <p:nvSpPr>
            <p:cNvPr id="85" name="文本框 84"/>
            <p:cNvSpPr txBox="1"/>
            <p:nvPr/>
          </p:nvSpPr>
          <p:spPr>
            <a:xfrm>
              <a:off x="1407160" y="3864468"/>
              <a:ext cx="3971545" cy="288000"/>
            </a:xfrm>
            <a:prstGeom prst="roundRect">
              <a:avLst>
                <a:gd name="adj" fmla="val 50000"/>
              </a:avLst>
            </a:prstGeom>
            <a:noFill/>
            <a:ln w="3175">
              <a:solidFill>
                <a:schemeClr val="accent2"/>
              </a:solidFill>
            </a:ln>
          </p:spPr>
          <p:txBody>
            <a:bodyPr wrap="square" lIns="324000" anchor="ctr">
              <a:noAutofit/>
            </a:bodyPr>
            <a:lstStyle/>
            <a:p>
              <a:pPr algn="l"/>
              <a:r>
                <a:rPr lang="zh-CN" altLang="en-US" sz="1200" b="0" i="0" dirty="0">
                  <a:solidFill>
                    <a:srgbClr val="0D0D0D"/>
                  </a:solidFill>
                  <a:effectLst/>
                  <a:latin typeface="+mn-ea"/>
                  <a:cs typeface="思源黑体 CN Normal" panose="020B0400000000000000" pitchFamily="34" charset="-122"/>
                </a:rPr>
                <a:t>联合</a:t>
              </a:r>
              <a:r>
                <a:rPr lang="en-US" altLang="zh-CN" sz="1200" b="0" i="0" dirty="0">
                  <a:solidFill>
                    <a:srgbClr val="0D0D0D"/>
                  </a:solidFill>
                  <a:effectLst/>
                  <a:latin typeface="+mn-ea"/>
                  <a:cs typeface="思源黑体 CN Normal" panose="020B0400000000000000" pitchFamily="34" charset="-122"/>
                </a:rPr>
                <a:t>B</a:t>
              </a:r>
              <a:r>
                <a:rPr lang="zh-CN" altLang="en-US" sz="1200" b="0" i="0" dirty="0">
                  <a:solidFill>
                    <a:srgbClr val="0D0D0D"/>
                  </a:solidFill>
                  <a:effectLst/>
                  <a:latin typeface="+mn-ea"/>
                  <a:cs typeface="思源黑体 CN Normal" panose="020B0400000000000000" pitchFamily="34" charset="-122"/>
                </a:rPr>
                <a:t>站发起</a:t>
              </a:r>
              <a:r>
                <a:rPr lang="en-US" altLang="zh-CN" sz="1200" b="0" i="0" dirty="0">
                  <a:solidFill>
                    <a:srgbClr val="0D0D0D"/>
                  </a:solidFill>
                  <a:effectLst/>
                  <a:latin typeface="+mn-ea"/>
                  <a:cs typeface="思源黑体 CN Normal" panose="020B0400000000000000" pitchFamily="34" charset="-122"/>
                </a:rPr>
                <a:t>UGC</a:t>
              </a:r>
              <a:r>
                <a:rPr lang="zh-CN" altLang="en-US" sz="1200" b="0" i="0" dirty="0">
                  <a:solidFill>
                    <a:srgbClr val="0D0D0D"/>
                  </a:solidFill>
                  <a:effectLst/>
                  <a:latin typeface="+mn-ea"/>
                  <a:cs typeface="思源黑体 CN Normal" panose="020B0400000000000000" pitchFamily="34" charset="-122"/>
                </a:rPr>
                <a:t>大赛，开发</a:t>
              </a:r>
              <a:r>
                <a:rPr lang="en-US" altLang="zh-CN" sz="1200" b="0" i="0" dirty="0">
                  <a:solidFill>
                    <a:srgbClr val="0D0D0D"/>
                  </a:solidFill>
                  <a:effectLst/>
                  <a:latin typeface="+mn-ea"/>
                  <a:cs typeface="思源黑体 CN Normal" panose="020B0400000000000000" pitchFamily="34" charset="-122"/>
                </a:rPr>
                <a:t>Z</a:t>
              </a:r>
              <a:r>
                <a:rPr lang="zh-CN" altLang="en-US" sz="1200" b="0" i="0" dirty="0">
                  <a:solidFill>
                    <a:srgbClr val="0D0D0D"/>
                  </a:solidFill>
                  <a:effectLst/>
                  <a:latin typeface="+mn-ea"/>
                  <a:cs typeface="思源黑体 CN Normal" panose="020B0400000000000000" pitchFamily="34" charset="-122"/>
                </a:rPr>
                <a:t>世代专属功能模块</a:t>
              </a:r>
              <a:endParaRPr lang="zh-CN" altLang="en-US" sz="1200" b="0" i="0" dirty="0">
                <a:solidFill>
                  <a:srgbClr val="0D0D0D"/>
                </a:solidFill>
                <a:effectLst/>
                <a:latin typeface="+mn-ea"/>
                <a:cs typeface="思源黑体 CN Normal" panose="020B0400000000000000" pitchFamily="34" charset="-122"/>
              </a:endParaRPr>
            </a:p>
          </p:txBody>
        </p:sp>
        <p:sp>
          <p:nvSpPr>
            <p:cNvPr id="86" name="文本框 85"/>
            <p:cNvSpPr txBox="1"/>
            <p:nvPr/>
          </p:nvSpPr>
          <p:spPr>
            <a:xfrm>
              <a:off x="900428" y="3864468"/>
              <a:ext cx="794322" cy="288000"/>
            </a:xfrm>
            <a:prstGeom prst="roundRect">
              <a:avLst>
                <a:gd name="adj" fmla="val 50000"/>
              </a:avLst>
            </a:prstGeom>
            <a:solidFill>
              <a:schemeClr val="accent2"/>
            </a:solidFill>
            <a:ln w="3175">
              <a:solidFill>
                <a:schemeClr val="accent2"/>
              </a:solidFill>
            </a:ln>
          </p:spPr>
          <p:txBody>
            <a:bodyPr wrap="square" anchor="ctr">
              <a:noAutofit/>
            </a:bodyPr>
            <a:lstStyle/>
            <a:p>
              <a:pPr algn="ctr"/>
              <a:r>
                <a:rPr lang="zh-CN" altLang="en-US" sz="1400" i="0" dirty="0">
                  <a:solidFill>
                    <a:schemeClr val="bg1"/>
                  </a:solidFill>
                  <a:effectLst/>
                  <a:latin typeface="+mj-ea"/>
                  <a:ea typeface="+mj-ea"/>
                  <a:cs typeface="思源黑体 CN Normal" panose="020B0400000000000000" pitchFamily="34" charset="-122"/>
                </a:rPr>
                <a:t>对策</a:t>
              </a:r>
              <a:endParaRPr lang="zh-CN" altLang="en-US" sz="1400" i="0" dirty="0">
                <a:solidFill>
                  <a:schemeClr val="bg1"/>
                </a:solidFill>
                <a:effectLst/>
                <a:latin typeface="+mj-ea"/>
                <a:ea typeface="+mj-ea"/>
                <a:cs typeface="思源黑体 CN Normal" panose="020B0400000000000000" pitchFamily="34" charset="-122"/>
              </a:endParaRPr>
            </a:p>
          </p:txBody>
        </p:sp>
      </p:grpSp>
      <p:grpSp>
        <p:nvGrpSpPr>
          <p:cNvPr id="75" name="组合 74"/>
          <p:cNvGrpSpPr/>
          <p:nvPr/>
        </p:nvGrpSpPr>
        <p:grpSpPr>
          <a:xfrm>
            <a:off x="7010827" y="3950975"/>
            <a:ext cx="1593638" cy="746423"/>
            <a:chOff x="897473" y="2259369"/>
            <a:chExt cx="1593638" cy="746423"/>
          </a:xfrm>
        </p:grpSpPr>
        <p:sp>
          <p:nvSpPr>
            <p:cNvPr id="83" name="文本框 82"/>
            <p:cNvSpPr txBox="1"/>
            <p:nvPr/>
          </p:nvSpPr>
          <p:spPr>
            <a:xfrm>
              <a:off x="907111" y="2259369"/>
              <a:ext cx="158400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1800</a:t>
              </a:r>
              <a:r>
                <a:rPr lang="zh-CN" altLang="en-US" sz="1600" b="1" dirty="0">
                  <a:solidFill>
                    <a:schemeClr val="bg2"/>
                  </a:solidFill>
                  <a:latin typeface="+mn-ea"/>
                  <a:cs typeface="思源黑体 CN Normal" panose="020B0400000000000000" pitchFamily="34" charset="-122"/>
                </a:rPr>
                <a:t>元</a:t>
              </a:r>
              <a:r>
                <a:rPr lang="en-US" altLang="zh-CN" sz="1600" b="1" dirty="0">
                  <a:solidFill>
                    <a:schemeClr val="bg2"/>
                  </a:solidFill>
                  <a:latin typeface="+mn-ea"/>
                  <a:cs typeface="思源黑体 CN Normal" panose="020B0400000000000000" pitchFamily="34" charset="-122"/>
                </a:rPr>
                <a:t>/㎡</a:t>
              </a:r>
              <a:endParaRPr lang="en-US" altLang="zh-CN" sz="1200" b="1" dirty="0">
                <a:solidFill>
                  <a:schemeClr val="bg2"/>
                </a:solidFill>
                <a:latin typeface="+mn-ea"/>
                <a:cs typeface="思源黑体 CN Normal" panose="020B0400000000000000" pitchFamily="34" charset="-122"/>
              </a:endParaRPr>
            </a:p>
            <a:p>
              <a:pPr>
                <a:lnSpc>
                  <a:spcPct val="120000"/>
                </a:lnSpc>
              </a:pPr>
              <a:r>
                <a:rPr lang="zh-CN" altLang="en-US" sz="1200" b="0" i="0" dirty="0">
                  <a:solidFill>
                    <a:srgbClr val="0D0D0D"/>
                  </a:solidFill>
                  <a:effectLst/>
                  <a:latin typeface="+mn-ea"/>
                  <a:cs typeface="思源黑体 CN Normal" panose="020B0400000000000000" pitchFamily="34" charset="-122"/>
                </a:rPr>
                <a:t>线下体验店坪效提升</a:t>
              </a:r>
              <a:endParaRPr lang="zh-CN" altLang="en-US" sz="1200" b="0" i="0" dirty="0">
                <a:solidFill>
                  <a:srgbClr val="0D0D0D"/>
                </a:solidFill>
                <a:effectLst/>
                <a:latin typeface="+mn-ea"/>
                <a:cs typeface="思源黑体 CN Normal" panose="020B0400000000000000" pitchFamily="34" charset="-122"/>
              </a:endParaRPr>
            </a:p>
          </p:txBody>
        </p:sp>
        <p:sp>
          <p:nvSpPr>
            <p:cNvPr id="84" name="任意多边形: 形状 83"/>
            <p:cNvSpPr/>
            <p:nvPr/>
          </p:nvSpPr>
          <p:spPr>
            <a:xfrm>
              <a:off x="897473"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76" name="组合 75"/>
          <p:cNvGrpSpPr/>
          <p:nvPr/>
        </p:nvGrpSpPr>
        <p:grpSpPr>
          <a:xfrm>
            <a:off x="8820271" y="3950975"/>
            <a:ext cx="1305560" cy="746423"/>
            <a:chOff x="2792684" y="2259369"/>
            <a:chExt cx="1305560" cy="746423"/>
          </a:xfrm>
        </p:grpSpPr>
        <p:sp>
          <p:nvSpPr>
            <p:cNvPr id="80" name="文本框 79"/>
            <p:cNvSpPr txBox="1"/>
            <p:nvPr/>
          </p:nvSpPr>
          <p:spPr>
            <a:xfrm>
              <a:off x="2792684" y="2259369"/>
              <a:ext cx="130556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28</a:t>
              </a:r>
              <a:r>
                <a:rPr lang="zh-CN" altLang="en-US" sz="1200" b="1" dirty="0">
                  <a:solidFill>
                    <a:schemeClr val="bg2"/>
                  </a:solidFill>
                  <a:latin typeface="+mn-ea"/>
                  <a:cs typeface="思源黑体 CN Normal" panose="020B0400000000000000" pitchFamily="34" charset="-122"/>
                </a:rPr>
                <a:t>元</a:t>
              </a:r>
              <a:r>
                <a:rPr lang="en-US" altLang="zh-CN" sz="1200" b="1" dirty="0">
                  <a:solidFill>
                    <a:schemeClr val="bg2"/>
                  </a:solidFill>
                  <a:latin typeface="+mn-ea"/>
                  <a:cs typeface="思源黑体 CN Normal" panose="020B0400000000000000" pitchFamily="34" charset="-122"/>
                </a:rPr>
                <a:t>/</a:t>
              </a:r>
              <a:r>
                <a:rPr lang="zh-CN" altLang="en-US" sz="1200" b="1" dirty="0">
                  <a:solidFill>
                    <a:schemeClr val="bg2"/>
                  </a:solidFill>
                  <a:latin typeface="+mn-ea"/>
                  <a:cs typeface="思源黑体 CN Normal" panose="020B0400000000000000" pitchFamily="34" charset="-122"/>
                </a:rPr>
                <a:t>人</a:t>
              </a:r>
              <a:endParaRPr lang="en-US" altLang="zh-CN" sz="1200" b="1" dirty="0">
                <a:solidFill>
                  <a:schemeClr val="bg2"/>
                </a:solidFill>
                <a:latin typeface="+mn-ea"/>
                <a:cs typeface="思源黑体 CN Normal" panose="020B0400000000000000" pitchFamily="34" charset="-122"/>
              </a:endParaRPr>
            </a:p>
            <a:p>
              <a:pPr>
                <a:lnSpc>
                  <a:spcPct val="120000"/>
                </a:lnSpc>
              </a:pPr>
              <a:r>
                <a:rPr lang="zh-CN" altLang="en-US" sz="1200" b="0" i="0" dirty="0">
                  <a:solidFill>
                    <a:srgbClr val="0D0D0D"/>
                  </a:solidFill>
                  <a:effectLst/>
                  <a:latin typeface="+mn-ea"/>
                  <a:cs typeface="思源黑体 CN Normal" panose="020B0400000000000000" pitchFamily="34" charset="-122"/>
                </a:rPr>
                <a:t>直客成本上涨至</a:t>
              </a:r>
              <a:endParaRPr lang="zh-CN" altLang="en-US" sz="1200" b="0" i="0" dirty="0">
                <a:solidFill>
                  <a:srgbClr val="0D0D0D"/>
                </a:solidFill>
                <a:effectLst/>
                <a:latin typeface="+mn-ea"/>
                <a:cs typeface="思源黑体 CN Normal" panose="020B0400000000000000" pitchFamily="34" charset="-122"/>
              </a:endParaRPr>
            </a:p>
          </p:txBody>
        </p:sp>
        <p:sp>
          <p:nvSpPr>
            <p:cNvPr id="81" name="任意多边形: 形状 80"/>
            <p:cNvSpPr/>
            <p:nvPr/>
          </p:nvSpPr>
          <p:spPr>
            <a:xfrm>
              <a:off x="3595589" y="2290494"/>
              <a:ext cx="320332" cy="432491"/>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gradFill>
              <a:gsLst>
                <a:gs pos="0">
                  <a:schemeClr val="accent2"/>
                </a:gs>
                <a:gs pos="80000">
                  <a:schemeClr val="accent2">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82" name="任意多边形: 形状 81"/>
            <p:cNvSpPr/>
            <p:nvPr/>
          </p:nvSpPr>
          <p:spPr>
            <a:xfrm>
              <a:off x="2792686"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77" name="组合 76"/>
          <p:cNvGrpSpPr/>
          <p:nvPr/>
        </p:nvGrpSpPr>
        <p:grpSpPr>
          <a:xfrm>
            <a:off x="10341637" y="3950975"/>
            <a:ext cx="1155037" cy="746423"/>
            <a:chOff x="4228283" y="2259369"/>
            <a:chExt cx="1155037" cy="746423"/>
          </a:xfrm>
        </p:grpSpPr>
        <p:sp>
          <p:nvSpPr>
            <p:cNvPr id="78" name="文本框 77"/>
            <p:cNvSpPr txBox="1"/>
            <p:nvPr/>
          </p:nvSpPr>
          <p:spPr>
            <a:xfrm>
              <a:off x="4228283" y="2259369"/>
              <a:ext cx="1155037"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35</a:t>
              </a:r>
              <a:r>
                <a:rPr lang="en-US" altLang="zh-CN" sz="1200" b="1" dirty="0">
                  <a:solidFill>
                    <a:schemeClr val="bg2"/>
                  </a:solidFill>
                  <a:latin typeface="+mn-ea"/>
                  <a:cs typeface="思源黑体 CN Normal" panose="020B0400000000000000" pitchFamily="34" charset="-122"/>
                </a:rPr>
                <a:t>%</a:t>
              </a:r>
              <a:r>
                <a:rPr lang="zh-CN" altLang="en-US" sz="1200" b="1" dirty="0">
                  <a:solidFill>
                    <a:schemeClr val="bg2"/>
                  </a:solidFill>
                  <a:latin typeface="+mn-ea"/>
                  <a:cs typeface="思源黑体 CN Normal" panose="020B0400000000000000" pitchFamily="34" charset="-122"/>
                </a:rPr>
                <a:t>增量</a:t>
              </a:r>
              <a:endParaRPr lang="en-US" altLang="zh-CN" sz="1200" b="1" dirty="0">
                <a:solidFill>
                  <a:schemeClr val="bg2"/>
                </a:solidFill>
                <a:latin typeface="+mn-ea"/>
                <a:cs typeface="思源黑体 CN Normal" panose="020B0400000000000000" pitchFamily="34" charset="-122"/>
              </a:endParaRPr>
            </a:p>
            <a:p>
              <a:pPr>
                <a:lnSpc>
                  <a:spcPct val="120000"/>
                </a:lnSpc>
              </a:pPr>
              <a:r>
                <a:rPr lang="en-US" altLang="zh-CN" sz="1200" b="0" i="0" dirty="0">
                  <a:solidFill>
                    <a:srgbClr val="0D0D0D"/>
                  </a:solidFill>
                  <a:effectLst/>
                  <a:latin typeface="+mn-ea"/>
                  <a:cs typeface="思源黑体 CN Normal" panose="020B0400000000000000" pitchFamily="34" charset="-122"/>
                </a:rPr>
                <a:t>O2O</a:t>
              </a:r>
              <a:r>
                <a:rPr lang="zh-CN" altLang="en-US" sz="1200" b="0" i="0" dirty="0">
                  <a:solidFill>
                    <a:srgbClr val="0D0D0D"/>
                  </a:solidFill>
                  <a:effectLst/>
                  <a:latin typeface="+mn-ea"/>
                  <a:cs typeface="思源黑体 CN Normal" panose="020B0400000000000000" pitchFamily="34" charset="-122"/>
                </a:rPr>
                <a:t>模式贡献</a:t>
              </a:r>
              <a:endParaRPr lang="zh-CN" altLang="en-US" sz="1200" b="0" i="0" dirty="0">
                <a:solidFill>
                  <a:srgbClr val="0D0D0D"/>
                </a:solidFill>
                <a:effectLst/>
                <a:latin typeface="+mn-ea"/>
                <a:cs typeface="思源黑体 CN Normal" panose="020B0400000000000000" pitchFamily="34" charset="-122"/>
              </a:endParaRPr>
            </a:p>
          </p:txBody>
        </p:sp>
        <p:sp>
          <p:nvSpPr>
            <p:cNvPr id="79" name="任意多边形: 形状 78"/>
            <p:cNvSpPr/>
            <p:nvPr/>
          </p:nvSpPr>
          <p:spPr>
            <a:xfrm>
              <a:off x="4234115"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pic>
        <p:nvPicPr>
          <p:cNvPr id="90" name="图形 8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1393" y="4591814"/>
            <a:ext cx="684000" cy="684000"/>
          </a:xfrm>
          <a:prstGeom prst="rect">
            <a:avLst/>
          </a:prstGeom>
        </p:spPr>
      </p:pic>
      <p:pic>
        <p:nvPicPr>
          <p:cNvPr id="94" name="图形 9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90455" y="2030889"/>
            <a:ext cx="684000" cy="684000"/>
          </a:xfrm>
          <a:prstGeom prst="rect">
            <a:avLst/>
          </a:prstGeom>
        </p:spPr>
      </p:pic>
      <p:pic>
        <p:nvPicPr>
          <p:cNvPr id="96" name="图形 9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5832" y="1591865"/>
            <a:ext cx="315199" cy="315199"/>
          </a:xfrm>
          <a:prstGeom prst="rect">
            <a:avLst/>
          </a:prstGeom>
        </p:spPr>
      </p:pic>
      <p:pic>
        <p:nvPicPr>
          <p:cNvPr id="100" name="图形 99"/>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37043" y="3261070"/>
            <a:ext cx="360000" cy="360000"/>
          </a:xfrm>
          <a:prstGeom prst="rect">
            <a:avLst/>
          </a:prstGeom>
        </p:spPr>
      </p:pic>
    </p:spTree>
    <p:custDataLst>
      <p:tags r:id="rId9"/>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房型图</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产品销售总览</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61" name="组合 60"/>
          <p:cNvGrpSpPr/>
          <p:nvPr>
            <p:custDataLst>
              <p:tags r:id="rId6"/>
            </p:custDataLst>
          </p:nvPr>
        </p:nvGrpSpPr>
        <p:grpSpPr>
          <a:xfrm>
            <a:off x="335481" y="915024"/>
            <a:ext cx="11521038" cy="5679259"/>
            <a:chOff x="336000" y="940425"/>
            <a:chExt cx="11521038" cy="5679259"/>
          </a:xfrm>
        </p:grpSpPr>
        <p:sp>
          <p:nvSpPr>
            <p:cNvPr id="51" name="等腰三角形 50"/>
            <p:cNvSpPr/>
            <p:nvPr/>
          </p:nvSpPr>
          <p:spPr>
            <a:xfrm>
              <a:off x="337037" y="940425"/>
              <a:ext cx="11520000" cy="118800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2" name="梯形 51"/>
            <p:cNvSpPr/>
            <p:nvPr/>
          </p:nvSpPr>
          <p:spPr>
            <a:xfrm flipV="1">
              <a:off x="336000" y="2127316"/>
              <a:ext cx="11520000" cy="90000"/>
            </a:xfrm>
            <a:prstGeom prst="trapezoid">
              <a:avLst>
                <a:gd name="adj" fmla="val 200241"/>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3" name="矩形 52"/>
            <p:cNvSpPr/>
            <p:nvPr>
              <p:custDataLst>
                <p:tags r:id="rId7"/>
              </p:custDataLst>
            </p:nvPr>
          </p:nvSpPr>
          <p:spPr>
            <a:xfrm>
              <a:off x="517037" y="2216250"/>
              <a:ext cx="11160000" cy="4068000"/>
            </a:xfrm>
            <a:prstGeom prst="rect">
              <a:avLst/>
            </a:prstGeom>
            <a:solidFill>
              <a:schemeClr val="accent1">
                <a:lumMod val="20000"/>
                <a:lumOff val="80000"/>
                <a:alpha val="20000"/>
              </a:schemeClr>
            </a:solidFill>
            <a:ln w="6350">
              <a:gradFill>
                <a:gsLst>
                  <a:gs pos="0">
                    <a:schemeClr val="accent1">
                      <a:alpha val="0"/>
                    </a:schemeClr>
                  </a:gs>
                  <a:gs pos="50000">
                    <a:srgbClr val="023E80"/>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5" name="矩形 54"/>
            <p:cNvSpPr/>
            <p:nvPr/>
          </p:nvSpPr>
          <p:spPr>
            <a:xfrm>
              <a:off x="337038" y="6295684"/>
              <a:ext cx="11520000" cy="32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8" name="直角三角形 57"/>
            <p:cNvSpPr/>
            <p:nvPr/>
          </p:nvSpPr>
          <p:spPr>
            <a:xfrm>
              <a:off x="11676000" y="6176775"/>
              <a:ext cx="181038" cy="118287"/>
            </a:xfrm>
            <a:prstGeom prst="r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9" name="直角三角形 58"/>
            <p:cNvSpPr/>
            <p:nvPr/>
          </p:nvSpPr>
          <p:spPr>
            <a:xfrm flipH="1">
              <a:off x="337038" y="6176775"/>
              <a:ext cx="181038" cy="118287"/>
            </a:xfrm>
            <a:prstGeom prst="r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63" name="矩形 62"/>
          <p:cNvSpPr/>
          <p:nvPr>
            <p:custDataLst>
              <p:tags r:id="rId8"/>
            </p:custDataLst>
          </p:nvPr>
        </p:nvSpPr>
        <p:spPr>
          <a:xfrm>
            <a:off x="696000" y="2676789"/>
            <a:ext cx="2093058" cy="3420000"/>
          </a:xfrm>
          <a:prstGeom prst="rect">
            <a:avLst/>
          </a:prstGeom>
          <a:solidFill>
            <a:schemeClr val="bg1"/>
          </a:solidFill>
          <a:ln>
            <a:noFill/>
          </a:ln>
          <a:effectLst>
            <a:outerShdw blurRad="127000" dist="38100" dir="5400000" algn="t"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8" name="矩形 87"/>
          <p:cNvSpPr/>
          <p:nvPr>
            <p:custDataLst>
              <p:tags r:id="rId9"/>
            </p:custDataLst>
          </p:nvPr>
        </p:nvSpPr>
        <p:spPr>
          <a:xfrm>
            <a:off x="2872735" y="2676789"/>
            <a:ext cx="2093058" cy="3420000"/>
          </a:xfrm>
          <a:prstGeom prst="rect">
            <a:avLst/>
          </a:prstGeom>
          <a:solidFill>
            <a:schemeClr val="bg1"/>
          </a:solidFill>
          <a:ln>
            <a:noFill/>
          </a:ln>
          <a:effectLst>
            <a:outerShdw blurRad="127000" dist="38100" dir="5400000" algn="t" rotWithShape="0">
              <a:schemeClr val="accent2">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3" name="矩形 92"/>
          <p:cNvSpPr/>
          <p:nvPr>
            <p:custDataLst>
              <p:tags r:id="rId10"/>
            </p:custDataLst>
          </p:nvPr>
        </p:nvSpPr>
        <p:spPr>
          <a:xfrm>
            <a:off x="5049471" y="2676789"/>
            <a:ext cx="2093058" cy="3420000"/>
          </a:xfrm>
          <a:prstGeom prst="rect">
            <a:avLst/>
          </a:prstGeom>
          <a:solidFill>
            <a:schemeClr val="bg1"/>
          </a:solidFill>
          <a:ln>
            <a:noFill/>
          </a:ln>
          <a:effectLst>
            <a:outerShdw blurRad="127000" dist="38100" dir="5400000" algn="t"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7" name="矩形 96"/>
          <p:cNvSpPr/>
          <p:nvPr>
            <p:custDataLst>
              <p:tags r:id="rId11"/>
            </p:custDataLst>
          </p:nvPr>
        </p:nvSpPr>
        <p:spPr>
          <a:xfrm>
            <a:off x="7226206" y="2676789"/>
            <a:ext cx="2093058" cy="3420000"/>
          </a:xfrm>
          <a:prstGeom prst="rect">
            <a:avLst/>
          </a:prstGeom>
          <a:solidFill>
            <a:schemeClr val="bg1"/>
          </a:solidFill>
          <a:ln>
            <a:noFill/>
          </a:ln>
          <a:effectLst>
            <a:outerShdw blurRad="127000" dist="38100" dir="5400000" algn="t" rotWithShape="0">
              <a:schemeClr val="accent2">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0" name="矩形 99"/>
          <p:cNvSpPr/>
          <p:nvPr>
            <p:custDataLst>
              <p:tags r:id="rId12"/>
            </p:custDataLst>
          </p:nvPr>
        </p:nvSpPr>
        <p:spPr>
          <a:xfrm>
            <a:off x="9402942" y="2676789"/>
            <a:ext cx="2093058" cy="3420000"/>
          </a:xfrm>
          <a:prstGeom prst="rect">
            <a:avLst/>
          </a:prstGeom>
          <a:solidFill>
            <a:schemeClr val="bg1"/>
          </a:solidFill>
          <a:ln>
            <a:noFill/>
          </a:ln>
          <a:effectLst>
            <a:outerShdw blurRad="127000" dist="38100" dir="5400000" algn="t"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2" name="矩形 61"/>
          <p:cNvSpPr/>
          <p:nvPr>
            <p:custDataLst>
              <p:tags r:id="rId13"/>
            </p:custDataLst>
          </p:nvPr>
        </p:nvSpPr>
        <p:spPr>
          <a:xfrm>
            <a:off x="696000" y="2346592"/>
            <a:ext cx="2093058" cy="39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智能穿戴设备</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2" name="矩形 81"/>
          <p:cNvSpPr/>
          <p:nvPr>
            <p:custDataLst>
              <p:tags r:id="rId14"/>
            </p:custDataLst>
          </p:nvPr>
        </p:nvSpPr>
        <p:spPr>
          <a:xfrm>
            <a:off x="2872735" y="2346592"/>
            <a:ext cx="2093058" cy="39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高性能笔记本电脑</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1" name="矩形 90"/>
          <p:cNvSpPr/>
          <p:nvPr>
            <p:custDataLst>
              <p:tags r:id="rId15"/>
            </p:custDataLst>
          </p:nvPr>
        </p:nvSpPr>
        <p:spPr>
          <a:xfrm>
            <a:off x="5049471" y="2346592"/>
            <a:ext cx="2093058" cy="39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家用智能音箱</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6" name="矩形 95"/>
          <p:cNvSpPr/>
          <p:nvPr>
            <p:custDataLst>
              <p:tags r:id="rId16"/>
            </p:custDataLst>
          </p:nvPr>
        </p:nvSpPr>
        <p:spPr>
          <a:xfrm>
            <a:off x="7226206" y="2346592"/>
            <a:ext cx="2093058" cy="39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专业级显示器</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9" name="矩形 98"/>
          <p:cNvSpPr/>
          <p:nvPr>
            <p:custDataLst>
              <p:tags r:id="rId17"/>
            </p:custDataLst>
          </p:nvPr>
        </p:nvSpPr>
        <p:spPr>
          <a:xfrm>
            <a:off x="9402942" y="2346592"/>
            <a:ext cx="2093058" cy="39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便携式充电器</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graphicFrame>
        <p:nvGraphicFramePr>
          <p:cNvPr id="114" name="图表 113"/>
          <p:cNvGraphicFramePr/>
          <p:nvPr>
            <p:custDataLst>
              <p:tags r:id="rId18"/>
            </p:custDataLst>
          </p:nvPr>
        </p:nvGraphicFramePr>
        <p:xfrm>
          <a:off x="788529" y="3613162"/>
          <a:ext cx="1908000" cy="1792840"/>
        </p:xfrm>
        <a:graphic>
          <a:graphicData uri="http://schemas.openxmlformats.org/drawingml/2006/chart">
            <c:chart xmlns:c="http://schemas.openxmlformats.org/drawingml/2006/chart" xmlns:r="http://schemas.openxmlformats.org/officeDocument/2006/relationships" r:id="rId1"/>
          </a:graphicData>
        </a:graphic>
      </p:graphicFrame>
      <p:sp>
        <p:nvSpPr>
          <p:cNvPr id="116" name="文本框 115"/>
          <p:cNvSpPr txBox="1"/>
          <p:nvPr>
            <p:custDataLst>
              <p:tags r:id="rId19"/>
            </p:custDataLst>
          </p:nvPr>
        </p:nvSpPr>
        <p:spPr>
          <a:xfrm>
            <a:off x="1540510" y="2957830"/>
            <a:ext cx="1248410" cy="571500"/>
          </a:xfrm>
          <a:prstGeom prst="rect">
            <a:avLst/>
          </a:prstGeom>
          <a:noFill/>
        </p:spPr>
        <p:txBody>
          <a:bodyPr wrap="square" lIns="0" tIns="0" rIns="0" bIns="0">
            <a:spAutoFit/>
          </a:bodyPr>
          <a:lstStyle/>
          <a:p>
            <a:pPr>
              <a:lnSpc>
                <a:spcPct val="120000"/>
              </a:lnSpc>
            </a:pPr>
            <a:r>
              <a:rPr lang="en-US" altLang="zh-CN" sz="2000" dirty="0">
                <a:solidFill>
                  <a:schemeClr val="tx2"/>
                </a:solidFill>
                <a:latin typeface="思源黑体 CN Normal" panose="020B0400000000000000" pitchFamily="34" charset="-122"/>
                <a:cs typeface="思源黑体 CN Normal" panose="020B0400000000000000" pitchFamily="34" charset="-122"/>
              </a:rPr>
              <a:t>¥46,00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19" name="任意多边形: 形状 118"/>
          <p:cNvSpPr/>
          <p:nvPr>
            <p:custDataLst>
              <p:tags r:id="rId20"/>
            </p:custDataLst>
          </p:nvPr>
        </p:nvSpPr>
        <p:spPr>
          <a:xfrm>
            <a:off x="1430736"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1"/>
                </a:gs>
                <a:gs pos="0">
                  <a:schemeClr val="accent1">
                    <a:alpha val="0"/>
                  </a:schemeClr>
                </a:gs>
                <a:gs pos="100000">
                  <a:schemeClr val="accent1">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22" name="图形 121"/>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1002493" y="3131114"/>
            <a:ext cx="216000" cy="216000"/>
          </a:xfrm>
          <a:prstGeom prst="rect">
            <a:avLst/>
          </a:prstGeom>
        </p:spPr>
      </p:pic>
      <p:sp>
        <p:nvSpPr>
          <p:cNvPr id="124" name="椭圆 123"/>
          <p:cNvSpPr/>
          <p:nvPr>
            <p:custDataLst>
              <p:tags r:id="rId24"/>
            </p:custDataLst>
          </p:nvPr>
        </p:nvSpPr>
        <p:spPr>
          <a:xfrm>
            <a:off x="900287" y="3028908"/>
            <a:ext cx="420413" cy="42041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7" name="大标题"/>
          <p:cNvSpPr txBox="1"/>
          <p:nvPr/>
        </p:nvSpPr>
        <p:spPr>
          <a:xfrm>
            <a:off x="3738000" y="1654024"/>
            <a:ext cx="4716000" cy="3687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全年主营产品销售业绩概况</a:t>
            </a:r>
            <a:endParaRPr kumimoji="0" lang="zh-CN" altLang="en-US" sz="2400" b="0" i="0" u="none" strike="noStrike" kern="1200" cap="none" spc="0" normalizeH="0" baseline="0" noProof="0" dirty="0">
              <a:ln>
                <a:noFill/>
              </a:ln>
              <a:solidFill>
                <a:schemeClr val="bg1"/>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131" name="图形 130"/>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797856" y="1013918"/>
            <a:ext cx="596289" cy="596289"/>
          </a:xfrm>
          <a:prstGeom prst="rect">
            <a:avLst/>
          </a:prstGeom>
        </p:spPr>
      </p:pic>
      <p:graphicFrame>
        <p:nvGraphicFramePr>
          <p:cNvPr id="134" name="图表 133"/>
          <p:cNvGraphicFramePr/>
          <p:nvPr>
            <p:custDataLst>
              <p:tags r:id="rId27"/>
            </p:custDataLst>
          </p:nvPr>
        </p:nvGraphicFramePr>
        <p:xfrm>
          <a:off x="2965265" y="3613162"/>
          <a:ext cx="1908000" cy="1792840"/>
        </p:xfrm>
        <a:graphic>
          <a:graphicData uri="http://schemas.openxmlformats.org/drawingml/2006/chart">
            <c:chart xmlns:c="http://schemas.openxmlformats.org/drawingml/2006/chart" xmlns:r="http://schemas.openxmlformats.org/officeDocument/2006/relationships" r:id="rId2"/>
          </a:graphicData>
        </a:graphic>
      </p:graphicFrame>
      <p:sp>
        <p:nvSpPr>
          <p:cNvPr id="137" name="文本框 136"/>
          <p:cNvSpPr txBox="1"/>
          <p:nvPr>
            <p:custDataLst>
              <p:tags r:id="rId28"/>
            </p:custDataLst>
          </p:nvPr>
        </p:nvSpPr>
        <p:spPr>
          <a:xfrm>
            <a:off x="3717290" y="2957830"/>
            <a:ext cx="1370965" cy="571500"/>
          </a:xfrm>
          <a:prstGeom prst="rect">
            <a:avLst/>
          </a:prstGeom>
          <a:noFill/>
        </p:spPr>
        <p:txBody>
          <a:bodyPr wrap="square" lIns="0" tIns="0" rIns="0" bIns="0">
            <a:spAutoFit/>
          </a:bodyPr>
          <a:lstStyle/>
          <a:p>
            <a:pPr>
              <a:lnSpc>
                <a:spcPct val="120000"/>
              </a:lnSpc>
            </a:pPr>
            <a:r>
              <a:rPr lang="en-US" altLang="zh-CN" sz="2000" dirty="0">
                <a:solidFill>
                  <a:schemeClr val="bg2"/>
                </a:solidFill>
                <a:latin typeface="思源黑体 CN Normal" panose="020B0400000000000000" pitchFamily="34" charset="-122"/>
                <a:cs typeface="思源黑体 CN Normal" panose="020B0400000000000000" pitchFamily="34" charset="-122"/>
              </a:rPr>
              <a:t>¥52,00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38" name="任意多边形: 形状 137"/>
          <p:cNvSpPr/>
          <p:nvPr>
            <p:custDataLst>
              <p:tags r:id="rId29"/>
            </p:custDataLst>
          </p:nvPr>
        </p:nvSpPr>
        <p:spPr>
          <a:xfrm>
            <a:off x="3607472"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2"/>
                </a:gs>
                <a:gs pos="0">
                  <a:schemeClr val="accent2">
                    <a:alpha val="0"/>
                  </a:schemeClr>
                </a:gs>
                <a:gs pos="100000">
                  <a:schemeClr val="accent2">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139" name="组合 138"/>
          <p:cNvGrpSpPr/>
          <p:nvPr>
            <p:custDataLst>
              <p:tags r:id="rId30"/>
            </p:custDataLst>
          </p:nvPr>
        </p:nvGrpSpPr>
        <p:grpSpPr>
          <a:xfrm>
            <a:off x="3077023" y="3028908"/>
            <a:ext cx="420413" cy="420413"/>
            <a:chOff x="928646" y="3077247"/>
            <a:chExt cx="420413" cy="420413"/>
          </a:xfrm>
        </p:grpSpPr>
        <p:pic>
          <p:nvPicPr>
            <p:cNvPr id="140" name="图形 139"/>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1030852" y="3179453"/>
              <a:ext cx="216000" cy="216000"/>
            </a:xfrm>
            <a:prstGeom prst="rect">
              <a:avLst/>
            </a:prstGeom>
          </p:spPr>
        </p:pic>
        <p:sp>
          <p:nvSpPr>
            <p:cNvPr id="141" name="椭圆 140"/>
            <p:cNvSpPr/>
            <p:nvPr>
              <p:custDataLst>
                <p:tags r:id="rId34"/>
              </p:custDataLst>
            </p:nvPr>
          </p:nvSpPr>
          <p:spPr>
            <a:xfrm>
              <a:off x="928646" y="3077247"/>
              <a:ext cx="420413" cy="420413"/>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aphicFrame>
        <p:nvGraphicFramePr>
          <p:cNvPr id="143" name="图表 142"/>
          <p:cNvGraphicFramePr/>
          <p:nvPr>
            <p:custDataLst>
              <p:tags r:id="rId35"/>
            </p:custDataLst>
          </p:nvPr>
        </p:nvGraphicFramePr>
        <p:xfrm>
          <a:off x="5142001" y="3613162"/>
          <a:ext cx="1908000" cy="1792840"/>
        </p:xfrm>
        <a:graphic>
          <a:graphicData uri="http://schemas.openxmlformats.org/drawingml/2006/chart">
            <c:chart xmlns:c="http://schemas.openxmlformats.org/drawingml/2006/chart" xmlns:r="http://schemas.openxmlformats.org/officeDocument/2006/relationships" r:id="rId3"/>
          </a:graphicData>
        </a:graphic>
      </p:graphicFrame>
      <p:sp>
        <p:nvSpPr>
          <p:cNvPr id="146" name="文本框 145"/>
          <p:cNvSpPr txBox="1"/>
          <p:nvPr>
            <p:custDataLst>
              <p:tags r:id="rId36"/>
            </p:custDataLst>
          </p:nvPr>
        </p:nvSpPr>
        <p:spPr>
          <a:xfrm>
            <a:off x="5894070" y="2957830"/>
            <a:ext cx="1248410" cy="571500"/>
          </a:xfrm>
          <a:prstGeom prst="rect">
            <a:avLst/>
          </a:prstGeom>
          <a:noFill/>
        </p:spPr>
        <p:txBody>
          <a:bodyPr wrap="square" lIns="0" tIns="0" rIns="0" bIns="0">
            <a:spAutoFit/>
          </a:bodyPr>
          <a:lstStyle/>
          <a:p>
            <a:pPr>
              <a:lnSpc>
                <a:spcPct val="120000"/>
              </a:lnSpc>
            </a:pPr>
            <a:r>
              <a:rPr lang="en-US" altLang="zh-CN" sz="2000" dirty="0">
                <a:solidFill>
                  <a:schemeClr val="tx2"/>
                </a:solidFill>
                <a:latin typeface="思源黑体 CN Normal" panose="020B0400000000000000" pitchFamily="34" charset="-122"/>
                <a:cs typeface="思源黑体 CN Normal" panose="020B0400000000000000" pitchFamily="34" charset="-122"/>
              </a:rPr>
              <a:t>¥42,00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47" name="任意多边形: 形状 146"/>
          <p:cNvSpPr/>
          <p:nvPr>
            <p:custDataLst>
              <p:tags r:id="rId37"/>
            </p:custDataLst>
          </p:nvPr>
        </p:nvSpPr>
        <p:spPr>
          <a:xfrm>
            <a:off x="5784208"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1"/>
                </a:gs>
                <a:gs pos="0">
                  <a:schemeClr val="accent1">
                    <a:alpha val="0"/>
                  </a:schemeClr>
                </a:gs>
                <a:gs pos="100000">
                  <a:schemeClr val="accent1">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49" name="图形 148"/>
          <p:cNvPicPr>
            <a:picLocks noChangeAspect="1"/>
          </p:cNvPicPr>
          <p:nvPr>
            <p:custDataLst>
              <p:tags r:id="rId38"/>
            </p:custDataLst>
          </p:nvPr>
        </p:nvPicPr>
        <p:blipFill>
          <a:blip r:embed="rId22">
            <a:extLst>
              <a:ext uri="{96DAC541-7B7A-43D3-8B79-37D633B846F1}">
                <asvg:svgBlip xmlns:asvg="http://schemas.microsoft.com/office/drawing/2016/SVG/main" r:embed="rId23"/>
              </a:ext>
            </a:extLst>
          </a:blip>
          <a:stretch>
            <a:fillRect/>
          </a:stretch>
        </p:blipFill>
        <p:spPr>
          <a:xfrm>
            <a:off x="5355965" y="3131114"/>
            <a:ext cx="216000" cy="216000"/>
          </a:xfrm>
          <a:prstGeom prst="rect">
            <a:avLst/>
          </a:prstGeom>
        </p:spPr>
      </p:pic>
      <p:sp>
        <p:nvSpPr>
          <p:cNvPr id="150" name="椭圆 149"/>
          <p:cNvSpPr/>
          <p:nvPr>
            <p:custDataLst>
              <p:tags r:id="rId39"/>
            </p:custDataLst>
          </p:nvPr>
        </p:nvSpPr>
        <p:spPr>
          <a:xfrm>
            <a:off x="5253759" y="3028908"/>
            <a:ext cx="420413" cy="42041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aphicFrame>
        <p:nvGraphicFramePr>
          <p:cNvPr id="152" name="图表 151"/>
          <p:cNvGraphicFramePr/>
          <p:nvPr>
            <p:custDataLst>
              <p:tags r:id="rId40"/>
            </p:custDataLst>
          </p:nvPr>
        </p:nvGraphicFramePr>
        <p:xfrm>
          <a:off x="7318737" y="3613162"/>
          <a:ext cx="1908000" cy="1792840"/>
        </p:xfrm>
        <a:graphic>
          <a:graphicData uri="http://schemas.openxmlformats.org/drawingml/2006/chart">
            <c:chart xmlns:c="http://schemas.openxmlformats.org/drawingml/2006/chart" xmlns:r="http://schemas.openxmlformats.org/officeDocument/2006/relationships" r:id="rId4"/>
          </a:graphicData>
        </a:graphic>
      </p:graphicFrame>
      <p:sp>
        <p:nvSpPr>
          <p:cNvPr id="155" name="文本框 154"/>
          <p:cNvSpPr txBox="1"/>
          <p:nvPr>
            <p:custDataLst>
              <p:tags r:id="rId41"/>
            </p:custDataLst>
          </p:nvPr>
        </p:nvSpPr>
        <p:spPr>
          <a:xfrm>
            <a:off x="8070850" y="2957830"/>
            <a:ext cx="1248410" cy="571500"/>
          </a:xfrm>
          <a:prstGeom prst="rect">
            <a:avLst/>
          </a:prstGeom>
          <a:noFill/>
        </p:spPr>
        <p:txBody>
          <a:bodyPr wrap="square" lIns="0" tIns="0" rIns="0" bIns="0">
            <a:spAutoFit/>
          </a:bodyPr>
          <a:lstStyle/>
          <a:p>
            <a:pPr>
              <a:lnSpc>
                <a:spcPct val="120000"/>
              </a:lnSpc>
            </a:pPr>
            <a:r>
              <a:rPr lang="en-US" altLang="zh-CN" sz="2000" dirty="0">
                <a:solidFill>
                  <a:schemeClr val="bg2"/>
                </a:solidFill>
                <a:latin typeface="思源黑体 CN Normal" panose="020B0400000000000000" pitchFamily="34" charset="-122"/>
                <a:cs typeface="思源黑体 CN Normal" panose="020B0400000000000000" pitchFamily="34" charset="-122"/>
              </a:rPr>
              <a:t>¥55,00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56" name="任意多边形: 形状 155"/>
          <p:cNvSpPr/>
          <p:nvPr>
            <p:custDataLst>
              <p:tags r:id="rId42"/>
            </p:custDataLst>
          </p:nvPr>
        </p:nvSpPr>
        <p:spPr>
          <a:xfrm>
            <a:off x="7960944"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2"/>
                </a:gs>
                <a:gs pos="0">
                  <a:schemeClr val="accent2">
                    <a:alpha val="0"/>
                  </a:schemeClr>
                </a:gs>
                <a:gs pos="100000">
                  <a:schemeClr val="accent2">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157" name="组合 156"/>
          <p:cNvGrpSpPr/>
          <p:nvPr>
            <p:custDataLst>
              <p:tags r:id="rId43"/>
            </p:custDataLst>
          </p:nvPr>
        </p:nvGrpSpPr>
        <p:grpSpPr>
          <a:xfrm>
            <a:off x="7430495" y="3028908"/>
            <a:ext cx="420413" cy="420413"/>
            <a:chOff x="928646" y="3077247"/>
            <a:chExt cx="420413" cy="420413"/>
          </a:xfrm>
        </p:grpSpPr>
        <p:pic>
          <p:nvPicPr>
            <p:cNvPr id="158" name="图形 157"/>
            <p:cNvPicPr>
              <a:picLocks noChangeAspect="1"/>
            </p:cNvPicPr>
            <p:nvPr>
              <p:custDataLst>
                <p:tags r:id="rId44"/>
              </p:custDataLst>
            </p:nvPr>
          </p:nvPicPr>
          <p:blipFill>
            <a:blip r:embed="rId32">
              <a:extLst>
                <a:ext uri="{96DAC541-7B7A-43D3-8B79-37D633B846F1}">
                  <asvg:svgBlip xmlns:asvg="http://schemas.microsoft.com/office/drawing/2016/SVG/main" r:embed="rId33"/>
                </a:ext>
              </a:extLst>
            </a:blip>
            <a:stretch>
              <a:fillRect/>
            </a:stretch>
          </p:blipFill>
          <p:spPr>
            <a:xfrm>
              <a:off x="1030852" y="3179453"/>
              <a:ext cx="216000" cy="216000"/>
            </a:xfrm>
            <a:prstGeom prst="rect">
              <a:avLst/>
            </a:prstGeom>
          </p:spPr>
        </p:pic>
        <p:sp>
          <p:nvSpPr>
            <p:cNvPr id="159" name="椭圆 158"/>
            <p:cNvSpPr/>
            <p:nvPr>
              <p:custDataLst>
                <p:tags r:id="rId45"/>
              </p:custDataLst>
            </p:nvPr>
          </p:nvSpPr>
          <p:spPr>
            <a:xfrm>
              <a:off x="928646" y="3077247"/>
              <a:ext cx="420413" cy="420413"/>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aphicFrame>
        <p:nvGraphicFramePr>
          <p:cNvPr id="161" name="图表 160"/>
          <p:cNvGraphicFramePr/>
          <p:nvPr>
            <p:custDataLst>
              <p:tags r:id="rId46"/>
            </p:custDataLst>
          </p:nvPr>
        </p:nvGraphicFramePr>
        <p:xfrm>
          <a:off x="9495471" y="3613162"/>
          <a:ext cx="1908000" cy="1792840"/>
        </p:xfrm>
        <a:graphic>
          <a:graphicData uri="http://schemas.openxmlformats.org/drawingml/2006/chart">
            <c:chart xmlns:c="http://schemas.openxmlformats.org/drawingml/2006/chart" xmlns:r="http://schemas.openxmlformats.org/officeDocument/2006/relationships" r:id="rId5"/>
          </a:graphicData>
        </a:graphic>
      </p:graphicFrame>
      <p:sp>
        <p:nvSpPr>
          <p:cNvPr id="118" name="文本框 117"/>
          <p:cNvSpPr txBox="1"/>
          <p:nvPr>
            <p:custDataLst>
              <p:tags r:id="rId47"/>
            </p:custDataLst>
          </p:nvPr>
        </p:nvSpPr>
        <p:spPr>
          <a:xfrm>
            <a:off x="734529"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智能穿戴设备全年表现稳健，</a:t>
            </a:r>
            <a:r>
              <a:rPr lang="en-US" altLang="zh-CN" sz="1200" b="0" i="0" dirty="0">
                <a:solidFill>
                  <a:schemeClr val="tx2"/>
                </a:solidFill>
                <a:effectLst/>
                <a:latin typeface="+mn-ea"/>
                <a:cs typeface="思源黑体 CN Normal" panose="020B0400000000000000" pitchFamily="34" charset="-122"/>
              </a:rPr>
              <a:t>Q3</a:t>
            </a:r>
            <a:r>
              <a:rPr lang="zh-CN" altLang="en-US" sz="1200" b="0" i="0" dirty="0">
                <a:solidFill>
                  <a:schemeClr val="tx2"/>
                </a:solidFill>
                <a:effectLst/>
                <a:latin typeface="+mn-ea"/>
                <a:cs typeface="思源黑体 CN Normal" panose="020B0400000000000000" pitchFamily="34" charset="-122"/>
              </a:rPr>
              <a:t>达到销售高峰</a:t>
            </a:r>
            <a:endParaRPr lang="zh-CN" altLang="en-US" sz="1200" b="0" i="0" dirty="0">
              <a:solidFill>
                <a:schemeClr val="tx2"/>
              </a:solidFill>
              <a:effectLst/>
              <a:latin typeface="+mn-ea"/>
              <a:cs typeface="思源黑体 CN Normal" panose="020B0400000000000000" pitchFamily="34" charset="-122"/>
            </a:endParaRPr>
          </a:p>
        </p:txBody>
      </p:sp>
      <p:sp>
        <p:nvSpPr>
          <p:cNvPr id="135" name="文本框 134"/>
          <p:cNvSpPr txBox="1"/>
          <p:nvPr>
            <p:custDataLst>
              <p:tags r:id="rId48"/>
            </p:custDataLst>
          </p:nvPr>
        </p:nvSpPr>
        <p:spPr>
          <a:xfrm>
            <a:off x="2911265"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高性能笔记本需求稳定，新品带动销售，年末回落</a:t>
            </a:r>
            <a:endParaRPr lang="zh-CN" altLang="en-US" sz="1200" b="0" i="0" dirty="0">
              <a:solidFill>
                <a:schemeClr val="tx2"/>
              </a:solidFill>
              <a:effectLst/>
              <a:latin typeface="+mn-ea"/>
              <a:cs typeface="思源黑体 CN Normal" panose="020B0400000000000000" pitchFamily="34" charset="-122"/>
            </a:endParaRPr>
          </a:p>
        </p:txBody>
      </p:sp>
      <p:sp>
        <p:nvSpPr>
          <p:cNvPr id="144" name="文本框 143"/>
          <p:cNvSpPr txBox="1"/>
          <p:nvPr>
            <p:custDataLst>
              <p:tags r:id="rId49"/>
            </p:custDataLst>
          </p:nvPr>
        </p:nvSpPr>
        <p:spPr>
          <a:xfrm>
            <a:off x="5088001"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智能音箱市场增长显著，活动成效显著，呈上升趋势</a:t>
            </a:r>
            <a:endParaRPr lang="zh-CN" altLang="en-US" sz="1200" b="0" i="0" dirty="0">
              <a:solidFill>
                <a:schemeClr val="tx2"/>
              </a:solidFill>
              <a:effectLst/>
              <a:latin typeface="+mn-ea"/>
              <a:cs typeface="思源黑体 CN Normal" panose="020B0400000000000000" pitchFamily="34" charset="-122"/>
            </a:endParaRPr>
          </a:p>
        </p:txBody>
      </p:sp>
      <p:sp>
        <p:nvSpPr>
          <p:cNvPr id="153" name="文本框 152"/>
          <p:cNvSpPr txBox="1"/>
          <p:nvPr>
            <p:custDataLst>
              <p:tags r:id="rId50"/>
            </p:custDataLst>
          </p:nvPr>
        </p:nvSpPr>
        <p:spPr>
          <a:xfrm>
            <a:off x="7264737"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专业显示器需求平稳，远程办公需求和销售有所提升</a:t>
            </a:r>
            <a:endParaRPr lang="zh-CN" altLang="en-US" sz="1200" b="0" i="0" dirty="0">
              <a:solidFill>
                <a:schemeClr val="tx2"/>
              </a:solidFill>
              <a:effectLst/>
              <a:latin typeface="+mn-ea"/>
              <a:cs typeface="思源黑体 CN Normal" panose="020B0400000000000000" pitchFamily="34" charset="-122"/>
            </a:endParaRPr>
          </a:p>
        </p:txBody>
      </p:sp>
      <p:sp>
        <p:nvSpPr>
          <p:cNvPr id="162" name="文本框 161"/>
          <p:cNvSpPr txBox="1"/>
          <p:nvPr>
            <p:custDataLst>
              <p:tags r:id="rId51"/>
            </p:custDataLst>
          </p:nvPr>
        </p:nvSpPr>
        <p:spPr>
          <a:xfrm>
            <a:off x="9441471"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智能穿戴设备全年表现稳健，</a:t>
            </a:r>
            <a:r>
              <a:rPr lang="en-US" altLang="zh-CN" sz="1200" b="0" i="0" dirty="0">
                <a:solidFill>
                  <a:schemeClr val="tx2"/>
                </a:solidFill>
                <a:effectLst/>
                <a:latin typeface="+mn-ea"/>
                <a:cs typeface="思源黑体 CN Normal" panose="020B0400000000000000" pitchFamily="34" charset="-122"/>
              </a:rPr>
              <a:t>Q3</a:t>
            </a:r>
            <a:r>
              <a:rPr lang="zh-CN" altLang="en-US" sz="1200" b="0" i="0" dirty="0">
                <a:solidFill>
                  <a:schemeClr val="tx2"/>
                </a:solidFill>
                <a:effectLst/>
                <a:latin typeface="+mn-ea"/>
                <a:cs typeface="思源黑体 CN Normal" panose="020B0400000000000000" pitchFamily="34" charset="-122"/>
              </a:rPr>
              <a:t>达到销售高峰</a:t>
            </a:r>
            <a:endParaRPr lang="zh-CN" altLang="en-US" sz="1200" b="0" i="0" dirty="0">
              <a:solidFill>
                <a:schemeClr val="tx2"/>
              </a:solidFill>
              <a:effectLst/>
              <a:latin typeface="+mn-ea"/>
              <a:cs typeface="思源黑体 CN Normal" panose="020B0400000000000000" pitchFamily="34" charset="-122"/>
            </a:endParaRPr>
          </a:p>
        </p:txBody>
      </p:sp>
      <p:sp>
        <p:nvSpPr>
          <p:cNvPr id="164" name="文本框 163"/>
          <p:cNvSpPr txBox="1"/>
          <p:nvPr>
            <p:custDataLst>
              <p:tags r:id="rId52"/>
            </p:custDataLst>
          </p:nvPr>
        </p:nvSpPr>
        <p:spPr>
          <a:xfrm>
            <a:off x="10247630" y="2957830"/>
            <a:ext cx="1248410" cy="571500"/>
          </a:xfrm>
          <a:prstGeom prst="rect">
            <a:avLst/>
          </a:prstGeom>
          <a:noFill/>
        </p:spPr>
        <p:txBody>
          <a:bodyPr wrap="square" lIns="0" tIns="0" rIns="0" bIns="0">
            <a:spAutoFit/>
          </a:bodyPr>
          <a:lstStyle/>
          <a:p>
            <a:pPr>
              <a:lnSpc>
                <a:spcPct val="120000"/>
              </a:lnSpc>
            </a:pPr>
            <a:r>
              <a:rPr lang="en-US" altLang="zh-CN" sz="2000" dirty="0">
                <a:solidFill>
                  <a:schemeClr val="tx2"/>
                </a:solidFill>
                <a:latin typeface="思源黑体 CN Normal" panose="020B0400000000000000" pitchFamily="34" charset="-122"/>
                <a:cs typeface="思源黑体 CN Normal" panose="020B0400000000000000" pitchFamily="34" charset="-122"/>
              </a:rPr>
              <a:t>¥47,00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65" name="任意多边形: 形状 164"/>
          <p:cNvSpPr/>
          <p:nvPr>
            <p:custDataLst>
              <p:tags r:id="rId53"/>
            </p:custDataLst>
          </p:nvPr>
        </p:nvSpPr>
        <p:spPr>
          <a:xfrm>
            <a:off x="10137678"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1"/>
                </a:gs>
                <a:gs pos="0">
                  <a:schemeClr val="accent1">
                    <a:alpha val="0"/>
                  </a:schemeClr>
                </a:gs>
                <a:gs pos="100000">
                  <a:schemeClr val="accent1">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67" name="图形 166"/>
          <p:cNvPicPr>
            <a:picLocks noChangeAspect="1"/>
          </p:cNvPicPr>
          <p:nvPr>
            <p:custDataLst>
              <p:tags r:id="rId54"/>
            </p:custDataLst>
          </p:nvPr>
        </p:nvPicPr>
        <p:blipFill>
          <a:blip r:embed="rId22">
            <a:extLst>
              <a:ext uri="{96DAC541-7B7A-43D3-8B79-37D633B846F1}">
                <asvg:svgBlip xmlns:asvg="http://schemas.microsoft.com/office/drawing/2016/SVG/main" r:embed="rId23"/>
              </a:ext>
            </a:extLst>
          </a:blip>
          <a:stretch>
            <a:fillRect/>
          </a:stretch>
        </p:blipFill>
        <p:spPr>
          <a:xfrm>
            <a:off x="9709435" y="3131114"/>
            <a:ext cx="216000" cy="216000"/>
          </a:xfrm>
          <a:prstGeom prst="rect">
            <a:avLst/>
          </a:prstGeom>
        </p:spPr>
      </p:pic>
      <p:sp>
        <p:nvSpPr>
          <p:cNvPr id="168" name="椭圆 167"/>
          <p:cNvSpPr/>
          <p:nvPr>
            <p:custDataLst>
              <p:tags r:id="rId55"/>
            </p:custDataLst>
          </p:nvPr>
        </p:nvSpPr>
        <p:spPr>
          <a:xfrm>
            <a:off x="9607229" y="3028908"/>
            <a:ext cx="420413" cy="42041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Tree>
    <p:custDataLst>
      <p:tags r:id="rId5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矩形 337"/>
          <p:cNvSpPr/>
          <p:nvPr/>
        </p:nvSpPr>
        <p:spPr>
          <a:xfrm>
            <a:off x="682516" y="3984924"/>
            <a:ext cx="11161711" cy="1872000"/>
          </a:xfrm>
          <a:prstGeom prst="rect">
            <a:avLst/>
          </a:prstGeom>
          <a:solidFill>
            <a:schemeClr val="accent2">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4" name="矩形 33"/>
          <p:cNvSpPr/>
          <p:nvPr/>
        </p:nvSpPr>
        <p:spPr>
          <a:xfrm>
            <a:off x="695324" y="1671318"/>
            <a:ext cx="11161711" cy="1872000"/>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363" name="组合 362"/>
          <p:cNvGrpSpPr/>
          <p:nvPr/>
        </p:nvGrpSpPr>
        <p:grpSpPr>
          <a:xfrm>
            <a:off x="334963" y="1058134"/>
            <a:ext cx="11857037" cy="5406332"/>
            <a:chOff x="334963" y="1058134"/>
            <a:chExt cx="11857037" cy="5406332"/>
          </a:xfrm>
        </p:grpSpPr>
        <p:grpSp>
          <p:nvGrpSpPr>
            <p:cNvPr id="332" name="组合 331"/>
            <p:cNvGrpSpPr/>
            <p:nvPr/>
          </p:nvGrpSpPr>
          <p:grpSpPr>
            <a:xfrm>
              <a:off x="334963" y="1058134"/>
              <a:ext cx="11857036" cy="2649630"/>
              <a:chOff x="334963" y="1058134"/>
              <a:chExt cx="11857036" cy="2649630"/>
            </a:xfrm>
          </p:grpSpPr>
          <p:sp>
            <p:nvSpPr>
              <p:cNvPr id="331" name="任意多边形: 形状 330"/>
              <p:cNvSpPr/>
              <p:nvPr/>
            </p:nvSpPr>
            <p:spPr>
              <a:xfrm>
                <a:off x="334963" y="3446536"/>
                <a:ext cx="11857036" cy="261228"/>
              </a:xfrm>
              <a:custGeom>
                <a:avLst/>
                <a:gdLst>
                  <a:gd name="connsiteX0" fmla="*/ 11507817 w 11857036"/>
                  <a:gd name="connsiteY0" fmla="*/ 0 h 261228"/>
                  <a:gd name="connsiteX1" fmla="*/ 11857036 w 11857036"/>
                  <a:gd name="connsiteY1" fmla="*/ 261228 h 261228"/>
                  <a:gd name="connsiteX2" fmla="*/ 11550005 w 11857036"/>
                  <a:gd name="connsiteY2" fmla="*/ 261228 h 261228"/>
                  <a:gd name="connsiteX3" fmla="*/ 11507817 w 11857036"/>
                  <a:gd name="connsiteY3" fmla="*/ 261228 h 261228"/>
                  <a:gd name="connsiteX4" fmla="*/ 2880361 w 11857036"/>
                  <a:gd name="connsiteY4" fmla="*/ 261228 h 261228"/>
                  <a:gd name="connsiteX5" fmla="*/ 2857036 w 11857036"/>
                  <a:gd name="connsiteY5" fmla="*/ 261228 h 261228"/>
                  <a:gd name="connsiteX6" fmla="*/ 0 w 11857036"/>
                  <a:gd name="connsiteY6" fmla="*/ 261228 h 261228"/>
                  <a:gd name="connsiteX7" fmla="*/ 0 w 11857036"/>
                  <a:gd name="connsiteY7" fmla="*/ 106428 h 261228"/>
                  <a:gd name="connsiteX8" fmla="*/ 2857036 w 11857036"/>
                  <a:gd name="connsiteY8" fmla="*/ 106428 h 261228"/>
                  <a:gd name="connsiteX9" fmla="*/ 2857036 w 11857036"/>
                  <a:gd name="connsiteY9" fmla="*/ 105586 h 261228"/>
                  <a:gd name="connsiteX10" fmla="*/ 11507817 w 11857036"/>
                  <a:gd name="connsiteY10" fmla="*/ 105586 h 26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57036" h="261228">
                    <a:moveTo>
                      <a:pt x="11507817" y="0"/>
                    </a:moveTo>
                    <a:lnTo>
                      <a:pt x="11857036" y="261228"/>
                    </a:lnTo>
                    <a:lnTo>
                      <a:pt x="11550005" y="261228"/>
                    </a:lnTo>
                    <a:lnTo>
                      <a:pt x="11507817" y="261228"/>
                    </a:lnTo>
                    <a:lnTo>
                      <a:pt x="2880361" y="261228"/>
                    </a:lnTo>
                    <a:lnTo>
                      <a:pt x="2857036" y="261228"/>
                    </a:lnTo>
                    <a:lnTo>
                      <a:pt x="0" y="261228"/>
                    </a:lnTo>
                    <a:lnTo>
                      <a:pt x="0" y="106428"/>
                    </a:lnTo>
                    <a:lnTo>
                      <a:pt x="2857036" y="106428"/>
                    </a:lnTo>
                    <a:lnTo>
                      <a:pt x="2857036" y="105586"/>
                    </a:lnTo>
                    <a:lnTo>
                      <a:pt x="11507817" y="10558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29" name="组合 28"/>
              <p:cNvGrpSpPr/>
              <p:nvPr/>
            </p:nvGrpSpPr>
            <p:grpSpPr>
              <a:xfrm>
                <a:off x="706888" y="1058134"/>
                <a:ext cx="2411998" cy="2499732"/>
                <a:chOff x="716513" y="1056268"/>
                <a:chExt cx="2411998" cy="2499732"/>
              </a:xfrm>
            </p:grpSpPr>
            <p:sp>
              <p:nvSpPr>
                <p:cNvPr id="25" name="任意多边形: 形状 24"/>
                <p:cNvSpPr/>
                <p:nvPr/>
              </p:nvSpPr>
              <p:spPr>
                <a:xfrm>
                  <a:off x="716513" y="1056268"/>
                  <a:ext cx="2411998" cy="2499732"/>
                </a:xfrm>
                <a:custGeom>
                  <a:avLst/>
                  <a:gdLst>
                    <a:gd name="connsiteX0" fmla="*/ 1205999 w 2411998"/>
                    <a:gd name="connsiteY0" fmla="*/ 0 h 2499732"/>
                    <a:gd name="connsiteX1" fmla="*/ 1262348 w 2411998"/>
                    <a:gd name="connsiteY1" fmla="*/ 13312 h 2499732"/>
                    <a:gd name="connsiteX2" fmla="*/ 2342347 w 2411998"/>
                    <a:gd name="connsiteY2" fmla="*/ 553311 h 2499732"/>
                    <a:gd name="connsiteX3" fmla="*/ 2411998 w 2411998"/>
                    <a:gd name="connsiteY3" fmla="*/ 666009 h 2499732"/>
                    <a:gd name="connsiteX4" fmla="*/ 2411998 w 2411998"/>
                    <a:gd name="connsiteY4" fmla="*/ 2472264 h 2499732"/>
                    <a:gd name="connsiteX5" fmla="*/ 2408141 w 2411998"/>
                    <a:gd name="connsiteY5" fmla="*/ 2499732 h 2499732"/>
                    <a:gd name="connsiteX6" fmla="*/ 3857 w 2411998"/>
                    <a:gd name="connsiteY6" fmla="*/ 2499732 h 2499732"/>
                    <a:gd name="connsiteX7" fmla="*/ 0 w 2411998"/>
                    <a:gd name="connsiteY7" fmla="*/ 2472264 h 2499732"/>
                    <a:gd name="connsiteX8" fmla="*/ 0 w 2411998"/>
                    <a:gd name="connsiteY8" fmla="*/ 666009 h 2499732"/>
                    <a:gd name="connsiteX9" fmla="*/ 69651 w 2411998"/>
                    <a:gd name="connsiteY9" fmla="*/ 553311 h 2499732"/>
                    <a:gd name="connsiteX10" fmla="*/ 1149650 w 2411998"/>
                    <a:gd name="connsiteY10" fmla="*/ 13312 h 2499732"/>
                    <a:gd name="connsiteX11" fmla="*/ 1205999 w 2411998"/>
                    <a:gd name="connsiteY11" fmla="*/ 0 h 249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1998" h="2499732">
                      <a:moveTo>
                        <a:pt x="1205999" y="0"/>
                      </a:moveTo>
                      <a:cubicBezTo>
                        <a:pt x="1225299" y="0"/>
                        <a:pt x="1244598" y="4437"/>
                        <a:pt x="1262348" y="13312"/>
                      </a:cubicBezTo>
                      <a:lnTo>
                        <a:pt x="2342347" y="553311"/>
                      </a:lnTo>
                      <a:cubicBezTo>
                        <a:pt x="2385043" y="574660"/>
                        <a:pt x="2411998" y="618274"/>
                        <a:pt x="2411998" y="666009"/>
                      </a:cubicBezTo>
                      <a:lnTo>
                        <a:pt x="2411998" y="2472264"/>
                      </a:lnTo>
                      <a:lnTo>
                        <a:pt x="2408141" y="2499732"/>
                      </a:lnTo>
                      <a:lnTo>
                        <a:pt x="3857" y="2499732"/>
                      </a:lnTo>
                      <a:lnTo>
                        <a:pt x="0" y="2472264"/>
                      </a:lnTo>
                      <a:lnTo>
                        <a:pt x="0" y="666009"/>
                      </a:lnTo>
                      <a:cubicBezTo>
                        <a:pt x="0" y="618274"/>
                        <a:pt x="26955" y="574660"/>
                        <a:pt x="69651" y="553311"/>
                      </a:cubicBezTo>
                      <a:lnTo>
                        <a:pt x="1149650" y="13312"/>
                      </a:lnTo>
                      <a:cubicBezTo>
                        <a:pt x="1167400" y="4437"/>
                        <a:pt x="1186700" y="0"/>
                        <a:pt x="1205999"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28" name="任意多边形: 形状 27"/>
                <p:cNvSpPr>
                  <a:spLocks noChangeAspect="1"/>
                </p:cNvSpPr>
                <p:nvPr/>
              </p:nvSpPr>
              <p:spPr>
                <a:xfrm>
                  <a:off x="793576" y="1152500"/>
                  <a:ext cx="2257873" cy="2403500"/>
                </a:xfrm>
                <a:custGeom>
                  <a:avLst/>
                  <a:gdLst>
                    <a:gd name="connsiteX0" fmla="*/ 1128937 w 2257873"/>
                    <a:gd name="connsiteY0" fmla="*/ 0 h 2403500"/>
                    <a:gd name="connsiteX1" fmla="*/ 1181685 w 2257873"/>
                    <a:gd name="connsiteY1" fmla="*/ 12461 h 2403500"/>
                    <a:gd name="connsiteX2" fmla="*/ 2192673 w 2257873"/>
                    <a:gd name="connsiteY2" fmla="*/ 517955 h 2403500"/>
                    <a:gd name="connsiteX3" fmla="*/ 2257873 w 2257873"/>
                    <a:gd name="connsiteY3" fmla="*/ 623451 h 2403500"/>
                    <a:gd name="connsiteX4" fmla="*/ 2257873 w 2257873"/>
                    <a:gd name="connsiteY4" fmla="*/ 2314287 h 2403500"/>
                    <a:gd name="connsiteX5" fmla="*/ 2257200 w 2257873"/>
                    <a:gd name="connsiteY5" fmla="*/ 2319080 h 2403500"/>
                    <a:gd name="connsiteX6" fmla="*/ 2257200 w 2257873"/>
                    <a:gd name="connsiteY6" fmla="*/ 2403500 h 2403500"/>
                    <a:gd name="connsiteX7" fmla="*/ 0 w 2257873"/>
                    <a:gd name="connsiteY7" fmla="*/ 2403500 h 2403500"/>
                    <a:gd name="connsiteX8" fmla="*/ 0 w 2257873"/>
                    <a:gd name="connsiteY8" fmla="*/ 2314287 h 2403500"/>
                    <a:gd name="connsiteX9" fmla="*/ 0 w 2257873"/>
                    <a:gd name="connsiteY9" fmla="*/ 1489100 h 2403500"/>
                    <a:gd name="connsiteX10" fmla="*/ 0 w 2257873"/>
                    <a:gd name="connsiteY10" fmla="*/ 623451 h 2403500"/>
                    <a:gd name="connsiteX11" fmla="*/ 65200 w 2257873"/>
                    <a:gd name="connsiteY11" fmla="*/ 517955 h 2403500"/>
                    <a:gd name="connsiteX12" fmla="*/ 1076188 w 2257873"/>
                    <a:gd name="connsiteY12" fmla="*/ 12461 h 2403500"/>
                    <a:gd name="connsiteX13" fmla="*/ 1128937 w 2257873"/>
                    <a:gd name="connsiteY13" fmla="*/ 0 h 240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57873" h="2403500">
                      <a:moveTo>
                        <a:pt x="1128937" y="0"/>
                      </a:moveTo>
                      <a:cubicBezTo>
                        <a:pt x="1147003" y="0"/>
                        <a:pt x="1165069" y="4154"/>
                        <a:pt x="1181685" y="12461"/>
                      </a:cubicBezTo>
                      <a:lnTo>
                        <a:pt x="2192673" y="517955"/>
                      </a:lnTo>
                      <a:cubicBezTo>
                        <a:pt x="2232641" y="537940"/>
                        <a:pt x="2257873" y="578767"/>
                        <a:pt x="2257873" y="623451"/>
                      </a:cubicBezTo>
                      <a:lnTo>
                        <a:pt x="2257873" y="2314287"/>
                      </a:lnTo>
                      <a:lnTo>
                        <a:pt x="2257200" y="2319080"/>
                      </a:lnTo>
                      <a:lnTo>
                        <a:pt x="2257200" y="2403500"/>
                      </a:lnTo>
                      <a:lnTo>
                        <a:pt x="0" y="2403500"/>
                      </a:lnTo>
                      <a:lnTo>
                        <a:pt x="0" y="2314287"/>
                      </a:lnTo>
                      <a:lnTo>
                        <a:pt x="0" y="1489100"/>
                      </a:lnTo>
                      <a:lnTo>
                        <a:pt x="0" y="623451"/>
                      </a:lnTo>
                      <a:cubicBezTo>
                        <a:pt x="0" y="578767"/>
                        <a:pt x="25233" y="537940"/>
                        <a:pt x="65200" y="517955"/>
                      </a:cubicBezTo>
                      <a:lnTo>
                        <a:pt x="1076188" y="12461"/>
                      </a:lnTo>
                      <a:cubicBezTo>
                        <a:pt x="1092804" y="4154"/>
                        <a:pt x="1110871" y="0"/>
                        <a:pt x="1128937" y="0"/>
                      </a:cubicBezTo>
                      <a:close/>
                    </a:path>
                  </a:pathLst>
                </a:custGeom>
                <a:noFill/>
                <a:ln w="1905">
                  <a:gradFill>
                    <a:gsLst>
                      <a:gs pos="0">
                        <a:schemeClr val="bg1"/>
                      </a:gs>
                      <a:gs pos="100000">
                        <a:schemeClr val="bg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grpSp>
        <p:grpSp>
          <p:nvGrpSpPr>
            <p:cNvPr id="333" name="组合 332"/>
            <p:cNvGrpSpPr/>
            <p:nvPr/>
          </p:nvGrpSpPr>
          <p:grpSpPr>
            <a:xfrm flipV="1">
              <a:off x="334964" y="3814836"/>
              <a:ext cx="11857036" cy="2649630"/>
              <a:chOff x="334963" y="1058134"/>
              <a:chExt cx="11857036" cy="2649630"/>
            </a:xfrm>
          </p:grpSpPr>
          <p:sp>
            <p:nvSpPr>
              <p:cNvPr id="334" name="任意多边形: 形状 333"/>
              <p:cNvSpPr/>
              <p:nvPr/>
            </p:nvSpPr>
            <p:spPr>
              <a:xfrm>
                <a:off x="334963" y="3446536"/>
                <a:ext cx="11857036" cy="261228"/>
              </a:xfrm>
              <a:custGeom>
                <a:avLst/>
                <a:gdLst>
                  <a:gd name="connsiteX0" fmla="*/ 11507817 w 11857036"/>
                  <a:gd name="connsiteY0" fmla="*/ 0 h 261228"/>
                  <a:gd name="connsiteX1" fmla="*/ 11857036 w 11857036"/>
                  <a:gd name="connsiteY1" fmla="*/ 261228 h 261228"/>
                  <a:gd name="connsiteX2" fmla="*/ 11550005 w 11857036"/>
                  <a:gd name="connsiteY2" fmla="*/ 261228 h 261228"/>
                  <a:gd name="connsiteX3" fmla="*/ 11507817 w 11857036"/>
                  <a:gd name="connsiteY3" fmla="*/ 261228 h 261228"/>
                  <a:gd name="connsiteX4" fmla="*/ 2880361 w 11857036"/>
                  <a:gd name="connsiteY4" fmla="*/ 261228 h 261228"/>
                  <a:gd name="connsiteX5" fmla="*/ 2857036 w 11857036"/>
                  <a:gd name="connsiteY5" fmla="*/ 261228 h 261228"/>
                  <a:gd name="connsiteX6" fmla="*/ 0 w 11857036"/>
                  <a:gd name="connsiteY6" fmla="*/ 261228 h 261228"/>
                  <a:gd name="connsiteX7" fmla="*/ 0 w 11857036"/>
                  <a:gd name="connsiteY7" fmla="*/ 106428 h 261228"/>
                  <a:gd name="connsiteX8" fmla="*/ 2857036 w 11857036"/>
                  <a:gd name="connsiteY8" fmla="*/ 106428 h 261228"/>
                  <a:gd name="connsiteX9" fmla="*/ 2857036 w 11857036"/>
                  <a:gd name="connsiteY9" fmla="*/ 105586 h 261228"/>
                  <a:gd name="connsiteX10" fmla="*/ 11507817 w 11857036"/>
                  <a:gd name="connsiteY10" fmla="*/ 105586 h 26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57036" h="261228">
                    <a:moveTo>
                      <a:pt x="11507817" y="0"/>
                    </a:moveTo>
                    <a:lnTo>
                      <a:pt x="11857036" y="261228"/>
                    </a:lnTo>
                    <a:lnTo>
                      <a:pt x="11550005" y="261228"/>
                    </a:lnTo>
                    <a:lnTo>
                      <a:pt x="11507817" y="261228"/>
                    </a:lnTo>
                    <a:lnTo>
                      <a:pt x="2880361" y="261228"/>
                    </a:lnTo>
                    <a:lnTo>
                      <a:pt x="2857036" y="261228"/>
                    </a:lnTo>
                    <a:lnTo>
                      <a:pt x="0" y="261228"/>
                    </a:lnTo>
                    <a:lnTo>
                      <a:pt x="0" y="106428"/>
                    </a:lnTo>
                    <a:lnTo>
                      <a:pt x="2857036" y="106428"/>
                    </a:lnTo>
                    <a:lnTo>
                      <a:pt x="2857036" y="105586"/>
                    </a:lnTo>
                    <a:lnTo>
                      <a:pt x="11507817" y="10558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335" name="组合 334"/>
              <p:cNvGrpSpPr/>
              <p:nvPr/>
            </p:nvGrpSpPr>
            <p:grpSpPr>
              <a:xfrm>
                <a:off x="706888" y="1058134"/>
                <a:ext cx="2411998" cy="2499732"/>
                <a:chOff x="716513" y="1056268"/>
                <a:chExt cx="2411998" cy="2499732"/>
              </a:xfrm>
            </p:grpSpPr>
            <p:sp>
              <p:nvSpPr>
                <p:cNvPr id="336" name="任意多边形: 形状 335"/>
                <p:cNvSpPr/>
                <p:nvPr/>
              </p:nvSpPr>
              <p:spPr>
                <a:xfrm>
                  <a:off x="716513" y="1056268"/>
                  <a:ext cx="2411998" cy="2499732"/>
                </a:xfrm>
                <a:custGeom>
                  <a:avLst/>
                  <a:gdLst>
                    <a:gd name="connsiteX0" fmla="*/ 1205999 w 2411998"/>
                    <a:gd name="connsiteY0" fmla="*/ 0 h 2499732"/>
                    <a:gd name="connsiteX1" fmla="*/ 1262348 w 2411998"/>
                    <a:gd name="connsiteY1" fmla="*/ 13312 h 2499732"/>
                    <a:gd name="connsiteX2" fmla="*/ 2342347 w 2411998"/>
                    <a:gd name="connsiteY2" fmla="*/ 553311 h 2499732"/>
                    <a:gd name="connsiteX3" fmla="*/ 2411998 w 2411998"/>
                    <a:gd name="connsiteY3" fmla="*/ 666009 h 2499732"/>
                    <a:gd name="connsiteX4" fmla="*/ 2411998 w 2411998"/>
                    <a:gd name="connsiteY4" fmla="*/ 2472264 h 2499732"/>
                    <a:gd name="connsiteX5" fmla="*/ 2408141 w 2411998"/>
                    <a:gd name="connsiteY5" fmla="*/ 2499732 h 2499732"/>
                    <a:gd name="connsiteX6" fmla="*/ 3857 w 2411998"/>
                    <a:gd name="connsiteY6" fmla="*/ 2499732 h 2499732"/>
                    <a:gd name="connsiteX7" fmla="*/ 0 w 2411998"/>
                    <a:gd name="connsiteY7" fmla="*/ 2472264 h 2499732"/>
                    <a:gd name="connsiteX8" fmla="*/ 0 w 2411998"/>
                    <a:gd name="connsiteY8" fmla="*/ 666009 h 2499732"/>
                    <a:gd name="connsiteX9" fmla="*/ 69651 w 2411998"/>
                    <a:gd name="connsiteY9" fmla="*/ 553311 h 2499732"/>
                    <a:gd name="connsiteX10" fmla="*/ 1149650 w 2411998"/>
                    <a:gd name="connsiteY10" fmla="*/ 13312 h 2499732"/>
                    <a:gd name="connsiteX11" fmla="*/ 1205999 w 2411998"/>
                    <a:gd name="connsiteY11" fmla="*/ 0 h 249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1998" h="2499732">
                      <a:moveTo>
                        <a:pt x="1205999" y="0"/>
                      </a:moveTo>
                      <a:cubicBezTo>
                        <a:pt x="1225299" y="0"/>
                        <a:pt x="1244598" y="4437"/>
                        <a:pt x="1262348" y="13312"/>
                      </a:cubicBezTo>
                      <a:lnTo>
                        <a:pt x="2342347" y="553311"/>
                      </a:lnTo>
                      <a:cubicBezTo>
                        <a:pt x="2385043" y="574660"/>
                        <a:pt x="2411998" y="618274"/>
                        <a:pt x="2411998" y="666009"/>
                      </a:cubicBezTo>
                      <a:lnTo>
                        <a:pt x="2411998" y="2472264"/>
                      </a:lnTo>
                      <a:lnTo>
                        <a:pt x="2408141" y="2499732"/>
                      </a:lnTo>
                      <a:lnTo>
                        <a:pt x="3857" y="2499732"/>
                      </a:lnTo>
                      <a:lnTo>
                        <a:pt x="0" y="2472264"/>
                      </a:lnTo>
                      <a:lnTo>
                        <a:pt x="0" y="666009"/>
                      </a:lnTo>
                      <a:cubicBezTo>
                        <a:pt x="0" y="618274"/>
                        <a:pt x="26955" y="574660"/>
                        <a:pt x="69651" y="553311"/>
                      </a:cubicBezTo>
                      <a:lnTo>
                        <a:pt x="1149650" y="13312"/>
                      </a:lnTo>
                      <a:cubicBezTo>
                        <a:pt x="1167400" y="4437"/>
                        <a:pt x="1186700" y="0"/>
                        <a:pt x="1205999"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37" name="任意多边形: 形状 336"/>
                <p:cNvSpPr>
                  <a:spLocks noChangeAspect="1"/>
                </p:cNvSpPr>
                <p:nvPr/>
              </p:nvSpPr>
              <p:spPr>
                <a:xfrm>
                  <a:off x="793576" y="1152500"/>
                  <a:ext cx="2257873" cy="2403500"/>
                </a:xfrm>
                <a:custGeom>
                  <a:avLst/>
                  <a:gdLst>
                    <a:gd name="connsiteX0" fmla="*/ 1128937 w 2257873"/>
                    <a:gd name="connsiteY0" fmla="*/ 0 h 2403500"/>
                    <a:gd name="connsiteX1" fmla="*/ 1181685 w 2257873"/>
                    <a:gd name="connsiteY1" fmla="*/ 12461 h 2403500"/>
                    <a:gd name="connsiteX2" fmla="*/ 2192673 w 2257873"/>
                    <a:gd name="connsiteY2" fmla="*/ 517955 h 2403500"/>
                    <a:gd name="connsiteX3" fmla="*/ 2257873 w 2257873"/>
                    <a:gd name="connsiteY3" fmla="*/ 623451 h 2403500"/>
                    <a:gd name="connsiteX4" fmla="*/ 2257873 w 2257873"/>
                    <a:gd name="connsiteY4" fmla="*/ 2314287 h 2403500"/>
                    <a:gd name="connsiteX5" fmla="*/ 2257200 w 2257873"/>
                    <a:gd name="connsiteY5" fmla="*/ 2319080 h 2403500"/>
                    <a:gd name="connsiteX6" fmla="*/ 2257200 w 2257873"/>
                    <a:gd name="connsiteY6" fmla="*/ 2403500 h 2403500"/>
                    <a:gd name="connsiteX7" fmla="*/ 0 w 2257873"/>
                    <a:gd name="connsiteY7" fmla="*/ 2403500 h 2403500"/>
                    <a:gd name="connsiteX8" fmla="*/ 0 w 2257873"/>
                    <a:gd name="connsiteY8" fmla="*/ 2314287 h 2403500"/>
                    <a:gd name="connsiteX9" fmla="*/ 0 w 2257873"/>
                    <a:gd name="connsiteY9" fmla="*/ 1489100 h 2403500"/>
                    <a:gd name="connsiteX10" fmla="*/ 0 w 2257873"/>
                    <a:gd name="connsiteY10" fmla="*/ 623451 h 2403500"/>
                    <a:gd name="connsiteX11" fmla="*/ 65200 w 2257873"/>
                    <a:gd name="connsiteY11" fmla="*/ 517955 h 2403500"/>
                    <a:gd name="connsiteX12" fmla="*/ 1076188 w 2257873"/>
                    <a:gd name="connsiteY12" fmla="*/ 12461 h 2403500"/>
                    <a:gd name="connsiteX13" fmla="*/ 1128937 w 2257873"/>
                    <a:gd name="connsiteY13" fmla="*/ 0 h 240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57873" h="2403500">
                      <a:moveTo>
                        <a:pt x="1128937" y="0"/>
                      </a:moveTo>
                      <a:cubicBezTo>
                        <a:pt x="1147003" y="0"/>
                        <a:pt x="1165069" y="4154"/>
                        <a:pt x="1181685" y="12461"/>
                      </a:cubicBezTo>
                      <a:lnTo>
                        <a:pt x="2192673" y="517955"/>
                      </a:lnTo>
                      <a:cubicBezTo>
                        <a:pt x="2232641" y="537940"/>
                        <a:pt x="2257873" y="578767"/>
                        <a:pt x="2257873" y="623451"/>
                      </a:cubicBezTo>
                      <a:lnTo>
                        <a:pt x="2257873" y="2314287"/>
                      </a:lnTo>
                      <a:lnTo>
                        <a:pt x="2257200" y="2319080"/>
                      </a:lnTo>
                      <a:lnTo>
                        <a:pt x="2257200" y="2403500"/>
                      </a:lnTo>
                      <a:lnTo>
                        <a:pt x="0" y="2403500"/>
                      </a:lnTo>
                      <a:lnTo>
                        <a:pt x="0" y="2314287"/>
                      </a:lnTo>
                      <a:lnTo>
                        <a:pt x="0" y="1489100"/>
                      </a:lnTo>
                      <a:lnTo>
                        <a:pt x="0" y="623451"/>
                      </a:lnTo>
                      <a:cubicBezTo>
                        <a:pt x="0" y="578767"/>
                        <a:pt x="25233" y="537940"/>
                        <a:pt x="65200" y="517955"/>
                      </a:cubicBezTo>
                      <a:lnTo>
                        <a:pt x="1076188" y="12461"/>
                      </a:lnTo>
                      <a:cubicBezTo>
                        <a:pt x="1092804" y="4154"/>
                        <a:pt x="1110871" y="0"/>
                        <a:pt x="1128937" y="0"/>
                      </a:cubicBezTo>
                      <a:close/>
                    </a:path>
                  </a:pathLst>
                </a:custGeom>
                <a:noFill/>
                <a:ln w="1905">
                  <a:gradFill>
                    <a:gsLst>
                      <a:gs pos="0">
                        <a:schemeClr val="bg1"/>
                      </a:gs>
                      <a:gs pos="100000">
                        <a:schemeClr val="bg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grpSp>
      </p:grpSp>
      <p:sp>
        <p:nvSpPr>
          <p:cNvPr id="16"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对比</a:t>
            </a: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总结与规划</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6" name="文本框 115"/>
          <p:cNvSpPr txBox="1"/>
          <p:nvPr/>
        </p:nvSpPr>
        <p:spPr>
          <a:xfrm>
            <a:off x="1078863" y="2494817"/>
            <a:ext cx="1668049" cy="830997"/>
          </a:xfrm>
          <a:prstGeom prst="rect">
            <a:avLst/>
          </a:prstGeom>
          <a:noFill/>
        </p:spPr>
        <p:txBody>
          <a:bodyPr wrap="square" rtlCol="0">
            <a:spAutoFit/>
          </a:bodyPr>
          <a:lstStyle/>
          <a:p>
            <a:pPr algn="ctr"/>
            <a:r>
              <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上半年</a:t>
            </a:r>
            <a:endPar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a:p>
            <a:pPr algn="ctr"/>
            <a:r>
              <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工作总结</a:t>
            </a:r>
            <a:endPar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8" name="文本框 117"/>
          <p:cNvSpPr txBox="1"/>
          <p:nvPr/>
        </p:nvSpPr>
        <p:spPr>
          <a:xfrm>
            <a:off x="1078863" y="4976116"/>
            <a:ext cx="1668049" cy="830997"/>
          </a:xfrm>
          <a:prstGeom prst="rect">
            <a:avLst/>
          </a:prstGeom>
          <a:noFill/>
        </p:spPr>
        <p:txBody>
          <a:bodyPr wrap="square" rtlCol="0">
            <a:spAutoFit/>
          </a:bodyPr>
          <a:lstStyle/>
          <a:p>
            <a:pPr algn="ctr"/>
            <a:r>
              <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下半年</a:t>
            </a:r>
            <a:endPar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a:p>
            <a:pPr algn="ctr"/>
            <a:r>
              <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工作计划</a:t>
            </a:r>
            <a:endPar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289" name="图形 28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06887" y="4205906"/>
            <a:ext cx="612000" cy="612000"/>
          </a:xfrm>
          <a:prstGeom prst="rect">
            <a:avLst/>
          </a:prstGeom>
        </p:spPr>
      </p:pic>
      <p:pic>
        <p:nvPicPr>
          <p:cNvPr id="291" name="图形 29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0887" y="1664703"/>
            <a:ext cx="684000" cy="684000"/>
          </a:xfrm>
          <a:prstGeom prst="rect">
            <a:avLst/>
          </a:prstGeom>
        </p:spPr>
      </p:pic>
      <p:sp>
        <p:nvSpPr>
          <p:cNvPr id="33" name="任意多边形: 形状 32"/>
          <p:cNvSpPr/>
          <p:nvPr/>
        </p:nvSpPr>
        <p:spPr>
          <a:xfrm>
            <a:off x="3638143" y="1672588"/>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9" name="任意多边形: 形状 98"/>
          <p:cNvSpPr/>
          <p:nvPr/>
        </p:nvSpPr>
        <p:spPr>
          <a:xfrm>
            <a:off x="3634348" y="3116550"/>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业绩冲刺</a:t>
            </a:r>
            <a:endParaRPr lang="zh-CN" altLang="en-US" sz="1600" dirty="0">
              <a:solidFill>
                <a:schemeClr val="bg1"/>
              </a:solidFill>
              <a:latin typeface="+mj-ea"/>
              <a:ea typeface="+mj-ea"/>
              <a:cs typeface="思源黑体 CN Normal" panose="020B0400000000000000" pitchFamily="34" charset="-122"/>
            </a:endParaRPr>
          </a:p>
        </p:txBody>
      </p:sp>
      <p:sp>
        <p:nvSpPr>
          <p:cNvPr id="37" name="等腰三角形 34"/>
          <p:cNvSpPr>
            <a:spLocks noChangeAspect="1"/>
          </p:cNvSpPr>
          <p:nvPr/>
        </p:nvSpPr>
        <p:spPr>
          <a:xfrm>
            <a:off x="3632417" y="1900858"/>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64" name="等腰三角形 34"/>
          <p:cNvSpPr>
            <a:spLocks noChangeAspect="1"/>
          </p:cNvSpPr>
          <p:nvPr/>
        </p:nvSpPr>
        <p:spPr>
          <a:xfrm>
            <a:off x="3632417" y="2489665"/>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296" name="文本框 295"/>
          <p:cNvSpPr txBox="1"/>
          <p:nvPr/>
        </p:nvSpPr>
        <p:spPr>
          <a:xfrm>
            <a:off x="3707372" y="1795845"/>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上半年销售额达</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亿元，增长</a:t>
            </a:r>
            <a:r>
              <a:rPr lang="en-US" altLang="zh-CN" sz="1200" b="0" i="0" dirty="0">
                <a:solidFill>
                  <a:srgbClr val="0D0D0D"/>
                </a:solidFill>
                <a:effectLst/>
                <a:latin typeface="+mn-ea"/>
                <a:cs typeface="思源黑体 CN Normal" panose="020B0400000000000000" pitchFamily="34" charset="-122"/>
              </a:rPr>
              <a:t>25%</a:t>
            </a:r>
            <a:r>
              <a:rPr lang="zh-CN" altLang="en-US" sz="1200" b="0" i="0" dirty="0">
                <a:solidFill>
                  <a:srgbClr val="0D0D0D"/>
                </a:solidFill>
                <a:effectLst/>
                <a:latin typeface="+mn-ea"/>
                <a:cs typeface="思源黑体 CN Normal" panose="020B0400000000000000" pitchFamily="34" charset="-122"/>
              </a:rPr>
              <a:t>，完成季度目标的</a:t>
            </a:r>
            <a:r>
              <a:rPr lang="en-US" altLang="zh-CN" sz="1200" b="0" i="0" dirty="0">
                <a:solidFill>
                  <a:srgbClr val="0D0D0D"/>
                </a:solidFill>
                <a:effectLst/>
                <a:latin typeface="+mn-ea"/>
                <a:cs typeface="思源黑体 CN Normal" panose="020B0400000000000000" pitchFamily="34" charset="-122"/>
              </a:rPr>
              <a:t>112%</a:t>
            </a:r>
            <a:endParaRPr lang="zh-CN" altLang="en-US" sz="1200" b="0" i="0" dirty="0">
              <a:solidFill>
                <a:srgbClr val="0D0D0D"/>
              </a:solidFill>
              <a:effectLst/>
              <a:latin typeface="+mn-ea"/>
              <a:cs typeface="思源黑体 CN Normal" panose="020B0400000000000000" pitchFamily="34" charset="-122"/>
            </a:endParaRPr>
          </a:p>
        </p:txBody>
      </p:sp>
      <p:sp>
        <p:nvSpPr>
          <p:cNvPr id="299" name="文本框 298"/>
          <p:cNvSpPr txBox="1"/>
          <p:nvPr/>
        </p:nvSpPr>
        <p:spPr>
          <a:xfrm>
            <a:off x="3707372" y="2380267"/>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新增三甲医院客户</a:t>
            </a:r>
            <a:r>
              <a:rPr lang="en-US" altLang="zh-CN" sz="1200" b="0" i="0" dirty="0">
                <a:solidFill>
                  <a:srgbClr val="0D0D0D"/>
                </a:solidFill>
                <a:effectLst/>
                <a:latin typeface="+mn-ea"/>
                <a:cs typeface="思源黑体 CN Normal" panose="020B0400000000000000" pitchFamily="34" charset="-122"/>
              </a:rPr>
              <a:t>15</a:t>
            </a:r>
            <a:r>
              <a:rPr lang="zh-CN" altLang="en-US" sz="1200" b="0" i="0" dirty="0">
                <a:solidFill>
                  <a:srgbClr val="0D0D0D"/>
                </a:solidFill>
                <a:effectLst/>
                <a:latin typeface="+mn-ea"/>
                <a:cs typeface="思源黑体 CN Normal" panose="020B0400000000000000" pitchFamily="34" charset="-122"/>
              </a:rPr>
              <a:t>家，覆盖率提升至</a:t>
            </a:r>
            <a:r>
              <a:rPr lang="en-US" altLang="zh-CN" sz="1200" b="0" i="0" dirty="0">
                <a:solidFill>
                  <a:srgbClr val="0D0D0D"/>
                </a:solidFill>
                <a:effectLst/>
                <a:latin typeface="+mn-ea"/>
                <a:cs typeface="思源黑体 CN Normal" panose="020B0400000000000000" pitchFamily="34" charset="-122"/>
              </a:rPr>
              <a:t>68%</a:t>
            </a:r>
            <a:r>
              <a:rPr lang="zh-CN" altLang="en-US" sz="1200" b="0" i="0" dirty="0">
                <a:solidFill>
                  <a:srgbClr val="0D0D0D"/>
                </a:solidFill>
                <a:effectLst/>
                <a:latin typeface="+mn-ea"/>
                <a:cs typeface="思源黑体 CN Normal" panose="020B0400000000000000" pitchFamily="34" charset="-122"/>
              </a:rPr>
              <a:t>，续约率</a:t>
            </a:r>
            <a:r>
              <a:rPr lang="en-US" altLang="zh-CN" sz="1200" b="0" i="0" dirty="0">
                <a:solidFill>
                  <a:srgbClr val="0D0D0D"/>
                </a:solidFill>
                <a:effectLst/>
                <a:latin typeface="+mn-ea"/>
                <a:cs typeface="思源黑体 CN Normal" panose="020B0400000000000000" pitchFamily="34" charset="-122"/>
              </a:rPr>
              <a:t>92%</a:t>
            </a:r>
            <a:endParaRPr lang="zh-CN" altLang="en-US" sz="1200" b="0" i="0" dirty="0">
              <a:solidFill>
                <a:srgbClr val="0D0D0D"/>
              </a:solidFill>
              <a:effectLst/>
              <a:latin typeface="+mn-ea"/>
              <a:cs typeface="思源黑体 CN Normal" panose="020B0400000000000000" pitchFamily="34" charset="-122"/>
            </a:endParaRPr>
          </a:p>
        </p:txBody>
      </p:sp>
      <p:sp>
        <p:nvSpPr>
          <p:cNvPr id="316" name="任意多边形: 形状 315"/>
          <p:cNvSpPr/>
          <p:nvPr/>
        </p:nvSpPr>
        <p:spPr>
          <a:xfrm>
            <a:off x="6483800" y="1672588"/>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17" name="任意多边形: 形状 316"/>
          <p:cNvSpPr/>
          <p:nvPr/>
        </p:nvSpPr>
        <p:spPr>
          <a:xfrm>
            <a:off x="6485295" y="3116550"/>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团队赋能</a:t>
            </a:r>
            <a:endParaRPr lang="zh-CN" altLang="en-US" sz="1600" dirty="0">
              <a:solidFill>
                <a:schemeClr val="bg1"/>
              </a:solidFill>
              <a:latin typeface="+mj-ea"/>
              <a:ea typeface="+mj-ea"/>
              <a:cs typeface="思源黑体 CN Normal" panose="020B0400000000000000" pitchFamily="34" charset="-122"/>
            </a:endParaRPr>
          </a:p>
        </p:txBody>
      </p:sp>
      <p:sp>
        <p:nvSpPr>
          <p:cNvPr id="319" name="等腰三角形 34"/>
          <p:cNvSpPr>
            <a:spLocks noChangeAspect="1"/>
          </p:cNvSpPr>
          <p:nvPr/>
        </p:nvSpPr>
        <p:spPr>
          <a:xfrm>
            <a:off x="6478074" y="1900858"/>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20" name="等腰三角形 34"/>
          <p:cNvSpPr>
            <a:spLocks noChangeAspect="1"/>
          </p:cNvSpPr>
          <p:nvPr/>
        </p:nvSpPr>
        <p:spPr>
          <a:xfrm>
            <a:off x="6478074" y="2489665"/>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21" name="文本框 320"/>
          <p:cNvSpPr txBox="1"/>
          <p:nvPr/>
        </p:nvSpPr>
        <p:spPr>
          <a:xfrm>
            <a:off x="6553029" y="1795845"/>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开展产品知识、销售技巧培训</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场，人均业绩提升</a:t>
            </a:r>
            <a:r>
              <a:rPr lang="en-US" altLang="zh-CN" sz="1200" b="0" i="0" dirty="0">
                <a:solidFill>
                  <a:srgbClr val="0D0D0D"/>
                </a:solidFill>
                <a:effectLst/>
                <a:latin typeface="+mn-ea"/>
                <a:cs typeface="思源黑体 CN Normal" panose="020B0400000000000000" pitchFamily="34" charset="-122"/>
              </a:rPr>
              <a:t>18%</a:t>
            </a:r>
            <a:endParaRPr lang="zh-CN" altLang="en-US" sz="1200" b="0" i="0" dirty="0">
              <a:solidFill>
                <a:srgbClr val="0D0D0D"/>
              </a:solidFill>
              <a:effectLst/>
              <a:latin typeface="+mn-ea"/>
              <a:cs typeface="思源黑体 CN Normal" panose="020B0400000000000000" pitchFamily="34" charset="-122"/>
            </a:endParaRPr>
          </a:p>
        </p:txBody>
      </p:sp>
      <p:sp>
        <p:nvSpPr>
          <p:cNvPr id="322" name="文本框 321"/>
          <p:cNvSpPr txBox="1"/>
          <p:nvPr/>
        </p:nvSpPr>
        <p:spPr>
          <a:xfrm>
            <a:off x="6553029" y="2380267"/>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优化绩效考核机制，</a:t>
            </a:r>
            <a:r>
              <a:rPr lang="en-US" altLang="zh-CN" sz="1200" b="0" i="0" dirty="0">
                <a:solidFill>
                  <a:srgbClr val="0D0D0D"/>
                </a:solidFill>
                <a:effectLst/>
                <a:latin typeface="+mn-ea"/>
                <a:cs typeface="思源黑体 CN Normal" panose="020B0400000000000000" pitchFamily="34" charset="-122"/>
              </a:rPr>
              <a:t>TOP3</a:t>
            </a:r>
            <a:r>
              <a:rPr lang="zh-CN" altLang="en-US" sz="1200" b="0" i="0" dirty="0">
                <a:solidFill>
                  <a:srgbClr val="0D0D0D"/>
                </a:solidFill>
                <a:effectLst/>
                <a:latin typeface="+mn-ea"/>
                <a:cs typeface="思源黑体 CN Normal" panose="020B0400000000000000" pitchFamily="34" charset="-122"/>
              </a:rPr>
              <a:t>销售贡献团队总业绩的</a:t>
            </a:r>
            <a:r>
              <a:rPr lang="en-US" altLang="zh-CN" sz="1200" b="0" i="0" dirty="0">
                <a:solidFill>
                  <a:srgbClr val="0D0D0D"/>
                </a:solidFill>
                <a:effectLst/>
                <a:latin typeface="+mn-ea"/>
                <a:cs typeface="思源黑体 CN Normal" panose="020B0400000000000000" pitchFamily="34" charset="-122"/>
              </a:rPr>
              <a:t>45%</a:t>
            </a:r>
            <a:endParaRPr lang="zh-CN" altLang="en-US" sz="1200" b="0" i="0" dirty="0">
              <a:solidFill>
                <a:srgbClr val="0D0D0D"/>
              </a:solidFill>
              <a:effectLst/>
              <a:latin typeface="+mn-ea"/>
              <a:cs typeface="思源黑体 CN Normal" panose="020B0400000000000000" pitchFamily="34" charset="-122"/>
            </a:endParaRPr>
          </a:p>
        </p:txBody>
      </p:sp>
      <p:sp>
        <p:nvSpPr>
          <p:cNvPr id="324" name="任意多边形: 形状 323"/>
          <p:cNvSpPr/>
          <p:nvPr/>
        </p:nvSpPr>
        <p:spPr>
          <a:xfrm>
            <a:off x="9329457" y="1672588"/>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25" name="任意多边形: 形状 324"/>
          <p:cNvSpPr/>
          <p:nvPr/>
        </p:nvSpPr>
        <p:spPr>
          <a:xfrm>
            <a:off x="9325662" y="3116550"/>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渠道优化</a:t>
            </a:r>
            <a:endParaRPr lang="zh-CN" altLang="en-US" sz="1600" dirty="0">
              <a:solidFill>
                <a:schemeClr val="bg1"/>
              </a:solidFill>
              <a:latin typeface="+mj-ea"/>
              <a:ea typeface="+mj-ea"/>
              <a:cs typeface="思源黑体 CN Normal" panose="020B0400000000000000" pitchFamily="34" charset="-122"/>
            </a:endParaRPr>
          </a:p>
        </p:txBody>
      </p:sp>
      <p:sp>
        <p:nvSpPr>
          <p:cNvPr id="326" name="等腰三角形 34"/>
          <p:cNvSpPr>
            <a:spLocks noChangeAspect="1"/>
          </p:cNvSpPr>
          <p:nvPr/>
        </p:nvSpPr>
        <p:spPr>
          <a:xfrm>
            <a:off x="9323731" y="1900858"/>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27" name="等腰三角形 34"/>
          <p:cNvSpPr>
            <a:spLocks noChangeAspect="1"/>
          </p:cNvSpPr>
          <p:nvPr/>
        </p:nvSpPr>
        <p:spPr>
          <a:xfrm>
            <a:off x="9323731" y="2489665"/>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28" name="文本框 327"/>
          <p:cNvSpPr txBox="1"/>
          <p:nvPr/>
        </p:nvSpPr>
        <p:spPr>
          <a:xfrm>
            <a:off x="9398686" y="1795845"/>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线上渠道贡献</a:t>
            </a:r>
            <a:r>
              <a:rPr lang="en-US" altLang="zh-CN" sz="1200" b="0" i="0" dirty="0">
                <a:solidFill>
                  <a:srgbClr val="0D0D0D"/>
                </a:solidFill>
                <a:effectLst/>
                <a:latin typeface="+mn-ea"/>
                <a:cs typeface="思源黑体 CN Normal" panose="020B0400000000000000" pitchFamily="34" charset="-122"/>
              </a:rPr>
              <a:t>22%</a:t>
            </a:r>
            <a:r>
              <a:rPr lang="zh-CN" altLang="en-US" sz="1200" b="0" i="0" dirty="0">
                <a:solidFill>
                  <a:srgbClr val="0D0D0D"/>
                </a:solidFill>
                <a:effectLst/>
                <a:latin typeface="+mn-ea"/>
                <a:cs typeface="思源黑体 CN Normal" panose="020B0400000000000000" pitchFamily="34" charset="-122"/>
              </a:rPr>
              <a:t>销售额，直播带货单场最高转化率</a:t>
            </a:r>
            <a:r>
              <a:rPr lang="en-US" altLang="zh-CN" sz="1200" b="0" i="0" dirty="0">
                <a:solidFill>
                  <a:srgbClr val="0D0D0D"/>
                </a:solidFill>
                <a:effectLst/>
                <a:latin typeface="+mn-ea"/>
                <a:cs typeface="思源黑体 CN Normal" panose="020B0400000000000000" pitchFamily="34" charset="-122"/>
              </a:rPr>
              <a:t>15%</a:t>
            </a:r>
            <a:endParaRPr lang="zh-CN" altLang="en-US" sz="1200" b="0" i="0" dirty="0">
              <a:solidFill>
                <a:srgbClr val="0D0D0D"/>
              </a:solidFill>
              <a:effectLst/>
              <a:latin typeface="+mn-ea"/>
              <a:cs typeface="思源黑体 CN Normal" panose="020B0400000000000000" pitchFamily="34" charset="-122"/>
            </a:endParaRPr>
          </a:p>
        </p:txBody>
      </p:sp>
      <p:sp>
        <p:nvSpPr>
          <p:cNvPr id="329" name="文本框 328"/>
          <p:cNvSpPr txBox="1"/>
          <p:nvPr/>
        </p:nvSpPr>
        <p:spPr>
          <a:xfrm>
            <a:off x="9398686" y="2380267"/>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线下调整经销商布局，淘汰低效伙伴</a:t>
            </a:r>
            <a:r>
              <a:rPr lang="en-US" altLang="zh-CN" sz="1200" b="0" i="0" dirty="0">
                <a:solidFill>
                  <a:srgbClr val="0D0D0D"/>
                </a:solidFill>
                <a:effectLst/>
                <a:latin typeface="+mn-ea"/>
                <a:cs typeface="思源黑体 CN Normal" panose="020B0400000000000000" pitchFamily="34" charset="-122"/>
              </a:rPr>
              <a:t>5</a:t>
            </a:r>
            <a:r>
              <a:rPr lang="zh-CN" altLang="en-US" sz="1200" b="0" i="0" dirty="0">
                <a:solidFill>
                  <a:srgbClr val="0D0D0D"/>
                </a:solidFill>
                <a:effectLst/>
                <a:latin typeface="+mn-ea"/>
                <a:cs typeface="思源黑体 CN Normal" panose="020B0400000000000000" pitchFamily="34" charset="-122"/>
              </a:rPr>
              <a:t>家，效率提升</a:t>
            </a:r>
            <a:r>
              <a:rPr lang="en-US" altLang="zh-CN" sz="1200" b="0" i="0" dirty="0">
                <a:solidFill>
                  <a:srgbClr val="0D0D0D"/>
                </a:solidFill>
                <a:effectLst/>
                <a:latin typeface="+mn-ea"/>
                <a:cs typeface="思源黑体 CN Normal" panose="020B0400000000000000" pitchFamily="34" charset="-122"/>
              </a:rPr>
              <a:t>20%</a:t>
            </a:r>
            <a:endParaRPr lang="zh-CN" altLang="en-US" sz="1200" b="0" i="0" dirty="0">
              <a:solidFill>
                <a:srgbClr val="0D0D0D"/>
              </a:solidFill>
              <a:effectLst/>
              <a:latin typeface="+mn-ea"/>
              <a:cs typeface="思源黑体 CN Normal" panose="020B0400000000000000" pitchFamily="34" charset="-122"/>
            </a:endParaRPr>
          </a:p>
        </p:txBody>
      </p:sp>
      <p:sp>
        <p:nvSpPr>
          <p:cNvPr id="373" name="任意多边形: 形状 372"/>
          <p:cNvSpPr/>
          <p:nvPr/>
        </p:nvSpPr>
        <p:spPr>
          <a:xfrm flipV="1">
            <a:off x="3638143" y="3972567"/>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2"/>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74" name="任意多边形: 形状 373"/>
          <p:cNvSpPr/>
          <p:nvPr/>
        </p:nvSpPr>
        <p:spPr>
          <a:xfrm>
            <a:off x="3639638" y="4112605"/>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市场突破</a:t>
            </a:r>
            <a:endParaRPr lang="zh-CN" altLang="en-US" sz="1600" dirty="0">
              <a:solidFill>
                <a:schemeClr val="bg1"/>
              </a:solidFill>
              <a:latin typeface="+mj-ea"/>
              <a:ea typeface="+mj-ea"/>
              <a:cs typeface="思源黑体 CN Normal" panose="020B0400000000000000" pitchFamily="34" charset="-122"/>
            </a:endParaRPr>
          </a:p>
        </p:txBody>
      </p:sp>
      <p:sp>
        <p:nvSpPr>
          <p:cNvPr id="375" name="等腰三角形 34"/>
          <p:cNvSpPr>
            <a:spLocks noChangeAspect="1"/>
          </p:cNvSpPr>
          <p:nvPr/>
        </p:nvSpPr>
        <p:spPr>
          <a:xfrm flipV="1">
            <a:off x="3632417" y="5324657"/>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76" name="等腰三角形 34"/>
          <p:cNvSpPr>
            <a:spLocks noChangeAspect="1"/>
          </p:cNvSpPr>
          <p:nvPr/>
        </p:nvSpPr>
        <p:spPr>
          <a:xfrm flipV="1">
            <a:off x="3632417" y="4735850"/>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77" name="文本框 376"/>
          <p:cNvSpPr txBox="1"/>
          <p:nvPr/>
        </p:nvSpPr>
        <p:spPr>
          <a:xfrm>
            <a:off x="3714343" y="4627167"/>
            <a:ext cx="2232000" cy="498598"/>
          </a:xfrm>
          <a:prstGeom prst="rect">
            <a:avLst/>
          </a:prstGeom>
          <a:noFill/>
        </p:spPr>
        <p:txBody>
          <a:bodyPr wrap="square">
            <a:spAutoFit/>
          </a:bodyPr>
          <a:lstStyle/>
          <a:p>
            <a:pPr marL="0" lvl="1">
              <a:lnSpc>
                <a:spcPct val="110000"/>
              </a:lnSpc>
            </a:pPr>
            <a:r>
              <a:rPr lang="zh-CN" altLang="en-US" sz="1200" b="0" i="0" dirty="0">
                <a:solidFill>
                  <a:srgbClr val="0D0D0D"/>
                </a:solidFill>
                <a:effectLst/>
                <a:latin typeface="+mn-ea"/>
                <a:cs typeface="思源黑体 CN Normal" panose="020B0400000000000000" pitchFamily="34" charset="-122"/>
              </a:rPr>
              <a:t>聚焦县域医疗市场，推出轻量化便携设备</a:t>
            </a:r>
            <a:r>
              <a:rPr lang="en-US" altLang="zh-CN" sz="1200" b="0" i="0" dirty="0">
                <a:solidFill>
                  <a:srgbClr val="0D0D0D"/>
                </a:solidFill>
                <a:effectLst/>
                <a:latin typeface="+mn-ea"/>
                <a:cs typeface="思源黑体 CN Normal" panose="020B0400000000000000" pitchFamily="34" charset="-122"/>
              </a:rPr>
              <a:t>,</a:t>
            </a:r>
            <a:r>
              <a:rPr lang="zh-CN" altLang="en-US" sz="1200" dirty="0">
                <a:solidFill>
                  <a:srgbClr val="0D0D0D"/>
                </a:solidFill>
                <a:latin typeface="思源黑体 CN Normal" panose="020B0400000000000000" pitchFamily="34" charset="-122"/>
                <a:cs typeface="思源黑体 CN Normal" panose="020B0400000000000000" pitchFamily="34" charset="-122"/>
              </a:rPr>
              <a:t>销售额</a:t>
            </a:r>
            <a:r>
              <a:rPr lang="en-US" altLang="zh-CN" sz="1200" dirty="0">
                <a:solidFill>
                  <a:srgbClr val="0D0D0D"/>
                </a:solidFill>
                <a:latin typeface="思源黑体 CN Normal" panose="020B0400000000000000" pitchFamily="34" charset="-122"/>
                <a:cs typeface="思源黑体 CN Normal" panose="020B0400000000000000" pitchFamily="34" charset="-122"/>
              </a:rPr>
              <a:t>3000</a:t>
            </a:r>
            <a:r>
              <a:rPr lang="zh-CN" altLang="en-US" sz="1200" dirty="0">
                <a:solidFill>
                  <a:srgbClr val="0D0D0D"/>
                </a:solidFill>
                <a:latin typeface="思源黑体 CN Normal" panose="020B0400000000000000" pitchFamily="34" charset="-122"/>
                <a:cs typeface="思源黑体 CN Normal" panose="020B0400000000000000" pitchFamily="34" charset="-122"/>
              </a:rPr>
              <a:t>万元</a:t>
            </a:r>
            <a:endParaRPr lang="zh-CN" altLang="en-US" sz="1200" b="0" i="0" dirty="0">
              <a:solidFill>
                <a:srgbClr val="0D0D0D"/>
              </a:solidFill>
              <a:effectLst/>
              <a:latin typeface="+mn-ea"/>
              <a:cs typeface="思源黑体 CN Normal" panose="020B0400000000000000" pitchFamily="34" charset="-122"/>
            </a:endParaRPr>
          </a:p>
        </p:txBody>
      </p:sp>
      <p:sp>
        <p:nvSpPr>
          <p:cNvPr id="378" name="文本框 377"/>
          <p:cNvSpPr txBox="1"/>
          <p:nvPr/>
        </p:nvSpPr>
        <p:spPr>
          <a:xfrm>
            <a:off x="3714343" y="5211589"/>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上线“智能售后平台”，实现设备故障预警、远程维修指导</a:t>
            </a:r>
            <a:endParaRPr lang="zh-CN" altLang="en-US" sz="1200" b="0" i="0" dirty="0">
              <a:solidFill>
                <a:srgbClr val="0D0D0D"/>
              </a:solidFill>
              <a:effectLst/>
              <a:latin typeface="+mn-ea"/>
              <a:cs typeface="思源黑体 CN Normal" panose="020B0400000000000000" pitchFamily="34" charset="-122"/>
            </a:endParaRPr>
          </a:p>
        </p:txBody>
      </p:sp>
      <p:sp>
        <p:nvSpPr>
          <p:cNvPr id="382" name="任意多边形: 形状 381"/>
          <p:cNvSpPr/>
          <p:nvPr/>
        </p:nvSpPr>
        <p:spPr>
          <a:xfrm flipV="1">
            <a:off x="6483800" y="3972567"/>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2"/>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83" name="任意多边形: 形状 382"/>
          <p:cNvSpPr/>
          <p:nvPr/>
        </p:nvSpPr>
        <p:spPr>
          <a:xfrm>
            <a:off x="6485295" y="4112605"/>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效率跃升</a:t>
            </a:r>
            <a:endParaRPr lang="zh-CN" altLang="en-US" sz="1600" dirty="0">
              <a:solidFill>
                <a:schemeClr val="bg1"/>
              </a:solidFill>
              <a:latin typeface="+mj-ea"/>
              <a:ea typeface="+mj-ea"/>
              <a:cs typeface="思源黑体 CN Normal" panose="020B0400000000000000" pitchFamily="34" charset="-122"/>
            </a:endParaRPr>
          </a:p>
        </p:txBody>
      </p:sp>
      <p:sp>
        <p:nvSpPr>
          <p:cNvPr id="384" name="等腰三角形 34"/>
          <p:cNvSpPr>
            <a:spLocks noChangeAspect="1"/>
          </p:cNvSpPr>
          <p:nvPr/>
        </p:nvSpPr>
        <p:spPr>
          <a:xfrm flipV="1">
            <a:off x="6478074" y="5324657"/>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85" name="等腰三角形 34"/>
          <p:cNvSpPr>
            <a:spLocks noChangeAspect="1"/>
          </p:cNvSpPr>
          <p:nvPr/>
        </p:nvSpPr>
        <p:spPr>
          <a:xfrm flipV="1">
            <a:off x="6478074" y="4735850"/>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86" name="文本框 385"/>
          <p:cNvSpPr txBox="1"/>
          <p:nvPr/>
        </p:nvSpPr>
        <p:spPr>
          <a:xfrm>
            <a:off x="6560000" y="4627167"/>
            <a:ext cx="2232000" cy="492507"/>
          </a:xfrm>
          <a:prstGeom prst="rect">
            <a:avLst/>
          </a:prstGeom>
          <a:noFill/>
        </p:spPr>
        <p:txBody>
          <a:bodyPr wrap="square">
            <a:spAutoFit/>
          </a:bodyPr>
          <a:lstStyle/>
          <a:p>
            <a:pPr marL="0" lvl="1" algn="l">
              <a:lnSpc>
                <a:spcPct val="110000"/>
              </a:lnSpc>
            </a:pPr>
            <a:r>
              <a:rPr lang="en-US" altLang="zh-CN" sz="1200" b="0" i="0" dirty="0">
                <a:solidFill>
                  <a:srgbClr val="0D0D0D"/>
                </a:solidFill>
                <a:effectLst/>
                <a:latin typeface="+mn-ea"/>
                <a:cs typeface="思源黑体 CN Normal" panose="020B0400000000000000" pitchFamily="34" charset="-122"/>
              </a:rPr>
              <a:t>AI</a:t>
            </a:r>
            <a:r>
              <a:rPr lang="zh-CN" altLang="en-US" sz="1200" b="0" i="0" dirty="0">
                <a:solidFill>
                  <a:srgbClr val="0D0D0D"/>
                </a:solidFill>
                <a:effectLst/>
                <a:latin typeface="+mn-ea"/>
                <a:cs typeface="思源黑体 CN Normal" panose="020B0400000000000000" pitchFamily="34" charset="-122"/>
              </a:rPr>
              <a:t>销售预测工具，优化库存周转率</a:t>
            </a: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试点“客户经理”模式</a:t>
            </a:r>
            <a:endParaRPr lang="zh-CN" altLang="en-US" sz="1200" b="0" i="0" dirty="0">
              <a:solidFill>
                <a:srgbClr val="0D0D0D"/>
              </a:solidFill>
              <a:effectLst/>
              <a:latin typeface="+mn-ea"/>
              <a:cs typeface="思源黑体 CN Normal" panose="020B0400000000000000" pitchFamily="34" charset="-122"/>
            </a:endParaRPr>
          </a:p>
        </p:txBody>
      </p:sp>
      <p:sp>
        <p:nvSpPr>
          <p:cNvPr id="387" name="文本框 386"/>
          <p:cNvSpPr txBox="1"/>
          <p:nvPr/>
        </p:nvSpPr>
        <p:spPr>
          <a:xfrm>
            <a:off x="6560000" y="5211589"/>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完成试点测试，计划四季度推向市场，溢价空间预计</a:t>
            </a:r>
            <a:r>
              <a:rPr lang="en-US" altLang="zh-CN" sz="1200" b="0" i="0" dirty="0">
                <a:solidFill>
                  <a:srgbClr val="0D0D0D"/>
                </a:solidFill>
                <a:effectLst/>
                <a:latin typeface="+mn-ea"/>
                <a:cs typeface="思源黑体 CN Normal" panose="020B0400000000000000" pitchFamily="34" charset="-122"/>
              </a:rPr>
              <a:t>15%</a:t>
            </a:r>
            <a:endParaRPr lang="zh-CN" altLang="en-US" sz="1200" b="0" i="0" dirty="0">
              <a:solidFill>
                <a:srgbClr val="0D0D0D"/>
              </a:solidFill>
              <a:effectLst/>
              <a:latin typeface="+mn-ea"/>
              <a:cs typeface="思源黑体 CN Normal" panose="020B0400000000000000" pitchFamily="34" charset="-122"/>
            </a:endParaRPr>
          </a:p>
        </p:txBody>
      </p:sp>
      <p:sp>
        <p:nvSpPr>
          <p:cNvPr id="389" name="任意多边形: 形状 388"/>
          <p:cNvSpPr/>
          <p:nvPr/>
        </p:nvSpPr>
        <p:spPr>
          <a:xfrm flipV="1">
            <a:off x="9329457" y="3972567"/>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2"/>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90" name="任意多边形: 形状 389"/>
          <p:cNvSpPr/>
          <p:nvPr/>
        </p:nvSpPr>
        <p:spPr>
          <a:xfrm>
            <a:off x="9335186" y="4112605"/>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人才储备</a:t>
            </a:r>
            <a:endParaRPr lang="zh-CN" altLang="en-US" sz="1600" dirty="0">
              <a:solidFill>
                <a:schemeClr val="bg1"/>
              </a:solidFill>
              <a:latin typeface="+mj-ea"/>
              <a:ea typeface="+mj-ea"/>
              <a:cs typeface="思源黑体 CN Normal" panose="020B0400000000000000" pitchFamily="34" charset="-122"/>
            </a:endParaRPr>
          </a:p>
        </p:txBody>
      </p:sp>
      <p:sp>
        <p:nvSpPr>
          <p:cNvPr id="391" name="等腰三角形 34"/>
          <p:cNvSpPr>
            <a:spLocks noChangeAspect="1"/>
          </p:cNvSpPr>
          <p:nvPr/>
        </p:nvSpPr>
        <p:spPr>
          <a:xfrm flipV="1">
            <a:off x="9323731" y="5324657"/>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92" name="等腰三角形 34"/>
          <p:cNvSpPr>
            <a:spLocks noChangeAspect="1"/>
          </p:cNvSpPr>
          <p:nvPr/>
        </p:nvSpPr>
        <p:spPr>
          <a:xfrm flipV="1">
            <a:off x="9323731" y="4735850"/>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93" name="文本框 392"/>
          <p:cNvSpPr txBox="1"/>
          <p:nvPr/>
        </p:nvSpPr>
        <p:spPr>
          <a:xfrm>
            <a:off x="9405657" y="4627167"/>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招聘技术型销售</a:t>
            </a:r>
            <a:r>
              <a:rPr lang="en-US" altLang="zh-CN" sz="1200" b="0" i="0" dirty="0">
                <a:solidFill>
                  <a:srgbClr val="0D0D0D"/>
                </a:solidFill>
                <a:effectLst/>
                <a:latin typeface="+mn-ea"/>
                <a:cs typeface="思源黑体 CN Normal" panose="020B0400000000000000" pitchFamily="34" charset="-122"/>
              </a:rPr>
              <a:t>5</a:t>
            </a:r>
            <a:r>
              <a:rPr lang="zh-CN" altLang="en-US" sz="1200" b="0" i="0" dirty="0">
                <a:solidFill>
                  <a:srgbClr val="0D0D0D"/>
                </a:solidFill>
                <a:effectLst/>
                <a:latin typeface="+mn-ea"/>
                <a:cs typeface="思源黑体 CN Normal" panose="020B0400000000000000" pitchFamily="34" charset="-122"/>
              </a:rPr>
              <a:t>名，重点培养区域市场开拓能力</a:t>
            </a:r>
            <a:endParaRPr lang="zh-CN" altLang="en-US" sz="1200" b="0" i="0" dirty="0">
              <a:solidFill>
                <a:srgbClr val="0D0D0D"/>
              </a:solidFill>
              <a:effectLst/>
              <a:latin typeface="+mn-ea"/>
              <a:cs typeface="思源黑体 CN Normal" panose="020B0400000000000000" pitchFamily="34" charset="-122"/>
            </a:endParaRPr>
          </a:p>
        </p:txBody>
      </p:sp>
      <p:sp>
        <p:nvSpPr>
          <p:cNvPr id="394" name="文本框 393"/>
          <p:cNvSpPr txBox="1"/>
          <p:nvPr/>
        </p:nvSpPr>
        <p:spPr>
          <a:xfrm>
            <a:off x="9405657" y="5211589"/>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启动“领航者计划”，参与行业峰会，扩大品牌影响力</a:t>
            </a:r>
            <a:endParaRPr lang="zh-CN" altLang="en-US" sz="1200" b="0" i="0" dirty="0">
              <a:solidFill>
                <a:srgbClr val="0D0D0D"/>
              </a:solidFill>
              <a:effectLst/>
              <a:latin typeface="+mn-ea"/>
              <a:cs typeface="思源黑体 CN Normal" panose="020B0400000000000000" pitchFamily="34" charset="-122"/>
            </a:endParaRPr>
          </a:p>
        </p:txBody>
      </p:sp>
      <p:sp>
        <p:nvSpPr>
          <p:cNvPr id="397" name="椭圆 396"/>
          <p:cNvSpPr/>
          <p:nvPr/>
        </p:nvSpPr>
        <p:spPr>
          <a:xfrm>
            <a:off x="3526285" y="3147847"/>
            <a:ext cx="225407" cy="225407"/>
          </a:xfrm>
          <a:prstGeom prst="ellipse">
            <a:avLst/>
          </a:prstGeom>
          <a:solidFill>
            <a:schemeClr val="bg1"/>
          </a:solidFill>
          <a:ln w="3175">
            <a:solidFill>
              <a:schemeClr val="accent1"/>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2"/>
                </a:solidFill>
                <a:latin typeface="+mj-ea"/>
                <a:ea typeface="+mj-ea"/>
                <a:cs typeface="思源黑体 CN Normal" panose="020B0400000000000000" pitchFamily="34" charset="-122"/>
              </a:rPr>
              <a:t>1</a:t>
            </a:r>
            <a:endParaRPr lang="zh-CN" altLang="en-US" sz="1000" dirty="0">
              <a:solidFill>
                <a:schemeClr val="tx2"/>
              </a:solidFill>
              <a:latin typeface="+mj-ea"/>
              <a:ea typeface="+mj-ea"/>
              <a:cs typeface="思源黑体 CN Normal" panose="020B0400000000000000" pitchFamily="34" charset="-122"/>
            </a:endParaRPr>
          </a:p>
        </p:txBody>
      </p:sp>
      <p:sp>
        <p:nvSpPr>
          <p:cNvPr id="398" name="椭圆 397"/>
          <p:cNvSpPr/>
          <p:nvPr/>
        </p:nvSpPr>
        <p:spPr>
          <a:xfrm>
            <a:off x="6370165" y="3147847"/>
            <a:ext cx="225407" cy="225407"/>
          </a:xfrm>
          <a:prstGeom prst="ellipse">
            <a:avLst/>
          </a:prstGeom>
          <a:solidFill>
            <a:schemeClr val="bg1"/>
          </a:solidFill>
          <a:ln w="3175">
            <a:solidFill>
              <a:schemeClr val="accent1"/>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2"/>
                </a:solidFill>
                <a:latin typeface="+mj-ea"/>
                <a:ea typeface="+mj-ea"/>
                <a:cs typeface="思源黑体 CN Normal" panose="020B0400000000000000" pitchFamily="34" charset="-122"/>
              </a:rPr>
              <a:t>2</a:t>
            </a:r>
            <a:endParaRPr lang="zh-CN" altLang="en-US" sz="1000" dirty="0">
              <a:solidFill>
                <a:schemeClr val="tx2"/>
              </a:solidFill>
              <a:latin typeface="+mj-ea"/>
              <a:ea typeface="+mj-ea"/>
              <a:cs typeface="思源黑体 CN Normal" panose="020B0400000000000000" pitchFamily="34" charset="-122"/>
            </a:endParaRPr>
          </a:p>
        </p:txBody>
      </p:sp>
      <p:sp>
        <p:nvSpPr>
          <p:cNvPr id="399" name="椭圆 398"/>
          <p:cNvSpPr/>
          <p:nvPr/>
        </p:nvSpPr>
        <p:spPr>
          <a:xfrm>
            <a:off x="9212958" y="3147847"/>
            <a:ext cx="225407" cy="225407"/>
          </a:xfrm>
          <a:prstGeom prst="ellipse">
            <a:avLst/>
          </a:prstGeom>
          <a:solidFill>
            <a:schemeClr val="bg1"/>
          </a:solidFill>
          <a:ln w="3175">
            <a:solidFill>
              <a:schemeClr val="accent1"/>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2"/>
                </a:solidFill>
                <a:latin typeface="+mj-ea"/>
                <a:ea typeface="+mj-ea"/>
                <a:cs typeface="思源黑体 CN Normal" panose="020B0400000000000000" pitchFamily="34" charset="-122"/>
              </a:rPr>
              <a:t>3</a:t>
            </a:r>
            <a:endParaRPr lang="zh-CN" altLang="en-US" sz="1000" dirty="0">
              <a:solidFill>
                <a:schemeClr val="tx2"/>
              </a:solidFill>
              <a:latin typeface="+mj-ea"/>
              <a:ea typeface="+mj-ea"/>
              <a:cs typeface="思源黑体 CN Normal" panose="020B0400000000000000" pitchFamily="34" charset="-122"/>
            </a:endParaRPr>
          </a:p>
        </p:txBody>
      </p:sp>
      <p:sp>
        <p:nvSpPr>
          <p:cNvPr id="400" name="椭圆 399"/>
          <p:cNvSpPr/>
          <p:nvPr/>
        </p:nvSpPr>
        <p:spPr>
          <a:xfrm>
            <a:off x="3526285" y="4143902"/>
            <a:ext cx="225407" cy="225407"/>
          </a:xfrm>
          <a:prstGeom prst="ellipse">
            <a:avLst/>
          </a:prstGeom>
          <a:solidFill>
            <a:schemeClr val="bg1"/>
          </a:solidFill>
          <a:ln w="3175">
            <a:solidFill>
              <a:schemeClr val="accent2"/>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2"/>
                </a:solidFill>
                <a:latin typeface="+mj-ea"/>
                <a:ea typeface="+mj-ea"/>
                <a:cs typeface="思源黑体 CN Normal" panose="020B0400000000000000" pitchFamily="34" charset="-122"/>
              </a:rPr>
              <a:t>1</a:t>
            </a:r>
            <a:endParaRPr lang="zh-CN" altLang="en-US" sz="1000" dirty="0">
              <a:solidFill>
                <a:schemeClr val="bg2"/>
              </a:solidFill>
              <a:latin typeface="+mj-ea"/>
              <a:ea typeface="+mj-ea"/>
              <a:cs typeface="思源黑体 CN Normal" panose="020B0400000000000000" pitchFamily="34" charset="-122"/>
            </a:endParaRPr>
          </a:p>
        </p:txBody>
      </p:sp>
      <p:sp>
        <p:nvSpPr>
          <p:cNvPr id="401" name="椭圆 400"/>
          <p:cNvSpPr/>
          <p:nvPr/>
        </p:nvSpPr>
        <p:spPr>
          <a:xfrm>
            <a:off x="6370165" y="4143902"/>
            <a:ext cx="225407" cy="225407"/>
          </a:xfrm>
          <a:prstGeom prst="ellipse">
            <a:avLst/>
          </a:prstGeom>
          <a:solidFill>
            <a:schemeClr val="bg1"/>
          </a:solidFill>
          <a:ln w="3175">
            <a:solidFill>
              <a:schemeClr val="accent2"/>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2"/>
                </a:solidFill>
                <a:latin typeface="+mj-ea"/>
                <a:ea typeface="+mj-ea"/>
                <a:cs typeface="思源黑体 CN Normal" panose="020B0400000000000000" pitchFamily="34" charset="-122"/>
              </a:rPr>
              <a:t>2</a:t>
            </a:r>
            <a:endParaRPr lang="zh-CN" altLang="en-US" sz="1000" dirty="0">
              <a:solidFill>
                <a:schemeClr val="bg2"/>
              </a:solidFill>
              <a:latin typeface="+mj-ea"/>
              <a:ea typeface="+mj-ea"/>
              <a:cs typeface="思源黑体 CN Normal" panose="020B0400000000000000" pitchFamily="34" charset="-122"/>
            </a:endParaRPr>
          </a:p>
        </p:txBody>
      </p:sp>
      <p:sp>
        <p:nvSpPr>
          <p:cNvPr id="402" name="椭圆 401"/>
          <p:cNvSpPr/>
          <p:nvPr/>
        </p:nvSpPr>
        <p:spPr>
          <a:xfrm>
            <a:off x="9212958" y="4143902"/>
            <a:ext cx="225407" cy="225407"/>
          </a:xfrm>
          <a:prstGeom prst="ellipse">
            <a:avLst/>
          </a:prstGeom>
          <a:solidFill>
            <a:schemeClr val="bg1"/>
          </a:solidFill>
          <a:ln w="3175">
            <a:solidFill>
              <a:schemeClr val="accent2"/>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2"/>
                </a:solidFill>
                <a:latin typeface="+mj-ea"/>
                <a:ea typeface="+mj-ea"/>
                <a:cs typeface="思源黑体 CN Normal" panose="020B0400000000000000" pitchFamily="34" charset="-122"/>
              </a:rPr>
              <a:t>3</a:t>
            </a:r>
            <a:endParaRPr lang="zh-CN" altLang="en-US" sz="1000" dirty="0">
              <a:solidFill>
                <a:schemeClr val="bg2"/>
              </a:solidFill>
              <a:latin typeface="+mj-ea"/>
              <a:ea typeface="+mj-ea"/>
              <a:cs typeface="思源黑体 CN Normal" panose="020B0400000000000000" pitchFamily="34" charset="-122"/>
            </a:endParaRPr>
          </a:p>
        </p:txBody>
      </p:sp>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任意多边形: 形状 20"/>
          <p:cNvSpPr/>
          <p:nvPr/>
        </p:nvSpPr>
        <p:spPr>
          <a:xfrm>
            <a:off x="533400" y="2017667"/>
            <a:ext cx="1778000" cy="704850"/>
          </a:xfrm>
          <a:custGeom>
            <a:avLst/>
            <a:gdLst>
              <a:gd name="connsiteX0" fmla="*/ 177800 w 177800"/>
              <a:gd name="connsiteY0" fmla="*/ 719667 h 719667"/>
              <a:gd name="connsiteX1" fmla="*/ 0 w 177800"/>
              <a:gd name="connsiteY1" fmla="*/ 719667 h 719667"/>
              <a:gd name="connsiteX2" fmla="*/ 0 w 177800"/>
              <a:gd name="connsiteY2" fmla="*/ 0 h 719667"/>
            </a:gdLst>
            <a:ahLst/>
            <a:cxnLst>
              <a:cxn ang="0">
                <a:pos x="connsiteX0" y="connsiteY0"/>
              </a:cxn>
              <a:cxn ang="0">
                <a:pos x="connsiteX1" y="connsiteY1"/>
              </a:cxn>
              <a:cxn ang="0">
                <a:pos x="connsiteX2" y="connsiteY2"/>
              </a:cxn>
            </a:cxnLst>
            <a:rect l="l" t="t" r="r" b="b"/>
            <a:pathLst>
              <a:path w="177800" h="719667">
                <a:moveTo>
                  <a:pt x="177800" y="719667"/>
                </a:moveTo>
                <a:lnTo>
                  <a:pt x="0" y="719667"/>
                </a:lnTo>
                <a:lnTo>
                  <a:pt x="0" y="0"/>
                </a:lnTo>
              </a:path>
            </a:pathLst>
          </a:custGeom>
          <a:noFill/>
          <a:ln w="3175" cap="rnd">
            <a:solidFill>
              <a:schemeClr val="accent1"/>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9" name="任意多边形: 形状 18"/>
          <p:cNvSpPr/>
          <p:nvPr/>
        </p:nvSpPr>
        <p:spPr>
          <a:xfrm>
            <a:off x="533400" y="4857750"/>
            <a:ext cx="209550" cy="704850"/>
          </a:xfrm>
          <a:custGeom>
            <a:avLst/>
            <a:gdLst>
              <a:gd name="connsiteX0" fmla="*/ 177800 w 177800"/>
              <a:gd name="connsiteY0" fmla="*/ 719667 h 719667"/>
              <a:gd name="connsiteX1" fmla="*/ 0 w 177800"/>
              <a:gd name="connsiteY1" fmla="*/ 719667 h 719667"/>
              <a:gd name="connsiteX2" fmla="*/ 0 w 177800"/>
              <a:gd name="connsiteY2" fmla="*/ 0 h 719667"/>
            </a:gdLst>
            <a:ahLst/>
            <a:cxnLst>
              <a:cxn ang="0">
                <a:pos x="connsiteX0" y="connsiteY0"/>
              </a:cxn>
              <a:cxn ang="0">
                <a:pos x="connsiteX1" y="connsiteY1"/>
              </a:cxn>
              <a:cxn ang="0">
                <a:pos x="connsiteX2" y="connsiteY2"/>
              </a:cxn>
            </a:cxnLst>
            <a:rect l="l" t="t" r="r" b="b"/>
            <a:pathLst>
              <a:path w="177800" h="719667">
                <a:moveTo>
                  <a:pt x="177800" y="719667"/>
                </a:moveTo>
                <a:lnTo>
                  <a:pt x="0" y="719667"/>
                </a:lnTo>
                <a:lnTo>
                  <a:pt x="0" y="0"/>
                </a:lnTo>
              </a:path>
            </a:pathLst>
          </a:custGeom>
          <a:noFill/>
          <a:ln w="3175" cap="rnd">
            <a:solidFill>
              <a:schemeClr val="accent1"/>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 name="任意多边形: 形状 19"/>
          <p:cNvSpPr/>
          <p:nvPr/>
        </p:nvSpPr>
        <p:spPr>
          <a:xfrm>
            <a:off x="533400" y="3427294"/>
            <a:ext cx="1063688" cy="684000"/>
          </a:xfrm>
          <a:custGeom>
            <a:avLst/>
            <a:gdLst>
              <a:gd name="connsiteX0" fmla="*/ 177800 w 177800"/>
              <a:gd name="connsiteY0" fmla="*/ 719667 h 719667"/>
              <a:gd name="connsiteX1" fmla="*/ 0 w 177800"/>
              <a:gd name="connsiteY1" fmla="*/ 719667 h 719667"/>
              <a:gd name="connsiteX2" fmla="*/ 0 w 177800"/>
              <a:gd name="connsiteY2" fmla="*/ 0 h 719667"/>
            </a:gdLst>
            <a:ahLst/>
            <a:cxnLst>
              <a:cxn ang="0">
                <a:pos x="connsiteX0" y="connsiteY0"/>
              </a:cxn>
              <a:cxn ang="0">
                <a:pos x="connsiteX1" y="connsiteY1"/>
              </a:cxn>
              <a:cxn ang="0">
                <a:pos x="connsiteX2" y="connsiteY2"/>
              </a:cxn>
            </a:cxnLst>
            <a:rect l="l" t="t" r="r" b="b"/>
            <a:pathLst>
              <a:path w="177800" h="719667">
                <a:moveTo>
                  <a:pt x="177800" y="719667"/>
                </a:moveTo>
                <a:lnTo>
                  <a:pt x="0" y="719667"/>
                </a:lnTo>
                <a:lnTo>
                  <a:pt x="0" y="0"/>
                </a:lnTo>
              </a:path>
            </a:pathLst>
          </a:custGeom>
          <a:noFill/>
          <a:ln w="3175" cap="rnd">
            <a:solidFill>
              <a:schemeClr val="accent2"/>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递进关系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项目进展情况</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6" name="矩形: 圆角 105"/>
          <p:cNvSpPr/>
          <p:nvPr/>
        </p:nvSpPr>
        <p:spPr>
          <a:xfrm>
            <a:off x="9137770" y="1320801"/>
            <a:ext cx="2718230" cy="4997910"/>
          </a:xfrm>
          <a:prstGeom prst="roundRect">
            <a:avLst>
              <a:gd name="adj" fmla="val 0"/>
            </a:avLst>
          </a:prstGeom>
          <a:gradFill>
            <a:gsLst>
              <a:gs pos="0">
                <a:schemeClr val="accent1">
                  <a:lumMod val="20000"/>
                  <a:lumOff val="80000"/>
                </a:schemeClr>
              </a:gs>
              <a:gs pos="100000">
                <a:schemeClr val="bg1"/>
              </a:gs>
            </a:gsLst>
            <a:lin ang="5400000" scaled="1"/>
          </a:gradFill>
          <a:effectLst>
            <a:outerShdw blurRad="393700" dist="889000" dir="5400000" sx="80000" sy="80000" algn="t" rotWithShape="0">
              <a:schemeClr val="bg1">
                <a:lumMod val="75000"/>
                <a:alpha val="28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marL="0" marR="0" lvl="0" indent="0" algn="ctr" defTabSz="2444750" rtl="0" eaLnBrk="1" fontAlgn="auto" latinLnBrk="0" hangingPunct="1">
              <a:lnSpc>
                <a:spcPct val="90000"/>
              </a:lnSpc>
              <a:spcBef>
                <a:spcPct val="0"/>
              </a:spcBef>
              <a:spcAft>
                <a:spcPct val="35000"/>
              </a:spcAft>
              <a:buClrTx/>
              <a:buSzTx/>
              <a:buFontTx/>
              <a:buNone/>
              <a:defRPr/>
            </a:pPr>
            <a:endParaRPr kumimoji="0" lang="zh-CN" altLang="en-US" sz="55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3" name="任意多边形: 形状 32"/>
          <p:cNvSpPr/>
          <p:nvPr/>
        </p:nvSpPr>
        <p:spPr>
          <a:xfrm>
            <a:off x="2065657" y="1320801"/>
            <a:ext cx="2045382" cy="1859338"/>
          </a:xfrm>
          <a:custGeom>
            <a:avLst/>
            <a:gdLst>
              <a:gd name="connsiteX0" fmla="*/ 995001 w 1990002"/>
              <a:gd name="connsiteY0" fmla="*/ 0 h 1859338"/>
              <a:gd name="connsiteX1" fmla="*/ 1990002 w 1990002"/>
              <a:gd name="connsiteY1" fmla="*/ 1859338 h 1859338"/>
              <a:gd name="connsiteX2" fmla="*/ 0 w 1990002"/>
              <a:gd name="connsiteY2" fmla="*/ 1859338 h 1859338"/>
              <a:gd name="connsiteX3" fmla="*/ 995001 w 1990002"/>
              <a:gd name="connsiteY3" fmla="*/ 0 h 1859338"/>
            </a:gdLst>
            <a:ahLst/>
            <a:cxnLst>
              <a:cxn ang="0">
                <a:pos x="connsiteX0" y="connsiteY0"/>
              </a:cxn>
              <a:cxn ang="0">
                <a:pos x="connsiteX1" y="connsiteY1"/>
              </a:cxn>
              <a:cxn ang="0">
                <a:pos x="connsiteX2" y="connsiteY2"/>
              </a:cxn>
              <a:cxn ang="0">
                <a:pos x="connsiteX3" y="connsiteY3"/>
              </a:cxn>
            </a:cxnLst>
            <a:rect l="l" t="t" r="r" b="b"/>
            <a:pathLst>
              <a:path w="1990002" h="1859338">
                <a:moveTo>
                  <a:pt x="995001" y="0"/>
                </a:moveTo>
                <a:lnTo>
                  <a:pt x="1990002" y="1859338"/>
                </a:lnTo>
                <a:lnTo>
                  <a:pt x="0" y="1859338"/>
                </a:lnTo>
                <a:lnTo>
                  <a:pt x="995001" y="0"/>
                </a:lnTo>
                <a:close/>
              </a:path>
            </a:pathLst>
          </a:custGeom>
          <a:solidFill>
            <a:schemeClr val="accent1"/>
          </a:solidFill>
          <a:ln w="19050">
            <a:solidFill>
              <a:schemeClr val="lt1">
                <a:hueOff val="0"/>
                <a:satOff val="0"/>
                <a:lumOff val="0"/>
              </a:schemeClr>
            </a:solidFill>
          </a:ln>
          <a:effectLst>
            <a:outerShdw blurRad="1270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cs typeface="思源黑体 CN Normal" panose="020B0400000000000000" pitchFamily="34" charset="-122"/>
            </a:endParaRPr>
          </a:p>
        </p:txBody>
      </p:sp>
      <p:sp>
        <p:nvSpPr>
          <p:cNvPr id="30" name="任意多边形: 形状 29"/>
          <p:cNvSpPr/>
          <p:nvPr/>
        </p:nvSpPr>
        <p:spPr>
          <a:xfrm>
            <a:off x="1221669" y="3396140"/>
            <a:ext cx="3733358" cy="1318441"/>
          </a:xfrm>
          <a:custGeom>
            <a:avLst/>
            <a:gdLst>
              <a:gd name="connsiteX0" fmla="*/ 705547 w 3632276"/>
              <a:gd name="connsiteY0" fmla="*/ 0 h 1318441"/>
              <a:gd name="connsiteX1" fmla="*/ 2926729 w 3632276"/>
              <a:gd name="connsiteY1" fmla="*/ 0 h 1318441"/>
              <a:gd name="connsiteX2" fmla="*/ 3632276 w 3632276"/>
              <a:gd name="connsiteY2" fmla="*/ 1318441 h 1318441"/>
              <a:gd name="connsiteX3" fmla="*/ 0 w 3632276"/>
              <a:gd name="connsiteY3" fmla="*/ 1318441 h 1318441"/>
              <a:gd name="connsiteX4" fmla="*/ 705547 w 3632276"/>
              <a:gd name="connsiteY4" fmla="*/ 0 h 1318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276" h="1318441">
                <a:moveTo>
                  <a:pt x="705547" y="0"/>
                </a:moveTo>
                <a:lnTo>
                  <a:pt x="2926729" y="0"/>
                </a:lnTo>
                <a:lnTo>
                  <a:pt x="3632276" y="1318441"/>
                </a:lnTo>
                <a:lnTo>
                  <a:pt x="0" y="1318441"/>
                </a:lnTo>
                <a:lnTo>
                  <a:pt x="705547" y="0"/>
                </a:lnTo>
                <a:close/>
              </a:path>
            </a:pathLst>
          </a:custGeom>
          <a:gradFill>
            <a:gsLst>
              <a:gs pos="0">
                <a:schemeClr val="accent2">
                  <a:lumMod val="75000"/>
                </a:schemeClr>
              </a:gs>
              <a:gs pos="100000">
                <a:schemeClr val="accent2"/>
              </a:gs>
            </a:gsLst>
            <a:lin ang="5400000" scaled="1"/>
          </a:gradFill>
          <a:ln w="19050">
            <a:solidFill>
              <a:schemeClr val="lt1">
                <a:hueOff val="0"/>
                <a:satOff val="0"/>
                <a:lumOff val="0"/>
              </a:schemeClr>
            </a:solidFill>
          </a:ln>
          <a:effectLst>
            <a:outerShdw blurRad="127000" sx="102000" sy="102000" algn="ctr" rotWithShape="0">
              <a:schemeClr val="accent2">
                <a:alpha val="23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algn="ctr" defTabSz="2444750">
              <a:lnSpc>
                <a:spcPct val="90000"/>
              </a:lnSpc>
              <a:spcBef>
                <a:spcPct val="0"/>
              </a:spcBef>
              <a:spcAft>
                <a:spcPct val="35000"/>
              </a:spcAft>
            </a:pPr>
            <a:endParaRPr lang="zh-CN" altLang="en-US" sz="5500" dirty="0">
              <a:solidFill>
                <a:prstClr val="white"/>
              </a:solidFill>
              <a:latin typeface="思源黑体 CN Normal" panose="020B0400000000000000" pitchFamily="34" charset="-122"/>
              <a:cs typeface="思源黑体 CN Normal" panose="020B0400000000000000" pitchFamily="34" charset="-122"/>
            </a:endParaRPr>
          </a:p>
        </p:txBody>
      </p:sp>
      <p:sp>
        <p:nvSpPr>
          <p:cNvPr id="27" name="任意多边形: 形状 26"/>
          <p:cNvSpPr/>
          <p:nvPr/>
        </p:nvSpPr>
        <p:spPr>
          <a:xfrm>
            <a:off x="336000" y="4930581"/>
            <a:ext cx="5504697" cy="1394221"/>
          </a:xfrm>
          <a:custGeom>
            <a:avLst/>
            <a:gdLst>
              <a:gd name="connsiteX0" fmla="*/ 746100 w 5355655"/>
              <a:gd name="connsiteY0" fmla="*/ 0 h 1394221"/>
              <a:gd name="connsiteX1" fmla="*/ 4609556 w 5355655"/>
              <a:gd name="connsiteY1" fmla="*/ 0 h 1394221"/>
              <a:gd name="connsiteX2" fmla="*/ 5355655 w 5355655"/>
              <a:gd name="connsiteY2" fmla="*/ 1394221 h 1394221"/>
              <a:gd name="connsiteX3" fmla="*/ 0 w 5355655"/>
              <a:gd name="connsiteY3" fmla="*/ 1394221 h 1394221"/>
              <a:gd name="connsiteX4" fmla="*/ 746100 w 5355655"/>
              <a:gd name="connsiteY4" fmla="*/ 0 h 139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5655" h="1394221">
                <a:moveTo>
                  <a:pt x="746100" y="0"/>
                </a:moveTo>
                <a:lnTo>
                  <a:pt x="4609556" y="0"/>
                </a:lnTo>
                <a:lnTo>
                  <a:pt x="5355655" y="1394221"/>
                </a:lnTo>
                <a:lnTo>
                  <a:pt x="0" y="1394221"/>
                </a:lnTo>
                <a:lnTo>
                  <a:pt x="746100" y="0"/>
                </a:lnTo>
                <a:close/>
              </a:path>
            </a:pathLst>
          </a:custGeom>
          <a:solidFill>
            <a:schemeClr val="accent1"/>
          </a:solidFill>
          <a:ln w="19050">
            <a:solidFill>
              <a:schemeClr val="lt1">
                <a:hueOff val="0"/>
                <a:satOff val="0"/>
                <a:lumOff val="0"/>
              </a:schemeClr>
            </a:solidFill>
          </a:ln>
          <a:effectLst>
            <a:outerShdw blurRad="1270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cs typeface="思源黑体 CN Normal" panose="020B0400000000000000" pitchFamily="34" charset="-122"/>
            </a:endParaRPr>
          </a:p>
        </p:txBody>
      </p:sp>
      <p:sp>
        <p:nvSpPr>
          <p:cNvPr id="61" name="任意多边形: 形状 60"/>
          <p:cNvSpPr/>
          <p:nvPr/>
        </p:nvSpPr>
        <p:spPr>
          <a:xfrm>
            <a:off x="3320576" y="1320801"/>
            <a:ext cx="5661282" cy="1859339"/>
          </a:xfrm>
          <a:custGeom>
            <a:avLst/>
            <a:gdLst>
              <a:gd name="connsiteX0" fmla="*/ 0 w 5508000"/>
              <a:gd name="connsiteY0" fmla="*/ 0 h 1859339"/>
              <a:gd name="connsiteX1" fmla="*/ 5508000 w 5508000"/>
              <a:gd name="connsiteY1" fmla="*/ 0 h 1859339"/>
              <a:gd name="connsiteX2" fmla="*/ 5508000 w 5508000"/>
              <a:gd name="connsiteY2" fmla="*/ 1859339 h 1859339"/>
              <a:gd name="connsiteX3" fmla="*/ 0 w 5508000"/>
              <a:gd name="connsiteY3" fmla="*/ 1859339 h 1859339"/>
              <a:gd name="connsiteX4" fmla="*/ 0 w 5508000"/>
              <a:gd name="connsiteY4" fmla="*/ 1859338 h 1859339"/>
              <a:gd name="connsiteX5" fmla="*/ 991770 w 5508000"/>
              <a:gd name="connsiteY5" fmla="*/ 1859338 h 1859339"/>
              <a:gd name="connsiteX6" fmla="*/ 0 w 5508000"/>
              <a:gd name="connsiteY6" fmla="*/ 6038 h 1859339"/>
              <a:gd name="connsiteX7" fmla="*/ 0 w 5508000"/>
              <a:gd name="connsiteY7" fmla="*/ 0 h 1859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08000" h="1859339">
                <a:moveTo>
                  <a:pt x="0" y="0"/>
                </a:moveTo>
                <a:lnTo>
                  <a:pt x="5508000" y="0"/>
                </a:lnTo>
                <a:lnTo>
                  <a:pt x="5508000" y="1859339"/>
                </a:lnTo>
                <a:lnTo>
                  <a:pt x="0" y="1859339"/>
                </a:lnTo>
                <a:lnTo>
                  <a:pt x="0" y="1859338"/>
                </a:lnTo>
                <a:lnTo>
                  <a:pt x="991770" y="1859338"/>
                </a:lnTo>
                <a:lnTo>
                  <a:pt x="0" y="6038"/>
                </a:lnTo>
                <a:lnTo>
                  <a:pt x="0" y="0"/>
                </a:lnTo>
                <a:close/>
              </a:path>
            </a:pathLst>
          </a:custGeom>
          <a:gradFill>
            <a:gsLst>
              <a:gs pos="0">
                <a:schemeClr val="accent1">
                  <a:lumMod val="20000"/>
                  <a:lumOff val="80000"/>
                </a:schemeClr>
              </a:gs>
              <a:gs pos="100000">
                <a:schemeClr val="bg1"/>
              </a:gs>
            </a:gsLst>
            <a:lin ang="5400000" scaled="1"/>
          </a:gradFill>
          <a:effectLst>
            <a:outerShdw blurRad="393700" dist="508000" dir="5400000" sx="80000" sy="80000" algn="t" rotWithShape="0">
              <a:schemeClr val="accent1">
                <a:lumMod val="20000"/>
                <a:lumOff val="80000"/>
                <a:alpha val="28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algn="ctr" defTabSz="2444750">
              <a:lnSpc>
                <a:spcPct val="90000"/>
              </a:lnSpc>
              <a:spcBef>
                <a:spcPct val="0"/>
              </a:spcBef>
              <a:spcAft>
                <a:spcPct val="35000"/>
              </a:spcAft>
            </a:pPr>
            <a:endParaRPr lang="zh-CN" altLang="en-US" sz="5500" dirty="0">
              <a:solidFill>
                <a:prstClr val="white"/>
              </a:solidFill>
              <a:latin typeface="+mj-ea"/>
              <a:ea typeface="+mj-ea"/>
              <a:cs typeface="思源黑体 CN Normal" panose="020B0400000000000000" pitchFamily="34" charset="-122"/>
            </a:endParaRPr>
          </a:p>
        </p:txBody>
      </p:sp>
      <p:sp>
        <p:nvSpPr>
          <p:cNvPr id="58" name="任意多边形: 形状 57"/>
          <p:cNvSpPr/>
          <p:nvPr/>
        </p:nvSpPr>
        <p:spPr>
          <a:xfrm>
            <a:off x="4458753" y="3396140"/>
            <a:ext cx="4523105" cy="1318441"/>
          </a:xfrm>
          <a:custGeom>
            <a:avLst/>
            <a:gdLst>
              <a:gd name="connsiteX0" fmla="*/ 0 w 4400640"/>
              <a:gd name="connsiteY0" fmla="*/ 0 h 1318441"/>
              <a:gd name="connsiteX1" fmla="*/ 4400640 w 4400640"/>
              <a:gd name="connsiteY1" fmla="*/ 0 h 1318441"/>
              <a:gd name="connsiteX2" fmla="*/ 4400640 w 4400640"/>
              <a:gd name="connsiteY2" fmla="*/ 1318441 h 1318441"/>
              <a:gd name="connsiteX3" fmla="*/ 705547 w 4400640"/>
              <a:gd name="connsiteY3" fmla="*/ 1318441 h 1318441"/>
              <a:gd name="connsiteX4" fmla="*/ 0 w 4400640"/>
              <a:gd name="connsiteY4" fmla="*/ 0 h 1318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0640" h="1318441">
                <a:moveTo>
                  <a:pt x="0" y="0"/>
                </a:moveTo>
                <a:lnTo>
                  <a:pt x="4400640" y="0"/>
                </a:lnTo>
                <a:lnTo>
                  <a:pt x="4400640" y="1318441"/>
                </a:lnTo>
                <a:lnTo>
                  <a:pt x="705547" y="1318441"/>
                </a:lnTo>
                <a:lnTo>
                  <a:pt x="0" y="0"/>
                </a:lnTo>
                <a:close/>
              </a:path>
            </a:pathLst>
          </a:custGeom>
          <a:gradFill>
            <a:gsLst>
              <a:gs pos="0">
                <a:schemeClr val="accent2">
                  <a:lumMod val="20000"/>
                  <a:lumOff val="80000"/>
                </a:schemeClr>
              </a:gs>
              <a:gs pos="100000">
                <a:schemeClr val="bg1"/>
              </a:gs>
            </a:gsLst>
            <a:lin ang="5400000" scaled="1"/>
          </a:gradFill>
          <a:effectLst>
            <a:outerShdw blurRad="393700" dist="508000" dir="5400000" sx="80000" sy="80000" algn="t" rotWithShape="0">
              <a:schemeClr val="accent2">
                <a:lumMod val="20000"/>
                <a:lumOff val="80000"/>
                <a:alpha val="28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algn="ctr" defTabSz="2444750">
              <a:lnSpc>
                <a:spcPct val="90000"/>
              </a:lnSpc>
              <a:spcBef>
                <a:spcPct val="0"/>
              </a:spcBef>
              <a:spcAft>
                <a:spcPct val="35000"/>
              </a:spcAft>
            </a:pPr>
            <a:endParaRPr lang="zh-CN" altLang="en-US" sz="5500" dirty="0">
              <a:solidFill>
                <a:prstClr val="white"/>
              </a:solidFill>
              <a:latin typeface="+mj-ea"/>
              <a:ea typeface="+mj-ea"/>
              <a:cs typeface="思源黑体 CN Normal" panose="020B0400000000000000" pitchFamily="34" charset="-122"/>
            </a:endParaRPr>
          </a:p>
        </p:txBody>
      </p:sp>
      <p:sp>
        <p:nvSpPr>
          <p:cNvPr id="54" name="任意多边形: 形状 53"/>
          <p:cNvSpPr/>
          <p:nvPr/>
        </p:nvSpPr>
        <p:spPr>
          <a:xfrm>
            <a:off x="5302742" y="4930580"/>
            <a:ext cx="3679117" cy="1394220"/>
          </a:xfrm>
          <a:custGeom>
            <a:avLst/>
            <a:gdLst>
              <a:gd name="connsiteX0" fmla="*/ 0 w 3579503"/>
              <a:gd name="connsiteY0" fmla="*/ 0 h 1394220"/>
              <a:gd name="connsiteX1" fmla="*/ 3579503 w 3579503"/>
              <a:gd name="connsiteY1" fmla="*/ 0 h 1394220"/>
              <a:gd name="connsiteX2" fmla="*/ 3579503 w 3579503"/>
              <a:gd name="connsiteY2" fmla="*/ 1394220 h 1394220"/>
              <a:gd name="connsiteX3" fmla="*/ 746098 w 3579503"/>
              <a:gd name="connsiteY3" fmla="*/ 1394220 h 1394220"/>
              <a:gd name="connsiteX4" fmla="*/ 0 w 3579503"/>
              <a:gd name="connsiteY4" fmla="*/ 0 h 1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9503" h="1394220">
                <a:moveTo>
                  <a:pt x="0" y="0"/>
                </a:moveTo>
                <a:lnTo>
                  <a:pt x="3579503" y="0"/>
                </a:lnTo>
                <a:lnTo>
                  <a:pt x="3579503" y="1394220"/>
                </a:lnTo>
                <a:lnTo>
                  <a:pt x="746098" y="1394220"/>
                </a:lnTo>
                <a:lnTo>
                  <a:pt x="0" y="0"/>
                </a:lnTo>
                <a:close/>
              </a:path>
            </a:pathLst>
          </a:custGeom>
          <a:gradFill>
            <a:gsLst>
              <a:gs pos="0">
                <a:schemeClr val="accent1">
                  <a:lumMod val="20000"/>
                  <a:lumOff val="80000"/>
                </a:schemeClr>
              </a:gs>
              <a:gs pos="100000">
                <a:schemeClr val="bg1"/>
              </a:gs>
            </a:gsLst>
            <a:lin ang="5400000" scaled="1"/>
          </a:gradFill>
          <a:effectLst>
            <a:outerShdw blurRad="393700" dist="508000" dir="5400000" sx="80000" sy="80000" algn="t" rotWithShape="0">
              <a:schemeClr val="accent1">
                <a:lumMod val="20000"/>
                <a:lumOff val="80000"/>
                <a:alpha val="28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algn="ctr" defTabSz="2444750">
              <a:lnSpc>
                <a:spcPct val="90000"/>
              </a:lnSpc>
              <a:spcBef>
                <a:spcPct val="0"/>
              </a:spcBef>
              <a:spcAft>
                <a:spcPct val="35000"/>
              </a:spcAft>
            </a:pPr>
            <a:endParaRPr lang="zh-CN" altLang="en-US" sz="5500" dirty="0">
              <a:solidFill>
                <a:prstClr val="white"/>
              </a:solidFill>
              <a:latin typeface="+mj-ea"/>
              <a:ea typeface="+mj-ea"/>
              <a:cs typeface="思源黑体 CN Normal" panose="020B0400000000000000" pitchFamily="34" charset="-122"/>
            </a:endParaRPr>
          </a:p>
        </p:txBody>
      </p:sp>
      <p:sp>
        <p:nvSpPr>
          <p:cNvPr id="66" name="文本框 65"/>
          <p:cNvSpPr txBox="1"/>
          <p:nvPr/>
        </p:nvSpPr>
        <p:spPr>
          <a:xfrm>
            <a:off x="2057800" y="5631987"/>
            <a:ext cx="2061096" cy="479550"/>
          </a:xfrm>
          <a:prstGeom prst="rect">
            <a:avLst/>
          </a:prstGeom>
        </p:spPr>
        <p:txBody>
          <a:bodyPr wrap="square" lIns="0" tIns="36000" rIns="0" bIns="0">
            <a:spAutoFit/>
          </a:bodyPr>
          <a:lstStyle>
            <a:defPPr>
              <a:defRPr lang="zh-CN"/>
            </a:defPPr>
            <a:lvl1pPr marR="0" lvl="0" indent="0" algn="ctr" fontAlgn="auto">
              <a:lnSpc>
                <a:spcPct val="90000"/>
              </a:lnSpc>
              <a:spcBef>
                <a:spcPct val="0"/>
              </a:spcBef>
              <a:spcAft>
                <a:spcPts val="0"/>
              </a:spcAft>
              <a:buClrTx/>
              <a:buSzTx/>
              <a:buFontTx/>
              <a:buNone/>
              <a:defRPr kumimoji="0" sz="2400" b="0" i="0" u="none" strike="noStrike" cap="none" spc="0" normalizeH="0" baseline="0">
                <a:ln>
                  <a:noFill/>
                </a:ln>
                <a:solidFill>
                  <a:schemeClr val="bg1"/>
                </a:solidFill>
                <a:effectLst/>
                <a:uLnTx/>
                <a:uFillTx/>
                <a:latin typeface="思源宋体 CN Heavy" panose="02020900000000000000" pitchFamily="18" charset="-122"/>
                <a:ea typeface="思源宋体 CN Heavy" panose="02020900000000000000" pitchFamily="18" charset="-122"/>
                <a:cs typeface="+mj-cs"/>
              </a:defRPr>
            </a:lvl1pPr>
          </a:lstStyle>
          <a:p>
            <a:r>
              <a:rPr lang="zh-CN" altLang="en-US" sz="3200" dirty="0">
                <a:latin typeface="思源黑体 CN Heavy" panose="020B0A00000000000000" charset="-122"/>
                <a:ea typeface="思源黑体 CN Heavy" panose="020B0A00000000000000" charset="-122"/>
                <a:cs typeface="思源黑体 CN Normal" panose="020B0400000000000000" pitchFamily="34" charset="-122"/>
              </a:rPr>
              <a:t>速提升</a:t>
            </a:r>
            <a:endParaRPr lang="zh-CN" altLang="en-US" sz="3200" dirty="0">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8" name="文本框 67"/>
          <p:cNvSpPr txBox="1"/>
          <p:nvPr/>
        </p:nvSpPr>
        <p:spPr>
          <a:xfrm>
            <a:off x="2057800" y="4052202"/>
            <a:ext cx="2061096" cy="479550"/>
          </a:xfrm>
          <a:prstGeom prst="rect">
            <a:avLst/>
          </a:prstGeom>
        </p:spPr>
        <p:txBody>
          <a:bodyPr wrap="square" lIns="0" tIns="36000" rIns="0" bIns="0">
            <a:spAutoFit/>
          </a:bodyPr>
          <a:lstStyle>
            <a:defPPr>
              <a:defRPr lang="zh-CN"/>
            </a:defPPr>
            <a:lvl1pPr marR="0" lvl="0" indent="0" algn="ctr" fontAlgn="auto">
              <a:lnSpc>
                <a:spcPct val="90000"/>
              </a:lnSpc>
              <a:spcBef>
                <a:spcPct val="0"/>
              </a:spcBef>
              <a:spcAft>
                <a:spcPts val="0"/>
              </a:spcAft>
              <a:buClrTx/>
              <a:buSzTx/>
              <a:buFontTx/>
              <a:buNone/>
              <a:defRPr kumimoji="0" sz="2400" b="0" i="0" u="none" strike="noStrike" cap="none" spc="0" normalizeH="0" baseline="0">
                <a:ln>
                  <a:noFill/>
                </a:ln>
                <a:solidFill>
                  <a:schemeClr val="bg1"/>
                </a:solidFill>
                <a:effectLst/>
                <a:uLnTx/>
                <a:uFillTx/>
                <a:latin typeface="思源宋体 CN Heavy" panose="02020900000000000000" pitchFamily="18" charset="-122"/>
                <a:ea typeface="思源宋体 CN Heavy" panose="02020900000000000000" pitchFamily="18" charset="-122"/>
                <a:cs typeface="+mj-cs"/>
              </a:defRPr>
            </a:lvl1pPr>
          </a:lstStyle>
          <a:p>
            <a:r>
              <a:rPr lang="zh-CN" altLang="en-US" sz="3200" dirty="0">
                <a:latin typeface="思源黑体 CN Heavy" panose="020B0A00000000000000" charset="-122"/>
                <a:ea typeface="思源黑体 CN Heavy" panose="020B0A00000000000000" charset="-122"/>
                <a:cs typeface="思源黑体 CN Normal" panose="020B0400000000000000" pitchFamily="34" charset="-122"/>
              </a:rPr>
              <a:t>精管理</a:t>
            </a:r>
            <a:endParaRPr lang="zh-CN" altLang="en-US" sz="3200" dirty="0">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9" name="文本框 68"/>
          <p:cNvSpPr txBox="1"/>
          <p:nvPr/>
        </p:nvSpPr>
        <p:spPr>
          <a:xfrm>
            <a:off x="2057800" y="2416212"/>
            <a:ext cx="2061096" cy="479550"/>
          </a:xfrm>
          <a:prstGeom prst="rect">
            <a:avLst/>
          </a:prstGeom>
        </p:spPr>
        <p:txBody>
          <a:bodyPr wrap="square" lIns="0" tIns="36000" rIns="0" bIns="0">
            <a:spAutoFit/>
          </a:bodyPr>
          <a:lstStyle>
            <a:defPPr>
              <a:defRPr lang="zh-CN"/>
            </a:defPPr>
            <a:lvl1pPr marR="0" lvl="0" indent="0" algn="ctr" fontAlgn="auto">
              <a:lnSpc>
                <a:spcPct val="90000"/>
              </a:lnSpc>
              <a:spcBef>
                <a:spcPct val="0"/>
              </a:spcBef>
              <a:spcAft>
                <a:spcPts val="0"/>
              </a:spcAft>
              <a:buClrTx/>
              <a:buSzTx/>
              <a:buFontTx/>
              <a:buNone/>
              <a:defRPr kumimoji="0" sz="2400" b="0" i="0" u="none" strike="noStrike" cap="none" spc="0" normalizeH="0" baseline="0">
                <a:ln>
                  <a:noFill/>
                </a:ln>
                <a:solidFill>
                  <a:schemeClr val="bg1"/>
                </a:solidFill>
                <a:effectLst/>
                <a:uLnTx/>
                <a:uFillTx/>
                <a:latin typeface="思源宋体 CN Heavy" panose="02020900000000000000" pitchFamily="18" charset="-122"/>
                <a:ea typeface="思源宋体 CN Heavy" panose="02020900000000000000" pitchFamily="18" charset="-122"/>
                <a:cs typeface="+mj-cs"/>
              </a:defRPr>
            </a:lvl1pPr>
          </a:lstStyle>
          <a:p>
            <a:r>
              <a:rPr lang="zh-CN" altLang="en-US" sz="3200" dirty="0">
                <a:latin typeface="思源黑体 CN Heavy" panose="020B0A00000000000000" charset="-122"/>
                <a:ea typeface="思源黑体 CN Heavy" panose="020B0A00000000000000" charset="-122"/>
                <a:cs typeface="思源黑体 CN Normal" panose="020B0400000000000000" pitchFamily="34" charset="-122"/>
              </a:rPr>
              <a:t>稳运维</a:t>
            </a:r>
            <a:endParaRPr lang="zh-CN" altLang="en-US" sz="3200" dirty="0">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84" name="组合 83"/>
          <p:cNvGrpSpPr/>
          <p:nvPr/>
        </p:nvGrpSpPr>
        <p:grpSpPr>
          <a:xfrm>
            <a:off x="6333784" y="5122586"/>
            <a:ext cx="2520001" cy="1010208"/>
            <a:chOff x="4530967" y="1707368"/>
            <a:chExt cx="2520001" cy="1010208"/>
          </a:xfrm>
        </p:grpSpPr>
        <p:sp>
          <p:nvSpPr>
            <p:cNvPr id="75" name="文本框 74"/>
            <p:cNvSpPr txBox="1"/>
            <p:nvPr/>
          </p:nvSpPr>
          <p:spPr>
            <a:xfrm>
              <a:off x="4530967" y="1707368"/>
              <a:ext cx="2045382" cy="400110"/>
            </a:xfrm>
            <a:prstGeom prst="rect">
              <a:avLst/>
            </a:prstGeom>
            <a:noFill/>
          </p:spPr>
          <p:txBody>
            <a:bodyPr wrap="square">
              <a:spAutoFit/>
            </a:bodyPr>
            <a:lstStyle/>
            <a:p>
              <a:r>
                <a:rPr lang="zh-CN" altLang="en-US" sz="200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效率</a:t>
              </a:r>
              <a:r>
                <a:rPr lang="zh-CN" altLang="en-US" sz="2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快速</a:t>
              </a:r>
              <a:r>
                <a:rPr lang="zh-CN" altLang="en-US" sz="200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跃升</a:t>
              </a:r>
              <a:endParaRPr lang="zh-CN" altLang="en-US" sz="2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9" name="文本框 78"/>
            <p:cNvSpPr txBox="1"/>
            <p:nvPr/>
          </p:nvSpPr>
          <p:spPr>
            <a:xfrm>
              <a:off x="4530968" y="2120746"/>
              <a:ext cx="2520000" cy="596830"/>
            </a:xfrm>
            <a:prstGeom prst="rect">
              <a:avLst/>
            </a:prstGeom>
            <a:noFill/>
          </p:spPr>
          <p:txBody>
            <a:bodyPr wrap="square">
              <a:spAutoFit/>
            </a:bodyPr>
            <a:lstStyle/>
            <a:p>
              <a:pPr>
                <a:lnSpc>
                  <a:spcPct val="120000"/>
                </a:lnSpc>
              </a:pPr>
              <a:r>
                <a:rPr lang="zh-CN" altLang="en-US" sz="1400" b="0" i="0" dirty="0">
                  <a:solidFill>
                    <a:srgbClr val="0D0D0D"/>
                  </a:solidFill>
                  <a:effectLst/>
                  <a:latin typeface="+mn-ea"/>
                  <a:cs typeface="思源黑体 CN Normal" panose="020B0400000000000000" pitchFamily="34" charset="-122"/>
                </a:rPr>
                <a:t>引入</a:t>
              </a:r>
              <a:r>
                <a:rPr lang="en-US" altLang="zh-CN" sz="1400" b="0" i="0" dirty="0">
                  <a:solidFill>
                    <a:srgbClr val="0D0D0D"/>
                  </a:solidFill>
                  <a:effectLst/>
                  <a:latin typeface="+mn-ea"/>
                  <a:cs typeface="思源黑体 CN Normal" panose="020B0400000000000000" pitchFamily="34" charset="-122"/>
                </a:rPr>
                <a:t>AI</a:t>
              </a:r>
              <a:r>
                <a:rPr lang="zh-CN" altLang="en-US" sz="1400" b="0" i="0" dirty="0">
                  <a:solidFill>
                    <a:srgbClr val="0D0D0D"/>
                  </a:solidFill>
                  <a:effectLst/>
                  <a:latin typeface="+mn-ea"/>
                  <a:cs typeface="思源黑体 CN Normal" panose="020B0400000000000000" pitchFamily="34" charset="-122"/>
                </a:rPr>
                <a:t>调度算法，日均处理量增加三成，成本降低</a:t>
              </a:r>
              <a:r>
                <a:rPr lang="en-US" altLang="zh-CN" sz="1400" b="0" i="0" dirty="0">
                  <a:solidFill>
                    <a:srgbClr val="0D0D0D"/>
                  </a:solidFill>
                  <a:effectLst/>
                  <a:latin typeface="+mn-ea"/>
                  <a:cs typeface="思源黑体 CN Normal" panose="020B0400000000000000" pitchFamily="34" charset="-122"/>
                </a:rPr>
                <a:t>15%</a:t>
              </a:r>
              <a:endParaRPr lang="zh-CN" altLang="en-US" sz="1400" dirty="0">
                <a:latin typeface="+mn-ea"/>
                <a:cs typeface="思源黑体 CN Normal" panose="020B0400000000000000" pitchFamily="34" charset="-122"/>
              </a:endParaRPr>
            </a:p>
          </p:txBody>
        </p:sp>
      </p:grpSp>
      <p:grpSp>
        <p:nvGrpSpPr>
          <p:cNvPr id="81" name="组合 80"/>
          <p:cNvGrpSpPr/>
          <p:nvPr/>
        </p:nvGrpSpPr>
        <p:grpSpPr>
          <a:xfrm>
            <a:off x="5217785" y="3566707"/>
            <a:ext cx="3636000" cy="1010208"/>
            <a:chOff x="4530967" y="1707368"/>
            <a:chExt cx="3636000" cy="1010208"/>
          </a:xfrm>
        </p:grpSpPr>
        <p:sp>
          <p:nvSpPr>
            <p:cNvPr id="82" name="文本框 81"/>
            <p:cNvSpPr txBox="1"/>
            <p:nvPr/>
          </p:nvSpPr>
          <p:spPr>
            <a:xfrm>
              <a:off x="4530967" y="1707368"/>
              <a:ext cx="2065061" cy="400110"/>
            </a:xfrm>
            <a:prstGeom prst="rect">
              <a:avLst/>
            </a:prstGeom>
            <a:noFill/>
          </p:spPr>
          <p:txBody>
            <a:bodyPr wrap="square">
              <a:spAutoFit/>
            </a:bodyPr>
            <a:lstStyle/>
            <a:p>
              <a:r>
                <a:rPr lang="zh-CN" altLang="en-US" sz="2000" i="0" dirty="0">
                  <a:solidFill>
                    <a:schemeClr val="bg2"/>
                  </a:solidFill>
                  <a:effectLst/>
                  <a:latin typeface="思源黑体 CN Heavy" panose="020B0A00000000000000" charset="-122"/>
                  <a:ea typeface="思源黑体 CN Heavy" panose="020B0A00000000000000" charset="-122"/>
                  <a:cs typeface="思源黑体 CN Normal" panose="020B0400000000000000" pitchFamily="34" charset="-122"/>
                </a:rPr>
                <a:t>库存准确率高</a:t>
              </a:r>
              <a:endParaRPr lang="zh-CN" altLang="en-US" sz="2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3" name="文本框 82"/>
            <p:cNvSpPr txBox="1"/>
            <p:nvPr/>
          </p:nvSpPr>
          <p:spPr>
            <a:xfrm>
              <a:off x="4530967" y="2120746"/>
              <a:ext cx="3636000" cy="596830"/>
            </a:xfrm>
            <a:prstGeom prst="rect">
              <a:avLst/>
            </a:prstGeom>
            <a:noFill/>
          </p:spPr>
          <p:txBody>
            <a:bodyPr wrap="square">
              <a:spAutoFit/>
            </a:bodyPr>
            <a:lstStyle/>
            <a:p>
              <a:pPr>
                <a:lnSpc>
                  <a:spcPct val="120000"/>
                </a:lnSpc>
              </a:pPr>
              <a:r>
                <a:rPr lang="zh-CN" altLang="en-US" sz="1400" b="0" i="0" dirty="0">
                  <a:solidFill>
                    <a:srgbClr val="0D0D0D"/>
                  </a:solidFill>
                  <a:effectLst/>
                  <a:latin typeface="+mn-ea"/>
                  <a:cs typeface="思源黑体 CN Normal" panose="020B0400000000000000" pitchFamily="34" charset="-122"/>
                </a:rPr>
                <a:t>实施</a:t>
              </a:r>
              <a:r>
                <a:rPr lang="en-US" altLang="zh-CN" sz="1400" b="0" i="0" dirty="0">
                  <a:solidFill>
                    <a:srgbClr val="0D0D0D"/>
                  </a:solidFill>
                  <a:effectLst/>
                  <a:latin typeface="+mn-ea"/>
                  <a:cs typeface="思源黑体 CN Normal" panose="020B0400000000000000" pitchFamily="34" charset="-122"/>
                </a:rPr>
                <a:t>RFID</a:t>
              </a:r>
              <a:r>
                <a:rPr lang="zh-CN" altLang="en-US" sz="1400" b="0" i="0" dirty="0">
                  <a:solidFill>
                    <a:srgbClr val="0D0D0D"/>
                  </a:solidFill>
                  <a:effectLst/>
                  <a:latin typeface="+mn-ea"/>
                  <a:cs typeface="思源黑体 CN Normal" panose="020B0400000000000000" pitchFamily="34" charset="-122"/>
                </a:rPr>
                <a:t>标签追踪系统，实现库存实时监控与精准管理，库存差异率降至</a:t>
              </a:r>
              <a:r>
                <a:rPr lang="en-US" altLang="zh-CN" sz="1400" b="0" i="0" dirty="0">
                  <a:solidFill>
                    <a:srgbClr val="0D0D0D"/>
                  </a:solidFill>
                  <a:effectLst/>
                  <a:latin typeface="+mn-ea"/>
                  <a:cs typeface="思源黑体 CN Normal" panose="020B0400000000000000" pitchFamily="34" charset="-122"/>
                </a:rPr>
                <a:t>1%</a:t>
              </a:r>
              <a:r>
                <a:rPr lang="zh-CN" altLang="en-US" sz="1400" b="0" i="0" dirty="0">
                  <a:solidFill>
                    <a:srgbClr val="0D0D0D"/>
                  </a:solidFill>
                  <a:effectLst/>
                  <a:latin typeface="+mn-ea"/>
                  <a:cs typeface="思源黑体 CN Normal" panose="020B0400000000000000" pitchFamily="34" charset="-122"/>
                </a:rPr>
                <a:t>以下</a:t>
              </a:r>
              <a:endParaRPr lang="zh-CN" altLang="en-US" sz="1400" dirty="0">
                <a:latin typeface="+mn-ea"/>
                <a:cs typeface="思源黑体 CN Normal" panose="020B0400000000000000" pitchFamily="34" charset="-122"/>
              </a:endParaRPr>
            </a:p>
          </p:txBody>
        </p:sp>
      </p:grpSp>
      <p:grpSp>
        <p:nvGrpSpPr>
          <p:cNvPr id="85" name="组合 84"/>
          <p:cNvGrpSpPr/>
          <p:nvPr/>
        </p:nvGrpSpPr>
        <p:grpSpPr>
          <a:xfrm>
            <a:off x="4425785" y="1728840"/>
            <a:ext cx="4428000" cy="1043259"/>
            <a:chOff x="4530967" y="1674317"/>
            <a:chExt cx="4428000" cy="1043259"/>
          </a:xfrm>
        </p:grpSpPr>
        <p:sp>
          <p:nvSpPr>
            <p:cNvPr id="86" name="文本框 85"/>
            <p:cNvSpPr txBox="1"/>
            <p:nvPr/>
          </p:nvSpPr>
          <p:spPr>
            <a:xfrm>
              <a:off x="4530967" y="1674317"/>
              <a:ext cx="2065061" cy="400110"/>
            </a:xfrm>
            <a:prstGeom prst="rect">
              <a:avLst/>
            </a:prstGeom>
            <a:noFill/>
          </p:spPr>
          <p:txBody>
            <a:bodyPr wrap="square">
              <a:spAutoFit/>
            </a:bodyPr>
            <a:lstStyle/>
            <a:p>
              <a:r>
                <a:rPr lang="zh-CN" altLang="en-US" sz="200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系统稳定运行</a:t>
              </a:r>
              <a:endParaRPr lang="zh-CN" altLang="en-US" sz="2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7" name="文本框 86"/>
            <p:cNvSpPr txBox="1"/>
            <p:nvPr/>
          </p:nvSpPr>
          <p:spPr>
            <a:xfrm>
              <a:off x="4530967" y="2120746"/>
              <a:ext cx="4428000" cy="596830"/>
            </a:xfrm>
            <a:prstGeom prst="rect">
              <a:avLst/>
            </a:prstGeom>
            <a:noFill/>
          </p:spPr>
          <p:txBody>
            <a:bodyPr wrap="square">
              <a:spAutoFit/>
            </a:bodyPr>
            <a:lstStyle/>
            <a:p>
              <a:pPr>
                <a:lnSpc>
                  <a:spcPct val="120000"/>
                </a:lnSpc>
              </a:pPr>
              <a:r>
                <a:rPr lang="zh-CN" altLang="en-US" sz="1400" b="0" i="0" dirty="0">
                  <a:solidFill>
                    <a:srgbClr val="0D0D0D"/>
                  </a:solidFill>
                  <a:effectLst/>
                  <a:latin typeface="+mn-ea"/>
                  <a:cs typeface="思源黑体 CN Normal" panose="020B0400000000000000" pitchFamily="34" charset="-122"/>
                </a:rPr>
                <a:t>强化系统监控与定期维护机制，确保智能仓储系统无重大故障，保障了业务连续性和客户满意度</a:t>
              </a:r>
              <a:endParaRPr lang="zh-CN" altLang="en-US" sz="1400" dirty="0">
                <a:latin typeface="+mn-ea"/>
                <a:cs typeface="思源黑体 CN Normal" panose="020B0400000000000000" pitchFamily="34" charset="-122"/>
              </a:endParaRPr>
            </a:p>
          </p:txBody>
        </p:sp>
      </p:grpSp>
      <p:sp>
        <p:nvSpPr>
          <p:cNvPr id="109" name="文本框 108"/>
          <p:cNvSpPr txBox="1"/>
          <p:nvPr/>
        </p:nvSpPr>
        <p:spPr>
          <a:xfrm>
            <a:off x="9438276" y="1728840"/>
            <a:ext cx="2117219" cy="720000"/>
          </a:xfrm>
          <a:prstGeom prst="rect">
            <a:avLst/>
          </a:prstGeom>
          <a:gradFill>
            <a:gsLst>
              <a:gs pos="50000">
                <a:srgbClr val="FFFFFF">
                  <a:alpha val="50000"/>
                </a:srgbClr>
              </a:gs>
              <a:gs pos="0">
                <a:schemeClr val="bg1">
                  <a:alpha val="0"/>
                </a:schemeClr>
              </a:gs>
              <a:gs pos="100000">
                <a:schemeClr val="bg1">
                  <a:alpha val="0"/>
                </a:schemeClr>
              </a:gs>
            </a:gsLst>
            <a:lin ang="0" scaled="0"/>
          </a:gradFill>
          <a:ln>
            <a:gradFill>
              <a:gsLst>
                <a:gs pos="0">
                  <a:schemeClr val="accent1">
                    <a:alpha val="0"/>
                  </a:schemeClr>
                </a:gs>
                <a:gs pos="50000">
                  <a:schemeClr val="accent1"/>
                </a:gs>
                <a:gs pos="100000">
                  <a:schemeClr val="accent1">
                    <a:alpha val="0"/>
                  </a:schemeClr>
                </a:gs>
              </a:gsLst>
              <a:lin ang="0" scaled="0"/>
            </a:gradFill>
          </a:ln>
        </p:spPr>
        <p:txBody>
          <a:bodyPr wrap="square" anchor="ctr">
            <a:noAutofit/>
          </a:bodyPr>
          <a:lstStyle/>
          <a:p>
            <a:pPr algn="ctr" latinLnBrk="0">
              <a:lnSpc>
                <a:spcPct val="110000"/>
              </a:lnSpc>
            </a:pPr>
            <a:r>
              <a:rPr lang="zh-CN" altLang="en-US" b="0" i="0" dirty="0">
                <a:solidFill>
                  <a:schemeClr val="tx2"/>
                </a:solidFill>
                <a:effectLst/>
                <a:latin typeface="+mj-ea"/>
                <a:ea typeface="+mj-ea"/>
                <a:cs typeface="思源黑体 CN Normal" panose="020B0400000000000000" pitchFamily="34" charset="-122"/>
              </a:rPr>
              <a:t>智能仓储</a:t>
            </a:r>
            <a:endParaRPr lang="en-US" altLang="zh-CN" b="0" i="0" dirty="0">
              <a:solidFill>
                <a:schemeClr val="tx2"/>
              </a:solidFill>
              <a:effectLst/>
              <a:latin typeface="+mj-ea"/>
              <a:ea typeface="+mj-ea"/>
              <a:cs typeface="思源黑体 CN Normal" panose="020B0400000000000000" pitchFamily="34" charset="-122"/>
            </a:endParaRPr>
          </a:p>
          <a:p>
            <a:pPr algn="ctr" latinLnBrk="0">
              <a:lnSpc>
                <a:spcPct val="110000"/>
              </a:lnSpc>
            </a:pPr>
            <a:r>
              <a:rPr lang="zh-CN" altLang="en-US" b="0" i="0" dirty="0">
                <a:solidFill>
                  <a:schemeClr val="tx2"/>
                </a:solidFill>
                <a:effectLst/>
                <a:latin typeface="+mj-ea"/>
                <a:ea typeface="+mj-ea"/>
                <a:cs typeface="思源黑体 CN Normal" panose="020B0400000000000000" pitchFamily="34" charset="-122"/>
              </a:rPr>
              <a:t>高效精准稳行</a:t>
            </a:r>
            <a:endParaRPr lang="zh-CN" altLang="en-US" dirty="0">
              <a:solidFill>
                <a:schemeClr val="tx2"/>
              </a:solidFill>
              <a:latin typeface="+mj-ea"/>
              <a:ea typeface="+mj-ea"/>
              <a:cs typeface="思源黑体 CN Normal" panose="020B0400000000000000" pitchFamily="34" charset="-122"/>
            </a:endParaRPr>
          </a:p>
        </p:txBody>
      </p:sp>
      <p:pic>
        <p:nvPicPr>
          <p:cNvPr id="111" name="图形 1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841140" y="5034644"/>
            <a:ext cx="540000" cy="540000"/>
          </a:xfrm>
          <a:prstGeom prst="rect">
            <a:avLst/>
          </a:prstGeom>
        </p:spPr>
      </p:pic>
      <p:pic>
        <p:nvPicPr>
          <p:cNvPr id="113" name="图形 11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36348" y="3491383"/>
            <a:ext cx="504000" cy="504000"/>
          </a:xfrm>
          <a:prstGeom prst="rect">
            <a:avLst/>
          </a:prstGeom>
        </p:spPr>
      </p:pic>
      <p:pic>
        <p:nvPicPr>
          <p:cNvPr id="115" name="图形 11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36348" y="1812040"/>
            <a:ext cx="504000" cy="504000"/>
          </a:xfrm>
          <a:prstGeom prst="rect">
            <a:avLst/>
          </a:prstGeom>
        </p:spPr>
      </p:pic>
      <p:sp>
        <p:nvSpPr>
          <p:cNvPr id="118" name="等腰三角形 117"/>
          <p:cNvSpPr/>
          <p:nvPr/>
        </p:nvSpPr>
        <p:spPr>
          <a:xfrm rot="5400000">
            <a:off x="4239741" y="1875595"/>
            <a:ext cx="161017" cy="106599"/>
          </a:xfrm>
          <a:prstGeom prst="triangle">
            <a:avLst/>
          </a:prstGeom>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9" name="等腰三角形 118"/>
          <p:cNvSpPr/>
          <p:nvPr/>
        </p:nvSpPr>
        <p:spPr>
          <a:xfrm rot="5400000">
            <a:off x="5083729" y="3716173"/>
            <a:ext cx="161017" cy="106599"/>
          </a:xfrm>
          <a:prstGeom prst="triangle">
            <a:avLst/>
          </a:prstGeom>
          <a:solidFill>
            <a:schemeClr val="accent2"/>
          </a:solidFill>
          <a:ln cap="rnd">
            <a:solidFill>
              <a:schemeClr val="accent2"/>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0" name="等腰三角形 119"/>
          <p:cNvSpPr/>
          <p:nvPr/>
        </p:nvSpPr>
        <p:spPr>
          <a:xfrm rot="5400000">
            <a:off x="6149486" y="5273188"/>
            <a:ext cx="161017" cy="106599"/>
          </a:xfrm>
          <a:prstGeom prst="triangle">
            <a:avLst/>
          </a:prstGeom>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3" name="文本框 122"/>
          <p:cNvSpPr txBox="1"/>
          <p:nvPr/>
        </p:nvSpPr>
        <p:spPr>
          <a:xfrm>
            <a:off x="10146000" y="5285177"/>
            <a:ext cx="1476000" cy="85183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+30</a:t>
            </a:r>
            <a:r>
              <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效率提升</a:t>
            </a:r>
            <a:endParaRPr kumimoji="0" lang="zh-CN" altLang="en-US" sz="1800" b="1"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24" name="文本框 123"/>
          <p:cNvSpPr txBox="1"/>
          <p:nvPr/>
        </p:nvSpPr>
        <p:spPr>
          <a:xfrm>
            <a:off x="10146000" y="4092100"/>
            <a:ext cx="1476000" cy="85183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99</a:t>
            </a:r>
            <a:r>
              <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库存准确率</a:t>
            </a:r>
            <a:endParaRPr kumimoji="0" lang="zh-CN" altLang="en-US" sz="1800" b="1"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25" name="文本框 124"/>
          <p:cNvSpPr txBox="1"/>
          <p:nvPr/>
        </p:nvSpPr>
        <p:spPr>
          <a:xfrm>
            <a:off x="10146000" y="2899023"/>
            <a:ext cx="1476000" cy="111036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100</a:t>
            </a:r>
            <a:r>
              <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r>
              <a:rPr kumimoji="0" lang="zh-CN" altLang="en-US" sz="14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无故障</a:t>
            </a:r>
            <a:endParaRPr kumimoji="0" lang="en-US" altLang="zh-CN" sz="18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系统稳定性</a:t>
            </a:r>
            <a:endParaRPr kumimoji="0" lang="zh-CN" altLang="en-US" sz="1800" b="1"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pic>
        <p:nvPicPr>
          <p:cNvPr id="127" name="图形 12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11901" y="3129613"/>
            <a:ext cx="423863" cy="390657"/>
          </a:xfrm>
          <a:prstGeom prst="rect">
            <a:avLst/>
          </a:prstGeom>
        </p:spPr>
      </p:pic>
      <p:pic>
        <p:nvPicPr>
          <p:cNvPr id="129" name="图形 128"/>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53832" y="4248018"/>
            <a:ext cx="540000" cy="540000"/>
          </a:xfrm>
          <a:prstGeom prst="rect">
            <a:avLst/>
          </a:prstGeom>
        </p:spPr>
      </p:pic>
      <p:pic>
        <p:nvPicPr>
          <p:cNvPr id="131" name="图形 130"/>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53832" y="5441095"/>
            <a:ext cx="540000" cy="540000"/>
          </a:xfrm>
          <a:prstGeom prst="rect">
            <a:avLst/>
          </a:prstGeom>
        </p:spPr>
      </p:pic>
      <p:sp>
        <p:nvSpPr>
          <p:cNvPr id="134" name="任意多边形: 形状 133"/>
          <p:cNvSpPr/>
          <p:nvPr/>
        </p:nvSpPr>
        <p:spPr>
          <a:xfrm>
            <a:off x="10083800" y="3026491"/>
            <a:ext cx="0" cy="596900"/>
          </a:xfrm>
          <a:custGeom>
            <a:avLst/>
            <a:gdLst>
              <a:gd name="connsiteX0" fmla="*/ 0 w 0"/>
              <a:gd name="connsiteY0" fmla="*/ 0 h 596900"/>
              <a:gd name="connsiteX1" fmla="*/ 0 w 0"/>
              <a:gd name="connsiteY1" fmla="*/ 596900 h 596900"/>
            </a:gdLst>
            <a:ahLst/>
            <a:cxnLst>
              <a:cxn ang="0">
                <a:pos x="connsiteX0" y="connsiteY0"/>
              </a:cxn>
              <a:cxn ang="0">
                <a:pos x="connsiteX1" y="connsiteY1"/>
              </a:cxn>
            </a:cxnLst>
            <a:rect l="l" t="t" r="r" b="b"/>
            <a:pathLst>
              <a:path h="596900">
                <a:moveTo>
                  <a:pt x="0" y="0"/>
                </a:moveTo>
                <a:lnTo>
                  <a:pt x="0" y="596900"/>
                </a:lnTo>
              </a:path>
            </a:pathLst>
          </a:custGeom>
          <a:noFill/>
          <a:ln cap="rnd">
            <a:gradFill>
              <a:gsLst>
                <a:gs pos="1000">
                  <a:schemeClr val="accent1">
                    <a:alpha val="0"/>
                  </a:schemeClr>
                </a:gs>
                <a:gs pos="50500">
                  <a:schemeClr val="accent1"/>
                </a:gs>
                <a:gs pos="100000">
                  <a:schemeClr val="accent1">
                    <a:alpha val="0"/>
                  </a:schemeClr>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5" name="任意多边形: 形状 134"/>
          <p:cNvSpPr/>
          <p:nvPr/>
        </p:nvSpPr>
        <p:spPr>
          <a:xfrm>
            <a:off x="10083800" y="4219568"/>
            <a:ext cx="0" cy="596900"/>
          </a:xfrm>
          <a:custGeom>
            <a:avLst/>
            <a:gdLst>
              <a:gd name="connsiteX0" fmla="*/ 0 w 0"/>
              <a:gd name="connsiteY0" fmla="*/ 0 h 596900"/>
              <a:gd name="connsiteX1" fmla="*/ 0 w 0"/>
              <a:gd name="connsiteY1" fmla="*/ 596900 h 596900"/>
            </a:gdLst>
            <a:ahLst/>
            <a:cxnLst>
              <a:cxn ang="0">
                <a:pos x="connsiteX0" y="connsiteY0"/>
              </a:cxn>
              <a:cxn ang="0">
                <a:pos x="connsiteX1" y="connsiteY1"/>
              </a:cxn>
            </a:cxnLst>
            <a:rect l="l" t="t" r="r" b="b"/>
            <a:pathLst>
              <a:path h="596900">
                <a:moveTo>
                  <a:pt x="0" y="0"/>
                </a:moveTo>
                <a:lnTo>
                  <a:pt x="0" y="596900"/>
                </a:lnTo>
              </a:path>
            </a:pathLst>
          </a:custGeom>
          <a:noFill/>
          <a:ln cap="rnd">
            <a:gradFill>
              <a:gsLst>
                <a:gs pos="1000">
                  <a:schemeClr val="accent1">
                    <a:alpha val="0"/>
                  </a:schemeClr>
                </a:gs>
                <a:gs pos="50500">
                  <a:schemeClr val="accent1"/>
                </a:gs>
                <a:gs pos="100000">
                  <a:schemeClr val="accent1">
                    <a:alpha val="0"/>
                  </a:schemeClr>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6" name="任意多边形: 形状 135"/>
          <p:cNvSpPr/>
          <p:nvPr/>
        </p:nvSpPr>
        <p:spPr>
          <a:xfrm>
            <a:off x="10083800" y="5412645"/>
            <a:ext cx="0" cy="596900"/>
          </a:xfrm>
          <a:custGeom>
            <a:avLst/>
            <a:gdLst>
              <a:gd name="connsiteX0" fmla="*/ 0 w 0"/>
              <a:gd name="connsiteY0" fmla="*/ 0 h 596900"/>
              <a:gd name="connsiteX1" fmla="*/ 0 w 0"/>
              <a:gd name="connsiteY1" fmla="*/ 596900 h 596900"/>
            </a:gdLst>
            <a:ahLst/>
            <a:cxnLst>
              <a:cxn ang="0">
                <a:pos x="connsiteX0" y="connsiteY0"/>
              </a:cxn>
              <a:cxn ang="0">
                <a:pos x="connsiteX1" y="connsiteY1"/>
              </a:cxn>
            </a:cxnLst>
            <a:rect l="l" t="t" r="r" b="b"/>
            <a:pathLst>
              <a:path h="596900">
                <a:moveTo>
                  <a:pt x="0" y="0"/>
                </a:moveTo>
                <a:lnTo>
                  <a:pt x="0" y="596900"/>
                </a:lnTo>
              </a:path>
            </a:pathLst>
          </a:custGeom>
          <a:noFill/>
          <a:ln cap="rnd">
            <a:gradFill>
              <a:gsLst>
                <a:gs pos="1000">
                  <a:schemeClr val="accent1">
                    <a:alpha val="0"/>
                  </a:schemeClr>
                </a:gs>
                <a:gs pos="50500">
                  <a:schemeClr val="accent1"/>
                </a:gs>
                <a:gs pos="100000">
                  <a:schemeClr val="accent1">
                    <a:alpha val="0"/>
                  </a:schemeClr>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 name="文本框 12"/>
          <p:cNvSpPr txBox="1"/>
          <p:nvPr/>
        </p:nvSpPr>
        <p:spPr>
          <a:xfrm>
            <a:off x="336000" y="1686017"/>
            <a:ext cx="1080000" cy="288000"/>
          </a:xfrm>
          <a:prstGeom prst="roundRect">
            <a:avLst>
              <a:gd name="adj" fmla="val 50000"/>
            </a:avLst>
          </a:prstGeom>
          <a:solidFill>
            <a:schemeClr val="accent1"/>
          </a:solidFill>
        </p:spPr>
        <p:txBody>
          <a:bodyPr wrap="square" lIns="0" tIns="0" rIns="0" bIns="0" anchor="ctr">
            <a:noAutofit/>
          </a:bodyPr>
          <a:lstStyle/>
          <a:p>
            <a:pPr algn="ctr"/>
            <a:r>
              <a:rPr lang="zh-CN" altLang="en-US" sz="1400" b="0" i="0" dirty="0">
                <a:solidFill>
                  <a:schemeClr val="bg1"/>
                </a:solidFill>
                <a:effectLst/>
                <a:latin typeface="+mj-ea"/>
                <a:ea typeface="+mj-ea"/>
                <a:cs typeface="思源黑体 CN Normal" panose="020B0400000000000000" pitchFamily="34" charset="-122"/>
              </a:rPr>
              <a:t>系统维稳</a:t>
            </a:r>
            <a:endParaRPr lang="zh-CN" altLang="en-US" sz="1400" dirty="0">
              <a:solidFill>
                <a:schemeClr val="bg1"/>
              </a:solidFill>
              <a:latin typeface="+mj-ea"/>
              <a:ea typeface="+mj-ea"/>
              <a:cs typeface="思源黑体 CN Normal" panose="020B0400000000000000" pitchFamily="34" charset="-122"/>
            </a:endParaRPr>
          </a:p>
        </p:txBody>
      </p:sp>
      <p:sp>
        <p:nvSpPr>
          <p:cNvPr id="14" name="文本框 13"/>
          <p:cNvSpPr txBox="1"/>
          <p:nvPr/>
        </p:nvSpPr>
        <p:spPr>
          <a:xfrm>
            <a:off x="336000" y="3108885"/>
            <a:ext cx="972000" cy="288000"/>
          </a:xfrm>
          <a:prstGeom prst="roundRect">
            <a:avLst>
              <a:gd name="adj" fmla="val 50000"/>
            </a:avLst>
          </a:prstGeom>
          <a:solidFill>
            <a:schemeClr val="accent2"/>
          </a:solidFill>
        </p:spPr>
        <p:txBody>
          <a:bodyPr wrap="square" lIns="0" tIns="0" rIns="0" bIns="0" anchor="ctr">
            <a:noAutofit/>
          </a:bodyPr>
          <a:lstStyle/>
          <a:p>
            <a:pPr algn="ctr"/>
            <a:r>
              <a:rPr lang="zh-CN" altLang="en-US" sz="1400" b="0" i="0" dirty="0">
                <a:solidFill>
                  <a:schemeClr val="bg1"/>
                </a:solidFill>
                <a:effectLst/>
                <a:latin typeface="+mj-ea"/>
                <a:ea typeface="+mj-ea"/>
                <a:cs typeface="思源黑体 CN Normal" panose="020B0400000000000000" pitchFamily="34" charset="-122"/>
              </a:rPr>
              <a:t>库存精管</a:t>
            </a:r>
            <a:endParaRPr lang="zh-CN" altLang="en-US" sz="1400" dirty="0">
              <a:solidFill>
                <a:schemeClr val="bg1"/>
              </a:solidFill>
              <a:latin typeface="+mj-ea"/>
              <a:ea typeface="+mj-ea"/>
              <a:cs typeface="思源黑体 CN Normal" panose="020B0400000000000000" pitchFamily="34" charset="-122"/>
            </a:endParaRPr>
          </a:p>
        </p:txBody>
      </p:sp>
      <p:sp>
        <p:nvSpPr>
          <p:cNvPr id="15" name="文本框 14"/>
          <p:cNvSpPr txBox="1"/>
          <p:nvPr/>
        </p:nvSpPr>
        <p:spPr>
          <a:xfrm>
            <a:off x="336000" y="4531752"/>
            <a:ext cx="828000" cy="288000"/>
          </a:xfrm>
          <a:prstGeom prst="roundRect">
            <a:avLst>
              <a:gd name="adj" fmla="val 50000"/>
            </a:avLst>
          </a:prstGeom>
          <a:solidFill>
            <a:schemeClr val="accent1"/>
          </a:solidFill>
        </p:spPr>
        <p:txBody>
          <a:bodyPr wrap="square" lIns="0" tIns="0" rIns="0" bIns="0" anchor="ctr">
            <a:noAutofit/>
          </a:bodyPr>
          <a:lstStyle/>
          <a:p>
            <a:pPr algn="ctr"/>
            <a:r>
              <a:rPr lang="en-US" altLang="zh-CN" sz="1400" b="0" i="0" dirty="0">
                <a:solidFill>
                  <a:schemeClr val="bg1"/>
                </a:solidFill>
                <a:effectLst/>
                <a:latin typeface="+mj-ea"/>
                <a:ea typeface="+mj-ea"/>
                <a:cs typeface="思源黑体 CN Normal" panose="020B0400000000000000" pitchFamily="34" charset="-122"/>
              </a:rPr>
              <a:t>AI </a:t>
            </a:r>
            <a:r>
              <a:rPr lang="zh-CN" altLang="en-US" sz="1400" b="0" i="0" dirty="0">
                <a:solidFill>
                  <a:schemeClr val="bg1"/>
                </a:solidFill>
                <a:effectLst/>
                <a:latin typeface="+mj-ea"/>
                <a:ea typeface="+mj-ea"/>
                <a:cs typeface="思源黑体 CN Normal" panose="020B0400000000000000" pitchFamily="34" charset="-122"/>
              </a:rPr>
              <a:t>增效</a:t>
            </a:r>
            <a:endParaRPr lang="zh-CN" altLang="en-US" sz="1400" dirty="0">
              <a:solidFill>
                <a:schemeClr val="bg1"/>
              </a:solidFill>
              <a:latin typeface="+mj-ea"/>
              <a:ea typeface="+mj-ea"/>
              <a:cs typeface="思源黑体 CN Normal" panose="020B0400000000000000" pitchFamily="34" charset="-122"/>
            </a:endParaRPr>
          </a:p>
        </p:txBody>
      </p:sp>
    </p:spTree>
    <p:custDataLst>
      <p:tags r:id="rId1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p:cNvSpPr/>
          <p:nvPr/>
        </p:nvSpPr>
        <p:spPr>
          <a:xfrm flipH="1">
            <a:off x="338185" y="2509437"/>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38" name="矩形 37"/>
          <p:cNvSpPr/>
          <p:nvPr/>
        </p:nvSpPr>
        <p:spPr>
          <a:xfrm>
            <a:off x="6096000" y="1199204"/>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45" name="矩形 44"/>
          <p:cNvSpPr/>
          <p:nvPr/>
        </p:nvSpPr>
        <p:spPr>
          <a:xfrm>
            <a:off x="6096000" y="2509437"/>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49" name="矩形 48"/>
          <p:cNvSpPr/>
          <p:nvPr/>
        </p:nvSpPr>
        <p:spPr>
          <a:xfrm>
            <a:off x="6096000" y="3819670"/>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50" name="矩形 49"/>
          <p:cNvSpPr/>
          <p:nvPr/>
        </p:nvSpPr>
        <p:spPr>
          <a:xfrm>
            <a:off x="6096000" y="5129904"/>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62" name="矩形 61"/>
          <p:cNvSpPr/>
          <p:nvPr/>
        </p:nvSpPr>
        <p:spPr>
          <a:xfrm flipH="1">
            <a:off x="338185" y="1199204"/>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4" name="矩形 63"/>
          <p:cNvSpPr/>
          <p:nvPr/>
        </p:nvSpPr>
        <p:spPr>
          <a:xfrm flipH="1">
            <a:off x="338185" y="3819670"/>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65" name="矩形 64"/>
          <p:cNvSpPr/>
          <p:nvPr/>
        </p:nvSpPr>
        <p:spPr>
          <a:xfrm flipH="1">
            <a:off x="338185" y="5129904"/>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3"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递进关系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客户层级管理</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9" name="任意多边形 9"/>
          <p:cNvSpPr/>
          <p:nvPr/>
        </p:nvSpPr>
        <p:spPr>
          <a:xfrm>
            <a:off x="4571381" y="2755596"/>
            <a:ext cx="3048114" cy="1121688"/>
          </a:xfrm>
          <a:custGeom>
            <a:avLst/>
            <a:gdLst>
              <a:gd name="adj" fmla="val 55811"/>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2712" h="998">
                <a:moveTo>
                  <a:pt x="531" y="0"/>
                </a:moveTo>
                <a:lnTo>
                  <a:pt x="2181" y="0"/>
                </a:lnTo>
                <a:lnTo>
                  <a:pt x="2712" y="998"/>
                </a:lnTo>
                <a:lnTo>
                  <a:pt x="0" y="998"/>
                </a:lnTo>
                <a:lnTo>
                  <a:pt x="531" y="0"/>
                </a:lnTo>
                <a:close/>
              </a:path>
            </a:pathLst>
          </a:custGeom>
          <a:gradFill>
            <a:gsLst>
              <a:gs pos="0">
                <a:schemeClr val="accent2">
                  <a:lumMod val="60000"/>
                  <a:lumOff val="40000"/>
                </a:schemeClr>
              </a:gs>
              <a:gs pos="85000">
                <a:schemeClr val="accent2"/>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b="1" dirty="0">
              <a:latin typeface="思源黑体 CN Normal" panose="020B0400000000000000" pitchFamily="34" charset="-122"/>
              <a:cs typeface="思源黑体 CN Normal" panose="020B0400000000000000" pitchFamily="34" charset="-122"/>
              <a:sym typeface="+mn-ea"/>
            </a:endParaRPr>
          </a:p>
        </p:txBody>
      </p:sp>
      <p:sp>
        <p:nvSpPr>
          <p:cNvPr id="23" name="椭圆 22"/>
          <p:cNvSpPr/>
          <p:nvPr/>
        </p:nvSpPr>
        <p:spPr>
          <a:xfrm>
            <a:off x="4577000" y="3808724"/>
            <a:ext cx="3043619" cy="134872"/>
          </a:xfrm>
          <a:prstGeom prst="ellipse">
            <a:avLst/>
          </a:prstGeom>
          <a:solidFill>
            <a:schemeClr val="accent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 name="任意多边形 10"/>
          <p:cNvSpPr/>
          <p:nvPr/>
        </p:nvSpPr>
        <p:spPr>
          <a:xfrm>
            <a:off x="3943183" y="4009464"/>
            <a:ext cx="4305635" cy="1060732"/>
          </a:xfrm>
          <a:custGeom>
            <a:avLst/>
            <a:gdLst>
              <a:gd name="adj" fmla="val 55811"/>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051" h="998">
                <a:moveTo>
                  <a:pt x="531" y="0"/>
                </a:moveTo>
                <a:lnTo>
                  <a:pt x="3520" y="0"/>
                </a:lnTo>
                <a:lnTo>
                  <a:pt x="4051" y="998"/>
                </a:lnTo>
                <a:lnTo>
                  <a:pt x="0" y="998"/>
                </a:lnTo>
                <a:lnTo>
                  <a:pt x="531" y="0"/>
                </a:lnTo>
                <a:close/>
              </a:path>
            </a:pathLst>
          </a:custGeom>
          <a:gradFill>
            <a:gsLst>
              <a:gs pos="0">
                <a:schemeClr val="accent3">
                  <a:lumMod val="60000"/>
                  <a:lumOff val="40000"/>
                </a:schemeClr>
              </a:gs>
              <a:gs pos="85000">
                <a:schemeClr val="accent3"/>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b="1" dirty="0">
              <a:latin typeface="思源黑体 CN Normal" panose="020B0400000000000000" pitchFamily="34" charset="-122"/>
              <a:cs typeface="思源黑体 CN Normal" panose="020B0400000000000000" pitchFamily="34" charset="-122"/>
              <a:sym typeface="+mn-ea"/>
            </a:endParaRPr>
          </a:p>
        </p:txBody>
      </p:sp>
      <p:sp>
        <p:nvSpPr>
          <p:cNvPr id="24" name="椭圆 23"/>
          <p:cNvSpPr/>
          <p:nvPr/>
        </p:nvSpPr>
        <p:spPr>
          <a:xfrm>
            <a:off x="3949561" y="4997922"/>
            <a:ext cx="4298195" cy="127542"/>
          </a:xfrm>
          <a:prstGeom prst="ellipse">
            <a:avLst/>
          </a:prstGeom>
          <a:solidFill>
            <a:schemeClr val="accent3">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8" name="任意多边形 7"/>
          <p:cNvSpPr/>
          <p:nvPr/>
        </p:nvSpPr>
        <p:spPr>
          <a:xfrm>
            <a:off x="5214000" y="1141728"/>
            <a:ext cx="1764000" cy="1472404"/>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1373" h="1266">
                <a:moveTo>
                  <a:pt x="690" y="0"/>
                </a:moveTo>
                <a:cubicBezTo>
                  <a:pt x="693" y="0"/>
                  <a:pt x="695" y="0"/>
                  <a:pt x="698" y="1"/>
                </a:cubicBezTo>
                <a:lnTo>
                  <a:pt x="701" y="3"/>
                </a:lnTo>
                <a:lnTo>
                  <a:pt x="1373" y="1266"/>
                </a:lnTo>
                <a:lnTo>
                  <a:pt x="0" y="1266"/>
                </a:lnTo>
                <a:lnTo>
                  <a:pt x="632" y="78"/>
                </a:lnTo>
                <a:lnTo>
                  <a:pt x="662" y="23"/>
                </a:lnTo>
                <a:lnTo>
                  <a:pt x="671" y="7"/>
                </a:lnTo>
                <a:lnTo>
                  <a:pt x="674" y="5"/>
                </a:lnTo>
                <a:cubicBezTo>
                  <a:pt x="678" y="2"/>
                  <a:pt x="684" y="0"/>
                  <a:pt x="690" y="0"/>
                </a:cubicBezTo>
                <a:close/>
              </a:path>
            </a:pathLst>
          </a:custGeom>
          <a:gradFill>
            <a:gsLst>
              <a:gs pos="0">
                <a:schemeClr val="accent1">
                  <a:lumMod val="60000"/>
                  <a:lumOff val="40000"/>
                </a:schemeClr>
              </a:gs>
              <a:gs pos="85000">
                <a:schemeClr val="accent1"/>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horz" wrap="square" tIns="3238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400" b="1" dirty="0">
              <a:latin typeface="思源黑体 CN Normal" panose="020B0400000000000000" pitchFamily="34" charset="-122"/>
              <a:cs typeface="思源黑体 CN Normal" panose="020B0400000000000000" pitchFamily="34" charset="-122"/>
              <a:sym typeface="+mn-ea"/>
            </a:endParaRPr>
          </a:p>
        </p:txBody>
      </p:sp>
      <p:sp>
        <p:nvSpPr>
          <p:cNvPr id="22" name="椭圆 21"/>
          <p:cNvSpPr/>
          <p:nvPr/>
        </p:nvSpPr>
        <p:spPr>
          <a:xfrm>
            <a:off x="5216570" y="2550164"/>
            <a:ext cx="1757576" cy="139564"/>
          </a:xfrm>
          <a:prstGeom prst="ellipse">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1" name="任意多边形 12"/>
          <p:cNvSpPr/>
          <p:nvPr/>
        </p:nvSpPr>
        <p:spPr>
          <a:xfrm>
            <a:off x="3301267" y="5255556"/>
            <a:ext cx="5589467" cy="1089718"/>
          </a:xfrm>
          <a:custGeom>
            <a:avLst/>
            <a:gdLst>
              <a:gd name="adj" fmla="val 55811"/>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5396" h="1052">
                <a:moveTo>
                  <a:pt x="534" y="0"/>
                </a:moveTo>
                <a:lnTo>
                  <a:pt x="4862" y="0"/>
                </a:lnTo>
                <a:lnTo>
                  <a:pt x="5396" y="1004"/>
                </a:lnTo>
                <a:lnTo>
                  <a:pt x="5389" y="1005"/>
                </a:lnTo>
                <a:cubicBezTo>
                  <a:pt x="5115" y="1032"/>
                  <a:pt x="4015" y="1052"/>
                  <a:pt x="2701" y="1052"/>
                </a:cubicBezTo>
                <a:cubicBezTo>
                  <a:pt x="1386" y="1052"/>
                  <a:pt x="287" y="1032"/>
                  <a:pt x="13" y="1005"/>
                </a:cubicBezTo>
                <a:lnTo>
                  <a:pt x="0" y="1004"/>
                </a:lnTo>
                <a:lnTo>
                  <a:pt x="534" y="0"/>
                </a:lnTo>
                <a:close/>
              </a:path>
            </a:pathLst>
          </a:custGeom>
          <a:gradFill>
            <a:gsLst>
              <a:gs pos="0">
                <a:schemeClr val="accent4">
                  <a:lumMod val="60000"/>
                  <a:lumOff val="40000"/>
                </a:schemeClr>
              </a:gs>
              <a:gs pos="85000">
                <a:schemeClr val="accent4"/>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b="1" dirty="0">
              <a:latin typeface="思源黑体 CN Normal" panose="020B0400000000000000" pitchFamily="34" charset="-122"/>
              <a:cs typeface="思源黑体 CN Normal" panose="020B0400000000000000" pitchFamily="34" charset="-122"/>
              <a:sym typeface="+mn-ea"/>
            </a:endParaRPr>
          </a:p>
        </p:txBody>
      </p:sp>
      <p:sp>
        <p:nvSpPr>
          <p:cNvPr id="25" name="椭圆 24"/>
          <p:cNvSpPr/>
          <p:nvPr/>
        </p:nvSpPr>
        <p:spPr>
          <a:xfrm>
            <a:off x="3856484" y="5191333"/>
            <a:ext cx="4485247" cy="130518"/>
          </a:xfrm>
          <a:prstGeom prst="ellipse">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99" name="组合 98"/>
          <p:cNvGrpSpPr/>
          <p:nvPr/>
        </p:nvGrpSpPr>
        <p:grpSpPr>
          <a:xfrm>
            <a:off x="2380224" y="1566144"/>
            <a:ext cx="3127843" cy="4504479"/>
            <a:chOff x="2407648" y="1566144"/>
            <a:chExt cx="3127843" cy="4504479"/>
          </a:xfrm>
        </p:grpSpPr>
        <p:grpSp>
          <p:nvGrpSpPr>
            <p:cNvPr id="67" name="组合 66"/>
            <p:cNvGrpSpPr/>
            <p:nvPr/>
          </p:nvGrpSpPr>
          <p:grpSpPr>
            <a:xfrm flipH="1">
              <a:off x="4471194" y="1566144"/>
              <a:ext cx="1064297" cy="657437"/>
              <a:chOff x="6608010" y="1585547"/>
              <a:chExt cx="1064297" cy="657437"/>
            </a:xfrm>
          </p:grpSpPr>
          <p:sp>
            <p:nvSpPr>
              <p:cNvPr id="88" name="箭头: 上 87"/>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9" name="文本框 88"/>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服务项目</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90" name="组合 89"/>
            <p:cNvGrpSpPr/>
            <p:nvPr/>
          </p:nvGrpSpPr>
          <p:grpSpPr>
            <a:xfrm flipH="1">
              <a:off x="3783346" y="2848491"/>
              <a:ext cx="1064297" cy="657437"/>
              <a:chOff x="6608010" y="1585547"/>
              <a:chExt cx="1064297" cy="657437"/>
            </a:xfrm>
          </p:grpSpPr>
          <p:sp>
            <p:nvSpPr>
              <p:cNvPr id="91" name="箭头: 上 90"/>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2" name="文本框 91"/>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服务项目</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93" name="组合 92"/>
            <p:cNvGrpSpPr/>
            <p:nvPr/>
          </p:nvGrpSpPr>
          <p:grpSpPr>
            <a:xfrm flipH="1">
              <a:off x="3095497" y="4130838"/>
              <a:ext cx="1064297" cy="657437"/>
              <a:chOff x="6608010" y="1585547"/>
              <a:chExt cx="1064297" cy="657437"/>
            </a:xfrm>
          </p:grpSpPr>
          <p:sp>
            <p:nvSpPr>
              <p:cNvPr id="94" name="箭头: 上 93"/>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5" name="文本框 94"/>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服务项目</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96" name="组合 95"/>
            <p:cNvGrpSpPr/>
            <p:nvPr/>
          </p:nvGrpSpPr>
          <p:grpSpPr>
            <a:xfrm flipH="1">
              <a:off x="2407648" y="5413186"/>
              <a:ext cx="1064297" cy="657437"/>
              <a:chOff x="6608010" y="1585547"/>
              <a:chExt cx="1064297" cy="657437"/>
            </a:xfrm>
          </p:grpSpPr>
          <p:sp>
            <p:nvSpPr>
              <p:cNvPr id="97" name="箭头: 上 96"/>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8" name="文本框 97"/>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服务项目</a:t>
                </a:r>
                <a:endParaRPr lang="zh-CN" altLang="en-US" sz="1400" dirty="0">
                  <a:solidFill>
                    <a:schemeClr val="accent1"/>
                  </a:solidFill>
                  <a:latin typeface="+mj-ea"/>
                  <a:ea typeface="+mj-ea"/>
                  <a:cs typeface="思源黑体 CN Normal" panose="020B0400000000000000" pitchFamily="34" charset="-122"/>
                </a:endParaRPr>
              </a:p>
            </p:txBody>
          </p:sp>
        </p:grpSp>
      </p:grpSp>
      <p:grpSp>
        <p:nvGrpSpPr>
          <p:cNvPr id="100" name="组合 99"/>
          <p:cNvGrpSpPr/>
          <p:nvPr/>
        </p:nvGrpSpPr>
        <p:grpSpPr>
          <a:xfrm flipH="1">
            <a:off x="6683933" y="1566144"/>
            <a:ext cx="3127843" cy="4504479"/>
            <a:chOff x="2407648" y="1566144"/>
            <a:chExt cx="3127843" cy="4504479"/>
          </a:xfrm>
        </p:grpSpPr>
        <p:grpSp>
          <p:nvGrpSpPr>
            <p:cNvPr id="101" name="组合 100"/>
            <p:cNvGrpSpPr/>
            <p:nvPr/>
          </p:nvGrpSpPr>
          <p:grpSpPr>
            <a:xfrm flipH="1">
              <a:off x="4471194" y="1566144"/>
              <a:ext cx="1064297" cy="657437"/>
              <a:chOff x="6608010" y="1585547"/>
              <a:chExt cx="1064297" cy="657437"/>
            </a:xfrm>
          </p:grpSpPr>
          <p:sp>
            <p:nvSpPr>
              <p:cNvPr id="116" name="箭头: 上 115"/>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7" name="文本框 116"/>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客户权益</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102" name="组合 101"/>
            <p:cNvGrpSpPr/>
            <p:nvPr/>
          </p:nvGrpSpPr>
          <p:grpSpPr>
            <a:xfrm flipH="1">
              <a:off x="3783346" y="2848491"/>
              <a:ext cx="1064297" cy="657437"/>
              <a:chOff x="6608010" y="1585547"/>
              <a:chExt cx="1064297" cy="657437"/>
            </a:xfrm>
          </p:grpSpPr>
          <p:sp>
            <p:nvSpPr>
              <p:cNvPr id="112" name="箭头: 上 111"/>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4" name="文本框 113"/>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客户权益</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103" name="组合 102"/>
            <p:cNvGrpSpPr/>
            <p:nvPr/>
          </p:nvGrpSpPr>
          <p:grpSpPr>
            <a:xfrm flipH="1">
              <a:off x="3095497" y="4130838"/>
              <a:ext cx="1064297" cy="657437"/>
              <a:chOff x="6608010" y="1585547"/>
              <a:chExt cx="1064297" cy="657437"/>
            </a:xfrm>
          </p:grpSpPr>
          <p:sp>
            <p:nvSpPr>
              <p:cNvPr id="108" name="箭头: 上 107"/>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0" name="文本框 109"/>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客户权益</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104" name="组合 103"/>
            <p:cNvGrpSpPr/>
            <p:nvPr/>
          </p:nvGrpSpPr>
          <p:grpSpPr>
            <a:xfrm flipH="1">
              <a:off x="2407648" y="5413186"/>
              <a:ext cx="1064297" cy="657437"/>
              <a:chOff x="6608010" y="1585547"/>
              <a:chExt cx="1064297" cy="657437"/>
            </a:xfrm>
          </p:grpSpPr>
          <p:sp>
            <p:nvSpPr>
              <p:cNvPr id="105" name="箭头: 上 104"/>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7" name="文本框 106"/>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客户权益</a:t>
                </a:r>
                <a:endParaRPr lang="zh-CN" altLang="en-US" sz="1400" dirty="0">
                  <a:solidFill>
                    <a:schemeClr val="accent1"/>
                  </a:solidFill>
                  <a:latin typeface="+mj-ea"/>
                  <a:ea typeface="+mj-ea"/>
                  <a:cs typeface="思源黑体 CN Normal" panose="020B0400000000000000" pitchFamily="34" charset="-122"/>
                </a:endParaRPr>
              </a:p>
            </p:txBody>
          </p:sp>
        </p:grpSp>
      </p:grpSp>
      <p:sp>
        <p:nvSpPr>
          <p:cNvPr id="126" name="文本框 125"/>
          <p:cNvSpPr txBox="1"/>
          <p:nvPr/>
        </p:nvSpPr>
        <p:spPr>
          <a:xfrm>
            <a:off x="5362961" y="5833815"/>
            <a:ext cx="1466079" cy="372018"/>
          </a:xfrm>
          <a:prstGeom prst="rect">
            <a:avLst/>
          </a:prstGeom>
          <a:no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基础伙伴</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8" name="文本框 127"/>
          <p:cNvSpPr txBox="1"/>
          <p:nvPr/>
        </p:nvSpPr>
        <p:spPr>
          <a:xfrm>
            <a:off x="5362961" y="4572403"/>
            <a:ext cx="1466079" cy="372018"/>
          </a:xfrm>
          <a:prstGeom prst="rect">
            <a:avLst/>
          </a:prstGeom>
          <a:no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成长伙伴</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0" name="文本框 129"/>
          <p:cNvSpPr txBox="1"/>
          <p:nvPr/>
        </p:nvSpPr>
        <p:spPr>
          <a:xfrm>
            <a:off x="5362961" y="3344860"/>
            <a:ext cx="1466079" cy="372018"/>
          </a:xfrm>
          <a:prstGeom prst="rect">
            <a:avLst/>
          </a:prstGeom>
          <a:no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战略同盟</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2" name="文本框 131"/>
          <p:cNvSpPr txBox="1"/>
          <p:nvPr/>
        </p:nvSpPr>
        <p:spPr>
          <a:xfrm>
            <a:off x="5362961" y="2151183"/>
            <a:ext cx="1466079" cy="372018"/>
          </a:xfrm>
          <a:prstGeom prst="rect">
            <a:avLst/>
          </a:prstGeom>
          <a:no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巅峰伙伴</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7" name="文本框 136"/>
          <p:cNvSpPr txBox="1"/>
          <p:nvPr/>
        </p:nvSpPr>
        <p:spPr>
          <a:xfrm>
            <a:off x="397510" y="5285105"/>
            <a:ext cx="2051050" cy="913765"/>
          </a:xfrm>
          <a:prstGeom prst="rect">
            <a:avLst/>
          </a:prstGeom>
          <a:noFill/>
        </p:spPr>
        <p:txBody>
          <a:bodyPr wrap="square">
            <a:spAutoFit/>
          </a:bodyPr>
          <a:lstStyle/>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定期产品使用培训</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基础技术支持响应</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季度市场活动邀请</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38" name="文本框 137"/>
          <p:cNvSpPr txBox="1"/>
          <p:nvPr/>
        </p:nvSpPr>
        <p:spPr>
          <a:xfrm>
            <a:off x="397510" y="3975100"/>
            <a:ext cx="2669540" cy="913765"/>
          </a:xfrm>
          <a:prstGeom prst="rect">
            <a:avLst/>
          </a:prstGeom>
          <a:noFill/>
        </p:spPr>
        <p:txBody>
          <a:bodyPr wrap="square">
            <a:spAutoFit/>
          </a:bodyPr>
          <a:lstStyle/>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个性化方案的原创定制产品</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专属客户经理一对一服务</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半年度的策略研讨会</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39" name="文本框 138"/>
          <p:cNvSpPr txBox="1"/>
          <p:nvPr/>
        </p:nvSpPr>
        <p:spPr>
          <a:xfrm>
            <a:off x="397510" y="2664460"/>
            <a:ext cx="3233420" cy="913765"/>
          </a:xfrm>
          <a:prstGeom prst="rect">
            <a:avLst/>
          </a:prstGeom>
          <a:noFill/>
        </p:spPr>
        <p:txBody>
          <a:bodyPr wrap="square">
            <a:spAutoFit/>
          </a:bodyPr>
          <a:lstStyle/>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联合市场及需求进行市场的推广活动</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高级数据分析并给予专家解答支持</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每个年度及季度战略规划辅导</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0" name="文本框 139"/>
          <p:cNvSpPr txBox="1"/>
          <p:nvPr/>
        </p:nvSpPr>
        <p:spPr>
          <a:xfrm>
            <a:off x="397510" y="1354455"/>
            <a:ext cx="3700145" cy="913765"/>
          </a:xfrm>
          <a:prstGeom prst="rect">
            <a:avLst/>
          </a:prstGeom>
          <a:noFill/>
        </p:spPr>
        <p:txBody>
          <a:bodyPr wrap="square">
            <a:spAutoFit/>
          </a:bodyPr>
          <a:lstStyle/>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全球资源对接服务助力客户全球化</a:t>
            </a:r>
            <a:r>
              <a:rPr lang="zh-CN" altLang="en-US" sz="1400" dirty="0">
                <a:solidFill>
                  <a:srgbClr val="0D0D0D"/>
                </a:solidFill>
                <a:latin typeface="思源黑体 CN Normal" panose="020B0400000000000000" pitchFamily="34" charset="-122"/>
                <a:cs typeface="思源黑体 CN Normal" panose="020B0400000000000000" pitchFamily="34" charset="-122"/>
              </a:rPr>
              <a:t>的</a:t>
            </a: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布局</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顶级专家咨询团队提供一对一深度指导</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独家品牌合作机会授权跨界合作资源</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3" name="文本框 142"/>
          <p:cNvSpPr txBox="1"/>
          <p:nvPr/>
        </p:nvSpPr>
        <p:spPr>
          <a:xfrm>
            <a:off x="9696534" y="5285144"/>
            <a:ext cx="2051278" cy="913520"/>
          </a:xfrm>
          <a:prstGeom prst="rect">
            <a:avLst/>
          </a:prstGeom>
          <a:noFill/>
        </p:spPr>
        <p:txBody>
          <a:bodyPr wrap="square">
            <a:spAutoFit/>
          </a:bodyPr>
          <a:lstStyle/>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优先参与新品试用</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基础问题</a:t>
            </a:r>
            <a:r>
              <a:rPr lang="zh-CN" altLang="en-US" sz="1400" dirty="0">
                <a:solidFill>
                  <a:srgbClr val="0D0D0D"/>
                </a:solidFill>
                <a:latin typeface="思源黑体 CN Normal" panose="020B0400000000000000" pitchFamily="34" charset="-122"/>
                <a:cs typeface="思源黑体 CN Normal" panose="020B0400000000000000" pitchFamily="34" charset="-122"/>
              </a:rPr>
              <a:t>全天</a:t>
            </a: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解答</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基础资料访问权限</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4" name="文本框 143"/>
          <p:cNvSpPr txBox="1"/>
          <p:nvPr/>
        </p:nvSpPr>
        <p:spPr>
          <a:xfrm>
            <a:off x="9078291" y="3974910"/>
            <a:ext cx="2669521" cy="913520"/>
          </a:xfrm>
          <a:prstGeom prst="rect">
            <a:avLst/>
          </a:prstGeom>
          <a:noFill/>
        </p:spPr>
        <p:txBody>
          <a:bodyPr wrap="square">
            <a:spAutoFit/>
          </a:bodyPr>
          <a:lstStyle/>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优先升级服务通道处理特权</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定制化报告助力精准决策</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行业资讯会优先推送</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5" name="文本框 144"/>
          <p:cNvSpPr txBox="1"/>
          <p:nvPr/>
        </p:nvSpPr>
        <p:spPr>
          <a:xfrm>
            <a:off x="8514310" y="2664677"/>
            <a:ext cx="3233502" cy="913520"/>
          </a:xfrm>
          <a:prstGeom prst="rect">
            <a:avLst/>
          </a:prstGeom>
          <a:noFill/>
        </p:spPr>
        <p:txBody>
          <a:bodyPr wrap="square">
            <a:spAutoFit/>
          </a:bodyPr>
          <a:lstStyle/>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专属优惠与折扣政策涵盖服务升级</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高级别会议参与资格定向邀请</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定制化市场研究报告分析</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6" name="文本框 145"/>
          <p:cNvSpPr txBox="1"/>
          <p:nvPr/>
        </p:nvSpPr>
        <p:spPr>
          <a:xfrm>
            <a:off x="7928008" y="1354444"/>
            <a:ext cx="3819804" cy="913520"/>
          </a:xfrm>
          <a:prstGeom prst="rect">
            <a:avLst/>
          </a:prstGeom>
          <a:noFill/>
        </p:spPr>
        <p:txBody>
          <a:bodyPr wrap="square">
            <a:spAutoFit/>
          </a:bodyPr>
          <a:lstStyle/>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最高级别会员专属标识提升客户品牌曝光度</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优先获取创新技术试点及技术支持与培训</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定制化全球市场拓展实现国际化发展</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pic>
        <p:nvPicPr>
          <p:cNvPr id="148" name="图形 14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44000" y="5354609"/>
            <a:ext cx="504000" cy="504000"/>
          </a:xfrm>
          <a:prstGeom prst="rect">
            <a:avLst/>
          </a:prstGeom>
        </p:spPr>
      </p:pic>
      <p:pic>
        <p:nvPicPr>
          <p:cNvPr id="150" name="图形 14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1680" y="4115542"/>
            <a:ext cx="548640" cy="432000"/>
          </a:xfrm>
          <a:prstGeom prst="rect">
            <a:avLst/>
          </a:prstGeom>
        </p:spPr>
      </p:pic>
      <p:pic>
        <p:nvPicPr>
          <p:cNvPr id="152" name="图形 15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44000" y="2833150"/>
            <a:ext cx="504000" cy="504000"/>
          </a:xfrm>
          <a:prstGeom prst="rect">
            <a:avLst/>
          </a:prstGeom>
        </p:spPr>
      </p:pic>
      <p:pic>
        <p:nvPicPr>
          <p:cNvPr id="154" name="图形 153"/>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2000" y="1632064"/>
            <a:ext cx="468000" cy="468000"/>
          </a:xfrm>
          <a:prstGeom prst="rect">
            <a:avLst/>
          </a:prstGeom>
        </p:spPr>
      </p:pic>
    </p:spTree>
    <p:custDataLst>
      <p:tags r:id="rId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矩形: 圆角 150"/>
          <p:cNvSpPr/>
          <p:nvPr/>
        </p:nvSpPr>
        <p:spPr>
          <a:xfrm>
            <a:off x="336000" y="5054711"/>
            <a:ext cx="2705302" cy="1548000"/>
          </a:xfrm>
          <a:prstGeom prst="roundRect">
            <a:avLst>
              <a:gd name="adj" fmla="val 23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 name="矩形: 圆角 1"/>
          <p:cNvSpPr/>
          <p:nvPr/>
        </p:nvSpPr>
        <p:spPr>
          <a:xfrm>
            <a:off x="3274232" y="5054711"/>
            <a:ext cx="2705302" cy="1548000"/>
          </a:xfrm>
          <a:prstGeom prst="roundRect">
            <a:avLst>
              <a:gd name="adj" fmla="val 23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8" name="矩形: 圆角 17"/>
          <p:cNvSpPr/>
          <p:nvPr/>
        </p:nvSpPr>
        <p:spPr>
          <a:xfrm>
            <a:off x="6212464" y="5054711"/>
            <a:ext cx="2705302" cy="1548000"/>
          </a:xfrm>
          <a:prstGeom prst="roundRect">
            <a:avLst>
              <a:gd name="adj" fmla="val 23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2" name="矩形: 圆角 21"/>
          <p:cNvSpPr/>
          <p:nvPr/>
        </p:nvSpPr>
        <p:spPr>
          <a:xfrm>
            <a:off x="9150698" y="5054711"/>
            <a:ext cx="2705302" cy="1548000"/>
          </a:xfrm>
          <a:prstGeom prst="roundRect">
            <a:avLst>
              <a:gd name="adj" fmla="val 23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8" name="矩形 27"/>
          <p:cNvSpPr/>
          <p:nvPr/>
        </p:nvSpPr>
        <p:spPr>
          <a:xfrm>
            <a:off x="360362" y="2921694"/>
            <a:ext cx="5688000" cy="1944000"/>
          </a:xfrm>
          <a:prstGeom prst="rect">
            <a:avLst/>
          </a:prstGeom>
          <a:gradFill>
            <a:gsLst>
              <a:gs pos="57000">
                <a:schemeClr val="bg1"/>
              </a:gs>
              <a:gs pos="0">
                <a:schemeClr val="accent3">
                  <a:lumMod val="20000"/>
                  <a:lumOff val="80000"/>
                </a:schemeClr>
              </a:gs>
            </a:gsLst>
            <a:lin ang="0" scaled="1"/>
          </a:gradFill>
          <a:ln w="6350">
            <a:gradFill flip="none" rotWithShape="1">
              <a:gsLst>
                <a:gs pos="55000">
                  <a:schemeClr val="accent1">
                    <a:alpha val="0"/>
                  </a:schemeClr>
                </a:gs>
                <a:gs pos="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0" name="矩形 29"/>
          <p:cNvSpPr/>
          <p:nvPr/>
        </p:nvSpPr>
        <p:spPr>
          <a:xfrm>
            <a:off x="6134101" y="2934240"/>
            <a:ext cx="5688000" cy="1944000"/>
          </a:xfrm>
          <a:prstGeom prst="rect">
            <a:avLst/>
          </a:prstGeom>
          <a:gradFill>
            <a:gsLst>
              <a:gs pos="43000">
                <a:schemeClr val="bg1"/>
              </a:gs>
              <a:gs pos="100000">
                <a:schemeClr val="accent3">
                  <a:lumMod val="20000"/>
                  <a:lumOff val="80000"/>
                </a:schemeClr>
              </a:gs>
            </a:gsLst>
            <a:lin ang="0" scaled="1"/>
          </a:gradFill>
          <a:ln w="6350">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9" name="矩形 28"/>
          <p:cNvSpPr/>
          <p:nvPr/>
        </p:nvSpPr>
        <p:spPr>
          <a:xfrm>
            <a:off x="6134101" y="896655"/>
            <a:ext cx="5688000" cy="1944000"/>
          </a:xfrm>
          <a:prstGeom prst="rect">
            <a:avLst/>
          </a:prstGeom>
          <a:gradFill>
            <a:gsLst>
              <a:gs pos="43000">
                <a:schemeClr val="bg1"/>
              </a:gs>
              <a:gs pos="100000">
                <a:schemeClr val="accent3">
                  <a:lumMod val="20000"/>
                  <a:lumOff val="80000"/>
                </a:schemeClr>
              </a:gs>
            </a:gsLst>
            <a:lin ang="0" scaled="1"/>
          </a:gradFill>
          <a:ln w="6350">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7" name="矩形 26"/>
          <p:cNvSpPr/>
          <p:nvPr/>
        </p:nvSpPr>
        <p:spPr>
          <a:xfrm>
            <a:off x="360362" y="896655"/>
            <a:ext cx="5688000" cy="1944000"/>
          </a:xfrm>
          <a:prstGeom prst="rect">
            <a:avLst/>
          </a:prstGeom>
          <a:gradFill>
            <a:gsLst>
              <a:gs pos="57000">
                <a:schemeClr val="bg1"/>
              </a:gs>
              <a:gs pos="0">
                <a:schemeClr val="accent3">
                  <a:lumMod val="20000"/>
                  <a:lumOff val="80000"/>
                </a:schemeClr>
              </a:gs>
            </a:gsLst>
            <a:lin ang="0" scaled="1"/>
          </a:gradFill>
          <a:ln w="6350">
            <a:gradFill flip="none" rotWithShape="1">
              <a:gsLst>
                <a:gs pos="55000">
                  <a:schemeClr val="accent1">
                    <a:alpha val="0"/>
                  </a:schemeClr>
                </a:gs>
                <a:gs pos="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9"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SWOT</a:t>
            </a: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模型</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全方位优劣势分析</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5" name="组合 4"/>
          <p:cNvGrpSpPr/>
          <p:nvPr/>
        </p:nvGrpSpPr>
        <p:grpSpPr>
          <a:xfrm>
            <a:off x="4541528" y="1121605"/>
            <a:ext cx="3086707" cy="3543081"/>
            <a:chOff x="5488903" y="1741771"/>
            <a:chExt cx="3139007" cy="3603114"/>
          </a:xfrm>
        </p:grpSpPr>
        <p:sp>
          <p:nvSpPr>
            <p:cNvPr id="3"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4"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2">
                  <a:lumMod val="75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grpSp>
        <p:nvGrpSpPr>
          <p:cNvPr id="6" name="组合 5"/>
          <p:cNvGrpSpPr>
            <a:grpSpLocks noChangeAspect="1"/>
          </p:cNvGrpSpPr>
          <p:nvPr/>
        </p:nvGrpSpPr>
        <p:grpSpPr>
          <a:xfrm>
            <a:off x="4209485" y="1214051"/>
            <a:ext cx="1160429" cy="1332000"/>
            <a:chOff x="5488903" y="1741771"/>
            <a:chExt cx="3139007" cy="3603114"/>
          </a:xfrm>
        </p:grpSpPr>
        <p:sp>
          <p:nvSpPr>
            <p:cNvPr id="7"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8"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sp>
        <p:nvSpPr>
          <p:cNvPr id="23" name="文本框 22"/>
          <p:cNvSpPr txBox="1"/>
          <p:nvPr/>
        </p:nvSpPr>
        <p:spPr>
          <a:xfrm>
            <a:off x="4517831" y="1510719"/>
            <a:ext cx="543739" cy="738664"/>
          </a:xfrm>
          <a:prstGeom prst="rect">
            <a:avLst/>
          </a:prstGeom>
          <a:noFill/>
        </p:spPr>
        <p:txBody>
          <a:bodyPr wrap="none" rtlCol="0">
            <a:spAutoFit/>
          </a:bodyPr>
          <a:lstStyle/>
          <a:p>
            <a:pPr algn="ctr"/>
            <a:r>
              <a:rPr lang="en-US" altLang="zh-CN" sz="2800" dirty="0">
                <a:solidFill>
                  <a:schemeClr val="bg1"/>
                </a:solidFill>
                <a:latin typeface="+mj-ea"/>
                <a:ea typeface="+mj-ea"/>
                <a:cs typeface="思源黑体 CN Normal" panose="020B0400000000000000" pitchFamily="34" charset="-122"/>
              </a:rPr>
              <a:t>S</a:t>
            </a:r>
            <a:endParaRPr lang="en-US" altLang="zh-CN" sz="2800" dirty="0">
              <a:solidFill>
                <a:schemeClr val="bg1"/>
              </a:solidFill>
              <a:latin typeface="+mj-ea"/>
              <a:ea typeface="+mj-ea"/>
              <a:cs typeface="思源黑体 CN Normal" panose="020B0400000000000000" pitchFamily="34" charset="-122"/>
            </a:endParaRPr>
          </a:p>
          <a:p>
            <a:pPr algn="ctr"/>
            <a:r>
              <a:rPr lang="zh-CN" altLang="en-US" sz="1400" dirty="0">
                <a:solidFill>
                  <a:schemeClr val="bg1"/>
                </a:solidFill>
                <a:latin typeface="思源黑体 CN Normal" panose="020B0400000000000000" pitchFamily="34" charset="-122"/>
                <a:cs typeface="思源黑体 CN Normal" panose="020B0400000000000000" pitchFamily="34" charset="-122"/>
              </a:rPr>
              <a:t>优势</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nvGrpSpPr>
          <p:cNvPr id="9" name="组合 8"/>
          <p:cNvGrpSpPr>
            <a:grpSpLocks noChangeAspect="1"/>
          </p:cNvGrpSpPr>
          <p:nvPr/>
        </p:nvGrpSpPr>
        <p:grpSpPr>
          <a:xfrm>
            <a:off x="6864673" y="1214051"/>
            <a:ext cx="1160429" cy="1332000"/>
            <a:chOff x="5488903" y="1741771"/>
            <a:chExt cx="3139007" cy="3603114"/>
          </a:xfrm>
        </p:grpSpPr>
        <p:sp>
          <p:nvSpPr>
            <p:cNvPr id="10"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11"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sp>
        <p:nvSpPr>
          <p:cNvPr id="24" name="文本框 23"/>
          <p:cNvSpPr txBox="1"/>
          <p:nvPr/>
        </p:nvSpPr>
        <p:spPr>
          <a:xfrm>
            <a:off x="7172218" y="1510719"/>
            <a:ext cx="545341" cy="738664"/>
          </a:xfrm>
          <a:prstGeom prst="rect">
            <a:avLst/>
          </a:prstGeom>
          <a:noFill/>
        </p:spPr>
        <p:txBody>
          <a:bodyPr wrap="none" rtlCol="0">
            <a:spAutoFit/>
          </a:bodyPr>
          <a:lstStyle/>
          <a:p>
            <a:pPr algn="ctr"/>
            <a:r>
              <a:rPr lang="en-US" altLang="zh-CN" sz="2800" dirty="0">
                <a:solidFill>
                  <a:schemeClr val="bg1"/>
                </a:solidFill>
                <a:latin typeface="+mj-ea"/>
                <a:ea typeface="+mj-ea"/>
                <a:cs typeface="思源黑体 CN Normal" panose="020B0400000000000000" pitchFamily="34" charset="-122"/>
              </a:rPr>
              <a:t>W</a:t>
            </a:r>
            <a:endParaRPr lang="en-US" altLang="zh-CN" sz="2800" dirty="0">
              <a:solidFill>
                <a:schemeClr val="bg1"/>
              </a:solidFill>
              <a:latin typeface="+mj-ea"/>
              <a:ea typeface="+mj-ea"/>
              <a:cs typeface="思源黑体 CN Normal" panose="020B0400000000000000" pitchFamily="34" charset="-122"/>
            </a:endParaRPr>
          </a:p>
          <a:p>
            <a:pPr algn="ctr"/>
            <a:r>
              <a:rPr lang="zh-CN" altLang="en-US" sz="1400" dirty="0">
                <a:solidFill>
                  <a:schemeClr val="bg1"/>
                </a:solidFill>
                <a:latin typeface="思源黑体 CN Normal" panose="020B0400000000000000" pitchFamily="34" charset="-122"/>
                <a:cs typeface="思源黑体 CN Normal" panose="020B0400000000000000" pitchFamily="34" charset="-122"/>
              </a:rPr>
              <a:t>劣势</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nvGrpSpPr>
          <p:cNvPr id="12" name="组合 11"/>
          <p:cNvGrpSpPr>
            <a:grpSpLocks noChangeAspect="1"/>
          </p:cNvGrpSpPr>
          <p:nvPr/>
        </p:nvGrpSpPr>
        <p:grpSpPr>
          <a:xfrm>
            <a:off x="4209485" y="3240240"/>
            <a:ext cx="1160429" cy="1332000"/>
            <a:chOff x="5488903" y="1741771"/>
            <a:chExt cx="3139007" cy="3603114"/>
          </a:xfrm>
        </p:grpSpPr>
        <p:sp>
          <p:nvSpPr>
            <p:cNvPr id="13"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14"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sp>
        <p:nvSpPr>
          <p:cNvPr id="25" name="文本框 24"/>
          <p:cNvSpPr txBox="1"/>
          <p:nvPr/>
        </p:nvSpPr>
        <p:spPr>
          <a:xfrm>
            <a:off x="4517831" y="3536908"/>
            <a:ext cx="543739" cy="738664"/>
          </a:xfrm>
          <a:prstGeom prst="rect">
            <a:avLst/>
          </a:prstGeom>
          <a:noFill/>
        </p:spPr>
        <p:txBody>
          <a:bodyPr wrap="none" rtlCol="0">
            <a:spAutoFit/>
          </a:bodyPr>
          <a:lstStyle/>
          <a:p>
            <a:pPr algn="ctr"/>
            <a:r>
              <a:rPr lang="en-US" altLang="zh-CN" sz="2800" dirty="0">
                <a:solidFill>
                  <a:schemeClr val="bg1"/>
                </a:solidFill>
                <a:latin typeface="+mj-ea"/>
                <a:ea typeface="+mj-ea"/>
                <a:cs typeface="思源黑体 CN Normal" panose="020B0400000000000000" pitchFamily="34" charset="-122"/>
              </a:rPr>
              <a:t>O</a:t>
            </a:r>
            <a:endParaRPr lang="en-US" altLang="zh-CN" sz="2800" dirty="0">
              <a:solidFill>
                <a:schemeClr val="bg1"/>
              </a:solidFill>
              <a:latin typeface="+mj-ea"/>
              <a:ea typeface="+mj-ea"/>
              <a:cs typeface="思源黑体 CN Normal" panose="020B0400000000000000" pitchFamily="34" charset="-122"/>
            </a:endParaRPr>
          </a:p>
          <a:p>
            <a:pPr algn="ctr"/>
            <a:r>
              <a:rPr lang="zh-CN" altLang="en-US" sz="1400" dirty="0">
                <a:solidFill>
                  <a:schemeClr val="bg1"/>
                </a:solidFill>
                <a:latin typeface="思源黑体 CN Normal" panose="020B0400000000000000" pitchFamily="34" charset="-122"/>
                <a:cs typeface="思源黑体 CN Normal" panose="020B0400000000000000" pitchFamily="34" charset="-122"/>
              </a:rPr>
              <a:t>机会</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nvGrpSpPr>
          <p:cNvPr id="15" name="组合 14"/>
          <p:cNvGrpSpPr>
            <a:grpSpLocks noChangeAspect="1"/>
          </p:cNvGrpSpPr>
          <p:nvPr/>
        </p:nvGrpSpPr>
        <p:grpSpPr>
          <a:xfrm>
            <a:off x="6864673" y="3240240"/>
            <a:ext cx="1160429" cy="1332000"/>
            <a:chOff x="5488903" y="1741771"/>
            <a:chExt cx="3139007" cy="3603114"/>
          </a:xfrm>
        </p:grpSpPr>
        <p:sp>
          <p:nvSpPr>
            <p:cNvPr id="16"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17"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sp>
        <p:nvSpPr>
          <p:cNvPr id="26" name="文本框 25"/>
          <p:cNvSpPr txBox="1"/>
          <p:nvPr/>
        </p:nvSpPr>
        <p:spPr>
          <a:xfrm>
            <a:off x="7173021" y="3536908"/>
            <a:ext cx="543739" cy="738664"/>
          </a:xfrm>
          <a:prstGeom prst="rect">
            <a:avLst/>
          </a:prstGeom>
          <a:noFill/>
        </p:spPr>
        <p:txBody>
          <a:bodyPr wrap="none" rtlCol="0">
            <a:spAutoFit/>
          </a:bodyPr>
          <a:lstStyle/>
          <a:p>
            <a:pPr algn="ctr"/>
            <a:r>
              <a:rPr lang="en-US" altLang="zh-CN" sz="2800" dirty="0">
                <a:solidFill>
                  <a:schemeClr val="bg1"/>
                </a:solidFill>
                <a:latin typeface="+mj-ea"/>
                <a:ea typeface="+mj-ea"/>
                <a:cs typeface="思源黑体 CN Normal" panose="020B0400000000000000" pitchFamily="34" charset="-122"/>
              </a:rPr>
              <a:t>T</a:t>
            </a:r>
            <a:endParaRPr lang="en-US" altLang="zh-CN" sz="2800" dirty="0">
              <a:solidFill>
                <a:schemeClr val="bg1"/>
              </a:solidFill>
              <a:latin typeface="+mj-ea"/>
              <a:ea typeface="+mj-ea"/>
              <a:cs typeface="思源黑体 CN Normal" panose="020B0400000000000000" pitchFamily="34" charset="-122"/>
            </a:endParaRPr>
          </a:p>
          <a:p>
            <a:pPr algn="ctr"/>
            <a:r>
              <a:rPr lang="zh-CN" altLang="en-US" sz="1400" dirty="0">
                <a:solidFill>
                  <a:schemeClr val="bg1"/>
                </a:solidFill>
                <a:latin typeface="思源黑体 CN Normal" panose="020B0400000000000000" pitchFamily="34" charset="-122"/>
                <a:cs typeface="思源黑体 CN Normal" panose="020B0400000000000000" pitchFamily="34" charset="-122"/>
              </a:rPr>
              <a:t>威胁</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sp>
        <p:nvSpPr>
          <p:cNvPr id="34" name="文本框 33"/>
          <p:cNvSpPr txBox="1"/>
          <p:nvPr/>
        </p:nvSpPr>
        <p:spPr>
          <a:xfrm>
            <a:off x="5012274" y="3090550"/>
            <a:ext cx="2167452" cy="523220"/>
          </a:xfrm>
          <a:prstGeom prst="rect">
            <a:avLst/>
          </a:prstGeom>
          <a:noFill/>
        </p:spPr>
        <p:txBody>
          <a:bodyPr wrap="square">
            <a:spAutoFit/>
          </a:bodyPr>
          <a:lstStyle/>
          <a:p>
            <a:pPr algn="ctr"/>
            <a:r>
              <a:rPr lang="zh-CN" altLang="en-US" sz="28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全局分析</a:t>
            </a:r>
            <a:endParaRPr lang="zh-CN" altLang="en-US" sz="2800" dirty="0">
              <a:solidFill>
                <a:schemeClr val="bg2"/>
              </a:solidFill>
              <a:latin typeface="思源黑体 CN Normal" panose="020B0400000000000000" pitchFamily="34" charset="-122"/>
              <a:cs typeface="思源黑体 CN Normal" panose="020B0400000000000000" pitchFamily="34" charset="-122"/>
            </a:endParaRPr>
          </a:p>
        </p:txBody>
      </p:sp>
      <p:grpSp>
        <p:nvGrpSpPr>
          <p:cNvPr id="38" name="组合 37"/>
          <p:cNvGrpSpPr/>
          <p:nvPr/>
        </p:nvGrpSpPr>
        <p:grpSpPr>
          <a:xfrm>
            <a:off x="5538000" y="1921754"/>
            <a:ext cx="1116000" cy="1116000"/>
            <a:chOff x="5591671" y="1807878"/>
            <a:chExt cx="1116000" cy="1116000"/>
          </a:xfrm>
        </p:grpSpPr>
        <p:sp>
          <p:nvSpPr>
            <p:cNvPr id="37" name="椭圆 36"/>
            <p:cNvSpPr>
              <a:spLocks noChangeAspect="1"/>
            </p:cNvSpPr>
            <p:nvPr/>
          </p:nvSpPr>
          <p:spPr>
            <a:xfrm>
              <a:off x="5591671" y="1807878"/>
              <a:ext cx="1116000" cy="1116000"/>
            </a:xfrm>
            <a:prstGeom prst="ellipse">
              <a:avLst/>
            </a:prstGeom>
            <a:solidFill>
              <a:schemeClr val="bg1"/>
            </a:solidFill>
            <a:ln>
              <a:noFill/>
            </a:ln>
            <a:effectLst>
              <a:outerShdw blurRad="127000" sx="102000" sy="1020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36" name="图形 3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61671" y="2079311"/>
              <a:ext cx="576000" cy="573134"/>
            </a:xfrm>
            <a:prstGeom prst="rect">
              <a:avLst/>
            </a:prstGeom>
          </p:spPr>
        </p:pic>
      </p:grpSp>
      <p:sp>
        <p:nvSpPr>
          <p:cNvPr id="55" name="任意多边形: 形状 54"/>
          <p:cNvSpPr/>
          <p:nvPr/>
        </p:nvSpPr>
        <p:spPr>
          <a:xfrm>
            <a:off x="360362" y="896655"/>
            <a:ext cx="2209518" cy="441442"/>
          </a:xfrm>
          <a:custGeom>
            <a:avLst/>
            <a:gdLst>
              <a:gd name="connsiteX0" fmla="*/ 0 w 2209518"/>
              <a:gd name="connsiteY0" fmla="*/ 0 h 441442"/>
              <a:gd name="connsiteX1" fmla="*/ 1988797 w 2209518"/>
              <a:gd name="connsiteY1" fmla="*/ 0 h 441442"/>
              <a:gd name="connsiteX2" fmla="*/ 2209518 w 2209518"/>
              <a:gd name="connsiteY2" fmla="*/ 220721 h 441442"/>
              <a:gd name="connsiteX3" fmla="*/ 2209517 w 2209518"/>
              <a:gd name="connsiteY3" fmla="*/ 220721 h 441442"/>
              <a:gd name="connsiteX4" fmla="*/ 1988796 w 2209518"/>
              <a:gd name="connsiteY4" fmla="*/ 441442 h 441442"/>
              <a:gd name="connsiteX5" fmla="*/ 0 w 2209518"/>
              <a:gd name="connsiteY5" fmla="*/ 441441 h 44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518" h="441442">
                <a:moveTo>
                  <a:pt x="0" y="0"/>
                </a:moveTo>
                <a:lnTo>
                  <a:pt x="1988797" y="0"/>
                </a:lnTo>
                <a:cubicBezTo>
                  <a:pt x="2110698" y="0"/>
                  <a:pt x="2209518" y="98820"/>
                  <a:pt x="2209518" y="220721"/>
                </a:cubicBezTo>
                <a:lnTo>
                  <a:pt x="2209517" y="220721"/>
                </a:lnTo>
                <a:cubicBezTo>
                  <a:pt x="2209517" y="342622"/>
                  <a:pt x="2110697" y="441442"/>
                  <a:pt x="1988796" y="441442"/>
                </a:cubicBezTo>
                <a:lnTo>
                  <a:pt x="0" y="44144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err="1">
                <a:latin typeface="+mj-ea"/>
                <a:ea typeface="+mj-ea"/>
                <a:cs typeface="思源黑体 CN Normal" panose="020B0400000000000000" pitchFamily="34" charset="-122"/>
              </a:rPr>
              <a:t>Strenghths</a:t>
            </a:r>
            <a:endParaRPr lang="zh-CN" altLang="en-US" dirty="0">
              <a:latin typeface="+mj-ea"/>
              <a:ea typeface="+mj-ea"/>
              <a:cs typeface="思源黑体 CN Normal" panose="020B0400000000000000" pitchFamily="34" charset="-122"/>
            </a:endParaRPr>
          </a:p>
        </p:txBody>
      </p:sp>
      <p:sp>
        <p:nvSpPr>
          <p:cNvPr id="56" name="任意多边形: 形状 55"/>
          <p:cNvSpPr/>
          <p:nvPr/>
        </p:nvSpPr>
        <p:spPr>
          <a:xfrm>
            <a:off x="9612584" y="896655"/>
            <a:ext cx="2209517" cy="441442"/>
          </a:xfrm>
          <a:custGeom>
            <a:avLst/>
            <a:gdLst>
              <a:gd name="connsiteX0" fmla="*/ 0 w 2209517"/>
              <a:gd name="connsiteY0" fmla="*/ 220720 h 441442"/>
              <a:gd name="connsiteX1" fmla="*/ 0 w 2209517"/>
              <a:gd name="connsiteY1" fmla="*/ 220721 h 441442"/>
              <a:gd name="connsiteX2" fmla="*/ 0 w 2209517"/>
              <a:gd name="connsiteY2" fmla="*/ 220721 h 441442"/>
              <a:gd name="connsiteX3" fmla="*/ 220721 w 2209517"/>
              <a:gd name="connsiteY3" fmla="*/ 0 h 441442"/>
              <a:gd name="connsiteX4" fmla="*/ 2209517 w 2209517"/>
              <a:gd name="connsiteY4" fmla="*/ 0 h 441442"/>
              <a:gd name="connsiteX5" fmla="*/ 2209517 w 2209517"/>
              <a:gd name="connsiteY5" fmla="*/ 441442 h 441442"/>
              <a:gd name="connsiteX6" fmla="*/ 220721 w 2209517"/>
              <a:gd name="connsiteY6" fmla="*/ 441441 h 441442"/>
              <a:gd name="connsiteX7" fmla="*/ 17345 w 2209517"/>
              <a:gd name="connsiteY7" fmla="*/ 306635 h 441442"/>
              <a:gd name="connsiteX8" fmla="*/ 0 w 2209517"/>
              <a:gd name="connsiteY8" fmla="*/ 220721 h 441442"/>
              <a:gd name="connsiteX9" fmla="*/ 17345 w 2209517"/>
              <a:gd name="connsiteY9" fmla="*/ 134806 h 441442"/>
              <a:gd name="connsiteX10" fmla="*/ 220721 w 2209517"/>
              <a:gd name="connsiteY10" fmla="*/ 0 h 44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09517" h="441442">
                <a:moveTo>
                  <a:pt x="0" y="220720"/>
                </a:moveTo>
                <a:lnTo>
                  <a:pt x="0" y="220721"/>
                </a:lnTo>
                <a:lnTo>
                  <a:pt x="0" y="220721"/>
                </a:lnTo>
                <a:close/>
                <a:moveTo>
                  <a:pt x="220721" y="0"/>
                </a:moveTo>
                <a:lnTo>
                  <a:pt x="2209517" y="0"/>
                </a:lnTo>
                <a:lnTo>
                  <a:pt x="2209517" y="441442"/>
                </a:lnTo>
                <a:lnTo>
                  <a:pt x="220721" y="441441"/>
                </a:lnTo>
                <a:cubicBezTo>
                  <a:pt x="129295" y="441441"/>
                  <a:pt x="50853" y="385855"/>
                  <a:pt x="17345" y="306635"/>
                </a:cubicBezTo>
                <a:lnTo>
                  <a:pt x="0" y="220721"/>
                </a:lnTo>
                <a:lnTo>
                  <a:pt x="17345" y="134806"/>
                </a:lnTo>
                <a:cubicBezTo>
                  <a:pt x="50853" y="55586"/>
                  <a:pt x="129295" y="0"/>
                  <a:pt x="220721"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latin typeface="+mj-ea"/>
                <a:ea typeface="+mj-ea"/>
                <a:cs typeface="思源黑体 CN Normal" panose="020B0400000000000000" pitchFamily="34" charset="-122"/>
              </a:rPr>
              <a:t>Weaknesses</a:t>
            </a:r>
            <a:endParaRPr lang="zh-CN" altLang="en-US" dirty="0">
              <a:latin typeface="+mj-ea"/>
              <a:ea typeface="+mj-ea"/>
              <a:cs typeface="思源黑体 CN Normal" panose="020B0400000000000000" pitchFamily="34" charset="-122"/>
            </a:endParaRPr>
          </a:p>
        </p:txBody>
      </p:sp>
      <p:sp>
        <p:nvSpPr>
          <p:cNvPr id="57" name="任意多边形: 形状 56"/>
          <p:cNvSpPr/>
          <p:nvPr/>
        </p:nvSpPr>
        <p:spPr>
          <a:xfrm>
            <a:off x="360362" y="4424252"/>
            <a:ext cx="2209518" cy="441442"/>
          </a:xfrm>
          <a:custGeom>
            <a:avLst/>
            <a:gdLst>
              <a:gd name="connsiteX0" fmla="*/ 0 w 2209518"/>
              <a:gd name="connsiteY0" fmla="*/ 0 h 441442"/>
              <a:gd name="connsiteX1" fmla="*/ 1988797 w 2209518"/>
              <a:gd name="connsiteY1" fmla="*/ 0 h 441442"/>
              <a:gd name="connsiteX2" fmla="*/ 2209518 w 2209518"/>
              <a:gd name="connsiteY2" fmla="*/ 220721 h 441442"/>
              <a:gd name="connsiteX3" fmla="*/ 2209517 w 2209518"/>
              <a:gd name="connsiteY3" fmla="*/ 220721 h 441442"/>
              <a:gd name="connsiteX4" fmla="*/ 1988796 w 2209518"/>
              <a:gd name="connsiteY4" fmla="*/ 441442 h 441442"/>
              <a:gd name="connsiteX5" fmla="*/ 0 w 2209518"/>
              <a:gd name="connsiteY5" fmla="*/ 441441 h 44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518" h="441442">
                <a:moveTo>
                  <a:pt x="0" y="0"/>
                </a:moveTo>
                <a:lnTo>
                  <a:pt x="1988797" y="0"/>
                </a:lnTo>
                <a:cubicBezTo>
                  <a:pt x="2110698" y="0"/>
                  <a:pt x="2209518" y="98820"/>
                  <a:pt x="2209518" y="220721"/>
                </a:cubicBezTo>
                <a:lnTo>
                  <a:pt x="2209517" y="220721"/>
                </a:lnTo>
                <a:cubicBezTo>
                  <a:pt x="2209517" y="342622"/>
                  <a:pt x="2110697" y="441442"/>
                  <a:pt x="1988796" y="441442"/>
                </a:cubicBezTo>
                <a:lnTo>
                  <a:pt x="0" y="441441"/>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Opportunities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58" name="任意多边形: 形状 57"/>
          <p:cNvSpPr/>
          <p:nvPr/>
        </p:nvSpPr>
        <p:spPr>
          <a:xfrm>
            <a:off x="9612584" y="4436798"/>
            <a:ext cx="2209517" cy="441442"/>
          </a:xfrm>
          <a:custGeom>
            <a:avLst/>
            <a:gdLst>
              <a:gd name="connsiteX0" fmla="*/ 0 w 2209517"/>
              <a:gd name="connsiteY0" fmla="*/ 220720 h 441442"/>
              <a:gd name="connsiteX1" fmla="*/ 0 w 2209517"/>
              <a:gd name="connsiteY1" fmla="*/ 220721 h 441442"/>
              <a:gd name="connsiteX2" fmla="*/ 0 w 2209517"/>
              <a:gd name="connsiteY2" fmla="*/ 220721 h 441442"/>
              <a:gd name="connsiteX3" fmla="*/ 220721 w 2209517"/>
              <a:gd name="connsiteY3" fmla="*/ 0 h 441442"/>
              <a:gd name="connsiteX4" fmla="*/ 2209517 w 2209517"/>
              <a:gd name="connsiteY4" fmla="*/ 0 h 441442"/>
              <a:gd name="connsiteX5" fmla="*/ 2209517 w 2209517"/>
              <a:gd name="connsiteY5" fmla="*/ 441442 h 441442"/>
              <a:gd name="connsiteX6" fmla="*/ 220721 w 2209517"/>
              <a:gd name="connsiteY6" fmla="*/ 441441 h 441442"/>
              <a:gd name="connsiteX7" fmla="*/ 17345 w 2209517"/>
              <a:gd name="connsiteY7" fmla="*/ 306635 h 441442"/>
              <a:gd name="connsiteX8" fmla="*/ 0 w 2209517"/>
              <a:gd name="connsiteY8" fmla="*/ 220721 h 441442"/>
              <a:gd name="connsiteX9" fmla="*/ 17345 w 2209517"/>
              <a:gd name="connsiteY9" fmla="*/ 134806 h 441442"/>
              <a:gd name="connsiteX10" fmla="*/ 220721 w 2209517"/>
              <a:gd name="connsiteY10" fmla="*/ 0 h 44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09517" h="441442">
                <a:moveTo>
                  <a:pt x="0" y="220720"/>
                </a:moveTo>
                <a:lnTo>
                  <a:pt x="0" y="220721"/>
                </a:lnTo>
                <a:lnTo>
                  <a:pt x="0" y="220721"/>
                </a:lnTo>
                <a:close/>
                <a:moveTo>
                  <a:pt x="220721" y="0"/>
                </a:moveTo>
                <a:lnTo>
                  <a:pt x="2209517" y="0"/>
                </a:lnTo>
                <a:lnTo>
                  <a:pt x="2209517" y="441442"/>
                </a:lnTo>
                <a:lnTo>
                  <a:pt x="220721" y="441441"/>
                </a:lnTo>
                <a:cubicBezTo>
                  <a:pt x="129295" y="441441"/>
                  <a:pt x="50853" y="385855"/>
                  <a:pt x="17345" y="306635"/>
                </a:cubicBezTo>
                <a:lnTo>
                  <a:pt x="0" y="220721"/>
                </a:lnTo>
                <a:lnTo>
                  <a:pt x="17345" y="134806"/>
                </a:lnTo>
                <a:cubicBezTo>
                  <a:pt x="50853" y="55586"/>
                  <a:pt x="129295" y="0"/>
                  <a:pt x="220721"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Threats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79" name="组合 78"/>
          <p:cNvGrpSpPr/>
          <p:nvPr/>
        </p:nvGrpSpPr>
        <p:grpSpPr>
          <a:xfrm>
            <a:off x="460513" y="1579065"/>
            <a:ext cx="3707339" cy="2628160"/>
            <a:chOff x="460513" y="1552469"/>
            <a:chExt cx="3707339" cy="2628160"/>
          </a:xfrm>
        </p:grpSpPr>
        <p:grpSp>
          <p:nvGrpSpPr>
            <p:cNvPr id="71" name="组合 70"/>
            <p:cNvGrpSpPr/>
            <p:nvPr/>
          </p:nvGrpSpPr>
          <p:grpSpPr>
            <a:xfrm>
              <a:off x="460513" y="1552469"/>
              <a:ext cx="3707339" cy="1112666"/>
              <a:chOff x="471172" y="1552469"/>
              <a:chExt cx="3707339" cy="1112666"/>
            </a:xfrm>
          </p:grpSpPr>
          <p:sp>
            <p:nvSpPr>
              <p:cNvPr id="62" name="文本框 61"/>
              <p:cNvSpPr txBox="1"/>
              <p:nvPr/>
            </p:nvSpPr>
            <p:spPr>
              <a:xfrm>
                <a:off x="471172" y="1552469"/>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技术壁垒高</a:t>
                </a:r>
                <a:endParaRPr lang="zh-CN" altLang="en-US" b="0" dirty="0">
                  <a:solidFill>
                    <a:schemeClr val="tx2"/>
                  </a:solidFill>
                  <a:latin typeface="+mj-ea"/>
                  <a:ea typeface="+mj-ea"/>
                  <a:cs typeface="思源黑体 CN Normal" panose="020B0400000000000000" pitchFamily="34" charset="-122"/>
                </a:endParaRPr>
              </a:p>
            </p:txBody>
          </p:sp>
          <p:sp>
            <p:nvSpPr>
              <p:cNvPr id="63" name="文本框 62"/>
              <p:cNvSpPr txBox="1"/>
              <p:nvPr/>
            </p:nvSpPr>
            <p:spPr>
              <a:xfrm>
                <a:off x="471172" y="1964802"/>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供应链敏捷</a:t>
                </a:r>
                <a:endParaRPr lang="zh-CN" altLang="en-US" b="0" dirty="0">
                  <a:solidFill>
                    <a:schemeClr val="tx2"/>
                  </a:solidFill>
                  <a:latin typeface="+mj-ea"/>
                  <a:ea typeface="+mj-ea"/>
                  <a:cs typeface="思源黑体 CN Normal" panose="020B0400000000000000" pitchFamily="34" charset="-122"/>
                </a:endParaRPr>
              </a:p>
            </p:txBody>
          </p:sp>
          <p:sp>
            <p:nvSpPr>
              <p:cNvPr id="64" name="文本框 63"/>
              <p:cNvSpPr txBox="1"/>
              <p:nvPr/>
            </p:nvSpPr>
            <p:spPr>
              <a:xfrm>
                <a:off x="471172" y="2377135"/>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品牌溢价强</a:t>
                </a:r>
                <a:endParaRPr lang="zh-CN" altLang="en-US" b="0" dirty="0">
                  <a:solidFill>
                    <a:schemeClr val="tx2"/>
                  </a:solidFill>
                  <a:latin typeface="+mj-ea"/>
                  <a:ea typeface="+mj-ea"/>
                  <a:cs typeface="思源黑体 CN Normal" panose="020B0400000000000000" pitchFamily="34" charset="-122"/>
                </a:endParaRPr>
              </a:p>
            </p:txBody>
          </p:sp>
          <p:sp>
            <p:nvSpPr>
              <p:cNvPr id="68" name="文本框 67"/>
              <p:cNvSpPr txBox="1"/>
              <p:nvPr/>
            </p:nvSpPr>
            <p:spPr>
              <a:xfrm>
                <a:off x="1514511" y="1565664"/>
                <a:ext cx="2664000" cy="261610"/>
              </a:xfrm>
              <a:prstGeom prst="rect">
                <a:avLst/>
              </a:prstGeom>
              <a:noFill/>
            </p:spPr>
            <p:txBody>
              <a:bodyPr wrap="square">
                <a:spAutoFit/>
              </a:bodyPr>
              <a:lstStyle/>
              <a:p>
                <a:pPr algn="l"/>
                <a:r>
                  <a:rPr lang="zh-CN" altLang="en-US" sz="1050" b="0" i="0" dirty="0">
                    <a:solidFill>
                      <a:srgbClr val="0D0D0D"/>
                    </a:solidFill>
                    <a:effectLst/>
                    <a:latin typeface="+mn-ea"/>
                    <a:cs typeface="思源黑体 CN Normal" panose="020B0400000000000000" pitchFamily="34" charset="-122"/>
                  </a:rPr>
                  <a:t>自主研发芯片达</a:t>
                </a:r>
                <a:r>
                  <a:rPr lang="en-US" altLang="zh-CN" sz="1050" b="0" i="0" dirty="0">
                    <a:solidFill>
                      <a:srgbClr val="0D0D0D"/>
                    </a:solidFill>
                    <a:effectLst/>
                    <a:latin typeface="+mn-ea"/>
                    <a:cs typeface="思源黑体 CN Normal" panose="020B0400000000000000" pitchFamily="34" charset="-122"/>
                  </a:rPr>
                  <a:t>65%</a:t>
                </a:r>
                <a:r>
                  <a:rPr lang="zh-CN" altLang="en-US" sz="1050" b="0" i="0" dirty="0">
                    <a:solidFill>
                      <a:srgbClr val="0D0D0D"/>
                    </a:solidFill>
                    <a:effectLst/>
                    <a:latin typeface="+mn-ea"/>
                    <a:cs typeface="思源黑体 CN Normal" panose="020B0400000000000000" pitchFamily="34" charset="-122"/>
                  </a:rPr>
                  <a:t>，专利储备超</a:t>
                </a:r>
                <a:r>
                  <a:rPr lang="en-US" altLang="zh-CN" sz="1050" b="0" i="0" dirty="0">
                    <a:solidFill>
                      <a:srgbClr val="0D0D0D"/>
                    </a:solidFill>
                    <a:effectLst/>
                    <a:latin typeface="+mn-ea"/>
                    <a:cs typeface="思源黑体 CN Normal" panose="020B0400000000000000" pitchFamily="34" charset="-122"/>
                  </a:rPr>
                  <a:t>120</a:t>
                </a:r>
                <a:r>
                  <a:rPr lang="zh-CN" altLang="en-US" sz="1050" b="0" i="0" dirty="0">
                    <a:solidFill>
                      <a:srgbClr val="0D0D0D"/>
                    </a:solidFill>
                    <a:effectLst/>
                    <a:latin typeface="+mn-ea"/>
                    <a:cs typeface="思源黑体 CN Normal" panose="020B0400000000000000" pitchFamily="34" charset="-122"/>
                  </a:rPr>
                  <a:t>项</a:t>
                </a:r>
                <a:endParaRPr lang="zh-CN" altLang="en-US" sz="1050" b="0" i="0" dirty="0">
                  <a:solidFill>
                    <a:srgbClr val="0D0D0D"/>
                  </a:solidFill>
                  <a:effectLst/>
                  <a:latin typeface="+mn-ea"/>
                  <a:cs typeface="思源黑体 CN Normal" panose="020B0400000000000000" pitchFamily="34" charset="-122"/>
                </a:endParaRPr>
              </a:p>
            </p:txBody>
          </p:sp>
          <p:sp>
            <p:nvSpPr>
              <p:cNvPr id="69" name="文本框 68"/>
              <p:cNvSpPr txBox="1"/>
              <p:nvPr/>
            </p:nvSpPr>
            <p:spPr>
              <a:xfrm>
                <a:off x="1514511" y="198376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r>
                  <a:rPr lang="zh-CN" altLang="en-US" dirty="0">
                    <a:cs typeface="思源黑体 CN Normal" panose="020B0400000000000000" pitchFamily="34" charset="-122"/>
                  </a:rPr>
                  <a:t>响应周期缩至</a:t>
                </a:r>
                <a:r>
                  <a:rPr lang="en-US" altLang="zh-CN" dirty="0">
                    <a:cs typeface="思源黑体 CN Normal" panose="020B0400000000000000" pitchFamily="34" charset="-122"/>
                  </a:rPr>
                  <a:t>3</a:t>
                </a:r>
                <a:r>
                  <a:rPr lang="zh-CN" altLang="en-US" dirty="0">
                    <a:cs typeface="思源黑体 CN Normal" panose="020B0400000000000000" pitchFamily="34" charset="-122"/>
                  </a:rPr>
                  <a:t>天，库存周转率提升</a:t>
                </a:r>
                <a:r>
                  <a:rPr lang="en-US" altLang="zh-CN" dirty="0">
                    <a:cs typeface="思源黑体 CN Normal" panose="020B0400000000000000" pitchFamily="34" charset="-122"/>
                  </a:rPr>
                  <a:t>22%</a:t>
                </a:r>
                <a:endParaRPr lang="zh-CN" altLang="en-US" dirty="0">
                  <a:cs typeface="思源黑体 CN Normal" panose="020B0400000000000000" pitchFamily="34" charset="-122"/>
                </a:endParaRPr>
              </a:p>
            </p:txBody>
          </p:sp>
          <p:sp>
            <p:nvSpPr>
              <p:cNvPr id="70" name="文本框 69"/>
              <p:cNvSpPr txBox="1"/>
              <p:nvPr/>
            </p:nvSpPr>
            <p:spPr>
              <a:xfrm>
                <a:off x="1514510" y="239417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r>
                  <a:rPr lang="zh-CN" altLang="en-US" dirty="0">
                    <a:cs typeface="思源黑体 CN Normal" panose="020B0400000000000000" pitchFamily="34" charset="-122"/>
                  </a:rPr>
                  <a:t>高端市场占有率</a:t>
                </a:r>
                <a:r>
                  <a:rPr lang="en-US" altLang="zh-CN" dirty="0">
                    <a:cs typeface="思源黑体 CN Normal" panose="020B0400000000000000" pitchFamily="34" charset="-122"/>
                  </a:rPr>
                  <a:t>18%</a:t>
                </a:r>
                <a:r>
                  <a:rPr lang="zh-CN" altLang="en-US" dirty="0">
                    <a:cs typeface="思源黑体 CN Normal" panose="020B0400000000000000" pitchFamily="34" charset="-122"/>
                  </a:rPr>
                  <a:t>，用户复购率达</a:t>
                </a:r>
                <a:r>
                  <a:rPr lang="en-US" altLang="zh-CN" dirty="0">
                    <a:cs typeface="思源黑体 CN Normal" panose="020B0400000000000000" pitchFamily="34" charset="-122"/>
                  </a:rPr>
                  <a:t>41%</a:t>
                </a:r>
                <a:endParaRPr lang="zh-CN" altLang="en-US" dirty="0">
                  <a:cs typeface="思源黑体 CN Normal" panose="020B0400000000000000" pitchFamily="34" charset="-122"/>
                </a:endParaRPr>
              </a:p>
            </p:txBody>
          </p:sp>
        </p:grpSp>
        <p:grpSp>
          <p:nvGrpSpPr>
            <p:cNvPr id="72" name="组合 71"/>
            <p:cNvGrpSpPr/>
            <p:nvPr/>
          </p:nvGrpSpPr>
          <p:grpSpPr>
            <a:xfrm>
              <a:off x="460513" y="3067963"/>
              <a:ext cx="3707339" cy="1112666"/>
              <a:chOff x="471172" y="1552469"/>
              <a:chExt cx="3707339" cy="1112666"/>
            </a:xfrm>
          </p:grpSpPr>
          <p:sp>
            <p:nvSpPr>
              <p:cNvPr id="73" name="文本框 72"/>
              <p:cNvSpPr txBox="1"/>
              <p:nvPr/>
            </p:nvSpPr>
            <p:spPr>
              <a:xfrm>
                <a:off x="471172" y="1552469"/>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en-US" altLang="zh-CN" sz="1200" b="0" dirty="0" err="1">
                    <a:solidFill>
                      <a:schemeClr val="tx2"/>
                    </a:solidFill>
                    <a:latin typeface="+mj-ea"/>
                    <a:ea typeface="+mj-ea"/>
                    <a:cs typeface="思源黑体 CN Normal" panose="020B0400000000000000" pitchFamily="34" charset="-122"/>
                  </a:rPr>
                  <a:t>AIoT</a:t>
                </a:r>
                <a:r>
                  <a:rPr lang="zh-CN" altLang="en-US" sz="1200" b="0" dirty="0">
                    <a:solidFill>
                      <a:schemeClr val="tx2"/>
                    </a:solidFill>
                    <a:latin typeface="+mj-ea"/>
                    <a:ea typeface="+mj-ea"/>
                    <a:cs typeface="思源黑体 CN Normal" panose="020B0400000000000000" pitchFamily="34" charset="-122"/>
                  </a:rPr>
                  <a:t>爆发期</a:t>
                </a:r>
                <a:endParaRPr lang="zh-CN" altLang="en-US" sz="1200" b="0" dirty="0">
                  <a:solidFill>
                    <a:schemeClr val="tx2"/>
                  </a:solidFill>
                  <a:latin typeface="+mj-ea"/>
                  <a:ea typeface="+mj-ea"/>
                  <a:cs typeface="思源黑体 CN Normal" panose="020B0400000000000000" pitchFamily="34" charset="-122"/>
                </a:endParaRPr>
              </a:p>
            </p:txBody>
          </p:sp>
          <p:sp>
            <p:nvSpPr>
              <p:cNvPr id="74" name="文本框 73"/>
              <p:cNvSpPr txBox="1"/>
              <p:nvPr/>
            </p:nvSpPr>
            <p:spPr>
              <a:xfrm>
                <a:off x="471172" y="1964802"/>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政策补贴强</a:t>
                </a:r>
                <a:endParaRPr lang="zh-CN" altLang="en-US" sz="1200" b="0" dirty="0">
                  <a:solidFill>
                    <a:schemeClr val="tx2"/>
                  </a:solidFill>
                  <a:latin typeface="+mj-ea"/>
                  <a:ea typeface="+mj-ea"/>
                  <a:cs typeface="思源黑体 CN Normal" panose="020B0400000000000000" pitchFamily="34" charset="-122"/>
                </a:endParaRPr>
              </a:p>
            </p:txBody>
          </p:sp>
          <p:sp>
            <p:nvSpPr>
              <p:cNvPr id="75" name="文本框 74"/>
              <p:cNvSpPr txBox="1"/>
              <p:nvPr/>
            </p:nvSpPr>
            <p:spPr>
              <a:xfrm>
                <a:off x="471172" y="2377135"/>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下沉市场广</a:t>
                </a:r>
                <a:endParaRPr lang="zh-CN" altLang="en-US" sz="1200" b="0" dirty="0">
                  <a:solidFill>
                    <a:schemeClr val="tx2"/>
                  </a:solidFill>
                  <a:latin typeface="+mj-ea"/>
                  <a:ea typeface="+mj-ea"/>
                  <a:cs typeface="思源黑体 CN Normal" panose="020B0400000000000000" pitchFamily="34" charset="-122"/>
                </a:endParaRPr>
              </a:p>
            </p:txBody>
          </p:sp>
          <p:sp>
            <p:nvSpPr>
              <p:cNvPr id="76" name="文本框 75"/>
              <p:cNvSpPr txBox="1"/>
              <p:nvPr/>
            </p:nvSpPr>
            <p:spPr>
              <a:xfrm>
                <a:off x="1514511" y="1565664"/>
                <a:ext cx="2664000" cy="253916"/>
              </a:xfrm>
              <a:prstGeom prst="rect">
                <a:avLst/>
              </a:prstGeom>
              <a:noFill/>
            </p:spPr>
            <p:txBody>
              <a:bodyPr wrap="square">
                <a:spAutoFit/>
              </a:bodyPr>
              <a:lstStyle/>
              <a:p>
                <a:pPr algn="l"/>
                <a:r>
                  <a:rPr lang="zh-CN" altLang="en-US" sz="1050" b="0" i="0" dirty="0">
                    <a:solidFill>
                      <a:srgbClr val="0D0D0D"/>
                    </a:solidFill>
                    <a:effectLst/>
                    <a:latin typeface="+mn-ea"/>
                    <a:cs typeface="思源黑体 CN Normal" panose="020B0400000000000000" pitchFamily="34" charset="-122"/>
                  </a:rPr>
                  <a:t>全球</a:t>
                </a:r>
                <a:r>
                  <a:rPr lang="en-US" altLang="zh-CN" sz="1050" b="0" i="0" dirty="0" err="1">
                    <a:solidFill>
                      <a:srgbClr val="0D0D0D"/>
                    </a:solidFill>
                    <a:effectLst/>
                    <a:latin typeface="+mn-ea"/>
                    <a:cs typeface="思源黑体 CN Normal" panose="020B0400000000000000" pitchFamily="34" charset="-122"/>
                  </a:rPr>
                  <a:t>AIoT</a:t>
                </a:r>
                <a:r>
                  <a:rPr lang="zh-CN" altLang="en-US" sz="1050" b="0" i="0" dirty="0">
                    <a:solidFill>
                      <a:srgbClr val="0D0D0D"/>
                    </a:solidFill>
                    <a:effectLst/>
                    <a:latin typeface="+mn-ea"/>
                    <a:cs typeface="思源黑体 CN Normal" panose="020B0400000000000000" pitchFamily="34" charset="-122"/>
                  </a:rPr>
                  <a:t>设备年复合增长率提升至</a:t>
                </a:r>
                <a:r>
                  <a:rPr lang="en-US" altLang="zh-CN" sz="1050" b="0" i="0" dirty="0">
                    <a:solidFill>
                      <a:srgbClr val="0D0D0D"/>
                    </a:solidFill>
                    <a:effectLst/>
                    <a:latin typeface="+mn-ea"/>
                    <a:cs typeface="思源黑体 CN Normal" panose="020B0400000000000000" pitchFamily="34" charset="-122"/>
                  </a:rPr>
                  <a:t>27%</a:t>
                </a:r>
                <a:endParaRPr lang="zh-CN" altLang="en-US" sz="1050" b="0" i="0" dirty="0">
                  <a:solidFill>
                    <a:srgbClr val="0D0D0D"/>
                  </a:solidFill>
                  <a:effectLst/>
                  <a:latin typeface="+mn-ea"/>
                  <a:cs typeface="思源黑体 CN Normal" panose="020B0400000000000000" pitchFamily="34" charset="-122"/>
                </a:endParaRPr>
              </a:p>
            </p:txBody>
          </p:sp>
          <p:sp>
            <p:nvSpPr>
              <p:cNvPr id="77" name="文本框 76"/>
              <p:cNvSpPr txBox="1"/>
              <p:nvPr/>
            </p:nvSpPr>
            <p:spPr>
              <a:xfrm>
                <a:off x="1514511" y="198376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r>
                  <a:rPr lang="zh-CN" altLang="en-US" dirty="0">
                    <a:cs typeface="思源黑体 CN Normal" panose="020B0400000000000000" pitchFamily="34" charset="-122"/>
                  </a:rPr>
                  <a:t>“新基建”提供</a:t>
                </a:r>
                <a:r>
                  <a:rPr lang="en-US" altLang="zh-CN" dirty="0">
                    <a:cs typeface="思源黑体 CN Normal" panose="020B0400000000000000" pitchFamily="34" charset="-122"/>
                  </a:rPr>
                  <a:t>15%</a:t>
                </a:r>
                <a:r>
                  <a:rPr lang="zh-CN" altLang="en-US" dirty="0">
                    <a:cs typeface="思源黑体 CN Normal" panose="020B0400000000000000" pitchFamily="34" charset="-122"/>
                  </a:rPr>
                  <a:t>研发补贴降低技术成本</a:t>
                </a:r>
                <a:endParaRPr lang="zh-CN" altLang="en-US" dirty="0">
                  <a:cs typeface="思源黑体 CN Normal" panose="020B0400000000000000" pitchFamily="34" charset="-122"/>
                </a:endParaRPr>
              </a:p>
            </p:txBody>
          </p:sp>
          <p:sp>
            <p:nvSpPr>
              <p:cNvPr id="78" name="文本框 77"/>
              <p:cNvSpPr txBox="1"/>
              <p:nvPr/>
            </p:nvSpPr>
            <p:spPr>
              <a:xfrm>
                <a:off x="1514510" y="239417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r>
                  <a:rPr lang="zh-CN" altLang="en-US" dirty="0">
                    <a:cs typeface="思源黑体 CN Normal" panose="020B0400000000000000" pitchFamily="34" charset="-122"/>
                  </a:rPr>
                  <a:t>智能硬件需求年增</a:t>
                </a:r>
                <a:r>
                  <a:rPr lang="en-US" altLang="zh-CN" dirty="0">
                    <a:cs typeface="思源黑体 CN Normal" panose="020B0400000000000000" pitchFamily="34" charset="-122"/>
                  </a:rPr>
                  <a:t>45%</a:t>
                </a:r>
                <a:r>
                  <a:rPr lang="zh-CN" altLang="en-US" dirty="0">
                    <a:cs typeface="思源黑体 CN Normal" panose="020B0400000000000000" pitchFamily="34" charset="-122"/>
                  </a:rPr>
                  <a:t>，渠道下沉显著</a:t>
                </a:r>
                <a:endParaRPr lang="zh-CN" altLang="en-US" dirty="0">
                  <a:cs typeface="思源黑体 CN Normal" panose="020B0400000000000000" pitchFamily="34" charset="-122"/>
                </a:endParaRPr>
              </a:p>
            </p:txBody>
          </p:sp>
        </p:grpSp>
      </p:grpSp>
      <p:grpSp>
        <p:nvGrpSpPr>
          <p:cNvPr id="81" name="组合 80"/>
          <p:cNvGrpSpPr/>
          <p:nvPr/>
        </p:nvGrpSpPr>
        <p:grpSpPr>
          <a:xfrm flipH="1">
            <a:off x="8035494" y="1579065"/>
            <a:ext cx="3707339" cy="1112666"/>
            <a:chOff x="471172" y="1552469"/>
            <a:chExt cx="3707339" cy="1112666"/>
          </a:xfrm>
        </p:grpSpPr>
        <p:sp>
          <p:nvSpPr>
            <p:cNvPr id="89" name="文本框 88"/>
            <p:cNvSpPr txBox="1"/>
            <p:nvPr/>
          </p:nvSpPr>
          <p:spPr>
            <a:xfrm>
              <a:off x="471172" y="1552469"/>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成本结构重</a:t>
              </a:r>
              <a:endParaRPr lang="zh-CN" altLang="en-US" sz="1200" b="0" dirty="0">
                <a:solidFill>
                  <a:schemeClr val="tx2"/>
                </a:solidFill>
                <a:latin typeface="+mj-ea"/>
                <a:ea typeface="+mj-ea"/>
                <a:cs typeface="思源黑体 CN Normal" panose="020B0400000000000000" pitchFamily="34" charset="-122"/>
              </a:endParaRPr>
            </a:p>
          </p:txBody>
        </p:sp>
        <p:sp>
          <p:nvSpPr>
            <p:cNvPr id="90" name="文本框 89"/>
            <p:cNvSpPr txBox="1"/>
            <p:nvPr/>
          </p:nvSpPr>
          <p:spPr>
            <a:xfrm>
              <a:off x="471172" y="1964802"/>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生态粘性低</a:t>
              </a:r>
              <a:endParaRPr lang="zh-CN" altLang="en-US" sz="1200" b="0" dirty="0">
                <a:solidFill>
                  <a:schemeClr val="tx2"/>
                </a:solidFill>
                <a:latin typeface="+mj-ea"/>
                <a:ea typeface="+mj-ea"/>
                <a:cs typeface="思源黑体 CN Normal" panose="020B0400000000000000" pitchFamily="34" charset="-122"/>
              </a:endParaRPr>
            </a:p>
          </p:txBody>
        </p:sp>
        <p:sp>
          <p:nvSpPr>
            <p:cNvPr id="91" name="文本框 90"/>
            <p:cNvSpPr txBox="1"/>
            <p:nvPr/>
          </p:nvSpPr>
          <p:spPr>
            <a:xfrm>
              <a:off x="471172" y="2377135"/>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中端产品弱</a:t>
              </a:r>
              <a:endParaRPr lang="zh-CN" altLang="en-US" sz="1200" b="0" dirty="0">
                <a:solidFill>
                  <a:schemeClr val="tx2"/>
                </a:solidFill>
                <a:latin typeface="+mj-ea"/>
                <a:ea typeface="+mj-ea"/>
                <a:cs typeface="思源黑体 CN Normal" panose="020B0400000000000000" pitchFamily="34" charset="-122"/>
              </a:endParaRPr>
            </a:p>
          </p:txBody>
        </p:sp>
        <p:sp>
          <p:nvSpPr>
            <p:cNvPr id="92" name="文本框 91"/>
            <p:cNvSpPr txBox="1"/>
            <p:nvPr/>
          </p:nvSpPr>
          <p:spPr>
            <a:xfrm>
              <a:off x="1514511" y="1565664"/>
              <a:ext cx="2664000" cy="253916"/>
            </a:xfrm>
            <a:prstGeom prst="rect">
              <a:avLst/>
            </a:prstGeom>
            <a:noFill/>
          </p:spPr>
          <p:txBody>
            <a:bodyPr wrap="square">
              <a:spAutoFit/>
            </a:bodyPr>
            <a:lstStyle/>
            <a:p>
              <a:pPr algn="r"/>
              <a:r>
                <a:rPr lang="zh-CN" altLang="en-US" sz="1050" b="0" i="0" dirty="0">
                  <a:solidFill>
                    <a:srgbClr val="0D0D0D"/>
                  </a:solidFill>
                  <a:effectLst/>
                  <a:latin typeface="+mn-ea"/>
                  <a:cs typeface="思源黑体 CN Normal" panose="020B0400000000000000" pitchFamily="34" charset="-122"/>
                </a:rPr>
                <a:t>核心零部件自研率仅</a:t>
              </a:r>
              <a:r>
                <a:rPr lang="en-US" altLang="zh-CN" sz="1050" b="0" i="0" dirty="0">
                  <a:solidFill>
                    <a:srgbClr val="0D0D0D"/>
                  </a:solidFill>
                  <a:effectLst/>
                  <a:latin typeface="+mn-ea"/>
                  <a:cs typeface="思源黑体 CN Normal" panose="020B0400000000000000" pitchFamily="34" charset="-122"/>
                </a:rPr>
                <a:t>35%</a:t>
              </a:r>
              <a:r>
                <a:rPr lang="zh-CN" altLang="en-US" sz="1050" b="0" i="0" dirty="0">
                  <a:solidFill>
                    <a:srgbClr val="0D0D0D"/>
                  </a:solidFill>
                  <a:effectLst/>
                  <a:latin typeface="+mn-ea"/>
                  <a:cs typeface="思源黑体 CN Normal" panose="020B0400000000000000" pitchFamily="34" charset="-122"/>
                </a:rPr>
                <a:t>，依赖外部供应</a:t>
              </a:r>
              <a:endParaRPr lang="zh-CN" altLang="en-US" sz="1050" b="0" i="0" dirty="0">
                <a:solidFill>
                  <a:srgbClr val="0D0D0D"/>
                </a:solidFill>
                <a:effectLst/>
                <a:latin typeface="+mn-ea"/>
                <a:cs typeface="思源黑体 CN Normal" panose="020B0400000000000000" pitchFamily="34" charset="-122"/>
              </a:endParaRPr>
            </a:p>
          </p:txBody>
        </p:sp>
        <p:sp>
          <p:nvSpPr>
            <p:cNvPr id="93" name="文本框 92"/>
            <p:cNvSpPr txBox="1"/>
            <p:nvPr/>
          </p:nvSpPr>
          <p:spPr>
            <a:xfrm>
              <a:off x="1514511" y="198376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pPr algn="r"/>
              <a:r>
                <a:rPr lang="zh-CN" altLang="en-US" dirty="0">
                  <a:cs typeface="思源黑体 CN Normal" panose="020B0400000000000000" pitchFamily="34" charset="-122"/>
                </a:rPr>
                <a:t>跨设备协同使用率不足</a:t>
              </a:r>
              <a:r>
                <a:rPr lang="en-US" altLang="zh-CN" dirty="0">
                  <a:cs typeface="思源黑体 CN Normal" panose="020B0400000000000000" pitchFamily="34" charset="-122"/>
                </a:rPr>
                <a:t>15%</a:t>
              </a:r>
              <a:r>
                <a:rPr lang="zh-CN" altLang="en-US" dirty="0">
                  <a:cs typeface="思源黑体 CN Normal" panose="020B0400000000000000" pitchFamily="34" charset="-122"/>
                </a:rPr>
                <a:t>，弱于竞品</a:t>
              </a:r>
              <a:endParaRPr lang="zh-CN" altLang="en-US" dirty="0">
                <a:cs typeface="思源黑体 CN Normal" panose="020B0400000000000000" pitchFamily="34" charset="-122"/>
              </a:endParaRPr>
            </a:p>
          </p:txBody>
        </p:sp>
        <p:sp>
          <p:nvSpPr>
            <p:cNvPr id="94" name="文本框 93"/>
            <p:cNvSpPr txBox="1"/>
            <p:nvPr/>
          </p:nvSpPr>
          <p:spPr>
            <a:xfrm>
              <a:off x="1514510" y="239417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pPr algn="r"/>
              <a:r>
                <a:rPr lang="zh-CN" altLang="en-US" dirty="0">
                  <a:cs typeface="思源黑体 CN Normal" panose="020B0400000000000000" pitchFamily="34" charset="-122"/>
                </a:rPr>
                <a:t>中端价位段产品缺位，市场覆盖率仅</a:t>
              </a:r>
              <a:r>
                <a:rPr lang="en-US" altLang="zh-CN" dirty="0">
                  <a:cs typeface="思源黑体 CN Normal" panose="020B0400000000000000" pitchFamily="34" charset="-122"/>
                </a:rPr>
                <a:t>9%</a:t>
              </a:r>
              <a:endParaRPr lang="zh-CN" altLang="en-US" dirty="0">
                <a:cs typeface="思源黑体 CN Normal" panose="020B0400000000000000" pitchFamily="34" charset="-122"/>
              </a:endParaRPr>
            </a:p>
          </p:txBody>
        </p:sp>
      </p:grpSp>
      <p:grpSp>
        <p:nvGrpSpPr>
          <p:cNvPr id="82" name="组合 81"/>
          <p:cNvGrpSpPr/>
          <p:nvPr/>
        </p:nvGrpSpPr>
        <p:grpSpPr>
          <a:xfrm flipH="1">
            <a:off x="8035494" y="3094559"/>
            <a:ext cx="3707339" cy="1112666"/>
            <a:chOff x="471172" y="1552469"/>
            <a:chExt cx="3707339" cy="1112666"/>
          </a:xfrm>
        </p:grpSpPr>
        <p:sp>
          <p:nvSpPr>
            <p:cNvPr id="83" name="文本框 82"/>
            <p:cNvSpPr txBox="1"/>
            <p:nvPr/>
          </p:nvSpPr>
          <p:spPr>
            <a:xfrm>
              <a:off x="471172" y="1552469"/>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价格战激化</a:t>
              </a:r>
              <a:endParaRPr lang="zh-CN" altLang="en-US" sz="1200" b="0" dirty="0">
                <a:solidFill>
                  <a:schemeClr val="tx2"/>
                </a:solidFill>
                <a:latin typeface="+mj-ea"/>
                <a:ea typeface="+mj-ea"/>
                <a:cs typeface="思源黑体 CN Normal" panose="020B0400000000000000" pitchFamily="34" charset="-122"/>
              </a:endParaRPr>
            </a:p>
          </p:txBody>
        </p:sp>
        <p:sp>
          <p:nvSpPr>
            <p:cNvPr id="84" name="文本框 83"/>
            <p:cNvSpPr txBox="1"/>
            <p:nvPr/>
          </p:nvSpPr>
          <p:spPr>
            <a:xfrm>
              <a:off x="471172" y="1964802"/>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技术迭代快</a:t>
              </a:r>
              <a:endParaRPr lang="zh-CN" altLang="en-US" sz="1200" b="0" dirty="0">
                <a:solidFill>
                  <a:schemeClr val="tx2"/>
                </a:solidFill>
                <a:latin typeface="+mj-ea"/>
                <a:ea typeface="+mj-ea"/>
                <a:cs typeface="思源黑体 CN Normal" panose="020B0400000000000000" pitchFamily="34" charset="-122"/>
              </a:endParaRPr>
            </a:p>
          </p:txBody>
        </p:sp>
        <p:sp>
          <p:nvSpPr>
            <p:cNvPr id="85" name="文本框 84"/>
            <p:cNvSpPr txBox="1"/>
            <p:nvPr/>
          </p:nvSpPr>
          <p:spPr>
            <a:xfrm>
              <a:off x="471172" y="2377135"/>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地缘风险高</a:t>
              </a:r>
              <a:endParaRPr lang="zh-CN" altLang="en-US" sz="1200" b="0" dirty="0">
                <a:solidFill>
                  <a:schemeClr val="tx2"/>
                </a:solidFill>
                <a:latin typeface="+mj-ea"/>
                <a:ea typeface="+mj-ea"/>
                <a:cs typeface="思源黑体 CN Normal" panose="020B0400000000000000" pitchFamily="34" charset="-122"/>
              </a:endParaRPr>
            </a:p>
          </p:txBody>
        </p:sp>
        <p:sp>
          <p:nvSpPr>
            <p:cNvPr id="86" name="文本框 85"/>
            <p:cNvSpPr txBox="1"/>
            <p:nvPr/>
          </p:nvSpPr>
          <p:spPr>
            <a:xfrm>
              <a:off x="1514511" y="1565664"/>
              <a:ext cx="2664000" cy="253916"/>
            </a:xfrm>
            <a:prstGeom prst="rect">
              <a:avLst/>
            </a:prstGeom>
            <a:noFill/>
          </p:spPr>
          <p:txBody>
            <a:bodyPr wrap="square">
              <a:spAutoFit/>
            </a:bodyPr>
            <a:lstStyle/>
            <a:p>
              <a:pPr algn="r"/>
              <a:r>
                <a:rPr lang="zh-CN" altLang="en-US" sz="1050" b="0" i="0" dirty="0">
                  <a:solidFill>
                    <a:srgbClr val="0D0D0D"/>
                  </a:solidFill>
                  <a:effectLst/>
                  <a:latin typeface="+mn-ea"/>
                  <a:cs typeface="思源黑体 CN Normal" panose="020B0400000000000000" pitchFamily="34" charset="-122"/>
                </a:rPr>
                <a:t>头部品牌降价</a:t>
              </a:r>
              <a:r>
                <a:rPr lang="en-US" altLang="zh-CN" sz="1050" b="0" i="0" dirty="0">
                  <a:solidFill>
                    <a:srgbClr val="0D0D0D"/>
                  </a:solidFill>
                  <a:effectLst/>
                  <a:latin typeface="+mn-ea"/>
                  <a:cs typeface="思源黑体 CN Normal" panose="020B0400000000000000" pitchFamily="34" charset="-122"/>
                </a:rPr>
                <a:t>15%</a:t>
              </a:r>
              <a:r>
                <a:rPr lang="zh-CN" altLang="en-US" sz="1050" b="0" i="0" dirty="0">
                  <a:solidFill>
                    <a:srgbClr val="0D0D0D"/>
                  </a:solidFill>
                  <a:effectLst/>
                  <a:latin typeface="+mn-ea"/>
                  <a:cs typeface="思源黑体 CN Normal" panose="020B0400000000000000" pitchFamily="34" charset="-122"/>
                </a:rPr>
                <a:t>抢占份额抢占中端市场</a:t>
              </a:r>
              <a:endParaRPr lang="zh-CN" altLang="en-US" sz="1050" b="0" i="0" dirty="0">
                <a:solidFill>
                  <a:srgbClr val="0D0D0D"/>
                </a:solidFill>
                <a:effectLst/>
                <a:latin typeface="+mn-ea"/>
                <a:cs typeface="思源黑体 CN Normal" panose="020B0400000000000000" pitchFamily="34" charset="-122"/>
              </a:endParaRPr>
            </a:p>
          </p:txBody>
        </p:sp>
        <p:sp>
          <p:nvSpPr>
            <p:cNvPr id="87" name="文本框 86"/>
            <p:cNvSpPr txBox="1"/>
            <p:nvPr/>
          </p:nvSpPr>
          <p:spPr>
            <a:xfrm>
              <a:off x="1514511" y="198376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pPr algn="r"/>
              <a:r>
                <a:rPr lang="zh-CN" altLang="en-US" dirty="0">
                  <a:cs typeface="思源黑体 CN Normal" panose="020B0400000000000000" pitchFamily="34" charset="-122"/>
                </a:rPr>
                <a:t>行业技术更新快，研发投入需保持在</a:t>
              </a:r>
              <a:r>
                <a:rPr lang="en-US" altLang="zh-CN" dirty="0">
                  <a:cs typeface="思源黑体 CN Normal" panose="020B0400000000000000" pitchFamily="34" charset="-122"/>
                </a:rPr>
                <a:t>8%</a:t>
              </a:r>
              <a:endParaRPr lang="zh-CN" altLang="en-US" dirty="0">
                <a:cs typeface="思源黑体 CN Normal" panose="020B0400000000000000" pitchFamily="34" charset="-122"/>
              </a:endParaRPr>
            </a:p>
          </p:txBody>
        </p:sp>
        <p:sp>
          <p:nvSpPr>
            <p:cNvPr id="88" name="文本框 87"/>
            <p:cNvSpPr txBox="1"/>
            <p:nvPr/>
          </p:nvSpPr>
          <p:spPr>
            <a:xfrm>
              <a:off x="1514510" y="239417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pPr algn="r"/>
              <a:r>
                <a:rPr lang="zh-CN" altLang="en-US" dirty="0">
                  <a:cs typeface="思源黑体 CN Normal" panose="020B0400000000000000" pitchFamily="34" charset="-122"/>
                </a:rPr>
                <a:t>核心芯片进口占比</a:t>
              </a:r>
              <a:r>
                <a:rPr lang="en-US" altLang="zh-CN" dirty="0">
                  <a:cs typeface="思源黑体 CN Normal" panose="020B0400000000000000" pitchFamily="34" charset="-122"/>
                </a:rPr>
                <a:t>70%</a:t>
              </a:r>
              <a:r>
                <a:rPr lang="zh-CN" altLang="en-US" dirty="0">
                  <a:cs typeface="思源黑体 CN Normal" panose="020B0400000000000000" pitchFamily="34" charset="-122"/>
                </a:rPr>
                <a:t>，依靠国际供应链</a:t>
              </a:r>
              <a:endParaRPr lang="zh-CN" altLang="en-US" dirty="0">
                <a:cs typeface="思源黑体 CN Normal" panose="020B0400000000000000" pitchFamily="34" charset="-122"/>
              </a:endParaRPr>
            </a:p>
          </p:txBody>
        </p:sp>
      </p:grpSp>
      <p:sp>
        <p:nvSpPr>
          <p:cNvPr id="117" name="文本框 116"/>
          <p:cNvSpPr txBox="1"/>
          <p:nvPr/>
        </p:nvSpPr>
        <p:spPr>
          <a:xfrm>
            <a:off x="554651" y="5243272"/>
            <a:ext cx="2268000" cy="309600"/>
          </a:xfrm>
          <a:prstGeom prst="roundRect">
            <a:avLst>
              <a:gd name="adj" fmla="val 50000"/>
            </a:avLst>
          </a:prstGeom>
          <a:solidFill>
            <a:schemeClr val="bg1"/>
          </a:solidFill>
        </p:spPr>
        <p:txBody>
          <a:bodyPr wrap="square" anchor="ctr">
            <a:noAutofit/>
          </a:bodyPr>
          <a:lstStyle/>
          <a:p>
            <a:pPr algn="ctr">
              <a:lnSpc>
                <a:spcPct val="110000"/>
              </a:lnSpc>
              <a:buNone/>
            </a:pPr>
            <a:r>
              <a:rPr lang="zh-CN" altLang="en-US" sz="1400" i="0" dirty="0">
                <a:solidFill>
                  <a:schemeClr val="tx2"/>
                </a:solidFill>
                <a:effectLst/>
                <a:latin typeface="+mj-ea"/>
                <a:ea typeface="+mj-ea"/>
                <a:cs typeface="思源黑体 CN Normal" panose="020B0400000000000000" pitchFamily="34" charset="-122"/>
              </a:rPr>
              <a:t>优势（</a:t>
            </a:r>
            <a:r>
              <a:rPr lang="en-US" altLang="zh-CN" sz="1400" i="0" dirty="0">
                <a:solidFill>
                  <a:schemeClr val="tx2"/>
                </a:solidFill>
                <a:effectLst/>
                <a:latin typeface="+mj-ea"/>
                <a:ea typeface="+mj-ea"/>
                <a:cs typeface="思源黑体 CN Normal" panose="020B0400000000000000" pitchFamily="34" charset="-122"/>
              </a:rPr>
              <a:t>Strengths</a:t>
            </a:r>
            <a:r>
              <a:rPr lang="zh-CN" altLang="en-US" sz="1400" i="0" dirty="0">
                <a:solidFill>
                  <a:schemeClr val="tx2"/>
                </a:solidFill>
                <a:effectLst/>
                <a:latin typeface="+mj-ea"/>
                <a:ea typeface="+mj-ea"/>
                <a:cs typeface="思源黑体 CN Normal" panose="020B0400000000000000" pitchFamily="34" charset="-122"/>
              </a:rPr>
              <a:t>）</a:t>
            </a:r>
            <a:endParaRPr lang="zh-CN" altLang="en-US" sz="1400" i="0" dirty="0">
              <a:solidFill>
                <a:schemeClr val="tx2"/>
              </a:solidFill>
              <a:effectLst/>
              <a:latin typeface="+mj-ea"/>
              <a:ea typeface="+mj-ea"/>
              <a:cs typeface="思源黑体 CN Normal" panose="020B0400000000000000" pitchFamily="34" charset="-122"/>
            </a:endParaRPr>
          </a:p>
        </p:txBody>
      </p:sp>
      <p:sp>
        <p:nvSpPr>
          <p:cNvPr id="136" name="文本框 135"/>
          <p:cNvSpPr txBox="1"/>
          <p:nvPr/>
        </p:nvSpPr>
        <p:spPr>
          <a:xfrm>
            <a:off x="554651" y="5663356"/>
            <a:ext cx="2268000" cy="221727"/>
          </a:xfrm>
          <a:prstGeom prst="rect">
            <a:avLst/>
          </a:prstGeom>
          <a:noFill/>
        </p:spPr>
        <p:txBody>
          <a:bodyPr wrap="square" lIns="0" tIns="0" rIns="0" bIns="0">
            <a:spAutoFit/>
          </a:bodyPr>
          <a:lstStyle/>
          <a:p>
            <a:pPr algn="ctr">
              <a:lnSpc>
                <a:spcPct val="110000"/>
              </a:lnSpc>
              <a:buNone/>
            </a:pPr>
            <a:r>
              <a:rPr lang="zh-CN" altLang="en-US" sz="1400" b="0" i="0" dirty="0">
                <a:solidFill>
                  <a:schemeClr val="bg1"/>
                </a:solidFill>
                <a:effectLst/>
                <a:latin typeface="+mj-ea"/>
                <a:ea typeface="+mj-ea"/>
                <a:cs typeface="思源黑体 CN Normal" panose="020B0400000000000000" pitchFamily="34" charset="-122"/>
              </a:rPr>
              <a:t>核心技术自主</a:t>
            </a:r>
            <a:endParaRPr lang="zh-CN" altLang="en-US" sz="1400" b="0" i="0" dirty="0">
              <a:solidFill>
                <a:schemeClr val="bg1"/>
              </a:solidFill>
              <a:effectLst/>
              <a:latin typeface="+mj-ea"/>
              <a:ea typeface="+mj-ea"/>
              <a:cs typeface="思源黑体 CN Normal" panose="020B0400000000000000" pitchFamily="34" charset="-122"/>
            </a:endParaRPr>
          </a:p>
        </p:txBody>
      </p:sp>
      <p:sp>
        <p:nvSpPr>
          <p:cNvPr id="137" name="文本框 136"/>
          <p:cNvSpPr txBox="1"/>
          <p:nvPr/>
        </p:nvSpPr>
        <p:spPr>
          <a:xfrm>
            <a:off x="680651" y="6016231"/>
            <a:ext cx="2016000" cy="459165"/>
          </a:xfrm>
          <a:prstGeom prst="rect">
            <a:avLst/>
          </a:prstGeom>
          <a:noFill/>
        </p:spPr>
        <p:txBody>
          <a:bodyPr wrap="square">
            <a:spAutoFit/>
          </a:bodyPr>
          <a:lstStyle/>
          <a:p>
            <a:pPr algn="ctr">
              <a:lnSpc>
                <a:spcPct val="110000"/>
              </a:lnSpc>
              <a:buNone/>
            </a:pPr>
            <a:r>
              <a:rPr lang="zh-CN" altLang="en-US" sz="1050" b="0" i="0" dirty="0">
                <a:solidFill>
                  <a:schemeClr val="bg1"/>
                </a:solidFill>
                <a:effectLst/>
                <a:latin typeface="+mn-ea"/>
                <a:cs typeface="思源黑体 CN Normal" panose="020B0400000000000000" pitchFamily="34" charset="-122"/>
              </a:rPr>
              <a:t>自研芯片占比</a:t>
            </a:r>
            <a:r>
              <a:rPr lang="en-US" altLang="zh-CN" sz="1050" b="0" i="0" dirty="0">
                <a:solidFill>
                  <a:schemeClr val="bg1"/>
                </a:solidFill>
                <a:effectLst/>
                <a:latin typeface="+mn-ea"/>
                <a:cs typeface="思源黑体 CN Normal" panose="020B0400000000000000" pitchFamily="34" charset="-122"/>
              </a:rPr>
              <a:t>65%</a:t>
            </a:r>
            <a:r>
              <a:rPr lang="zh-CN" altLang="en-US" sz="1050" b="0" i="0" dirty="0">
                <a:solidFill>
                  <a:schemeClr val="bg1"/>
                </a:solidFill>
                <a:effectLst/>
                <a:latin typeface="+mn-ea"/>
                <a:cs typeface="思源黑体 CN Normal" panose="020B0400000000000000" pitchFamily="34" charset="-122"/>
              </a:rPr>
              <a:t>，专利超</a:t>
            </a:r>
            <a:r>
              <a:rPr lang="en-US" altLang="zh-CN" sz="1050" b="0" i="0" dirty="0">
                <a:solidFill>
                  <a:schemeClr val="bg1"/>
                </a:solidFill>
                <a:effectLst/>
                <a:latin typeface="+mn-ea"/>
                <a:cs typeface="思源黑体 CN Normal" panose="020B0400000000000000" pitchFamily="34" charset="-122"/>
              </a:rPr>
              <a:t>120</a:t>
            </a:r>
            <a:r>
              <a:rPr lang="zh-CN" altLang="en-US" sz="1050" b="0" i="0" dirty="0">
                <a:solidFill>
                  <a:schemeClr val="bg1"/>
                </a:solidFill>
                <a:effectLst/>
                <a:latin typeface="+mn-ea"/>
                <a:cs typeface="思源黑体 CN Normal" panose="020B0400000000000000" pitchFamily="34" charset="-122"/>
              </a:rPr>
              <a:t>项，构建技术壁垒</a:t>
            </a:r>
            <a:endParaRPr lang="zh-CN" altLang="en-US" sz="1050" b="0" i="0" dirty="0">
              <a:solidFill>
                <a:schemeClr val="bg1"/>
              </a:solidFill>
              <a:effectLst/>
              <a:latin typeface="+mn-ea"/>
              <a:cs typeface="思源黑体 CN Normal" panose="020B0400000000000000" pitchFamily="34" charset="-122"/>
            </a:endParaRPr>
          </a:p>
        </p:txBody>
      </p:sp>
      <p:sp>
        <p:nvSpPr>
          <p:cNvPr id="147" name="等腰三角形 34"/>
          <p:cNvSpPr/>
          <p:nvPr/>
        </p:nvSpPr>
        <p:spPr>
          <a:xfrm rot="5400000">
            <a:off x="1652651" y="5906304"/>
            <a:ext cx="72000" cy="10800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120" name="文本框 119"/>
          <p:cNvSpPr txBox="1"/>
          <p:nvPr/>
        </p:nvSpPr>
        <p:spPr>
          <a:xfrm>
            <a:off x="3492884" y="5243272"/>
            <a:ext cx="2268000" cy="309600"/>
          </a:xfrm>
          <a:prstGeom prst="roundRect">
            <a:avLst>
              <a:gd name="adj" fmla="val 50000"/>
            </a:avLst>
          </a:prstGeom>
          <a:solidFill>
            <a:schemeClr val="bg1"/>
          </a:solidFill>
        </p:spPr>
        <p:txBody>
          <a:bodyPr wrap="square" anchor="ctr">
            <a:noAutofit/>
          </a:bodyPr>
          <a:lstStyle>
            <a:defPPr>
              <a:defRPr lang="zh-CN"/>
            </a:defPPr>
            <a:lvl1pPr algn="ctr">
              <a:lnSpc>
                <a:spcPct val="110000"/>
              </a:lnSpc>
              <a:buNone/>
              <a:defRPr sz="1400" b="1" i="0">
                <a:solidFill>
                  <a:schemeClr val="tx2"/>
                </a:solidFill>
                <a:effectLst/>
                <a:latin typeface="+mj-ea"/>
                <a:ea typeface="+mj-ea"/>
              </a:defRPr>
            </a:lvl1pPr>
          </a:lstStyle>
          <a:p>
            <a:r>
              <a:rPr lang="zh-CN" altLang="en-US" b="0">
                <a:cs typeface="思源黑体 CN Normal" panose="020B0400000000000000" pitchFamily="34" charset="-122"/>
              </a:rPr>
              <a:t>劣势（</a:t>
            </a:r>
            <a:r>
              <a:rPr lang="en-US" altLang="zh-CN" b="0" dirty="0">
                <a:cs typeface="思源黑体 CN Normal" panose="020B0400000000000000" pitchFamily="34" charset="-122"/>
              </a:rPr>
              <a:t>Weaknesses</a:t>
            </a:r>
            <a:r>
              <a:rPr lang="zh-CN" altLang="en-US" b="0" dirty="0">
                <a:cs typeface="思源黑体 CN Normal" panose="020B0400000000000000" pitchFamily="34" charset="-122"/>
              </a:rPr>
              <a:t>）</a:t>
            </a:r>
            <a:endParaRPr lang="zh-CN" altLang="en-US" b="0" dirty="0">
              <a:cs typeface="思源黑体 CN Normal" panose="020B0400000000000000" pitchFamily="34" charset="-122"/>
            </a:endParaRPr>
          </a:p>
        </p:txBody>
      </p:sp>
      <p:sp>
        <p:nvSpPr>
          <p:cNvPr id="139" name="文本框 138"/>
          <p:cNvSpPr txBox="1"/>
          <p:nvPr/>
        </p:nvSpPr>
        <p:spPr>
          <a:xfrm>
            <a:off x="3492884" y="5663356"/>
            <a:ext cx="2268000" cy="221727"/>
          </a:xfrm>
          <a:prstGeom prst="rect">
            <a:avLst/>
          </a:prstGeom>
          <a:noFill/>
        </p:spPr>
        <p:txBody>
          <a:bodyPr wrap="square" lIns="0" tIns="0" rIns="0" bIns="0">
            <a:spAutoFit/>
          </a:bodyPr>
          <a:lstStyle/>
          <a:p>
            <a:pPr algn="ctr">
              <a:lnSpc>
                <a:spcPct val="110000"/>
              </a:lnSpc>
              <a:buNone/>
            </a:pPr>
            <a:r>
              <a:rPr lang="zh-CN" altLang="en-US" sz="1400" b="0" i="0" dirty="0">
                <a:solidFill>
                  <a:schemeClr val="bg1"/>
                </a:solidFill>
                <a:effectLst/>
                <a:latin typeface="+mj-ea"/>
                <a:ea typeface="+mj-ea"/>
                <a:cs typeface="思源黑体 CN Normal" panose="020B0400000000000000" pitchFamily="34" charset="-122"/>
              </a:rPr>
              <a:t>供应链依赖</a:t>
            </a:r>
            <a:endParaRPr lang="zh-CN" altLang="en-US" sz="1400" b="0" i="0" dirty="0">
              <a:solidFill>
                <a:schemeClr val="bg1"/>
              </a:solidFill>
              <a:effectLst/>
              <a:latin typeface="+mj-ea"/>
              <a:ea typeface="+mj-ea"/>
              <a:cs typeface="思源黑体 CN Normal" panose="020B0400000000000000" pitchFamily="34" charset="-122"/>
            </a:endParaRPr>
          </a:p>
        </p:txBody>
      </p:sp>
      <p:sp>
        <p:nvSpPr>
          <p:cNvPr id="140" name="文本框 139"/>
          <p:cNvSpPr txBox="1"/>
          <p:nvPr/>
        </p:nvSpPr>
        <p:spPr>
          <a:xfrm>
            <a:off x="3618884" y="6016231"/>
            <a:ext cx="2016000" cy="459165"/>
          </a:xfrm>
          <a:prstGeom prst="rect">
            <a:avLst/>
          </a:prstGeom>
          <a:noFill/>
        </p:spPr>
        <p:txBody>
          <a:bodyPr wrap="square">
            <a:spAutoFit/>
          </a:bodyPr>
          <a:lstStyle/>
          <a:p>
            <a:pPr algn="ctr">
              <a:lnSpc>
                <a:spcPct val="110000"/>
              </a:lnSpc>
              <a:buNone/>
            </a:pPr>
            <a:r>
              <a:rPr lang="zh-CN" altLang="en-US" sz="1050" b="0" i="0" dirty="0">
                <a:solidFill>
                  <a:schemeClr val="bg1"/>
                </a:solidFill>
                <a:effectLst/>
                <a:latin typeface="+mn-ea"/>
                <a:cs typeface="思源黑体 CN Normal" panose="020B0400000000000000" pitchFamily="34" charset="-122"/>
              </a:rPr>
              <a:t>核心部件自研率仅</a:t>
            </a:r>
            <a:r>
              <a:rPr lang="en-US" altLang="zh-CN" sz="1050" b="0" i="0" dirty="0">
                <a:solidFill>
                  <a:schemeClr val="bg1"/>
                </a:solidFill>
                <a:effectLst/>
                <a:latin typeface="+mn-ea"/>
                <a:cs typeface="思源黑体 CN Normal" panose="020B0400000000000000" pitchFamily="34" charset="-122"/>
              </a:rPr>
              <a:t>35%</a:t>
            </a:r>
            <a:r>
              <a:rPr lang="zh-CN" altLang="en-US" sz="1050" b="0" i="0" dirty="0">
                <a:solidFill>
                  <a:schemeClr val="bg1"/>
                </a:solidFill>
                <a:effectLst/>
                <a:latin typeface="+mn-ea"/>
                <a:cs typeface="思源黑体 CN Normal" panose="020B0400000000000000" pitchFamily="34" charset="-122"/>
              </a:rPr>
              <a:t>，外购成本高，毛利率承压至</a:t>
            </a:r>
            <a:r>
              <a:rPr lang="en-US" altLang="zh-CN" sz="1050" b="0" i="0" dirty="0">
                <a:solidFill>
                  <a:schemeClr val="bg1"/>
                </a:solidFill>
                <a:effectLst/>
                <a:latin typeface="+mn-ea"/>
                <a:cs typeface="思源黑体 CN Normal" panose="020B0400000000000000" pitchFamily="34" charset="-122"/>
              </a:rPr>
              <a:t>28%</a:t>
            </a:r>
            <a:endParaRPr lang="zh-CN" altLang="en-US" sz="1050" b="0" i="0" dirty="0">
              <a:solidFill>
                <a:schemeClr val="bg1"/>
              </a:solidFill>
              <a:effectLst/>
              <a:latin typeface="+mn-ea"/>
              <a:cs typeface="思源黑体 CN Normal" panose="020B0400000000000000" pitchFamily="34" charset="-122"/>
            </a:endParaRPr>
          </a:p>
        </p:txBody>
      </p:sp>
      <p:sp>
        <p:nvSpPr>
          <p:cNvPr id="148" name="等腰三角形 34"/>
          <p:cNvSpPr/>
          <p:nvPr/>
        </p:nvSpPr>
        <p:spPr>
          <a:xfrm rot="5400000">
            <a:off x="4590884" y="5906304"/>
            <a:ext cx="72000" cy="10800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123" name="文本框 122"/>
          <p:cNvSpPr txBox="1"/>
          <p:nvPr/>
        </p:nvSpPr>
        <p:spPr>
          <a:xfrm>
            <a:off x="6431116" y="5243272"/>
            <a:ext cx="2268000" cy="309600"/>
          </a:xfrm>
          <a:prstGeom prst="roundRect">
            <a:avLst>
              <a:gd name="adj" fmla="val 50000"/>
            </a:avLst>
          </a:prstGeom>
          <a:solidFill>
            <a:schemeClr val="bg1"/>
          </a:solidFill>
        </p:spPr>
        <p:txBody>
          <a:bodyPr wrap="square" anchor="ctr">
            <a:noAutofit/>
          </a:bodyPr>
          <a:lstStyle>
            <a:defPPr>
              <a:defRPr lang="zh-CN"/>
            </a:defPPr>
            <a:lvl1pPr algn="ctr">
              <a:lnSpc>
                <a:spcPct val="110000"/>
              </a:lnSpc>
              <a:buNone/>
              <a:defRPr sz="1400" b="1" i="0">
                <a:solidFill>
                  <a:schemeClr val="tx2"/>
                </a:solidFill>
                <a:effectLst/>
                <a:latin typeface="+mj-ea"/>
                <a:ea typeface="+mj-ea"/>
              </a:defRPr>
            </a:lvl1pPr>
          </a:lstStyle>
          <a:p>
            <a:r>
              <a:rPr lang="zh-CN" altLang="en-US" b="0">
                <a:cs typeface="思源黑体 CN Normal" panose="020B0400000000000000" pitchFamily="34" charset="-122"/>
              </a:rPr>
              <a:t>机会（</a:t>
            </a:r>
            <a:r>
              <a:rPr lang="en-US" altLang="zh-CN" b="0" dirty="0">
                <a:cs typeface="思源黑体 CN Normal" panose="020B0400000000000000" pitchFamily="34" charset="-122"/>
              </a:rPr>
              <a:t>Opportunities</a:t>
            </a:r>
            <a:r>
              <a:rPr lang="zh-CN" altLang="en-US" b="0" dirty="0">
                <a:cs typeface="思源黑体 CN Normal" panose="020B0400000000000000" pitchFamily="34" charset="-122"/>
              </a:rPr>
              <a:t>）</a:t>
            </a:r>
            <a:endParaRPr lang="zh-CN" altLang="en-US" b="0" dirty="0">
              <a:cs typeface="思源黑体 CN Normal" panose="020B0400000000000000" pitchFamily="34" charset="-122"/>
            </a:endParaRPr>
          </a:p>
        </p:txBody>
      </p:sp>
      <p:sp>
        <p:nvSpPr>
          <p:cNvPr id="142" name="文本框 141"/>
          <p:cNvSpPr txBox="1"/>
          <p:nvPr/>
        </p:nvSpPr>
        <p:spPr>
          <a:xfrm>
            <a:off x="6431116" y="5663356"/>
            <a:ext cx="2268000" cy="221727"/>
          </a:xfrm>
          <a:prstGeom prst="rect">
            <a:avLst/>
          </a:prstGeom>
          <a:noFill/>
        </p:spPr>
        <p:txBody>
          <a:bodyPr wrap="square" lIns="0" tIns="0" rIns="0" bIns="0">
            <a:spAutoFit/>
          </a:bodyPr>
          <a:lstStyle/>
          <a:p>
            <a:pPr algn="ctr">
              <a:lnSpc>
                <a:spcPct val="110000"/>
              </a:lnSpc>
              <a:buNone/>
            </a:pPr>
            <a:r>
              <a:rPr lang="zh-CN" altLang="en-US" sz="1400" b="0" i="0" dirty="0">
                <a:solidFill>
                  <a:schemeClr val="bg1"/>
                </a:solidFill>
                <a:effectLst/>
                <a:latin typeface="+mj-ea"/>
                <a:ea typeface="+mj-ea"/>
                <a:cs typeface="思源黑体 CN Normal" panose="020B0400000000000000" pitchFamily="34" charset="-122"/>
              </a:rPr>
              <a:t>政策</a:t>
            </a:r>
            <a:r>
              <a:rPr lang="zh-CN" altLang="en-US" sz="1400" b="0" i="0">
                <a:solidFill>
                  <a:schemeClr val="bg1"/>
                </a:solidFill>
                <a:effectLst/>
                <a:latin typeface="+mj-ea"/>
                <a:ea typeface="+mj-ea"/>
                <a:cs typeface="思源黑体 CN Normal" panose="020B0400000000000000" pitchFamily="34" charset="-122"/>
              </a:rPr>
              <a:t>红利释放</a:t>
            </a:r>
            <a:endParaRPr lang="zh-CN" altLang="en-US" sz="1400" b="0" i="0" dirty="0">
              <a:solidFill>
                <a:schemeClr val="bg1"/>
              </a:solidFill>
              <a:effectLst/>
              <a:latin typeface="+mj-ea"/>
              <a:ea typeface="+mj-ea"/>
              <a:cs typeface="思源黑体 CN Normal" panose="020B0400000000000000" pitchFamily="34" charset="-122"/>
            </a:endParaRPr>
          </a:p>
        </p:txBody>
      </p:sp>
      <p:sp>
        <p:nvSpPr>
          <p:cNvPr id="143" name="文本框 142"/>
          <p:cNvSpPr txBox="1"/>
          <p:nvPr/>
        </p:nvSpPr>
        <p:spPr>
          <a:xfrm>
            <a:off x="6557116" y="6016231"/>
            <a:ext cx="2016000" cy="459165"/>
          </a:xfrm>
          <a:prstGeom prst="rect">
            <a:avLst/>
          </a:prstGeom>
          <a:noFill/>
        </p:spPr>
        <p:txBody>
          <a:bodyPr wrap="square">
            <a:spAutoFit/>
          </a:bodyPr>
          <a:lstStyle/>
          <a:p>
            <a:pPr algn="ctr">
              <a:lnSpc>
                <a:spcPct val="110000"/>
              </a:lnSpc>
              <a:buNone/>
            </a:pPr>
            <a:r>
              <a:rPr lang="zh-CN" altLang="en-US" sz="1050" b="0" i="0" dirty="0">
                <a:solidFill>
                  <a:schemeClr val="bg1"/>
                </a:solidFill>
                <a:effectLst/>
                <a:latin typeface="+mn-ea"/>
                <a:cs typeface="思源黑体 CN Normal" panose="020B0400000000000000" pitchFamily="34" charset="-122"/>
              </a:rPr>
              <a:t>“新基建”补贴</a:t>
            </a:r>
            <a:r>
              <a:rPr lang="en-US" altLang="zh-CN" sz="1050" b="0" i="0" dirty="0">
                <a:solidFill>
                  <a:schemeClr val="bg1"/>
                </a:solidFill>
                <a:effectLst/>
                <a:latin typeface="+mn-ea"/>
                <a:cs typeface="思源黑体 CN Normal" panose="020B0400000000000000" pitchFamily="34" charset="-122"/>
              </a:rPr>
              <a:t>15%</a:t>
            </a:r>
            <a:r>
              <a:rPr lang="zh-CN" altLang="en-US" sz="1050" b="0" i="0" dirty="0">
                <a:solidFill>
                  <a:schemeClr val="bg1"/>
                </a:solidFill>
                <a:effectLst/>
                <a:latin typeface="+mn-ea"/>
                <a:cs typeface="思源黑体 CN Normal" panose="020B0400000000000000" pitchFamily="34" charset="-122"/>
              </a:rPr>
              <a:t>研发费用，加速</a:t>
            </a:r>
            <a:r>
              <a:rPr lang="en-US" altLang="zh-CN" sz="1050" b="0" i="0" dirty="0" err="1">
                <a:solidFill>
                  <a:schemeClr val="bg1"/>
                </a:solidFill>
                <a:effectLst/>
                <a:latin typeface="+mn-ea"/>
                <a:cs typeface="思源黑体 CN Normal" panose="020B0400000000000000" pitchFamily="34" charset="-122"/>
              </a:rPr>
              <a:t>AIoT</a:t>
            </a:r>
            <a:r>
              <a:rPr lang="zh-CN" altLang="en-US" sz="1050" b="0" i="0" dirty="0">
                <a:solidFill>
                  <a:schemeClr val="bg1"/>
                </a:solidFill>
                <a:effectLst/>
                <a:latin typeface="+mn-ea"/>
                <a:cs typeface="思源黑体 CN Normal" panose="020B0400000000000000" pitchFamily="34" charset="-122"/>
              </a:rPr>
              <a:t>技术落地</a:t>
            </a:r>
            <a:endParaRPr lang="zh-CN" altLang="en-US" sz="1050" b="0" i="0" dirty="0">
              <a:solidFill>
                <a:schemeClr val="bg1"/>
              </a:solidFill>
              <a:effectLst/>
              <a:latin typeface="+mn-ea"/>
              <a:cs typeface="思源黑体 CN Normal" panose="020B0400000000000000" pitchFamily="34" charset="-122"/>
            </a:endParaRPr>
          </a:p>
        </p:txBody>
      </p:sp>
      <p:sp>
        <p:nvSpPr>
          <p:cNvPr id="149" name="等腰三角形 34"/>
          <p:cNvSpPr/>
          <p:nvPr/>
        </p:nvSpPr>
        <p:spPr>
          <a:xfrm rot="5400000">
            <a:off x="7529116" y="5906304"/>
            <a:ext cx="72000" cy="10800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126" name="文本框 125"/>
          <p:cNvSpPr txBox="1"/>
          <p:nvPr/>
        </p:nvSpPr>
        <p:spPr>
          <a:xfrm>
            <a:off x="9369349" y="5243272"/>
            <a:ext cx="2268000" cy="309600"/>
          </a:xfrm>
          <a:prstGeom prst="roundRect">
            <a:avLst>
              <a:gd name="adj" fmla="val 50000"/>
            </a:avLst>
          </a:prstGeom>
          <a:solidFill>
            <a:schemeClr val="bg1"/>
          </a:solidFill>
        </p:spPr>
        <p:txBody>
          <a:bodyPr wrap="square" anchor="ctr">
            <a:noAutofit/>
          </a:bodyPr>
          <a:lstStyle>
            <a:defPPr>
              <a:defRPr lang="zh-CN"/>
            </a:defPPr>
            <a:lvl1pPr algn="ctr">
              <a:lnSpc>
                <a:spcPct val="110000"/>
              </a:lnSpc>
              <a:buNone/>
              <a:defRPr sz="1400" b="1" i="0">
                <a:solidFill>
                  <a:schemeClr val="tx2"/>
                </a:solidFill>
                <a:effectLst/>
                <a:latin typeface="+mj-ea"/>
                <a:ea typeface="+mj-ea"/>
              </a:defRPr>
            </a:lvl1pPr>
          </a:lstStyle>
          <a:p>
            <a:r>
              <a:rPr lang="zh-CN" altLang="en-US" b="0">
                <a:cs typeface="思源黑体 CN Normal" panose="020B0400000000000000" pitchFamily="34" charset="-122"/>
              </a:rPr>
              <a:t>威胁（</a:t>
            </a:r>
            <a:r>
              <a:rPr lang="en-US" altLang="zh-CN" b="0" dirty="0">
                <a:cs typeface="思源黑体 CN Normal" panose="020B0400000000000000" pitchFamily="34" charset="-122"/>
              </a:rPr>
              <a:t>Threats</a:t>
            </a:r>
            <a:r>
              <a:rPr lang="zh-CN" altLang="en-US" b="0" dirty="0">
                <a:cs typeface="思源黑体 CN Normal" panose="020B0400000000000000" pitchFamily="34" charset="-122"/>
              </a:rPr>
              <a:t>）</a:t>
            </a:r>
            <a:endParaRPr lang="zh-CN" altLang="en-US" b="0" dirty="0">
              <a:cs typeface="思源黑体 CN Normal" panose="020B0400000000000000" pitchFamily="34" charset="-122"/>
            </a:endParaRPr>
          </a:p>
        </p:txBody>
      </p:sp>
      <p:sp>
        <p:nvSpPr>
          <p:cNvPr id="145" name="文本框 144"/>
          <p:cNvSpPr txBox="1"/>
          <p:nvPr/>
        </p:nvSpPr>
        <p:spPr>
          <a:xfrm>
            <a:off x="9369349" y="5663356"/>
            <a:ext cx="2268000" cy="221727"/>
          </a:xfrm>
          <a:prstGeom prst="rect">
            <a:avLst/>
          </a:prstGeom>
          <a:noFill/>
        </p:spPr>
        <p:txBody>
          <a:bodyPr wrap="square" lIns="0" tIns="0" rIns="0" bIns="0">
            <a:spAutoFit/>
          </a:bodyPr>
          <a:lstStyle/>
          <a:p>
            <a:pPr algn="ctr">
              <a:lnSpc>
                <a:spcPct val="110000"/>
              </a:lnSpc>
              <a:buNone/>
            </a:pPr>
            <a:r>
              <a:rPr lang="zh-CN" altLang="en-US" sz="1400" b="0" i="0" dirty="0">
                <a:solidFill>
                  <a:schemeClr val="bg1"/>
                </a:solidFill>
                <a:effectLst/>
                <a:latin typeface="+mj-ea"/>
                <a:ea typeface="+mj-ea"/>
                <a:cs typeface="思源黑体 CN Normal" panose="020B0400000000000000" pitchFamily="34" charset="-122"/>
              </a:rPr>
              <a:t>供应</a:t>
            </a:r>
            <a:r>
              <a:rPr lang="zh-CN" altLang="en-US" sz="1400" b="0" i="0">
                <a:solidFill>
                  <a:schemeClr val="bg1"/>
                </a:solidFill>
                <a:effectLst/>
                <a:latin typeface="+mj-ea"/>
                <a:ea typeface="+mj-ea"/>
                <a:cs typeface="思源黑体 CN Normal" panose="020B0400000000000000" pitchFamily="34" charset="-122"/>
              </a:rPr>
              <a:t>链波动</a:t>
            </a:r>
            <a:endParaRPr lang="zh-CN" altLang="en-US" sz="1400" b="0" i="0" dirty="0">
              <a:solidFill>
                <a:schemeClr val="bg1"/>
              </a:solidFill>
              <a:effectLst/>
              <a:latin typeface="+mj-ea"/>
              <a:ea typeface="+mj-ea"/>
              <a:cs typeface="思源黑体 CN Normal" panose="020B0400000000000000" pitchFamily="34" charset="-122"/>
            </a:endParaRPr>
          </a:p>
        </p:txBody>
      </p:sp>
      <p:sp>
        <p:nvSpPr>
          <p:cNvPr id="146" name="文本框 145"/>
          <p:cNvSpPr txBox="1"/>
          <p:nvPr/>
        </p:nvSpPr>
        <p:spPr>
          <a:xfrm>
            <a:off x="9495349" y="6016231"/>
            <a:ext cx="2016000" cy="459165"/>
          </a:xfrm>
          <a:prstGeom prst="rect">
            <a:avLst/>
          </a:prstGeom>
          <a:noFill/>
        </p:spPr>
        <p:txBody>
          <a:bodyPr wrap="square">
            <a:spAutoFit/>
          </a:bodyPr>
          <a:lstStyle/>
          <a:p>
            <a:pPr algn="ctr">
              <a:lnSpc>
                <a:spcPct val="110000"/>
              </a:lnSpc>
              <a:buNone/>
            </a:pPr>
            <a:r>
              <a:rPr lang="zh-CN" altLang="en-US" sz="1050" b="0" i="0" dirty="0">
                <a:solidFill>
                  <a:schemeClr val="bg1"/>
                </a:solidFill>
                <a:effectLst/>
                <a:latin typeface="+mn-ea"/>
                <a:cs typeface="思源黑体 CN Normal" panose="020B0400000000000000" pitchFamily="34" charset="-122"/>
              </a:rPr>
              <a:t>核心芯片</a:t>
            </a:r>
            <a:r>
              <a:rPr lang="en-US" altLang="zh-CN" sz="1050" b="0" i="0" dirty="0">
                <a:solidFill>
                  <a:schemeClr val="bg1"/>
                </a:solidFill>
                <a:effectLst/>
                <a:latin typeface="+mn-ea"/>
                <a:cs typeface="思源黑体 CN Normal" panose="020B0400000000000000" pitchFamily="34" charset="-122"/>
              </a:rPr>
              <a:t>70%</a:t>
            </a:r>
            <a:r>
              <a:rPr lang="zh-CN" altLang="en-US" sz="1050" b="0" i="0" dirty="0">
                <a:solidFill>
                  <a:schemeClr val="bg1"/>
                </a:solidFill>
                <a:effectLst/>
                <a:latin typeface="+mn-ea"/>
                <a:cs typeface="思源黑体 CN Normal" panose="020B0400000000000000" pitchFamily="34" charset="-122"/>
              </a:rPr>
              <a:t>依赖进口，地缘冲突加剧供应风险</a:t>
            </a:r>
            <a:endParaRPr lang="zh-CN" altLang="en-US" sz="1050" b="0" i="0" dirty="0">
              <a:solidFill>
                <a:schemeClr val="bg1"/>
              </a:solidFill>
              <a:effectLst/>
              <a:latin typeface="+mn-ea"/>
              <a:cs typeface="思源黑体 CN Normal" panose="020B0400000000000000" pitchFamily="34" charset="-122"/>
            </a:endParaRPr>
          </a:p>
        </p:txBody>
      </p:sp>
      <p:sp>
        <p:nvSpPr>
          <p:cNvPr id="150" name="等腰三角形 34"/>
          <p:cNvSpPr/>
          <p:nvPr/>
        </p:nvSpPr>
        <p:spPr>
          <a:xfrm rot="5400000">
            <a:off x="10467349" y="5906304"/>
            <a:ext cx="72000" cy="10800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nvGrpSpPr>
          <p:cNvPr id="35" name="组合 34"/>
          <p:cNvGrpSpPr/>
          <p:nvPr/>
        </p:nvGrpSpPr>
        <p:grpSpPr>
          <a:xfrm>
            <a:off x="3039745" y="5090711"/>
            <a:ext cx="236044" cy="1476001"/>
            <a:chOff x="3039746" y="5090711"/>
            <a:chExt cx="236044" cy="1476001"/>
          </a:xfrm>
        </p:grpSpPr>
        <p:sp>
          <p:nvSpPr>
            <p:cNvPr id="33" name="梯形 32"/>
            <p:cNvSpPr/>
            <p:nvPr/>
          </p:nvSpPr>
          <p:spPr>
            <a:xfrm rot="16200000" flipH="1">
              <a:off x="2478390" y="5769312"/>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2" name="梯形 31"/>
            <p:cNvSpPr/>
            <p:nvPr/>
          </p:nvSpPr>
          <p:spPr>
            <a:xfrm rot="5400000">
              <a:off x="2361146" y="5769311"/>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39" name="组合 38"/>
          <p:cNvGrpSpPr/>
          <p:nvPr/>
        </p:nvGrpSpPr>
        <p:grpSpPr>
          <a:xfrm>
            <a:off x="5977977" y="5090711"/>
            <a:ext cx="236044" cy="1476001"/>
            <a:chOff x="3039746" y="5090711"/>
            <a:chExt cx="236044" cy="1476001"/>
          </a:xfrm>
        </p:grpSpPr>
        <p:sp>
          <p:nvSpPr>
            <p:cNvPr id="40" name="梯形 39"/>
            <p:cNvSpPr/>
            <p:nvPr/>
          </p:nvSpPr>
          <p:spPr>
            <a:xfrm rot="16200000" flipH="1">
              <a:off x="2478390" y="5769312"/>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41" name="梯形 40"/>
            <p:cNvSpPr/>
            <p:nvPr/>
          </p:nvSpPr>
          <p:spPr>
            <a:xfrm rot="5400000">
              <a:off x="2361146" y="5769311"/>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42" name="组合 41"/>
          <p:cNvGrpSpPr/>
          <p:nvPr/>
        </p:nvGrpSpPr>
        <p:grpSpPr>
          <a:xfrm>
            <a:off x="8916209" y="5090711"/>
            <a:ext cx="236044" cy="1476001"/>
            <a:chOff x="3039746" y="5090711"/>
            <a:chExt cx="236044" cy="1476001"/>
          </a:xfrm>
        </p:grpSpPr>
        <p:sp>
          <p:nvSpPr>
            <p:cNvPr id="43" name="梯形 42"/>
            <p:cNvSpPr/>
            <p:nvPr/>
          </p:nvSpPr>
          <p:spPr>
            <a:xfrm rot="16200000" flipH="1">
              <a:off x="2478390" y="5769312"/>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44" name="梯形 43"/>
            <p:cNvSpPr/>
            <p:nvPr/>
          </p:nvSpPr>
          <p:spPr>
            <a:xfrm rot="5400000">
              <a:off x="2361146" y="5769311"/>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PEST</a:t>
            </a: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模型</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全方位优劣势分析</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31" name="组合 30"/>
          <p:cNvGrpSpPr/>
          <p:nvPr/>
        </p:nvGrpSpPr>
        <p:grpSpPr>
          <a:xfrm>
            <a:off x="336000" y="5918335"/>
            <a:ext cx="2862000" cy="674753"/>
            <a:chOff x="76387" y="6089849"/>
            <a:chExt cx="2996814" cy="526076"/>
          </a:xfrm>
        </p:grpSpPr>
        <p:sp>
          <p:nvSpPr>
            <p:cNvPr id="45" name="梯形 44"/>
            <p:cNvSpPr/>
            <p:nvPr/>
          </p:nvSpPr>
          <p:spPr>
            <a:xfrm>
              <a:off x="76387" y="6089849"/>
              <a:ext cx="2996814" cy="143047"/>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6" name="矩形 45"/>
            <p:cNvSpPr/>
            <p:nvPr/>
          </p:nvSpPr>
          <p:spPr>
            <a:xfrm>
              <a:off x="76387" y="6239333"/>
              <a:ext cx="2996814" cy="376592"/>
            </a:xfrm>
            <a:prstGeom prst="rect">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431800" rtl="0" eaLnBrk="1" fontAlgn="auto" latinLnBrk="0" hangingPunct="1">
                <a:lnSpc>
                  <a:spcPct val="100000"/>
                </a:lnSpc>
                <a:spcBef>
                  <a:spcPts val="0"/>
                </a:spcBef>
                <a:spcAft>
                  <a:spcPts val="0"/>
                </a:spcAft>
                <a:buClrTx/>
                <a:buSzTx/>
                <a:buFontTx/>
                <a:buNone/>
                <a:defRPr/>
              </a:pPr>
              <a:r>
                <a:rPr lang="zh-CN" altLang="en-US" sz="2000" kern="0" dirty="0">
                  <a:solidFill>
                    <a:prstClr val="white"/>
                  </a:solidFill>
                  <a:latin typeface="+mj-ea"/>
                  <a:ea typeface="+mj-ea"/>
                  <a:cs typeface="思源黑体 CN Normal" panose="020B0400000000000000" pitchFamily="34" charset="-122"/>
                </a:rPr>
                <a:t>政策强控转型</a:t>
              </a:r>
              <a:endParaRPr kumimoji="0" lang="zh-CN" altLang="en-US" sz="2000" b="0" i="0" u="none" strike="noStrike" kern="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grpSp>
      <p:grpSp>
        <p:nvGrpSpPr>
          <p:cNvPr id="165" name="组合 164"/>
          <p:cNvGrpSpPr/>
          <p:nvPr/>
        </p:nvGrpSpPr>
        <p:grpSpPr>
          <a:xfrm>
            <a:off x="662482" y="796378"/>
            <a:ext cx="2338336" cy="2368107"/>
            <a:chOff x="862174" y="796378"/>
            <a:chExt cx="2133551" cy="2368107"/>
          </a:xfrm>
        </p:grpSpPr>
        <p:sp>
          <p:nvSpPr>
            <p:cNvPr id="61" name="箭头: 五边形 60"/>
            <p:cNvSpPr/>
            <p:nvPr/>
          </p:nvSpPr>
          <p:spPr>
            <a:xfrm rot="16200000">
              <a:off x="752378" y="906175"/>
              <a:ext cx="2353144" cy="2133550"/>
            </a:xfrm>
            <a:prstGeom prst="homePlate">
              <a:avLst>
                <a:gd name="adj" fmla="val 31619"/>
              </a:avLst>
            </a:prstGeom>
            <a:solidFill>
              <a:schemeClr val="accent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5" name="箭头: 五边形 64"/>
            <p:cNvSpPr/>
            <p:nvPr/>
          </p:nvSpPr>
          <p:spPr>
            <a:xfrm rot="16200000">
              <a:off x="776488" y="945249"/>
              <a:ext cx="2304922" cy="2133550"/>
            </a:xfrm>
            <a:prstGeom prst="homePlate">
              <a:avLst>
                <a:gd name="adj" fmla="val 279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80" name="文本框 79"/>
          <p:cNvSpPr txBox="1"/>
          <p:nvPr/>
        </p:nvSpPr>
        <p:spPr>
          <a:xfrm>
            <a:off x="751650" y="1724698"/>
            <a:ext cx="2160000" cy="968022"/>
          </a:xfrm>
          <a:prstGeom prst="rect">
            <a:avLst/>
          </a:prstGeom>
          <a:noFill/>
        </p:spPr>
        <p:txBody>
          <a:bodyPr wrap="square">
            <a:spAutoFit/>
          </a:bodyPr>
          <a:lstStyle>
            <a:defPPr>
              <a:defRPr lang="zh-CN"/>
            </a:defPPr>
            <a:lvl1pPr marR="0" lvl="0" indent="0" algn="just" fontAlgn="auto">
              <a:lnSpc>
                <a:spcPct val="150000"/>
              </a:lnSpc>
              <a:spcBef>
                <a:spcPts val="0"/>
              </a:spcBef>
              <a:spcAft>
                <a:spcPts val="0"/>
              </a:spcAft>
              <a:buClrTx/>
              <a:buSzTx/>
              <a:buFontTx/>
              <a:buNone/>
              <a:defRPr kumimoji="0" sz="1400" b="0" i="0" u="none" strike="noStrike"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mn-ea"/>
                <a:ea typeface="+mn-ea"/>
              </a:rPr>
              <a:t>国家“双碳”目标推动新能源购车补贴延续至</a:t>
            </a:r>
            <a:r>
              <a:rPr kumimoji="0" lang="en-US" altLang="zh-CN" sz="1200" b="0" i="0" u="none" strike="noStrike" kern="1200" cap="none" spc="0" normalizeH="0" baseline="0" noProof="0" dirty="0">
                <a:ln>
                  <a:noFill/>
                </a:ln>
                <a:solidFill>
                  <a:prstClr val="black"/>
                </a:solidFill>
                <a:effectLst/>
                <a:uLnTx/>
                <a:uFillTx/>
                <a:latin typeface="+mn-ea"/>
                <a:ea typeface="+mn-ea"/>
              </a:rPr>
              <a:t>2025</a:t>
            </a:r>
            <a:r>
              <a:rPr kumimoji="0" lang="zh-CN" altLang="en-US" sz="1200" b="0" i="0" u="none" strike="noStrike" kern="1200" cap="none" spc="0" normalizeH="0" baseline="0" noProof="0" dirty="0">
                <a:ln>
                  <a:noFill/>
                </a:ln>
                <a:solidFill>
                  <a:prstClr val="black"/>
                </a:solidFill>
                <a:effectLst/>
                <a:uLnTx/>
                <a:uFillTx/>
                <a:latin typeface="+mn-ea"/>
                <a:ea typeface="+mn-ea"/>
              </a:rPr>
              <a:t>年，但地方保护主义抬头，部分城市限制非本地车企准入</a:t>
            </a:r>
            <a:endParaRPr kumimoji="0" lang="zh-CN" altLang="en-US" sz="1200" b="0" i="0" u="none" strike="noStrike" kern="1200" cap="none" spc="0" normalizeH="0" baseline="0" noProof="0" dirty="0">
              <a:ln>
                <a:noFill/>
              </a:ln>
              <a:solidFill>
                <a:prstClr val="black"/>
              </a:solidFill>
              <a:effectLst/>
              <a:uLnTx/>
              <a:uFillTx/>
              <a:latin typeface="+mn-ea"/>
              <a:ea typeface="+mn-ea"/>
            </a:endParaRPr>
          </a:p>
        </p:txBody>
      </p:sp>
      <p:grpSp>
        <p:nvGrpSpPr>
          <p:cNvPr id="182" name="组合 181"/>
          <p:cNvGrpSpPr/>
          <p:nvPr/>
        </p:nvGrpSpPr>
        <p:grpSpPr>
          <a:xfrm>
            <a:off x="336818" y="2896970"/>
            <a:ext cx="2664000" cy="540000"/>
            <a:chOff x="336818" y="2899160"/>
            <a:chExt cx="2658907" cy="540000"/>
          </a:xfrm>
        </p:grpSpPr>
        <p:sp>
          <p:nvSpPr>
            <p:cNvPr id="66" name="矩形: 圆顶角 65"/>
            <p:cNvSpPr/>
            <p:nvPr/>
          </p:nvSpPr>
          <p:spPr>
            <a:xfrm>
              <a:off x="336818" y="2899160"/>
              <a:ext cx="2232000" cy="540000"/>
            </a:xfrm>
            <a:prstGeom prst="round2SameRect">
              <a:avLst>
                <a:gd name="adj1" fmla="val 26923"/>
                <a:gd name="adj2" fmla="val 0"/>
              </a:avLst>
            </a:prstGeom>
            <a:gradFill flip="none" rotWithShape="1">
              <a:gsLst>
                <a:gs pos="0">
                  <a:schemeClr val="accent3">
                    <a:lumMod val="75000"/>
                  </a:schemeClr>
                </a:gs>
                <a:gs pos="56000">
                  <a:schemeClr val="accent1"/>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P</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OLITICAL</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7" name="直角三角形 66"/>
            <p:cNvSpPr/>
            <p:nvPr/>
          </p:nvSpPr>
          <p:spPr>
            <a:xfrm flipV="1">
              <a:off x="2563725" y="3174645"/>
              <a:ext cx="432000" cy="264515"/>
            </a:xfrm>
            <a:prstGeom prst="rtTriangle">
              <a:avLst/>
            </a:prstGeom>
            <a:gradFill>
              <a:gsLst>
                <a:gs pos="0">
                  <a:schemeClr val="accent3"/>
                </a:gs>
                <a:gs pos="66000">
                  <a:schemeClr val="accent1"/>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74" name="文本框 173"/>
          <p:cNvSpPr txBox="1"/>
          <p:nvPr/>
        </p:nvSpPr>
        <p:spPr>
          <a:xfrm>
            <a:off x="1165650" y="1265276"/>
            <a:ext cx="1332000" cy="324000"/>
          </a:xfrm>
          <a:prstGeom prst="rect">
            <a:avLst/>
          </a:prstGeom>
          <a:gradFill>
            <a:gsLst>
              <a:gs pos="50000">
                <a:schemeClr val="accent1">
                  <a:alpha val="23000"/>
                </a:schemeClr>
              </a:gs>
              <a:gs pos="0">
                <a:schemeClr val="accent1">
                  <a:alpha val="0"/>
                </a:schemeClr>
              </a:gs>
              <a:gs pos="100000">
                <a:schemeClr val="accent1">
                  <a:alpha val="0"/>
                </a:schemeClr>
              </a:gs>
            </a:gsLst>
            <a:lin ang="0" scaled="0"/>
          </a:gradFill>
          <a:ln w="3175">
            <a:gradFill>
              <a:gsLst>
                <a:gs pos="0">
                  <a:schemeClr val="accent1">
                    <a:alpha val="0"/>
                  </a:schemeClr>
                </a:gs>
                <a:gs pos="50000">
                  <a:schemeClr val="accent1"/>
                </a:gs>
                <a:gs pos="100000">
                  <a:schemeClr val="accent1">
                    <a:alpha val="0"/>
                  </a:schemeClr>
                </a:gs>
              </a:gsLst>
              <a:lin ang="0" scaled="0"/>
            </a:gradFill>
          </a:ln>
        </p:spPr>
        <p:txBody>
          <a:bodyPr wrap="square" lIns="0" tIns="0" rIns="0" bIns="0" anchor="ctr">
            <a:noAutofit/>
          </a:bodyPr>
          <a:lstStyle/>
          <a:p>
            <a:pPr algn="ctr"/>
            <a:r>
              <a:rPr lang="zh-CN" altLang="en-US"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政策强</a:t>
            </a:r>
            <a:endParaRPr lang="zh-CN" altLang="en-US"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66" name="组合 165"/>
          <p:cNvGrpSpPr/>
          <p:nvPr/>
        </p:nvGrpSpPr>
        <p:grpSpPr>
          <a:xfrm>
            <a:off x="3607939" y="796378"/>
            <a:ext cx="2338336" cy="2368107"/>
            <a:chOff x="3865790" y="796378"/>
            <a:chExt cx="2133551" cy="2368107"/>
          </a:xfrm>
        </p:grpSpPr>
        <p:sp>
          <p:nvSpPr>
            <p:cNvPr id="104" name="箭头: 五边形 103"/>
            <p:cNvSpPr/>
            <p:nvPr/>
          </p:nvSpPr>
          <p:spPr>
            <a:xfrm rot="16200000">
              <a:off x="3755994" y="906175"/>
              <a:ext cx="2353144" cy="2133550"/>
            </a:xfrm>
            <a:prstGeom prst="homePlate">
              <a:avLst>
                <a:gd name="adj" fmla="val 31619"/>
              </a:avLst>
            </a:prstGeom>
            <a:solidFill>
              <a:schemeClr val="accent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5" name="箭头: 五边形 104"/>
            <p:cNvSpPr/>
            <p:nvPr/>
          </p:nvSpPr>
          <p:spPr>
            <a:xfrm rot="16200000">
              <a:off x="3780104" y="945249"/>
              <a:ext cx="2304922" cy="2133550"/>
            </a:xfrm>
            <a:prstGeom prst="homePlate">
              <a:avLst>
                <a:gd name="adj" fmla="val 279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08" name="文本框 107"/>
          <p:cNvSpPr txBox="1"/>
          <p:nvPr/>
        </p:nvSpPr>
        <p:spPr>
          <a:xfrm>
            <a:off x="3697107" y="1724698"/>
            <a:ext cx="2160000" cy="968022"/>
          </a:xfrm>
          <a:prstGeom prst="rect">
            <a:avLst/>
          </a:prstGeom>
          <a:noFill/>
        </p:spPr>
        <p:txBody>
          <a:bodyPr wrap="square">
            <a:spAutoFit/>
          </a:bodyPr>
          <a:lstStyle>
            <a:defPPr>
              <a:defRPr lang="zh-CN"/>
            </a:defPPr>
            <a:lvl1pPr marR="0" lvl="0" indent="0" algn="ctr" fontAlgn="auto">
              <a:lnSpc>
                <a:spcPct val="120000"/>
              </a:lnSpc>
              <a:spcBef>
                <a:spcPts val="0"/>
              </a:spcBef>
              <a:spcAft>
                <a:spcPts val="0"/>
              </a:spcAft>
              <a:buClrTx/>
              <a:buSzTx/>
              <a:buFontTx/>
              <a:buNone/>
              <a:defRPr kumimoji="0" sz="1200" b="0" i="0" u="none" strike="noStrike" cap="none" spc="0" normalizeH="0" baseline="0">
                <a:ln>
                  <a:noFill/>
                </a:ln>
                <a:solidFill>
                  <a:prstClr val="black"/>
                </a:solidFill>
                <a:effectLst/>
                <a:uLnTx/>
                <a:uFillTx/>
                <a:latin typeface="+mn-ea"/>
                <a:cs typeface="+mn-ea"/>
              </a:defRPr>
            </a:lvl1pPr>
          </a:lstStyle>
          <a:p>
            <a:r>
              <a:rPr lang="zh-CN" altLang="en-US" dirty="0"/>
              <a:t>锂矿价格年涨幅超</a:t>
            </a:r>
            <a:r>
              <a:rPr lang="en-US" altLang="zh-CN" dirty="0"/>
              <a:t>55%</a:t>
            </a:r>
            <a:r>
              <a:rPr lang="zh-CN" altLang="en-US" dirty="0"/>
              <a:t>，电池成本占比升至</a:t>
            </a:r>
            <a:r>
              <a:rPr lang="en-US" altLang="zh-CN" dirty="0"/>
              <a:t>48%</a:t>
            </a:r>
            <a:r>
              <a:rPr lang="zh-CN" altLang="en-US" dirty="0"/>
              <a:t>，压制利润空间；资本市场对造车新势力估值下调</a:t>
            </a:r>
            <a:endParaRPr lang="zh-CN" altLang="en-US" dirty="0"/>
          </a:p>
        </p:txBody>
      </p:sp>
      <p:grpSp>
        <p:nvGrpSpPr>
          <p:cNvPr id="181" name="组合 180"/>
          <p:cNvGrpSpPr/>
          <p:nvPr/>
        </p:nvGrpSpPr>
        <p:grpSpPr>
          <a:xfrm>
            <a:off x="3282275" y="2896970"/>
            <a:ext cx="2664000" cy="540000"/>
            <a:chOff x="3290134" y="2899160"/>
            <a:chExt cx="2658139" cy="540000"/>
          </a:xfrm>
        </p:grpSpPr>
        <p:sp>
          <p:nvSpPr>
            <p:cNvPr id="106" name="矩形: 圆顶角 105"/>
            <p:cNvSpPr/>
            <p:nvPr/>
          </p:nvSpPr>
          <p:spPr>
            <a:xfrm>
              <a:off x="3290134" y="2899160"/>
              <a:ext cx="2232000" cy="540000"/>
            </a:xfrm>
            <a:prstGeom prst="round2SameRect">
              <a:avLst>
                <a:gd name="adj1" fmla="val 26923"/>
                <a:gd name="adj2" fmla="val 0"/>
              </a:avLst>
            </a:prstGeom>
            <a:gradFill flip="none" rotWithShape="1">
              <a:gsLst>
                <a:gs pos="0">
                  <a:schemeClr val="accent3">
                    <a:lumMod val="75000"/>
                  </a:schemeClr>
                </a:gs>
                <a:gs pos="56000">
                  <a:schemeClr val="accent1"/>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E</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CONOMIC</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7" name="直角三角形 106"/>
            <p:cNvSpPr/>
            <p:nvPr/>
          </p:nvSpPr>
          <p:spPr>
            <a:xfrm flipV="1">
              <a:off x="5516273" y="3174645"/>
              <a:ext cx="432000" cy="264515"/>
            </a:xfrm>
            <a:prstGeom prst="rtTriangle">
              <a:avLst/>
            </a:prstGeom>
            <a:gradFill>
              <a:gsLst>
                <a:gs pos="0">
                  <a:schemeClr val="accent3"/>
                </a:gs>
                <a:gs pos="66000">
                  <a:schemeClr val="accent1"/>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75" name="文本框 174"/>
          <p:cNvSpPr txBox="1"/>
          <p:nvPr/>
        </p:nvSpPr>
        <p:spPr>
          <a:xfrm>
            <a:off x="4111107" y="1265276"/>
            <a:ext cx="1332000" cy="324000"/>
          </a:xfrm>
          <a:prstGeom prst="rect">
            <a:avLst/>
          </a:prstGeom>
          <a:gradFill>
            <a:gsLst>
              <a:gs pos="50000">
                <a:schemeClr val="accent1">
                  <a:alpha val="23000"/>
                </a:schemeClr>
              </a:gs>
              <a:gs pos="0">
                <a:schemeClr val="accent1">
                  <a:alpha val="0"/>
                </a:schemeClr>
              </a:gs>
              <a:gs pos="100000">
                <a:schemeClr val="accent1">
                  <a:alpha val="0"/>
                </a:schemeClr>
              </a:gs>
            </a:gsLst>
            <a:lin ang="0" scaled="0"/>
          </a:gradFill>
          <a:ln w="3175">
            <a:gradFill>
              <a:gsLst>
                <a:gs pos="0">
                  <a:schemeClr val="accent1">
                    <a:alpha val="0"/>
                  </a:schemeClr>
                </a:gs>
                <a:gs pos="50000">
                  <a:schemeClr val="accent1"/>
                </a:gs>
                <a:gs pos="100000">
                  <a:schemeClr val="accent1">
                    <a:alpha val="0"/>
                  </a:schemeClr>
                </a:gs>
              </a:gsLst>
              <a:lin ang="0" scaled="0"/>
            </a:gradFill>
          </a:ln>
        </p:spPr>
        <p:txBody>
          <a:bodyPr wrap="square" lIns="0" tIns="0" rIns="0" bIns="0" anchor="ctr">
            <a:noAutofit/>
          </a:bodyPr>
          <a:lstStyle/>
          <a:p>
            <a:pPr algn="ctr"/>
            <a:r>
              <a:rPr lang="zh-CN" altLang="en-US"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成本涨</a:t>
            </a:r>
            <a:endParaRPr lang="zh-CN" altLang="en-US"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67" name="组合 166"/>
          <p:cNvGrpSpPr/>
          <p:nvPr/>
        </p:nvGrpSpPr>
        <p:grpSpPr>
          <a:xfrm>
            <a:off x="6553396" y="796378"/>
            <a:ext cx="2338336" cy="2368107"/>
            <a:chOff x="6869406" y="796378"/>
            <a:chExt cx="2133551" cy="2368107"/>
          </a:xfrm>
        </p:grpSpPr>
        <p:sp>
          <p:nvSpPr>
            <p:cNvPr id="114" name="箭头: 五边形 113"/>
            <p:cNvSpPr/>
            <p:nvPr/>
          </p:nvSpPr>
          <p:spPr>
            <a:xfrm rot="16200000">
              <a:off x="6759610" y="906175"/>
              <a:ext cx="2353144" cy="2133550"/>
            </a:xfrm>
            <a:prstGeom prst="homePlate">
              <a:avLst>
                <a:gd name="adj" fmla="val 31619"/>
              </a:avLst>
            </a:prstGeom>
            <a:solidFill>
              <a:schemeClr val="accent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15" name="箭头: 五边形 114"/>
            <p:cNvSpPr/>
            <p:nvPr/>
          </p:nvSpPr>
          <p:spPr>
            <a:xfrm rot="16200000">
              <a:off x="6783720" y="945249"/>
              <a:ext cx="2304922" cy="2133550"/>
            </a:xfrm>
            <a:prstGeom prst="homePlate">
              <a:avLst>
                <a:gd name="adj" fmla="val 279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19" name="文本框 118"/>
          <p:cNvSpPr txBox="1"/>
          <p:nvPr/>
        </p:nvSpPr>
        <p:spPr>
          <a:xfrm>
            <a:off x="6642564" y="1724698"/>
            <a:ext cx="2160000" cy="968022"/>
          </a:xfrm>
          <a:prstGeom prst="rect">
            <a:avLst/>
          </a:prstGeom>
          <a:noFill/>
        </p:spPr>
        <p:txBody>
          <a:bodyPr wrap="square">
            <a:spAutoFit/>
          </a:bodyPr>
          <a:lstStyle>
            <a:defPPr>
              <a:defRPr lang="zh-CN"/>
            </a:defPPr>
            <a:lvl1pPr marR="0" lvl="0" indent="0" algn="ctr" fontAlgn="auto">
              <a:lnSpc>
                <a:spcPct val="120000"/>
              </a:lnSpc>
              <a:spcBef>
                <a:spcPts val="0"/>
              </a:spcBef>
              <a:spcAft>
                <a:spcPts val="0"/>
              </a:spcAft>
              <a:buClrTx/>
              <a:buSzTx/>
              <a:buFontTx/>
              <a:buNone/>
              <a:defRPr kumimoji="0" sz="1200" b="0" i="0" u="none" strike="noStrike" cap="none" spc="0" normalizeH="0" baseline="0">
                <a:ln>
                  <a:noFill/>
                </a:ln>
                <a:solidFill>
                  <a:prstClr val="black"/>
                </a:solidFill>
                <a:effectLst/>
                <a:uLnTx/>
                <a:uFillTx/>
                <a:latin typeface="+mn-ea"/>
                <a:cs typeface="+mn-ea"/>
              </a:defRPr>
            </a:lvl1pPr>
          </a:lstStyle>
          <a:p>
            <a:r>
              <a:rPr lang="zh-CN" altLang="en-US" dirty="0"/>
              <a:t>智能化配置权重提升至</a:t>
            </a:r>
            <a:r>
              <a:rPr lang="en-US" altLang="zh-CN" dirty="0"/>
              <a:t>35%,</a:t>
            </a:r>
            <a:r>
              <a:rPr lang="zh-CN" altLang="en-US" dirty="0"/>
              <a:t>不能焦虑抑制购买意愿</a:t>
            </a:r>
            <a:r>
              <a:rPr lang="en-US" altLang="zh-CN" dirty="0"/>
              <a:t>,2024</a:t>
            </a:r>
            <a:r>
              <a:rPr lang="zh-CN" altLang="en-US" dirty="0"/>
              <a:t>年行业</a:t>
            </a:r>
            <a:r>
              <a:rPr lang="en-US" altLang="zh-CN" dirty="0"/>
              <a:t>ESG</a:t>
            </a:r>
            <a:r>
              <a:rPr lang="zh-CN" altLang="en-US" dirty="0"/>
              <a:t>争议事件同比预计增加至</a:t>
            </a:r>
            <a:r>
              <a:rPr lang="en-US" altLang="zh-CN" dirty="0"/>
              <a:t>27%</a:t>
            </a:r>
            <a:endParaRPr lang="zh-CN" altLang="en-US" dirty="0"/>
          </a:p>
        </p:txBody>
      </p:sp>
      <p:grpSp>
        <p:nvGrpSpPr>
          <p:cNvPr id="180" name="组合 179"/>
          <p:cNvGrpSpPr/>
          <p:nvPr/>
        </p:nvGrpSpPr>
        <p:grpSpPr>
          <a:xfrm>
            <a:off x="6227735" y="2896970"/>
            <a:ext cx="2686520" cy="540000"/>
            <a:chOff x="6243450" y="2899160"/>
            <a:chExt cx="2679834" cy="540000"/>
          </a:xfrm>
        </p:grpSpPr>
        <p:sp>
          <p:nvSpPr>
            <p:cNvPr id="118" name="直角三角形 117"/>
            <p:cNvSpPr/>
            <p:nvPr/>
          </p:nvSpPr>
          <p:spPr>
            <a:xfrm flipV="1">
              <a:off x="8492359" y="3174643"/>
              <a:ext cx="430925" cy="264515"/>
            </a:xfrm>
            <a:prstGeom prst="rtTriangle">
              <a:avLst/>
            </a:prstGeom>
            <a:gradFill>
              <a:gsLst>
                <a:gs pos="0">
                  <a:schemeClr val="accent3"/>
                </a:gs>
                <a:gs pos="66000">
                  <a:schemeClr val="accent1"/>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16" name="矩形: 圆顶角 115"/>
            <p:cNvSpPr/>
            <p:nvPr/>
          </p:nvSpPr>
          <p:spPr>
            <a:xfrm>
              <a:off x="6243450" y="2899160"/>
              <a:ext cx="2248910" cy="540000"/>
            </a:xfrm>
            <a:prstGeom prst="round2SameRect">
              <a:avLst>
                <a:gd name="adj1" fmla="val 26923"/>
                <a:gd name="adj2" fmla="val 0"/>
              </a:avLst>
            </a:prstGeom>
            <a:gradFill flip="none" rotWithShape="1">
              <a:gsLst>
                <a:gs pos="0">
                  <a:schemeClr val="accent3">
                    <a:lumMod val="75000"/>
                  </a:schemeClr>
                </a:gs>
                <a:gs pos="56000">
                  <a:schemeClr val="accent1"/>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S</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OCIAL</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76" name="文本框 175"/>
          <p:cNvSpPr txBox="1"/>
          <p:nvPr/>
        </p:nvSpPr>
        <p:spPr>
          <a:xfrm>
            <a:off x="7056564" y="1265276"/>
            <a:ext cx="1332000" cy="324000"/>
          </a:xfrm>
          <a:prstGeom prst="rect">
            <a:avLst/>
          </a:prstGeom>
          <a:gradFill>
            <a:gsLst>
              <a:gs pos="50000">
                <a:schemeClr val="accent1">
                  <a:alpha val="23000"/>
                </a:schemeClr>
              </a:gs>
              <a:gs pos="0">
                <a:schemeClr val="accent1">
                  <a:alpha val="0"/>
                </a:schemeClr>
              </a:gs>
              <a:gs pos="100000">
                <a:schemeClr val="accent1">
                  <a:alpha val="0"/>
                </a:schemeClr>
              </a:gs>
            </a:gsLst>
            <a:lin ang="0" scaled="0"/>
          </a:gradFill>
          <a:ln w="3175">
            <a:gradFill>
              <a:gsLst>
                <a:gs pos="0">
                  <a:schemeClr val="accent1">
                    <a:alpha val="0"/>
                  </a:schemeClr>
                </a:gs>
                <a:gs pos="50000">
                  <a:schemeClr val="accent1"/>
                </a:gs>
                <a:gs pos="100000">
                  <a:schemeClr val="accent1">
                    <a:alpha val="0"/>
                  </a:schemeClr>
                </a:gs>
              </a:gsLst>
              <a:lin ang="0" scaled="0"/>
            </a:gradFill>
          </a:ln>
        </p:spPr>
        <p:txBody>
          <a:bodyPr wrap="square" lIns="0" tIns="0" rIns="0" bIns="0" anchor="ctr">
            <a:noAutofit/>
          </a:bodyPr>
          <a:lstStyle/>
          <a:p>
            <a:pPr algn="ctr"/>
            <a:r>
              <a:rPr lang="zh-CN" altLang="en-US"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舆情敏</a:t>
            </a:r>
            <a:endParaRPr lang="zh-CN" altLang="en-US"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68" name="组合 167"/>
          <p:cNvGrpSpPr/>
          <p:nvPr/>
        </p:nvGrpSpPr>
        <p:grpSpPr>
          <a:xfrm>
            <a:off x="9498852" y="796378"/>
            <a:ext cx="2338336" cy="2368107"/>
            <a:chOff x="9729443" y="796378"/>
            <a:chExt cx="2133551" cy="2368107"/>
          </a:xfrm>
        </p:grpSpPr>
        <p:sp>
          <p:nvSpPr>
            <p:cNvPr id="128" name="箭头: 五边形 127"/>
            <p:cNvSpPr/>
            <p:nvPr/>
          </p:nvSpPr>
          <p:spPr>
            <a:xfrm rot="16200000">
              <a:off x="9619647" y="906175"/>
              <a:ext cx="2353144" cy="2133550"/>
            </a:xfrm>
            <a:prstGeom prst="homePlate">
              <a:avLst>
                <a:gd name="adj" fmla="val 31619"/>
              </a:avLst>
            </a:prstGeom>
            <a:solidFill>
              <a:schemeClr val="accent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29" name="箭头: 五边形 128"/>
            <p:cNvSpPr/>
            <p:nvPr/>
          </p:nvSpPr>
          <p:spPr>
            <a:xfrm rot="16200000">
              <a:off x="9643757" y="945249"/>
              <a:ext cx="2304922" cy="2133550"/>
            </a:xfrm>
            <a:prstGeom prst="homePlate">
              <a:avLst>
                <a:gd name="adj" fmla="val 279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32" name="文本框 131"/>
          <p:cNvSpPr txBox="1"/>
          <p:nvPr/>
        </p:nvSpPr>
        <p:spPr>
          <a:xfrm>
            <a:off x="9588020" y="1724698"/>
            <a:ext cx="2160000" cy="968022"/>
          </a:xfrm>
          <a:prstGeom prst="rect">
            <a:avLst/>
          </a:prstGeom>
          <a:noFill/>
        </p:spPr>
        <p:txBody>
          <a:bodyPr wrap="square">
            <a:spAutoFit/>
          </a:bodyPr>
          <a:lstStyle>
            <a:defPPr>
              <a:defRPr lang="zh-CN"/>
            </a:defPPr>
            <a:lvl1pPr marR="0" lvl="0" indent="0" algn="ctr" fontAlgn="auto">
              <a:lnSpc>
                <a:spcPct val="120000"/>
              </a:lnSpc>
              <a:spcBef>
                <a:spcPts val="0"/>
              </a:spcBef>
              <a:spcAft>
                <a:spcPts val="0"/>
              </a:spcAft>
              <a:buClrTx/>
              <a:buSzTx/>
              <a:buFontTx/>
              <a:buNone/>
              <a:defRPr kumimoji="0" sz="1200" b="0" i="0" u="none" strike="noStrike" cap="none" spc="0" normalizeH="0" baseline="0">
                <a:ln>
                  <a:noFill/>
                </a:ln>
                <a:solidFill>
                  <a:prstClr val="black"/>
                </a:solidFill>
                <a:effectLst/>
                <a:uLnTx/>
                <a:uFillTx/>
                <a:latin typeface="+mn-ea"/>
                <a:cs typeface="+mn-ea"/>
              </a:defRPr>
            </a:lvl1pPr>
          </a:lstStyle>
          <a:p>
            <a:r>
              <a:rPr lang="zh-CN" altLang="en-US" dirty="0"/>
              <a:t>高阶智驾芯片算力竞争白热化，头部企业研发投入占比达营收的</a:t>
            </a:r>
            <a:r>
              <a:rPr lang="en-US" altLang="zh-CN" dirty="0"/>
              <a:t>15%</a:t>
            </a:r>
            <a:r>
              <a:rPr lang="zh-CN" altLang="en-US" dirty="0"/>
              <a:t>；合规成本上升至单车型</a:t>
            </a:r>
            <a:r>
              <a:rPr lang="en-US" altLang="zh-CN" dirty="0"/>
              <a:t>200</a:t>
            </a:r>
            <a:r>
              <a:rPr lang="zh-CN" altLang="en-US" dirty="0"/>
              <a:t>万元</a:t>
            </a:r>
            <a:endParaRPr lang="zh-CN" altLang="en-US" dirty="0"/>
          </a:p>
        </p:txBody>
      </p:sp>
      <p:grpSp>
        <p:nvGrpSpPr>
          <p:cNvPr id="179" name="组合 178"/>
          <p:cNvGrpSpPr/>
          <p:nvPr/>
        </p:nvGrpSpPr>
        <p:grpSpPr>
          <a:xfrm>
            <a:off x="9173188" y="2896970"/>
            <a:ext cx="2686520" cy="540000"/>
            <a:chOff x="9215980" y="2899160"/>
            <a:chExt cx="2659684" cy="540000"/>
          </a:xfrm>
        </p:grpSpPr>
        <p:sp>
          <p:nvSpPr>
            <p:cNvPr id="130" name="矩形: 圆顶角 129"/>
            <p:cNvSpPr/>
            <p:nvPr/>
          </p:nvSpPr>
          <p:spPr>
            <a:xfrm>
              <a:off x="9215980" y="2899160"/>
              <a:ext cx="2232000" cy="540000"/>
            </a:xfrm>
            <a:prstGeom prst="round2SameRect">
              <a:avLst>
                <a:gd name="adj1" fmla="val 26923"/>
                <a:gd name="adj2" fmla="val 0"/>
              </a:avLst>
            </a:prstGeom>
            <a:gradFill flip="none" rotWithShape="1">
              <a:gsLst>
                <a:gs pos="0">
                  <a:schemeClr val="accent3">
                    <a:lumMod val="75000"/>
                  </a:schemeClr>
                </a:gs>
                <a:gs pos="56000">
                  <a:schemeClr val="accent1"/>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T</a:t>
              </a:r>
              <a:r>
                <a:rPr kumimoji="0" lang="en-US" altLang="zh-CN"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ECHNOLOGICAL</a:t>
              </a: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1" name="直角三角形 130"/>
            <p:cNvSpPr/>
            <p:nvPr/>
          </p:nvSpPr>
          <p:spPr>
            <a:xfrm flipV="1">
              <a:off x="11447979" y="3174644"/>
              <a:ext cx="427685" cy="264515"/>
            </a:xfrm>
            <a:prstGeom prst="rtTriangle">
              <a:avLst/>
            </a:prstGeom>
            <a:gradFill>
              <a:gsLst>
                <a:gs pos="0">
                  <a:schemeClr val="accent3"/>
                </a:gs>
                <a:gs pos="66000">
                  <a:schemeClr val="accent1"/>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77" name="文本框 176"/>
          <p:cNvSpPr txBox="1"/>
          <p:nvPr/>
        </p:nvSpPr>
        <p:spPr>
          <a:xfrm>
            <a:off x="10002020" y="1265276"/>
            <a:ext cx="1332000" cy="324000"/>
          </a:xfrm>
          <a:prstGeom prst="rect">
            <a:avLst/>
          </a:prstGeom>
          <a:gradFill>
            <a:gsLst>
              <a:gs pos="50000">
                <a:schemeClr val="accent1">
                  <a:alpha val="23000"/>
                </a:schemeClr>
              </a:gs>
              <a:gs pos="0">
                <a:schemeClr val="accent1">
                  <a:alpha val="0"/>
                </a:schemeClr>
              </a:gs>
              <a:gs pos="100000">
                <a:schemeClr val="accent1">
                  <a:alpha val="0"/>
                </a:schemeClr>
              </a:gs>
            </a:gsLst>
            <a:lin ang="0" scaled="0"/>
          </a:gradFill>
          <a:ln w="3175">
            <a:gradFill>
              <a:gsLst>
                <a:gs pos="0">
                  <a:schemeClr val="accent1">
                    <a:alpha val="0"/>
                  </a:schemeClr>
                </a:gs>
                <a:gs pos="50000">
                  <a:schemeClr val="accent1"/>
                </a:gs>
                <a:gs pos="100000">
                  <a:schemeClr val="accent1">
                    <a:alpha val="0"/>
                  </a:schemeClr>
                </a:gs>
              </a:gsLst>
              <a:lin ang="0" scaled="0"/>
            </a:gradFill>
          </a:ln>
        </p:spPr>
        <p:txBody>
          <a:bodyPr wrap="square" lIns="0" tIns="0" rIns="0" bIns="0" anchor="ctr">
            <a:noAutofit/>
          </a:bodyPr>
          <a:lstStyle/>
          <a:p>
            <a:pPr algn="ctr"/>
            <a:r>
              <a:rPr lang="zh-CN" altLang="en-US"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算力争</a:t>
            </a:r>
            <a:endParaRPr lang="zh-CN" altLang="en-US"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87" name="组合 186"/>
          <p:cNvGrpSpPr/>
          <p:nvPr/>
        </p:nvGrpSpPr>
        <p:grpSpPr>
          <a:xfrm>
            <a:off x="3220285" y="5918335"/>
            <a:ext cx="2862000" cy="674753"/>
            <a:chOff x="76387" y="6089849"/>
            <a:chExt cx="2996814" cy="526076"/>
          </a:xfrm>
        </p:grpSpPr>
        <p:sp>
          <p:nvSpPr>
            <p:cNvPr id="188" name="梯形 187"/>
            <p:cNvSpPr/>
            <p:nvPr/>
          </p:nvSpPr>
          <p:spPr>
            <a:xfrm>
              <a:off x="76387" y="6089849"/>
              <a:ext cx="2996814" cy="143047"/>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89" name="矩形 188"/>
            <p:cNvSpPr/>
            <p:nvPr/>
          </p:nvSpPr>
          <p:spPr>
            <a:xfrm>
              <a:off x="76387" y="6239333"/>
              <a:ext cx="2996814" cy="376592"/>
            </a:xfrm>
            <a:prstGeom prst="rect">
              <a:avLst/>
            </a:prstGeom>
            <a:solidFill>
              <a:schemeClr val="accent1"/>
            </a:solidFill>
            <a:ln w="12700" cap="flat" cmpd="sng" algn="ctr">
              <a:solidFill>
                <a:schemeClr val="accent1"/>
              </a:solidFill>
              <a:prstDash val="solid"/>
              <a:miter lim="800000"/>
            </a:ln>
            <a:effectLst/>
          </p:spPr>
          <p:txBody>
            <a:bodyPr rtlCol="0" anchor="ctr"/>
            <a:lstStyle/>
            <a:p>
              <a:pPr algn="ctr" defTabSz="431800"/>
              <a:r>
                <a:rPr lang="zh-CN" altLang="en-US" sz="2000" kern="0" dirty="0">
                  <a:solidFill>
                    <a:prstClr val="white"/>
                  </a:solidFill>
                  <a:latin typeface="+mj-ea"/>
                  <a:ea typeface="+mj-ea"/>
                  <a:cs typeface="思源黑体 CN Normal" panose="020B0400000000000000" pitchFamily="34" charset="-122"/>
                </a:rPr>
                <a:t>成本链式冲击</a:t>
              </a:r>
              <a:endParaRPr lang="zh-CN" altLang="en-US" sz="2000" kern="0" dirty="0">
                <a:solidFill>
                  <a:prstClr val="white"/>
                </a:solidFill>
                <a:latin typeface="+mj-ea"/>
                <a:ea typeface="+mj-ea"/>
                <a:cs typeface="思源黑体 CN Normal" panose="020B0400000000000000" pitchFamily="34" charset="-122"/>
              </a:endParaRPr>
            </a:p>
          </p:txBody>
        </p:sp>
      </p:grpSp>
      <p:grpSp>
        <p:nvGrpSpPr>
          <p:cNvPr id="190" name="组合 189"/>
          <p:cNvGrpSpPr/>
          <p:nvPr/>
        </p:nvGrpSpPr>
        <p:grpSpPr>
          <a:xfrm>
            <a:off x="6104570" y="5918335"/>
            <a:ext cx="2862000" cy="674753"/>
            <a:chOff x="76387" y="6089849"/>
            <a:chExt cx="2996814" cy="526076"/>
          </a:xfrm>
        </p:grpSpPr>
        <p:sp>
          <p:nvSpPr>
            <p:cNvPr id="191" name="梯形 190"/>
            <p:cNvSpPr/>
            <p:nvPr/>
          </p:nvSpPr>
          <p:spPr>
            <a:xfrm>
              <a:off x="76387" y="6089849"/>
              <a:ext cx="2996814" cy="143047"/>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92" name="矩形 191"/>
            <p:cNvSpPr/>
            <p:nvPr/>
          </p:nvSpPr>
          <p:spPr>
            <a:xfrm>
              <a:off x="76387" y="6239333"/>
              <a:ext cx="2996814" cy="376592"/>
            </a:xfrm>
            <a:prstGeom prst="rect">
              <a:avLst/>
            </a:prstGeom>
            <a:solidFill>
              <a:schemeClr val="accent1"/>
            </a:solidFill>
            <a:ln w="12700" cap="flat" cmpd="sng" algn="ctr">
              <a:solidFill>
                <a:schemeClr val="accent1"/>
              </a:solidFill>
              <a:prstDash val="solid"/>
              <a:miter lim="800000"/>
            </a:ln>
            <a:effectLst/>
          </p:spPr>
          <p:txBody>
            <a:bodyPr rtlCol="0" anchor="ctr"/>
            <a:lstStyle/>
            <a:p>
              <a:pPr algn="ctr" defTabSz="431800"/>
              <a:r>
                <a:rPr lang="zh-CN" altLang="en-US" sz="2000" kern="0" dirty="0">
                  <a:solidFill>
                    <a:prstClr val="white"/>
                  </a:solidFill>
                  <a:latin typeface="+mj-ea"/>
                  <a:ea typeface="+mj-ea"/>
                  <a:cs typeface="思源黑体 CN Normal" panose="020B0400000000000000" pitchFamily="34" charset="-122"/>
                </a:rPr>
                <a:t>需求代际重构</a:t>
              </a:r>
              <a:endParaRPr lang="zh-CN" altLang="en-US" sz="2000" kern="0" dirty="0">
                <a:solidFill>
                  <a:prstClr val="white"/>
                </a:solidFill>
                <a:latin typeface="+mj-ea"/>
                <a:ea typeface="+mj-ea"/>
                <a:cs typeface="思源黑体 CN Normal" panose="020B0400000000000000" pitchFamily="34" charset="-122"/>
              </a:endParaRPr>
            </a:p>
          </p:txBody>
        </p:sp>
      </p:grpSp>
      <p:grpSp>
        <p:nvGrpSpPr>
          <p:cNvPr id="193" name="组合 192"/>
          <p:cNvGrpSpPr/>
          <p:nvPr/>
        </p:nvGrpSpPr>
        <p:grpSpPr>
          <a:xfrm>
            <a:off x="8988855" y="5918335"/>
            <a:ext cx="2862000" cy="674753"/>
            <a:chOff x="76387" y="6089849"/>
            <a:chExt cx="2996814" cy="526076"/>
          </a:xfrm>
        </p:grpSpPr>
        <p:sp>
          <p:nvSpPr>
            <p:cNvPr id="194" name="梯形 193"/>
            <p:cNvSpPr/>
            <p:nvPr/>
          </p:nvSpPr>
          <p:spPr>
            <a:xfrm>
              <a:off x="76387" y="6089849"/>
              <a:ext cx="2996814" cy="143047"/>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95" name="矩形 194"/>
            <p:cNvSpPr/>
            <p:nvPr/>
          </p:nvSpPr>
          <p:spPr>
            <a:xfrm>
              <a:off x="76387" y="6239333"/>
              <a:ext cx="2996814" cy="376592"/>
            </a:xfrm>
            <a:prstGeom prst="rect">
              <a:avLst/>
            </a:prstGeom>
            <a:solidFill>
              <a:schemeClr val="accent1"/>
            </a:solidFill>
            <a:ln w="12700" cap="flat" cmpd="sng" algn="ctr">
              <a:solidFill>
                <a:schemeClr val="accent1"/>
              </a:solidFill>
              <a:prstDash val="solid"/>
              <a:miter lim="800000"/>
            </a:ln>
            <a:effectLst/>
          </p:spPr>
          <p:txBody>
            <a:bodyPr rtlCol="0" anchor="ctr"/>
            <a:lstStyle/>
            <a:p>
              <a:pPr algn="ctr" defTabSz="431800"/>
              <a:r>
                <a:rPr lang="zh-CN" altLang="en-US" sz="2000" kern="0" dirty="0">
                  <a:solidFill>
                    <a:prstClr val="white"/>
                  </a:solidFill>
                  <a:latin typeface="+mj-ea"/>
                  <a:ea typeface="+mj-ea"/>
                  <a:cs typeface="思源黑体 CN Normal" panose="020B0400000000000000" pitchFamily="34" charset="-122"/>
                </a:rPr>
                <a:t>技术军备竞赛</a:t>
              </a:r>
              <a:endParaRPr lang="zh-CN" altLang="en-US" sz="2000" kern="0" dirty="0">
                <a:solidFill>
                  <a:prstClr val="white"/>
                </a:solidFill>
                <a:latin typeface="+mj-ea"/>
                <a:ea typeface="+mj-ea"/>
                <a:cs typeface="思源黑体 CN Normal" panose="020B0400000000000000" pitchFamily="34" charset="-122"/>
              </a:endParaRPr>
            </a:p>
          </p:txBody>
        </p:sp>
      </p:grpSp>
      <p:grpSp>
        <p:nvGrpSpPr>
          <p:cNvPr id="202" name="组合 201"/>
          <p:cNvGrpSpPr/>
          <p:nvPr/>
        </p:nvGrpSpPr>
        <p:grpSpPr>
          <a:xfrm>
            <a:off x="336000" y="3604003"/>
            <a:ext cx="2844000" cy="2394434"/>
            <a:chOff x="335481" y="3604003"/>
            <a:chExt cx="2862000" cy="2394434"/>
          </a:xfrm>
        </p:grpSpPr>
        <p:sp>
          <p:nvSpPr>
            <p:cNvPr id="200" name="矩形 199"/>
            <p:cNvSpPr/>
            <p:nvPr/>
          </p:nvSpPr>
          <p:spPr>
            <a:xfrm>
              <a:off x="335481" y="3604003"/>
              <a:ext cx="2862000" cy="5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1" name="矩形 200"/>
            <p:cNvSpPr/>
            <p:nvPr/>
          </p:nvSpPr>
          <p:spPr>
            <a:xfrm>
              <a:off x="335481" y="3658003"/>
              <a:ext cx="2862000" cy="2340434"/>
            </a:xfrm>
            <a:prstGeom prst="rect">
              <a:avLst/>
            </a:prstGeom>
            <a:gradFill>
              <a:gsLst>
                <a:gs pos="0">
                  <a:schemeClr val="accent1">
                    <a:lumMod val="20000"/>
                    <a:lumOff val="80000"/>
                    <a:alpha val="50000"/>
                  </a:scheme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03" name="组合 202"/>
          <p:cNvGrpSpPr/>
          <p:nvPr/>
        </p:nvGrpSpPr>
        <p:grpSpPr>
          <a:xfrm>
            <a:off x="3226285" y="3604003"/>
            <a:ext cx="2844000" cy="2394434"/>
            <a:chOff x="335481" y="3604003"/>
            <a:chExt cx="2862000" cy="2394434"/>
          </a:xfrm>
        </p:grpSpPr>
        <p:sp>
          <p:nvSpPr>
            <p:cNvPr id="204" name="矩形 203"/>
            <p:cNvSpPr/>
            <p:nvPr/>
          </p:nvSpPr>
          <p:spPr>
            <a:xfrm>
              <a:off x="335481" y="3604003"/>
              <a:ext cx="2862000" cy="5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5" name="矩形 204"/>
            <p:cNvSpPr/>
            <p:nvPr/>
          </p:nvSpPr>
          <p:spPr>
            <a:xfrm>
              <a:off x="335481" y="3658003"/>
              <a:ext cx="2862000" cy="2340434"/>
            </a:xfrm>
            <a:prstGeom prst="rect">
              <a:avLst/>
            </a:prstGeom>
            <a:gradFill>
              <a:gsLst>
                <a:gs pos="0">
                  <a:schemeClr val="accent1">
                    <a:lumMod val="20000"/>
                    <a:lumOff val="80000"/>
                    <a:alpha val="50000"/>
                  </a:scheme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06" name="组合 205"/>
          <p:cNvGrpSpPr/>
          <p:nvPr/>
        </p:nvGrpSpPr>
        <p:grpSpPr>
          <a:xfrm>
            <a:off x="6116570" y="3604003"/>
            <a:ext cx="2844000" cy="2394434"/>
            <a:chOff x="335481" y="3604003"/>
            <a:chExt cx="2862000" cy="2394434"/>
          </a:xfrm>
        </p:grpSpPr>
        <p:sp>
          <p:nvSpPr>
            <p:cNvPr id="207" name="矩形 206"/>
            <p:cNvSpPr/>
            <p:nvPr/>
          </p:nvSpPr>
          <p:spPr>
            <a:xfrm>
              <a:off x="335481" y="3604003"/>
              <a:ext cx="2862000" cy="5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8" name="矩形 207"/>
            <p:cNvSpPr/>
            <p:nvPr/>
          </p:nvSpPr>
          <p:spPr>
            <a:xfrm>
              <a:off x="335481" y="3658003"/>
              <a:ext cx="2862000" cy="2340434"/>
            </a:xfrm>
            <a:prstGeom prst="rect">
              <a:avLst/>
            </a:prstGeom>
            <a:gradFill>
              <a:gsLst>
                <a:gs pos="0">
                  <a:schemeClr val="accent1">
                    <a:lumMod val="20000"/>
                    <a:lumOff val="80000"/>
                    <a:alpha val="50000"/>
                  </a:scheme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09" name="组合 208"/>
          <p:cNvGrpSpPr/>
          <p:nvPr/>
        </p:nvGrpSpPr>
        <p:grpSpPr>
          <a:xfrm>
            <a:off x="9006855" y="3604003"/>
            <a:ext cx="2844000" cy="2394434"/>
            <a:chOff x="335481" y="3604003"/>
            <a:chExt cx="2862000" cy="2394434"/>
          </a:xfrm>
        </p:grpSpPr>
        <p:sp>
          <p:nvSpPr>
            <p:cNvPr id="210" name="矩形 209"/>
            <p:cNvSpPr/>
            <p:nvPr/>
          </p:nvSpPr>
          <p:spPr>
            <a:xfrm>
              <a:off x="335481" y="3604003"/>
              <a:ext cx="2862000" cy="5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11" name="矩形 210"/>
            <p:cNvSpPr/>
            <p:nvPr/>
          </p:nvSpPr>
          <p:spPr>
            <a:xfrm>
              <a:off x="335481" y="3658003"/>
              <a:ext cx="2862000" cy="2340434"/>
            </a:xfrm>
            <a:prstGeom prst="rect">
              <a:avLst/>
            </a:prstGeom>
            <a:gradFill>
              <a:gsLst>
                <a:gs pos="0">
                  <a:schemeClr val="accent1">
                    <a:lumMod val="20000"/>
                    <a:lumOff val="80000"/>
                    <a:alpha val="50000"/>
                  </a:scheme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217" name="文本框 216"/>
          <p:cNvSpPr txBox="1"/>
          <p:nvPr/>
        </p:nvSpPr>
        <p:spPr>
          <a:xfrm>
            <a:off x="939891" y="3911668"/>
            <a:ext cx="2017219" cy="784510"/>
          </a:xfrm>
          <a:prstGeom prst="rect">
            <a:avLst/>
          </a:prstGeom>
          <a:noFill/>
        </p:spPr>
        <p:txBody>
          <a:bodyPr wrap="square">
            <a:spAutoFit/>
          </a:bodyPr>
          <a:lstStyle/>
          <a:p>
            <a:pPr algn="ctr">
              <a:lnSpc>
                <a:spcPct val="120000"/>
              </a:lnSpc>
            </a:pPr>
            <a:r>
              <a:rPr lang="zh-CN" altLang="en-US" sz="900" dirty="0">
                <a:solidFill>
                  <a:srgbClr val="0D0D0D"/>
                </a:solidFill>
                <a:latin typeface="+mn-ea"/>
                <a:cs typeface="思源黑体 CN Normal" panose="020B0400000000000000" pitchFamily="34" charset="-122"/>
              </a:rPr>
              <a:t>下降</a:t>
            </a:r>
            <a:r>
              <a:rPr lang="en-US" altLang="zh-CN" sz="2000" dirty="0">
                <a:solidFill>
                  <a:schemeClr val="bg2"/>
                </a:solidFill>
                <a:latin typeface="+mn-ea"/>
                <a:cs typeface="思源黑体 CN Normal" panose="020B0400000000000000" pitchFamily="34" charset="-122"/>
              </a:rPr>
              <a:t>22</a:t>
            </a:r>
            <a:r>
              <a:rPr lang="en-US" altLang="zh-CN" sz="1400" dirty="0">
                <a:solidFill>
                  <a:schemeClr val="bg2"/>
                </a:solidFill>
                <a:latin typeface="+mn-ea"/>
                <a:cs typeface="思源黑体 CN Normal" panose="020B0400000000000000" pitchFamily="34" charset="-122"/>
              </a:rPr>
              <a:t>%</a:t>
            </a:r>
            <a:endParaRPr lang="en-US" altLang="zh-CN" sz="1200" dirty="0">
              <a:solidFill>
                <a:schemeClr val="bg2"/>
              </a:solidFill>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续航≥</a:t>
            </a:r>
            <a:r>
              <a:rPr lang="en-US" altLang="zh-CN" sz="900" b="0" i="0" dirty="0">
                <a:solidFill>
                  <a:srgbClr val="0D0D0D"/>
                </a:solidFill>
                <a:effectLst/>
                <a:latin typeface="+mn-ea"/>
                <a:cs typeface="思源黑体 CN Normal" panose="020B0400000000000000" pitchFamily="34" charset="-122"/>
              </a:rPr>
              <a:t>500km</a:t>
            </a:r>
            <a:r>
              <a:rPr lang="zh-CN" altLang="en-US" sz="900" b="0" i="0" dirty="0">
                <a:solidFill>
                  <a:srgbClr val="0D0D0D"/>
                </a:solidFill>
                <a:effectLst/>
                <a:latin typeface="+mn-ea"/>
                <a:cs typeface="思源黑体 CN Normal" panose="020B0400000000000000" pitchFamily="34" charset="-122"/>
              </a:rPr>
              <a:t>车型补贴</a:t>
            </a:r>
            <a:endParaRPr lang="en-US" altLang="zh-CN" sz="900" b="0" i="0" dirty="0">
              <a:solidFill>
                <a:srgbClr val="0D0D0D"/>
              </a:solidFill>
              <a:effectLst/>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a:t>
            </a:r>
            <a:r>
              <a:rPr lang="en-US" altLang="zh-CN" sz="900" b="0" i="0" dirty="0">
                <a:solidFill>
                  <a:srgbClr val="0D0D0D"/>
                </a:solidFill>
                <a:effectLst/>
                <a:latin typeface="+mn-ea"/>
                <a:cs typeface="思源黑体 CN Normal" panose="020B0400000000000000" pitchFamily="34" charset="-122"/>
              </a:rPr>
              <a:t>1.2</a:t>
            </a:r>
            <a:r>
              <a:rPr lang="zh-CN" altLang="en-US" sz="900" b="0" i="0" dirty="0">
                <a:solidFill>
                  <a:srgbClr val="0D0D0D"/>
                </a:solidFill>
                <a:effectLst/>
                <a:latin typeface="+mn-ea"/>
                <a:cs typeface="思源黑体 CN Normal" panose="020B0400000000000000" pitchFamily="34" charset="-122"/>
              </a:rPr>
              <a:t>万元→</a:t>
            </a:r>
            <a:r>
              <a:rPr lang="en-US" altLang="zh-CN" sz="900" b="0" i="0" dirty="0">
                <a:solidFill>
                  <a:srgbClr val="0D0D0D"/>
                </a:solidFill>
                <a:effectLst/>
                <a:latin typeface="+mn-ea"/>
                <a:cs typeface="思源黑体 CN Normal" panose="020B0400000000000000" pitchFamily="34" charset="-122"/>
              </a:rPr>
              <a:t>0.93</a:t>
            </a:r>
            <a:r>
              <a:rPr lang="zh-CN" altLang="en-US" sz="900" b="0" i="0" dirty="0">
                <a:solidFill>
                  <a:srgbClr val="0D0D0D"/>
                </a:solidFill>
                <a:effectLst/>
                <a:latin typeface="+mn-ea"/>
                <a:cs typeface="思源黑体 CN Normal" panose="020B0400000000000000" pitchFamily="34" charset="-122"/>
              </a:rPr>
              <a:t>万元）</a:t>
            </a:r>
            <a:endParaRPr lang="zh-CN" altLang="en-US" sz="900" dirty="0">
              <a:latin typeface="+mn-ea"/>
              <a:cs typeface="思源黑体 CN Normal" panose="020B0400000000000000" pitchFamily="34" charset="-122"/>
            </a:endParaRPr>
          </a:p>
        </p:txBody>
      </p:sp>
      <p:sp>
        <p:nvSpPr>
          <p:cNvPr id="219" name="文本框 218"/>
          <p:cNvSpPr txBox="1"/>
          <p:nvPr/>
        </p:nvSpPr>
        <p:spPr>
          <a:xfrm>
            <a:off x="974487" y="5007899"/>
            <a:ext cx="1948026" cy="785984"/>
          </a:xfrm>
          <a:prstGeom prst="rect">
            <a:avLst/>
          </a:prstGeom>
          <a:noFill/>
        </p:spPr>
        <p:txBody>
          <a:bodyPr wrap="square">
            <a:spAutoFit/>
          </a:bodyPr>
          <a:lstStyle>
            <a:defPPr>
              <a:defRPr lang="zh-CN"/>
            </a:defPPr>
            <a:lvl1pPr algn="ctr">
              <a:defRPr sz="1400">
                <a:solidFill>
                  <a:srgbClr val="0D0D0D"/>
                </a:solidFill>
                <a:latin typeface="+mn-ea"/>
              </a:defRPr>
            </a:lvl1pPr>
          </a:lstStyle>
          <a:p>
            <a:pPr>
              <a:lnSpc>
                <a:spcPct val="120000"/>
              </a:lnSpc>
            </a:pPr>
            <a:r>
              <a:rPr lang="zh-CN" altLang="en-US" sz="900" dirty="0">
                <a:cs typeface="思源黑体 CN Normal" panose="020B0400000000000000" pitchFamily="34" charset="-122"/>
              </a:rPr>
              <a:t>增加</a:t>
            </a:r>
            <a:r>
              <a:rPr lang="en-US" altLang="zh-CN" sz="2000" dirty="0">
                <a:solidFill>
                  <a:schemeClr val="bg2"/>
                </a:solidFill>
                <a:cs typeface="思源黑体 CN Normal" panose="020B0400000000000000" pitchFamily="34" charset="-122"/>
              </a:rPr>
              <a:t>12</a:t>
            </a:r>
            <a:r>
              <a:rPr lang="en-US" altLang="zh-CN" dirty="0">
                <a:solidFill>
                  <a:schemeClr val="bg2"/>
                </a:solidFill>
                <a:cs typeface="思源黑体 CN Normal" panose="020B0400000000000000" pitchFamily="34" charset="-122"/>
              </a:rPr>
              <a:t>%</a:t>
            </a:r>
            <a:endParaRPr lang="en-US" altLang="zh-CN" dirty="0">
              <a:solidFill>
                <a:schemeClr val="bg2"/>
              </a:solidFill>
              <a:cs typeface="思源黑体 CN Normal" panose="020B0400000000000000" pitchFamily="34" charset="-122"/>
            </a:endParaRPr>
          </a:p>
          <a:p>
            <a:pPr>
              <a:lnSpc>
                <a:spcPct val="120000"/>
              </a:lnSpc>
            </a:pPr>
            <a:r>
              <a:rPr lang="zh-CN" altLang="en-US" sz="900" dirty="0">
                <a:cs typeface="思源黑体 CN Normal" panose="020B0400000000000000" pitchFamily="34" charset="-122"/>
              </a:rPr>
              <a:t>单车型技术升级成本</a:t>
            </a:r>
            <a:endParaRPr lang="en-US" altLang="zh-CN" sz="900" dirty="0">
              <a:cs typeface="思源黑体 CN Normal" panose="020B0400000000000000" pitchFamily="34" charset="-122"/>
            </a:endParaRPr>
          </a:p>
          <a:p>
            <a:pPr>
              <a:lnSpc>
                <a:spcPct val="120000"/>
              </a:lnSpc>
            </a:pPr>
            <a:r>
              <a:rPr lang="zh-CN" altLang="en-US" sz="900" dirty="0">
                <a:cs typeface="思源黑体 CN Normal" panose="020B0400000000000000" pitchFamily="34" charset="-122"/>
              </a:rPr>
              <a:t>（平均约</a:t>
            </a:r>
            <a:r>
              <a:rPr lang="en-US" altLang="zh-CN" sz="900" dirty="0">
                <a:cs typeface="思源黑体 CN Normal" panose="020B0400000000000000" pitchFamily="34" charset="-122"/>
              </a:rPr>
              <a:t>800</a:t>
            </a:r>
            <a:r>
              <a:rPr lang="zh-CN" altLang="en-US" sz="900" dirty="0">
                <a:cs typeface="思源黑体 CN Normal" panose="020B0400000000000000" pitchFamily="34" charset="-122"/>
              </a:rPr>
              <a:t>万元</a:t>
            </a:r>
            <a:r>
              <a:rPr lang="en-US" altLang="zh-CN" sz="900" dirty="0">
                <a:cs typeface="思源黑体 CN Normal" panose="020B0400000000000000" pitchFamily="34" charset="-122"/>
              </a:rPr>
              <a:t>/</a:t>
            </a:r>
            <a:r>
              <a:rPr lang="zh-CN" altLang="en-US" sz="900" dirty="0">
                <a:cs typeface="思源黑体 CN Normal" panose="020B0400000000000000" pitchFamily="34" charset="-122"/>
              </a:rPr>
              <a:t>款）</a:t>
            </a:r>
            <a:endParaRPr lang="zh-CN" altLang="en-US" sz="900" dirty="0">
              <a:cs typeface="思源黑体 CN Normal" panose="020B0400000000000000" pitchFamily="34" charset="-122"/>
            </a:endParaRPr>
          </a:p>
        </p:txBody>
      </p:sp>
      <p:graphicFrame>
        <p:nvGraphicFramePr>
          <p:cNvPr id="224" name="图表 223"/>
          <p:cNvGraphicFramePr/>
          <p:nvPr/>
        </p:nvGraphicFramePr>
        <p:xfrm>
          <a:off x="3347318" y="3821994"/>
          <a:ext cx="2601934" cy="1344812"/>
        </p:xfrm>
        <a:graphic>
          <a:graphicData uri="http://schemas.openxmlformats.org/drawingml/2006/chart">
            <c:chart xmlns:c="http://schemas.openxmlformats.org/drawingml/2006/chart" xmlns:r="http://schemas.openxmlformats.org/officeDocument/2006/relationships" r:id="rId1"/>
          </a:graphicData>
        </a:graphic>
      </p:graphicFrame>
      <p:sp>
        <p:nvSpPr>
          <p:cNvPr id="226" name="文本框 225"/>
          <p:cNvSpPr txBox="1"/>
          <p:nvPr/>
        </p:nvSpPr>
        <p:spPr>
          <a:xfrm>
            <a:off x="4288285" y="3727457"/>
            <a:ext cx="720000" cy="180000"/>
          </a:xfrm>
          <a:prstGeom prst="roundRect">
            <a:avLst>
              <a:gd name="adj" fmla="val 50000"/>
            </a:avLst>
          </a:prstGeom>
          <a:solidFill>
            <a:schemeClr val="accent1"/>
          </a:solidFill>
        </p:spPr>
        <p:txBody>
          <a:bodyPr wrap="square" lIns="0" tIns="0" rIns="0" bIns="0" anchor="ctr">
            <a:noAutofit/>
          </a:bodyPr>
          <a:lstStyle/>
          <a:p>
            <a:pPr algn="ctr"/>
            <a:r>
              <a:rPr lang="zh-CN" altLang="en-US" sz="900" b="0" i="0" dirty="0">
                <a:solidFill>
                  <a:schemeClr val="bg1"/>
                </a:solidFill>
                <a:effectLst/>
                <a:latin typeface="+mj-ea"/>
                <a:ea typeface="+mj-ea"/>
                <a:cs typeface="思源黑体 CN Normal" panose="020B0400000000000000" pitchFamily="34" charset="-122"/>
              </a:rPr>
              <a:t>上游成本</a:t>
            </a:r>
            <a:endParaRPr lang="en-US" altLang="zh-CN" sz="900" b="0" i="0" dirty="0">
              <a:solidFill>
                <a:schemeClr val="bg1"/>
              </a:solidFill>
              <a:effectLst/>
              <a:latin typeface="+mj-ea"/>
              <a:ea typeface="+mj-ea"/>
              <a:cs typeface="思源黑体 CN Normal" panose="020B0400000000000000" pitchFamily="34" charset="-122"/>
            </a:endParaRPr>
          </a:p>
        </p:txBody>
      </p:sp>
      <p:sp>
        <p:nvSpPr>
          <p:cNvPr id="227" name="文本框 226"/>
          <p:cNvSpPr txBox="1"/>
          <p:nvPr/>
        </p:nvSpPr>
        <p:spPr>
          <a:xfrm>
            <a:off x="4288285" y="5238615"/>
            <a:ext cx="720000" cy="180000"/>
          </a:xfrm>
          <a:prstGeom prst="roundRect">
            <a:avLst>
              <a:gd name="adj" fmla="val 50000"/>
            </a:avLst>
          </a:prstGeom>
          <a:solidFill>
            <a:schemeClr val="accent1"/>
          </a:solidFill>
        </p:spPr>
        <p:txBody>
          <a:bodyPr wrap="square" lIns="0" tIns="0" rIns="0" bIns="0" anchor="ctr">
            <a:noAutofit/>
          </a:bodyPr>
          <a:lstStyle/>
          <a:p>
            <a:pPr algn="ctr"/>
            <a:r>
              <a:rPr lang="zh-CN" altLang="en-US" sz="900" b="0" i="0" dirty="0">
                <a:solidFill>
                  <a:schemeClr val="bg1"/>
                </a:solidFill>
                <a:effectLst/>
                <a:latin typeface="+mj-ea"/>
                <a:ea typeface="+mj-ea"/>
                <a:cs typeface="思源黑体 CN Normal" panose="020B0400000000000000" pitchFamily="34" charset="-122"/>
              </a:rPr>
              <a:t>下游需求</a:t>
            </a:r>
            <a:endParaRPr lang="en-US" altLang="zh-CN" sz="900" b="0" i="0" dirty="0">
              <a:solidFill>
                <a:schemeClr val="bg1"/>
              </a:solidFill>
              <a:effectLst/>
              <a:latin typeface="+mj-ea"/>
              <a:ea typeface="+mj-ea"/>
              <a:cs typeface="思源黑体 CN Normal" panose="020B0400000000000000" pitchFamily="34" charset="-122"/>
            </a:endParaRPr>
          </a:p>
        </p:txBody>
      </p:sp>
      <p:sp>
        <p:nvSpPr>
          <p:cNvPr id="228" name="文本框 227"/>
          <p:cNvSpPr txBox="1"/>
          <p:nvPr/>
        </p:nvSpPr>
        <p:spPr>
          <a:xfrm>
            <a:off x="3347318" y="5472615"/>
            <a:ext cx="2601934" cy="416653"/>
          </a:xfrm>
          <a:prstGeom prst="rect">
            <a:avLst/>
          </a:prstGeom>
          <a:noFill/>
        </p:spPr>
        <p:txBody>
          <a:bodyPr wrap="square">
            <a:spAutoFit/>
          </a:bodyPr>
          <a:lstStyle/>
          <a:p>
            <a:pPr algn="ctr">
              <a:lnSpc>
                <a:spcPct val="120000"/>
              </a:lnSpc>
            </a:pPr>
            <a:r>
              <a:rPr lang="zh-CN" altLang="en-US" sz="900" b="0" i="0" dirty="0">
                <a:solidFill>
                  <a:srgbClr val="0D0D0D"/>
                </a:solidFill>
                <a:effectLst/>
                <a:latin typeface="+mn-ea"/>
                <a:cs typeface="思源黑体 CN Normal" panose="020B0400000000000000" pitchFamily="34" charset="-122"/>
              </a:rPr>
              <a:t>三四线城市中低端车型销量增速从</a:t>
            </a:r>
            <a:r>
              <a:rPr lang="en-US" altLang="zh-CN" sz="900" b="0" i="0" dirty="0">
                <a:solidFill>
                  <a:srgbClr val="0D0D0D"/>
                </a:solidFill>
                <a:effectLst/>
                <a:latin typeface="+mn-ea"/>
                <a:cs typeface="思源黑体 CN Normal" panose="020B0400000000000000" pitchFamily="34" charset="-122"/>
              </a:rPr>
              <a:t>24</a:t>
            </a:r>
            <a:r>
              <a:rPr lang="zh-CN" altLang="en-US" sz="900" b="0" i="0" dirty="0">
                <a:solidFill>
                  <a:srgbClr val="0D0D0D"/>
                </a:solidFill>
                <a:effectLst/>
                <a:latin typeface="+mn-ea"/>
                <a:cs typeface="思源黑体 CN Normal" panose="020B0400000000000000" pitchFamily="34" charset="-122"/>
              </a:rPr>
              <a:t>年的</a:t>
            </a:r>
            <a:r>
              <a:rPr lang="en-US" altLang="zh-CN" sz="900" b="0" i="0" dirty="0">
                <a:solidFill>
                  <a:srgbClr val="0D0D0D"/>
                </a:solidFill>
                <a:effectLst/>
                <a:latin typeface="+mn-ea"/>
                <a:cs typeface="思源黑体 CN Normal" panose="020B0400000000000000" pitchFamily="34" charset="-122"/>
              </a:rPr>
              <a:t>22%</a:t>
            </a:r>
            <a:r>
              <a:rPr lang="zh-CN" altLang="en-US" sz="900" b="0" i="0" dirty="0">
                <a:solidFill>
                  <a:srgbClr val="0D0D0D"/>
                </a:solidFill>
                <a:effectLst/>
                <a:latin typeface="+mn-ea"/>
                <a:cs typeface="思源黑体 CN Normal" panose="020B0400000000000000" pitchFamily="34" charset="-122"/>
              </a:rPr>
              <a:t>降至</a:t>
            </a:r>
            <a:r>
              <a:rPr lang="en-US" altLang="zh-CN" sz="900" b="0" i="0" dirty="0">
                <a:solidFill>
                  <a:srgbClr val="0D0D0D"/>
                </a:solidFill>
                <a:effectLst/>
                <a:latin typeface="+mn-ea"/>
                <a:cs typeface="思源黑体 CN Normal" panose="020B0400000000000000" pitchFamily="34" charset="-122"/>
              </a:rPr>
              <a:t>25</a:t>
            </a:r>
            <a:r>
              <a:rPr lang="zh-CN" altLang="en-US" sz="900" b="0" i="0" dirty="0">
                <a:solidFill>
                  <a:srgbClr val="0D0D0D"/>
                </a:solidFill>
                <a:effectLst/>
                <a:latin typeface="+mn-ea"/>
                <a:cs typeface="思源黑体 CN Normal" panose="020B0400000000000000" pitchFamily="34" charset="-122"/>
              </a:rPr>
              <a:t>年的</a:t>
            </a:r>
            <a:r>
              <a:rPr lang="en-US" altLang="zh-CN" sz="900" b="0" i="0" dirty="0">
                <a:solidFill>
                  <a:srgbClr val="0D0D0D"/>
                </a:solidFill>
                <a:effectLst/>
                <a:latin typeface="+mn-ea"/>
                <a:cs typeface="思源黑体 CN Normal" panose="020B0400000000000000" pitchFamily="34" charset="-122"/>
              </a:rPr>
              <a:t>8%</a:t>
            </a:r>
            <a:r>
              <a:rPr lang="zh-CN" altLang="en-US" sz="900" dirty="0">
                <a:solidFill>
                  <a:srgbClr val="0D0D0D"/>
                </a:solidFill>
                <a:latin typeface="+mn-ea"/>
                <a:cs typeface="思源黑体 CN Normal" panose="020B0400000000000000" pitchFamily="34" charset="-122"/>
              </a:rPr>
              <a:t>，</a:t>
            </a:r>
            <a:r>
              <a:rPr lang="zh-CN" altLang="en-US" sz="900" b="0" i="0" dirty="0">
                <a:solidFill>
                  <a:srgbClr val="0D0D0D"/>
                </a:solidFill>
                <a:effectLst/>
                <a:latin typeface="+mn-ea"/>
                <a:cs typeface="思源黑体 CN Normal" panose="020B0400000000000000" pitchFamily="34" charset="-122"/>
              </a:rPr>
              <a:t>一线城市高端车型增速达</a:t>
            </a:r>
            <a:r>
              <a:rPr lang="en-US" altLang="zh-CN" sz="900" b="0" i="0" dirty="0">
                <a:solidFill>
                  <a:srgbClr val="0D0D0D"/>
                </a:solidFill>
                <a:effectLst/>
                <a:latin typeface="+mn-ea"/>
                <a:cs typeface="思源黑体 CN Normal" panose="020B0400000000000000" pitchFamily="34" charset="-122"/>
              </a:rPr>
              <a:t>34%</a:t>
            </a:r>
            <a:endParaRPr lang="en-US" altLang="zh-CN" sz="900" b="0" i="0" dirty="0">
              <a:solidFill>
                <a:srgbClr val="0D0D0D"/>
              </a:solidFill>
              <a:effectLst/>
              <a:latin typeface="+mn-ea"/>
              <a:cs typeface="思源黑体 CN Normal" panose="020B0400000000000000" pitchFamily="34" charset="-122"/>
            </a:endParaRPr>
          </a:p>
        </p:txBody>
      </p:sp>
      <p:sp>
        <p:nvSpPr>
          <p:cNvPr id="237" name="任意多边形: 形状 236"/>
          <p:cNvSpPr/>
          <p:nvPr/>
        </p:nvSpPr>
        <p:spPr>
          <a:xfrm flipV="1">
            <a:off x="2351916" y="3907457"/>
            <a:ext cx="250534" cy="359190"/>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gradFill>
            <a:gsLst>
              <a:gs pos="35000">
                <a:schemeClr val="accent2">
                  <a:lumMod val="75000"/>
                </a:schemeClr>
              </a:gs>
              <a:gs pos="100000">
                <a:schemeClr val="accent2"/>
              </a:gs>
            </a:gsLst>
            <a:lin ang="5400000" scaled="0"/>
          </a:gradFill>
          <a:ln w="6350">
            <a:solidFill>
              <a:schemeClr val="bg1"/>
            </a:solidFill>
          </a:ln>
          <a:effectLst>
            <a:outerShdw blurRad="63500" sx="102000" sy="102000" algn="ctr"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238" name="任意多边形: 形状 237"/>
          <p:cNvSpPr/>
          <p:nvPr/>
        </p:nvSpPr>
        <p:spPr>
          <a:xfrm>
            <a:off x="2350551" y="5044315"/>
            <a:ext cx="250534" cy="359190"/>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gradFill>
            <a:gsLst>
              <a:gs pos="35000">
                <a:schemeClr val="accent2">
                  <a:lumMod val="75000"/>
                </a:schemeClr>
              </a:gs>
              <a:gs pos="100000">
                <a:schemeClr val="accent2"/>
              </a:gs>
            </a:gsLst>
            <a:lin ang="5400000" scaled="0"/>
          </a:gradFill>
          <a:ln w="6350">
            <a:solidFill>
              <a:schemeClr val="bg1"/>
            </a:solidFill>
          </a:ln>
          <a:effectLst>
            <a:outerShdw blurRad="63500" sx="102000" sy="102000" algn="ctr"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239" name="矩形: 圆角 238"/>
          <p:cNvSpPr/>
          <p:nvPr/>
        </p:nvSpPr>
        <p:spPr>
          <a:xfrm>
            <a:off x="458690" y="3817456"/>
            <a:ext cx="2598620" cy="100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0" name="矩形: 圆角 239"/>
          <p:cNvSpPr/>
          <p:nvPr/>
        </p:nvSpPr>
        <p:spPr>
          <a:xfrm>
            <a:off x="458690" y="4943062"/>
            <a:ext cx="2598620" cy="100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32" name="文本框 231"/>
          <p:cNvSpPr txBox="1"/>
          <p:nvPr/>
        </p:nvSpPr>
        <p:spPr>
          <a:xfrm>
            <a:off x="6824132" y="3831564"/>
            <a:ext cx="1902437" cy="619785"/>
          </a:xfrm>
          <a:prstGeom prst="rect">
            <a:avLst/>
          </a:prstGeom>
          <a:noFill/>
        </p:spPr>
        <p:txBody>
          <a:bodyPr wrap="square">
            <a:spAutoFit/>
          </a:bodyPr>
          <a:lstStyle/>
          <a:p>
            <a:pPr algn="ctr">
              <a:lnSpc>
                <a:spcPct val="120000"/>
              </a:lnSpc>
            </a:pPr>
            <a:r>
              <a:rPr lang="en-US" altLang="zh-CN" sz="2000" dirty="0">
                <a:solidFill>
                  <a:schemeClr val="bg2"/>
                </a:solidFill>
                <a:latin typeface="+mn-ea"/>
                <a:cs typeface="思源黑体 CN Normal" panose="020B0400000000000000" pitchFamily="34" charset="-122"/>
              </a:rPr>
              <a:t>29</a:t>
            </a:r>
            <a:r>
              <a:rPr lang="en-US" altLang="zh-CN" sz="1400" dirty="0">
                <a:solidFill>
                  <a:schemeClr val="bg2"/>
                </a:solidFill>
                <a:latin typeface="+mn-ea"/>
                <a:cs typeface="思源黑体 CN Normal" panose="020B0400000000000000" pitchFamily="34" charset="-122"/>
              </a:rPr>
              <a:t>%</a:t>
            </a:r>
            <a:endParaRPr lang="en-US" altLang="zh-CN" sz="1400" dirty="0">
              <a:solidFill>
                <a:schemeClr val="bg2"/>
              </a:solidFill>
              <a:latin typeface="+mn-ea"/>
              <a:cs typeface="思源黑体 CN Normal" panose="020B0400000000000000" pitchFamily="34" charset="-122"/>
            </a:endParaRPr>
          </a:p>
          <a:p>
            <a:pPr algn="ctr">
              <a:lnSpc>
                <a:spcPct val="120000"/>
              </a:lnSpc>
            </a:pPr>
            <a:r>
              <a:rPr lang="zh-CN" altLang="en-US" sz="900" dirty="0">
                <a:solidFill>
                  <a:srgbClr val="0D0D0D"/>
                </a:solidFill>
                <a:latin typeface="+mn-ea"/>
                <a:cs typeface="思源黑体 CN Normal" panose="020B0400000000000000" pitchFamily="34" charset="-122"/>
              </a:rPr>
              <a:t>全国公共充电桩覆盖率</a:t>
            </a:r>
            <a:endParaRPr lang="zh-CN" altLang="en-US" sz="900" dirty="0">
              <a:solidFill>
                <a:srgbClr val="0D0D0D"/>
              </a:solidFill>
              <a:latin typeface="+mn-ea"/>
              <a:cs typeface="思源黑体 CN Normal" panose="020B0400000000000000" pitchFamily="34" charset="-122"/>
            </a:endParaRPr>
          </a:p>
        </p:txBody>
      </p:sp>
      <p:sp>
        <p:nvSpPr>
          <p:cNvPr id="233" name="文本框 232"/>
          <p:cNvSpPr txBox="1"/>
          <p:nvPr/>
        </p:nvSpPr>
        <p:spPr>
          <a:xfrm>
            <a:off x="6824132" y="4587807"/>
            <a:ext cx="1902437" cy="619785"/>
          </a:xfrm>
          <a:prstGeom prst="rect">
            <a:avLst/>
          </a:prstGeom>
          <a:noFill/>
        </p:spPr>
        <p:txBody>
          <a:bodyPr wrap="square">
            <a:spAutoFit/>
          </a:bodyPr>
          <a:lstStyle/>
          <a:p>
            <a:pPr algn="ctr">
              <a:lnSpc>
                <a:spcPct val="120000"/>
              </a:lnSpc>
            </a:pPr>
            <a:r>
              <a:rPr lang="zh-CN" altLang="en-US" sz="1400" b="1" dirty="0">
                <a:solidFill>
                  <a:schemeClr val="bg2"/>
                </a:solidFill>
                <a:latin typeface="+mn-ea"/>
                <a:cs typeface="思源黑体 CN Normal" panose="020B0400000000000000" pitchFamily="34" charset="-122"/>
              </a:rPr>
              <a:t>≤</a:t>
            </a:r>
            <a:r>
              <a:rPr lang="en-US" altLang="zh-CN" sz="2000" dirty="0">
                <a:solidFill>
                  <a:schemeClr val="bg2"/>
                </a:solidFill>
                <a:latin typeface="+mn-ea"/>
                <a:cs typeface="思源黑体 CN Normal" panose="020B0400000000000000" pitchFamily="34" charset="-122"/>
              </a:rPr>
              <a:t>15</a:t>
            </a:r>
            <a:r>
              <a:rPr lang="en-US" altLang="zh-CN" sz="1400" dirty="0">
                <a:solidFill>
                  <a:schemeClr val="bg2"/>
                </a:solidFill>
                <a:latin typeface="+mn-ea"/>
                <a:cs typeface="思源黑体 CN Normal" panose="020B0400000000000000" pitchFamily="34" charset="-122"/>
              </a:rPr>
              <a:t>%</a:t>
            </a:r>
            <a:endParaRPr lang="en-US" altLang="zh-CN" sz="1400" dirty="0">
              <a:solidFill>
                <a:schemeClr val="bg2"/>
              </a:solidFill>
              <a:latin typeface="+mn-ea"/>
              <a:cs typeface="思源黑体 CN Normal" panose="020B0400000000000000" pitchFamily="34" charset="-122"/>
            </a:endParaRPr>
          </a:p>
          <a:p>
            <a:pPr algn="ctr">
              <a:lnSpc>
                <a:spcPct val="120000"/>
              </a:lnSpc>
            </a:pPr>
            <a:r>
              <a:rPr lang="zh-CN" altLang="en-US" sz="900" dirty="0">
                <a:solidFill>
                  <a:srgbClr val="0D0D0D"/>
                </a:solidFill>
                <a:latin typeface="+mn-ea"/>
                <a:cs typeface="思源黑体 CN Normal" panose="020B0400000000000000" pitchFamily="34" charset="-122"/>
              </a:rPr>
              <a:t>三四线城市覆盖率</a:t>
            </a:r>
            <a:endParaRPr lang="zh-CN" altLang="en-US" sz="900" dirty="0">
              <a:solidFill>
                <a:srgbClr val="0D0D0D"/>
              </a:solidFill>
              <a:latin typeface="+mn-ea"/>
              <a:cs typeface="思源黑体 CN Normal" panose="020B0400000000000000" pitchFamily="34" charset="-122"/>
            </a:endParaRPr>
          </a:p>
        </p:txBody>
      </p:sp>
      <p:sp>
        <p:nvSpPr>
          <p:cNvPr id="234" name="文本框 233"/>
          <p:cNvSpPr txBox="1"/>
          <p:nvPr/>
        </p:nvSpPr>
        <p:spPr>
          <a:xfrm>
            <a:off x="6824132" y="5344050"/>
            <a:ext cx="1902437" cy="619785"/>
          </a:xfrm>
          <a:prstGeom prst="rect">
            <a:avLst/>
          </a:prstGeom>
          <a:noFill/>
        </p:spPr>
        <p:txBody>
          <a:bodyPr wrap="square">
            <a:spAutoFit/>
          </a:bodyPr>
          <a:lstStyle/>
          <a:p>
            <a:pPr algn="ctr">
              <a:lnSpc>
                <a:spcPct val="120000"/>
              </a:lnSpc>
            </a:pPr>
            <a:r>
              <a:rPr lang="en-US" altLang="zh-CN" sz="2000" dirty="0">
                <a:solidFill>
                  <a:schemeClr val="bg2"/>
                </a:solidFill>
                <a:latin typeface="+mn-ea"/>
                <a:cs typeface="思源黑体 CN Normal" panose="020B0400000000000000" pitchFamily="34" charset="-122"/>
              </a:rPr>
              <a:t>20</a:t>
            </a:r>
            <a:r>
              <a:rPr lang="en-US" altLang="zh-CN" sz="1400" dirty="0">
                <a:solidFill>
                  <a:schemeClr val="bg2"/>
                </a:solidFill>
                <a:latin typeface="+mn-ea"/>
                <a:cs typeface="思源黑体 CN Normal" panose="020B0400000000000000" pitchFamily="34" charset="-122"/>
              </a:rPr>
              <a:t>%</a:t>
            </a:r>
            <a:r>
              <a:rPr lang="zh-CN" altLang="en-US" sz="900" dirty="0">
                <a:solidFill>
                  <a:srgbClr val="0D0D0D"/>
                </a:solidFill>
                <a:latin typeface="+mn-ea"/>
                <a:cs typeface="思源黑体 CN Normal" panose="020B0400000000000000" pitchFamily="34" charset="-122"/>
              </a:rPr>
              <a:t>潜在用户</a:t>
            </a:r>
            <a:endParaRPr lang="en-US" altLang="zh-CN" sz="900" dirty="0">
              <a:solidFill>
                <a:srgbClr val="0D0D0D"/>
              </a:solidFill>
              <a:latin typeface="+mn-ea"/>
              <a:cs typeface="思源黑体 CN Normal" panose="020B0400000000000000" pitchFamily="34" charset="-122"/>
            </a:endParaRPr>
          </a:p>
          <a:p>
            <a:pPr algn="ctr">
              <a:lnSpc>
                <a:spcPct val="120000"/>
              </a:lnSpc>
            </a:pPr>
            <a:r>
              <a:rPr lang="zh-CN" altLang="en-US" sz="900" dirty="0">
                <a:solidFill>
                  <a:srgbClr val="0D0D0D"/>
                </a:solidFill>
                <a:latin typeface="+mn-ea"/>
                <a:cs typeface="思源黑体 CN Normal" panose="020B0400000000000000" pitchFamily="34" charset="-122"/>
              </a:rPr>
              <a:t>因补能焦虑放弃购买</a:t>
            </a:r>
            <a:endParaRPr lang="zh-CN" altLang="en-US" sz="900" dirty="0">
              <a:solidFill>
                <a:srgbClr val="0D0D0D"/>
              </a:solidFill>
              <a:latin typeface="+mn-ea"/>
              <a:cs typeface="思源黑体 CN Normal" panose="020B0400000000000000" pitchFamily="34" charset="-122"/>
            </a:endParaRPr>
          </a:p>
        </p:txBody>
      </p:sp>
      <p:sp>
        <p:nvSpPr>
          <p:cNvPr id="241" name="矩形: 圆角 240"/>
          <p:cNvSpPr/>
          <p:nvPr/>
        </p:nvSpPr>
        <p:spPr>
          <a:xfrm>
            <a:off x="6239260" y="3817456"/>
            <a:ext cx="2598620" cy="64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2" name="矩形: 圆角 241"/>
          <p:cNvSpPr/>
          <p:nvPr/>
        </p:nvSpPr>
        <p:spPr>
          <a:xfrm>
            <a:off x="6239260" y="4573699"/>
            <a:ext cx="2598620" cy="64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3" name="矩形: 圆角 242"/>
          <p:cNvSpPr/>
          <p:nvPr/>
        </p:nvSpPr>
        <p:spPr>
          <a:xfrm>
            <a:off x="6239260" y="5329942"/>
            <a:ext cx="2598620" cy="64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6" name="文本框 245"/>
          <p:cNvSpPr txBox="1"/>
          <p:nvPr/>
        </p:nvSpPr>
        <p:spPr>
          <a:xfrm>
            <a:off x="10040250" y="4085398"/>
            <a:ext cx="1693060" cy="582852"/>
          </a:xfrm>
          <a:prstGeom prst="rect">
            <a:avLst/>
          </a:prstGeom>
          <a:noFill/>
        </p:spPr>
        <p:txBody>
          <a:bodyPr wrap="square">
            <a:spAutoFit/>
          </a:bodyPr>
          <a:lstStyle/>
          <a:p>
            <a:pPr>
              <a:lnSpc>
                <a:spcPct val="120000"/>
              </a:lnSpc>
            </a:pPr>
            <a:r>
              <a:rPr lang="zh-CN" altLang="en-US" sz="900" b="0" i="0" dirty="0">
                <a:solidFill>
                  <a:srgbClr val="0D0D0D"/>
                </a:solidFill>
                <a:effectLst/>
                <a:latin typeface="+mn-ea"/>
                <a:cs typeface="思源黑体 CN Normal" panose="020B0400000000000000" pitchFamily="34" charset="-122"/>
              </a:rPr>
              <a:t>高阶智驾芯片算力投入达</a:t>
            </a:r>
            <a:r>
              <a:rPr lang="en-US" altLang="zh-CN" sz="900" b="0" i="0" dirty="0">
                <a:solidFill>
                  <a:srgbClr val="0D0D0D"/>
                </a:solidFill>
                <a:effectLst/>
                <a:latin typeface="+mn-ea"/>
                <a:cs typeface="思源黑体 CN Normal" panose="020B0400000000000000" pitchFamily="34" charset="-122"/>
              </a:rPr>
              <a:t>15%</a:t>
            </a:r>
            <a:endParaRPr lang="en-US" altLang="zh-CN" sz="900" b="0" i="0" dirty="0">
              <a:solidFill>
                <a:srgbClr val="0D0D0D"/>
              </a:solidFill>
              <a:effectLst/>
              <a:latin typeface="+mn-ea"/>
              <a:cs typeface="思源黑体 CN Normal" panose="020B0400000000000000" pitchFamily="34" charset="-122"/>
            </a:endParaRPr>
          </a:p>
          <a:p>
            <a:pPr>
              <a:lnSpc>
                <a:spcPct val="120000"/>
              </a:lnSpc>
            </a:pPr>
            <a:r>
              <a:rPr lang="zh-CN" altLang="en-US" sz="900" b="0" i="0" dirty="0">
                <a:solidFill>
                  <a:srgbClr val="0D0D0D"/>
                </a:solidFill>
                <a:effectLst/>
                <a:latin typeface="+mn-ea"/>
                <a:cs typeface="思源黑体 CN Normal" panose="020B0400000000000000" pitchFamily="34" charset="-122"/>
              </a:rPr>
              <a:t>营收约</a:t>
            </a:r>
            <a:r>
              <a:rPr lang="en-US" altLang="zh-CN" sz="900" b="0" i="0" dirty="0">
                <a:solidFill>
                  <a:srgbClr val="0D0D0D"/>
                </a:solidFill>
                <a:effectLst/>
                <a:latin typeface="+mn-ea"/>
                <a:cs typeface="思源黑体 CN Normal" panose="020B0400000000000000" pitchFamily="34" charset="-122"/>
              </a:rPr>
              <a:t>2.3</a:t>
            </a:r>
            <a:r>
              <a:rPr lang="zh-CN" altLang="en-US" sz="900" b="0" i="0" dirty="0">
                <a:solidFill>
                  <a:srgbClr val="0D0D0D"/>
                </a:solidFill>
                <a:effectLst/>
                <a:latin typeface="+mn-ea"/>
                <a:cs typeface="思源黑体 CN Normal" panose="020B0400000000000000" pitchFamily="34" charset="-122"/>
              </a:rPr>
              <a:t>亿元</a:t>
            </a:r>
            <a:endParaRPr lang="en-US" altLang="zh-CN" sz="900" dirty="0">
              <a:solidFill>
                <a:srgbClr val="0D0D0D"/>
              </a:solidFill>
              <a:latin typeface="+mn-ea"/>
              <a:cs typeface="思源黑体 CN Normal" panose="020B0400000000000000" pitchFamily="34" charset="-122"/>
            </a:endParaRPr>
          </a:p>
          <a:p>
            <a:pPr>
              <a:lnSpc>
                <a:spcPct val="120000"/>
              </a:lnSpc>
            </a:pPr>
            <a:r>
              <a:rPr lang="zh-CN" altLang="en-US" sz="900" b="0" i="0" dirty="0">
                <a:solidFill>
                  <a:srgbClr val="0D0D0D"/>
                </a:solidFill>
                <a:effectLst/>
                <a:latin typeface="+mn-ea"/>
                <a:cs typeface="思源黑体 CN Normal" panose="020B0400000000000000" pitchFamily="34" charset="-122"/>
              </a:rPr>
              <a:t>较</a:t>
            </a:r>
            <a:r>
              <a:rPr lang="en-US" altLang="zh-CN" sz="900" b="0" i="0" dirty="0">
                <a:solidFill>
                  <a:srgbClr val="0D0D0D"/>
                </a:solidFill>
                <a:effectLst/>
                <a:latin typeface="+mn-ea"/>
                <a:cs typeface="思源黑体 CN Normal" panose="020B0400000000000000" pitchFamily="34" charset="-122"/>
              </a:rPr>
              <a:t>2024</a:t>
            </a:r>
            <a:r>
              <a:rPr lang="zh-CN" altLang="en-US" sz="900" b="0" i="0" dirty="0">
                <a:solidFill>
                  <a:srgbClr val="0D0D0D"/>
                </a:solidFill>
                <a:effectLst/>
                <a:latin typeface="+mn-ea"/>
                <a:cs typeface="思源黑体 CN Normal" panose="020B0400000000000000" pitchFamily="34" charset="-122"/>
              </a:rPr>
              <a:t>年提升</a:t>
            </a:r>
            <a:r>
              <a:rPr lang="en-US" altLang="zh-CN" sz="900" b="0" i="0" dirty="0">
                <a:solidFill>
                  <a:srgbClr val="0D0D0D"/>
                </a:solidFill>
                <a:effectLst/>
                <a:latin typeface="+mn-ea"/>
                <a:cs typeface="思源黑体 CN Normal" panose="020B0400000000000000" pitchFamily="34" charset="-122"/>
              </a:rPr>
              <a:t>9</a:t>
            </a:r>
            <a:r>
              <a:rPr lang="zh-CN" altLang="en-US" sz="900" b="0" i="0" dirty="0">
                <a:solidFill>
                  <a:srgbClr val="0D0D0D"/>
                </a:solidFill>
                <a:effectLst/>
                <a:latin typeface="+mn-ea"/>
                <a:cs typeface="思源黑体 CN Normal" panose="020B0400000000000000" pitchFamily="34" charset="-122"/>
              </a:rPr>
              <a:t>个百分点</a:t>
            </a:r>
            <a:endParaRPr lang="zh-CN" altLang="en-US" sz="900" b="0" i="0" dirty="0">
              <a:solidFill>
                <a:srgbClr val="0D0D0D"/>
              </a:solidFill>
              <a:effectLst/>
              <a:latin typeface="+mn-ea"/>
              <a:cs typeface="思源黑体 CN Normal" panose="020B0400000000000000" pitchFamily="34" charset="-122"/>
            </a:endParaRPr>
          </a:p>
        </p:txBody>
      </p:sp>
      <p:sp>
        <p:nvSpPr>
          <p:cNvPr id="248" name="文本框 247"/>
          <p:cNvSpPr txBox="1"/>
          <p:nvPr/>
        </p:nvSpPr>
        <p:spPr>
          <a:xfrm>
            <a:off x="9222580" y="5210436"/>
            <a:ext cx="2412550" cy="749051"/>
          </a:xfrm>
          <a:prstGeom prst="rect">
            <a:avLst/>
          </a:prstGeom>
          <a:noFill/>
        </p:spPr>
        <p:txBody>
          <a:bodyPr wrap="square">
            <a:spAutoFit/>
          </a:bodyPr>
          <a:lstStyle/>
          <a:p>
            <a:pPr algn="ctr">
              <a:lnSpc>
                <a:spcPct val="120000"/>
              </a:lnSpc>
            </a:pPr>
            <a:r>
              <a:rPr lang="zh-CN" altLang="en-US" sz="900" b="0" i="0" dirty="0">
                <a:solidFill>
                  <a:srgbClr val="0D0D0D"/>
                </a:solidFill>
                <a:effectLst/>
                <a:latin typeface="+mn-ea"/>
                <a:cs typeface="思源黑体 CN Normal" panose="020B0400000000000000" pitchFamily="34" charset="-122"/>
              </a:rPr>
              <a:t>车联网数据泄露事件年均损失</a:t>
            </a:r>
            <a:endParaRPr lang="en-US" altLang="zh-CN" sz="900" dirty="0">
              <a:solidFill>
                <a:srgbClr val="0D0D0D"/>
              </a:solidFill>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达</a:t>
            </a:r>
            <a:r>
              <a:rPr lang="en-US" altLang="zh-CN" sz="900" b="0" i="0" dirty="0">
                <a:solidFill>
                  <a:srgbClr val="0D0D0D"/>
                </a:solidFill>
                <a:effectLst/>
                <a:latin typeface="+mn-ea"/>
                <a:cs typeface="思源黑体 CN Normal" panose="020B0400000000000000" pitchFamily="34" charset="-122"/>
              </a:rPr>
              <a:t>4,200</a:t>
            </a:r>
            <a:r>
              <a:rPr lang="zh-CN" altLang="en-US" sz="900" b="0" i="0" dirty="0">
                <a:solidFill>
                  <a:srgbClr val="0D0D0D"/>
                </a:solidFill>
                <a:effectLst/>
                <a:latin typeface="+mn-ea"/>
                <a:cs typeface="思源黑体 CN Normal" panose="020B0400000000000000" pitchFamily="34" charset="-122"/>
              </a:rPr>
              <a:t>万元</a:t>
            </a:r>
            <a:endParaRPr lang="en-US" altLang="zh-CN" sz="900" dirty="0">
              <a:solidFill>
                <a:srgbClr val="0D0D0D"/>
              </a:solidFill>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企业合规成本上升至单车型</a:t>
            </a:r>
            <a:r>
              <a:rPr lang="en-US" altLang="zh-CN" sz="900" b="0" i="0" dirty="0">
                <a:solidFill>
                  <a:srgbClr val="0D0D0D"/>
                </a:solidFill>
                <a:effectLst/>
                <a:latin typeface="+mn-ea"/>
                <a:cs typeface="思源黑体 CN Normal" panose="020B0400000000000000" pitchFamily="34" charset="-122"/>
              </a:rPr>
              <a:t>200</a:t>
            </a:r>
            <a:r>
              <a:rPr lang="zh-CN" altLang="en-US" sz="900" b="0" i="0" dirty="0">
                <a:solidFill>
                  <a:srgbClr val="0D0D0D"/>
                </a:solidFill>
                <a:effectLst/>
                <a:latin typeface="+mn-ea"/>
                <a:cs typeface="思源黑体 CN Normal" panose="020B0400000000000000" pitchFamily="34" charset="-122"/>
              </a:rPr>
              <a:t>万元</a:t>
            </a:r>
            <a:endParaRPr lang="en-US" altLang="zh-CN" sz="900" b="0" i="0" dirty="0">
              <a:solidFill>
                <a:srgbClr val="0D0D0D"/>
              </a:solidFill>
              <a:effectLst/>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a:t>
            </a:r>
            <a:r>
              <a:rPr lang="en-US" altLang="zh-CN" sz="900" b="0" i="0" dirty="0">
                <a:solidFill>
                  <a:srgbClr val="0D0D0D"/>
                </a:solidFill>
                <a:effectLst/>
                <a:latin typeface="+mn-ea"/>
                <a:cs typeface="思源黑体 CN Normal" panose="020B0400000000000000" pitchFamily="34" charset="-122"/>
              </a:rPr>
              <a:t>2024</a:t>
            </a:r>
            <a:r>
              <a:rPr lang="zh-CN" altLang="en-US" sz="900" b="0" i="0" dirty="0">
                <a:solidFill>
                  <a:srgbClr val="0D0D0D"/>
                </a:solidFill>
                <a:effectLst/>
                <a:latin typeface="+mn-ea"/>
                <a:cs typeface="思源黑体 CN Normal" panose="020B0400000000000000" pitchFamily="34" charset="-122"/>
              </a:rPr>
              <a:t>年为</a:t>
            </a:r>
            <a:r>
              <a:rPr lang="en-US" altLang="zh-CN" sz="900" b="0" i="0" dirty="0">
                <a:solidFill>
                  <a:srgbClr val="0D0D0D"/>
                </a:solidFill>
                <a:effectLst/>
                <a:latin typeface="+mn-ea"/>
                <a:cs typeface="思源黑体 CN Normal" panose="020B0400000000000000" pitchFamily="34" charset="-122"/>
              </a:rPr>
              <a:t>80</a:t>
            </a:r>
            <a:r>
              <a:rPr lang="zh-CN" altLang="en-US" sz="900" b="0" i="0" dirty="0">
                <a:solidFill>
                  <a:srgbClr val="0D0D0D"/>
                </a:solidFill>
                <a:effectLst/>
                <a:latin typeface="+mn-ea"/>
                <a:cs typeface="思源黑体 CN Normal" panose="020B0400000000000000" pitchFamily="34" charset="-122"/>
              </a:rPr>
              <a:t>万元）</a:t>
            </a:r>
            <a:endParaRPr lang="zh-CN" altLang="en-US" sz="900" b="0" i="0" dirty="0">
              <a:solidFill>
                <a:srgbClr val="0D0D0D"/>
              </a:solidFill>
              <a:effectLst/>
              <a:latin typeface="+mn-ea"/>
              <a:cs typeface="思源黑体 CN Normal" panose="020B0400000000000000" pitchFamily="34" charset="-122"/>
            </a:endParaRPr>
          </a:p>
        </p:txBody>
      </p:sp>
      <p:sp>
        <p:nvSpPr>
          <p:cNvPr id="249" name="文本框 248"/>
          <p:cNvSpPr txBox="1"/>
          <p:nvPr/>
        </p:nvSpPr>
        <p:spPr>
          <a:xfrm>
            <a:off x="10068855" y="3727457"/>
            <a:ext cx="720000" cy="180000"/>
          </a:xfrm>
          <a:prstGeom prst="roundRect">
            <a:avLst>
              <a:gd name="adj" fmla="val 50000"/>
            </a:avLst>
          </a:prstGeom>
          <a:solidFill>
            <a:schemeClr val="accent1"/>
          </a:solidFill>
        </p:spPr>
        <p:txBody>
          <a:bodyPr wrap="square" lIns="0" tIns="0" rIns="0" bIns="0" anchor="ctr">
            <a:noAutofit/>
          </a:bodyPr>
          <a:lstStyle/>
          <a:p>
            <a:pPr algn="ctr"/>
            <a:r>
              <a:rPr lang="zh-CN" altLang="en-US" sz="900" b="0" i="0" dirty="0">
                <a:solidFill>
                  <a:schemeClr val="bg1"/>
                </a:solidFill>
                <a:effectLst/>
                <a:latin typeface="+mj-ea"/>
                <a:ea typeface="+mj-ea"/>
                <a:cs typeface="思源黑体 CN Normal" panose="020B0400000000000000" pitchFamily="34" charset="-122"/>
              </a:rPr>
              <a:t>智驾算力</a:t>
            </a:r>
            <a:endParaRPr lang="zh-CN" altLang="en-US" sz="900" b="0" i="0" dirty="0">
              <a:solidFill>
                <a:schemeClr val="bg1"/>
              </a:solidFill>
              <a:effectLst/>
              <a:latin typeface="+mj-ea"/>
              <a:ea typeface="+mj-ea"/>
              <a:cs typeface="思源黑体 CN Normal" panose="020B0400000000000000" pitchFamily="34" charset="-122"/>
            </a:endParaRPr>
          </a:p>
        </p:txBody>
      </p:sp>
      <p:sp>
        <p:nvSpPr>
          <p:cNvPr id="250" name="文本框 249"/>
          <p:cNvSpPr txBox="1"/>
          <p:nvPr/>
        </p:nvSpPr>
        <p:spPr>
          <a:xfrm>
            <a:off x="10068855" y="4960862"/>
            <a:ext cx="720000" cy="180000"/>
          </a:xfrm>
          <a:prstGeom prst="roundRect">
            <a:avLst>
              <a:gd name="adj" fmla="val 50000"/>
            </a:avLst>
          </a:prstGeom>
          <a:solidFill>
            <a:schemeClr val="accent1"/>
          </a:solidFill>
        </p:spPr>
        <p:txBody>
          <a:bodyPr wrap="square" lIns="0" tIns="0" rIns="0" bIns="0" anchor="ctr">
            <a:noAutofit/>
          </a:bodyPr>
          <a:lstStyle/>
          <a:p>
            <a:pPr algn="ctr"/>
            <a:r>
              <a:rPr lang="zh-CN" altLang="en-US" sz="900" b="0" i="0" dirty="0">
                <a:solidFill>
                  <a:schemeClr val="bg1"/>
                </a:solidFill>
                <a:effectLst/>
                <a:latin typeface="+mj-ea"/>
                <a:ea typeface="+mj-ea"/>
                <a:cs typeface="思源黑体 CN Normal" panose="020B0400000000000000" pitchFamily="34" charset="-122"/>
              </a:rPr>
              <a:t>数据安全</a:t>
            </a:r>
            <a:endParaRPr lang="zh-CN" altLang="en-US" sz="900" b="0" i="0" dirty="0">
              <a:solidFill>
                <a:schemeClr val="bg1"/>
              </a:solidFill>
              <a:effectLst/>
              <a:latin typeface="+mj-ea"/>
              <a:ea typeface="+mj-ea"/>
              <a:cs typeface="思源黑体 CN Normal" panose="020B0400000000000000" pitchFamily="34" charset="-122"/>
            </a:endParaRPr>
          </a:p>
        </p:txBody>
      </p:sp>
      <p:graphicFrame>
        <p:nvGraphicFramePr>
          <p:cNvPr id="253" name="图表 252"/>
          <p:cNvGraphicFramePr/>
          <p:nvPr/>
        </p:nvGraphicFramePr>
        <p:xfrm>
          <a:off x="8773925" y="3904202"/>
          <a:ext cx="1677745" cy="1118497"/>
        </p:xfrm>
        <a:graphic>
          <a:graphicData uri="http://schemas.openxmlformats.org/drawingml/2006/chart">
            <c:chart xmlns:c="http://schemas.openxmlformats.org/drawingml/2006/chart" xmlns:r="http://schemas.openxmlformats.org/officeDocument/2006/relationships" r:id="rId2"/>
          </a:graphicData>
        </a:graphic>
      </p:graphicFrame>
      <p:sp>
        <p:nvSpPr>
          <p:cNvPr id="254" name="任意多边形: 形状 253"/>
          <p:cNvSpPr/>
          <p:nvPr/>
        </p:nvSpPr>
        <p:spPr>
          <a:xfrm>
            <a:off x="9702800" y="4288367"/>
            <a:ext cx="2052000" cy="396000"/>
          </a:xfrm>
          <a:custGeom>
            <a:avLst/>
            <a:gdLst>
              <a:gd name="connsiteX0" fmla="*/ 0 w 2103967"/>
              <a:gd name="connsiteY0" fmla="*/ 0 h 461433"/>
              <a:gd name="connsiteX1" fmla="*/ 397933 w 2103967"/>
              <a:gd name="connsiteY1" fmla="*/ 461433 h 461433"/>
              <a:gd name="connsiteX2" fmla="*/ 2103967 w 2103967"/>
              <a:gd name="connsiteY2" fmla="*/ 461433 h 461433"/>
            </a:gdLst>
            <a:ahLst/>
            <a:cxnLst>
              <a:cxn ang="0">
                <a:pos x="connsiteX0" y="connsiteY0"/>
              </a:cxn>
              <a:cxn ang="0">
                <a:pos x="connsiteX1" y="connsiteY1"/>
              </a:cxn>
              <a:cxn ang="0">
                <a:pos x="connsiteX2" y="connsiteY2"/>
              </a:cxn>
            </a:cxnLst>
            <a:rect l="l" t="t" r="r" b="b"/>
            <a:pathLst>
              <a:path w="2103967" h="461433">
                <a:moveTo>
                  <a:pt x="0" y="0"/>
                </a:moveTo>
                <a:lnTo>
                  <a:pt x="397933" y="461433"/>
                </a:lnTo>
                <a:lnTo>
                  <a:pt x="2103967" y="461433"/>
                </a:lnTo>
              </a:path>
            </a:pathLst>
          </a:custGeom>
          <a:noFill/>
          <a:ln w="3175" cap="rnd">
            <a:gradFill>
              <a:gsLst>
                <a:gs pos="14000">
                  <a:schemeClr val="accent1"/>
                </a:gs>
                <a:gs pos="11000">
                  <a:schemeClr val="bg1"/>
                </a:gs>
                <a:gs pos="0">
                  <a:schemeClr val="bg1"/>
                </a:gs>
                <a:gs pos="100000">
                  <a:schemeClr val="accent1"/>
                </a:gs>
              </a:gsLst>
              <a:lin ang="0" scaled="0"/>
            </a:gra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259" name="图形 25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88068" y="3966078"/>
            <a:ext cx="380570" cy="350756"/>
          </a:xfrm>
          <a:prstGeom prst="rect">
            <a:avLst/>
          </a:prstGeom>
        </p:spPr>
      </p:pic>
      <p:pic>
        <p:nvPicPr>
          <p:cNvPr id="261" name="图形 26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0353" y="4729593"/>
            <a:ext cx="396000" cy="348899"/>
          </a:xfrm>
          <a:prstGeom prst="rect">
            <a:avLst/>
          </a:prstGeom>
        </p:spPr>
      </p:pic>
      <p:pic>
        <p:nvPicPr>
          <p:cNvPr id="265" name="图形 26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88453" y="5473942"/>
            <a:ext cx="379800" cy="360000"/>
          </a:xfrm>
          <a:prstGeom prst="rect">
            <a:avLst/>
          </a:prstGeom>
        </p:spPr>
      </p:pic>
      <p:pic>
        <p:nvPicPr>
          <p:cNvPr id="267" name="图形 266"/>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9857" y="4105456"/>
            <a:ext cx="432000" cy="432000"/>
          </a:xfrm>
          <a:prstGeom prst="rect">
            <a:avLst/>
          </a:prstGeom>
        </p:spPr>
      </p:pic>
      <p:pic>
        <p:nvPicPr>
          <p:cNvPr id="269" name="图形 26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4843" y="5186048"/>
            <a:ext cx="522029" cy="522029"/>
          </a:xfrm>
          <a:prstGeom prst="rect">
            <a:avLst/>
          </a:prstGeom>
        </p:spPr>
      </p:pic>
    </p:spTree>
    <p:custDataLst>
      <p:tags r:id="rId1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矩形: 圆角 108"/>
          <p:cNvSpPr/>
          <p:nvPr/>
        </p:nvSpPr>
        <p:spPr>
          <a:xfrm>
            <a:off x="7742026" y="5579689"/>
            <a:ext cx="2018770" cy="1014764"/>
          </a:xfrm>
          <a:prstGeom prst="roundRect">
            <a:avLst>
              <a:gd name="adj" fmla="val 4153"/>
            </a:avLst>
          </a:prstGeom>
          <a:solidFill>
            <a:schemeClr val="accent2">
              <a:lumMod val="20000"/>
              <a:lumOff val="80000"/>
              <a:alpha val="23000"/>
            </a:schemeClr>
          </a:solidFill>
          <a:ln w="31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0" name="矩形: 圆角 109"/>
          <p:cNvSpPr/>
          <p:nvPr/>
        </p:nvSpPr>
        <p:spPr>
          <a:xfrm>
            <a:off x="9839238" y="5579689"/>
            <a:ext cx="2018770" cy="1014764"/>
          </a:xfrm>
          <a:prstGeom prst="roundRect">
            <a:avLst>
              <a:gd name="adj" fmla="val 4153"/>
            </a:avLst>
          </a:prstGeom>
          <a:solidFill>
            <a:schemeClr val="accent2">
              <a:lumMod val="20000"/>
              <a:lumOff val="80000"/>
              <a:alpha val="23000"/>
            </a:schemeClr>
          </a:solidFill>
          <a:ln w="31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6" name="矩形: 圆角 105"/>
          <p:cNvSpPr/>
          <p:nvPr/>
        </p:nvSpPr>
        <p:spPr>
          <a:xfrm>
            <a:off x="334963" y="5579689"/>
            <a:ext cx="2018770" cy="1014764"/>
          </a:xfrm>
          <a:prstGeom prst="roundRect">
            <a:avLst>
              <a:gd name="adj" fmla="val 4153"/>
            </a:avLst>
          </a:prstGeom>
          <a:solidFill>
            <a:schemeClr val="accent1">
              <a:lumMod val="20000"/>
              <a:lumOff val="80000"/>
              <a:alpha val="23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8" name="矩形: 圆角 107"/>
          <p:cNvSpPr/>
          <p:nvPr/>
        </p:nvSpPr>
        <p:spPr>
          <a:xfrm>
            <a:off x="2446174" y="5579689"/>
            <a:ext cx="2018770" cy="1014764"/>
          </a:xfrm>
          <a:prstGeom prst="roundRect">
            <a:avLst>
              <a:gd name="adj" fmla="val 4153"/>
            </a:avLst>
          </a:prstGeom>
          <a:solidFill>
            <a:schemeClr val="accent1">
              <a:lumMod val="20000"/>
              <a:lumOff val="80000"/>
              <a:alpha val="23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对比</a:t>
            </a: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优劣势分析</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 name="矩形: 圆顶角 1"/>
          <p:cNvSpPr/>
          <p:nvPr/>
        </p:nvSpPr>
        <p:spPr>
          <a:xfrm rot="5400000">
            <a:off x="1235046" y="205807"/>
            <a:ext cx="4013196" cy="6483291"/>
          </a:xfrm>
          <a:prstGeom prst="round2SameRect">
            <a:avLst>
              <a:gd name="adj1" fmla="val 50000"/>
              <a:gd name="adj2" fmla="val 0"/>
            </a:avLst>
          </a:prstGeom>
          <a:gradFill flip="none" rotWithShape="1">
            <a:gsLst>
              <a:gs pos="0">
                <a:schemeClr val="accent1">
                  <a:alpha val="4000"/>
                </a:schemeClr>
              </a:gs>
              <a:gs pos="100000">
                <a:schemeClr val="accent1">
                  <a:alpha val="15000"/>
                </a:schemeClr>
              </a:gs>
            </a:gsLst>
            <a:lin ang="16200000" scaled="1"/>
            <a:tileRect/>
          </a:gradFill>
          <a:ln w="0">
            <a:noFill/>
            <a:prstDash val="solid"/>
            <a:round/>
          </a:ln>
        </p:spPr>
        <p:txBody>
          <a:bodyPr vert="horz" wrap="square" lIns="91440" tIns="45720" rIns="91440" bIns="45720" numCol="1" anchor="t" anchorCtr="0" compatLnSpc="1"/>
          <a:lstStyle/>
          <a:p>
            <a:endParaRPr lang="zh-CN" altLang="en-US" dirty="0">
              <a:solidFill>
                <a:prstClr val="black"/>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 name="矩形: 圆顶角 2"/>
          <p:cNvSpPr/>
          <p:nvPr/>
        </p:nvSpPr>
        <p:spPr>
          <a:xfrm rot="16200000" flipH="1">
            <a:off x="6943761" y="205806"/>
            <a:ext cx="4013194" cy="6483291"/>
          </a:xfrm>
          <a:prstGeom prst="round2SameRect">
            <a:avLst>
              <a:gd name="adj1" fmla="val 50000"/>
              <a:gd name="adj2" fmla="val 0"/>
            </a:avLst>
          </a:prstGeom>
          <a:gradFill flip="none" rotWithShape="1">
            <a:gsLst>
              <a:gs pos="0">
                <a:schemeClr val="accent2">
                  <a:alpha val="4000"/>
                </a:schemeClr>
              </a:gs>
              <a:gs pos="100000">
                <a:schemeClr val="accent2">
                  <a:alpha val="15000"/>
                </a:schemeClr>
              </a:gs>
            </a:gsLst>
            <a:lin ang="16200000" scaled="1"/>
            <a:tileRect/>
          </a:gradFill>
          <a:ln w="0">
            <a:noFill/>
            <a:prstDash val="solid"/>
            <a:round/>
          </a:ln>
        </p:spPr>
        <p:txBody>
          <a:bodyPr vert="horz" wrap="square" lIns="91440" tIns="45720" rIns="91440" bIns="45720" numCol="1" anchor="t" anchorCtr="0" compatLnSpc="1"/>
          <a:lstStyle/>
          <a:p>
            <a:endParaRPr lang="zh-CN" altLang="en-US" dirty="0">
              <a:solidFill>
                <a:prstClr val="black"/>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 name="椭圆 3"/>
          <p:cNvSpPr>
            <a:spLocks noChangeAspect="1"/>
          </p:cNvSpPr>
          <p:nvPr/>
        </p:nvSpPr>
        <p:spPr>
          <a:xfrm>
            <a:off x="6609824" y="2493452"/>
            <a:ext cx="1908000" cy="1908000"/>
          </a:xfrm>
          <a:prstGeom prst="ellipse">
            <a:avLst/>
          </a:prstGeom>
          <a:solidFill>
            <a:schemeClr val="accent2"/>
          </a:solidFill>
          <a:ln>
            <a:noFill/>
          </a:ln>
          <a:effectLst>
            <a:outerShdw blurRad="254000" dist="190500" dir="2880000" sx="96000" sy="96000" algn="tl" rotWithShape="0">
              <a:schemeClr val="accent2">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 name="椭圆 4"/>
          <p:cNvSpPr>
            <a:spLocks noChangeAspect="1"/>
          </p:cNvSpPr>
          <p:nvPr/>
        </p:nvSpPr>
        <p:spPr>
          <a:xfrm>
            <a:off x="3674176" y="2493452"/>
            <a:ext cx="1908000" cy="1908000"/>
          </a:xfrm>
          <a:prstGeom prst="ellipse">
            <a:avLst/>
          </a:prstGeom>
          <a:solidFill>
            <a:schemeClr val="accent1"/>
          </a:solidFill>
          <a:ln>
            <a:noFill/>
          </a:ln>
          <a:effectLst>
            <a:outerShdw blurRad="254000" dist="190500" dir="2880000" sx="96000" sy="96000" algn="tl"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33" name="组合 32"/>
          <p:cNvGrpSpPr/>
          <p:nvPr/>
        </p:nvGrpSpPr>
        <p:grpSpPr>
          <a:xfrm>
            <a:off x="1078698" y="5418051"/>
            <a:ext cx="3567477" cy="36000"/>
            <a:chOff x="1078698" y="5134526"/>
            <a:chExt cx="3567477" cy="36000"/>
          </a:xfrm>
        </p:grpSpPr>
        <p:cxnSp>
          <p:nvCxnSpPr>
            <p:cNvPr id="10" name="PA-直接连接符 7"/>
            <p:cNvCxnSpPr/>
            <p:nvPr>
              <p:custDataLst>
                <p:tags r:id="rId1"/>
              </p:custDataLst>
            </p:nvPr>
          </p:nvCxnSpPr>
          <p:spPr>
            <a:xfrm>
              <a:off x="1078698" y="5152526"/>
              <a:ext cx="3492000" cy="0"/>
            </a:xfrm>
            <a:prstGeom prst="line">
              <a:avLst/>
            </a:prstGeom>
            <a:gradFill>
              <a:gsLst>
                <a:gs pos="39000">
                  <a:srgbClr val="FF0000"/>
                </a:gs>
                <a:gs pos="100000">
                  <a:srgbClr val="FFAD15"/>
                </a:gs>
              </a:gsLst>
              <a:lin ang="8100000" scaled="1"/>
            </a:gradFill>
            <a:ln w="19050" cap="rnd" cmpd="sng" algn="ctr">
              <a:gradFill flip="none" rotWithShape="1">
                <a:gsLst>
                  <a:gs pos="1000">
                    <a:schemeClr val="accent1">
                      <a:alpha val="0"/>
                    </a:schemeClr>
                  </a:gs>
                  <a:gs pos="100000">
                    <a:schemeClr val="accent1"/>
                  </a:gs>
                </a:gsLst>
                <a:lin ang="0" scaled="1"/>
                <a:tileRect/>
              </a:gradFill>
              <a:prstDash val="solid"/>
              <a:round/>
            </a:ln>
            <a:effectLst/>
          </p:spPr>
        </p:cxnSp>
        <p:sp>
          <p:nvSpPr>
            <p:cNvPr id="19" name="椭圆 18"/>
            <p:cNvSpPr>
              <a:spLocks noChangeAspect="1"/>
            </p:cNvSpPr>
            <p:nvPr/>
          </p:nvSpPr>
          <p:spPr>
            <a:xfrm>
              <a:off x="4610175" y="5134526"/>
              <a:ext cx="36000" cy="3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32" name="组合 31"/>
          <p:cNvGrpSpPr/>
          <p:nvPr/>
        </p:nvGrpSpPr>
        <p:grpSpPr>
          <a:xfrm>
            <a:off x="7528597" y="5418051"/>
            <a:ext cx="3584705" cy="36000"/>
            <a:chOff x="7528597" y="5134526"/>
            <a:chExt cx="3584705" cy="36000"/>
          </a:xfrm>
        </p:grpSpPr>
        <p:cxnSp>
          <p:nvCxnSpPr>
            <p:cNvPr id="11" name="PA-直接连接符 7"/>
            <p:cNvCxnSpPr/>
            <p:nvPr>
              <p:custDataLst>
                <p:tags r:id="rId2"/>
              </p:custDataLst>
            </p:nvPr>
          </p:nvCxnSpPr>
          <p:spPr>
            <a:xfrm flipH="1">
              <a:off x="7621302" y="5152526"/>
              <a:ext cx="3492000" cy="0"/>
            </a:xfrm>
            <a:prstGeom prst="line">
              <a:avLst/>
            </a:prstGeom>
            <a:gradFill>
              <a:gsLst>
                <a:gs pos="39000">
                  <a:srgbClr val="FF0000"/>
                </a:gs>
                <a:gs pos="100000">
                  <a:srgbClr val="FFAD15"/>
                </a:gs>
              </a:gsLst>
              <a:lin ang="8100000" scaled="1"/>
            </a:gradFill>
            <a:ln w="19050" cap="rnd" cmpd="sng" algn="ctr">
              <a:gradFill flip="none" rotWithShape="1">
                <a:gsLst>
                  <a:gs pos="1000">
                    <a:schemeClr val="accent2">
                      <a:alpha val="0"/>
                    </a:schemeClr>
                  </a:gs>
                  <a:gs pos="100000">
                    <a:schemeClr val="accent2"/>
                  </a:gs>
                </a:gsLst>
                <a:lin ang="0" scaled="1"/>
                <a:tileRect/>
              </a:gradFill>
              <a:prstDash val="solid"/>
              <a:round/>
            </a:ln>
            <a:effectLst/>
          </p:spPr>
        </p:cxnSp>
        <p:sp>
          <p:nvSpPr>
            <p:cNvPr id="20" name="椭圆 19"/>
            <p:cNvSpPr>
              <a:spLocks noChangeAspect="1"/>
            </p:cNvSpPr>
            <p:nvPr/>
          </p:nvSpPr>
          <p:spPr>
            <a:xfrm>
              <a:off x="7528597" y="5134526"/>
              <a:ext cx="36000" cy="36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22" name="文本框 21"/>
          <p:cNvSpPr txBox="1"/>
          <p:nvPr/>
        </p:nvSpPr>
        <p:spPr>
          <a:xfrm>
            <a:off x="7061123" y="3534988"/>
            <a:ext cx="1005403" cy="584775"/>
          </a:xfrm>
          <a:prstGeom prst="rect">
            <a:avLst/>
          </a:prstGeom>
          <a:noFill/>
        </p:spPr>
        <p:txBody>
          <a:bodyPr wrap="none" rtlCol="0">
            <a:spAutoFit/>
          </a:bodyPr>
          <a:lstStyle/>
          <a:p>
            <a:r>
              <a:rPr lang="zh-CN" altLang="en-US"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优势</a:t>
            </a:r>
            <a:endParaRPr lang="zh-CN" altLang="en-US"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3" name="文本框 22"/>
          <p:cNvSpPr txBox="1"/>
          <p:nvPr/>
        </p:nvSpPr>
        <p:spPr>
          <a:xfrm>
            <a:off x="4125475" y="3534988"/>
            <a:ext cx="1005403" cy="584775"/>
          </a:xfrm>
          <a:prstGeom prst="rect">
            <a:avLst/>
          </a:prstGeom>
          <a:noFill/>
        </p:spPr>
        <p:txBody>
          <a:bodyPr wrap="none" rtlCol="0">
            <a:spAutoFit/>
          </a:bodyPr>
          <a:lstStyle/>
          <a:p>
            <a:r>
              <a:rPr lang="zh-CN" altLang="en-US"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劣势</a:t>
            </a:r>
            <a:endParaRPr lang="zh-CN" altLang="en-US"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30" name="图形 2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5824" y="2829178"/>
            <a:ext cx="576000" cy="576000"/>
          </a:xfrm>
          <a:prstGeom prst="rect">
            <a:avLst/>
          </a:prstGeom>
        </p:spPr>
      </p:pic>
      <p:pic>
        <p:nvPicPr>
          <p:cNvPr id="31" name="图形 3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V="1">
            <a:off x="4340176" y="2879978"/>
            <a:ext cx="576000" cy="576000"/>
          </a:xfrm>
          <a:prstGeom prst="rect">
            <a:avLst/>
          </a:prstGeom>
        </p:spPr>
      </p:pic>
      <p:grpSp>
        <p:nvGrpSpPr>
          <p:cNvPr id="43" name="组合 42"/>
          <p:cNvGrpSpPr/>
          <p:nvPr/>
        </p:nvGrpSpPr>
        <p:grpSpPr>
          <a:xfrm>
            <a:off x="8852300" y="1869727"/>
            <a:ext cx="2644375" cy="807424"/>
            <a:chOff x="9688299" y="1180690"/>
            <a:chExt cx="2644375" cy="807424"/>
          </a:xfrm>
        </p:grpSpPr>
        <p:sp>
          <p:nvSpPr>
            <p:cNvPr id="44" name="文本框 43"/>
            <p:cNvSpPr txBox="1"/>
            <p:nvPr/>
          </p:nvSpPr>
          <p:spPr>
            <a:xfrm flipH="1">
              <a:off x="10748580" y="1180690"/>
              <a:ext cx="1584094" cy="338554"/>
            </a:xfrm>
            <a:prstGeom prst="roundRect">
              <a:avLst>
                <a:gd name="adj" fmla="val 50000"/>
              </a:avLst>
            </a:prstGeom>
            <a:solidFill>
              <a:schemeClr val="accent2"/>
            </a:solidFill>
            <a:ln w="12700">
              <a:noFill/>
            </a:ln>
            <a:effectLst>
              <a:outerShdw blurRad="127000" dist="38100" algn="l" rotWithShape="0">
                <a:schemeClr val="accent2">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算法精度领先</a:t>
              </a:r>
              <a:endParaRPr lang="zh-CN" altLang="en-US" sz="1400" i="0" dirty="0">
                <a:solidFill>
                  <a:schemeClr val="bg1"/>
                </a:solidFill>
                <a:latin typeface="+mj-ea"/>
                <a:ea typeface="+mj-ea"/>
                <a:cs typeface="思源黑体 CN Normal" panose="020B0400000000000000" pitchFamily="34" charset="-122"/>
              </a:endParaRPr>
            </a:p>
          </p:txBody>
        </p:sp>
        <p:sp>
          <p:nvSpPr>
            <p:cNvPr id="45" name="文本框 44"/>
            <p:cNvSpPr txBox="1"/>
            <p:nvPr/>
          </p:nvSpPr>
          <p:spPr>
            <a:xfrm flipH="1">
              <a:off x="9688299" y="1587940"/>
              <a:ext cx="2644375"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effectLst/>
                  <a:latin typeface="+mn-ea"/>
                  <a:cs typeface="思源黑体 CN Normal" panose="020B0400000000000000" pitchFamily="34" charset="-122"/>
                </a:rPr>
                <a:t>筛查模型灵敏度达</a:t>
              </a:r>
              <a:r>
                <a:rPr lang="en-US" altLang="zh-CN" sz="1200" b="0" i="0" dirty="0">
                  <a:solidFill>
                    <a:srgbClr val="0D0D0D"/>
                  </a:solidFill>
                  <a:effectLst/>
                  <a:latin typeface="+mn-ea"/>
                  <a:cs typeface="思源黑体 CN Normal" panose="020B0400000000000000" pitchFamily="34" charset="-122"/>
                </a:rPr>
                <a:t>98.7%</a:t>
              </a:r>
              <a:r>
                <a:rPr lang="zh-CN" altLang="en-US" sz="1200" b="0" i="0" dirty="0">
                  <a:solidFill>
                    <a:srgbClr val="0D0D0D"/>
                  </a:solidFill>
                  <a:effectLst/>
                  <a:latin typeface="+mn-ea"/>
                  <a:cs typeface="思源黑体 CN Normal" panose="020B0400000000000000" pitchFamily="34" charset="-122"/>
                </a:rPr>
                <a:t>（</a:t>
              </a:r>
              <a:r>
                <a:rPr lang="en-US" altLang="zh-CN" sz="1200" b="0" i="0" dirty="0">
                  <a:solidFill>
                    <a:srgbClr val="0D0D0D"/>
                  </a:solidFill>
                  <a:effectLst/>
                  <a:latin typeface="+mn-ea"/>
                  <a:cs typeface="思源黑体 CN Normal" panose="020B0400000000000000" pitchFamily="34" charset="-122"/>
                </a:rPr>
                <a:t>FDA</a:t>
              </a:r>
              <a:r>
                <a:rPr lang="zh-CN" altLang="en-US" sz="1200" b="0" i="0" dirty="0">
                  <a:solidFill>
                    <a:srgbClr val="0D0D0D"/>
                  </a:solidFill>
                  <a:effectLst/>
                  <a:latin typeface="+mn-ea"/>
                  <a:cs typeface="思源黑体 CN Normal" panose="020B0400000000000000" pitchFamily="34" charset="-122"/>
                </a:rPr>
                <a:t>认证）较行业平均水平高</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个百分点</a:t>
              </a:r>
              <a:endParaRPr lang="zh-CN" altLang="en-US" sz="1200" b="0" i="0" dirty="0">
                <a:solidFill>
                  <a:srgbClr val="0D0D0D"/>
                </a:solidFill>
                <a:effectLst/>
                <a:latin typeface="+mn-ea"/>
                <a:cs typeface="思源黑体 CN Normal" panose="020B0400000000000000" pitchFamily="34" charset="-122"/>
              </a:endParaRPr>
            </a:p>
          </p:txBody>
        </p:sp>
      </p:grpSp>
      <p:grpSp>
        <p:nvGrpSpPr>
          <p:cNvPr id="49" name="组合 48"/>
          <p:cNvGrpSpPr/>
          <p:nvPr/>
        </p:nvGrpSpPr>
        <p:grpSpPr>
          <a:xfrm>
            <a:off x="8852300" y="3056109"/>
            <a:ext cx="2644375" cy="807424"/>
            <a:chOff x="9688299" y="1180690"/>
            <a:chExt cx="2644375" cy="807424"/>
          </a:xfrm>
        </p:grpSpPr>
        <p:sp>
          <p:nvSpPr>
            <p:cNvPr id="50" name="文本框 49"/>
            <p:cNvSpPr txBox="1"/>
            <p:nvPr/>
          </p:nvSpPr>
          <p:spPr>
            <a:xfrm flipH="1">
              <a:off x="10748580" y="1180690"/>
              <a:ext cx="1584094" cy="338554"/>
            </a:xfrm>
            <a:prstGeom prst="roundRect">
              <a:avLst>
                <a:gd name="adj" fmla="val 50000"/>
              </a:avLst>
            </a:prstGeom>
            <a:solidFill>
              <a:schemeClr val="accent2"/>
            </a:solidFill>
            <a:ln w="12700">
              <a:noFill/>
            </a:ln>
            <a:effectLst>
              <a:outerShdw blurRad="127000" dist="38100" algn="l" rotWithShape="0">
                <a:schemeClr val="accent2">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多模态数据库全</a:t>
              </a:r>
              <a:endParaRPr lang="zh-CN" altLang="en-US" sz="1400" i="0" dirty="0">
                <a:solidFill>
                  <a:schemeClr val="bg1"/>
                </a:solidFill>
                <a:latin typeface="+mj-ea"/>
                <a:ea typeface="+mj-ea"/>
                <a:cs typeface="思源黑体 CN Normal" panose="020B0400000000000000" pitchFamily="34" charset="-122"/>
              </a:endParaRPr>
            </a:p>
          </p:txBody>
        </p:sp>
        <p:sp>
          <p:nvSpPr>
            <p:cNvPr id="51" name="文本框 50"/>
            <p:cNvSpPr txBox="1"/>
            <p:nvPr/>
          </p:nvSpPr>
          <p:spPr>
            <a:xfrm flipH="1">
              <a:off x="9688299" y="1587940"/>
              <a:ext cx="2644375"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effectLst/>
                  <a:latin typeface="+mn-ea"/>
                  <a:cs typeface="思源黑体 CN Normal" panose="020B0400000000000000" pitchFamily="34" charset="-122"/>
                </a:rPr>
                <a:t>覆盖</a:t>
              </a:r>
              <a:r>
                <a:rPr lang="en-US" altLang="zh-CN" sz="1200" b="0" i="0" dirty="0">
                  <a:solidFill>
                    <a:srgbClr val="0D0D0D"/>
                  </a:solidFill>
                  <a:effectLst/>
                  <a:latin typeface="+mn-ea"/>
                  <a:cs typeface="思源黑体 CN Normal" panose="020B0400000000000000" pitchFamily="34" charset="-122"/>
                </a:rPr>
                <a:t>CT</a:t>
              </a:r>
              <a:r>
                <a:rPr lang="zh-CN" altLang="en-US" sz="1200" b="0" i="0" dirty="0">
                  <a:solidFill>
                    <a:srgbClr val="0D0D0D"/>
                  </a:solidFill>
                  <a:effectLst/>
                  <a:latin typeface="+mn-ea"/>
                  <a:cs typeface="思源黑体 CN Normal" panose="020B0400000000000000" pitchFamily="34" charset="-122"/>
                </a:rPr>
                <a:t>、</a:t>
              </a:r>
              <a:r>
                <a:rPr lang="en-US" altLang="zh-CN" sz="1200" b="0" i="0" dirty="0">
                  <a:solidFill>
                    <a:srgbClr val="0D0D0D"/>
                  </a:solidFill>
                  <a:effectLst/>
                  <a:latin typeface="+mn-ea"/>
                  <a:cs typeface="思源黑体 CN Normal" panose="020B0400000000000000" pitchFamily="34" charset="-122"/>
                </a:rPr>
                <a:t>MRI</a:t>
              </a:r>
              <a:r>
                <a:rPr lang="zh-CN" altLang="en-US" sz="1200" b="0" i="0" dirty="0">
                  <a:solidFill>
                    <a:srgbClr val="0D0D0D"/>
                  </a:solidFill>
                  <a:effectLst/>
                  <a:latin typeface="+mn-ea"/>
                  <a:cs typeface="思源黑体 CN Normal" panose="020B0400000000000000" pitchFamily="34" charset="-122"/>
                </a:rPr>
                <a:t>、病理切片等</a:t>
              </a:r>
              <a:r>
                <a:rPr lang="en-US" altLang="zh-CN" sz="1200" b="0" i="0" dirty="0">
                  <a:solidFill>
                    <a:srgbClr val="0D0D0D"/>
                  </a:solidFill>
                  <a:effectLst/>
                  <a:latin typeface="+mn-ea"/>
                  <a:cs typeface="思源黑体 CN Normal" panose="020B0400000000000000" pitchFamily="34" charset="-122"/>
                </a:rPr>
                <a:t>5</a:t>
              </a:r>
              <a:r>
                <a:rPr lang="zh-CN" altLang="en-US" sz="1200" b="0" i="0" dirty="0">
                  <a:solidFill>
                    <a:srgbClr val="0D0D0D"/>
                  </a:solidFill>
                  <a:effectLst/>
                  <a:latin typeface="+mn-ea"/>
                  <a:cs typeface="思源黑体 CN Normal" panose="020B0400000000000000" pitchFamily="34" charset="-122"/>
                </a:rPr>
                <a:t>类数据，累计标注量超</a:t>
              </a:r>
              <a:r>
                <a:rPr lang="en-US" altLang="zh-CN" sz="1200" b="0" i="0" dirty="0">
                  <a:solidFill>
                    <a:srgbClr val="0D0D0D"/>
                  </a:solidFill>
                  <a:effectLst/>
                  <a:latin typeface="+mn-ea"/>
                  <a:cs typeface="思源黑体 CN Normal" panose="020B0400000000000000" pitchFamily="34" charset="-122"/>
                </a:rPr>
                <a:t>2000</a:t>
              </a:r>
              <a:r>
                <a:rPr lang="zh-CN" altLang="en-US" sz="1200" b="0" i="0" dirty="0">
                  <a:solidFill>
                    <a:srgbClr val="0D0D0D"/>
                  </a:solidFill>
                  <a:effectLst/>
                  <a:latin typeface="+mn-ea"/>
                  <a:cs typeface="思源黑体 CN Normal" panose="020B0400000000000000" pitchFamily="34" charset="-122"/>
                </a:rPr>
                <a:t>万例（国内第一）</a:t>
              </a:r>
              <a:endParaRPr lang="zh-CN" altLang="en-US" sz="1200" b="0" i="0" dirty="0">
                <a:solidFill>
                  <a:srgbClr val="0D0D0D"/>
                </a:solidFill>
                <a:effectLst/>
                <a:latin typeface="+mn-ea"/>
                <a:cs typeface="思源黑体 CN Normal" panose="020B0400000000000000" pitchFamily="34" charset="-122"/>
              </a:endParaRPr>
            </a:p>
          </p:txBody>
        </p:sp>
      </p:grpSp>
      <p:grpSp>
        <p:nvGrpSpPr>
          <p:cNvPr id="52" name="组合 51"/>
          <p:cNvGrpSpPr/>
          <p:nvPr/>
        </p:nvGrpSpPr>
        <p:grpSpPr>
          <a:xfrm>
            <a:off x="8852299" y="4242492"/>
            <a:ext cx="2644375" cy="807424"/>
            <a:chOff x="9688299" y="1180690"/>
            <a:chExt cx="2644375" cy="807424"/>
          </a:xfrm>
        </p:grpSpPr>
        <p:sp>
          <p:nvSpPr>
            <p:cNvPr id="53" name="文本框 52"/>
            <p:cNvSpPr txBox="1"/>
            <p:nvPr/>
          </p:nvSpPr>
          <p:spPr>
            <a:xfrm flipH="1">
              <a:off x="10748580" y="1180690"/>
              <a:ext cx="1584094" cy="338554"/>
            </a:xfrm>
            <a:prstGeom prst="roundRect">
              <a:avLst>
                <a:gd name="adj" fmla="val 50000"/>
              </a:avLst>
            </a:prstGeom>
            <a:solidFill>
              <a:schemeClr val="accent2"/>
            </a:solidFill>
            <a:ln w="12700">
              <a:noFill/>
            </a:ln>
            <a:effectLst>
              <a:outerShdw blurRad="127000" dist="38100" algn="l" rotWithShape="0">
                <a:schemeClr val="accent2">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场景落地高效</a:t>
              </a:r>
              <a:endParaRPr lang="zh-CN" altLang="en-US" sz="1400" i="0" dirty="0">
                <a:solidFill>
                  <a:schemeClr val="bg1"/>
                </a:solidFill>
                <a:latin typeface="+mj-ea"/>
                <a:ea typeface="+mj-ea"/>
                <a:cs typeface="思源黑体 CN Normal" panose="020B0400000000000000" pitchFamily="34" charset="-122"/>
              </a:endParaRPr>
            </a:p>
          </p:txBody>
        </p:sp>
        <p:sp>
          <p:nvSpPr>
            <p:cNvPr id="54" name="文本框 53"/>
            <p:cNvSpPr txBox="1"/>
            <p:nvPr/>
          </p:nvSpPr>
          <p:spPr>
            <a:xfrm flipH="1">
              <a:off x="9688299" y="1587940"/>
              <a:ext cx="2644375"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effectLst/>
                  <a:latin typeface="+mn-ea"/>
                  <a:cs typeface="思源黑体 CN Normal" panose="020B0400000000000000" pitchFamily="34" charset="-122"/>
                </a:rPr>
                <a:t>从算法开发到三甲医院部署周期缩短至</a:t>
              </a:r>
              <a:r>
                <a:rPr lang="en-US" altLang="zh-CN" sz="1200" b="0" i="0" dirty="0">
                  <a:solidFill>
                    <a:srgbClr val="0D0D0D"/>
                  </a:solidFill>
                  <a:effectLst/>
                  <a:latin typeface="+mn-ea"/>
                  <a:cs typeface="思源黑体 CN Normal" panose="020B0400000000000000" pitchFamily="34" charset="-122"/>
                </a:rPr>
                <a:t>6</a:t>
              </a:r>
              <a:r>
                <a:rPr lang="zh-CN" altLang="en-US" sz="1200" b="0" i="0" dirty="0">
                  <a:solidFill>
                    <a:srgbClr val="0D0D0D"/>
                  </a:solidFill>
                  <a:effectLst/>
                  <a:latin typeface="+mn-ea"/>
                  <a:cs typeface="思源黑体 CN Normal" panose="020B0400000000000000" pitchFamily="34" charset="-122"/>
                </a:rPr>
                <a:t>周（行业平均</a:t>
              </a:r>
              <a:r>
                <a:rPr lang="en-US" altLang="zh-CN" sz="1200" b="0" i="0" dirty="0">
                  <a:solidFill>
                    <a:srgbClr val="0D0D0D"/>
                  </a:solidFill>
                  <a:effectLst/>
                  <a:latin typeface="+mn-ea"/>
                  <a:cs typeface="思源黑体 CN Normal" panose="020B0400000000000000" pitchFamily="34" charset="-122"/>
                </a:rPr>
                <a:t>14</a:t>
              </a:r>
              <a:r>
                <a:rPr lang="zh-CN" altLang="en-US" sz="1200" b="0" i="0" dirty="0">
                  <a:solidFill>
                    <a:srgbClr val="0D0D0D"/>
                  </a:solidFill>
                  <a:effectLst/>
                  <a:latin typeface="+mn-ea"/>
                  <a:cs typeface="思源黑体 CN Normal" panose="020B0400000000000000" pitchFamily="34" charset="-122"/>
                </a:rPr>
                <a:t>周）</a:t>
              </a:r>
              <a:endParaRPr lang="zh-CN" altLang="en-US" sz="1200" b="0" i="0" dirty="0">
                <a:solidFill>
                  <a:srgbClr val="0D0D0D"/>
                </a:solidFill>
                <a:effectLst/>
                <a:latin typeface="+mn-ea"/>
                <a:cs typeface="思源黑体 CN Normal" panose="020B0400000000000000" pitchFamily="34" charset="-122"/>
              </a:endParaRPr>
            </a:p>
          </p:txBody>
        </p:sp>
      </p:grpSp>
      <p:grpSp>
        <p:nvGrpSpPr>
          <p:cNvPr id="63" name="组合 62"/>
          <p:cNvGrpSpPr/>
          <p:nvPr/>
        </p:nvGrpSpPr>
        <p:grpSpPr>
          <a:xfrm flipH="1">
            <a:off x="707731" y="1869727"/>
            <a:ext cx="2644375" cy="807424"/>
            <a:chOff x="9688299" y="1180690"/>
            <a:chExt cx="2644375" cy="807424"/>
          </a:xfrm>
        </p:grpSpPr>
        <p:sp>
          <p:nvSpPr>
            <p:cNvPr id="70" name="文本框 69"/>
            <p:cNvSpPr txBox="1"/>
            <p:nvPr/>
          </p:nvSpPr>
          <p:spPr>
            <a:xfrm flipH="1">
              <a:off x="10748580" y="1180690"/>
              <a:ext cx="1584094"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付费模式单一</a:t>
              </a:r>
              <a:endParaRPr lang="zh-CN" altLang="en-US" sz="1400" i="0" dirty="0">
                <a:solidFill>
                  <a:schemeClr val="bg1"/>
                </a:solidFill>
                <a:latin typeface="+mj-ea"/>
                <a:ea typeface="+mj-ea"/>
                <a:cs typeface="思源黑体 CN Normal" panose="020B0400000000000000" pitchFamily="34" charset="-122"/>
              </a:endParaRPr>
            </a:p>
          </p:txBody>
        </p:sp>
        <p:sp>
          <p:nvSpPr>
            <p:cNvPr id="71" name="文本框 70"/>
            <p:cNvSpPr txBox="1"/>
            <p:nvPr/>
          </p:nvSpPr>
          <p:spPr>
            <a:xfrm flipH="1">
              <a:off x="9688299" y="1587940"/>
              <a:ext cx="2644375" cy="400174"/>
            </a:xfrm>
            <a:prstGeom prst="rect">
              <a:avLst/>
            </a:prstGeom>
            <a:noFill/>
          </p:spPr>
          <p:txBody>
            <a:bodyPr wrap="square" lIns="0" tIns="0" rIns="0" bIns="0">
              <a:spAutoFit/>
            </a:bodyPr>
            <a:lstStyle/>
            <a:p>
              <a:pPr>
                <a:lnSpc>
                  <a:spcPct val="110000"/>
                </a:lnSpc>
              </a:pPr>
              <a:r>
                <a:rPr lang="en-US" altLang="zh-CN" sz="1200" b="0" i="0" dirty="0">
                  <a:solidFill>
                    <a:srgbClr val="0D0D0D"/>
                  </a:solidFill>
                  <a:effectLst/>
                  <a:latin typeface="+mn-ea"/>
                  <a:cs typeface="思源黑体 CN Normal" panose="020B0400000000000000" pitchFamily="34" charset="-122"/>
                </a:rPr>
                <a:t>90%</a:t>
              </a:r>
              <a:r>
                <a:rPr lang="zh-CN" altLang="en-US" sz="1200" b="0" i="0" dirty="0">
                  <a:solidFill>
                    <a:srgbClr val="0D0D0D"/>
                  </a:solidFill>
                  <a:effectLst/>
                  <a:latin typeface="+mn-ea"/>
                  <a:cs typeface="思源黑体 CN Normal" panose="020B0400000000000000" pitchFamily="34" charset="-122"/>
                </a:rPr>
                <a:t>收入来自硬件捆绑销售，独立软件服务占比不足</a:t>
              </a:r>
              <a:r>
                <a:rPr lang="en-US" altLang="zh-CN" sz="1200" b="0" i="0" dirty="0">
                  <a:solidFill>
                    <a:srgbClr val="0D0D0D"/>
                  </a:solidFill>
                  <a:effectLst/>
                  <a:latin typeface="+mn-ea"/>
                  <a:cs typeface="思源黑体 CN Normal" panose="020B0400000000000000" pitchFamily="34" charset="-122"/>
                </a:rPr>
                <a:t>5%</a:t>
              </a:r>
              <a:endParaRPr lang="zh-CN" altLang="en-US" sz="1200" b="0" i="0" dirty="0">
                <a:solidFill>
                  <a:srgbClr val="0D0D0D"/>
                </a:solidFill>
                <a:effectLst/>
                <a:latin typeface="+mn-ea"/>
                <a:cs typeface="思源黑体 CN Normal" panose="020B0400000000000000" pitchFamily="34" charset="-122"/>
              </a:endParaRPr>
            </a:p>
          </p:txBody>
        </p:sp>
      </p:grpSp>
      <p:grpSp>
        <p:nvGrpSpPr>
          <p:cNvPr id="64" name="组合 63"/>
          <p:cNvGrpSpPr/>
          <p:nvPr/>
        </p:nvGrpSpPr>
        <p:grpSpPr>
          <a:xfrm flipH="1">
            <a:off x="707731" y="3056109"/>
            <a:ext cx="2644375" cy="807424"/>
            <a:chOff x="9688299" y="1180690"/>
            <a:chExt cx="2644375" cy="807424"/>
          </a:xfrm>
        </p:grpSpPr>
        <p:sp>
          <p:nvSpPr>
            <p:cNvPr id="68" name="文本框 67"/>
            <p:cNvSpPr txBox="1"/>
            <p:nvPr/>
          </p:nvSpPr>
          <p:spPr>
            <a:xfrm flipH="1">
              <a:off x="10748580" y="1180690"/>
              <a:ext cx="1584094"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数据隐私压力大</a:t>
              </a:r>
              <a:endParaRPr lang="zh-CN" altLang="en-US" sz="1400" i="0" dirty="0">
                <a:solidFill>
                  <a:schemeClr val="bg1"/>
                </a:solidFill>
                <a:latin typeface="+mj-ea"/>
                <a:ea typeface="+mj-ea"/>
                <a:cs typeface="思源黑体 CN Normal" panose="020B0400000000000000" pitchFamily="34" charset="-122"/>
              </a:endParaRPr>
            </a:p>
          </p:txBody>
        </p:sp>
        <p:sp>
          <p:nvSpPr>
            <p:cNvPr id="69" name="文本框 68"/>
            <p:cNvSpPr txBox="1"/>
            <p:nvPr/>
          </p:nvSpPr>
          <p:spPr>
            <a:xfrm flipH="1">
              <a:off x="9688299" y="1587940"/>
              <a:ext cx="2644375"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effectLst/>
                  <a:latin typeface="+mn-ea"/>
                  <a:cs typeface="思源黑体 CN Normal" panose="020B0400000000000000" pitchFamily="34" charset="-122"/>
                </a:rPr>
                <a:t>涉及跨机构数据调用时，合规审核周期平均延长</a:t>
              </a:r>
              <a:r>
                <a:rPr lang="en-US" altLang="zh-CN" sz="1200" b="0" i="0" dirty="0">
                  <a:solidFill>
                    <a:srgbClr val="0D0D0D"/>
                  </a:solidFill>
                  <a:effectLst/>
                  <a:latin typeface="+mn-ea"/>
                  <a:cs typeface="思源黑体 CN Normal" panose="020B0400000000000000" pitchFamily="34" charset="-122"/>
                </a:rPr>
                <a:t>30</a:t>
              </a:r>
              <a:r>
                <a:rPr lang="zh-CN" altLang="en-US" sz="1200" b="0" i="0" dirty="0">
                  <a:solidFill>
                    <a:srgbClr val="0D0D0D"/>
                  </a:solidFill>
                  <a:effectLst/>
                  <a:latin typeface="+mn-ea"/>
                  <a:cs typeface="思源黑体 CN Normal" panose="020B0400000000000000" pitchFamily="34" charset="-122"/>
                </a:rPr>
                <a:t>天</a:t>
              </a:r>
              <a:endParaRPr lang="zh-CN" altLang="en-US" sz="1200" b="0" i="0" dirty="0">
                <a:solidFill>
                  <a:srgbClr val="0D0D0D"/>
                </a:solidFill>
                <a:effectLst/>
                <a:latin typeface="+mn-ea"/>
                <a:cs typeface="思源黑体 CN Normal" panose="020B0400000000000000" pitchFamily="34" charset="-122"/>
              </a:endParaRPr>
            </a:p>
          </p:txBody>
        </p:sp>
      </p:grpSp>
      <p:grpSp>
        <p:nvGrpSpPr>
          <p:cNvPr id="65" name="组合 64"/>
          <p:cNvGrpSpPr/>
          <p:nvPr/>
        </p:nvGrpSpPr>
        <p:grpSpPr>
          <a:xfrm flipH="1">
            <a:off x="707732" y="4242492"/>
            <a:ext cx="2644375" cy="807424"/>
            <a:chOff x="9688299" y="1180690"/>
            <a:chExt cx="2644375" cy="807424"/>
          </a:xfrm>
        </p:grpSpPr>
        <p:sp>
          <p:nvSpPr>
            <p:cNvPr id="66" name="文本框 65"/>
            <p:cNvSpPr txBox="1"/>
            <p:nvPr/>
          </p:nvSpPr>
          <p:spPr>
            <a:xfrm flipH="1">
              <a:off x="10748580" y="1180690"/>
              <a:ext cx="1584094"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复合型人才缺</a:t>
              </a:r>
              <a:endParaRPr lang="zh-CN" altLang="en-US" sz="1400" i="0" dirty="0">
                <a:solidFill>
                  <a:schemeClr val="bg1"/>
                </a:solidFill>
                <a:latin typeface="+mj-ea"/>
                <a:ea typeface="+mj-ea"/>
                <a:cs typeface="思源黑体 CN Normal" panose="020B0400000000000000" pitchFamily="34" charset="-122"/>
              </a:endParaRPr>
            </a:p>
          </p:txBody>
        </p:sp>
        <p:sp>
          <p:nvSpPr>
            <p:cNvPr id="67" name="文本框 66"/>
            <p:cNvSpPr txBox="1"/>
            <p:nvPr/>
          </p:nvSpPr>
          <p:spPr>
            <a:xfrm flipH="1">
              <a:off x="9688299" y="1587940"/>
              <a:ext cx="2644375"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effectLst/>
                  <a:latin typeface="+mn-ea"/>
                  <a:cs typeface="思源黑体 CN Normal" panose="020B0400000000000000" pitchFamily="34" charset="-122"/>
                </a:rPr>
                <a:t>既懂</a:t>
              </a:r>
              <a:r>
                <a:rPr lang="en-US" altLang="zh-CN" sz="1200" b="0" i="0" dirty="0">
                  <a:solidFill>
                    <a:srgbClr val="0D0D0D"/>
                  </a:solidFill>
                  <a:effectLst/>
                  <a:latin typeface="+mn-ea"/>
                  <a:cs typeface="思源黑体 CN Normal" panose="020B0400000000000000" pitchFamily="34" charset="-122"/>
                </a:rPr>
                <a:t>AI</a:t>
              </a:r>
              <a:r>
                <a:rPr lang="zh-CN" altLang="en-US" sz="1200" b="0" i="0" dirty="0">
                  <a:solidFill>
                    <a:srgbClr val="0D0D0D"/>
                  </a:solidFill>
                  <a:effectLst/>
                  <a:latin typeface="+mn-ea"/>
                  <a:cs typeface="思源黑体 CN Normal" panose="020B0400000000000000" pitchFamily="34" charset="-122"/>
                </a:rPr>
                <a:t>又懂临床的研发人员占比仅</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，招聘周期超</a:t>
              </a:r>
              <a:r>
                <a:rPr lang="en-US" altLang="zh-CN" sz="1200" b="0" i="0" dirty="0">
                  <a:solidFill>
                    <a:srgbClr val="0D0D0D"/>
                  </a:solidFill>
                  <a:effectLst/>
                  <a:latin typeface="+mn-ea"/>
                  <a:cs typeface="思源黑体 CN Normal" panose="020B0400000000000000" pitchFamily="34" charset="-122"/>
                </a:rPr>
                <a:t>6</a:t>
              </a:r>
              <a:r>
                <a:rPr lang="zh-CN" altLang="en-US" sz="1200" b="0" i="0" dirty="0">
                  <a:solidFill>
                    <a:srgbClr val="0D0D0D"/>
                  </a:solidFill>
                  <a:effectLst/>
                  <a:latin typeface="+mn-ea"/>
                  <a:cs typeface="思源黑体 CN Normal" panose="020B0400000000000000" pitchFamily="34" charset="-122"/>
                </a:rPr>
                <a:t>个月</a:t>
              </a:r>
              <a:endParaRPr lang="zh-CN" altLang="en-US" sz="1200" b="0" i="0" dirty="0">
                <a:solidFill>
                  <a:srgbClr val="0D0D0D"/>
                </a:solidFill>
                <a:effectLst/>
                <a:latin typeface="+mn-ea"/>
                <a:cs typeface="思源黑体 CN Normal" panose="020B0400000000000000" pitchFamily="34" charset="-122"/>
              </a:endParaRPr>
            </a:p>
          </p:txBody>
        </p:sp>
      </p:grpSp>
      <p:grpSp>
        <p:nvGrpSpPr>
          <p:cNvPr id="85" name="组合 84"/>
          <p:cNvGrpSpPr/>
          <p:nvPr/>
        </p:nvGrpSpPr>
        <p:grpSpPr>
          <a:xfrm>
            <a:off x="4476135" y="873425"/>
            <a:ext cx="3240000" cy="540357"/>
            <a:chOff x="4476135" y="962325"/>
            <a:chExt cx="3240000" cy="540357"/>
          </a:xfrm>
        </p:grpSpPr>
        <p:sp>
          <p:nvSpPr>
            <p:cNvPr id="78" name="文本框 77"/>
            <p:cNvSpPr txBox="1"/>
            <p:nvPr/>
          </p:nvSpPr>
          <p:spPr>
            <a:xfrm>
              <a:off x="5250000" y="962325"/>
              <a:ext cx="1692000" cy="246221"/>
            </a:xfrm>
            <a:prstGeom prst="rect">
              <a:avLst/>
            </a:prstGeom>
            <a:noFill/>
          </p:spPr>
          <p:txBody>
            <a:bodyPr wrap="square" lIns="0" tIns="0" rIns="0" bIns="0">
              <a:noAutofit/>
            </a:bodyPr>
            <a:lstStyle/>
            <a:p>
              <a:pPr algn="ctr"/>
              <a:r>
                <a:rPr lang="zh-CN" altLang="en-US" sz="1600" b="1" i="0" dirty="0">
                  <a:solidFill>
                    <a:schemeClr val="tx2"/>
                  </a:solidFill>
                  <a:effectLst/>
                  <a:latin typeface="+mj-ea"/>
                  <a:ea typeface="+mj-ea"/>
                  <a:cs typeface="思源黑体 CN Normal" panose="020B0400000000000000" pitchFamily="34" charset="-122"/>
                </a:rPr>
                <a:t>政策环境</a:t>
              </a:r>
              <a:endParaRPr lang="zh-CN" altLang="en-US" sz="1600" b="1" i="0" dirty="0">
                <a:solidFill>
                  <a:schemeClr val="tx2"/>
                </a:solidFill>
                <a:effectLst/>
                <a:latin typeface="+mj-ea"/>
                <a:ea typeface="+mj-ea"/>
                <a:cs typeface="思源黑体 CN Normal" panose="020B0400000000000000" pitchFamily="34" charset="-122"/>
              </a:endParaRPr>
            </a:p>
          </p:txBody>
        </p:sp>
        <p:sp>
          <p:nvSpPr>
            <p:cNvPr id="79" name="文本框 78"/>
            <p:cNvSpPr txBox="1"/>
            <p:nvPr/>
          </p:nvSpPr>
          <p:spPr>
            <a:xfrm>
              <a:off x="4476135" y="1225683"/>
              <a:ext cx="3240000" cy="276999"/>
            </a:xfrm>
            <a:prstGeom prst="rect">
              <a:avLst/>
            </a:prstGeom>
            <a:noFill/>
          </p:spPr>
          <p:txBody>
            <a:bodyPr wrap="square">
              <a:spAutoFit/>
            </a:bodyPr>
            <a:lstStyle/>
            <a:p>
              <a:pPr algn="ctr"/>
              <a:r>
                <a:rPr lang="en-US" altLang="zh-CN" sz="1200" b="0" i="0" dirty="0">
                  <a:solidFill>
                    <a:srgbClr val="0D0D0D"/>
                  </a:solidFill>
                  <a:effectLst/>
                  <a:latin typeface="+mn-ea"/>
                  <a:cs typeface="思源黑体 CN Normal" panose="020B0400000000000000" pitchFamily="34" charset="-122"/>
                </a:rPr>
                <a:t>AI</a:t>
              </a:r>
              <a:r>
                <a:rPr lang="zh-CN" altLang="en-US" sz="1200" b="0" i="0" dirty="0">
                  <a:solidFill>
                    <a:srgbClr val="0D0D0D"/>
                  </a:solidFill>
                  <a:effectLst/>
                  <a:latin typeface="+mn-ea"/>
                  <a:cs typeface="思源黑体 CN Normal" panose="020B0400000000000000" pitchFamily="34" charset="-122"/>
                </a:rPr>
                <a:t>三类证审批时间从</a:t>
              </a:r>
              <a:r>
                <a:rPr lang="en-US" altLang="zh-CN" sz="1200" b="0" i="0" dirty="0">
                  <a:solidFill>
                    <a:srgbClr val="0D0D0D"/>
                  </a:solidFill>
                  <a:effectLst/>
                  <a:latin typeface="+mn-ea"/>
                  <a:cs typeface="思源黑体 CN Normal" panose="020B0400000000000000" pitchFamily="34" charset="-122"/>
                </a:rPr>
                <a:t>18</a:t>
              </a:r>
              <a:r>
                <a:rPr lang="zh-CN" altLang="en-US" sz="1200" b="0" i="0" dirty="0">
                  <a:solidFill>
                    <a:srgbClr val="0D0D0D"/>
                  </a:solidFill>
                  <a:effectLst/>
                  <a:latin typeface="+mn-ea"/>
                  <a:cs typeface="思源黑体 CN Normal" panose="020B0400000000000000" pitchFamily="34" charset="-122"/>
                </a:rPr>
                <a:t>个月压缩至</a:t>
              </a:r>
              <a:r>
                <a:rPr lang="en-US" altLang="zh-CN" sz="1200" b="0" i="0" dirty="0">
                  <a:solidFill>
                    <a:srgbClr val="0D0D0D"/>
                  </a:solidFill>
                  <a:effectLst/>
                  <a:latin typeface="+mn-ea"/>
                  <a:cs typeface="思源黑体 CN Normal" panose="020B0400000000000000" pitchFamily="34" charset="-122"/>
                </a:rPr>
                <a:t>10</a:t>
              </a:r>
              <a:r>
                <a:rPr lang="zh-CN" altLang="en-US" sz="1200" b="0" i="0" dirty="0">
                  <a:solidFill>
                    <a:srgbClr val="0D0D0D"/>
                  </a:solidFill>
                  <a:effectLst/>
                  <a:latin typeface="+mn-ea"/>
                  <a:cs typeface="思源黑体 CN Normal" panose="020B0400000000000000" pitchFamily="34" charset="-122"/>
                </a:rPr>
                <a:t>个月</a:t>
              </a:r>
              <a:endParaRPr lang="zh-CN" altLang="en-US" sz="1200" b="0" i="0" dirty="0">
                <a:solidFill>
                  <a:srgbClr val="0D0D0D"/>
                </a:solidFill>
                <a:effectLst/>
                <a:latin typeface="+mn-ea"/>
                <a:cs typeface="思源黑体 CN Normal" panose="020B0400000000000000" pitchFamily="34" charset="-122"/>
              </a:endParaRPr>
            </a:p>
          </p:txBody>
        </p:sp>
      </p:grpSp>
      <p:grpSp>
        <p:nvGrpSpPr>
          <p:cNvPr id="86" name="组合 85"/>
          <p:cNvGrpSpPr/>
          <p:nvPr/>
        </p:nvGrpSpPr>
        <p:grpSpPr>
          <a:xfrm>
            <a:off x="4476000" y="5564452"/>
            <a:ext cx="3240000" cy="540357"/>
            <a:chOff x="7862150" y="962325"/>
            <a:chExt cx="3240000" cy="540357"/>
          </a:xfrm>
        </p:grpSpPr>
        <p:sp>
          <p:nvSpPr>
            <p:cNvPr id="83" name="文本框 82"/>
            <p:cNvSpPr txBox="1"/>
            <p:nvPr/>
          </p:nvSpPr>
          <p:spPr>
            <a:xfrm>
              <a:off x="8636015" y="962325"/>
              <a:ext cx="1692000" cy="246221"/>
            </a:xfrm>
            <a:prstGeom prst="rect">
              <a:avLst/>
            </a:prstGeom>
            <a:noFill/>
          </p:spPr>
          <p:txBody>
            <a:bodyPr wrap="square" lIns="0" tIns="0" rIns="0" bIns="0">
              <a:noAutofit/>
            </a:bodyPr>
            <a:lstStyle/>
            <a:p>
              <a:pPr algn="ctr"/>
              <a:r>
                <a:rPr lang="zh-CN" altLang="en-US" sz="1600" b="1" i="0" dirty="0">
                  <a:solidFill>
                    <a:schemeClr val="tx2"/>
                  </a:solidFill>
                  <a:effectLst/>
                  <a:latin typeface="+mj-ea"/>
                  <a:ea typeface="+mj-ea"/>
                  <a:cs typeface="思源黑体 CN Normal" panose="020B0400000000000000" pitchFamily="34" charset="-122"/>
                </a:rPr>
                <a:t>竞争格局</a:t>
              </a:r>
              <a:endParaRPr lang="zh-CN" altLang="en-US" sz="1600" b="1" i="0" dirty="0">
                <a:solidFill>
                  <a:schemeClr val="tx2"/>
                </a:solidFill>
                <a:effectLst/>
                <a:latin typeface="+mj-ea"/>
                <a:ea typeface="+mj-ea"/>
                <a:cs typeface="思源黑体 CN Normal" panose="020B0400000000000000" pitchFamily="34" charset="-122"/>
              </a:endParaRPr>
            </a:p>
          </p:txBody>
        </p:sp>
        <p:sp>
          <p:nvSpPr>
            <p:cNvPr id="84" name="文本框 83"/>
            <p:cNvSpPr txBox="1"/>
            <p:nvPr/>
          </p:nvSpPr>
          <p:spPr>
            <a:xfrm>
              <a:off x="7862150" y="1225683"/>
              <a:ext cx="3240000" cy="276999"/>
            </a:xfrm>
            <a:prstGeom prst="rect">
              <a:avLst/>
            </a:prstGeom>
            <a:noFill/>
          </p:spPr>
          <p:txBody>
            <a:bodyPr wrap="square">
              <a:spAutoFit/>
            </a:bodyPr>
            <a:lstStyle/>
            <a:p>
              <a:pPr algn="ctr"/>
              <a:r>
                <a:rPr lang="zh-CN" altLang="en-US" sz="1200" b="0" i="0" dirty="0">
                  <a:solidFill>
                    <a:srgbClr val="0D0D0D"/>
                  </a:solidFill>
                  <a:effectLst/>
                  <a:latin typeface="+mn-ea"/>
                  <a:cs typeface="思源黑体 CN Normal" panose="020B0400000000000000" pitchFamily="34" charset="-122"/>
                </a:rPr>
                <a:t>新进入者需投入</a:t>
              </a:r>
              <a:r>
                <a:rPr lang="en-US" altLang="zh-CN" sz="1200" b="0" i="0" dirty="0">
                  <a:solidFill>
                    <a:srgbClr val="0D0D0D"/>
                  </a:solidFill>
                  <a:effectLst/>
                  <a:latin typeface="+mn-ea"/>
                  <a:cs typeface="思源黑体 CN Normal" panose="020B0400000000000000" pitchFamily="34" charset="-122"/>
                </a:rPr>
                <a:t>2</a:t>
              </a:r>
              <a:r>
                <a:rPr lang="zh-CN" altLang="en-US" sz="1200" b="0" i="0" dirty="0">
                  <a:solidFill>
                    <a:srgbClr val="0D0D0D"/>
                  </a:solidFill>
                  <a:effectLst/>
                  <a:latin typeface="+mn-ea"/>
                  <a:cs typeface="思源黑体 CN Normal" panose="020B0400000000000000" pitchFamily="34" charset="-122"/>
                </a:rPr>
                <a:t>倍资源获取临床资源</a:t>
              </a:r>
              <a:endParaRPr lang="zh-CN" altLang="en-US" sz="1200" b="0" i="0" dirty="0">
                <a:solidFill>
                  <a:srgbClr val="0D0D0D"/>
                </a:solidFill>
                <a:effectLst/>
                <a:latin typeface="+mn-ea"/>
                <a:cs typeface="思源黑体 CN Normal" panose="020B0400000000000000" pitchFamily="34" charset="-122"/>
              </a:endParaRPr>
            </a:p>
          </p:txBody>
        </p:sp>
      </p:grpSp>
      <p:sp>
        <p:nvSpPr>
          <p:cNvPr id="88" name="任意多边形: 形状 87"/>
          <p:cNvSpPr/>
          <p:nvPr/>
        </p:nvSpPr>
        <p:spPr bwMode="auto">
          <a:xfrm rot="5400000" flipV="1">
            <a:off x="5846275" y="1357843"/>
            <a:ext cx="499450"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72000">
                <a:schemeClr val="accent1">
                  <a:alpha val="12000"/>
                </a:schemeClr>
              </a:gs>
              <a:gs pos="53000">
                <a:schemeClr val="accent1">
                  <a:alpha val="34000"/>
                </a:schemeClr>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9" name="任意多边形: 形状 88"/>
          <p:cNvSpPr/>
          <p:nvPr/>
        </p:nvSpPr>
        <p:spPr bwMode="auto">
          <a:xfrm rot="16200000">
            <a:off x="5846275" y="4766489"/>
            <a:ext cx="499450"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72000">
                <a:schemeClr val="accent1">
                  <a:alpha val="12000"/>
                </a:schemeClr>
              </a:gs>
              <a:gs pos="53000">
                <a:schemeClr val="accent1">
                  <a:alpha val="12000"/>
                </a:schemeClr>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4" name="文本框 93"/>
          <p:cNvSpPr txBox="1"/>
          <p:nvPr/>
        </p:nvSpPr>
        <p:spPr>
          <a:xfrm>
            <a:off x="8053826" y="6076914"/>
            <a:ext cx="1692000" cy="432491"/>
          </a:xfrm>
          <a:prstGeom prst="rect">
            <a:avLst/>
          </a:prstGeom>
          <a:noFill/>
        </p:spPr>
        <p:txBody>
          <a:bodyPr wrap="square" lIns="0" tIns="0" rIns="0" bIns="0">
            <a:spAutoFit/>
          </a:bodyPr>
          <a:lstStyle>
            <a:defPPr>
              <a:defRPr lang="zh-CN"/>
            </a:defPPr>
            <a:lvl2pPr marL="0" lvl="1" algn="ctr">
              <a:lnSpc>
                <a:spcPct val="120000"/>
              </a:lnSpc>
              <a:defRPr sz="1200" b="0" i="0">
                <a:solidFill>
                  <a:srgbClr val="0D0D0D"/>
                </a:solidFill>
                <a:effectLst/>
                <a:latin typeface="+mn-ea"/>
              </a:defRPr>
            </a:lvl2pPr>
          </a:lstStyle>
          <a:p>
            <a:pPr lvl="1"/>
            <a:r>
              <a:rPr lang="zh-CN" altLang="en-US" dirty="0">
                <a:cs typeface="思源黑体 CN Normal" panose="020B0400000000000000" pitchFamily="34" charset="-122"/>
              </a:rPr>
              <a:t>开发边缘计算版本，适配基层医院设备</a:t>
            </a:r>
            <a:endParaRPr lang="zh-CN" altLang="en-US" dirty="0">
              <a:cs typeface="思源黑体 CN Normal" panose="020B0400000000000000" pitchFamily="34" charset="-122"/>
            </a:endParaRPr>
          </a:p>
        </p:txBody>
      </p:sp>
      <p:sp>
        <p:nvSpPr>
          <p:cNvPr id="96" name="文本框 95"/>
          <p:cNvSpPr txBox="1"/>
          <p:nvPr/>
        </p:nvSpPr>
        <p:spPr>
          <a:xfrm>
            <a:off x="10066026" y="6076914"/>
            <a:ext cx="1692000" cy="432491"/>
          </a:xfrm>
          <a:prstGeom prst="rect">
            <a:avLst/>
          </a:prstGeom>
          <a:noFill/>
        </p:spPr>
        <p:txBody>
          <a:bodyPr wrap="square" lIns="0" tIns="0" rIns="0" bIns="0">
            <a:spAutoFit/>
          </a:bodyPr>
          <a:lstStyle>
            <a:defPPr>
              <a:defRPr lang="zh-CN"/>
            </a:defPPr>
            <a:lvl2pPr marL="0" lvl="1" algn="ctr">
              <a:lnSpc>
                <a:spcPct val="120000"/>
              </a:lnSpc>
              <a:defRPr sz="1200" b="0" i="0">
                <a:solidFill>
                  <a:srgbClr val="0D0D0D"/>
                </a:solidFill>
                <a:effectLst/>
                <a:latin typeface="+mn-ea"/>
              </a:defRPr>
            </a:lvl2pPr>
          </a:lstStyle>
          <a:p>
            <a:pPr lvl="1"/>
            <a:r>
              <a:rPr lang="zh-CN" altLang="en-US" dirty="0">
                <a:cs typeface="思源黑体 CN Normal" panose="020B0400000000000000" pitchFamily="34" charset="-122"/>
              </a:rPr>
              <a:t>新增心血管、神经退行性疾病模型，覆盖多病种</a:t>
            </a:r>
            <a:endParaRPr lang="zh-CN" altLang="en-US" dirty="0">
              <a:cs typeface="思源黑体 CN Normal" panose="020B0400000000000000" pitchFamily="34" charset="-122"/>
            </a:endParaRPr>
          </a:p>
        </p:txBody>
      </p:sp>
      <p:sp>
        <p:nvSpPr>
          <p:cNvPr id="99" name="文本框 98"/>
          <p:cNvSpPr txBox="1"/>
          <p:nvPr/>
        </p:nvSpPr>
        <p:spPr>
          <a:xfrm>
            <a:off x="705942" y="5726644"/>
            <a:ext cx="1276812" cy="252000"/>
          </a:xfrm>
          <a:prstGeom prst="roundRect">
            <a:avLst>
              <a:gd name="adj" fmla="val 50000"/>
            </a:avLst>
          </a:prstGeom>
          <a:solidFill>
            <a:schemeClr val="accent1">
              <a:lumMod val="20000"/>
              <a:lumOff val="80000"/>
              <a:alpha val="70000"/>
            </a:schemeClr>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市场扩张受阻</a:t>
            </a:r>
            <a:endParaRPr lang="zh-CN" altLang="en-US" b="0" dirty="0">
              <a:solidFill>
                <a:schemeClr val="tx2"/>
              </a:solidFill>
              <a:latin typeface="+mj-ea"/>
              <a:ea typeface="+mj-ea"/>
              <a:cs typeface="思源黑体 CN Normal" panose="020B0400000000000000" pitchFamily="34" charset="-122"/>
            </a:endParaRPr>
          </a:p>
        </p:txBody>
      </p:sp>
      <p:sp>
        <p:nvSpPr>
          <p:cNvPr id="100" name="文本框 99"/>
          <p:cNvSpPr txBox="1"/>
          <p:nvPr/>
        </p:nvSpPr>
        <p:spPr>
          <a:xfrm>
            <a:off x="486419" y="6076914"/>
            <a:ext cx="1715859" cy="432491"/>
          </a:xfrm>
          <a:prstGeom prst="rect">
            <a:avLst/>
          </a:prstGeom>
          <a:noFill/>
        </p:spPr>
        <p:txBody>
          <a:bodyPr wrap="square" lIns="0" tIns="0" rIns="0" bIns="0">
            <a:spAutoFit/>
          </a:bodyPr>
          <a:lstStyle/>
          <a:p>
            <a:pPr marL="0" lvl="1" algn="ctr">
              <a:lnSpc>
                <a:spcPct val="120000"/>
              </a:lnSpc>
            </a:pPr>
            <a:r>
              <a:rPr lang="zh-CN" altLang="en-US" sz="1200" b="0" i="0" dirty="0">
                <a:solidFill>
                  <a:srgbClr val="0D0D0D"/>
                </a:solidFill>
                <a:effectLst/>
                <a:latin typeface="+mn-ea"/>
                <a:cs typeface="思源黑体 CN Normal" panose="020B0400000000000000" pitchFamily="34" charset="-122"/>
              </a:rPr>
              <a:t>因付费模式问题，二级医院市场渗透率不足</a:t>
            </a:r>
            <a:r>
              <a:rPr lang="en-US" altLang="zh-CN" sz="1200" b="0" i="0" dirty="0">
                <a:solidFill>
                  <a:srgbClr val="0D0D0D"/>
                </a:solidFill>
                <a:effectLst/>
                <a:latin typeface="+mn-ea"/>
                <a:cs typeface="思源黑体 CN Normal" panose="020B0400000000000000" pitchFamily="34" charset="-122"/>
              </a:rPr>
              <a:t>25%</a:t>
            </a:r>
            <a:endParaRPr lang="zh-CN" altLang="en-US" sz="1200" b="0" i="0" dirty="0">
              <a:solidFill>
                <a:srgbClr val="0D0D0D"/>
              </a:solidFill>
              <a:effectLst/>
              <a:latin typeface="+mn-ea"/>
              <a:cs typeface="思源黑体 CN Normal" panose="020B0400000000000000" pitchFamily="34" charset="-122"/>
            </a:endParaRPr>
          </a:p>
        </p:txBody>
      </p:sp>
      <p:sp>
        <p:nvSpPr>
          <p:cNvPr id="102" name="文本框 101"/>
          <p:cNvSpPr txBox="1"/>
          <p:nvPr/>
        </p:nvSpPr>
        <p:spPr>
          <a:xfrm>
            <a:off x="2609559" y="6076914"/>
            <a:ext cx="1692000" cy="432491"/>
          </a:xfrm>
          <a:prstGeom prst="rect">
            <a:avLst/>
          </a:prstGeom>
          <a:noFill/>
        </p:spPr>
        <p:txBody>
          <a:bodyPr wrap="square" lIns="0" tIns="0" rIns="0" bIns="0">
            <a:spAutoFit/>
          </a:bodyPr>
          <a:lstStyle>
            <a:defPPr>
              <a:defRPr lang="zh-CN"/>
            </a:defPPr>
            <a:lvl2pPr marL="0" lvl="1" algn="ctr">
              <a:lnSpc>
                <a:spcPct val="120000"/>
              </a:lnSpc>
              <a:defRPr sz="1200" b="0" i="0">
                <a:solidFill>
                  <a:srgbClr val="0D0D0D"/>
                </a:solidFill>
                <a:effectLst/>
                <a:latin typeface="+mn-ea"/>
              </a:defRPr>
            </a:lvl2pPr>
          </a:lstStyle>
          <a:p>
            <a:pPr lvl="1"/>
            <a:r>
              <a:rPr lang="zh-CN" altLang="en-US" dirty="0">
                <a:cs typeface="思源黑体 CN Normal" panose="020B0400000000000000" pitchFamily="34" charset="-122"/>
              </a:rPr>
              <a:t>合规流程导致模型迭代周期从</a:t>
            </a:r>
            <a:r>
              <a:rPr lang="en-US" altLang="zh-CN" dirty="0">
                <a:cs typeface="思源黑体 CN Normal" panose="020B0400000000000000" pitchFamily="34" charset="-122"/>
              </a:rPr>
              <a:t>3</a:t>
            </a:r>
            <a:r>
              <a:rPr lang="zh-CN" altLang="en-US" dirty="0">
                <a:cs typeface="思源黑体 CN Normal" panose="020B0400000000000000" pitchFamily="34" charset="-122"/>
              </a:rPr>
              <a:t>个月延长至</a:t>
            </a:r>
            <a:r>
              <a:rPr lang="en-US" altLang="zh-CN" dirty="0">
                <a:cs typeface="思源黑体 CN Normal" panose="020B0400000000000000" pitchFamily="34" charset="-122"/>
              </a:rPr>
              <a:t>5</a:t>
            </a:r>
            <a:r>
              <a:rPr lang="zh-CN" altLang="en-US" dirty="0">
                <a:cs typeface="思源黑体 CN Normal" panose="020B0400000000000000" pitchFamily="34" charset="-122"/>
              </a:rPr>
              <a:t>个月</a:t>
            </a:r>
            <a:endParaRPr lang="zh-CN" altLang="en-US" dirty="0">
              <a:cs typeface="思源黑体 CN Normal" panose="020B0400000000000000" pitchFamily="34" charset="-122"/>
            </a:endParaRPr>
          </a:p>
        </p:txBody>
      </p:sp>
      <p:sp>
        <p:nvSpPr>
          <p:cNvPr id="107" name="文本框 106"/>
          <p:cNvSpPr txBox="1"/>
          <p:nvPr/>
        </p:nvSpPr>
        <p:spPr>
          <a:xfrm>
            <a:off x="2817153" y="5726644"/>
            <a:ext cx="1276812" cy="252000"/>
          </a:xfrm>
          <a:prstGeom prst="roundRect">
            <a:avLst>
              <a:gd name="adj" fmla="val 50000"/>
            </a:avLst>
          </a:prstGeom>
          <a:solidFill>
            <a:schemeClr val="accent1">
              <a:lumMod val="20000"/>
              <a:lumOff val="80000"/>
              <a:alpha val="70000"/>
            </a:schemeClr>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创新速度放缓</a:t>
            </a:r>
            <a:endParaRPr lang="zh-CN" altLang="en-US" b="0" dirty="0">
              <a:solidFill>
                <a:schemeClr val="tx2"/>
              </a:solidFill>
              <a:latin typeface="+mj-ea"/>
              <a:ea typeface="+mj-ea"/>
              <a:cs typeface="思源黑体 CN Normal" panose="020B0400000000000000" pitchFamily="34" charset="-122"/>
            </a:endParaRPr>
          </a:p>
        </p:txBody>
      </p:sp>
      <p:sp>
        <p:nvSpPr>
          <p:cNvPr id="111" name="文本框 110"/>
          <p:cNvSpPr txBox="1"/>
          <p:nvPr/>
        </p:nvSpPr>
        <p:spPr>
          <a:xfrm>
            <a:off x="8113005" y="5726644"/>
            <a:ext cx="1276812" cy="252000"/>
          </a:xfrm>
          <a:prstGeom prst="roundRect">
            <a:avLst>
              <a:gd name="adj" fmla="val 50000"/>
            </a:avLst>
          </a:prstGeom>
          <a:solidFill>
            <a:schemeClr val="accent2">
              <a:lumMod val="20000"/>
              <a:lumOff val="80000"/>
              <a:alpha val="70000"/>
            </a:schemeClr>
          </a:soli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bg2"/>
                </a:solidFill>
                <a:latin typeface="+mj-ea"/>
                <a:ea typeface="+mj-ea"/>
                <a:cs typeface="思源黑体 CN Normal" panose="020B0400000000000000" pitchFamily="34" charset="-122"/>
              </a:rPr>
              <a:t>模型轻量化</a:t>
            </a:r>
            <a:endParaRPr lang="zh-CN" altLang="en-US" b="0" dirty="0">
              <a:solidFill>
                <a:schemeClr val="bg2"/>
              </a:solidFill>
              <a:latin typeface="+mj-ea"/>
              <a:ea typeface="+mj-ea"/>
              <a:cs typeface="思源黑体 CN Normal" panose="020B0400000000000000" pitchFamily="34" charset="-122"/>
            </a:endParaRPr>
          </a:p>
        </p:txBody>
      </p:sp>
      <p:sp>
        <p:nvSpPr>
          <p:cNvPr id="112" name="文本框 111"/>
          <p:cNvSpPr txBox="1"/>
          <p:nvPr/>
        </p:nvSpPr>
        <p:spPr>
          <a:xfrm>
            <a:off x="10210217" y="5726644"/>
            <a:ext cx="1276812" cy="252000"/>
          </a:xfrm>
          <a:prstGeom prst="roundRect">
            <a:avLst>
              <a:gd name="adj" fmla="val 50000"/>
            </a:avLst>
          </a:prstGeom>
          <a:solidFill>
            <a:schemeClr val="accent2">
              <a:lumMod val="20000"/>
              <a:lumOff val="80000"/>
              <a:alpha val="70000"/>
            </a:schemeClr>
          </a:soli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bg2"/>
                </a:solidFill>
                <a:latin typeface="+mj-ea"/>
                <a:ea typeface="+mj-ea"/>
                <a:cs typeface="思源黑体 CN Normal" panose="020B0400000000000000" pitchFamily="34" charset="-122"/>
              </a:rPr>
              <a:t>多病种扩展</a:t>
            </a:r>
            <a:endParaRPr lang="zh-CN" altLang="en-US" b="0" dirty="0">
              <a:solidFill>
                <a:schemeClr val="bg2"/>
              </a:solidFill>
              <a:latin typeface="+mj-ea"/>
              <a:ea typeface="+mj-ea"/>
              <a:cs typeface="思源黑体 CN Normal" panose="020B0400000000000000" pitchFamily="34" charset="-122"/>
            </a:endParaRPr>
          </a:p>
        </p:txBody>
      </p:sp>
      <p:sp>
        <p:nvSpPr>
          <p:cNvPr id="114" name="文本框 113"/>
          <p:cNvSpPr txBox="1"/>
          <p:nvPr/>
        </p:nvSpPr>
        <p:spPr>
          <a:xfrm>
            <a:off x="4804685" y="6116843"/>
            <a:ext cx="2582631" cy="400110"/>
          </a:xfrm>
          <a:prstGeom prst="rect">
            <a:avLst/>
          </a:prstGeom>
          <a:noFill/>
        </p:spPr>
        <p:txBody>
          <a:bodyPr wrap="square">
            <a:spAutoFit/>
          </a:bodyPr>
          <a:lstStyle/>
          <a:p>
            <a:pPr algn="ctr"/>
            <a:r>
              <a:rPr lang="zh-CN" altLang="en-US" sz="2000"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技术领跑转化待破局</a:t>
            </a:r>
            <a:endParaRPr lang="zh-CN" altLang="en-US" sz="2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5" name="梯形 114"/>
          <p:cNvSpPr/>
          <p:nvPr/>
        </p:nvSpPr>
        <p:spPr>
          <a:xfrm>
            <a:off x="4665000" y="6410979"/>
            <a:ext cx="2862000" cy="183474"/>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鱼骨型</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绩效目标</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13" name="组合 212"/>
          <p:cNvGrpSpPr/>
          <p:nvPr/>
        </p:nvGrpSpPr>
        <p:grpSpPr>
          <a:xfrm>
            <a:off x="516964" y="1169038"/>
            <a:ext cx="11158072" cy="5162781"/>
            <a:chOff x="516964" y="1144723"/>
            <a:chExt cx="11158072" cy="5162781"/>
          </a:xfrm>
        </p:grpSpPr>
        <p:sp>
          <p:nvSpPr>
            <p:cNvPr id="45" name="矩形 44"/>
            <p:cNvSpPr/>
            <p:nvPr>
              <p:custDataLst>
                <p:tags r:id="rId1"/>
              </p:custDataLst>
            </p:nvPr>
          </p:nvSpPr>
          <p:spPr>
            <a:xfrm>
              <a:off x="1817907" y="3664697"/>
              <a:ext cx="7880338" cy="122833"/>
            </a:xfrm>
            <a:prstGeom prst="rect">
              <a:avLst/>
            </a:prstGeom>
            <a:solidFill>
              <a:schemeClr val="accent1"/>
            </a:solidFill>
            <a:ln>
              <a:noFill/>
            </a:ln>
            <a:effectLst>
              <a:outerShdw blurRad="350012" dist="63500" dir="5400000" algn="t"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7" name="任意多边形: 形状 46"/>
            <p:cNvSpPr/>
            <p:nvPr/>
          </p:nvSpPr>
          <p:spPr>
            <a:xfrm>
              <a:off x="516964" y="2681165"/>
              <a:ext cx="1388388" cy="2089897"/>
            </a:xfrm>
            <a:custGeom>
              <a:avLst/>
              <a:gdLst>
                <a:gd name="connsiteX0" fmla="*/ 45010 w 1426890"/>
                <a:gd name="connsiteY0" fmla="*/ 0 h 2168694"/>
                <a:gd name="connsiteX1" fmla="*/ 1391159 w 1426890"/>
                <a:gd name="connsiteY1" fmla="*/ 1016674 h 2168694"/>
                <a:gd name="connsiteX2" fmla="*/ 1411582 w 1426890"/>
                <a:gd name="connsiteY2" fmla="*/ 1041490 h 2168694"/>
                <a:gd name="connsiteX3" fmla="*/ 1418082 w 1426890"/>
                <a:gd name="connsiteY3" fmla="*/ 1041490 h 2168694"/>
                <a:gd name="connsiteX4" fmla="*/ 1426890 w 1426890"/>
                <a:gd name="connsiteY4" fmla="*/ 1080201 h 2168694"/>
                <a:gd name="connsiteX5" fmla="*/ 1425947 w 1426890"/>
                <a:gd name="connsiteY5" fmla="*/ 1084347 h 2168694"/>
                <a:gd name="connsiteX6" fmla="*/ 1426890 w 1426890"/>
                <a:gd name="connsiteY6" fmla="*/ 1088493 h 2168694"/>
                <a:gd name="connsiteX7" fmla="*/ 1418082 w 1426890"/>
                <a:gd name="connsiteY7" fmla="*/ 1127204 h 2168694"/>
                <a:gd name="connsiteX8" fmla="*/ 1411582 w 1426890"/>
                <a:gd name="connsiteY8" fmla="*/ 1127204 h 2168694"/>
                <a:gd name="connsiteX9" fmla="*/ 1391159 w 1426890"/>
                <a:gd name="connsiteY9" fmla="*/ 1152020 h 2168694"/>
                <a:gd name="connsiteX10" fmla="*/ 45010 w 1426890"/>
                <a:gd name="connsiteY10" fmla="*/ 2168694 h 2168694"/>
                <a:gd name="connsiteX11" fmla="*/ 319615 w 1426890"/>
                <a:gd name="connsiteY11" fmla="*/ 1110937 h 2168694"/>
                <a:gd name="connsiteX12" fmla="*/ 324296 w 1426890"/>
                <a:gd name="connsiteY12" fmla="*/ 1084347 h 2168694"/>
                <a:gd name="connsiteX13" fmla="*/ 319615 w 1426890"/>
                <a:gd name="connsiteY13" fmla="*/ 1057757 h 2168694"/>
                <a:gd name="connsiteX14" fmla="*/ 45010 w 1426890"/>
                <a:gd name="connsiteY14" fmla="*/ 0 h 2168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6890" h="2168694">
                  <a:moveTo>
                    <a:pt x="45010" y="0"/>
                  </a:moveTo>
                  <a:cubicBezTo>
                    <a:pt x="515951" y="342066"/>
                    <a:pt x="942443" y="677783"/>
                    <a:pt x="1391159" y="1016674"/>
                  </a:cubicBezTo>
                  <a:lnTo>
                    <a:pt x="1411582" y="1041490"/>
                  </a:lnTo>
                  <a:lnTo>
                    <a:pt x="1418082" y="1041490"/>
                  </a:lnTo>
                  <a:lnTo>
                    <a:pt x="1426890" y="1080201"/>
                  </a:lnTo>
                  <a:lnTo>
                    <a:pt x="1425947" y="1084347"/>
                  </a:lnTo>
                  <a:lnTo>
                    <a:pt x="1426890" y="1088493"/>
                  </a:lnTo>
                  <a:lnTo>
                    <a:pt x="1418082" y="1127204"/>
                  </a:lnTo>
                  <a:lnTo>
                    <a:pt x="1411582" y="1127204"/>
                  </a:lnTo>
                  <a:lnTo>
                    <a:pt x="1391159" y="1152020"/>
                  </a:lnTo>
                  <a:cubicBezTo>
                    <a:pt x="942443" y="1490911"/>
                    <a:pt x="515951" y="1826628"/>
                    <a:pt x="45010" y="2168694"/>
                  </a:cubicBezTo>
                  <a:cubicBezTo>
                    <a:pt x="-133581" y="2161847"/>
                    <a:pt x="273848" y="1297475"/>
                    <a:pt x="319615" y="1110937"/>
                  </a:cubicBezTo>
                  <a:lnTo>
                    <a:pt x="324296" y="1084347"/>
                  </a:lnTo>
                  <a:lnTo>
                    <a:pt x="319615" y="1057757"/>
                  </a:lnTo>
                  <a:cubicBezTo>
                    <a:pt x="273848" y="871219"/>
                    <a:pt x="-133581" y="6847"/>
                    <a:pt x="45010" y="0"/>
                  </a:cubicBezTo>
                  <a:close/>
                </a:path>
              </a:pathLst>
            </a:custGeom>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77" name="等腰三角形 19"/>
            <p:cNvSpPr/>
            <p:nvPr/>
          </p:nvSpPr>
          <p:spPr>
            <a:xfrm>
              <a:off x="9065290" y="1818156"/>
              <a:ext cx="2609746" cy="3815915"/>
            </a:xfrm>
            <a:custGeom>
              <a:avLst/>
              <a:gdLst>
                <a:gd name="connsiteX0" fmla="*/ 144241 w 2682117"/>
                <a:gd name="connsiteY0" fmla="*/ 18340 h 3959789"/>
                <a:gd name="connsiteX1" fmla="*/ 2646386 w 2682117"/>
                <a:gd name="connsiteY1" fmla="*/ 1908076 h 3959789"/>
                <a:gd name="connsiteX2" fmla="*/ 2646386 w 2682117"/>
                <a:gd name="connsiteY2" fmla="*/ 2051714 h 3959789"/>
                <a:gd name="connsiteX3" fmla="*/ 144241 w 2682117"/>
                <a:gd name="connsiteY3" fmla="*/ 3941450 h 3959789"/>
                <a:gd name="connsiteX4" fmla="*/ 0 w 2682117"/>
                <a:gd name="connsiteY4" fmla="*/ 3869631 h 3959789"/>
                <a:gd name="connsiteX5" fmla="*/ 0 w 2682117"/>
                <a:gd name="connsiteY5" fmla="*/ 90159 h 3959789"/>
                <a:gd name="connsiteX6" fmla="*/ 144241 w 2682117"/>
                <a:gd name="connsiteY6" fmla="*/ 18340 h 3959789"/>
                <a:gd name="connsiteX0-1" fmla="*/ 162038 w 2699914"/>
                <a:gd name="connsiteY0-2" fmla="*/ 18340 h 3959789"/>
                <a:gd name="connsiteX1-3" fmla="*/ 2664183 w 2699914"/>
                <a:gd name="connsiteY1-4" fmla="*/ 1908076 h 3959789"/>
                <a:gd name="connsiteX2-5" fmla="*/ 2664183 w 2699914"/>
                <a:gd name="connsiteY2-6" fmla="*/ 2051714 h 3959789"/>
                <a:gd name="connsiteX3-7" fmla="*/ 162038 w 2699914"/>
                <a:gd name="connsiteY3-8" fmla="*/ 3941450 h 3959789"/>
                <a:gd name="connsiteX4-9" fmla="*/ 17797 w 2699914"/>
                <a:gd name="connsiteY4-10" fmla="*/ 3869631 h 3959789"/>
                <a:gd name="connsiteX5-11" fmla="*/ 0 w 2699914"/>
                <a:gd name="connsiteY5-12" fmla="*/ 1902024 h 3959789"/>
                <a:gd name="connsiteX6-13" fmla="*/ 17797 w 2699914"/>
                <a:gd name="connsiteY6-14" fmla="*/ 90159 h 3959789"/>
                <a:gd name="connsiteX7" fmla="*/ 162038 w 2699914"/>
                <a:gd name="connsiteY7" fmla="*/ 18340 h 3959789"/>
                <a:gd name="connsiteX0-15" fmla="*/ 144241 w 2682117"/>
                <a:gd name="connsiteY0-16" fmla="*/ 18340 h 3959789"/>
                <a:gd name="connsiteX1-17" fmla="*/ 2646386 w 2682117"/>
                <a:gd name="connsiteY1-18" fmla="*/ 1908076 h 3959789"/>
                <a:gd name="connsiteX2-19" fmla="*/ 2646386 w 2682117"/>
                <a:gd name="connsiteY2-20" fmla="*/ 2051714 h 3959789"/>
                <a:gd name="connsiteX3-21" fmla="*/ 144241 w 2682117"/>
                <a:gd name="connsiteY3-22" fmla="*/ 3941450 h 3959789"/>
                <a:gd name="connsiteX4-23" fmla="*/ 0 w 2682117"/>
                <a:gd name="connsiteY4-24" fmla="*/ 3869631 h 3959789"/>
                <a:gd name="connsiteX5-25" fmla="*/ 248903 w 2682117"/>
                <a:gd name="connsiteY5-26" fmla="*/ 1914724 h 3959789"/>
                <a:gd name="connsiteX6-27" fmla="*/ 0 w 2682117"/>
                <a:gd name="connsiteY6-28" fmla="*/ 90159 h 3959789"/>
                <a:gd name="connsiteX7-29" fmla="*/ 144241 w 2682117"/>
                <a:gd name="connsiteY7-30" fmla="*/ 18340 h 395978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Lst>
              <a:rect l="l" t="t" r="r" b="b"/>
              <a:pathLst>
                <a:path w="2682117" h="3959789">
                  <a:moveTo>
                    <a:pt x="144241" y="18340"/>
                  </a:moveTo>
                  <a:lnTo>
                    <a:pt x="2646386" y="1908076"/>
                  </a:lnTo>
                  <a:cubicBezTo>
                    <a:pt x="2694028" y="1944057"/>
                    <a:pt x="2694028" y="2015733"/>
                    <a:pt x="2646386" y="2051714"/>
                  </a:cubicBezTo>
                  <a:lnTo>
                    <a:pt x="144241" y="3941450"/>
                  </a:lnTo>
                  <a:cubicBezTo>
                    <a:pt x="84958" y="3986223"/>
                    <a:pt x="0" y="3943922"/>
                    <a:pt x="0" y="3869631"/>
                  </a:cubicBezTo>
                  <a:lnTo>
                    <a:pt x="248903" y="1914724"/>
                  </a:lnTo>
                  <a:lnTo>
                    <a:pt x="0" y="90159"/>
                  </a:lnTo>
                  <a:cubicBezTo>
                    <a:pt x="0" y="15868"/>
                    <a:pt x="84958" y="-26433"/>
                    <a:pt x="144241" y="18340"/>
                  </a:cubicBezTo>
                </a:path>
              </a:pathLst>
            </a:custGeom>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78" name="椭圆 77"/>
            <p:cNvSpPr>
              <a:spLocks noChangeAspect="1"/>
            </p:cNvSpPr>
            <p:nvPr/>
          </p:nvSpPr>
          <p:spPr>
            <a:xfrm>
              <a:off x="10710271" y="3587345"/>
              <a:ext cx="280229" cy="277536"/>
            </a:xfrm>
            <a:prstGeom prst="ellipse">
              <a:avLst/>
            </a:prstGeom>
            <a:ln w="41275">
              <a:solidFill>
                <a:schemeClr val="bg1"/>
              </a:solidFill>
            </a:ln>
            <a:effectLst>
              <a:outerShdw blurRad="165100" sx="102000" sy="102000" algn="ctr" rotWithShape="0">
                <a:schemeClr val="accent1">
                  <a:lumMod val="5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1" name="紫荆的职场Point6"/>
            <p:cNvSpPr/>
            <p:nvPr/>
          </p:nvSpPr>
          <p:spPr>
            <a:xfrm>
              <a:off x="1767352" y="4895577"/>
              <a:ext cx="1653933" cy="299697"/>
            </a:xfrm>
            <a:prstGeom prst="parallelogram">
              <a:avLst>
                <a:gd name="adj" fmla="val 42455"/>
              </a:avLst>
            </a:prstGeom>
            <a:gradFill>
              <a:gsLst>
                <a:gs pos="0">
                  <a:schemeClr val="accent3">
                    <a:alpha val="0"/>
                  </a:schemeClr>
                </a:gs>
                <a:gs pos="100000">
                  <a:schemeClr val="accent3">
                    <a:alpha val="20000"/>
                  </a:schemeClr>
                </a:gs>
              </a:gsLst>
              <a:lin ang="0" scaled="0"/>
            </a:gradFill>
            <a:ln w="12700" cap="flat" cmpd="sng" algn="ctr">
              <a:noFill/>
              <a:prstDash val="solid"/>
              <a:miter lim="800000"/>
            </a:ln>
            <a:effectLst/>
          </p:spPr>
          <p:txBody>
            <a:bodyPr rtlCol="0" anchor="ctr"/>
            <a:lstStyle/>
            <a:p>
              <a:pPr algn="ctr"/>
              <a:r>
                <a:rPr lang="zh-CN" altLang="en-US" sz="1050" dirty="0">
                  <a:latin typeface="思源黑体 CN Normal" panose="020B0400000000000000" pitchFamily="34" charset="-122"/>
                  <a:cs typeface="思源黑体 CN Normal" panose="020B0400000000000000" pitchFamily="34" charset="-122"/>
                </a:rPr>
                <a:t>竞争对手全面分析</a:t>
              </a:r>
              <a:endParaRPr lang="zh-CN" altLang="en-US" sz="1050" dirty="0">
                <a:latin typeface="思源黑体 CN Normal" panose="020B0400000000000000" pitchFamily="34" charset="-122"/>
                <a:cs typeface="思源黑体 CN Normal" panose="020B0400000000000000" pitchFamily="34" charset="-122"/>
                <a:sym typeface="+mn-lt"/>
              </a:endParaRPr>
            </a:p>
          </p:txBody>
        </p:sp>
        <p:sp>
          <p:nvSpPr>
            <p:cNvPr id="162" name="紫荆的职场Point6"/>
            <p:cNvSpPr/>
            <p:nvPr/>
          </p:nvSpPr>
          <p:spPr>
            <a:xfrm>
              <a:off x="1905352" y="4259097"/>
              <a:ext cx="1653933" cy="299697"/>
            </a:xfrm>
            <a:prstGeom prst="parallelogram">
              <a:avLst>
                <a:gd name="adj" fmla="val 42455"/>
              </a:avLst>
            </a:prstGeom>
            <a:gradFill>
              <a:gsLst>
                <a:gs pos="0">
                  <a:schemeClr val="accent3">
                    <a:alpha val="0"/>
                  </a:schemeClr>
                </a:gs>
                <a:gs pos="100000">
                  <a:schemeClr val="accent3">
                    <a:alpha val="20000"/>
                  </a:schemeClr>
                </a:gs>
              </a:gsLst>
              <a:lin ang="0" scaled="0"/>
            </a:gradFill>
            <a:ln w="12700" cap="flat" cmpd="sng" algn="ctr">
              <a:noFill/>
              <a:prstDash val="solid"/>
              <a:miter lim="800000"/>
            </a:ln>
            <a:effectLst/>
          </p:spPr>
          <p:txBody>
            <a:bodyPr rtlCol="0" anchor="ctr"/>
            <a:lstStyle/>
            <a:p>
              <a:pPr algn="ctr"/>
              <a:r>
                <a:rPr lang="zh-CN" altLang="en-US" sz="1050" dirty="0">
                  <a:latin typeface="思源黑体 CN Normal" panose="020B0400000000000000" pitchFamily="34" charset="-122"/>
                  <a:cs typeface="思源黑体 CN Normal" panose="020B0400000000000000" pitchFamily="34" charset="-122"/>
                </a:rPr>
                <a:t>新市场区域开发</a:t>
              </a:r>
              <a:endParaRPr lang="zh-CN" altLang="en-US" sz="1050" dirty="0">
                <a:latin typeface="思源黑体 CN Normal" panose="020B0400000000000000" pitchFamily="34" charset="-122"/>
                <a:cs typeface="思源黑体 CN Normal" panose="020B0400000000000000" pitchFamily="34" charset="-122"/>
                <a:sym typeface="+mn-lt"/>
              </a:endParaRPr>
            </a:p>
          </p:txBody>
        </p:sp>
        <p:sp>
          <p:nvSpPr>
            <p:cNvPr id="108" name="紫荆的职场Point6"/>
            <p:cNvSpPr/>
            <p:nvPr/>
          </p:nvSpPr>
          <p:spPr>
            <a:xfrm flipH="1">
              <a:off x="1767352" y="2256952"/>
              <a:ext cx="1653933" cy="299697"/>
            </a:xfrm>
            <a:prstGeom prst="parallelogram">
              <a:avLst>
                <a:gd name="adj" fmla="val 42455"/>
              </a:avLst>
            </a:prstGeom>
            <a:gradFill>
              <a:gsLst>
                <a:gs pos="0">
                  <a:schemeClr val="accent3">
                    <a:alpha val="0"/>
                  </a:schemeClr>
                </a:gs>
                <a:gs pos="100000">
                  <a:schemeClr val="accent3">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社交媒体粉丝增长</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109" name="紫荆的职场Point6"/>
            <p:cNvSpPr/>
            <p:nvPr/>
          </p:nvSpPr>
          <p:spPr>
            <a:xfrm flipH="1">
              <a:off x="1905352" y="2893432"/>
              <a:ext cx="1653933" cy="299697"/>
            </a:xfrm>
            <a:prstGeom prst="parallelogram">
              <a:avLst>
                <a:gd name="adj" fmla="val 42455"/>
              </a:avLst>
            </a:prstGeom>
            <a:gradFill>
              <a:gsLst>
                <a:gs pos="0">
                  <a:schemeClr val="accent3">
                    <a:alpha val="0"/>
                  </a:schemeClr>
                </a:gs>
                <a:gs pos="100000">
                  <a:schemeClr val="accent3">
                    <a:alpha val="20000"/>
                  </a:schemeClr>
                </a:gs>
              </a:gsLst>
              <a:lin ang="10800000" scaled="1"/>
            </a:gradFill>
            <a:ln w="12700" cap="flat" cmpd="sng" algn="ctr">
              <a:noFill/>
              <a:prstDash val="solid"/>
              <a:miter lim="800000"/>
            </a:ln>
            <a:effectLst/>
          </p:spPr>
          <p:txBody>
            <a:bodyPr rtlCol="0" anchor="ctr"/>
            <a:lstStyle/>
            <a:p>
              <a:pPr algn="ctr"/>
              <a:r>
                <a:rPr lang="zh-CN" altLang="en-US" sz="1050" dirty="0">
                  <a:latin typeface="思源黑体 CN Normal" panose="020B0400000000000000" pitchFamily="34" charset="-122"/>
                  <a:cs typeface="思源黑体 CN Normal" panose="020B0400000000000000" pitchFamily="34" charset="-122"/>
                </a:rPr>
                <a:t>品牌曝光度扩大</a:t>
              </a:r>
              <a:endParaRPr lang="zh-CN" altLang="en-US" sz="1050" dirty="0">
                <a:latin typeface="思源黑体 CN Normal" panose="020B0400000000000000" pitchFamily="34" charset="-122"/>
                <a:cs typeface="思源黑体 CN Normal" panose="020B0400000000000000" pitchFamily="34" charset="-122"/>
                <a:sym typeface="+mn-lt"/>
              </a:endParaRPr>
            </a:p>
          </p:txBody>
        </p:sp>
        <p:sp>
          <p:nvSpPr>
            <p:cNvPr id="44" name="任意多边形: 形状 43"/>
            <p:cNvSpPr>
              <a:spLocks noChangeAspect="1"/>
            </p:cNvSpPr>
            <p:nvPr>
              <p:custDataLst>
                <p:tags r:id="rId2"/>
              </p:custDataLst>
            </p:nvPr>
          </p:nvSpPr>
          <p:spPr>
            <a:xfrm>
              <a:off x="2906954" y="1766016"/>
              <a:ext cx="723828" cy="3920194"/>
            </a:xfrm>
            <a:custGeom>
              <a:avLst/>
              <a:gdLst>
                <a:gd name="connsiteX0" fmla="*/ 0 w 820879"/>
                <a:gd name="connsiteY0" fmla="*/ 0 h 4488954"/>
                <a:gd name="connsiteX1" fmla="*/ 101670 w 820879"/>
                <a:gd name="connsiteY1" fmla="*/ 95888 h 4488954"/>
                <a:gd name="connsiteX2" fmla="*/ 130284 w 820879"/>
                <a:gd name="connsiteY2" fmla="*/ 131320 h 4488954"/>
                <a:gd name="connsiteX3" fmla="*/ 197857 w 820879"/>
                <a:gd name="connsiteY3" fmla="*/ 195050 h 4488954"/>
                <a:gd name="connsiteX4" fmla="*/ 820879 w 820879"/>
                <a:gd name="connsiteY4" fmla="*/ 2244478 h 4488954"/>
                <a:gd name="connsiteX5" fmla="*/ 197857 w 820879"/>
                <a:gd name="connsiteY5" fmla="*/ 4293906 h 4488954"/>
                <a:gd name="connsiteX6" fmla="*/ 130281 w 820879"/>
                <a:gd name="connsiteY6" fmla="*/ 4357639 h 4488954"/>
                <a:gd name="connsiteX7" fmla="*/ 101670 w 820879"/>
                <a:gd name="connsiteY7" fmla="*/ 4393067 h 4488954"/>
                <a:gd name="connsiteX8" fmla="*/ 0 w 820879"/>
                <a:gd name="connsiteY8" fmla="*/ 4488954 h 4488954"/>
                <a:gd name="connsiteX9" fmla="*/ 98840 w 820879"/>
                <a:gd name="connsiteY9" fmla="*/ 4371394 h 4488954"/>
                <a:gd name="connsiteX10" fmla="*/ 676457 w 820879"/>
                <a:gd name="connsiteY10" fmla="*/ 2244477 h 4488954"/>
                <a:gd name="connsiteX11" fmla="*/ 98840 w 820879"/>
                <a:gd name="connsiteY11" fmla="*/ 117561 h 4488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0879" h="4488954">
                  <a:moveTo>
                    <a:pt x="0" y="0"/>
                  </a:moveTo>
                  <a:lnTo>
                    <a:pt x="101670" y="95888"/>
                  </a:lnTo>
                  <a:lnTo>
                    <a:pt x="130284" y="131320"/>
                  </a:lnTo>
                  <a:lnTo>
                    <a:pt x="197857" y="195050"/>
                  </a:lnTo>
                  <a:cubicBezTo>
                    <a:pt x="568957" y="589735"/>
                    <a:pt x="820879" y="1359508"/>
                    <a:pt x="820879" y="2244478"/>
                  </a:cubicBezTo>
                  <a:cubicBezTo>
                    <a:pt x="820879" y="3129448"/>
                    <a:pt x="568957" y="3899220"/>
                    <a:pt x="197857" y="4293906"/>
                  </a:cubicBezTo>
                  <a:lnTo>
                    <a:pt x="130281" y="4357639"/>
                  </a:lnTo>
                  <a:lnTo>
                    <a:pt x="101670" y="4393067"/>
                  </a:lnTo>
                  <a:lnTo>
                    <a:pt x="0" y="4488954"/>
                  </a:lnTo>
                  <a:lnTo>
                    <a:pt x="98840" y="4371394"/>
                  </a:lnTo>
                  <a:cubicBezTo>
                    <a:pt x="447333" y="3910449"/>
                    <a:pt x="676457" y="3129850"/>
                    <a:pt x="676457" y="2244477"/>
                  </a:cubicBezTo>
                  <a:cubicBezTo>
                    <a:pt x="676457" y="1359105"/>
                    <a:pt x="447333" y="578505"/>
                    <a:pt x="98840" y="117561"/>
                  </a:cubicBezTo>
                  <a:close/>
                </a:path>
              </a:pathLst>
            </a:custGeom>
            <a:gradFill flip="none" rotWithShape="1">
              <a:gsLst>
                <a:gs pos="30000">
                  <a:schemeClr val="accent3">
                    <a:lumMod val="70000"/>
                    <a:lumOff val="30000"/>
                  </a:schemeClr>
                </a:gs>
                <a:gs pos="80000">
                  <a:schemeClr val="accent3"/>
                </a:gs>
              </a:gsLst>
              <a:lin ang="5400000" scaled="0"/>
              <a:tileRect/>
            </a:gradFill>
            <a:ln>
              <a:noFill/>
            </a:ln>
            <a:effectLst>
              <a:outerShdw blurRad="121158" dist="63500" dir="1799997" algn="t" rotWithShape="0">
                <a:schemeClr val="accent3">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endParaRPr kumimoji="1" lang="zh-CN" altLang="en-US" sz="1910"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9" name="椭圆 78"/>
            <p:cNvSpPr/>
            <p:nvPr>
              <p:custDataLst>
                <p:tags r:id="rId3"/>
              </p:custDataLst>
            </p:nvPr>
          </p:nvSpPr>
          <p:spPr>
            <a:xfrm>
              <a:off x="3427114" y="3595446"/>
              <a:ext cx="269265" cy="261337"/>
            </a:xfrm>
            <a:prstGeom prst="ellipse">
              <a:avLst/>
            </a:prstGeom>
            <a:gradFill flip="none" rotWithShape="1">
              <a:gsLst>
                <a:gs pos="30000">
                  <a:schemeClr val="accent3">
                    <a:lumMod val="70000"/>
                    <a:lumOff val="30000"/>
                  </a:schemeClr>
                </a:gs>
                <a:gs pos="80000">
                  <a:schemeClr val="accent3"/>
                </a:gs>
              </a:gsLst>
              <a:lin ang="5400000" scaled="0"/>
              <a:tileRect/>
            </a:gradFill>
            <a:ln>
              <a:solidFill>
                <a:schemeClr val="bg1"/>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0" name="椭圆 79"/>
            <p:cNvSpPr/>
            <p:nvPr>
              <p:custDataLst>
                <p:tags r:id="rId4"/>
              </p:custDataLst>
            </p:nvPr>
          </p:nvSpPr>
          <p:spPr>
            <a:xfrm>
              <a:off x="3433397" y="2965079"/>
              <a:ext cx="121970" cy="121422"/>
            </a:xfrm>
            <a:prstGeom prst="ellipse">
              <a:avLst/>
            </a:prstGeom>
            <a:solidFill>
              <a:schemeClr val="bg1"/>
            </a:solidFill>
            <a:ln w="13462">
              <a:solidFill>
                <a:schemeClr val="accent3"/>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1" name="椭圆 80"/>
            <p:cNvSpPr/>
            <p:nvPr>
              <p:custDataLst>
                <p:tags r:id="rId5"/>
              </p:custDataLst>
            </p:nvPr>
          </p:nvSpPr>
          <p:spPr>
            <a:xfrm>
              <a:off x="3252329" y="2334712"/>
              <a:ext cx="121970" cy="121422"/>
            </a:xfrm>
            <a:prstGeom prst="ellipse">
              <a:avLst/>
            </a:prstGeom>
            <a:solidFill>
              <a:schemeClr val="bg1"/>
            </a:solidFill>
            <a:ln w="13462">
              <a:solidFill>
                <a:schemeClr val="accent3"/>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2" name="椭圆 81"/>
            <p:cNvSpPr/>
            <p:nvPr>
              <p:custDataLst>
                <p:tags r:id="rId6"/>
              </p:custDataLst>
            </p:nvPr>
          </p:nvSpPr>
          <p:spPr>
            <a:xfrm>
              <a:off x="3252329" y="4996093"/>
              <a:ext cx="121970" cy="121422"/>
            </a:xfrm>
            <a:prstGeom prst="ellipse">
              <a:avLst/>
            </a:prstGeom>
            <a:solidFill>
              <a:schemeClr val="bg1"/>
            </a:solidFill>
            <a:ln w="13462">
              <a:solidFill>
                <a:schemeClr val="accent3"/>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3" name="椭圆 82"/>
            <p:cNvSpPr/>
            <p:nvPr>
              <p:custDataLst>
                <p:tags r:id="rId7"/>
              </p:custDataLst>
            </p:nvPr>
          </p:nvSpPr>
          <p:spPr>
            <a:xfrm>
              <a:off x="3433397" y="4365728"/>
              <a:ext cx="121970" cy="121422"/>
            </a:xfrm>
            <a:prstGeom prst="ellipse">
              <a:avLst/>
            </a:prstGeom>
            <a:solidFill>
              <a:schemeClr val="bg1"/>
            </a:solidFill>
            <a:ln w="13462">
              <a:solidFill>
                <a:schemeClr val="accent3"/>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2" name="圆角矩形 230"/>
            <p:cNvSpPr/>
            <p:nvPr>
              <p:custDataLst>
                <p:tags r:id="rId8"/>
              </p:custDataLst>
            </p:nvPr>
          </p:nvSpPr>
          <p:spPr>
            <a:xfrm>
              <a:off x="1486619" y="1692757"/>
              <a:ext cx="1688400" cy="361490"/>
            </a:xfrm>
            <a:prstGeom prst="roundRect">
              <a:avLst>
                <a:gd name="adj" fmla="val 50000"/>
              </a:avLst>
            </a:prstGeom>
            <a:gradFill flip="none" rotWithShape="1">
              <a:gsLst>
                <a:gs pos="30000">
                  <a:schemeClr val="accent3">
                    <a:lumMod val="70000"/>
                    <a:lumOff val="30000"/>
                  </a:schemeClr>
                </a:gs>
                <a:gs pos="80000">
                  <a:schemeClr val="accent3"/>
                </a:gs>
              </a:gsLst>
              <a:lin ang="5400000" scaled="0"/>
              <a:tileRect/>
            </a:gradFill>
            <a:ln>
              <a:noFill/>
            </a:ln>
            <a:effectLst>
              <a:outerShdw blurRad="350012" dist="635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FFFFFF"/>
                  </a:solidFill>
                  <a:effectLst/>
                  <a:uLnTx/>
                  <a:uFillTx/>
                  <a:latin typeface="+mj-ea"/>
                  <a:ea typeface="+mj-ea"/>
                  <a:cs typeface="思源黑体 CN Normal" panose="020B0400000000000000" pitchFamily="34" charset="-122"/>
                </a:rPr>
                <a:t>品牌影响力高</a:t>
              </a:r>
              <a:endParaRPr kumimoji="1" lang="zh-CN" altLang="en-US" sz="1600" b="0" i="0" u="none" strike="noStrike" kern="1200" cap="none" spc="0" normalizeH="0" baseline="0" noProof="0" dirty="0">
                <a:ln>
                  <a:noFill/>
                </a:ln>
                <a:solidFill>
                  <a:srgbClr val="FFFFFF"/>
                </a:solidFill>
                <a:effectLst/>
                <a:uLnTx/>
                <a:uFillTx/>
                <a:latin typeface="+mj-ea"/>
                <a:ea typeface="+mj-ea"/>
                <a:cs typeface="思源黑体 CN Normal" panose="020B0400000000000000" pitchFamily="34" charset="-122"/>
              </a:endParaRPr>
            </a:p>
          </p:txBody>
        </p:sp>
        <p:sp>
          <p:nvSpPr>
            <p:cNvPr id="55" name="圆角矩形 84"/>
            <p:cNvSpPr/>
            <p:nvPr>
              <p:custDataLst>
                <p:tags r:id="rId9"/>
              </p:custDataLst>
            </p:nvPr>
          </p:nvSpPr>
          <p:spPr>
            <a:xfrm>
              <a:off x="1486619" y="5397980"/>
              <a:ext cx="1688400" cy="361490"/>
            </a:xfrm>
            <a:prstGeom prst="roundRect">
              <a:avLst>
                <a:gd name="adj" fmla="val 50000"/>
              </a:avLst>
            </a:prstGeom>
            <a:gradFill flip="none" rotWithShape="1">
              <a:gsLst>
                <a:gs pos="30000">
                  <a:schemeClr val="accent3">
                    <a:lumMod val="70000"/>
                    <a:lumOff val="30000"/>
                  </a:schemeClr>
                </a:gs>
                <a:gs pos="80000">
                  <a:schemeClr val="accent3"/>
                </a:gs>
              </a:gsLst>
              <a:lin ang="5400000" scaled="0"/>
              <a:tileRect/>
            </a:gradFill>
            <a:ln>
              <a:noFill/>
            </a:ln>
            <a:effectLst>
              <a:outerShdw blurRad="350012" dist="635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kumimoji="1" lang="zh-CN" altLang="en-US" sz="1600" dirty="0">
                  <a:solidFill>
                    <a:srgbClr val="FFFFFF"/>
                  </a:solidFill>
                  <a:latin typeface="+mj-ea"/>
                  <a:ea typeface="+mj-ea"/>
                  <a:cs typeface="思源黑体 CN Normal" panose="020B0400000000000000" pitchFamily="34" charset="-122"/>
                </a:rPr>
                <a:t>市场份额增长</a:t>
              </a:r>
              <a:endParaRPr kumimoji="1" lang="zh-CN" altLang="en-US" sz="1600" dirty="0">
                <a:solidFill>
                  <a:srgbClr val="FFFFFF"/>
                </a:solidFill>
                <a:latin typeface="+mj-ea"/>
                <a:ea typeface="+mj-ea"/>
                <a:cs typeface="思源黑体 CN Normal" panose="020B0400000000000000" pitchFamily="34" charset="-122"/>
              </a:endParaRPr>
            </a:p>
          </p:txBody>
        </p:sp>
        <p:sp>
          <p:nvSpPr>
            <p:cNvPr id="169" name="紫荆的职场Point6"/>
            <p:cNvSpPr/>
            <p:nvPr/>
          </p:nvSpPr>
          <p:spPr>
            <a:xfrm flipH="1">
              <a:off x="4232721" y="2004633"/>
              <a:ext cx="1653933" cy="299697"/>
            </a:xfrm>
            <a:prstGeom prst="parallelogram">
              <a:avLst>
                <a:gd name="adj" fmla="val 42455"/>
              </a:avLst>
            </a:prstGeom>
            <a:gradFill>
              <a:gsLst>
                <a:gs pos="0">
                  <a:schemeClr val="accent1">
                    <a:alpha val="0"/>
                  </a:schemeClr>
                </a:gs>
                <a:gs pos="100000">
                  <a:schemeClr val="accent1">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a:latin typeface="+mn-ea"/>
                  <a:cs typeface="思源黑体 CN Normal" panose="020B0400000000000000" pitchFamily="34" charset="-122"/>
                </a:rPr>
                <a:t>营销</a:t>
              </a:r>
              <a:r>
                <a:rPr lang="en-US" altLang="zh-CN" sz="1050">
                  <a:latin typeface="+mn-ea"/>
                  <a:cs typeface="思源黑体 CN Normal" panose="020B0400000000000000" pitchFamily="34" charset="-122"/>
                </a:rPr>
                <a:t>ROI</a:t>
              </a:r>
              <a:r>
                <a:rPr lang="zh-CN" altLang="en-US" sz="1050">
                  <a:latin typeface="+mn-ea"/>
                  <a:cs typeface="思源黑体 CN Normal" panose="020B0400000000000000" pitchFamily="34" charset="-122"/>
                </a:rPr>
                <a:t>提升</a:t>
              </a:r>
              <a:endParaRPr kumimoji="1" lang="zh-CN" altLang="en-US" sz="1050" b="0" i="0" u="none" strike="noStrike" kern="0" cap="none" spc="0" normalizeH="0" baseline="0" noProof="0" dirty="0">
                <a:ln>
                  <a:noFill/>
                </a:ln>
                <a:effectLst/>
                <a:uLnTx/>
                <a:uFillTx/>
                <a:latin typeface="+mn-ea"/>
                <a:cs typeface="+mn-ea"/>
                <a:sym typeface="+mn-lt"/>
              </a:endParaRPr>
            </a:p>
          </p:txBody>
        </p:sp>
        <p:sp>
          <p:nvSpPr>
            <p:cNvPr id="176" name="紫荆的职场Point6"/>
            <p:cNvSpPr/>
            <p:nvPr/>
          </p:nvSpPr>
          <p:spPr>
            <a:xfrm flipH="1">
              <a:off x="4349962" y="2525136"/>
              <a:ext cx="1653933" cy="299697"/>
            </a:xfrm>
            <a:prstGeom prst="parallelogram">
              <a:avLst>
                <a:gd name="adj" fmla="val 42455"/>
              </a:avLst>
            </a:prstGeom>
            <a:gradFill>
              <a:gsLst>
                <a:gs pos="0">
                  <a:schemeClr val="accent1">
                    <a:alpha val="0"/>
                  </a:schemeClr>
                </a:gs>
                <a:gs pos="100000">
                  <a:schemeClr val="accent1">
                    <a:alpha val="20000"/>
                  </a:schemeClr>
                </a:gs>
              </a:gsLst>
              <a:lin ang="10800000" scaled="1"/>
            </a:gradFill>
            <a:ln w="12700" cap="flat" cmpd="sng" algn="ctr">
              <a:noFill/>
              <a:prstDash val="solid"/>
              <a:miter lim="800000"/>
            </a:ln>
            <a:effectLst/>
          </p:spPr>
          <p:txBody>
            <a:bodyPr rtlCol="0" anchor="ctr"/>
            <a:lstStyle/>
            <a:p>
              <a:pPr algn="ctr"/>
              <a:r>
                <a:rPr lang="zh-CN" altLang="en-US" sz="1050" dirty="0">
                  <a:latin typeface="+mn-ea"/>
                  <a:cs typeface="思源黑体 CN Normal" panose="020B0400000000000000" pitchFamily="34" charset="-122"/>
                </a:rPr>
                <a:t>营销流程自动化</a:t>
              </a:r>
              <a:endParaRPr kumimoji="1" lang="zh-CN" altLang="en-US" sz="1050" kern="0" dirty="0">
                <a:latin typeface="+mn-ea"/>
                <a:cs typeface="+mn-ea"/>
                <a:sym typeface="+mn-lt"/>
              </a:endParaRPr>
            </a:p>
          </p:txBody>
        </p:sp>
        <p:sp>
          <p:nvSpPr>
            <p:cNvPr id="179" name="紫荆的职场Point6"/>
            <p:cNvSpPr/>
            <p:nvPr/>
          </p:nvSpPr>
          <p:spPr>
            <a:xfrm flipH="1">
              <a:off x="4467203" y="3045639"/>
              <a:ext cx="1653933" cy="299697"/>
            </a:xfrm>
            <a:prstGeom prst="parallelogram">
              <a:avLst>
                <a:gd name="adj" fmla="val 42455"/>
              </a:avLst>
            </a:prstGeom>
            <a:gradFill>
              <a:gsLst>
                <a:gs pos="0">
                  <a:schemeClr val="accent1">
                    <a:alpha val="0"/>
                  </a:schemeClr>
                </a:gs>
                <a:gs pos="100000">
                  <a:schemeClr val="accent1">
                    <a:alpha val="20000"/>
                  </a:schemeClr>
                </a:gs>
              </a:gsLst>
              <a:lin ang="10800000" scaled="1"/>
            </a:gradFill>
            <a:ln w="12700" cap="flat" cmpd="sng" algn="ctr">
              <a:noFill/>
              <a:prstDash val="solid"/>
              <a:miter lim="800000"/>
            </a:ln>
            <a:effectLst/>
          </p:spPr>
          <p:txBody>
            <a:bodyPr rtlCol="0" anchor="ctr"/>
            <a:lstStyle/>
            <a:p>
              <a:pPr algn="ctr"/>
              <a:r>
                <a:rPr lang="zh-CN" altLang="en-US" sz="1050">
                  <a:latin typeface="+mn-ea"/>
                  <a:cs typeface="思源黑体 CN Normal" panose="020B0400000000000000" pitchFamily="34" charset="-122"/>
                </a:rPr>
                <a:t>数据驱动决策</a:t>
              </a:r>
              <a:endParaRPr kumimoji="1" lang="zh-CN" altLang="en-US" sz="1050" kern="0">
                <a:latin typeface="+mn-ea"/>
                <a:cs typeface="+mn-ea"/>
                <a:sym typeface="+mn-lt"/>
              </a:endParaRPr>
            </a:p>
          </p:txBody>
        </p:sp>
        <p:sp>
          <p:nvSpPr>
            <p:cNvPr id="182" name="紫荆的职场Point6"/>
            <p:cNvSpPr/>
            <p:nvPr/>
          </p:nvSpPr>
          <p:spPr>
            <a:xfrm>
              <a:off x="4232721" y="5147897"/>
              <a:ext cx="1653933" cy="299697"/>
            </a:xfrm>
            <a:prstGeom prst="parallelogram">
              <a:avLst>
                <a:gd name="adj" fmla="val 42455"/>
              </a:avLst>
            </a:prstGeom>
            <a:gradFill>
              <a:gsLst>
                <a:gs pos="0">
                  <a:schemeClr val="accent1">
                    <a:alpha val="0"/>
                  </a:schemeClr>
                </a:gs>
                <a:gs pos="100000">
                  <a:schemeClr val="accent1">
                    <a:alpha val="20000"/>
                  </a:schemeClr>
                </a:gs>
              </a:gsLst>
              <a:lin ang="0" scaled="0"/>
            </a:gradFill>
            <a:ln w="12700" cap="flat" cmpd="sng" algn="ctr">
              <a:noFill/>
              <a:prstDash val="solid"/>
              <a:miter lim="800000"/>
            </a:ln>
            <a:effectLst/>
          </p:spPr>
          <p:txBody>
            <a:bodyPr rtlCol="0" anchor="ctr"/>
            <a:lstStyle/>
            <a:p>
              <a:pPr algn="ctr"/>
              <a:r>
                <a:rPr lang="zh-CN" altLang="en-US" sz="1050">
                  <a:latin typeface="+mn-ea"/>
                  <a:cs typeface="思源黑体 CN Normal" panose="020B0400000000000000" pitchFamily="34" charset="-122"/>
                </a:rPr>
                <a:t>市场契合度评估</a:t>
              </a:r>
              <a:endParaRPr kumimoji="1" lang="zh-CN" altLang="en-US" sz="1050" kern="0" dirty="0">
                <a:latin typeface="+mn-ea"/>
                <a:cs typeface="+mn-ea"/>
                <a:sym typeface="+mn-lt"/>
              </a:endParaRPr>
            </a:p>
          </p:txBody>
        </p:sp>
        <p:sp>
          <p:nvSpPr>
            <p:cNvPr id="183" name="紫荆的职场Point6"/>
            <p:cNvSpPr/>
            <p:nvPr/>
          </p:nvSpPr>
          <p:spPr>
            <a:xfrm>
              <a:off x="4349962" y="4627394"/>
              <a:ext cx="1653933" cy="299697"/>
            </a:xfrm>
            <a:prstGeom prst="parallelogram">
              <a:avLst>
                <a:gd name="adj" fmla="val 42455"/>
              </a:avLst>
            </a:prstGeom>
            <a:gradFill>
              <a:gsLst>
                <a:gs pos="0">
                  <a:schemeClr val="accent1">
                    <a:alpha val="0"/>
                  </a:schemeClr>
                </a:gs>
                <a:gs pos="100000">
                  <a:schemeClr val="accent1">
                    <a:alpha val="20000"/>
                  </a:schemeClr>
                </a:gs>
              </a:gsLst>
              <a:lin ang="0" scaled="0"/>
            </a:gradFill>
            <a:ln w="12700" cap="flat" cmpd="sng" algn="ctr">
              <a:noFill/>
              <a:prstDash val="solid"/>
              <a:miter lim="800000"/>
            </a:ln>
            <a:effectLst/>
          </p:spPr>
          <p:txBody>
            <a:bodyPr rtlCol="0" anchor="ctr"/>
            <a:lstStyle/>
            <a:p>
              <a:pPr algn="ctr"/>
              <a:r>
                <a:rPr lang="zh-CN" altLang="en-US" sz="1050">
                  <a:latin typeface="+mn-ea"/>
                  <a:cs typeface="思源黑体 CN Normal" panose="020B0400000000000000" pitchFamily="34" charset="-122"/>
                </a:rPr>
                <a:t>产品功能优化</a:t>
              </a:r>
              <a:endParaRPr kumimoji="1" lang="zh-CN" altLang="en-US" sz="1050" kern="0">
                <a:latin typeface="+mn-ea"/>
                <a:cs typeface="+mn-ea"/>
                <a:sym typeface="+mn-lt"/>
              </a:endParaRPr>
            </a:p>
          </p:txBody>
        </p:sp>
        <p:sp>
          <p:nvSpPr>
            <p:cNvPr id="184" name="紫荆的职场Point6"/>
            <p:cNvSpPr/>
            <p:nvPr/>
          </p:nvSpPr>
          <p:spPr>
            <a:xfrm>
              <a:off x="4467203" y="4106891"/>
              <a:ext cx="1653933" cy="299697"/>
            </a:xfrm>
            <a:prstGeom prst="parallelogram">
              <a:avLst>
                <a:gd name="adj" fmla="val 42455"/>
              </a:avLst>
            </a:prstGeom>
            <a:gradFill>
              <a:gsLst>
                <a:gs pos="0">
                  <a:schemeClr val="accent1">
                    <a:alpha val="0"/>
                  </a:schemeClr>
                </a:gs>
                <a:gs pos="100000">
                  <a:schemeClr val="accent1">
                    <a:alpha val="20000"/>
                  </a:schemeClr>
                </a:gs>
              </a:gsLst>
              <a:lin ang="0" scaled="0"/>
            </a:gradFill>
            <a:ln w="12700" cap="flat" cmpd="sng" algn="ctr">
              <a:noFill/>
              <a:prstDash val="solid"/>
              <a:miter lim="800000"/>
            </a:ln>
            <a:effectLst/>
          </p:spPr>
          <p:txBody>
            <a:bodyPr rtlCol="0" anchor="ctr"/>
            <a:lstStyle/>
            <a:p>
              <a:pPr algn="ctr"/>
              <a:r>
                <a:rPr lang="zh-CN" altLang="en-US" sz="1050">
                  <a:latin typeface="+mn-ea"/>
                  <a:cs typeface="思源黑体 CN Normal" panose="020B0400000000000000" pitchFamily="34" charset="-122"/>
                </a:rPr>
                <a:t>用户需求调研</a:t>
              </a:r>
              <a:endParaRPr kumimoji="1" lang="zh-CN" altLang="en-US" sz="1050" kern="0">
                <a:latin typeface="+mn-ea"/>
                <a:cs typeface="+mn-ea"/>
                <a:sym typeface="+mn-lt"/>
              </a:endParaRPr>
            </a:p>
          </p:txBody>
        </p:sp>
        <p:sp>
          <p:nvSpPr>
            <p:cNvPr id="50" name="任意多边形: 形状 49"/>
            <p:cNvSpPr>
              <a:spLocks noChangeAspect="1"/>
            </p:cNvSpPr>
            <p:nvPr>
              <p:custDataLst>
                <p:tags r:id="rId10"/>
              </p:custDataLst>
            </p:nvPr>
          </p:nvSpPr>
          <p:spPr>
            <a:xfrm>
              <a:off x="5353572" y="1505826"/>
              <a:ext cx="819911" cy="4440574"/>
            </a:xfrm>
            <a:custGeom>
              <a:avLst/>
              <a:gdLst>
                <a:gd name="connsiteX0" fmla="*/ 0 w 820879"/>
                <a:gd name="connsiteY0" fmla="*/ 0 h 4488954"/>
                <a:gd name="connsiteX1" fmla="*/ 101670 w 820879"/>
                <a:gd name="connsiteY1" fmla="*/ 95888 h 4488954"/>
                <a:gd name="connsiteX2" fmla="*/ 130284 w 820879"/>
                <a:gd name="connsiteY2" fmla="*/ 131320 h 4488954"/>
                <a:gd name="connsiteX3" fmla="*/ 197857 w 820879"/>
                <a:gd name="connsiteY3" fmla="*/ 195050 h 4488954"/>
                <a:gd name="connsiteX4" fmla="*/ 820879 w 820879"/>
                <a:gd name="connsiteY4" fmla="*/ 2244478 h 4488954"/>
                <a:gd name="connsiteX5" fmla="*/ 197857 w 820879"/>
                <a:gd name="connsiteY5" fmla="*/ 4293906 h 4488954"/>
                <a:gd name="connsiteX6" fmla="*/ 130281 w 820879"/>
                <a:gd name="connsiteY6" fmla="*/ 4357639 h 4488954"/>
                <a:gd name="connsiteX7" fmla="*/ 101670 w 820879"/>
                <a:gd name="connsiteY7" fmla="*/ 4393067 h 4488954"/>
                <a:gd name="connsiteX8" fmla="*/ 0 w 820879"/>
                <a:gd name="connsiteY8" fmla="*/ 4488954 h 4488954"/>
                <a:gd name="connsiteX9" fmla="*/ 98840 w 820879"/>
                <a:gd name="connsiteY9" fmla="*/ 4371394 h 4488954"/>
                <a:gd name="connsiteX10" fmla="*/ 676457 w 820879"/>
                <a:gd name="connsiteY10" fmla="*/ 2244477 h 4488954"/>
                <a:gd name="connsiteX11" fmla="*/ 98840 w 820879"/>
                <a:gd name="connsiteY11" fmla="*/ 117561 h 4488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0879" h="4488954">
                  <a:moveTo>
                    <a:pt x="0" y="0"/>
                  </a:moveTo>
                  <a:lnTo>
                    <a:pt x="101670" y="95888"/>
                  </a:lnTo>
                  <a:lnTo>
                    <a:pt x="130284" y="131320"/>
                  </a:lnTo>
                  <a:lnTo>
                    <a:pt x="197857" y="195050"/>
                  </a:lnTo>
                  <a:cubicBezTo>
                    <a:pt x="568957" y="589735"/>
                    <a:pt x="820879" y="1359508"/>
                    <a:pt x="820879" y="2244478"/>
                  </a:cubicBezTo>
                  <a:cubicBezTo>
                    <a:pt x="820879" y="3129448"/>
                    <a:pt x="568957" y="3899220"/>
                    <a:pt x="197857" y="4293906"/>
                  </a:cubicBezTo>
                  <a:lnTo>
                    <a:pt x="130281" y="4357639"/>
                  </a:lnTo>
                  <a:lnTo>
                    <a:pt x="101670" y="4393067"/>
                  </a:lnTo>
                  <a:lnTo>
                    <a:pt x="0" y="4488954"/>
                  </a:lnTo>
                  <a:lnTo>
                    <a:pt x="98840" y="4371394"/>
                  </a:lnTo>
                  <a:cubicBezTo>
                    <a:pt x="447333" y="3910449"/>
                    <a:pt x="676457" y="3129850"/>
                    <a:pt x="676457" y="2244477"/>
                  </a:cubicBezTo>
                  <a:cubicBezTo>
                    <a:pt x="676457" y="1359105"/>
                    <a:pt x="447333" y="578505"/>
                    <a:pt x="98840" y="117561"/>
                  </a:cubicBezTo>
                  <a:close/>
                </a:path>
              </a:pathLst>
            </a:custGeom>
            <a:gradFill flip="none" rotWithShape="1">
              <a:gsLst>
                <a:gs pos="0">
                  <a:schemeClr val="accent1">
                    <a:lumMod val="75000"/>
                    <a:lumOff val="25000"/>
                  </a:schemeClr>
                </a:gs>
                <a:gs pos="99000">
                  <a:schemeClr val="accent1"/>
                </a:gs>
              </a:gsLst>
              <a:lin ang="0" scaled="1"/>
              <a:tileRect/>
            </a:gradFill>
            <a:ln>
              <a:noFill/>
            </a:ln>
            <a:effectLst>
              <a:outerShdw blurRad="121158" dist="63500" dir="1799997" algn="t"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6926" tIns="48463" rIns="96926" bIns="48463" rtlCol="0" anchor="ctr">
              <a:noAutofit/>
            </a:bodyPr>
            <a:lstStyle/>
            <a:p>
              <a:pPr algn="ctr" defTabSz="457200"/>
              <a:endParaRPr kumimoji="1" lang="zh-CN" altLang="en-US" sz="1910"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3" name="圆角矩形 78"/>
            <p:cNvSpPr/>
            <p:nvPr>
              <p:custDataLst>
                <p:tags r:id="rId11"/>
              </p:custDataLst>
            </p:nvPr>
          </p:nvSpPr>
          <p:spPr>
            <a:xfrm>
              <a:off x="4021836" y="1423291"/>
              <a:ext cx="1689093" cy="361490"/>
            </a:xfrm>
            <a:prstGeom prst="roundRect">
              <a:avLst>
                <a:gd name="adj" fmla="val 50000"/>
              </a:avLst>
            </a:prstGeom>
            <a:gradFill flip="none" rotWithShape="1">
              <a:gsLst>
                <a:gs pos="0">
                  <a:schemeClr val="accent1">
                    <a:lumMod val="75000"/>
                    <a:lumOff val="25000"/>
                  </a:schemeClr>
                </a:gs>
                <a:gs pos="99000">
                  <a:schemeClr val="accent1"/>
                </a:gs>
              </a:gsLst>
              <a:lin ang="5400000" scaled="0"/>
              <a:tileRect/>
            </a:gradFill>
            <a:ln>
              <a:noFill/>
            </a:ln>
            <a:effectLst>
              <a:outerShdw blurRad="350012" dist="635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lang="zh-CN" altLang="en-US" sz="1600" dirty="0">
                  <a:latin typeface="+mj-ea"/>
                  <a:ea typeface="+mj-ea"/>
                  <a:cs typeface="思源黑体 CN Normal" panose="020B0400000000000000" pitchFamily="34" charset="-122"/>
                </a:rPr>
                <a:t>营销效率优化</a:t>
              </a:r>
              <a:endParaRPr lang="zh-CN" altLang="en-US" sz="1600" dirty="0">
                <a:latin typeface="+mj-ea"/>
                <a:ea typeface="+mj-ea"/>
                <a:cs typeface="思源黑体 CN Normal" panose="020B0400000000000000" pitchFamily="34" charset="-122"/>
              </a:endParaRPr>
            </a:p>
          </p:txBody>
        </p:sp>
        <p:sp>
          <p:nvSpPr>
            <p:cNvPr id="56" name="圆角矩形 87"/>
            <p:cNvSpPr/>
            <p:nvPr>
              <p:custDataLst>
                <p:tags r:id="rId12"/>
              </p:custDataLst>
            </p:nvPr>
          </p:nvSpPr>
          <p:spPr>
            <a:xfrm>
              <a:off x="4021836" y="5667446"/>
              <a:ext cx="1689093" cy="361490"/>
            </a:xfrm>
            <a:prstGeom prst="roundRect">
              <a:avLst>
                <a:gd name="adj" fmla="val 50000"/>
              </a:avLst>
            </a:prstGeom>
            <a:gradFill flip="none" rotWithShape="1">
              <a:gsLst>
                <a:gs pos="0">
                  <a:schemeClr val="accent1">
                    <a:lumMod val="75000"/>
                    <a:lumOff val="25000"/>
                  </a:schemeClr>
                </a:gs>
                <a:gs pos="99000">
                  <a:schemeClr val="accent1"/>
                </a:gs>
              </a:gsLst>
              <a:lin ang="5400000" scaled="0"/>
              <a:tileRect/>
            </a:gradFill>
            <a:ln>
              <a:noFill/>
            </a:ln>
            <a:effectLst>
              <a:outerShdw blurRad="350012" dist="635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lang="zh-CN" altLang="en-US" sz="1600" dirty="0">
                  <a:latin typeface="+mj-ea"/>
                  <a:ea typeface="+mj-ea"/>
                  <a:cs typeface="思源黑体 CN Normal" panose="020B0400000000000000" pitchFamily="34" charset="-122"/>
                </a:rPr>
                <a:t>产品市场契合</a:t>
              </a:r>
              <a:endParaRPr lang="zh-CN" altLang="en-US" sz="1600" dirty="0">
                <a:latin typeface="+mj-ea"/>
                <a:ea typeface="+mj-ea"/>
                <a:cs typeface="思源黑体 CN Normal" panose="020B0400000000000000" pitchFamily="34" charset="-122"/>
              </a:endParaRPr>
            </a:p>
          </p:txBody>
        </p:sp>
        <p:grpSp>
          <p:nvGrpSpPr>
            <p:cNvPr id="103" name="组合 102"/>
            <p:cNvGrpSpPr/>
            <p:nvPr/>
          </p:nvGrpSpPr>
          <p:grpSpPr>
            <a:xfrm>
              <a:off x="5739676" y="2083918"/>
              <a:ext cx="494220" cy="3284391"/>
              <a:chOff x="5532893" y="2078637"/>
              <a:chExt cx="494220" cy="3284391"/>
            </a:xfrm>
          </p:grpSpPr>
          <p:sp>
            <p:nvSpPr>
              <p:cNvPr id="70" name="椭圆 69"/>
              <p:cNvSpPr/>
              <p:nvPr>
                <p:custDataLst>
                  <p:tags r:id="rId13"/>
                </p:custDataLst>
              </p:nvPr>
            </p:nvSpPr>
            <p:spPr>
              <a:xfrm>
                <a:off x="5757848" y="3590163"/>
                <a:ext cx="269265" cy="261337"/>
              </a:xfrm>
              <a:prstGeom prst="ellipse">
                <a:avLst/>
              </a:prstGeom>
              <a:gradFill flip="none" rotWithShape="1">
                <a:gsLst>
                  <a:gs pos="0">
                    <a:schemeClr val="accent1">
                      <a:lumMod val="75000"/>
                      <a:lumOff val="25000"/>
                    </a:schemeClr>
                  </a:gs>
                  <a:gs pos="99000">
                    <a:schemeClr val="accent1"/>
                  </a:gs>
                </a:gsLst>
                <a:lin ang="0" scaled="1"/>
                <a:tileRect/>
              </a:gradFill>
              <a:ln>
                <a:solidFill>
                  <a:schemeClr val="bg1"/>
                </a:solidFill>
              </a:ln>
              <a:effectLst>
                <a:outerShdw blurRad="350012" dist="20193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1" name="椭圆 70"/>
              <p:cNvSpPr/>
              <p:nvPr>
                <p:custDataLst>
                  <p:tags r:id="rId14"/>
                </p:custDataLst>
              </p:nvPr>
            </p:nvSpPr>
            <p:spPr>
              <a:xfrm>
                <a:off x="5532893" y="2078637"/>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2" name="椭圆 71"/>
              <p:cNvSpPr/>
              <p:nvPr>
                <p:custDataLst>
                  <p:tags r:id="rId15"/>
                </p:custDataLst>
              </p:nvPr>
            </p:nvSpPr>
            <p:spPr>
              <a:xfrm>
                <a:off x="5699866" y="2582479"/>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3" name="椭圆 72"/>
              <p:cNvSpPr/>
              <p:nvPr>
                <p:custDataLst>
                  <p:tags r:id="rId16"/>
                </p:custDataLst>
              </p:nvPr>
            </p:nvSpPr>
            <p:spPr>
              <a:xfrm>
                <a:off x="5790056" y="3086321"/>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4" name="椭圆 73"/>
              <p:cNvSpPr/>
              <p:nvPr>
                <p:custDataLst>
                  <p:tags r:id="rId17"/>
                </p:custDataLst>
              </p:nvPr>
            </p:nvSpPr>
            <p:spPr>
              <a:xfrm>
                <a:off x="5533281" y="5241606"/>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5" name="椭圆 74"/>
              <p:cNvSpPr/>
              <p:nvPr>
                <p:custDataLst>
                  <p:tags r:id="rId18"/>
                </p:custDataLst>
              </p:nvPr>
            </p:nvSpPr>
            <p:spPr>
              <a:xfrm>
                <a:off x="5700254" y="4737762"/>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6" name="椭圆 75"/>
              <p:cNvSpPr/>
              <p:nvPr>
                <p:custDataLst>
                  <p:tags r:id="rId19"/>
                </p:custDataLst>
              </p:nvPr>
            </p:nvSpPr>
            <p:spPr>
              <a:xfrm>
                <a:off x="5790445" y="4233920"/>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92" name="紫荆的职场Point6"/>
            <p:cNvSpPr/>
            <p:nvPr/>
          </p:nvSpPr>
          <p:spPr>
            <a:xfrm flipH="1">
              <a:off x="6900017" y="2229024"/>
              <a:ext cx="1764000" cy="299697"/>
            </a:xfrm>
            <a:prstGeom prst="parallelogram">
              <a:avLst>
                <a:gd name="adj" fmla="val 42455"/>
              </a:avLst>
            </a:prstGeom>
            <a:gradFill>
              <a:gsLst>
                <a:gs pos="0">
                  <a:schemeClr val="accent2">
                    <a:alpha val="0"/>
                  </a:schemeClr>
                </a:gs>
                <a:gs pos="100000">
                  <a:schemeClr val="accent2">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人才引进与培养</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193" name="紫荆的职场Point6"/>
            <p:cNvSpPr/>
            <p:nvPr/>
          </p:nvSpPr>
          <p:spPr>
            <a:xfrm flipH="1">
              <a:off x="7029796" y="2681947"/>
              <a:ext cx="1764000" cy="299697"/>
            </a:xfrm>
            <a:prstGeom prst="parallelogram">
              <a:avLst>
                <a:gd name="adj" fmla="val 42455"/>
              </a:avLst>
            </a:prstGeom>
            <a:gradFill>
              <a:gsLst>
                <a:gs pos="0">
                  <a:schemeClr val="accent2">
                    <a:alpha val="0"/>
                  </a:schemeClr>
                </a:gs>
                <a:gs pos="100000">
                  <a:schemeClr val="accent2">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完善人才梯队</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194" name="紫荆的职场Point6"/>
            <p:cNvSpPr/>
            <p:nvPr/>
          </p:nvSpPr>
          <p:spPr>
            <a:xfrm flipH="1">
              <a:off x="7159575" y="3134871"/>
              <a:ext cx="1764000" cy="299697"/>
            </a:xfrm>
            <a:prstGeom prst="parallelogram">
              <a:avLst>
                <a:gd name="adj" fmla="val 42455"/>
              </a:avLst>
            </a:prstGeom>
            <a:gradFill>
              <a:gsLst>
                <a:gs pos="0">
                  <a:schemeClr val="accent2">
                    <a:alpha val="0"/>
                  </a:schemeClr>
                </a:gs>
                <a:gs pos="100000">
                  <a:schemeClr val="accent2">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团队文化建设</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197" name="紫荆的职场Point6"/>
            <p:cNvSpPr/>
            <p:nvPr/>
          </p:nvSpPr>
          <p:spPr>
            <a:xfrm flipH="1">
              <a:off x="6770238" y="1776101"/>
              <a:ext cx="1764000" cy="299697"/>
            </a:xfrm>
            <a:prstGeom prst="parallelogram">
              <a:avLst>
                <a:gd name="adj" fmla="val 42455"/>
              </a:avLst>
            </a:prstGeom>
            <a:gradFill>
              <a:gsLst>
                <a:gs pos="0">
                  <a:schemeClr val="accent2">
                    <a:alpha val="0"/>
                  </a:schemeClr>
                </a:gs>
                <a:gs pos="100000">
                  <a:schemeClr val="accent2">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团队培训计划</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200" name="紫荆的职场Point6"/>
            <p:cNvSpPr/>
            <p:nvPr/>
          </p:nvSpPr>
          <p:spPr>
            <a:xfrm>
              <a:off x="6900017" y="4972322"/>
              <a:ext cx="1764000" cy="299697"/>
            </a:xfrm>
            <a:prstGeom prst="parallelogram">
              <a:avLst>
                <a:gd name="adj" fmla="val 42455"/>
              </a:avLst>
            </a:prstGeom>
            <a:gradFill>
              <a:gsLst>
                <a:gs pos="0">
                  <a:schemeClr val="accent2">
                    <a:alpha val="0"/>
                  </a:schemeClr>
                </a:gs>
                <a:gs pos="100000">
                  <a:schemeClr val="accent2">
                    <a:alpha val="20000"/>
                  </a:schemeClr>
                </a:gs>
              </a:gsLst>
              <a:lin ang="0" scaled="0"/>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提升个性化推荐</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201" name="紫荆的职场Point6"/>
            <p:cNvSpPr/>
            <p:nvPr/>
          </p:nvSpPr>
          <p:spPr>
            <a:xfrm>
              <a:off x="7029796" y="4519399"/>
              <a:ext cx="1764000" cy="299697"/>
            </a:xfrm>
            <a:prstGeom prst="parallelogram">
              <a:avLst>
                <a:gd name="adj" fmla="val 42455"/>
              </a:avLst>
            </a:prstGeom>
            <a:gradFill>
              <a:gsLst>
                <a:gs pos="0">
                  <a:schemeClr val="accent2">
                    <a:alpha val="0"/>
                  </a:schemeClr>
                </a:gs>
                <a:gs pos="100000">
                  <a:schemeClr val="accent2">
                    <a:alpha val="20000"/>
                  </a:schemeClr>
                </a:gs>
              </a:gsLst>
              <a:lin ang="0" scaled="0"/>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技术融合应用</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202" name="紫荆的职场Point6"/>
            <p:cNvSpPr/>
            <p:nvPr/>
          </p:nvSpPr>
          <p:spPr>
            <a:xfrm>
              <a:off x="7159575" y="4066475"/>
              <a:ext cx="1764000" cy="299697"/>
            </a:xfrm>
            <a:prstGeom prst="parallelogram">
              <a:avLst>
                <a:gd name="adj" fmla="val 42455"/>
              </a:avLst>
            </a:prstGeom>
            <a:gradFill>
              <a:gsLst>
                <a:gs pos="0">
                  <a:schemeClr val="accent2">
                    <a:alpha val="0"/>
                  </a:schemeClr>
                </a:gs>
                <a:gs pos="100000">
                  <a:schemeClr val="accent2">
                    <a:alpha val="20000"/>
                  </a:schemeClr>
                </a:gs>
              </a:gsLst>
              <a:lin ang="0" scaled="0"/>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创新营销策略</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203" name="紫荆的职场Point6"/>
            <p:cNvSpPr/>
            <p:nvPr/>
          </p:nvSpPr>
          <p:spPr>
            <a:xfrm>
              <a:off x="6770238" y="5425245"/>
              <a:ext cx="1764000" cy="299697"/>
            </a:xfrm>
            <a:prstGeom prst="parallelogram">
              <a:avLst>
                <a:gd name="adj" fmla="val 42455"/>
              </a:avLst>
            </a:prstGeom>
            <a:gradFill>
              <a:gsLst>
                <a:gs pos="0">
                  <a:schemeClr val="accent2">
                    <a:alpha val="0"/>
                  </a:schemeClr>
                </a:gs>
                <a:gs pos="100000">
                  <a:schemeClr val="accent2">
                    <a:alpha val="20000"/>
                  </a:schemeClr>
                </a:gs>
              </a:gsLst>
              <a:lin ang="0" scaled="0"/>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行业趋势引领</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51" name="任意多边形: 形状 50"/>
            <p:cNvSpPr>
              <a:spLocks noChangeAspect="1"/>
            </p:cNvSpPr>
            <p:nvPr>
              <p:custDataLst>
                <p:tags r:id="rId20"/>
              </p:custDataLst>
            </p:nvPr>
          </p:nvSpPr>
          <p:spPr>
            <a:xfrm>
              <a:off x="7985945" y="1170113"/>
              <a:ext cx="943883" cy="5112000"/>
            </a:xfrm>
            <a:custGeom>
              <a:avLst/>
              <a:gdLst>
                <a:gd name="connsiteX0" fmla="*/ 0 w 820879"/>
                <a:gd name="connsiteY0" fmla="*/ 0 h 4488954"/>
                <a:gd name="connsiteX1" fmla="*/ 101670 w 820879"/>
                <a:gd name="connsiteY1" fmla="*/ 95888 h 4488954"/>
                <a:gd name="connsiteX2" fmla="*/ 130284 w 820879"/>
                <a:gd name="connsiteY2" fmla="*/ 131320 h 4488954"/>
                <a:gd name="connsiteX3" fmla="*/ 197857 w 820879"/>
                <a:gd name="connsiteY3" fmla="*/ 195050 h 4488954"/>
                <a:gd name="connsiteX4" fmla="*/ 820879 w 820879"/>
                <a:gd name="connsiteY4" fmla="*/ 2244478 h 4488954"/>
                <a:gd name="connsiteX5" fmla="*/ 197857 w 820879"/>
                <a:gd name="connsiteY5" fmla="*/ 4293906 h 4488954"/>
                <a:gd name="connsiteX6" fmla="*/ 130281 w 820879"/>
                <a:gd name="connsiteY6" fmla="*/ 4357639 h 4488954"/>
                <a:gd name="connsiteX7" fmla="*/ 101670 w 820879"/>
                <a:gd name="connsiteY7" fmla="*/ 4393067 h 4488954"/>
                <a:gd name="connsiteX8" fmla="*/ 0 w 820879"/>
                <a:gd name="connsiteY8" fmla="*/ 4488954 h 4488954"/>
                <a:gd name="connsiteX9" fmla="*/ 98840 w 820879"/>
                <a:gd name="connsiteY9" fmla="*/ 4371394 h 4488954"/>
                <a:gd name="connsiteX10" fmla="*/ 676457 w 820879"/>
                <a:gd name="connsiteY10" fmla="*/ 2244477 h 4488954"/>
                <a:gd name="connsiteX11" fmla="*/ 98840 w 820879"/>
                <a:gd name="connsiteY11" fmla="*/ 117561 h 4488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0879" h="4488954">
                  <a:moveTo>
                    <a:pt x="0" y="0"/>
                  </a:moveTo>
                  <a:lnTo>
                    <a:pt x="101670" y="95888"/>
                  </a:lnTo>
                  <a:lnTo>
                    <a:pt x="130284" y="131320"/>
                  </a:lnTo>
                  <a:lnTo>
                    <a:pt x="197857" y="195050"/>
                  </a:lnTo>
                  <a:cubicBezTo>
                    <a:pt x="568957" y="589735"/>
                    <a:pt x="820879" y="1359508"/>
                    <a:pt x="820879" y="2244478"/>
                  </a:cubicBezTo>
                  <a:cubicBezTo>
                    <a:pt x="820879" y="3129448"/>
                    <a:pt x="568957" y="3899220"/>
                    <a:pt x="197857" y="4293906"/>
                  </a:cubicBezTo>
                  <a:lnTo>
                    <a:pt x="130281" y="4357639"/>
                  </a:lnTo>
                  <a:lnTo>
                    <a:pt x="101670" y="4393067"/>
                  </a:lnTo>
                  <a:lnTo>
                    <a:pt x="0" y="4488954"/>
                  </a:lnTo>
                  <a:lnTo>
                    <a:pt x="98840" y="4371394"/>
                  </a:lnTo>
                  <a:cubicBezTo>
                    <a:pt x="447333" y="3910449"/>
                    <a:pt x="676457" y="3129850"/>
                    <a:pt x="676457" y="2244477"/>
                  </a:cubicBezTo>
                  <a:cubicBezTo>
                    <a:pt x="676457" y="1359105"/>
                    <a:pt x="447333" y="578505"/>
                    <a:pt x="98840" y="117561"/>
                  </a:cubicBezTo>
                  <a:close/>
                </a:path>
              </a:pathLst>
            </a:custGeom>
            <a:gradFill flip="none" rotWithShape="1">
              <a:gsLst>
                <a:gs pos="0">
                  <a:schemeClr val="accent2">
                    <a:lumMod val="90000"/>
                    <a:lumOff val="10000"/>
                  </a:schemeClr>
                </a:gs>
                <a:gs pos="100000">
                  <a:schemeClr val="accent2">
                    <a:lumMod val="75000"/>
                  </a:schemeClr>
                </a:gs>
              </a:gsLst>
              <a:lin ang="10800000" scaled="0"/>
              <a:tileRect/>
            </a:gradFill>
            <a:ln>
              <a:noFill/>
            </a:ln>
            <a:effectLst>
              <a:outerShdw blurRad="121158" dist="63500" dir="1799997" algn="t"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endParaRPr kumimoji="1" lang="zh-CN" altLang="en-US" sz="1910"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4" name="圆角矩形 81"/>
            <p:cNvSpPr/>
            <p:nvPr>
              <p:custDataLst>
                <p:tags r:id="rId21"/>
              </p:custDataLst>
            </p:nvPr>
          </p:nvSpPr>
          <p:spPr>
            <a:xfrm>
              <a:off x="6664627" y="1144723"/>
              <a:ext cx="1688400" cy="361490"/>
            </a:xfrm>
            <a:prstGeom prst="roundRect">
              <a:avLst>
                <a:gd name="adj" fmla="val 50000"/>
              </a:avLst>
            </a:prstGeom>
            <a:gradFill flip="none" rotWithShape="1">
              <a:gsLst>
                <a:gs pos="0">
                  <a:schemeClr val="accent2">
                    <a:lumMod val="90000"/>
                    <a:lumOff val="10000"/>
                  </a:schemeClr>
                </a:gs>
                <a:gs pos="100000">
                  <a:schemeClr val="accent2"/>
                </a:gs>
              </a:gsLst>
              <a:lin ang="5400000" scaled="0"/>
              <a:tileRect/>
            </a:gradFill>
            <a:ln>
              <a:noFill/>
            </a:ln>
            <a:effectLst>
              <a:outerShdw blurRad="350012" dist="63500" dir="5400000" algn="t" rotWithShape="0">
                <a:schemeClr val="accent2">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lang="zh-CN" altLang="en-US" sz="1600">
                  <a:latin typeface="+mj-ea"/>
                  <a:ea typeface="+mj-ea"/>
                  <a:cs typeface="思源黑体 CN Normal" panose="020B0400000000000000" pitchFamily="34" charset="-122"/>
                </a:rPr>
                <a:t>团队能力建设</a:t>
              </a:r>
              <a:endParaRPr lang="zh-CN" altLang="en-US" sz="1600">
                <a:latin typeface="+mj-ea"/>
                <a:ea typeface="+mj-ea"/>
                <a:cs typeface="思源黑体 CN Normal" panose="020B0400000000000000" pitchFamily="34" charset="-122"/>
              </a:endParaRPr>
            </a:p>
          </p:txBody>
        </p:sp>
        <p:sp>
          <p:nvSpPr>
            <p:cNvPr id="58" name="圆角矩形 90"/>
            <p:cNvSpPr/>
            <p:nvPr>
              <p:custDataLst>
                <p:tags r:id="rId22"/>
              </p:custDataLst>
            </p:nvPr>
          </p:nvSpPr>
          <p:spPr>
            <a:xfrm>
              <a:off x="6664627" y="5946014"/>
              <a:ext cx="1688400" cy="361490"/>
            </a:xfrm>
            <a:prstGeom prst="roundRect">
              <a:avLst>
                <a:gd name="adj" fmla="val 50000"/>
              </a:avLst>
            </a:prstGeom>
            <a:gradFill flip="none" rotWithShape="1">
              <a:gsLst>
                <a:gs pos="0">
                  <a:schemeClr val="accent2">
                    <a:lumMod val="90000"/>
                    <a:lumOff val="10000"/>
                  </a:schemeClr>
                </a:gs>
                <a:gs pos="100000">
                  <a:schemeClr val="accent2"/>
                </a:gs>
              </a:gsLst>
              <a:lin ang="5400000" scaled="0"/>
              <a:tileRect/>
            </a:gradFill>
            <a:ln>
              <a:noFill/>
            </a:ln>
            <a:effectLst>
              <a:outerShdw blurRad="350012" dist="63500" dir="5400000" algn="t" rotWithShape="0">
                <a:schemeClr val="accent2">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lang="zh-CN" altLang="en-US" sz="1600">
                  <a:latin typeface="+mj-ea"/>
                  <a:ea typeface="+mj-ea"/>
                  <a:cs typeface="思源黑体 CN Normal" panose="020B0400000000000000" pitchFamily="34" charset="-122"/>
                </a:rPr>
                <a:t>创新与突破</a:t>
              </a:r>
              <a:endParaRPr lang="zh-CN" altLang="en-US" sz="1600">
                <a:latin typeface="+mj-ea"/>
                <a:ea typeface="+mj-ea"/>
                <a:cs typeface="思源黑体 CN Normal" panose="020B0400000000000000" pitchFamily="34" charset="-122"/>
              </a:endParaRPr>
            </a:p>
          </p:txBody>
        </p:sp>
        <p:grpSp>
          <p:nvGrpSpPr>
            <p:cNvPr id="212" name="组合 211"/>
            <p:cNvGrpSpPr/>
            <p:nvPr/>
          </p:nvGrpSpPr>
          <p:grpSpPr>
            <a:xfrm>
              <a:off x="8415015" y="1838593"/>
              <a:ext cx="569509" cy="3775040"/>
              <a:chOff x="8415015" y="1838593"/>
              <a:chExt cx="569509" cy="3775040"/>
            </a:xfrm>
          </p:grpSpPr>
          <p:sp>
            <p:nvSpPr>
              <p:cNvPr id="61" name="椭圆 60"/>
              <p:cNvSpPr/>
              <p:nvPr>
                <p:custDataLst>
                  <p:tags r:id="rId23"/>
                </p:custDataLst>
              </p:nvPr>
            </p:nvSpPr>
            <p:spPr>
              <a:xfrm>
                <a:off x="8715259" y="3595445"/>
                <a:ext cx="269265" cy="261337"/>
              </a:xfrm>
              <a:prstGeom prst="ellipse">
                <a:avLst/>
              </a:prstGeom>
              <a:gradFill flip="none" rotWithShape="1">
                <a:gsLst>
                  <a:gs pos="0">
                    <a:schemeClr val="accent2">
                      <a:lumMod val="90000"/>
                      <a:lumOff val="10000"/>
                    </a:schemeClr>
                  </a:gs>
                  <a:gs pos="100000">
                    <a:schemeClr val="accent2"/>
                  </a:gs>
                </a:gsLst>
                <a:lin ang="10800000" scaled="0"/>
                <a:tileRect/>
              </a:gradFill>
              <a:ln>
                <a:solidFill>
                  <a:schemeClr val="bg1"/>
                </a:solidFill>
              </a:ln>
              <a:effectLst>
                <a:outerShdw blurRad="350012" dist="201930" dir="5400000" algn="t" rotWithShape="0">
                  <a:schemeClr val="accent2">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2" name="椭圆 61"/>
              <p:cNvSpPr/>
              <p:nvPr>
                <p:custDataLst>
                  <p:tags r:id="rId24"/>
                </p:custDataLst>
              </p:nvPr>
            </p:nvSpPr>
            <p:spPr>
              <a:xfrm>
                <a:off x="8715301" y="2717019"/>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椭圆 62"/>
              <p:cNvSpPr/>
              <p:nvPr>
                <p:custDataLst>
                  <p:tags r:id="rId25"/>
                </p:custDataLst>
              </p:nvPr>
            </p:nvSpPr>
            <p:spPr>
              <a:xfrm>
                <a:off x="8415015" y="1838593"/>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4" name="椭圆 63"/>
              <p:cNvSpPr/>
              <p:nvPr>
                <p:custDataLst>
                  <p:tags r:id="rId26"/>
                </p:custDataLst>
              </p:nvPr>
            </p:nvSpPr>
            <p:spPr>
              <a:xfrm>
                <a:off x="8603719" y="2277806"/>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5" name="椭圆 64"/>
              <p:cNvSpPr/>
              <p:nvPr>
                <p:custDataLst>
                  <p:tags r:id="rId27"/>
                </p:custDataLst>
              </p:nvPr>
            </p:nvSpPr>
            <p:spPr>
              <a:xfrm>
                <a:off x="8760672" y="3156232"/>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6" name="椭圆 65"/>
              <p:cNvSpPr/>
              <p:nvPr>
                <p:custDataLst>
                  <p:tags r:id="rId28"/>
                </p:custDataLst>
              </p:nvPr>
            </p:nvSpPr>
            <p:spPr>
              <a:xfrm>
                <a:off x="8715301" y="4613786"/>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7" name="椭圆 66"/>
              <p:cNvSpPr/>
              <p:nvPr>
                <p:custDataLst>
                  <p:tags r:id="rId29"/>
                </p:custDataLst>
              </p:nvPr>
            </p:nvSpPr>
            <p:spPr>
              <a:xfrm>
                <a:off x="8415015" y="5492211"/>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8" name="椭圆 67"/>
              <p:cNvSpPr/>
              <p:nvPr>
                <p:custDataLst>
                  <p:tags r:id="rId30"/>
                </p:custDataLst>
              </p:nvPr>
            </p:nvSpPr>
            <p:spPr>
              <a:xfrm>
                <a:off x="8603719" y="5052999"/>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9" name="椭圆 68"/>
              <p:cNvSpPr/>
              <p:nvPr>
                <p:custDataLst>
                  <p:tags r:id="rId31"/>
                </p:custDataLst>
              </p:nvPr>
            </p:nvSpPr>
            <p:spPr>
              <a:xfrm>
                <a:off x="8760672" y="4174573"/>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49" name="文本框 48"/>
            <p:cNvSpPr txBox="1"/>
            <p:nvPr/>
          </p:nvSpPr>
          <p:spPr>
            <a:xfrm>
              <a:off x="9545349" y="3181849"/>
              <a:ext cx="913890" cy="1088528"/>
            </a:xfrm>
            <a:prstGeom prst="rect">
              <a:avLst/>
            </a:prstGeom>
            <a:noFill/>
            <a:effectLst/>
          </p:spPr>
          <p:txBody>
            <a:bodyPr wrap="none" lIns="96926" tIns="48463" rIns="96926" bIns="48463"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800" b="1"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绩效</a:t>
              </a:r>
              <a:endParaRPr kumimoji="1" lang="en-US" altLang="zh-CN" sz="2800" b="1"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800" b="1"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目标</a:t>
              </a:r>
              <a:endParaRPr kumimoji="1" lang="zh-CN" altLang="en-US" sz="2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Tree>
    <p:custDataLst>
      <p:tags r:id="rId3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334963" y="4585263"/>
            <a:ext cx="3788596" cy="2016000"/>
          </a:xfrm>
          <a:prstGeom prst="rect">
            <a:avLst/>
          </a:pr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aphicFrame>
        <p:nvGraphicFramePr>
          <p:cNvPr id="3" name="表格 2"/>
          <p:cNvGraphicFramePr>
            <a:graphicFrameLocks noGrp="1"/>
          </p:cNvGraphicFramePr>
          <p:nvPr/>
        </p:nvGraphicFramePr>
        <p:xfrm>
          <a:off x="6356952" y="908050"/>
          <a:ext cx="5500085" cy="3613150"/>
        </p:xfrm>
        <a:graphic>
          <a:graphicData uri="http://schemas.openxmlformats.org/drawingml/2006/table">
            <a:tbl>
              <a:tblPr/>
              <a:tblGrid>
                <a:gridCol w="1340176"/>
                <a:gridCol w="1393767"/>
                <a:gridCol w="1777505"/>
                <a:gridCol w="988637"/>
              </a:tblGrid>
              <a:tr h="419814">
                <a:tc>
                  <a:txBody>
                    <a:bodyPr/>
                    <a:lstStyle/>
                    <a:p>
                      <a:pPr algn="ctr" fontAlgn="t">
                        <a:buNone/>
                      </a:pPr>
                      <a:r>
                        <a:rPr lang="zh-CN" altLang="en-US" sz="1200" b="0" dirty="0">
                          <a:solidFill>
                            <a:schemeClr val="bg1"/>
                          </a:solidFill>
                          <a:effectLst/>
                          <a:latin typeface="+mj-ea"/>
                          <a:ea typeface="+mj-ea"/>
                          <a:cs typeface="思源黑体 CN Normal" panose="020B0400000000000000" pitchFamily="34" charset="-122"/>
                        </a:rPr>
                        <a:t>智能家居产品</a:t>
                      </a:r>
                      <a:endParaRPr lang="zh-CN" altLang="en-US" sz="1200" b="0" dirty="0">
                        <a:solidFill>
                          <a:schemeClr val="bg1"/>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zh-CN" altLang="en-US" sz="1200" b="0" dirty="0">
                          <a:solidFill>
                            <a:schemeClr val="bg1"/>
                          </a:solidFill>
                          <a:effectLst/>
                          <a:latin typeface="+mj-ea"/>
                          <a:ea typeface="+mj-ea"/>
                          <a:cs typeface="思源黑体 CN Normal" panose="020B0400000000000000" pitchFamily="34" charset="-122"/>
                        </a:rPr>
                        <a:t>销售额（万元）</a:t>
                      </a:r>
                      <a:endParaRPr lang="zh-CN" altLang="en-US" sz="1200" b="0" dirty="0">
                        <a:solidFill>
                          <a:schemeClr val="bg1"/>
                        </a:solidFill>
                        <a:effectLst/>
                        <a:latin typeface="+mj-ea"/>
                        <a:ea typeface="+mj-ea"/>
                        <a:cs typeface="思源黑体 CN Normal" panose="020B0400000000000000" pitchFamily="34" charset="-122"/>
                      </a:endParaRPr>
                    </a:p>
                  </a:txBody>
                  <a:tcPr marL="127000" marR="127000" marT="63500" marB="6350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zh-CN" altLang="en-US" sz="1200" b="0" dirty="0">
                          <a:solidFill>
                            <a:schemeClr val="bg1"/>
                          </a:solidFill>
                          <a:effectLst/>
                          <a:latin typeface="+mj-ea"/>
                          <a:ea typeface="+mj-ea"/>
                          <a:cs typeface="思源黑体 CN Normal" panose="020B0400000000000000" pitchFamily="34" charset="-122"/>
                        </a:rPr>
                        <a:t>销售额增长额（万元）</a:t>
                      </a:r>
                      <a:endParaRPr lang="zh-CN" altLang="en-US" sz="1200" b="0" dirty="0">
                        <a:solidFill>
                          <a:schemeClr val="bg1"/>
                        </a:solidFill>
                        <a:effectLst/>
                        <a:latin typeface="+mj-ea"/>
                        <a:ea typeface="+mj-ea"/>
                        <a:cs typeface="思源黑体 CN Normal" panose="020B0400000000000000" pitchFamily="34" charset="-122"/>
                      </a:endParaRPr>
                    </a:p>
                  </a:txBody>
                  <a:tcPr marL="127000" marR="127000" marT="63500" marB="6350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zh-CN" altLang="en-US" sz="1200" b="0" dirty="0">
                          <a:solidFill>
                            <a:schemeClr val="bg1"/>
                          </a:solidFill>
                          <a:effectLst/>
                          <a:latin typeface="+mj-ea"/>
                          <a:ea typeface="+mj-ea"/>
                          <a:cs typeface="思源黑体 CN Normal" panose="020B0400000000000000" pitchFamily="34" charset="-122"/>
                        </a:rPr>
                        <a:t>增长幅度</a:t>
                      </a:r>
                      <a:endParaRPr lang="zh-CN" altLang="en-US" sz="1200" b="0" dirty="0">
                        <a:solidFill>
                          <a:schemeClr val="bg1"/>
                        </a:solidFill>
                        <a:effectLst/>
                        <a:latin typeface="+mj-ea"/>
                        <a:ea typeface="+mj-ea"/>
                        <a:cs typeface="思源黑体 CN Normal" panose="020B0400000000000000" pitchFamily="34" charset="-122"/>
                      </a:endParaRPr>
                    </a:p>
                  </a:txBody>
                  <a:tcPr marL="127000" marR="127000" marT="63500" marB="63500" anchor="ctr">
                    <a:lnL w="3175" cap="flat" cmpd="sng" algn="ctr">
                      <a:solidFill>
                        <a:schemeClr val="bg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智能门锁</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120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a:solidFill>
                            <a:srgbClr val="0D0D0D"/>
                          </a:solidFill>
                          <a:effectLst/>
                          <a:latin typeface="+mn-ea"/>
                          <a:ea typeface="+mn-ea"/>
                          <a:cs typeface="思源黑体 CN Normal" panose="020B0400000000000000" pitchFamily="34" charset="-122"/>
                        </a:rPr>
                        <a:t>60</a:t>
                      </a: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智能摄像头</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90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a:solidFill>
                            <a:srgbClr val="0D0D0D"/>
                          </a:solidFill>
                          <a:effectLst/>
                          <a:latin typeface="+mn-ea"/>
                          <a:ea typeface="+mn-ea"/>
                          <a:cs typeface="思源黑体 CN Normal" panose="020B0400000000000000" pitchFamily="34" charset="-122"/>
                        </a:rPr>
                        <a:t>40</a:t>
                      </a: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44.4%</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智能灯具</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80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30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a:solidFill>
                            <a:srgbClr val="0D0D0D"/>
                          </a:solidFill>
                          <a:effectLst/>
                          <a:latin typeface="+mn-ea"/>
                          <a:ea typeface="+mn-ea"/>
                          <a:cs typeface="思源黑体 CN Normal" panose="020B0400000000000000" pitchFamily="34" charset="-122"/>
                        </a:rPr>
                        <a:t>37.5%</a:t>
                      </a: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智能窗帘</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60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30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智能温控系统</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70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30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42.9%</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智能音箱</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100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智能扫地机器人</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110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45.5%</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智能空气净化器</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6350" cap="flat" cmpd="sng" algn="ctr">
                      <a:solidFill>
                        <a:schemeClr val="accent1"/>
                      </a:solidFill>
                      <a:prstDash val="solid"/>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95</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6350" cap="flat" cmpd="sng" algn="ctr">
                      <a:solidFill>
                        <a:schemeClr val="accent1"/>
                      </a:solidFill>
                      <a:prstDash val="solid"/>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45</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6350" cap="flat" cmpd="sng" algn="ctr">
                      <a:solidFill>
                        <a:schemeClr val="accent1"/>
                      </a:solidFill>
                      <a:prstDash val="solid"/>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47.4%</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6350" cap="flat" cmpd="sng" algn="ctr">
                      <a:solidFill>
                        <a:schemeClr val="accent1"/>
                      </a:solidFill>
                      <a:prstDash val="solid"/>
                      <a:round/>
                      <a:headEnd type="none" w="med" len="med"/>
                      <a:tailEnd type="none" w="med" len="med"/>
                    </a:lnB>
                    <a:solidFill>
                      <a:srgbClr val="FFFFFF"/>
                    </a:solidFill>
                  </a:tcPr>
                </a:tc>
              </a:tr>
            </a:tbl>
          </a:graphicData>
        </a:graphic>
      </p:graphicFrame>
      <p:grpSp>
        <p:nvGrpSpPr>
          <p:cNvPr id="44" name="组合 43"/>
          <p:cNvGrpSpPr/>
          <p:nvPr/>
        </p:nvGrpSpPr>
        <p:grpSpPr>
          <a:xfrm>
            <a:off x="334964" y="908050"/>
            <a:ext cx="5940000" cy="1224000"/>
            <a:chOff x="523558" y="908050"/>
            <a:chExt cx="5722899" cy="1224000"/>
          </a:xfrm>
        </p:grpSpPr>
        <p:sp>
          <p:nvSpPr>
            <p:cNvPr id="4" name="矩形: 圆角 3"/>
            <p:cNvSpPr/>
            <p:nvPr/>
          </p:nvSpPr>
          <p:spPr>
            <a:xfrm>
              <a:off x="523558" y="908050"/>
              <a:ext cx="1872000" cy="1224000"/>
            </a:xfrm>
            <a:prstGeom prst="roundRect">
              <a:avLst>
                <a:gd name="adj" fmla="val 2166"/>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 name="矩形: 圆角 4"/>
            <p:cNvSpPr/>
            <p:nvPr/>
          </p:nvSpPr>
          <p:spPr>
            <a:xfrm>
              <a:off x="2449007" y="908050"/>
              <a:ext cx="1872000" cy="1224000"/>
            </a:xfrm>
            <a:prstGeom prst="roundRect">
              <a:avLst>
                <a:gd name="adj" fmla="val 2166"/>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 name="矩形: 圆角 5"/>
            <p:cNvSpPr/>
            <p:nvPr/>
          </p:nvSpPr>
          <p:spPr>
            <a:xfrm>
              <a:off x="4374457" y="908050"/>
              <a:ext cx="1872000" cy="1224000"/>
            </a:xfrm>
            <a:prstGeom prst="roundRect">
              <a:avLst>
                <a:gd name="adj" fmla="val 21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 name="文本框 6"/>
            <p:cNvSpPr txBox="1"/>
            <p:nvPr/>
          </p:nvSpPr>
          <p:spPr>
            <a:xfrm>
              <a:off x="905560" y="1087468"/>
              <a:ext cx="1107996" cy="369332"/>
            </a:xfrm>
            <a:prstGeom prst="rect">
              <a:avLst/>
            </a:prstGeom>
            <a:noFill/>
          </p:spPr>
          <p:txBody>
            <a:bodyPr wrap="none" rtlCol="0">
              <a:spAutoFit/>
            </a:bodyPr>
            <a:lstStyle/>
            <a:p>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华东区域</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 name="文本框 7"/>
            <p:cNvSpPr txBox="1"/>
            <p:nvPr/>
          </p:nvSpPr>
          <p:spPr>
            <a:xfrm>
              <a:off x="2833550" y="1087468"/>
              <a:ext cx="1107996" cy="369332"/>
            </a:xfrm>
            <a:prstGeom prst="rect">
              <a:avLst/>
            </a:prstGeom>
            <a:noFill/>
          </p:spPr>
          <p:txBody>
            <a:bodyPr wrap="none" rtlCol="0">
              <a:spAutoFit/>
            </a:bodyPr>
            <a:lstStyle/>
            <a:p>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华北区域</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 name="文本框 8"/>
            <p:cNvSpPr txBox="1"/>
            <p:nvPr/>
          </p:nvSpPr>
          <p:spPr>
            <a:xfrm>
              <a:off x="4756459" y="1087468"/>
              <a:ext cx="1107996" cy="369332"/>
            </a:xfrm>
            <a:prstGeom prst="rect">
              <a:avLst/>
            </a:prstGeom>
            <a:noFill/>
          </p:spPr>
          <p:txBody>
            <a:bodyPr wrap="none" rtlCol="0">
              <a:spAutoFit/>
            </a:bodyPr>
            <a:lstStyle/>
            <a:p>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华南区域</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 name="文本框 9"/>
            <p:cNvSpPr txBox="1"/>
            <p:nvPr/>
          </p:nvSpPr>
          <p:spPr>
            <a:xfrm>
              <a:off x="597023" y="1474142"/>
              <a:ext cx="1322329" cy="584775"/>
            </a:xfrm>
            <a:prstGeom prst="rect">
              <a:avLst/>
            </a:prstGeom>
            <a:noFill/>
          </p:spPr>
          <p:txBody>
            <a:bodyPr wrap="none" rtlCol="0">
              <a:spAutoFit/>
            </a:bodyPr>
            <a:lstStyle/>
            <a:p>
              <a:r>
                <a:rPr lang="en-US" altLang="zh-CN"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335</a:t>
              </a:r>
              <a:r>
                <a:rPr lang="zh-CN" altLang="en-US" dirty="0">
                  <a:solidFill>
                    <a:schemeClr val="bg1"/>
                  </a:solidFill>
                  <a:latin typeface="+mj-ea"/>
                  <a:ea typeface="+mj-ea"/>
                  <a:cs typeface="思源黑体 CN Normal" panose="020B0400000000000000" pitchFamily="34" charset="-122"/>
                </a:rPr>
                <a:t>万元</a:t>
              </a:r>
              <a:endParaRPr lang="zh-CN" altLang="en-US" dirty="0">
                <a:solidFill>
                  <a:schemeClr val="bg1"/>
                </a:solidFill>
                <a:latin typeface="+mj-ea"/>
                <a:ea typeface="+mj-ea"/>
                <a:cs typeface="思源黑体 CN Normal" panose="020B0400000000000000" pitchFamily="34" charset="-122"/>
              </a:endParaRPr>
            </a:p>
          </p:txBody>
        </p:sp>
        <p:sp>
          <p:nvSpPr>
            <p:cNvPr id="11" name="文本框 10"/>
            <p:cNvSpPr txBox="1"/>
            <p:nvPr/>
          </p:nvSpPr>
          <p:spPr>
            <a:xfrm>
              <a:off x="2525870" y="1474142"/>
              <a:ext cx="1322329" cy="584775"/>
            </a:xfrm>
            <a:prstGeom prst="rect">
              <a:avLst/>
            </a:prstGeom>
            <a:noFill/>
          </p:spPr>
          <p:txBody>
            <a:bodyPr wrap="none" rtlCol="0">
              <a:spAutoFit/>
            </a:bodyPr>
            <a:lstStyle/>
            <a:p>
              <a:r>
                <a:rPr lang="en-US" altLang="zh-CN"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218</a:t>
              </a:r>
              <a:r>
                <a:rPr lang="zh-CN" altLang="en-US" dirty="0">
                  <a:solidFill>
                    <a:schemeClr val="bg1"/>
                  </a:solidFill>
                  <a:latin typeface="+mj-ea"/>
                  <a:ea typeface="+mj-ea"/>
                  <a:cs typeface="思源黑体 CN Normal" panose="020B0400000000000000" pitchFamily="34" charset="-122"/>
                </a:rPr>
                <a:t>万元</a:t>
              </a:r>
              <a:endParaRPr lang="zh-CN" altLang="en-US" dirty="0">
                <a:solidFill>
                  <a:schemeClr val="bg1"/>
                </a:solidFill>
                <a:latin typeface="+mj-ea"/>
                <a:ea typeface="+mj-ea"/>
                <a:cs typeface="思源黑体 CN Normal" panose="020B0400000000000000" pitchFamily="34" charset="-122"/>
              </a:endParaRPr>
            </a:p>
          </p:txBody>
        </p:sp>
        <p:sp>
          <p:nvSpPr>
            <p:cNvPr id="12" name="文本框 11"/>
            <p:cNvSpPr txBox="1"/>
            <p:nvPr/>
          </p:nvSpPr>
          <p:spPr>
            <a:xfrm>
              <a:off x="4442854" y="1474142"/>
              <a:ext cx="1322329" cy="584775"/>
            </a:xfrm>
            <a:prstGeom prst="rect">
              <a:avLst/>
            </a:prstGeom>
            <a:noFill/>
          </p:spPr>
          <p:txBody>
            <a:bodyPr wrap="none" rtlCol="0">
              <a:spAutoFit/>
            </a:bodyPr>
            <a:lstStyle/>
            <a:p>
              <a:r>
                <a:rPr lang="en-US" altLang="zh-CN"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237</a:t>
              </a:r>
              <a:r>
                <a:rPr lang="zh-CN" altLang="en-US" dirty="0">
                  <a:solidFill>
                    <a:schemeClr val="bg1"/>
                  </a:solidFill>
                  <a:latin typeface="+mj-ea"/>
                  <a:ea typeface="+mj-ea"/>
                  <a:cs typeface="思源黑体 CN Normal" panose="020B0400000000000000" pitchFamily="34" charset="-122"/>
                </a:rPr>
                <a:t>万元</a:t>
              </a:r>
              <a:endParaRPr lang="zh-CN" altLang="en-US" dirty="0">
                <a:solidFill>
                  <a:schemeClr val="bg1"/>
                </a:solidFill>
                <a:latin typeface="+mj-ea"/>
                <a:ea typeface="+mj-ea"/>
                <a:cs typeface="思源黑体 CN Normal" panose="020B0400000000000000" pitchFamily="34" charset="-122"/>
              </a:endParaRPr>
            </a:p>
          </p:txBody>
        </p:sp>
        <p:sp>
          <p:nvSpPr>
            <p:cNvPr id="13" name="任意多边形: 形状 12"/>
            <p:cNvSpPr/>
            <p:nvPr/>
          </p:nvSpPr>
          <p:spPr>
            <a:xfrm>
              <a:off x="1882584" y="1367617"/>
              <a:ext cx="482877" cy="651948"/>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14" name="任意多边形: 形状 13"/>
            <p:cNvSpPr/>
            <p:nvPr/>
          </p:nvSpPr>
          <p:spPr>
            <a:xfrm>
              <a:off x="3802149" y="1367617"/>
              <a:ext cx="482877" cy="651948"/>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15" name="任意多边形: 形状 14"/>
            <p:cNvSpPr/>
            <p:nvPr/>
          </p:nvSpPr>
          <p:spPr>
            <a:xfrm>
              <a:off x="5730605" y="1367617"/>
              <a:ext cx="482877" cy="651948"/>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grpSp>
      <p:graphicFrame>
        <p:nvGraphicFramePr>
          <p:cNvPr id="18" name="图表 17"/>
          <p:cNvGraphicFramePr/>
          <p:nvPr/>
        </p:nvGraphicFramePr>
        <p:xfrm>
          <a:off x="515938" y="2379166"/>
          <a:ext cx="5730519" cy="2154731"/>
        </p:xfrm>
        <a:graphic>
          <a:graphicData uri="http://schemas.openxmlformats.org/drawingml/2006/chart">
            <c:chart xmlns:c="http://schemas.openxmlformats.org/drawingml/2006/chart" xmlns:r="http://schemas.openxmlformats.org/officeDocument/2006/relationships" r:id="rId1"/>
          </a:graphicData>
        </a:graphic>
      </p:graphicFrame>
      <p:sp>
        <p:nvSpPr>
          <p:cNvPr id="20" name="矩形 19"/>
          <p:cNvSpPr/>
          <p:nvPr/>
        </p:nvSpPr>
        <p:spPr>
          <a:xfrm>
            <a:off x="334964" y="2182899"/>
            <a:ext cx="5932800" cy="2338302"/>
          </a:xfrm>
          <a:prstGeom prst="rect">
            <a:avLst/>
          </a:pr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1" name="文本框 20"/>
          <p:cNvSpPr txBox="1"/>
          <p:nvPr/>
        </p:nvSpPr>
        <p:spPr>
          <a:xfrm>
            <a:off x="1963982" y="2227533"/>
            <a:ext cx="2834430" cy="307777"/>
          </a:xfrm>
          <a:prstGeom prst="rect">
            <a:avLst/>
          </a:prstGeom>
          <a:noFill/>
        </p:spPr>
        <p:txBody>
          <a:bodyPr wrap="none" rtlCol="0">
            <a:spAutoFit/>
          </a:bodyPr>
          <a:lstStyle/>
          <a:p>
            <a:pPr algn="ctr"/>
            <a:r>
              <a:rPr lang="zh-CN" altLang="en-US" sz="1400" dirty="0">
                <a:solidFill>
                  <a:schemeClr val="tx2"/>
                </a:solidFill>
                <a:latin typeface="+mj-ea"/>
                <a:ea typeface="+mj-ea"/>
                <a:cs typeface="思源黑体 CN Normal" panose="020B0400000000000000" pitchFamily="34" charset="-122"/>
              </a:rPr>
              <a:t>华东市场第一季度</a:t>
            </a:r>
            <a:r>
              <a:rPr lang="en-US" altLang="zh-CN" sz="1400" dirty="0">
                <a:solidFill>
                  <a:schemeClr val="tx2"/>
                </a:solidFill>
                <a:latin typeface="+mj-ea"/>
                <a:ea typeface="+mj-ea"/>
                <a:cs typeface="思源黑体 CN Normal" panose="020B0400000000000000" pitchFamily="34" charset="-122"/>
              </a:rPr>
              <a:t>&amp;</a:t>
            </a:r>
            <a:r>
              <a:rPr lang="zh-CN" altLang="en-US" sz="1400" dirty="0">
                <a:solidFill>
                  <a:schemeClr val="tx2"/>
                </a:solidFill>
                <a:latin typeface="+mj-ea"/>
                <a:ea typeface="+mj-ea"/>
                <a:cs typeface="思源黑体 CN Normal" panose="020B0400000000000000" pitchFamily="34" charset="-122"/>
              </a:rPr>
              <a:t>第二季度业绩</a:t>
            </a:r>
            <a:endParaRPr lang="zh-CN" altLang="en-US" sz="1400" dirty="0">
              <a:solidFill>
                <a:schemeClr val="tx2"/>
              </a:solidFill>
              <a:latin typeface="+mj-ea"/>
              <a:ea typeface="+mj-ea"/>
              <a:cs typeface="思源黑体 CN Normal" panose="020B0400000000000000" pitchFamily="34" charset="-122"/>
            </a:endParaRPr>
          </a:p>
        </p:txBody>
      </p:sp>
      <p:grpSp>
        <p:nvGrpSpPr>
          <p:cNvPr id="48" name="组合 47"/>
          <p:cNvGrpSpPr/>
          <p:nvPr/>
        </p:nvGrpSpPr>
        <p:grpSpPr>
          <a:xfrm>
            <a:off x="602424" y="4621530"/>
            <a:ext cx="3294893" cy="2097487"/>
            <a:chOff x="3070683" y="4646930"/>
            <a:chExt cx="3294893" cy="2097487"/>
          </a:xfrm>
        </p:grpSpPr>
        <p:grpSp>
          <p:nvGrpSpPr>
            <p:cNvPr id="29" name="组合 28"/>
            <p:cNvGrpSpPr>
              <a:grpSpLocks noChangeAspect="1"/>
            </p:cNvGrpSpPr>
            <p:nvPr/>
          </p:nvGrpSpPr>
          <p:grpSpPr>
            <a:xfrm>
              <a:off x="3070683" y="4692417"/>
              <a:ext cx="3078000" cy="2052000"/>
              <a:chOff x="1873321" y="4578117"/>
              <a:chExt cx="3015753" cy="2010502"/>
            </a:xfrm>
          </p:grpSpPr>
          <p:graphicFrame>
            <p:nvGraphicFramePr>
              <p:cNvPr id="24" name="图表 23"/>
              <p:cNvGraphicFramePr/>
              <p:nvPr/>
            </p:nvGraphicFramePr>
            <p:xfrm>
              <a:off x="1873321" y="4578117"/>
              <a:ext cx="3015753" cy="2010502"/>
            </p:xfrm>
            <a:graphic>
              <a:graphicData uri="http://schemas.openxmlformats.org/drawingml/2006/chart">
                <c:chart xmlns:c="http://schemas.openxmlformats.org/drawingml/2006/chart" xmlns:r="http://schemas.openxmlformats.org/officeDocument/2006/relationships" r:id="rId2"/>
              </a:graphicData>
            </a:graphic>
          </p:graphicFrame>
          <p:pic>
            <p:nvPicPr>
              <p:cNvPr id="28" name="图形 2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58947" y="5361118"/>
                <a:ext cx="444500" cy="444500"/>
              </a:xfrm>
              <a:prstGeom prst="rect">
                <a:avLst/>
              </a:prstGeom>
              <a:effectLst>
                <a:outerShdw blurRad="50800" dist="38100" dir="2700000" algn="tl" rotWithShape="0">
                  <a:schemeClr val="accent2">
                    <a:lumMod val="75000"/>
                    <a:alpha val="34000"/>
                  </a:schemeClr>
                </a:outerShdw>
              </a:effectLst>
            </p:spPr>
          </p:pic>
        </p:grpSp>
        <p:grpSp>
          <p:nvGrpSpPr>
            <p:cNvPr id="33" name="组合 32"/>
            <p:cNvGrpSpPr/>
            <p:nvPr/>
          </p:nvGrpSpPr>
          <p:grpSpPr>
            <a:xfrm>
              <a:off x="4787649" y="5210810"/>
              <a:ext cx="1440000" cy="1260736"/>
              <a:chOff x="4717799" y="5130800"/>
              <a:chExt cx="1548000" cy="1260736"/>
            </a:xfrm>
          </p:grpSpPr>
          <p:sp>
            <p:nvSpPr>
              <p:cNvPr id="30" name="任意多边形: 形状 29"/>
              <p:cNvSpPr/>
              <p:nvPr/>
            </p:nvSpPr>
            <p:spPr>
              <a:xfrm>
                <a:off x="4932299" y="5130800"/>
                <a:ext cx="13335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1" name="任意多边形: 形状 30"/>
              <p:cNvSpPr/>
              <p:nvPr/>
            </p:nvSpPr>
            <p:spPr>
              <a:xfrm>
                <a:off x="5185799" y="5761168"/>
                <a:ext cx="10800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2" name="任意多边形: 形状 31"/>
              <p:cNvSpPr/>
              <p:nvPr/>
            </p:nvSpPr>
            <p:spPr>
              <a:xfrm>
                <a:off x="4717799" y="6391536"/>
                <a:ext cx="15480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34" name="组合 33"/>
            <p:cNvGrpSpPr/>
            <p:nvPr/>
          </p:nvGrpSpPr>
          <p:grpSpPr>
            <a:xfrm flipH="1">
              <a:off x="3078011" y="5139097"/>
              <a:ext cx="1188000" cy="1260736"/>
              <a:chOff x="4842043" y="5130800"/>
              <a:chExt cx="1423756" cy="1260736"/>
            </a:xfrm>
          </p:grpSpPr>
          <p:sp>
            <p:nvSpPr>
              <p:cNvPr id="35" name="任意多边形: 形状 34"/>
              <p:cNvSpPr/>
              <p:nvPr/>
            </p:nvSpPr>
            <p:spPr>
              <a:xfrm>
                <a:off x="4932299" y="5130800"/>
                <a:ext cx="13335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6" name="任意多边形: 形状 35"/>
              <p:cNvSpPr/>
              <p:nvPr/>
            </p:nvSpPr>
            <p:spPr>
              <a:xfrm>
                <a:off x="5185799" y="5761168"/>
                <a:ext cx="10800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7" name="任意多边形: 形状 36"/>
              <p:cNvSpPr/>
              <p:nvPr/>
            </p:nvSpPr>
            <p:spPr>
              <a:xfrm>
                <a:off x="4842043" y="6391536"/>
                <a:ext cx="1423756"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38" name="文本框 37"/>
            <p:cNvSpPr txBox="1"/>
            <p:nvPr/>
          </p:nvSpPr>
          <p:spPr>
            <a:xfrm>
              <a:off x="5432238" y="4721462"/>
              <a:ext cx="795411"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120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智能门锁</a:t>
              </a:r>
              <a:endParaRPr lang="zh-CN" altLang="en-US" sz="1050" dirty="0">
                <a:latin typeface="+mn-ea"/>
                <a:cs typeface="思源黑体 CN Normal" panose="020B0400000000000000" pitchFamily="34" charset="-122"/>
              </a:endParaRPr>
            </a:p>
          </p:txBody>
        </p:sp>
        <p:sp>
          <p:nvSpPr>
            <p:cNvPr id="39" name="文本框 38"/>
            <p:cNvSpPr txBox="1"/>
            <p:nvPr/>
          </p:nvSpPr>
          <p:spPr>
            <a:xfrm>
              <a:off x="5507649" y="5343592"/>
              <a:ext cx="857927"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90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智能摄像头</a:t>
              </a:r>
              <a:endParaRPr lang="zh-CN" altLang="en-US" sz="1050" dirty="0">
                <a:latin typeface="+mn-ea"/>
                <a:cs typeface="思源黑体 CN Normal" panose="020B0400000000000000" pitchFamily="34" charset="-122"/>
              </a:endParaRPr>
            </a:p>
          </p:txBody>
        </p:sp>
        <p:sp>
          <p:nvSpPr>
            <p:cNvPr id="40" name="文本框 39"/>
            <p:cNvSpPr txBox="1"/>
            <p:nvPr/>
          </p:nvSpPr>
          <p:spPr>
            <a:xfrm>
              <a:off x="5432238" y="5965721"/>
              <a:ext cx="723275"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80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智能灯具</a:t>
              </a:r>
              <a:endParaRPr lang="zh-CN" altLang="en-US" sz="1050" dirty="0">
                <a:latin typeface="+mn-ea"/>
                <a:cs typeface="思源黑体 CN Normal" panose="020B0400000000000000" pitchFamily="34" charset="-122"/>
              </a:endParaRPr>
            </a:p>
          </p:txBody>
        </p:sp>
        <p:sp>
          <p:nvSpPr>
            <p:cNvPr id="41" name="文本框 40"/>
            <p:cNvSpPr txBox="1"/>
            <p:nvPr/>
          </p:nvSpPr>
          <p:spPr>
            <a:xfrm>
              <a:off x="3146135" y="4646930"/>
              <a:ext cx="723275"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60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智能窗帘</a:t>
              </a:r>
              <a:endParaRPr lang="zh-CN" altLang="en-US" sz="1050" dirty="0">
                <a:latin typeface="+mn-ea"/>
                <a:cs typeface="思源黑体 CN Normal" panose="020B0400000000000000" pitchFamily="34" charset="-122"/>
              </a:endParaRPr>
            </a:p>
          </p:txBody>
        </p:sp>
        <p:sp>
          <p:nvSpPr>
            <p:cNvPr id="42" name="文本框 41"/>
            <p:cNvSpPr txBox="1"/>
            <p:nvPr/>
          </p:nvSpPr>
          <p:spPr>
            <a:xfrm>
              <a:off x="3073999" y="5273285"/>
              <a:ext cx="723275"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70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智能温控</a:t>
              </a:r>
              <a:endParaRPr lang="zh-CN" altLang="en-US" sz="1050" dirty="0">
                <a:latin typeface="+mn-ea"/>
                <a:cs typeface="思源黑体 CN Normal" panose="020B0400000000000000" pitchFamily="34" charset="-122"/>
              </a:endParaRPr>
            </a:p>
          </p:txBody>
        </p:sp>
        <p:sp>
          <p:nvSpPr>
            <p:cNvPr id="43" name="文本框 42"/>
            <p:cNvSpPr txBox="1"/>
            <p:nvPr/>
          </p:nvSpPr>
          <p:spPr>
            <a:xfrm>
              <a:off x="3073999" y="5899639"/>
              <a:ext cx="795411"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100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智能音箱</a:t>
              </a:r>
              <a:endParaRPr lang="zh-CN" altLang="en-US" sz="1050" dirty="0">
                <a:latin typeface="+mn-ea"/>
                <a:cs typeface="思源黑体 CN Normal" panose="020B0400000000000000" pitchFamily="34" charset="-122"/>
              </a:endParaRPr>
            </a:p>
          </p:txBody>
        </p:sp>
      </p:grpSp>
      <p:graphicFrame>
        <p:nvGraphicFramePr>
          <p:cNvPr id="47" name="图表 46"/>
          <p:cNvGraphicFramePr/>
          <p:nvPr/>
        </p:nvGraphicFramePr>
        <p:xfrm>
          <a:off x="4206113" y="4585263"/>
          <a:ext cx="3600000" cy="201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5" name="图表 54"/>
          <p:cNvGraphicFramePr/>
          <p:nvPr/>
        </p:nvGraphicFramePr>
        <p:xfrm>
          <a:off x="7888667" y="4585263"/>
          <a:ext cx="3968371" cy="2016000"/>
        </p:xfrm>
        <a:graphic>
          <a:graphicData uri="http://schemas.openxmlformats.org/drawingml/2006/chart">
            <c:chart xmlns:c="http://schemas.openxmlformats.org/drawingml/2006/chart" xmlns:r="http://schemas.openxmlformats.org/officeDocument/2006/relationships" r:id="rId4"/>
          </a:graphicData>
        </a:graphic>
      </p:graphicFrame>
      <p:sp>
        <p:nvSpPr>
          <p:cNvPr id="23"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数据图表</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上半年市场反馈</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7"/>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335998" y="1037902"/>
          <a:ext cx="11520000" cy="4679992"/>
        </p:xfrm>
        <a:graphic>
          <a:graphicData uri="http://schemas.openxmlformats.org/drawingml/2006/table">
            <a:tbl>
              <a:tblPr/>
              <a:tblGrid>
                <a:gridCol w="607278"/>
                <a:gridCol w="2538054"/>
                <a:gridCol w="697889"/>
                <a:gridCol w="697889"/>
                <a:gridCol w="697889"/>
                <a:gridCol w="697889"/>
                <a:gridCol w="697889"/>
                <a:gridCol w="697889"/>
                <a:gridCol w="697889"/>
                <a:gridCol w="697889"/>
                <a:gridCol w="697889"/>
                <a:gridCol w="697889"/>
                <a:gridCol w="697889"/>
                <a:gridCol w="697889"/>
              </a:tblGrid>
              <a:tr h="379192">
                <a:tc>
                  <a:txBody>
                    <a:bodyPr/>
                    <a:lstStyle/>
                    <a:p>
                      <a:pPr algn="ctr" fontAlgn="t">
                        <a:buNone/>
                      </a:pPr>
                      <a:r>
                        <a:rPr lang="zh-CN" altLang="en-US" sz="1400" b="0" dirty="0">
                          <a:solidFill>
                            <a:schemeClr val="bg1"/>
                          </a:solidFill>
                          <a:effectLst/>
                          <a:latin typeface="+mj-ea"/>
                          <a:ea typeface="+mj-ea"/>
                          <a:cs typeface="思源黑体 CN Normal" panose="020B0400000000000000" pitchFamily="34" charset="-122"/>
                        </a:rPr>
                        <a:t>序号</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zh-CN" altLang="en-US" sz="1600" b="0" dirty="0">
                          <a:solidFill>
                            <a:schemeClr val="bg1"/>
                          </a:solidFill>
                          <a:effectLst/>
                          <a:latin typeface="+mj-ea"/>
                          <a:ea typeface="+mj-ea"/>
                          <a:cs typeface="思源黑体 CN Normal" panose="020B0400000000000000" pitchFamily="34" charset="-122"/>
                        </a:rPr>
                        <a:t>项目计划名称</a:t>
                      </a:r>
                      <a:endParaRPr lang="zh-CN" altLang="en-US" sz="16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1</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2</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3</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4</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5</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6</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7</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8</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9</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10</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11</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12</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01</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智能产线柔性化改造</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02</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工业机器人集群协同系统</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03</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数字孪生技术落地应用</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04</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能源管理系统优化升级</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05</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自动化质检设备研发</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06</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供应链数据中台建设</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07</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老旧设备</a:t>
                      </a:r>
                      <a:r>
                        <a:rPr lang="en-US" altLang="zh-CN" sz="1100" b="0" dirty="0">
                          <a:solidFill>
                            <a:srgbClr val="0D0D0D"/>
                          </a:solidFill>
                          <a:effectLst/>
                          <a:latin typeface="+mn-ea"/>
                          <a:ea typeface="+mn-ea"/>
                          <a:cs typeface="思源黑体 CN Normal" panose="020B0400000000000000" pitchFamily="34" charset="-122"/>
                        </a:rPr>
                        <a:t>AI</a:t>
                      </a:r>
                      <a:r>
                        <a:rPr lang="zh-CN" altLang="en-US" sz="1100" b="0" dirty="0">
                          <a:solidFill>
                            <a:srgbClr val="0D0D0D"/>
                          </a:solidFill>
                          <a:effectLst/>
                          <a:latin typeface="+mn-ea"/>
                          <a:ea typeface="+mn-ea"/>
                          <a:cs typeface="思源黑体 CN Normal" panose="020B0400000000000000" pitchFamily="34" charset="-122"/>
                        </a:rPr>
                        <a:t>诊断覆盖</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08</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5G+</a:t>
                      </a:r>
                      <a:r>
                        <a:rPr lang="zh-CN" altLang="en-US" sz="1100" b="0" dirty="0">
                          <a:solidFill>
                            <a:srgbClr val="0D0D0D"/>
                          </a:solidFill>
                          <a:effectLst/>
                          <a:latin typeface="+mn-ea"/>
                          <a:ea typeface="+mn-ea"/>
                          <a:cs typeface="思源黑体 CN Normal" panose="020B0400000000000000" pitchFamily="34" charset="-122"/>
                        </a:rPr>
                        <a:t>工业互联网试点</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09</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自动化仓储系统扩容</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10</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工艺参数</a:t>
                      </a:r>
                      <a:r>
                        <a:rPr lang="en-US" altLang="zh-CN" sz="1100" b="0" dirty="0">
                          <a:solidFill>
                            <a:srgbClr val="0D0D0D"/>
                          </a:solidFill>
                          <a:effectLst/>
                          <a:latin typeface="+mn-ea"/>
                          <a:ea typeface="+mn-ea"/>
                          <a:cs typeface="思源黑体 CN Normal" panose="020B0400000000000000" pitchFamily="34" charset="-122"/>
                        </a:rPr>
                        <a:t>AI</a:t>
                      </a:r>
                      <a:r>
                        <a:rPr lang="zh-CN" altLang="en-US" sz="1100" b="0" dirty="0">
                          <a:solidFill>
                            <a:srgbClr val="0D0D0D"/>
                          </a:solidFill>
                          <a:effectLst/>
                          <a:latin typeface="+mn-ea"/>
                          <a:ea typeface="+mn-ea"/>
                          <a:cs typeface="思源黑体 CN Normal" panose="020B0400000000000000" pitchFamily="34" charset="-122"/>
                        </a:rPr>
                        <a:t>优化平台</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11</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员工数字化技能培训体系</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12</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安全生产预警系统开发</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13</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客户定制化需求响应系统</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14</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跨工厂数据互通标准制定</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r>
            </a:tbl>
          </a:graphicData>
        </a:graphic>
      </p:graphicFrame>
      <p:sp>
        <p:nvSpPr>
          <p:cNvPr id="23" name="大标题"/>
          <p:cNvSpPr txBox="1"/>
          <p:nvPr/>
        </p:nvSpPr>
        <p:spPr>
          <a:xfrm>
            <a:off x="313944" y="147026"/>
            <a:ext cx="5602906"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mj-ea"/>
                <a:cs typeface="思源黑体 CN Normal" panose="020B0400000000000000" pitchFamily="34" charset="-122"/>
              </a:rPr>
              <a:t>甘特图</a:t>
            </a:r>
            <a:r>
              <a:rPr lang="en-US" altLang="zh-CN" sz="3000" dirty="0">
                <a:solidFill>
                  <a:schemeClr val="tx2"/>
                </a:solidFill>
                <a:latin typeface="+mj-ea"/>
                <a:cs typeface="思源黑体 CN Normal" panose="020B0400000000000000" pitchFamily="34" charset="-122"/>
              </a:rPr>
              <a:t>-</a:t>
            </a:r>
            <a:r>
              <a:rPr lang="zh-CN" altLang="en-US" sz="3000" dirty="0">
                <a:solidFill>
                  <a:schemeClr val="bg2"/>
                </a:solidFill>
                <a:latin typeface="+mj-ea"/>
                <a:cs typeface="思源黑体 CN Normal" panose="020B0400000000000000" pitchFamily="34" charset="-122"/>
              </a:rPr>
              <a:t>年度计划推进总览</a:t>
            </a:r>
            <a:endParaRPr lang="zh-CN" altLang="en-US" sz="3000" dirty="0">
              <a:solidFill>
                <a:schemeClr val="bg2"/>
              </a:solidFill>
              <a:latin typeface="+mj-ea"/>
              <a:cs typeface="思源黑体 CN Normal" panose="020B0400000000000000" pitchFamily="34" charset="-122"/>
            </a:endParaRPr>
          </a:p>
        </p:txBody>
      </p:sp>
      <p:grpSp>
        <p:nvGrpSpPr>
          <p:cNvPr id="188" name="组合 187"/>
          <p:cNvGrpSpPr/>
          <p:nvPr/>
        </p:nvGrpSpPr>
        <p:grpSpPr>
          <a:xfrm>
            <a:off x="335027" y="908315"/>
            <a:ext cx="11522011" cy="124942"/>
            <a:chOff x="335027" y="908315"/>
            <a:chExt cx="11522011" cy="124942"/>
          </a:xfrm>
        </p:grpSpPr>
        <p:sp>
          <p:nvSpPr>
            <p:cNvPr id="186" name="梯形"/>
            <p:cNvSpPr/>
            <p:nvPr/>
          </p:nvSpPr>
          <p:spPr>
            <a:xfrm flipV="1">
              <a:off x="335027" y="961257"/>
              <a:ext cx="11522011" cy="72000"/>
            </a:xfrm>
            <a:prstGeom prst="trapezoid">
              <a:avLst>
                <a:gd name="adj" fmla="val 119447"/>
              </a:avLst>
            </a:prstGeom>
            <a:gradFill>
              <a:gsLst>
                <a:gs pos="0">
                  <a:schemeClr val="accent1">
                    <a:lumMod val="20000"/>
                    <a:lumOff val="80000"/>
                    <a:alpha val="0"/>
                  </a:schemeClr>
                </a:gs>
                <a:gs pos="100000">
                  <a:schemeClr val="accent1">
                    <a:lumMod val="40000"/>
                    <a:lumOff val="60000"/>
                    <a:alpha val="60000"/>
                  </a:schemeClr>
                </a:gs>
              </a:gsLst>
              <a:lin ang="5400000" scaled="1"/>
            </a:gradFill>
            <a:ln w="6350">
              <a:gradFill>
                <a:gsLst>
                  <a:gs pos="29000">
                    <a:schemeClr val="bg1">
                      <a:alpha val="0"/>
                    </a:schemeClr>
                  </a:gs>
                  <a:gs pos="87000">
                    <a:schemeClr val="accent1"/>
                  </a:gs>
                </a:gsLst>
                <a:lin ang="5400000" scaled="1"/>
              </a:gradFill>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schemeClr val="bg1"/>
                </a:solidFill>
                <a:latin typeface="+mj-ea"/>
                <a:ea typeface="+mj-ea"/>
                <a:cs typeface="思源黑体 CN Normal" panose="020B0400000000000000" pitchFamily="34" charset="-122"/>
              </a:endParaRPr>
            </a:p>
          </p:txBody>
        </p:sp>
        <p:sp>
          <p:nvSpPr>
            <p:cNvPr id="16" name="矩形 15"/>
            <p:cNvSpPr/>
            <p:nvPr/>
          </p:nvSpPr>
          <p:spPr>
            <a:xfrm>
              <a:off x="336032" y="908315"/>
              <a:ext cx="11520000" cy="43200"/>
            </a:xfrm>
            <a:prstGeom prst="rect">
              <a:avLst/>
            </a:prstGeom>
            <a:solidFill>
              <a:schemeClr val="accent1"/>
            </a:solidFill>
            <a:ln w="12700">
              <a:solidFill>
                <a:schemeClr val="accent1"/>
              </a:solidFill>
            </a:ln>
            <a:effectLst>
              <a:outerShdw blurRad="76200" dist="38100" dir="5400000" algn="t" rotWithShape="0">
                <a:schemeClr val="accent1">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27" name="矩形: 圆角 26"/>
          <p:cNvSpPr/>
          <p:nvPr/>
        </p:nvSpPr>
        <p:spPr>
          <a:xfrm>
            <a:off x="3573688" y="1473657"/>
            <a:ext cx="2628000" cy="198000"/>
          </a:xfrm>
          <a:prstGeom prst="roundRect">
            <a:avLst>
              <a:gd name="adj" fmla="val 50000"/>
            </a:avLst>
          </a:prstGeom>
          <a:solidFill>
            <a:schemeClr val="accent2"/>
          </a:solidFill>
          <a:ln>
            <a:solidFill>
              <a:schemeClr val="bg1"/>
            </a:solidFill>
          </a:ln>
          <a:effectLst>
            <a:outerShdw blurRad="127000" sx="102000" sy="102000" algn="ctr" rotWithShape="0">
              <a:schemeClr val="accent2">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100%</a:t>
            </a:r>
            <a:endParaRPr lang="zh-CN" altLang="en-US" sz="800" dirty="0">
              <a:latin typeface="+mj-ea"/>
              <a:ea typeface="+mj-ea"/>
              <a:cs typeface="思源黑体 CN Normal" panose="020B0400000000000000" pitchFamily="34" charset="-122"/>
            </a:endParaRPr>
          </a:p>
        </p:txBody>
      </p:sp>
      <p:sp>
        <p:nvSpPr>
          <p:cNvPr id="52" name="文本框 51"/>
          <p:cNvSpPr txBox="1"/>
          <p:nvPr/>
        </p:nvSpPr>
        <p:spPr>
          <a:xfrm>
            <a:off x="6305909" y="1511102"/>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01.01-04.30</a:t>
            </a:r>
            <a:endParaRPr lang="zh-CN" altLang="en-US" sz="800" dirty="0">
              <a:latin typeface="+mn-ea"/>
              <a:cs typeface="思源黑体 CN Normal" panose="020B0400000000000000" pitchFamily="34" charset="-122"/>
            </a:endParaRPr>
          </a:p>
        </p:txBody>
      </p:sp>
      <p:grpSp>
        <p:nvGrpSpPr>
          <p:cNvPr id="46" name="组合 45"/>
          <p:cNvGrpSpPr/>
          <p:nvPr/>
        </p:nvGrpSpPr>
        <p:grpSpPr>
          <a:xfrm>
            <a:off x="4079907" y="1781158"/>
            <a:ext cx="3996002" cy="198000"/>
            <a:chOff x="3411359" y="2261057"/>
            <a:chExt cx="5223032" cy="198000"/>
          </a:xfrm>
        </p:grpSpPr>
        <p:sp>
          <p:nvSpPr>
            <p:cNvPr id="49" name="矩形: 圆角 48"/>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1" name="矩形: 圆角 50"/>
            <p:cNvSpPr/>
            <p:nvPr/>
          </p:nvSpPr>
          <p:spPr>
            <a:xfrm>
              <a:off x="3411359" y="2261057"/>
              <a:ext cx="4423106"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86%</a:t>
              </a:r>
              <a:endParaRPr lang="zh-CN" altLang="en-US" sz="800" dirty="0">
                <a:latin typeface="+mj-ea"/>
                <a:ea typeface="+mj-ea"/>
                <a:cs typeface="思源黑体 CN Normal" panose="020B0400000000000000" pitchFamily="34" charset="-122"/>
              </a:endParaRPr>
            </a:p>
          </p:txBody>
        </p:sp>
      </p:grpSp>
      <p:sp>
        <p:nvSpPr>
          <p:cNvPr id="53" name="文本框 52"/>
          <p:cNvSpPr txBox="1"/>
          <p:nvPr/>
        </p:nvSpPr>
        <p:spPr>
          <a:xfrm>
            <a:off x="8155008" y="1818603"/>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01.26-07.16</a:t>
            </a:r>
            <a:endParaRPr lang="zh-CN" altLang="en-US" sz="800" dirty="0">
              <a:latin typeface="+mn-ea"/>
              <a:cs typeface="思源黑体 CN Normal" panose="020B0400000000000000" pitchFamily="34" charset="-122"/>
            </a:endParaRPr>
          </a:p>
        </p:txBody>
      </p:sp>
      <p:grpSp>
        <p:nvGrpSpPr>
          <p:cNvPr id="59" name="组合 58"/>
          <p:cNvGrpSpPr/>
          <p:nvPr/>
        </p:nvGrpSpPr>
        <p:grpSpPr>
          <a:xfrm>
            <a:off x="6407602" y="2088659"/>
            <a:ext cx="2556000" cy="198000"/>
            <a:chOff x="3411361" y="2261057"/>
            <a:chExt cx="5705154" cy="198000"/>
          </a:xfrm>
        </p:grpSpPr>
        <p:sp>
          <p:nvSpPr>
            <p:cNvPr id="61" name="矩形: 圆角 60"/>
            <p:cNvSpPr/>
            <p:nvPr/>
          </p:nvSpPr>
          <p:spPr>
            <a:xfrm>
              <a:off x="3411361" y="2261057"/>
              <a:ext cx="5705154"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2" name="矩形: 圆角 61"/>
            <p:cNvSpPr/>
            <p:nvPr/>
          </p:nvSpPr>
          <p:spPr>
            <a:xfrm>
              <a:off x="3411361" y="2261057"/>
              <a:ext cx="4339131"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70%</a:t>
              </a:r>
              <a:endParaRPr lang="zh-CN" altLang="en-US" sz="800" dirty="0">
                <a:latin typeface="+mj-ea"/>
                <a:ea typeface="+mj-ea"/>
                <a:cs typeface="思源黑体 CN Normal" panose="020B0400000000000000" pitchFamily="34" charset="-122"/>
              </a:endParaRPr>
            </a:p>
          </p:txBody>
        </p:sp>
      </p:grpSp>
      <p:sp>
        <p:nvSpPr>
          <p:cNvPr id="60" name="文本框 59"/>
          <p:cNvSpPr txBox="1"/>
          <p:nvPr/>
        </p:nvSpPr>
        <p:spPr>
          <a:xfrm>
            <a:off x="9049497" y="2126104"/>
            <a:ext cx="684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05.26-08.25</a:t>
            </a:r>
            <a:endParaRPr lang="zh-CN" altLang="en-US" sz="800" dirty="0">
              <a:latin typeface="+mn-ea"/>
              <a:cs typeface="思源黑体 CN Normal" panose="020B0400000000000000" pitchFamily="34" charset="-122"/>
            </a:endParaRPr>
          </a:p>
        </p:txBody>
      </p:sp>
      <p:sp>
        <p:nvSpPr>
          <p:cNvPr id="131" name="矩形: 圆角 130"/>
          <p:cNvSpPr/>
          <p:nvPr/>
        </p:nvSpPr>
        <p:spPr>
          <a:xfrm>
            <a:off x="4355899" y="2396160"/>
            <a:ext cx="1728000" cy="198000"/>
          </a:xfrm>
          <a:prstGeom prst="roundRect">
            <a:avLst>
              <a:gd name="adj" fmla="val 50000"/>
            </a:avLst>
          </a:prstGeom>
          <a:solidFill>
            <a:schemeClr val="accent2"/>
          </a:solidFill>
          <a:ln>
            <a:solidFill>
              <a:schemeClr val="bg1"/>
            </a:solidFill>
          </a:ln>
          <a:effectLst>
            <a:outerShdw blurRad="127000" sx="102000" sy="102000" algn="ctr" rotWithShape="0">
              <a:schemeClr val="accent2">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100%</a:t>
            </a:r>
            <a:endParaRPr lang="zh-CN" altLang="en-US" sz="800" dirty="0">
              <a:latin typeface="+mj-ea"/>
              <a:ea typeface="+mj-ea"/>
              <a:cs typeface="思源黑体 CN Normal" panose="020B0400000000000000" pitchFamily="34" charset="-122"/>
            </a:endParaRPr>
          </a:p>
        </p:txBody>
      </p:sp>
      <p:sp>
        <p:nvSpPr>
          <p:cNvPr id="129" name="文本框 128"/>
          <p:cNvSpPr txBox="1"/>
          <p:nvPr/>
        </p:nvSpPr>
        <p:spPr>
          <a:xfrm>
            <a:off x="6168343" y="2433605"/>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02.09-04.18</a:t>
            </a:r>
            <a:endParaRPr lang="zh-CN" altLang="en-US" sz="800" dirty="0">
              <a:latin typeface="+mn-ea"/>
              <a:cs typeface="思源黑体 CN Normal" panose="020B0400000000000000" pitchFamily="34" charset="-122"/>
            </a:endParaRPr>
          </a:p>
        </p:txBody>
      </p:sp>
      <p:grpSp>
        <p:nvGrpSpPr>
          <p:cNvPr id="133" name="组合 132"/>
          <p:cNvGrpSpPr/>
          <p:nvPr/>
        </p:nvGrpSpPr>
        <p:grpSpPr>
          <a:xfrm>
            <a:off x="7073369" y="2703661"/>
            <a:ext cx="3996000" cy="198000"/>
            <a:chOff x="3411361" y="2261057"/>
            <a:chExt cx="5223030" cy="198000"/>
          </a:xfrm>
        </p:grpSpPr>
        <p:sp>
          <p:nvSpPr>
            <p:cNvPr id="135" name="矩形: 圆角 134"/>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6" name="矩形: 圆角 135"/>
            <p:cNvSpPr/>
            <p:nvPr/>
          </p:nvSpPr>
          <p:spPr>
            <a:xfrm>
              <a:off x="3411361" y="2261057"/>
              <a:ext cx="3764346"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72%</a:t>
              </a:r>
              <a:endParaRPr lang="zh-CN" altLang="en-US" sz="800" dirty="0">
                <a:latin typeface="+mj-ea"/>
                <a:ea typeface="+mj-ea"/>
                <a:cs typeface="思源黑体 CN Normal" panose="020B0400000000000000" pitchFamily="34" charset="-122"/>
              </a:endParaRPr>
            </a:p>
          </p:txBody>
        </p:sp>
      </p:grpSp>
      <p:sp>
        <p:nvSpPr>
          <p:cNvPr id="134" name="文本框 133"/>
          <p:cNvSpPr txBox="1"/>
          <p:nvPr/>
        </p:nvSpPr>
        <p:spPr>
          <a:xfrm>
            <a:off x="11148468" y="2741106"/>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06.03-11.25</a:t>
            </a:r>
            <a:endParaRPr lang="zh-CN" altLang="en-US" sz="800" dirty="0">
              <a:latin typeface="+mn-ea"/>
              <a:cs typeface="思源黑体 CN Normal" panose="020B0400000000000000" pitchFamily="34" charset="-122"/>
            </a:endParaRPr>
          </a:p>
        </p:txBody>
      </p:sp>
      <p:grpSp>
        <p:nvGrpSpPr>
          <p:cNvPr id="138" name="组合 137"/>
          <p:cNvGrpSpPr/>
          <p:nvPr/>
        </p:nvGrpSpPr>
        <p:grpSpPr>
          <a:xfrm>
            <a:off x="5590197" y="3011162"/>
            <a:ext cx="2592000" cy="198000"/>
            <a:chOff x="3411361" y="2261057"/>
            <a:chExt cx="5223030" cy="198000"/>
          </a:xfrm>
        </p:grpSpPr>
        <p:sp>
          <p:nvSpPr>
            <p:cNvPr id="140" name="矩形: 圆角 139"/>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1" name="矩形: 圆角 140"/>
            <p:cNvSpPr/>
            <p:nvPr/>
          </p:nvSpPr>
          <p:spPr>
            <a:xfrm>
              <a:off x="3411361" y="2261057"/>
              <a:ext cx="4860320"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95%</a:t>
              </a:r>
              <a:endParaRPr lang="zh-CN" altLang="en-US" sz="800" dirty="0">
                <a:latin typeface="+mj-ea"/>
                <a:ea typeface="+mj-ea"/>
                <a:cs typeface="思源黑体 CN Normal" panose="020B0400000000000000" pitchFamily="34" charset="-122"/>
              </a:endParaRPr>
            </a:p>
          </p:txBody>
        </p:sp>
      </p:grpSp>
      <p:sp>
        <p:nvSpPr>
          <p:cNvPr id="139" name="文本框 138"/>
          <p:cNvSpPr txBox="1"/>
          <p:nvPr/>
        </p:nvSpPr>
        <p:spPr>
          <a:xfrm>
            <a:off x="8337235" y="3048607"/>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04.03-07.22</a:t>
            </a:r>
            <a:endParaRPr lang="zh-CN" altLang="en-US" sz="800" dirty="0">
              <a:latin typeface="+mn-ea"/>
              <a:cs typeface="思源黑体 CN Normal" panose="020B0400000000000000" pitchFamily="34" charset="-122"/>
            </a:endParaRPr>
          </a:p>
        </p:txBody>
      </p:sp>
      <p:sp>
        <p:nvSpPr>
          <p:cNvPr id="146" name="矩形: 圆角 145"/>
          <p:cNvSpPr/>
          <p:nvPr/>
        </p:nvSpPr>
        <p:spPr>
          <a:xfrm>
            <a:off x="4027094" y="3318663"/>
            <a:ext cx="1368000" cy="198000"/>
          </a:xfrm>
          <a:prstGeom prst="roundRect">
            <a:avLst>
              <a:gd name="adj" fmla="val 50000"/>
            </a:avLst>
          </a:prstGeom>
          <a:solidFill>
            <a:schemeClr val="accent2"/>
          </a:solidFill>
          <a:ln>
            <a:solidFill>
              <a:schemeClr val="bg1"/>
            </a:solidFill>
          </a:ln>
          <a:effectLst>
            <a:outerShdw blurRad="127000" sx="102000" sy="102000" algn="ctr" rotWithShape="0">
              <a:schemeClr val="accent2">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100%</a:t>
            </a:r>
            <a:endParaRPr lang="zh-CN" altLang="en-US" sz="800" dirty="0">
              <a:latin typeface="+mj-ea"/>
              <a:ea typeface="+mj-ea"/>
              <a:cs typeface="思源黑体 CN Normal" panose="020B0400000000000000" pitchFamily="34" charset="-122"/>
            </a:endParaRPr>
          </a:p>
        </p:txBody>
      </p:sp>
      <p:sp>
        <p:nvSpPr>
          <p:cNvPr id="144" name="文本框 143"/>
          <p:cNvSpPr txBox="1"/>
          <p:nvPr/>
        </p:nvSpPr>
        <p:spPr>
          <a:xfrm>
            <a:off x="5516297" y="3356108"/>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01.21-03.20</a:t>
            </a:r>
            <a:endParaRPr lang="zh-CN" altLang="en-US" sz="800" dirty="0">
              <a:latin typeface="+mn-ea"/>
              <a:cs typeface="思源黑体 CN Normal" panose="020B0400000000000000" pitchFamily="34" charset="-122"/>
            </a:endParaRPr>
          </a:p>
        </p:txBody>
      </p:sp>
      <p:grpSp>
        <p:nvGrpSpPr>
          <p:cNvPr id="148" name="组合 147"/>
          <p:cNvGrpSpPr/>
          <p:nvPr/>
        </p:nvGrpSpPr>
        <p:grpSpPr>
          <a:xfrm>
            <a:off x="4988191" y="3626164"/>
            <a:ext cx="5314967" cy="198000"/>
            <a:chOff x="3411361" y="2261057"/>
            <a:chExt cx="5223030" cy="198000"/>
          </a:xfrm>
        </p:grpSpPr>
        <p:sp>
          <p:nvSpPr>
            <p:cNvPr id="150" name="矩形: 圆角 149"/>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51" name="矩形: 圆角 150"/>
            <p:cNvSpPr/>
            <p:nvPr/>
          </p:nvSpPr>
          <p:spPr>
            <a:xfrm>
              <a:off x="3411361" y="2261057"/>
              <a:ext cx="3113200"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63%</a:t>
              </a:r>
              <a:endParaRPr lang="zh-CN" altLang="en-US" sz="800" dirty="0">
                <a:latin typeface="+mj-ea"/>
                <a:ea typeface="+mj-ea"/>
                <a:cs typeface="思源黑体 CN Normal" panose="020B0400000000000000" pitchFamily="34" charset="-122"/>
              </a:endParaRPr>
            </a:p>
          </p:txBody>
        </p:sp>
      </p:grpSp>
      <p:sp>
        <p:nvSpPr>
          <p:cNvPr id="149" name="文本框 148"/>
          <p:cNvSpPr txBox="1"/>
          <p:nvPr/>
        </p:nvSpPr>
        <p:spPr>
          <a:xfrm>
            <a:off x="10362649" y="3663609"/>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03.05-10.18</a:t>
            </a:r>
            <a:endParaRPr lang="zh-CN" altLang="en-US" sz="800" dirty="0">
              <a:latin typeface="+mn-ea"/>
              <a:cs typeface="思源黑体 CN Normal" panose="020B0400000000000000" pitchFamily="34" charset="-122"/>
            </a:endParaRPr>
          </a:p>
        </p:txBody>
      </p:sp>
      <p:grpSp>
        <p:nvGrpSpPr>
          <p:cNvPr id="153" name="组合 152"/>
          <p:cNvGrpSpPr/>
          <p:nvPr/>
        </p:nvGrpSpPr>
        <p:grpSpPr>
          <a:xfrm>
            <a:off x="8664575" y="3933665"/>
            <a:ext cx="2351431" cy="198000"/>
            <a:chOff x="3411361" y="2261057"/>
            <a:chExt cx="5223030" cy="198000"/>
          </a:xfrm>
        </p:grpSpPr>
        <p:sp>
          <p:nvSpPr>
            <p:cNvPr id="155" name="矩形: 圆角 154"/>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56" name="矩形: 圆角 155"/>
            <p:cNvSpPr/>
            <p:nvPr/>
          </p:nvSpPr>
          <p:spPr>
            <a:xfrm>
              <a:off x="3411361" y="2261057"/>
              <a:ext cx="2638801"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45%</a:t>
              </a:r>
              <a:endParaRPr lang="zh-CN" altLang="en-US" sz="800" dirty="0">
                <a:latin typeface="+mj-ea"/>
                <a:ea typeface="+mj-ea"/>
                <a:cs typeface="思源黑体 CN Normal" panose="020B0400000000000000" pitchFamily="34" charset="-122"/>
              </a:endParaRPr>
            </a:p>
          </p:txBody>
        </p:sp>
      </p:grpSp>
      <p:sp>
        <p:nvSpPr>
          <p:cNvPr id="154" name="文本框 153"/>
          <p:cNvSpPr txBox="1"/>
          <p:nvPr/>
        </p:nvSpPr>
        <p:spPr>
          <a:xfrm>
            <a:off x="11091427" y="3971110"/>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01.26-07.16</a:t>
            </a:r>
            <a:endParaRPr lang="zh-CN" altLang="en-US" sz="800" dirty="0">
              <a:latin typeface="+mn-ea"/>
              <a:cs typeface="思源黑体 CN Normal" panose="020B0400000000000000" pitchFamily="34" charset="-122"/>
            </a:endParaRPr>
          </a:p>
        </p:txBody>
      </p:sp>
      <p:grpSp>
        <p:nvGrpSpPr>
          <p:cNvPr id="158" name="组合 157"/>
          <p:cNvGrpSpPr/>
          <p:nvPr/>
        </p:nvGrpSpPr>
        <p:grpSpPr>
          <a:xfrm>
            <a:off x="5120435" y="4241166"/>
            <a:ext cx="3399107" cy="198000"/>
            <a:chOff x="3411359" y="2261057"/>
            <a:chExt cx="5223032" cy="198000"/>
          </a:xfrm>
        </p:grpSpPr>
        <p:sp>
          <p:nvSpPr>
            <p:cNvPr id="160" name="矩形: 圆角 159"/>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1" name="矩形: 圆角 160"/>
            <p:cNvSpPr/>
            <p:nvPr/>
          </p:nvSpPr>
          <p:spPr>
            <a:xfrm>
              <a:off x="3411359" y="2261057"/>
              <a:ext cx="4978550"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93%</a:t>
              </a:r>
              <a:endParaRPr lang="zh-CN" altLang="en-US" sz="800" dirty="0">
                <a:latin typeface="+mj-ea"/>
                <a:ea typeface="+mj-ea"/>
                <a:cs typeface="思源黑体 CN Normal" panose="020B0400000000000000" pitchFamily="34" charset="-122"/>
              </a:endParaRPr>
            </a:p>
          </p:txBody>
        </p:sp>
      </p:grpSp>
      <p:sp>
        <p:nvSpPr>
          <p:cNvPr id="159" name="文本框 158"/>
          <p:cNvSpPr txBox="1"/>
          <p:nvPr/>
        </p:nvSpPr>
        <p:spPr>
          <a:xfrm>
            <a:off x="8567576" y="4278611"/>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03.10-08.05</a:t>
            </a:r>
            <a:endParaRPr lang="zh-CN" altLang="en-US" sz="800" dirty="0">
              <a:latin typeface="+mn-ea"/>
              <a:cs typeface="思源黑体 CN Normal" panose="020B0400000000000000" pitchFamily="34" charset="-122"/>
            </a:endParaRPr>
          </a:p>
        </p:txBody>
      </p:sp>
      <p:grpSp>
        <p:nvGrpSpPr>
          <p:cNvPr id="163" name="组合 162"/>
          <p:cNvGrpSpPr/>
          <p:nvPr/>
        </p:nvGrpSpPr>
        <p:grpSpPr>
          <a:xfrm>
            <a:off x="3840650" y="4548667"/>
            <a:ext cx="3492000" cy="198000"/>
            <a:chOff x="3411361" y="2261057"/>
            <a:chExt cx="4564274" cy="198000"/>
          </a:xfrm>
        </p:grpSpPr>
        <p:sp>
          <p:nvSpPr>
            <p:cNvPr id="167" name="矩形: 圆角 166"/>
            <p:cNvSpPr/>
            <p:nvPr/>
          </p:nvSpPr>
          <p:spPr>
            <a:xfrm>
              <a:off x="3411361" y="2261057"/>
              <a:ext cx="4564274"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8" name="矩形: 圆角 167"/>
            <p:cNvSpPr/>
            <p:nvPr/>
          </p:nvSpPr>
          <p:spPr>
            <a:xfrm>
              <a:off x="3411361" y="2261057"/>
              <a:ext cx="4103999"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82%</a:t>
              </a:r>
              <a:endParaRPr lang="zh-CN" altLang="en-US" sz="800" dirty="0">
                <a:latin typeface="+mj-ea"/>
                <a:ea typeface="+mj-ea"/>
                <a:cs typeface="思源黑体 CN Normal" panose="020B0400000000000000" pitchFamily="34" charset="-122"/>
              </a:endParaRPr>
            </a:p>
          </p:txBody>
        </p:sp>
      </p:grpSp>
      <p:sp>
        <p:nvSpPr>
          <p:cNvPr id="164" name="文本框 163"/>
          <p:cNvSpPr txBox="1"/>
          <p:nvPr/>
        </p:nvSpPr>
        <p:spPr>
          <a:xfrm>
            <a:off x="7463906" y="4586112"/>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01.16-06.16</a:t>
            </a:r>
            <a:endParaRPr lang="zh-CN" altLang="en-US" sz="800" dirty="0">
              <a:latin typeface="+mn-ea"/>
              <a:cs typeface="思源黑体 CN Normal" panose="020B0400000000000000" pitchFamily="34" charset="-122"/>
            </a:endParaRPr>
          </a:p>
        </p:txBody>
      </p:sp>
      <p:sp>
        <p:nvSpPr>
          <p:cNvPr id="173" name="矩形: 圆角 172"/>
          <p:cNvSpPr/>
          <p:nvPr/>
        </p:nvSpPr>
        <p:spPr>
          <a:xfrm>
            <a:off x="8455624" y="4856168"/>
            <a:ext cx="858592" cy="198000"/>
          </a:xfrm>
          <a:prstGeom prst="roundRect">
            <a:avLst>
              <a:gd name="adj" fmla="val 50000"/>
            </a:avLst>
          </a:prstGeom>
          <a:solidFill>
            <a:schemeClr val="accent2"/>
          </a:solidFill>
          <a:ln>
            <a:solidFill>
              <a:schemeClr val="bg1"/>
            </a:solidFill>
          </a:ln>
          <a:effectLst>
            <a:outerShdw blurRad="127000" sx="102000" sy="102000" algn="ctr" rotWithShape="0">
              <a:schemeClr val="accent2">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100%</a:t>
            </a:r>
            <a:endParaRPr lang="zh-CN" altLang="en-US" sz="800" dirty="0">
              <a:latin typeface="+mj-ea"/>
              <a:ea typeface="+mj-ea"/>
              <a:cs typeface="思源黑体 CN Normal" panose="020B0400000000000000" pitchFamily="34" charset="-122"/>
            </a:endParaRPr>
          </a:p>
        </p:txBody>
      </p:sp>
      <p:sp>
        <p:nvSpPr>
          <p:cNvPr id="171" name="文本框 170"/>
          <p:cNvSpPr txBox="1"/>
          <p:nvPr/>
        </p:nvSpPr>
        <p:spPr>
          <a:xfrm>
            <a:off x="9336402" y="4893613"/>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08.05-09.10</a:t>
            </a:r>
            <a:endParaRPr lang="zh-CN" altLang="en-US" sz="800" dirty="0">
              <a:latin typeface="+mn-ea"/>
              <a:cs typeface="思源黑体 CN Normal" panose="020B0400000000000000" pitchFamily="34" charset="-122"/>
            </a:endParaRPr>
          </a:p>
        </p:txBody>
      </p:sp>
      <p:grpSp>
        <p:nvGrpSpPr>
          <p:cNvPr id="175" name="组合 174"/>
          <p:cNvGrpSpPr/>
          <p:nvPr/>
        </p:nvGrpSpPr>
        <p:grpSpPr>
          <a:xfrm>
            <a:off x="9398000" y="5163669"/>
            <a:ext cx="1541555" cy="198000"/>
            <a:chOff x="3411361" y="2261057"/>
            <a:chExt cx="5223030" cy="198000"/>
          </a:xfrm>
        </p:grpSpPr>
        <p:sp>
          <p:nvSpPr>
            <p:cNvPr id="178" name="矩形: 圆角 177"/>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79" name="矩形: 圆角 178"/>
            <p:cNvSpPr/>
            <p:nvPr/>
          </p:nvSpPr>
          <p:spPr>
            <a:xfrm>
              <a:off x="3411361" y="2261057"/>
              <a:ext cx="2927367"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49%</a:t>
              </a:r>
              <a:endParaRPr lang="zh-CN" altLang="en-US" sz="800" dirty="0">
                <a:latin typeface="+mj-ea"/>
                <a:ea typeface="+mj-ea"/>
                <a:cs typeface="思源黑体 CN Normal" panose="020B0400000000000000" pitchFamily="34" charset="-122"/>
              </a:endParaRPr>
            </a:p>
          </p:txBody>
        </p:sp>
      </p:grpSp>
      <p:sp>
        <p:nvSpPr>
          <p:cNvPr id="176" name="文本框 175"/>
          <p:cNvSpPr txBox="1"/>
          <p:nvPr/>
        </p:nvSpPr>
        <p:spPr>
          <a:xfrm>
            <a:off x="10970070" y="5201114"/>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09.15-11.18</a:t>
            </a:r>
            <a:endParaRPr lang="zh-CN" altLang="en-US" sz="800" dirty="0">
              <a:latin typeface="+mn-ea"/>
              <a:cs typeface="思源黑体 CN Normal" panose="020B0400000000000000" pitchFamily="34" charset="-122"/>
            </a:endParaRPr>
          </a:p>
        </p:txBody>
      </p:sp>
      <p:grpSp>
        <p:nvGrpSpPr>
          <p:cNvPr id="181" name="组合 180"/>
          <p:cNvGrpSpPr/>
          <p:nvPr/>
        </p:nvGrpSpPr>
        <p:grpSpPr>
          <a:xfrm>
            <a:off x="5051906" y="5471176"/>
            <a:ext cx="3996002" cy="198000"/>
            <a:chOff x="3411359" y="2261057"/>
            <a:chExt cx="5223032" cy="198000"/>
          </a:xfrm>
        </p:grpSpPr>
        <p:sp>
          <p:nvSpPr>
            <p:cNvPr id="183" name="矩形: 圆角 182"/>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84" name="矩形: 圆角 183"/>
            <p:cNvSpPr/>
            <p:nvPr/>
          </p:nvSpPr>
          <p:spPr>
            <a:xfrm>
              <a:off x="3411359" y="2261057"/>
              <a:ext cx="4423106"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85%</a:t>
              </a:r>
              <a:endParaRPr lang="zh-CN" altLang="en-US" sz="800" dirty="0">
                <a:latin typeface="+mj-ea"/>
                <a:ea typeface="+mj-ea"/>
                <a:cs typeface="思源黑体 CN Normal" panose="020B0400000000000000" pitchFamily="34" charset="-122"/>
              </a:endParaRPr>
            </a:p>
          </p:txBody>
        </p:sp>
      </p:grpSp>
      <p:sp>
        <p:nvSpPr>
          <p:cNvPr id="195" name="矩形 194"/>
          <p:cNvSpPr/>
          <p:nvPr/>
        </p:nvSpPr>
        <p:spPr>
          <a:xfrm>
            <a:off x="695324" y="5866923"/>
            <a:ext cx="10828511" cy="684000"/>
          </a:xfrm>
          <a:prstGeom prst="rect">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0" name="任意多边形: 形状 199"/>
          <p:cNvSpPr/>
          <p:nvPr/>
        </p:nvSpPr>
        <p:spPr>
          <a:xfrm>
            <a:off x="335998" y="5830923"/>
            <a:ext cx="1767122" cy="756000"/>
          </a:xfrm>
          <a:custGeom>
            <a:avLst/>
            <a:gdLst>
              <a:gd name="connsiteX0" fmla="*/ 16375 w 1767122"/>
              <a:gd name="connsiteY0" fmla="*/ 0 h 756000"/>
              <a:gd name="connsiteX1" fmla="*/ 1750747 w 1767122"/>
              <a:gd name="connsiteY1" fmla="*/ 0 h 756000"/>
              <a:gd name="connsiteX2" fmla="*/ 1767122 w 1767122"/>
              <a:gd name="connsiteY2" fmla="*/ 16375 h 756000"/>
              <a:gd name="connsiteX3" fmla="*/ 1767122 w 1767122"/>
              <a:gd name="connsiteY3" fmla="*/ 36221 h 756000"/>
              <a:gd name="connsiteX4" fmla="*/ 1766588 w 1767122"/>
              <a:gd name="connsiteY4" fmla="*/ 36000 h 756000"/>
              <a:gd name="connsiteX5" fmla="*/ 1748588 w 1767122"/>
              <a:gd name="connsiteY5" fmla="*/ 54000 h 756000"/>
              <a:gd name="connsiteX6" fmla="*/ 1748588 w 1767122"/>
              <a:gd name="connsiteY6" fmla="*/ 702000 h 756000"/>
              <a:gd name="connsiteX7" fmla="*/ 1766588 w 1767122"/>
              <a:gd name="connsiteY7" fmla="*/ 720000 h 756000"/>
              <a:gd name="connsiteX8" fmla="*/ 1767122 w 1767122"/>
              <a:gd name="connsiteY8" fmla="*/ 719779 h 756000"/>
              <a:gd name="connsiteX9" fmla="*/ 1767122 w 1767122"/>
              <a:gd name="connsiteY9" fmla="*/ 739625 h 756000"/>
              <a:gd name="connsiteX10" fmla="*/ 1750747 w 1767122"/>
              <a:gd name="connsiteY10" fmla="*/ 756000 h 756000"/>
              <a:gd name="connsiteX11" fmla="*/ 16375 w 1767122"/>
              <a:gd name="connsiteY11" fmla="*/ 756000 h 756000"/>
              <a:gd name="connsiteX12" fmla="*/ 0 w 1767122"/>
              <a:gd name="connsiteY12" fmla="*/ 739625 h 756000"/>
              <a:gd name="connsiteX13" fmla="*/ 0 w 1767122"/>
              <a:gd name="connsiteY13" fmla="*/ 16375 h 756000"/>
              <a:gd name="connsiteX14" fmla="*/ 16375 w 1767122"/>
              <a:gd name="connsiteY14"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67122" h="756000">
                <a:moveTo>
                  <a:pt x="16375" y="0"/>
                </a:moveTo>
                <a:lnTo>
                  <a:pt x="1750747" y="0"/>
                </a:lnTo>
                <a:cubicBezTo>
                  <a:pt x="1759791" y="0"/>
                  <a:pt x="1767122" y="7331"/>
                  <a:pt x="1767122" y="16375"/>
                </a:cubicBezTo>
                <a:lnTo>
                  <a:pt x="1767122" y="36221"/>
                </a:lnTo>
                <a:lnTo>
                  <a:pt x="1766588" y="36000"/>
                </a:lnTo>
                <a:cubicBezTo>
                  <a:pt x="1756647" y="36000"/>
                  <a:pt x="1748588" y="44059"/>
                  <a:pt x="1748588" y="54000"/>
                </a:cubicBezTo>
                <a:lnTo>
                  <a:pt x="1748588" y="702000"/>
                </a:lnTo>
                <a:cubicBezTo>
                  <a:pt x="1748588" y="711941"/>
                  <a:pt x="1756647" y="720000"/>
                  <a:pt x="1766588" y="720000"/>
                </a:cubicBezTo>
                <a:lnTo>
                  <a:pt x="1767122" y="719779"/>
                </a:lnTo>
                <a:lnTo>
                  <a:pt x="1767122" y="739625"/>
                </a:lnTo>
                <a:cubicBezTo>
                  <a:pt x="1767122" y="748669"/>
                  <a:pt x="1759791" y="756000"/>
                  <a:pt x="1750747" y="756000"/>
                </a:cubicBezTo>
                <a:lnTo>
                  <a:pt x="16375" y="756000"/>
                </a:lnTo>
                <a:cubicBezTo>
                  <a:pt x="7331" y="756000"/>
                  <a:pt x="0" y="748669"/>
                  <a:pt x="0" y="739625"/>
                </a:cubicBezTo>
                <a:lnTo>
                  <a:pt x="0" y="16375"/>
                </a:lnTo>
                <a:cubicBezTo>
                  <a:pt x="0" y="7331"/>
                  <a:pt x="7331" y="0"/>
                  <a:pt x="16375" y="0"/>
                </a:cubicBezTo>
                <a:close/>
              </a:path>
            </a:pathLst>
          </a:custGeom>
          <a:solidFill>
            <a:schemeClr val="accent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1" name="任意多边形: 形状 200"/>
          <p:cNvSpPr/>
          <p:nvPr/>
        </p:nvSpPr>
        <p:spPr>
          <a:xfrm flipH="1">
            <a:off x="10086106" y="5830923"/>
            <a:ext cx="1767122" cy="756000"/>
          </a:xfrm>
          <a:custGeom>
            <a:avLst/>
            <a:gdLst>
              <a:gd name="connsiteX0" fmla="*/ 16375 w 1767122"/>
              <a:gd name="connsiteY0" fmla="*/ 0 h 756000"/>
              <a:gd name="connsiteX1" fmla="*/ 1750747 w 1767122"/>
              <a:gd name="connsiteY1" fmla="*/ 0 h 756000"/>
              <a:gd name="connsiteX2" fmla="*/ 1767122 w 1767122"/>
              <a:gd name="connsiteY2" fmla="*/ 16375 h 756000"/>
              <a:gd name="connsiteX3" fmla="*/ 1767122 w 1767122"/>
              <a:gd name="connsiteY3" fmla="*/ 36221 h 756000"/>
              <a:gd name="connsiteX4" fmla="*/ 1766588 w 1767122"/>
              <a:gd name="connsiteY4" fmla="*/ 36000 h 756000"/>
              <a:gd name="connsiteX5" fmla="*/ 1748588 w 1767122"/>
              <a:gd name="connsiteY5" fmla="*/ 54000 h 756000"/>
              <a:gd name="connsiteX6" fmla="*/ 1748588 w 1767122"/>
              <a:gd name="connsiteY6" fmla="*/ 702000 h 756000"/>
              <a:gd name="connsiteX7" fmla="*/ 1766588 w 1767122"/>
              <a:gd name="connsiteY7" fmla="*/ 720000 h 756000"/>
              <a:gd name="connsiteX8" fmla="*/ 1767122 w 1767122"/>
              <a:gd name="connsiteY8" fmla="*/ 719779 h 756000"/>
              <a:gd name="connsiteX9" fmla="*/ 1767122 w 1767122"/>
              <a:gd name="connsiteY9" fmla="*/ 739625 h 756000"/>
              <a:gd name="connsiteX10" fmla="*/ 1750747 w 1767122"/>
              <a:gd name="connsiteY10" fmla="*/ 756000 h 756000"/>
              <a:gd name="connsiteX11" fmla="*/ 16375 w 1767122"/>
              <a:gd name="connsiteY11" fmla="*/ 756000 h 756000"/>
              <a:gd name="connsiteX12" fmla="*/ 0 w 1767122"/>
              <a:gd name="connsiteY12" fmla="*/ 739625 h 756000"/>
              <a:gd name="connsiteX13" fmla="*/ 0 w 1767122"/>
              <a:gd name="connsiteY13" fmla="*/ 16375 h 756000"/>
              <a:gd name="connsiteX14" fmla="*/ 16375 w 1767122"/>
              <a:gd name="connsiteY14"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67122" h="756000">
                <a:moveTo>
                  <a:pt x="16375" y="0"/>
                </a:moveTo>
                <a:lnTo>
                  <a:pt x="1750747" y="0"/>
                </a:lnTo>
                <a:cubicBezTo>
                  <a:pt x="1759791" y="0"/>
                  <a:pt x="1767122" y="7331"/>
                  <a:pt x="1767122" y="16375"/>
                </a:cubicBezTo>
                <a:lnTo>
                  <a:pt x="1767122" y="36221"/>
                </a:lnTo>
                <a:lnTo>
                  <a:pt x="1766588" y="36000"/>
                </a:lnTo>
                <a:cubicBezTo>
                  <a:pt x="1756647" y="36000"/>
                  <a:pt x="1748588" y="44059"/>
                  <a:pt x="1748588" y="54000"/>
                </a:cubicBezTo>
                <a:lnTo>
                  <a:pt x="1748588" y="702000"/>
                </a:lnTo>
                <a:cubicBezTo>
                  <a:pt x="1748588" y="711941"/>
                  <a:pt x="1756647" y="720000"/>
                  <a:pt x="1766588" y="720000"/>
                </a:cubicBezTo>
                <a:lnTo>
                  <a:pt x="1767122" y="719779"/>
                </a:lnTo>
                <a:lnTo>
                  <a:pt x="1767122" y="739625"/>
                </a:lnTo>
                <a:cubicBezTo>
                  <a:pt x="1767122" y="748669"/>
                  <a:pt x="1759791" y="756000"/>
                  <a:pt x="1750747" y="756000"/>
                </a:cubicBezTo>
                <a:lnTo>
                  <a:pt x="16375" y="756000"/>
                </a:lnTo>
                <a:cubicBezTo>
                  <a:pt x="7331" y="756000"/>
                  <a:pt x="0" y="748669"/>
                  <a:pt x="0" y="739625"/>
                </a:cubicBezTo>
                <a:lnTo>
                  <a:pt x="0" y="16375"/>
                </a:lnTo>
                <a:cubicBezTo>
                  <a:pt x="0" y="7331"/>
                  <a:pt x="7331" y="0"/>
                  <a:pt x="16375" y="0"/>
                </a:cubicBezTo>
                <a:close/>
              </a:path>
            </a:pathLst>
          </a:custGeom>
          <a:solidFill>
            <a:schemeClr val="accent2"/>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3" name="文本框 202"/>
          <p:cNvSpPr txBox="1"/>
          <p:nvPr/>
        </p:nvSpPr>
        <p:spPr>
          <a:xfrm>
            <a:off x="690079" y="6193018"/>
            <a:ext cx="1260817" cy="300082"/>
          </a:xfrm>
          <a:prstGeom prst="rect">
            <a:avLst/>
          </a:prstGeom>
          <a:noFill/>
        </p:spPr>
        <p:txBody>
          <a:bodyPr wrap="square" lIns="0" tIns="0" rIns="0" bIns="0">
            <a:spAutoFit/>
          </a:bodyPr>
          <a:lstStyle/>
          <a:p>
            <a:pPr>
              <a:lnSpc>
                <a:spcPct val="110000"/>
              </a:lnSpc>
            </a:pPr>
            <a:r>
              <a:rPr lang="zh-CN" altLang="en-US" sz="900" b="0" i="0" dirty="0">
                <a:solidFill>
                  <a:schemeClr val="bg1"/>
                </a:solidFill>
                <a:effectLst/>
                <a:latin typeface="+mn-ea"/>
                <a:cs typeface="思源黑体 CN Normal" panose="020B0400000000000000" pitchFamily="34" charset="-122"/>
              </a:rPr>
              <a:t>通过</a:t>
            </a:r>
            <a:r>
              <a:rPr lang="en-US" altLang="zh-CN" sz="900" b="0" i="0" dirty="0">
                <a:solidFill>
                  <a:schemeClr val="bg1"/>
                </a:solidFill>
                <a:effectLst/>
                <a:latin typeface="+mn-ea"/>
                <a:cs typeface="思源黑体 CN Normal" panose="020B0400000000000000" pitchFamily="34" charset="-122"/>
              </a:rPr>
              <a:t>14</a:t>
            </a:r>
            <a:r>
              <a:rPr lang="zh-CN" altLang="en-US" sz="900" b="0" i="0" dirty="0">
                <a:solidFill>
                  <a:schemeClr val="bg1"/>
                </a:solidFill>
                <a:effectLst/>
                <a:latin typeface="+mn-ea"/>
                <a:cs typeface="思源黑体 CN Normal" panose="020B0400000000000000" pitchFamily="34" charset="-122"/>
              </a:rPr>
              <a:t>个关键项目实现生产效率提升</a:t>
            </a:r>
            <a:endParaRPr lang="zh-CN" altLang="en-US" sz="900" dirty="0">
              <a:solidFill>
                <a:schemeClr val="bg1"/>
              </a:solidFill>
              <a:latin typeface="+mn-ea"/>
              <a:cs typeface="思源黑体 CN Normal" panose="020B0400000000000000" pitchFamily="34" charset="-122"/>
            </a:endParaRPr>
          </a:p>
        </p:txBody>
      </p:sp>
      <p:sp>
        <p:nvSpPr>
          <p:cNvPr id="204" name="文本框 203"/>
          <p:cNvSpPr txBox="1"/>
          <p:nvPr/>
        </p:nvSpPr>
        <p:spPr>
          <a:xfrm>
            <a:off x="690079" y="5949685"/>
            <a:ext cx="1135250" cy="215444"/>
          </a:xfrm>
          <a:prstGeom prst="rect">
            <a:avLst/>
          </a:prstGeom>
          <a:noFill/>
        </p:spPr>
        <p:txBody>
          <a:bodyPr wrap="square" lIns="0" tIns="0" rIns="0" bIns="0">
            <a:spAutoFit/>
          </a:bodyPr>
          <a:lstStyle/>
          <a:p>
            <a:r>
              <a:rPr lang="zh-CN" altLang="en-US" sz="1400" dirty="0">
                <a:solidFill>
                  <a:schemeClr val="bg1"/>
                </a:solidFill>
                <a:latin typeface="+mj-ea"/>
                <a:ea typeface="+mj-ea"/>
                <a:cs typeface="思源黑体 CN Normal" panose="020B0400000000000000" pitchFamily="34" charset="-122"/>
              </a:rPr>
              <a:t>项目计划概况</a:t>
            </a:r>
            <a:endParaRPr lang="zh-CN" altLang="en-US" sz="1400" dirty="0">
              <a:solidFill>
                <a:schemeClr val="bg1"/>
              </a:solidFill>
              <a:latin typeface="+mj-ea"/>
              <a:ea typeface="+mj-ea"/>
              <a:cs typeface="思源黑体 CN Normal" panose="020B0400000000000000" pitchFamily="34" charset="-122"/>
            </a:endParaRPr>
          </a:p>
        </p:txBody>
      </p:sp>
      <p:pic>
        <p:nvPicPr>
          <p:cNvPr id="208" name="图形 20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8683" y="5967407"/>
            <a:ext cx="180000" cy="180000"/>
          </a:xfrm>
          <a:prstGeom prst="rect">
            <a:avLst/>
          </a:prstGeom>
        </p:spPr>
      </p:pic>
      <p:sp>
        <p:nvSpPr>
          <p:cNvPr id="212" name="文本框 211"/>
          <p:cNvSpPr txBox="1"/>
          <p:nvPr/>
        </p:nvSpPr>
        <p:spPr>
          <a:xfrm>
            <a:off x="2524002" y="5939619"/>
            <a:ext cx="756000" cy="538609"/>
          </a:xfrm>
          <a:prstGeom prst="rect">
            <a:avLst/>
          </a:prstGeom>
          <a:noFill/>
        </p:spPr>
        <p:txBody>
          <a:bodyPr wrap="square">
            <a:spAutoFit/>
          </a:bodyPr>
          <a:lstStyle/>
          <a:p>
            <a:pPr algn="ctr">
              <a:buNone/>
            </a:pPr>
            <a:r>
              <a:rPr lang="en-US" altLang="zh-CN" b="1" i="0" dirty="0">
                <a:solidFill>
                  <a:schemeClr val="tx2"/>
                </a:solidFill>
                <a:effectLst/>
                <a:latin typeface="+mn-ea"/>
                <a:cs typeface="思源黑体 CN Normal" panose="020B0400000000000000" pitchFamily="34" charset="-122"/>
              </a:rPr>
              <a:t>14</a:t>
            </a:r>
            <a:r>
              <a:rPr lang="zh-CN" altLang="en-US" sz="1100" b="0" i="0" dirty="0">
                <a:solidFill>
                  <a:srgbClr val="0D0D0D"/>
                </a:solidFill>
                <a:effectLst/>
                <a:latin typeface="+mn-ea"/>
                <a:cs typeface="思源黑体 CN Normal" panose="020B0400000000000000" pitchFamily="34" charset="-122"/>
              </a:rPr>
              <a:t>个</a:t>
            </a:r>
            <a:endParaRPr lang="en-US" altLang="zh-CN" sz="1100" b="0" i="0" dirty="0">
              <a:solidFill>
                <a:srgbClr val="0D0D0D"/>
              </a:solidFill>
              <a:effectLst/>
              <a:latin typeface="+mn-ea"/>
              <a:cs typeface="思源黑体 CN Normal" panose="020B0400000000000000" pitchFamily="34" charset="-122"/>
            </a:endParaRPr>
          </a:p>
          <a:p>
            <a:pPr algn="ctr">
              <a:buNone/>
            </a:pPr>
            <a:r>
              <a:rPr lang="zh-CN" altLang="en-US" sz="1100" b="0" i="0" dirty="0">
                <a:solidFill>
                  <a:srgbClr val="0D0D0D"/>
                </a:solidFill>
                <a:effectLst/>
                <a:latin typeface="+mn-ea"/>
                <a:cs typeface="思源黑体 CN Normal" panose="020B0400000000000000" pitchFamily="34" charset="-122"/>
              </a:rPr>
              <a:t>项目总数</a:t>
            </a:r>
            <a:endParaRPr lang="en-US" altLang="zh-CN" sz="1100" b="0" i="0" dirty="0">
              <a:solidFill>
                <a:srgbClr val="0D0D0D"/>
              </a:solidFill>
              <a:effectLst/>
              <a:latin typeface="+mn-ea"/>
              <a:cs typeface="思源黑体 CN Normal" panose="020B0400000000000000" pitchFamily="34" charset="-122"/>
            </a:endParaRPr>
          </a:p>
        </p:txBody>
      </p:sp>
      <p:sp>
        <p:nvSpPr>
          <p:cNvPr id="213" name="文本框 212"/>
          <p:cNvSpPr txBox="1"/>
          <p:nvPr/>
        </p:nvSpPr>
        <p:spPr>
          <a:xfrm>
            <a:off x="3582146" y="5939619"/>
            <a:ext cx="1188000" cy="538609"/>
          </a:xfrm>
          <a:prstGeom prst="rect">
            <a:avLst/>
          </a:prstGeom>
          <a:noFill/>
        </p:spPr>
        <p:txBody>
          <a:bodyPr wrap="square">
            <a:spAutoFit/>
          </a:bodyPr>
          <a:lstStyle/>
          <a:p>
            <a:pPr algn="ctr"/>
            <a:r>
              <a:rPr lang="en-US" altLang="zh-CN" b="1" dirty="0">
                <a:solidFill>
                  <a:schemeClr val="tx2"/>
                </a:solidFill>
                <a:latin typeface="+mn-ea"/>
                <a:cs typeface="思源黑体 CN Normal" panose="020B0400000000000000" pitchFamily="34" charset="-122"/>
              </a:rPr>
              <a:t>9</a:t>
            </a:r>
            <a:r>
              <a:rPr lang="zh-CN" altLang="en-US" sz="1100" b="0" i="0" dirty="0">
                <a:solidFill>
                  <a:srgbClr val="0D0D0D"/>
                </a:solidFill>
                <a:effectLst/>
                <a:latin typeface="+mn-ea"/>
                <a:cs typeface="思源黑体 CN Normal" panose="020B0400000000000000" pitchFamily="34" charset="-122"/>
              </a:rPr>
              <a:t>个</a:t>
            </a:r>
            <a:endParaRPr lang="en-US" altLang="zh-CN" sz="1100" b="0" i="0" dirty="0">
              <a:solidFill>
                <a:srgbClr val="0D0D0D"/>
              </a:solidFill>
              <a:effectLst/>
              <a:latin typeface="+mn-ea"/>
              <a:cs typeface="思源黑体 CN Normal" panose="020B0400000000000000" pitchFamily="34" charset="-122"/>
            </a:endParaRPr>
          </a:p>
          <a:p>
            <a:pPr algn="ctr"/>
            <a:r>
              <a:rPr lang="zh-CN" altLang="en-US" sz="1100" b="0" i="0" dirty="0">
                <a:solidFill>
                  <a:srgbClr val="0D0D0D"/>
                </a:solidFill>
                <a:effectLst/>
                <a:latin typeface="+mn-ea"/>
                <a:cs typeface="思源黑体 CN Normal" panose="020B0400000000000000" pitchFamily="34" charset="-122"/>
              </a:rPr>
              <a:t>按计划推进</a:t>
            </a:r>
            <a:r>
              <a:rPr lang="zh-CN" altLang="en-US" sz="1100" dirty="0">
                <a:solidFill>
                  <a:srgbClr val="0D0D0D"/>
                </a:solidFill>
                <a:latin typeface="+mn-ea"/>
                <a:cs typeface="思源黑体 CN Normal" panose="020B0400000000000000" pitchFamily="34" charset="-122"/>
              </a:rPr>
              <a:t>项目</a:t>
            </a:r>
            <a:endParaRPr lang="en-US" altLang="zh-CN" sz="1100" b="0" i="0" dirty="0">
              <a:solidFill>
                <a:srgbClr val="0D0D0D"/>
              </a:solidFill>
              <a:effectLst/>
              <a:latin typeface="+mn-ea"/>
              <a:cs typeface="思源黑体 CN Normal" panose="020B0400000000000000" pitchFamily="34" charset="-122"/>
            </a:endParaRPr>
          </a:p>
        </p:txBody>
      </p:sp>
      <p:sp>
        <p:nvSpPr>
          <p:cNvPr id="214" name="文本框 213"/>
          <p:cNvSpPr txBox="1"/>
          <p:nvPr/>
        </p:nvSpPr>
        <p:spPr>
          <a:xfrm>
            <a:off x="6886434" y="5939619"/>
            <a:ext cx="1476000" cy="538609"/>
          </a:xfrm>
          <a:prstGeom prst="rect">
            <a:avLst/>
          </a:prstGeom>
          <a:noFill/>
        </p:spPr>
        <p:txBody>
          <a:bodyPr wrap="square">
            <a:spAutoFit/>
          </a:bodyPr>
          <a:lstStyle/>
          <a:p>
            <a:pPr algn="ctr">
              <a:buNone/>
            </a:pPr>
            <a:r>
              <a:rPr lang="en-US" altLang="zh-CN" b="1" dirty="0">
                <a:solidFill>
                  <a:schemeClr val="tx2"/>
                </a:solidFill>
                <a:latin typeface="+mn-ea"/>
                <a:cs typeface="思源黑体 CN Normal" panose="020B0400000000000000" pitchFamily="34" charset="-122"/>
              </a:rPr>
              <a:t>5</a:t>
            </a:r>
            <a:r>
              <a:rPr lang="zh-CN" altLang="en-US" sz="1100" b="0" i="0" dirty="0">
                <a:solidFill>
                  <a:srgbClr val="0D0D0D"/>
                </a:solidFill>
                <a:effectLst/>
                <a:latin typeface="+mn-ea"/>
                <a:cs typeface="思源黑体 CN Normal" panose="020B0400000000000000" pitchFamily="34" charset="-122"/>
              </a:rPr>
              <a:t>个</a:t>
            </a:r>
            <a:endParaRPr lang="en-US" altLang="zh-CN" sz="1100" b="0" i="0" dirty="0">
              <a:solidFill>
                <a:srgbClr val="0D0D0D"/>
              </a:solidFill>
              <a:effectLst/>
              <a:latin typeface="+mn-ea"/>
              <a:cs typeface="思源黑体 CN Normal" panose="020B0400000000000000" pitchFamily="34" charset="-122"/>
            </a:endParaRPr>
          </a:p>
          <a:p>
            <a:pPr algn="ctr">
              <a:buNone/>
            </a:pPr>
            <a:r>
              <a:rPr lang="zh-CN" altLang="en-US" sz="1100" b="0" i="0" dirty="0">
                <a:solidFill>
                  <a:srgbClr val="0D0D0D"/>
                </a:solidFill>
                <a:effectLst/>
                <a:latin typeface="+mn-ea"/>
                <a:cs typeface="思源黑体 CN Normal" panose="020B0400000000000000" pitchFamily="34" charset="-122"/>
              </a:rPr>
              <a:t>因故需调整时间项目</a:t>
            </a:r>
            <a:endParaRPr lang="en-US" altLang="zh-CN" sz="1100" b="0" i="0" dirty="0">
              <a:solidFill>
                <a:srgbClr val="0D0D0D"/>
              </a:solidFill>
              <a:effectLst/>
              <a:latin typeface="+mn-ea"/>
              <a:cs typeface="思源黑体 CN Normal" panose="020B0400000000000000" pitchFamily="34" charset="-122"/>
            </a:endParaRPr>
          </a:p>
        </p:txBody>
      </p:sp>
      <p:sp>
        <p:nvSpPr>
          <p:cNvPr id="215" name="文本框 214"/>
          <p:cNvSpPr txBox="1"/>
          <p:nvPr/>
        </p:nvSpPr>
        <p:spPr>
          <a:xfrm>
            <a:off x="8664575" y="5939619"/>
            <a:ext cx="1044000" cy="538609"/>
          </a:xfrm>
          <a:prstGeom prst="rect">
            <a:avLst/>
          </a:prstGeom>
          <a:noFill/>
        </p:spPr>
        <p:txBody>
          <a:bodyPr wrap="square">
            <a:spAutoFit/>
          </a:bodyPr>
          <a:lstStyle/>
          <a:p>
            <a:pPr algn="ctr"/>
            <a:r>
              <a:rPr lang="en-US" altLang="zh-CN" b="1" dirty="0">
                <a:solidFill>
                  <a:schemeClr val="tx2"/>
                </a:solidFill>
                <a:latin typeface="+mn-ea"/>
                <a:cs typeface="思源黑体 CN Normal" panose="020B0400000000000000" pitchFamily="34" charset="-122"/>
              </a:rPr>
              <a:t>15</a:t>
            </a:r>
            <a:r>
              <a:rPr lang="zh-CN" altLang="en-US" sz="1100" dirty="0">
                <a:solidFill>
                  <a:srgbClr val="0D0D0D"/>
                </a:solidFill>
                <a:latin typeface="+mn-ea"/>
                <a:cs typeface="思源黑体 CN Normal" panose="020B0400000000000000" pitchFamily="34" charset="-122"/>
              </a:rPr>
              <a:t>人</a:t>
            </a:r>
            <a:endParaRPr lang="en-US" altLang="zh-CN" sz="1100" dirty="0">
              <a:solidFill>
                <a:srgbClr val="0D0D0D"/>
              </a:solidFill>
              <a:latin typeface="+mn-ea"/>
              <a:cs typeface="思源黑体 CN Normal" panose="020B0400000000000000" pitchFamily="34" charset="-122"/>
            </a:endParaRPr>
          </a:p>
          <a:p>
            <a:pPr algn="ctr"/>
            <a:r>
              <a:rPr lang="zh-CN" altLang="en-US" sz="1100" b="0" i="0" dirty="0">
                <a:solidFill>
                  <a:srgbClr val="0D0D0D"/>
                </a:solidFill>
                <a:effectLst/>
                <a:latin typeface="+mn-ea"/>
                <a:cs typeface="思源黑体 CN Normal" panose="020B0400000000000000" pitchFamily="34" charset="-122"/>
              </a:rPr>
              <a:t>技术团队扩招</a:t>
            </a:r>
            <a:endParaRPr lang="en-US" altLang="zh-CN" sz="1100" b="0" i="0" dirty="0">
              <a:solidFill>
                <a:srgbClr val="0D0D0D"/>
              </a:solidFill>
              <a:effectLst/>
              <a:latin typeface="+mn-ea"/>
              <a:cs typeface="思源黑体 CN Normal" panose="020B0400000000000000" pitchFamily="34" charset="-122"/>
            </a:endParaRPr>
          </a:p>
        </p:txBody>
      </p:sp>
      <p:sp>
        <p:nvSpPr>
          <p:cNvPr id="216" name="文本框 215"/>
          <p:cNvSpPr txBox="1"/>
          <p:nvPr/>
        </p:nvSpPr>
        <p:spPr>
          <a:xfrm>
            <a:off x="5072290" y="5939619"/>
            <a:ext cx="1512000" cy="538609"/>
          </a:xfrm>
          <a:prstGeom prst="rect">
            <a:avLst/>
          </a:prstGeom>
          <a:noFill/>
        </p:spPr>
        <p:txBody>
          <a:bodyPr wrap="square">
            <a:spAutoFit/>
          </a:bodyPr>
          <a:lstStyle/>
          <a:p>
            <a:pPr algn="ctr"/>
            <a:r>
              <a:rPr lang="en-US" altLang="zh-CN" b="1" dirty="0">
                <a:solidFill>
                  <a:schemeClr val="tx2"/>
                </a:solidFill>
                <a:latin typeface="+mn-ea"/>
                <a:cs typeface="思源黑体 CN Normal" panose="020B0400000000000000" pitchFamily="34" charset="-122"/>
              </a:rPr>
              <a:t>64</a:t>
            </a:r>
            <a:r>
              <a:rPr lang="en-US" altLang="zh-CN" sz="1100" b="0" i="0" dirty="0">
                <a:solidFill>
                  <a:srgbClr val="0D0D0D"/>
                </a:solidFill>
                <a:effectLst/>
                <a:latin typeface="+mn-ea"/>
                <a:cs typeface="思源黑体 CN Normal" panose="020B0400000000000000" pitchFamily="34" charset="-122"/>
              </a:rPr>
              <a:t>%</a:t>
            </a:r>
            <a:endParaRPr lang="en-US" altLang="zh-CN" sz="1100" b="0" i="0" dirty="0">
              <a:solidFill>
                <a:srgbClr val="0D0D0D"/>
              </a:solidFill>
              <a:effectLst/>
              <a:latin typeface="+mn-ea"/>
              <a:cs typeface="思源黑体 CN Normal" panose="020B0400000000000000" pitchFamily="34" charset="-122"/>
            </a:endParaRPr>
          </a:p>
          <a:p>
            <a:pPr algn="ctr"/>
            <a:r>
              <a:rPr lang="zh-CN" altLang="en-US" sz="1100" b="0" i="0" dirty="0">
                <a:solidFill>
                  <a:srgbClr val="0D0D0D"/>
                </a:solidFill>
                <a:effectLst/>
                <a:latin typeface="+mn-ea"/>
                <a:cs typeface="思源黑体 CN Normal" panose="020B0400000000000000" pitchFamily="34" charset="-122"/>
              </a:rPr>
              <a:t>按计划进行项目占比</a:t>
            </a:r>
            <a:endParaRPr lang="en-US" altLang="zh-CN" sz="1100" b="0" i="0" dirty="0">
              <a:solidFill>
                <a:srgbClr val="0D0D0D"/>
              </a:solidFill>
              <a:effectLst/>
              <a:latin typeface="+mn-ea"/>
              <a:cs typeface="思源黑体 CN Normal" panose="020B0400000000000000" pitchFamily="34" charset="-122"/>
            </a:endParaRPr>
          </a:p>
        </p:txBody>
      </p:sp>
      <p:sp>
        <p:nvSpPr>
          <p:cNvPr id="220" name="文本框 219"/>
          <p:cNvSpPr txBox="1"/>
          <p:nvPr/>
        </p:nvSpPr>
        <p:spPr>
          <a:xfrm>
            <a:off x="10386366" y="5949685"/>
            <a:ext cx="1368000" cy="215444"/>
          </a:xfrm>
          <a:prstGeom prst="rect">
            <a:avLst/>
          </a:prstGeom>
          <a:noFill/>
        </p:spPr>
        <p:txBody>
          <a:bodyPr wrap="square" lIns="0" tIns="0" rIns="0" bIns="0">
            <a:spAutoFit/>
          </a:bodyPr>
          <a:lstStyle>
            <a:defPPr>
              <a:defRPr lang="zh-CN"/>
            </a:defPPr>
            <a:lvl1pPr>
              <a:defRPr sz="1400">
                <a:solidFill>
                  <a:schemeClr val="bg1"/>
                </a:solidFill>
                <a:latin typeface="+mj-ea"/>
                <a:ea typeface="+mj-ea"/>
              </a:defRPr>
            </a:lvl1pPr>
          </a:lstStyle>
          <a:p>
            <a:r>
              <a:rPr lang="zh-CN" altLang="en-US" dirty="0">
                <a:cs typeface="思源黑体 CN Normal" panose="020B0400000000000000" pitchFamily="34" charset="-122"/>
              </a:rPr>
              <a:t>风险预警</a:t>
            </a:r>
            <a:endParaRPr lang="zh-CN" altLang="en-US" dirty="0">
              <a:cs typeface="思源黑体 CN Normal" panose="020B0400000000000000" pitchFamily="34" charset="-122"/>
            </a:endParaRPr>
          </a:p>
        </p:txBody>
      </p:sp>
      <p:sp>
        <p:nvSpPr>
          <p:cNvPr id="221" name="文本框 220"/>
          <p:cNvSpPr txBox="1"/>
          <p:nvPr/>
        </p:nvSpPr>
        <p:spPr>
          <a:xfrm>
            <a:off x="10385093" y="6193018"/>
            <a:ext cx="1360294" cy="300082"/>
          </a:xfrm>
          <a:prstGeom prst="rect">
            <a:avLst/>
          </a:prstGeom>
          <a:noFill/>
        </p:spPr>
        <p:txBody>
          <a:bodyPr wrap="square" lIns="0" tIns="0" rIns="0" bIns="0">
            <a:spAutoFit/>
          </a:bodyPr>
          <a:lstStyle>
            <a:defPPr>
              <a:defRPr lang="zh-CN"/>
            </a:defPPr>
            <a:lvl1pPr>
              <a:lnSpc>
                <a:spcPct val="110000"/>
              </a:lnSpc>
              <a:defRPr sz="900" b="0" i="0">
                <a:solidFill>
                  <a:schemeClr val="bg1"/>
                </a:solidFill>
                <a:effectLst/>
                <a:latin typeface="+mn-ea"/>
              </a:defRPr>
            </a:lvl1pPr>
          </a:lstStyle>
          <a:p>
            <a:r>
              <a:rPr lang="en-US" altLang="zh-CN" dirty="0">
                <a:cs typeface="思源黑体 CN Normal" panose="020B0400000000000000" pitchFamily="34" charset="-122"/>
              </a:rPr>
              <a:t>3</a:t>
            </a:r>
            <a:r>
              <a:rPr lang="zh-CN" altLang="en-US" dirty="0">
                <a:cs typeface="思源黑体 CN Normal" panose="020B0400000000000000" pitchFamily="34" charset="-122"/>
              </a:rPr>
              <a:t>个项目因外部合作方延迟，可能影响</a:t>
            </a:r>
            <a:r>
              <a:rPr lang="en-US" altLang="zh-CN" dirty="0">
                <a:cs typeface="思源黑体 CN Normal" panose="020B0400000000000000" pitchFamily="34" charset="-122"/>
              </a:rPr>
              <a:t>Q4</a:t>
            </a:r>
            <a:r>
              <a:rPr lang="zh-CN" altLang="en-US" dirty="0">
                <a:cs typeface="思源黑体 CN Normal" panose="020B0400000000000000" pitchFamily="34" charset="-122"/>
              </a:rPr>
              <a:t>里程碑</a:t>
            </a:r>
            <a:endParaRPr lang="zh-CN" altLang="en-US" dirty="0">
              <a:cs typeface="思源黑体 CN Normal" panose="020B0400000000000000" pitchFamily="34" charset="-122"/>
            </a:endParaRPr>
          </a:p>
        </p:txBody>
      </p:sp>
      <p:pic>
        <p:nvPicPr>
          <p:cNvPr id="223" name="图形 22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77569" y="5962327"/>
            <a:ext cx="180000" cy="180000"/>
          </a:xfrm>
          <a:prstGeom prst="rect">
            <a:avLst/>
          </a:prstGeom>
        </p:spPr>
      </p:pic>
      <p:sp>
        <p:nvSpPr>
          <p:cNvPr id="224" name="任意多边形: 形状 223"/>
          <p:cNvSpPr/>
          <p:nvPr/>
        </p:nvSpPr>
        <p:spPr>
          <a:xfrm>
            <a:off x="3431074" y="5973973"/>
            <a:ext cx="0" cy="469900"/>
          </a:xfrm>
          <a:custGeom>
            <a:avLst/>
            <a:gdLst>
              <a:gd name="connsiteX0" fmla="*/ 0 w 0"/>
              <a:gd name="connsiteY0" fmla="*/ 0 h 469900"/>
              <a:gd name="connsiteX1" fmla="*/ 0 w 0"/>
              <a:gd name="connsiteY1" fmla="*/ 469900 h 469900"/>
            </a:gdLst>
            <a:ahLst/>
            <a:cxnLst>
              <a:cxn ang="0">
                <a:pos x="connsiteX0" y="connsiteY0"/>
              </a:cxn>
              <a:cxn ang="0">
                <a:pos x="connsiteX1" y="connsiteY1"/>
              </a:cxn>
            </a:cxnLst>
            <a:rect l="l" t="t" r="r" b="b"/>
            <a:pathLst>
              <a:path h="469900">
                <a:moveTo>
                  <a:pt x="0" y="0"/>
                </a:moveTo>
                <a:lnTo>
                  <a:pt x="0" y="46990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25" name="任意多边形: 形状 224"/>
          <p:cNvSpPr/>
          <p:nvPr/>
        </p:nvSpPr>
        <p:spPr>
          <a:xfrm>
            <a:off x="4921218" y="5973973"/>
            <a:ext cx="0" cy="469900"/>
          </a:xfrm>
          <a:custGeom>
            <a:avLst/>
            <a:gdLst>
              <a:gd name="connsiteX0" fmla="*/ 0 w 0"/>
              <a:gd name="connsiteY0" fmla="*/ 0 h 469900"/>
              <a:gd name="connsiteX1" fmla="*/ 0 w 0"/>
              <a:gd name="connsiteY1" fmla="*/ 469900 h 469900"/>
            </a:gdLst>
            <a:ahLst/>
            <a:cxnLst>
              <a:cxn ang="0">
                <a:pos x="connsiteX0" y="connsiteY0"/>
              </a:cxn>
              <a:cxn ang="0">
                <a:pos x="connsiteX1" y="connsiteY1"/>
              </a:cxn>
            </a:cxnLst>
            <a:rect l="l" t="t" r="r" b="b"/>
            <a:pathLst>
              <a:path h="469900">
                <a:moveTo>
                  <a:pt x="0" y="0"/>
                </a:moveTo>
                <a:lnTo>
                  <a:pt x="0" y="46990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26" name="任意多边形: 形状 225"/>
          <p:cNvSpPr/>
          <p:nvPr/>
        </p:nvSpPr>
        <p:spPr>
          <a:xfrm>
            <a:off x="6735362" y="5973973"/>
            <a:ext cx="0" cy="469900"/>
          </a:xfrm>
          <a:custGeom>
            <a:avLst/>
            <a:gdLst>
              <a:gd name="connsiteX0" fmla="*/ 0 w 0"/>
              <a:gd name="connsiteY0" fmla="*/ 0 h 469900"/>
              <a:gd name="connsiteX1" fmla="*/ 0 w 0"/>
              <a:gd name="connsiteY1" fmla="*/ 469900 h 469900"/>
            </a:gdLst>
            <a:ahLst/>
            <a:cxnLst>
              <a:cxn ang="0">
                <a:pos x="connsiteX0" y="connsiteY0"/>
              </a:cxn>
              <a:cxn ang="0">
                <a:pos x="connsiteX1" y="connsiteY1"/>
              </a:cxn>
            </a:cxnLst>
            <a:rect l="l" t="t" r="r" b="b"/>
            <a:pathLst>
              <a:path h="469900">
                <a:moveTo>
                  <a:pt x="0" y="0"/>
                </a:moveTo>
                <a:lnTo>
                  <a:pt x="0" y="46990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27" name="任意多边形: 形状 226"/>
          <p:cNvSpPr/>
          <p:nvPr/>
        </p:nvSpPr>
        <p:spPr>
          <a:xfrm>
            <a:off x="8513506" y="5973973"/>
            <a:ext cx="0" cy="469900"/>
          </a:xfrm>
          <a:custGeom>
            <a:avLst/>
            <a:gdLst>
              <a:gd name="connsiteX0" fmla="*/ 0 w 0"/>
              <a:gd name="connsiteY0" fmla="*/ 0 h 469900"/>
              <a:gd name="connsiteX1" fmla="*/ 0 w 0"/>
              <a:gd name="connsiteY1" fmla="*/ 469900 h 469900"/>
            </a:gdLst>
            <a:ahLst/>
            <a:cxnLst>
              <a:cxn ang="0">
                <a:pos x="connsiteX0" y="connsiteY0"/>
              </a:cxn>
              <a:cxn ang="0">
                <a:pos x="connsiteX1" y="connsiteY1"/>
              </a:cxn>
            </a:cxnLst>
            <a:rect l="l" t="t" r="r" b="b"/>
            <a:pathLst>
              <a:path h="469900">
                <a:moveTo>
                  <a:pt x="0" y="0"/>
                </a:moveTo>
                <a:lnTo>
                  <a:pt x="0" y="46990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 name="文本框 11"/>
          <p:cNvSpPr txBox="1"/>
          <p:nvPr/>
        </p:nvSpPr>
        <p:spPr>
          <a:xfrm>
            <a:off x="9119951" y="5508621"/>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03.08-08.30</a:t>
            </a:r>
            <a:endParaRPr lang="zh-CN" altLang="en-US" sz="800" dirty="0">
              <a:latin typeface="+mn-ea"/>
              <a:cs typeface="思源黑体 CN Normal" panose="020B0400000000000000" pitchFamily="34" charset="-122"/>
            </a:endParaRPr>
          </a:p>
        </p:txBody>
      </p:sp>
    </p:spTree>
    <p:custDataLst>
      <p:tags r:id="rId5"/>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小红书平北职场PPT1"/>
          <p:cNvSpPr/>
          <p:nvPr/>
        </p:nvSpPr>
        <p:spPr>
          <a:xfrm>
            <a:off x="334962" y="889024"/>
            <a:ext cx="11522076" cy="471600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4" name="小红书平北职场PPT2"/>
          <p:cNvGrpSpPr/>
          <p:nvPr/>
        </p:nvGrpSpPr>
        <p:grpSpPr>
          <a:xfrm>
            <a:off x="334963" y="184318"/>
            <a:ext cx="11522075" cy="506147"/>
            <a:chOff x="334963" y="184318"/>
            <a:chExt cx="11522075" cy="506147"/>
          </a:xfrm>
        </p:grpSpPr>
        <p:cxnSp>
          <p:nvCxnSpPr>
            <p:cNvPr id="197" name="小红书平北职场PPT2-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8" name="小红书平北职场PPT2-2"/>
            <p:cNvSpPr txBox="1"/>
            <p:nvPr>
              <p:custDataLst>
                <p:tags r:id="rId2"/>
              </p:custDataLst>
            </p:nvPr>
          </p:nvSpPr>
          <p:spPr>
            <a:xfrm>
              <a:off x="334963" y="184318"/>
              <a:ext cx="4308872"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人事工作关键绩效指标汇总</a:t>
              </a:r>
              <a:endParaRPr lang="zh-CN" altLang="en-US" sz="2800" dirty="0">
                <a:latin typeface="+mj-ea"/>
                <a:ea typeface="+mj-ea"/>
                <a:cs typeface="思源黑体 CN Normal" panose="020B0400000000000000" pitchFamily="34" charset="-122"/>
                <a:sym typeface="+mj-ea"/>
              </a:endParaRPr>
            </a:p>
          </p:txBody>
        </p:sp>
      </p:grpSp>
      <p:sp>
        <p:nvSpPr>
          <p:cNvPr id="5" name="小红书平北职场PPT4"/>
          <p:cNvSpPr txBox="1"/>
          <p:nvPr/>
        </p:nvSpPr>
        <p:spPr>
          <a:xfrm>
            <a:off x="491582" y="1108493"/>
            <a:ext cx="2552354" cy="561372"/>
          </a:xfrm>
          <a:prstGeom prst="rect">
            <a:avLst/>
          </a:prstGeom>
          <a:noFill/>
        </p:spPr>
        <p:txBody>
          <a:bodyPr wrap="square" lIns="0" tIns="0" rIns="0" bIns="0" rtlCol="0">
            <a:spAutoFit/>
          </a:bodyPr>
          <a:lstStyle/>
          <a:p>
            <a:pPr algn="l">
              <a:lnSpc>
                <a:spcPct val="120000"/>
              </a:lnSpc>
            </a:pPr>
            <a:r>
              <a:rPr lang="en-US" altLang="zh-CN" sz="3600" dirty="0">
                <a:solidFill>
                  <a:schemeClr val="tx1">
                    <a:alpha val="10000"/>
                  </a:schemeClr>
                </a:solidFill>
                <a:ea typeface="+mj-ea"/>
                <a:cs typeface="思源黑体 CN Normal" panose="020B0400000000000000" pitchFamily="34" charset="-122"/>
              </a:rPr>
              <a:t>2025</a:t>
            </a:r>
            <a:endParaRPr lang="zh-CN" altLang="en-US" sz="3600" dirty="0">
              <a:solidFill>
                <a:schemeClr val="tx1">
                  <a:alpha val="10000"/>
                </a:schemeClr>
              </a:solidFill>
              <a:ea typeface="+mj-ea"/>
              <a:cs typeface="思源黑体 CN Normal" panose="020B0400000000000000" pitchFamily="34" charset="-122"/>
            </a:endParaRPr>
          </a:p>
        </p:txBody>
      </p:sp>
      <p:grpSp>
        <p:nvGrpSpPr>
          <p:cNvPr id="6" name="小红书平北职场PPT5"/>
          <p:cNvGrpSpPr/>
          <p:nvPr/>
        </p:nvGrpSpPr>
        <p:grpSpPr>
          <a:xfrm>
            <a:off x="1648691" y="1464255"/>
            <a:ext cx="10024857" cy="338258"/>
            <a:chOff x="2256898" y="2008619"/>
            <a:chExt cx="9360539" cy="291481"/>
          </a:xfrm>
        </p:grpSpPr>
        <p:sp>
          <p:nvSpPr>
            <p:cNvPr id="161" name="小红书平北职场PPT5-1"/>
            <p:cNvSpPr/>
            <p:nvPr/>
          </p:nvSpPr>
          <p:spPr>
            <a:xfrm>
              <a:off x="2256898" y="2008619"/>
              <a:ext cx="710195"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62" name="小红书平北职场PPT5-2"/>
            <p:cNvSpPr txBox="1"/>
            <p:nvPr/>
          </p:nvSpPr>
          <p:spPr>
            <a:xfrm>
              <a:off x="2347953" y="2038215"/>
              <a:ext cx="528536"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1</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63" name="小红书平北职场PPT5-3"/>
            <p:cNvSpPr/>
            <p:nvPr/>
          </p:nvSpPr>
          <p:spPr>
            <a:xfrm>
              <a:off x="3043292" y="2008627"/>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64" name="小红书平北职场PPT5-4"/>
            <p:cNvSpPr txBox="1"/>
            <p:nvPr/>
          </p:nvSpPr>
          <p:spPr>
            <a:xfrm>
              <a:off x="3134347"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2</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65" name="小红书平北职场PPT5-5"/>
            <p:cNvSpPr/>
            <p:nvPr/>
          </p:nvSpPr>
          <p:spPr>
            <a:xfrm>
              <a:off x="3829688"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66" name="小红书平北职场PPT5-6"/>
            <p:cNvSpPr txBox="1"/>
            <p:nvPr/>
          </p:nvSpPr>
          <p:spPr>
            <a:xfrm>
              <a:off x="3920743"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3</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67" name="小红书平北职场PPT5-7"/>
            <p:cNvSpPr/>
            <p:nvPr/>
          </p:nvSpPr>
          <p:spPr>
            <a:xfrm>
              <a:off x="4616082" y="2008627"/>
              <a:ext cx="710195" cy="291473"/>
            </a:xfrm>
            <a:prstGeom prst="roundRect">
              <a:avLst>
                <a:gd name="adj" fmla="val 14801"/>
              </a:avLst>
            </a:prstGeom>
            <a:solidFill>
              <a:schemeClr val="bg1">
                <a:lumMod val="95000"/>
              </a:schemeClr>
            </a:solidFill>
            <a:ln w="9525">
              <a:solidFill>
                <a:schemeClr val="accent2"/>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68" name="小红书平北职场PPT5-8"/>
            <p:cNvSpPr txBox="1"/>
            <p:nvPr/>
          </p:nvSpPr>
          <p:spPr>
            <a:xfrm>
              <a:off x="4707137" y="2038208"/>
              <a:ext cx="528536" cy="173783"/>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accent2"/>
                  </a:solidFill>
                  <a:latin typeface="+mj-ea"/>
                  <a:ea typeface="+mj-ea"/>
                  <a:cs typeface="思源黑体 CN Normal" panose="020B0400000000000000" pitchFamily="34" charset="-122"/>
                  <a:sym typeface="思源黑体 CN Normal" panose="020B0400000000000000" pitchFamily="34" charset="-122"/>
                </a:rPr>
                <a:t>4</a:t>
              </a:r>
              <a:r>
                <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endParaRPr>
            </a:p>
          </p:txBody>
        </p:sp>
        <p:sp>
          <p:nvSpPr>
            <p:cNvPr id="169" name="小红书平北职场PPT5-9"/>
            <p:cNvSpPr/>
            <p:nvPr/>
          </p:nvSpPr>
          <p:spPr>
            <a:xfrm>
              <a:off x="5402477"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70" name="小红书平北职场PPT5-10"/>
            <p:cNvSpPr txBox="1"/>
            <p:nvPr/>
          </p:nvSpPr>
          <p:spPr>
            <a:xfrm>
              <a:off x="5493532"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5</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1" name="小红书平北职场PPT5-11"/>
            <p:cNvSpPr/>
            <p:nvPr/>
          </p:nvSpPr>
          <p:spPr>
            <a:xfrm>
              <a:off x="6188872" y="2008625"/>
              <a:ext cx="710197" cy="291473"/>
            </a:xfrm>
            <a:prstGeom prst="roundRect">
              <a:avLst>
                <a:gd name="adj" fmla="val 14801"/>
              </a:avLst>
            </a:prstGeom>
            <a:solidFill>
              <a:schemeClr val="bg1">
                <a:lumMod val="95000"/>
              </a:schemeClr>
            </a:solidFill>
            <a:ln w="9525">
              <a:solidFill>
                <a:schemeClr val="accent2"/>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72" name="小红书平北职场PPT5-12"/>
            <p:cNvSpPr txBox="1"/>
            <p:nvPr/>
          </p:nvSpPr>
          <p:spPr>
            <a:xfrm>
              <a:off x="6279927"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6</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3" name="小红书平北职场PPT5-13"/>
            <p:cNvSpPr/>
            <p:nvPr/>
          </p:nvSpPr>
          <p:spPr>
            <a:xfrm>
              <a:off x="6975267"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74" name="小红书平北职场PPT5-14"/>
            <p:cNvSpPr txBox="1"/>
            <p:nvPr/>
          </p:nvSpPr>
          <p:spPr>
            <a:xfrm>
              <a:off x="7066322"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7</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5" name="小红书平北职场PPT5-15"/>
            <p:cNvSpPr/>
            <p:nvPr/>
          </p:nvSpPr>
          <p:spPr>
            <a:xfrm>
              <a:off x="7761661"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76" name="小红书平北职场PPT5-16"/>
            <p:cNvSpPr txBox="1"/>
            <p:nvPr/>
          </p:nvSpPr>
          <p:spPr>
            <a:xfrm>
              <a:off x="7852716"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8</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7" name="小红书平北职场PPT5-17"/>
            <p:cNvSpPr/>
            <p:nvPr/>
          </p:nvSpPr>
          <p:spPr>
            <a:xfrm>
              <a:off x="8548056"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78" name="小红书平北职场PPT5-18"/>
            <p:cNvSpPr txBox="1"/>
            <p:nvPr/>
          </p:nvSpPr>
          <p:spPr>
            <a:xfrm>
              <a:off x="8639111"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9</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9" name="小红书平北职场PPT5-19"/>
            <p:cNvSpPr/>
            <p:nvPr/>
          </p:nvSpPr>
          <p:spPr>
            <a:xfrm>
              <a:off x="9334451" y="2008625"/>
              <a:ext cx="710197" cy="291473"/>
            </a:xfrm>
            <a:prstGeom prst="roundRect">
              <a:avLst>
                <a:gd name="adj" fmla="val 14801"/>
              </a:avLst>
            </a:prstGeom>
            <a:solidFill>
              <a:schemeClr val="bg1">
                <a:lumMod val="95000"/>
              </a:schemeClr>
            </a:solidFill>
            <a:ln w="9525">
              <a:solidFill>
                <a:schemeClr val="accent2"/>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80" name="小红书平北职场PPT5-20"/>
            <p:cNvSpPr txBox="1"/>
            <p:nvPr/>
          </p:nvSpPr>
          <p:spPr>
            <a:xfrm>
              <a:off x="9425506" y="2038215"/>
              <a:ext cx="528538" cy="173783"/>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accent2"/>
                  </a:solidFill>
                  <a:latin typeface="+mj-ea"/>
                  <a:ea typeface="+mj-ea"/>
                  <a:cs typeface="思源黑体 CN Normal" panose="020B0400000000000000" pitchFamily="34" charset="-122"/>
                  <a:sym typeface="思源黑体 CN Normal" panose="020B0400000000000000" pitchFamily="34" charset="-122"/>
                </a:rPr>
                <a:t>10</a:t>
              </a:r>
              <a:r>
                <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endParaRPr>
            </a:p>
          </p:txBody>
        </p:sp>
        <p:sp>
          <p:nvSpPr>
            <p:cNvPr id="181" name="小红书平北职场PPT5-21"/>
            <p:cNvSpPr/>
            <p:nvPr/>
          </p:nvSpPr>
          <p:spPr>
            <a:xfrm>
              <a:off x="10120846" y="2008625"/>
              <a:ext cx="710197" cy="291473"/>
            </a:xfrm>
            <a:prstGeom prst="roundRect">
              <a:avLst>
                <a:gd name="adj" fmla="val 14801"/>
              </a:avLst>
            </a:prstGeom>
            <a:solidFill>
              <a:schemeClr val="bg1">
                <a:lumMod val="95000"/>
              </a:schemeClr>
            </a:solidFill>
            <a:ln w="9525">
              <a:solidFill>
                <a:schemeClr val="accent2"/>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82" name="小红书平北职场PPT5-22"/>
            <p:cNvSpPr txBox="1"/>
            <p:nvPr/>
          </p:nvSpPr>
          <p:spPr>
            <a:xfrm>
              <a:off x="10211901" y="2038215"/>
              <a:ext cx="528538" cy="173783"/>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accent2"/>
                  </a:solidFill>
                  <a:latin typeface="+mj-ea"/>
                  <a:ea typeface="+mj-ea"/>
                  <a:cs typeface="思源黑体 CN Normal" panose="020B0400000000000000" pitchFamily="34" charset="-122"/>
                  <a:sym typeface="思源黑体 CN Normal" panose="020B0400000000000000" pitchFamily="34" charset="-122"/>
                </a:rPr>
                <a:t>11</a:t>
              </a:r>
              <a:r>
                <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endParaRPr>
            </a:p>
          </p:txBody>
        </p:sp>
        <p:sp>
          <p:nvSpPr>
            <p:cNvPr id="183" name="小红书平北职场PPT5-23"/>
            <p:cNvSpPr/>
            <p:nvPr/>
          </p:nvSpPr>
          <p:spPr>
            <a:xfrm>
              <a:off x="10907240"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84" name="小红书平北职场PPT5-24"/>
            <p:cNvSpPr txBox="1"/>
            <p:nvPr/>
          </p:nvSpPr>
          <p:spPr>
            <a:xfrm>
              <a:off x="10998295"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12</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grpSp>
      <p:grpSp>
        <p:nvGrpSpPr>
          <p:cNvPr id="7" name="小红书平北职场PPT6"/>
          <p:cNvGrpSpPr/>
          <p:nvPr/>
        </p:nvGrpSpPr>
        <p:grpSpPr>
          <a:xfrm>
            <a:off x="1648734" y="1898822"/>
            <a:ext cx="10024772" cy="3602913"/>
            <a:chOff x="2313016" y="1681750"/>
            <a:chExt cx="9360460" cy="3841181"/>
          </a:xfrm>
        </p:grpSpPr>
        <p:sp>
          <p:nvSpPr>
            <p:cNvPr id="149" name="小红书平北职场PPT6-1"/>
            <p:cNvSpPr/>
            <p:nvPr/>
          </p:nvSpPr>
          <p:spPr>
            <a:xfrm>
              <a:off x="2313016" y="1681750"/>
              <a:ext cx="710116"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0" name="小红书平北职场PPT6-2"/>
            <p:cNvSpPr/>
            <p:nvPr/>
          </p:nvSpPr>
          <p:spPr>
            <a:xfrm>
              <a:off x="3099410"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1" name="小红书平北职场PPT6-3"/>
            <p:cNvSpPr/>
            <p:nvPr/>
          </p:nvSpPr>
          <p:spPr>
            <a:xfrm>
              <a:off x="3885806"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2" name="小红书平北职场PPT6-4"/>
            <p:cNvSpPr/>
            <p:nvPr/>
          </p:nvSpPr>
          <p:spPr>
            <a:xfrm>
              <a:off x="4672200" y="1681750"/>
              <a:ext cx="710116"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3" name="小红书平北职场PPT6-5"/>
            <p:cNvSpPr/>
            <p:nvPr/>
          </p:nvSpPr>
          <p:spPr>
            <a:xfrm>
              <a:off x="5458595"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4" name="小红书平北职场PPT6-6"/>
            <p:cNvSpPr/>
            <p:nvPr/>
          </p:nvSpPr>
          <p:spPr>
            <a:xfrm>
              <a:off x="6244990"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5" name="小红书平北职场PPT6-7"/>
            <p:cNvSpPr/>
            <p:nvPr/>
          </p:nvSpPr>
          <p:spPr>
            <a:xfrm>
              <a:off x="7031385"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6" name="小红书平北职场PPT6-8"/>
            <p:cNvSpPr/>
            <p:nvPr/>
          </p:nvSpPr>
          <p:spPr>
            <a:xfrm>
              <a:off x="7817779"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7" name="小红书平北职场PPT6-9"/>
            <p:cNvSpPr/>
            <p:nvPr/>
          </p:nvSpPr>
          <p:spPr>
            <a:xfrm>
              <a:off x="8604174"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8" name="小红书平北职场PPT6-10"/>
            <p:cNvSpPr/>
            <p:nvPr/>
          </p:nvSpPr>
          <p:spPr>
            <a:xfrm>
              <a:off x="9390569"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9" name="小红书平北职场PPT6-11"/>
            <p:cNvSpPr/>
            <p:nvPr/>
          </p:nvSpPr>
          <p:spPr>
            <a:xfrm>
              <a:off x="10176964"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60" name="小红书平北职场PPT6-12"/>
            <p:cNvSpPr/>
            <p:nvPr/>
          </p:nvSpPr>
          <p:spPr>
            <a:xfrm>
              <a:off x="10963358"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grpSp>
      <p:grpSp>
        <p:nvGrpSpPr>
          <p:cNvPr id="8" name="小红书平北职场PPT7"/>
          <p:cNvGrpSpPr/>
          <p:nvPr/>
        </p:nvGrpSpPr>
        <p:grpSpPr>
          <a:xfrm>
            <a:off x="1650040" y="1067056"/>
            <a:ext cx="10022160" cy="332829"/>
            <a:chOff x="2313009" y="985081"/>
            <a:chExt cx="9358020" cy="338530"/>
          </a:xfrm>
        </p:grpSpPr>
        <p:sp>
          <p:nvSpPr>
            <p:cNvPr id="112" name="小红书平北职场PPT7-1"/>
            <p:cNvSpPr/>
            <p:nvPr/>
          </p:nvSpPr>
          <p:spPr>
            <a:xfrm>
              <a:off x="2313009" y="985081"/>
              <a:ext cx="2266679" cy="338530"/>
            </a:xfrm>
            <a:prstGeom prst="roundRect">
              <a:avLst>
                <a:gd name="adj" fmla="val 0"/>
              </a:avLst>
            </a:prstGeom>
            <a:gradFill flip="none" rotWithShape="1">
              <a:gsLst>
                <a:gs pos="0">
                  <a:schemeClr val="accent1">
                    <a:lumMod val="60000"/>
                    <a:lumOff val="4000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13" name="小红书平北职场PPT7-2"/>
            <p:cNvSpPr/>
            <p:nvPr/>
          </p:nvSpPr>
          <p:spPr>
            <a:xfrm>
              <a:off x="4672193" y="985081"/>
              <a:ext cx="2266680" cy="338530"/>
            </a:xfrm>
            <a:prstGeom prst="roundRect">
              <a:avLst>
                <a:gd name="adj" fmla="val 0"/>
              </a:avLst>
            </a:prstGeom>
            <a:gradFill flip="none" rotWithShape="1">
              <a:gsLst>
                <a:gs pos="0">
                  <a:schemeClr val="accent1">
                    <a:lumMod val="60000"/>
                    <a:lumOff val="40000"/>
                  </a:schemeClr>
                </a:gs>
                <a:gs pos="100000">
                  <a:schemeClr val="accent1"/>
                </a:gs>
              </a:gsLst>
              <a:lin ang="27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14" name="小红书平北职场PPT7-3"/>
            <p:cNvSpPr/>
            <p:nvPr/>
          </p:nvSpPr>
          <p:spPr>
            <a:xfrm>
              <a:off x="7031377" y="985081"/>
              <a:ext cx="2266679" cy="338530"/>
            </a:xfrm>
            <a:prstGeom prst="roundRect">
              <a:avLst>
                <a:gd name="adj" fmla="val 0"/>
              </a:avLst>
            </a:prstGeom>
            <a:gradFill flip="none" rotWithShape="1">
              <a:gsLst>
                <a:gs pos="0">
                  <a:schemeClr val="accent1">
                    <a:lumMod val="60000"/>
                    <a:lumOff val="4000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15" name="小红书平北职场PPT7-4"/>
            <p:cNvSpPr/>
            <p:nvPr/>
          </p:nvSpPr>
          <p:spPr>
            <a:xfrm>
              <a:off x="9404350" y="985081"/>
              <a:ext cx="2266679" cy="338530"/>
            </a:xfrm>
            <a:prstGeom prst="roundRect">
              <a:avLst>
                <a:gd name="adj" fmla="val 0"/>
              </a:avLst>
            </a:prstGeom>
            <a:gradFill flip="none" rotWithShape="1">
              <a:gsLst>
                <a:gs pos="0">
                  <a:schemeClr val="accent1">
                    <a:lumMod val="60000"/>
                    <a:lumOff val="4000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116" name="组合 115"/>
            <p:cNvGrpSpPr/>
            <p:nvPr/>
          </p:nvGrpSpPr>
          <p:grpSpPr>
            <a:xfrm>
              <a:off x="2468720" y="1043502"/>
              <a:ext cx="9046597" cy="213620"/>
              <a:chOff x="2468720" y="1038870"/>
              <a:chExt cx="9046597" cy="256352"/>
            </a:xfrm>
          </p:grpSpPr>
          <p:grpSp>
            <p:nvGrpSpPr>
              <p:cNvPr id="117" name="组合 116"/>
              <p:cNvGrpSpPr/>
              <p:nvPr/>
            </p:nvGrpSpPr>
            <p:grpSpPr>
              <a:xfrm>
                <a:off x="2468720" y="1038870"/>
                <a:ext cx="1955257" cy="256352"/>
                <a:chOff x="4034631" y="955679"/>
                <a:chExt cx="3581054" cy="243167"/>
              </a:xfrm>
            </p:grpSpPr>
            <p:cxnSp>
              <p:nvCxnSpPr>
                <p:cNvPr id="142" name="小红书平北职场PPT7-5"/>
                <p:cNvCxnSpPr/>
                <p:nvPr/>
              </p:nvCxnSpPr>
              <p:spPr>
                <a:xfrm>
                  <a:off x="4034631"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3" name="小红书平北职场PPT7-6"/>
                <p:cNvCxnSpPr/>
                <p:nvPr/>
              </p:nvCxnSpPr>
              <p:spPr>
                <a:xfrm>
                  <a:off x="7615685"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44" name="组合 143"/>
                <p:cNvGrpSpPr/>
                <p:nvPr/>
              </p:nvGrpSpPr>
              <p:grpSpPr>
                <a:xfrm>
                  <a:off x="4065144" y="955679"/>
                  <a:ext cx="3478850" cy="243167"/>
                  <a:chOff x="4065144" y="955679"/>
                  <a:chExt cx="3478850" cy="243167"/>
                </a:xfrm>
              </p:grpSpPr>
              <p:sp>
                <p:nvSpPr>
                  <p:cNvPr id="145" name="小红书平北职场PPT7-7"/>
                  <p:cNvSpPr txBox="1"/>
                  <p:nvPr/>
                </p:nvSpPr>
                <p:spPr>
                  <a:xfrm>
                    <a:off x="5214447" y="955679"/>
                    <a:ext cx="1207242" cy="2431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第</a:t>
                    </a:r>
                    <a:r>
                      <a:rPr kumimoji="0" lang="en-US" altLang="zh-CN"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1</a:t>
                    </a: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季度</a:t>
                    </a:r>
                    <a:endPar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46" name="组合 145"/>
                  <p:cNvGrpSpPr/>
                  <p:nvPr/>
                </p:nvGrpSpPr>
                <p:grpSpPr>
                  <a:xfrm>
                    <a:off x="4065144" y="1065211"/>
                    <a:ext cx="3478850" cy="0"/>
                    <a:chOff x="501444" y="1065211"/>
                    <a:chExt cx="3478850" cy="0"/>
                  </a:xfrm>
                </p:grpSpPr>
                <p:cxnSp>
                  <p:nvCxnSpPr>
                    <p:cNvPr id="147" name="小红书平北职场PPT7-8"/>
                    <p:cNvCxnSpPr/>
                    <p:nvPr/>
                  </p:nvCxnSpPr>
                  <p:spPr>
                    <a:xfrm flipH="1">
                      <a:off x="501444"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48" name="小红书平北职场PPT7-9"/>
                    <p:cNvCxnSpPr/>
                    <p:nvPr/>
                  </p:nvCxnSpPr>
                  <p:spPr>
                    <a:xfrm>
                      <a:off x="2833735"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grpSp>
            </p:grpSp>
          </p:grpSp>
          <p:grpSp>
            <p:nvGrpSpPr>
              <p:cNvPr id="118" name="组合 117"/>
              <p:cNvGrpSpPr/>
              <p:nvPr/>
            </p:nvGrpSpPr>
            <p:grpSpPr>
              <a:xfrm>
                <a:off x="4827905" y="1038870"/>
                <a:ext cx="1955257" cy="256352"/>
                <a:chOff x="4034631" y="955679"/>
                <a:chExt cx="3581054" cy="243167"/>
              </a:xfrm>
            </p:grpSpPr>
            <p:cxnSp>
              <p:nvCxnSpPr>
                <p:cNvPr id="135" name="小红书平北职场PPT7-10"/>
                <p:cNvCxnSpPr/>
                <p:nvPr/>
              </p:nvCxnSpPr>
              <p:spPr>
                <a:xfrm>
                  <a:off x="4034631"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6" name="小红书平北职场PPT7-11"/>
                <p:cNvCxnSpPr/>
                <p:nvPr/>
              </p:nvCxnSpPr>
              <p:spPr>
                <a:xfrm>
                  <a:off x="7615685"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37" name="组合 136"/>
                <p:cNvGrpSpPr/>
                <p:nvPr/>
              </p:nvGrpSpPr>
              <p:grpSpPr>
                <a:xfrm>
                  <a:off x="4065144" y="955679"/>
                  <a:ext cx="3478850" cy="243167"/>
                  <a:chOff x="4065144" y="955679"/>
                  <a:chExt cx="3478850" cy="243167"/>
                </a:xfrm>
              </p:grpSpPr>
              <p:sp>
                <p:nvSpPr>
                  <p:cNvPr id="138" name="小红书平北职场PPT7-12"/>
                  <p:cNvSpPr txBox="1"/>
                  <p:nvPr/>
                </p:nvSpPr>
                <p:spPr>
                  <a:xfrm>
                    <a:off x="5192429" y="955679"/>
                    <a:ext cx="1251281" cy="2431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第</a:t>
                    </a:r>
                    <a:r>
                      <a:rPr kumimoji="0" lang="en-US" altLang="zh-CN"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2</a:t>
                    </a: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季度</a:t>
                    </a:r>
                    <a:endPar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39" name="组合 138"/>
                  <p:cNvGrpSpPr/>
                  <p:nvPr/>
                </p:nvGrpSpPr>
                <p:grpSpPr>
                  <a:xfrm>
                    <a:off x="4065144" y="1065211"/>
                    <a:ext cx="3478850" cy="0"/>
                    <a:chOff x="501444" y="1065211"/>
                    <a:chExt cx="3478850" cy="0"/>
                  </a:xfrm>
                </p:grpSpPr>
                <p:cxnSp>
                  <p:nvCxnSpPr>
                    <p:cNvPr id="140" name="小红书平北职场PPT7-13"/>
                    <p:cNvCxnSpPr/>
                    <p:nvPr/>
                  </p:nvCxnSpPr>
                  <p:spPr>
                    <a:xfrm flipH="1">
                      <a:off x="501444"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41" name="小红书平北职场PPT7-14"/>
                    <p:cNvCxnSpPr/>
                    <p:nvPr/>
                  </p:nvCxnSpPr>
                  <p:spPr>
                    <a:xfrm>
                      <a:off x="2833735"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grpSp>
            </p:grpSp>
          </p:grpSp>
          <p:grpSp>
            <p:nvGrpSpPr>
              <p:cNvPr id="119" name="组合 118"/>
              <p:cNvGrpSpPr/>
              <p:nvPr/>
            </p:nvGrpSpPr>
            <p:grpSpPr>
              <a:xfrm>
                <a:off x="7187087" y="1038870"/>
                <a:ext cx="1955257" cy="256352"/>
                <a:chOff x="4034631" y="955679"/>
                <a:chExt cx="3581054" cy="243167"/>
              </a:xfrm>
            </p:grpSpPr>
            <p:cxnSp>
              <p:nvCxnSpPr>
                <p:cNvPr id="128" name="小红书平北职场PPT7-15"/>
                <p:cNvCxnSpPr/>
                <p:nvPr/>
              </p:nvCxnSpPr>
              <p:spPr>
                <a:xfrm>
                  <a:off x="4034631"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9" name="小红书平北职场PPT7-16"/>
                <p:cNvCxnSpPr/>
                <p:nvPr/>
              </p:nvCxnSpPr>
              <p:spPr>
                <a:xfrm>
                  <a:off x="7615685"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30" name="组合 129"/>
                <p:cNvGrpSpPr/>
                <p:nvPr/>
              </p:nvGrpSpPr>
              <p:grpSpPr>
                <a:xfrm>
                  <a:off x="4065144" y="955679"/>
                  <a:ext cx="3478850" cy="243167"/>
                  <a:chOff x="4065144" y="955679"/>
                  <a:chExt cx="3478850" cy="243167"/>
                </a:xfrm>
              </p:grpSpPr>
              <p:sp>
                <p:nvSpPr>
                  <p:cNvPr id="131" name="小红书平北职场PPT7-17"/>
                  <p:cNvSpPr txBox="1"/>
                  <p:nvPr/>
                </p:nvSpPr>
                <p:spPr>
                  <a:xfrm>
                    <a:off x="5192429" y="955679"/>
                    <a:ext cx="1251281" cy="2431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第</a:t>
                    </a:r>
                    <a:r>
                      <a:rPr kumimoji="0" lang="en-US" altLang="zh-CN"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3</a:t>
                    </a: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季度</a:t>
                    </a:r>
                    <a:endPar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32" name="组合 131"/>
                  <p:cNvGrpSpPr/>
                  <p:nvPr/>
                </p:nvGrpSpPr>
                <p:grpSpPr>
                  <a:xfrm>
                    <a:off x="4065144" y="1065211"/>
                    <a:ext cx="3478850" cy="0"/>
                    <a:chOff x="501444" y="1065211"/>
                    <a:chExt cx="3478850" cy="0"/>
                  </a:xfrm>
                </p:grpSpPr>
                <p:cxnSp>
                  <p:nvCxnSpPr>
                    <p:cNvPr id="133" name="小红书平北职场PPT7-18"/>
                    <p:cNvCxnSpPr/>
                    <p:nvPr/>
                  </p:nvCxnSpPr>
                  <p:spPr>
                    <a:xfrm flipH="1">
                      <a:off x="501444"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34" name="小红书平北职场PPT7-19"/>
                    <p:cNvCxnSpPr/>
                    <p:nvPr/>
                  </p:nvCxnSpPr>
                  <p:spPr>
                    <a:xfrm>
                      <a:off x="2833735"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grpSp>
            </p:grpSp>
          </p:grpSp>
          <p:grpSp>
            <p:nvGrpSpPr>
              <p:cNvPr id="120" name="组合 119"/>
              <p:cNvGrpSpPr/>
              <p:nvPr/>
            </p:nvGrpSpPr>
            <p:grpSpPr>
              <a:xfrm>
                <a:off x="9560060" y="1038870"/>
                <a:ext cx="1955257" cy="256352"/>
                <a:chOff x="4034631" y="955679"/>
                <a:chExt cx="3581054" cy="243167"/>
              </a:xfrm>
            </p:grpSpPr>
            <p:cxnSp>
              <p:nvCxnSpPr>
                <p:cNvPr id="121" name="小红书平北职场PPT7-20"/>
                <p:cNvCxnSpPr/>
                <p:nvPr/>
              </p:nvCxnSpPr>
              <p:spPr>
                <a:xfrm>
                  <a:off x="4034631"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2" name="小红书平北职场PPT7-21"/>
                <p:cNvCxnSpPr/>
                <p:nvPr/>
              </p:nvCxnSpPr>
              <p:spPr>
                <a:xfrm>
                  <a:off x="7615685"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23" name="组合 122"/>
                <p:cNvGrpSpPr/>
                <p:nvPr/>
              </p:nvGrpSpPr>
              <p:grpSpPr>
                <a:xfrm>
                  <a:off x="4065144" y="955679"/>
                  <a:ext cx="3478850" cy="243167"/>
                  <a:chOff x="4065144" y="955679"/>
                  <a:chExt cx="3478850" cy="243167"/>
                </a:xfrm>
              </p:grpSpPr>
              <p:sp>
                <p:nvSpPr>
                  <p:cNvPr id="124" name="小红书平北职场PPT7-22"/>
                  <p:cNvSpPr txBox="1"/>
                  <p:nvPr/>
                </p:nvSpPr>
                <p:spPr>
                  <a:xfrm>
                    <a:off x="5192429" y="955679"/>
                    <a:ext cx="1251281" cy="2431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第</a:t>
                    </a:r>
                    <a:r>
                      <a:rPr kumimoji="0" lang="en-US" altLang="zh-CN"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4</a:t>
                    </a: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季度</a:t>
                    </a:r>
                    <a:endPar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25" name="组合 124"/>
                  <p:cNvGrpSpPr/>
                  <p:nvPr/>
                </p:nvGrpSpPr>
                <p:grpSpPr>
                  <a:xfrm>
                    <a:off x="4065144" y="1065211"/>
                    <a:ext cx="3478850" cy="0"/>
                    <a:chOff x="501444" y="1065211"/>
                    <a:chExt cx="3478850" cy="0"/>
                  </a:xfrm>
                </p:grpSpPr>
                <p:cxnSp>
                  <p:nvCxnSpPr>
                    <p:cNvPr id="126" name="小红书平北职场PPT7-23"/>
                    <p:cNvCxnSpPr/>
                    <p:nvPr/>
                  </p:nvCxnSpPr>
                  <p:spPr>
                    <a:xfrm flipH="1">
                      <a:off x="501444"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27" name="小红书平北职场PPT7-24"/>
                    <p:cNvCxnSpPr/>
                    <p:nvPr/>
                  </p:nvCxnSpPr>
                  <p:spPr>
                    <a:xfrm>
                      <a:off x="2833735"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grpSp>
            </p:grpSp>
          </p:grpSp>
        </p:grpSp>
      </p:grpSp>
      <p:grpSp>
        <p:nvGrpSpPr>
          <p:cNvPr id="9" name="小红书平北职场PPT8"/>
          <p:cNvGrpSpPr/>
          <p:nvPr/>
        </p:nvGrpSpPr>
        <p:grpSpPr>
          <a:xfrm>
            <a:off x="334962" y="5718160"/>
            <a:ext cx="11529268" cy="875264"/>
            <a:chOff x="334962" y="5718160"/>
            <a:chExt cx="11529268" cy="875264"/>
          </a:xfrm>
        </p:grpSpPr>
        <p:sp>
          <p:nvSpPr>
            <p:cNvPr id="110" name="小红书平北职场PPT8-1"/>
            <p:cNvSpPr/>
            <p:nvPr/>
          </p:nvSpPr>
          <p:spPr>
            <a:xfrm>
              <a:off x="334962" y="5718160"/>
              <a:ext cx="11529268" cy="875264"/>
            </a:xfrm>
            <a:prstGeom prst="roundRect">
              <a:avLst>
                <a:gd name="adj" fmla="val 0"/>
              </a:avLst>
            </a:prstGeom>
            <a:gradFill flip="none" rotWithShape="1">
              <a:gsLst>
                <a:gs pos="0">
                  <a:schemeClr val="accent1">
                    <a:lumMod val="60000"/>
                    <a:lumOff val="40000"/>
                  </a:schemeClr>
                </a:gs>
                <a:gs pos="60000">
                  <a:schemeClr val="accent1"/>
                </a:gs>
              </a:gsLst>
              <a:lin ang="0" scaled="1"/>
              <a:tileRect/>
            </a:gra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1" name="小红书平北职场PPT8-2"/>
            <p:cNvSpPr/>
            <p:nvPr/>
          </p:nvSpPr>
          <p:spPr>
            <a:xfrm>
              <a:off x="435286" y="5814499"/>
              <a:ext cx="2069809" cy="68258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cs typeface="思源黑体 CN Normal" panose="020B0400000000000000" pitchFamily="34" charset="-122"/>
              </a:endParaRPr>
            </a:p>
          </p:txBody>
        </p:sp>
      </p:grpSp>
      <p:grpSp>
        <p:nvGrpSpPr>
          <p:cNvPr id="10" name="小红书平北职场PPT9"/>
          <p:cNvGrpSpPr/>
          <p:nvPr/>
        </p:nvGrpSpPr>
        <p:grpSpPr>
          <a:xfrm>
            <a:off x="568654" y="5931795"/>
            <a:ext cx="463875" cy="451953"/>
            <a:chOff x="656083" y="5922234"/>
            <a:chExt cx="366188" cy="356776"/>
          </a:xfrm>
          <a:noFill/>
        </p:grpSpPr>
        <p:sp>
          <p:nvSpPr>
            <p:cNvPr id="97" name="小红书平北职场PPT9-1"/>
            <p:cNvSpPr/>
            <p:nvPr/>
          </p:nvSpPr>
          <p:spPr>
            <a:xfrm>
              <a:off x="701193" y="60211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98" name="小红书平北职场PPT9-2"/>
            <p:cNvSpPr/>
            <p:nvPr/>
          </p:nvSpPr>
          <p:spPr>
            <a:xfrm>
              <a:off x="701193" y="60862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99" name="小红书平北职场PPT9-3"/>
            <p:cNvSpPr/>
            <p:nvPr/>
          </p:nvSpPr>
          <p:spPr>
            <a:xfrm>
              <a:off x="701193" y="6150725"/>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0" name="小红书平北职场PPT9-4"/>
            <p:cNvSpPr/>
            <p:nvPr/>
          </p:nvSpPr>
          <p:spPr>
            <a:xfrm>
              <a:off x="760235" y="60211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1" name="小红书平北职场PPT9-5"/>
            <p:cNvSpPr/>
            <p:nvPr/>
          </p:nvSpPr>
          <p:spPr>
            <a:xfrm>
              <a:off x="760235" y="60862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2" name="小红书平北职场PPT9-6"/>
            <p:cNvSpPr/>
            <p:nvPr/>
          </p:nvSpPr>
          <p:spPr>
            <a:xfrm>
              <a:off x="819939" y="60211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3" name="小红书平北职场PPT9-7"/>
            <p:cNvSpPr/>
            <p:nvPr/>
          </p:nvSpPr>
          <p:spPr>
            <a:xfrm>
              <a:off x="878981" y="60211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4" name="小红书平北职场PPT9-8"/>
            <p:cNvSpPr/>
            <p:nvPr/>
          </p:nvSpPr>
          <p:spPr>
            <a:xfrm>
              <a:off x="656083" y="5950955"/>
              <a:ext cx="301176" cy="291676"/>
            </a:xfrm>
            <a:custGeom>
              <a:avLst/>
              <a:gdLst>
                <a:gd name="connsiteX0" fmla="*/ 142628 w 301176"/>
                <a:gd name="connsiteY0" fmla="*/ 291676 h 291676"/>
                <a:gd name="connsiteX1" fmla="*/ 0 w 301176"/>
                <a:gd name="connsiteY1" fmla="*/ 291676 h 291676"/>
                <a:gd name="connsiteX2" fmla="*/ 0 w 301176"/>
                <a:gd name="connsiteY2" fmla="*/ 0 h 291676"/>
                <a:gd name="connsiteX3" fmla="*/ 301177 w 301176"/>
                <a:gd name="connsiteY3" fmla="*/ 0 h 291676"/>
                <a:gd name="connsiteX4" fmla="*/ 301177 w 301176"/>
                <a:gd name="connsiteY4" fmla="*/ 109139 h 291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176" h="291676">
                  <a:moveTo>
                    <a:pt x="142628" y="291676"/>
                  </a:moveTo>
                  <a:lnTo>
                    <a:pt x="0" y="291676"/>
                  </a:lnTo>
                  <a:lnTo>
                    <a:pt x="0" y="0"/>
                  </a:lnTo>
                  <a:lnTo>
                    <a:pt x="301177" y="0"/>
                  </a:lnTo>
                  <a:lnTo>
                    <a:pt x="301177" y="109139"/>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5" name="小红书平北职场PPT9-9"/>
            <p:cNvSpPr/>
            <p:nvPr/>
          </p:nvSpPr>
          <p:spPr>
            <a:xfrm>
              <a:off x="816622" y="6081156"/>
              <a:ext cx="205649" cy="197854"/>
            </a:xfrm>
            <a:custGeom>
              <a:avLst/>
              <a:gdLst>
                <a:gd name="connsiteX0" fmla="*/ 205649 w 205649"/>
                <a:gd name="connsiteY0" fmla="*/ 98927 h 197854"/>
                <a:gd name="connsiteX1" fmla="*/ 102825 w 205649"/>
                <a:gd name="connsiteY1" fmla="*/ 197855 h 197854"/>
                <a:gd name="connsiteX2" fmla="*/ 0 w 205649"/>
                <a:gd name="connsiteY2" fmla="*/ 98927 h 197854"/>
                <a:gd name="connsiteX3" fmla="*/ 102825 w 205649"/>
                <a:gd name="connsiteY3" fmla="*/ 0 h 197854"/>
                <a:gd name="connsiteX4" fmla="*/ 205649 w 205649"/>
                <a:gd name="connsiteY4" fmla="*/ 98927 h 19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649" h="197854">
                  <a:moveTo>
                    <a:pt x="205649" y="98927"/>
                  </a:moveTo>
                  <a:cubicBezTo>
                    <a:pt x="205649" y="153564"/>
                    <a:pt x="159613" y="197855"/>
                    <a:pt x="102825" y="197855"/>
                  </a:cubicBezTo>
                  <a:cubicBezTo>
                    <a:pt x="46036" y="197855"/>
                    <a:pt x="0" y="153564"/>
                    <a:pt x="0" y="98927"/>
                  </a:cubicBezTo>
                  <a:cubicBezTo>
                    <a:pt x="0" y="44291"/>
                    <a:pt x="46036" y="0"/>
                    <a:pt x="102825" y="0"/>
                  </a:cubicBezTo>
                  <a:cubicBezTo>
                    <a:pt x="159613" y="0"/>
                    <a:pt x="205649" y="44291"/>
                    <a:pt x="205649" y="98927"/>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6" name="小红书平北职场PPT9-10"/>
            <p:cNvSpPr/>
            <p:nvPr/>
          </p:nvSpPr>
          <p:spPr>
            <a:xfrm>
              <a:off x="919447" y="6099027"/>
              <a:ext cx="74299" cy="81056"/>
            </a:xfrm>
            <a:custGeom>
              <a:avLst/>
              <a:gdLst>
                <a:gd name="connsiteX0" fmla="*/ 0 w 74299"/>
                <a:gd name="connsiteY0" fmla="*/ 0 h 81056"/>
                <a:gd name="connsiteX1" fmla="*/ 0 w 74299"/>
                <a:gd name="connsiteY1" fmla="*/ 81057 h 81056"/>
                <a:gd name="connsiteX2" fmla="*/ 74299 w 74299"/>
                <a:gd name="connsiteY2" fmla="*/ 81057 h 81056"/>
              </a:gdLst>
              <a:ahLst/>
              <a:cxnLst>
                <a:cxn ang="0">
                  <a:pos x="connsiteX0" y="connsiteY0"/>
                </a:cxn>
                <a:cxn ang="0">
                  <a:pos x="connsiteX1" y="connsiteY1"/>
                </a:cxn>
                <a:cxn ang="0">
                  <a:pos x="connsiteX2" y="connsiteY2"/>
                </a:cxn>
              </a:cxnLst>
              <a:rect l="l" t="t" r="r" b="b"/>
              <a:pathLst>
                <a:path w="74299" h="81056">
                  <a:moveTo>
                    <a:pt x="0" y="0"/>
                  </a:moveTo>
                  <a:lnTo>
                    <a:pt x="0" y="81057"/>
                  </a:lnTo>
                  <a:lnTo>
                    <a:pt x="74299" y="81057"/>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7" name="小红书平北职场PPT9-11"/>
            <p:cNvSpPr/>
            <p:nvPr/>
          </p:nvSpPr>
          <p:spPr>
            <a:xfrm>
              <a:off x="748294" y="5922234"/>
              <a:ext cx="6633" cy="54250"/>
            </a:xfrm>
            <a:custGeom>
              <a:avLst/>
              <a:gdLst>
                <a:gd name="connsiteX0" fmla="*/ 0 w 6633"/>
                <a:gd name="connsiteY0" fmla="*/ 0 h 54250"/>
                <a:gd name="connsiteX1" fmla="*/ 0 w 6633"/>
                <a:gd name="connsiteY1" fmla="*/ 54251 h 54250"/>
              </a:gdLst>
              <a:ahLst/>
              <a:cxnLst>
                <a:cxn ang="0">
                  <a:pos x="connsiteX0" y="connsiteY0"/>
                </a:cxn>
                <a:cxn ang="0">
                  <a:pos x="connsiteX1" y="connsiteY1"/>
                </a:cxn>
              </a:cxnLst>
              <a:rect l="l" t="t" r="r" b="b"/>
              <a:pathLst>
                <a:path w="6633" h="54250">
                  <a:moveTo>
                    <a:pt x="0" y="0"/>
                  </a:moveTo>
                  <a:lnTo>
                    <a:pt x="0" y="54251"/>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8" name="小红书平北职场PPT9-12"/>
            <p:cNvSpPr/>
            <p:nvPr/>
          </p:nvSpPr>
          <p:spPr>
            <a:xfrm>
              <a:off x="807335" y="5922234"/>
              <a:ext cx="6633" cy="54250"/>
            </a:xfrm>
            <a:custGeom>
              <a:avLst/>
              <a:gdLst>
                <a:gd name="connsiteX0" fmla="*/ 0 w 6633"/>
                <a:gd name="connsiteY0" fmla="*/ 0 h 54250"/>
                <a:gd name="connsiteX1" fmla="*/ 0 w 6633"/>
                <a:gd name="connsiteY1" fmla="*/ 54251 h 54250"/>
              </a:gdLst>
              <a:ahLst/>
              <a:cxnLst>
                <a:cxn ang="0">
                  <a:pos x="connsiteX0" y="connsiteY0"/>
                </a:cxn>
                <a:cxn ang="0">
                  <a:pos x="connsiteX1" y="connsiteY1"/>
                </a:cxn>
              </a:cxnLst>
              <a:rect l="l" t="t" r="r" b="b"/>
              <a:pathLst>
                <a:path w="6633" h="54250">
                  <a:moveTo>
                    <a:pt x="0" y="0"/>
                  </a:moveTo>
                  <a:lnTo>
                    <a:pt x="0" y="54251"/>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9" name="小红书平北职场PPT9-13"/>
            <p:cNvSpPr/>
            <p:nvPr/>
          </p:nvSpPr>
          <p:spPr>
            <a:xfrm>
              <a:off x="865713" y="5922234"/>
              <a:ext cx="6633" cy="54250"/>
            </a:xfrm>
            <a:custGeom>
              <a:avLst/>
              <a:gdLst>
                <a:gd name="connsiteX0" fmla="*/ 0 w 6633"/>
                <a:gd name="connsiteY0" fmla="*/ 0 h 54250"/>
                <a:gd name="connsiteX1" fmla="*/ 0 w 6633"/>
                <a:gd name="connsiteY1" fmla="*/ 54251 h 54250"/>
              </a:gdLst>
              <a:ahLst/>
              <a:cxnLst>
                <a:cxn ang="0">
                  <a:pos x="connsiteX0" y="connsiteY0"/>
                </a:cxn>
                <a:cxn ang="0">
                  <a:pos x="connsiteX1" y="connsiteY1"/>
                </a:cxn>
              </a:cxnLst>
              <a:rect l="l" t="t" r="r" b="b"/>
              <a:pathLst>
                <a:path w="6633" h="54250">
                  <a:moveTo>
                    <a:pt x="0" y="0"/>
                  </a:moveTo>
                  <a:lnTo>
                    <a:pt x="0" y="54251"/>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grpSp>
      <p:grpSp>
        <p:nvGrpSpPr>
          <p:cNvPr id="11" name="小红书平北职场PPT10"/>
          <p:cNvGrpSpPr/>
          <p:nvPr/>
        </p:nvGrpSpPr>
        <p:grpSpPr>
          <a:xfrm>
            <a:off x="1139059" y="5863676"/>
            <a:ext cx="1892140" cy="588807"/>
            <a:chOff x="1167656" y="5828653"/>
            <a:chExt cx="1892140" cy="588807"/>
          </a:xfrm>
        </p:grpSpPr>
        <p:sp>
          <p:nvSpPr>
            <p:cNvPr id="95" name="小红书平北职场PPT10-1"/>
            <p:cNvSpPr txBox="1"/>
            <p:nvPr/>
          </p:nvSpPr>
          <p:spPr>
            <a:xfrm>
              <a:off x="1167656" y="5828653"/>
              <a:ext cx="1404830" cy="400110"/>
            </a:xfrm>
            <a:prstGeom prst="rect">
              <a:avLst/>
            </a:prstGeom>
            <a:noFill/>
          </p:spPr>
          <p:txBody>
            <a:bodyPr wrap="square" rtlCol="0">
              <a:spAutoFit/>
            </a:bodyPr>
            <a:lstStyle/>
            <a:p>
              <a:r>
                <a:rPr lang="zh-CN" altLang="en-US" sz="2000" dirty="0">
                  <a:effectLst/>
                  <a:latin typeface="+mj-ea"/>
                  <a:ea typeface="+mj-ea"/>
                  <a:cs typeface="思源黑体 CN Normal" panose="020B0400000000000000" pitchFamily="34" charset="-122"/>
                </a:rPr>
                <a:t>项目进度</a:t>
              </a:r>
              <a:endParaRPr lang="zh-CN" altLang="en-US" sz="2000" dirty="0">
                <a:effectLst/>
                <a:latin typeface="+mj-ea"/>
                <a:ea typeface="+mj-ea"/>
                <a:cs typeface="思源黑体 CN Normal" panose="020B0400000000000000" pitchFamily="34" charset="-122"/>
              </a:endParaRPr>
            </a:p>
          </p:txBody>
        </p:sp>
        <p:sp>
          <p:nvSpPr>
            <p:cNvPr id="96" name="小红书平北职场PPT10-2"/>
            <p:cNvSpPr txBox="1"/>
            <p:nvPr/>
          </p:nvSpPr>
          <p:spPr>
            <a:xfrm>
              <a:off x="1167656" y="6155850"/>
              <a:ext cx="1892140" cy="261610"/>
            </a:xfrm>
            <a:prstGeom prst="rect">
              <a:avLst/>
            </a:prstGeom>
            <a:noFill/>
          </p:spPr>
          <p:txBody>
            <a:bodyPr wrap="square" rtlCol="0">
              <a:spAutoFit/>
            </a:bodyPr>
            <a:lstStyle/>
            <a:p>
              <a:r>
                <a:rPr lang="zh-CN" altLang="en-US" sz="1100" dirty="0">
                  <a:latin typeface="+mn-ea"/>
                  <a:cs typeface="思源黑体 CN Normal" panose="020B0400000000000000" pitchFamily="34" charset="-122"/>
                </a:rPr>
                <a:t>总剩余天数</a:t>
              </a:r>
              <a:r>
                <a:rPr lang="en-US" altLang="zh-CN" sz="1100" dirty="0">
                  <a:latin typeface="+mn-ea"/>
                  <a:cs typeface="思源黑体 CN Normal" panose="020B0400000000000000" pitchFamily="34" charset="-122"/>
                </a:rPr>
                <a:t>:</a:t>
              </a:r>
              <a:r>
                <a:rPr lang="en-US" altLang="zh-CN" sz="1100" dirty="0">
                  <a:effectLst/>
                  <a:latin typeface="+mn-ea"/>
                  <a:cs typeface="思源黑体 CN Normal" panose="020B0400000000000000" pitchFamily="34" charset="-122"/>
                </a:rPr>
                <a:t>26</a:t>
              </a:r>
              <a:r>
                <a:rPr lang="zh-CN" altLang="en-US" sz="1100" dirty="0">
                  <a:effectLst/>
                  <a:latin typeface="+mn-ea"/>
                  <a:cs typeface="思源黑体 CN Normal" panose="020B0400000000000000" pitchFamily="34" charset="-122"/>
                </a:rPr>
                <a:t>天</a:t>
              </a:r>
              <a:endParaRPr lang="en-US" altLang="zh-CN" sz="1100" dirty="0">
                <a:effectLst/>
                <a:latin typeface="+mn-ea"/>
                <a:cs typeface="思源黑体 CN Normal" panose="020B0400000000000000" pitchFamily="34" charset="-122"/>
              </a:endParaRPr>
            </a:p>
          </p:txBody>
        </p:sp>
      </p:grpSp>
      <p:grpSp>
        <p:nvGrpSpPr>
          <p:cNvPr id="12" name="小红书平北职场PPT11"/>
          <p:cNvGrpSpPr/>
          <p:nvPr/>
        </p:nvGrpSpPr>
        <p:grpSpPr>
          <a:xfrm>
            <a:off x="2603912" y="5816328"/>
            <a:ext cx="9160922" cy="706366"/>
            <a:chOff x="2829218" y="5816328"/>
            <a:chExt cx="8920117" cy="706366"/>
          </a:xfrm>
        </p:grpSpPr>
        <p:grpSp>
          <p:nvGrpSpPr>
            <p:cNvPr id="63" name="组合 62"/>
            <p:cNvGrpSpPr/>
            <p:nvPr/>
          </p:nvGrpSpPr>
          <p:grpSpPr>
            <a:xfrm>
              <a:off x="2829218" y="5816328"/>
              <a:ext cx="1042647" cy="706366"/>
              <a:chOff x="2829218" y="5816328"/>
              <a:chExt cx="1042647" cy="706366"/>
            </a:xfrm>
          </p:grpSpPr>
          <p:sp>
            <p:nvSpPr>
              <p:cNvPr id="92" name="小红书平北职场PPT11-1"/>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93" name="小红书平北职场PPT11-2"/>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绩效签约率</a:t>
                </a:r>
                <a:endParaRPr lang="zh-CN" altLang="en-US" sz="1100" b="1" dirty="0">
                  <a:solidFill>
                    <a:schemeClr val="bg1"/>
                  </a:solidFill>
                  <a:effectLst/>
                  <a:latin typeface="+mn-ea"/>
                  <a:cs typeface="思源黑体 CN Normal" panose="020B0400000000000000" pitchFamily="34" charset="-122"/>
                </a:endParaRPr>
              </a:p>
            </p:txBody>
          </p:sp>
          <p:sp>
            <p:nvSpPr>
              <p:cNvPr id="94" name="小红书平北职场PPT11-3"/>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95%</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4" name="组合 63"/>
            <p:cNvGrpSpPr/>
            <p:nvPr/>
          </p:nvGrpSpPr>
          <p:grpSpPr>
            <a:xfrm>
              <a:off x="3920078" y="5816328"/>
              <a:ext cx="1111634" cy="706366"/>
              <a:chOff x="2794725" y="5816328"/>
              <a:chExt cx="1111634" cy="706366"/>
            </a:xfrm>
          </p:grpSpPr>
          <p:sp>
            <p:nvSpPr>
              <p:cNvPr id="89" name="小红书平北职场PPT11-4"/>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90" name="小红书平北职场PPT11-5"/>
              <p:cNvSpPr txBox="1"/>
              <p:nvPr/>
            </p:nvSpPr>
            <p:spPr>
              <a:xfrm>
                <a:off x="2794725" y="6222530"/>
                <a:ext cx="1111634"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核心岗到岗率</a:t>
                </a:r>
                <a:endParaRPr lang="zh-CN" altLang="en-US" sz="1100" b="1" dirty="0">
                  <a:solidFill>
                    <a:schemeClr val="bg1"/>
                  </a:solidFill>
                  <a:effectLst/>
                  <a:latin typeface="+mn-ea"/>
                  <a:cs typeface="思源黑体 CN Normal" panose="020B0400000000000000" pitchFamily="34" charset="-122"/>
                </a:endParaRPr>
              </a:p>
            </p:txBody>
          </p:sp>
          <p:sp>
            <p:nvSpPr>
              <p:cNvPr id="91" name="小红书平北职场PPT11-6"/>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98%</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5" name="组合 64"/>
            <p:cNvGrpSpPr/>
            <p:nvPr/>
          </p:nvGrpSpPr>
          <p:grpSpPr>
            <a:xfrm>
              <a:off x="5079924" y="5816328"/>
              <a:ext cx="1042647" cy="706366"/>
              <a:chOff x="2829218" y="5816328"/>
              <a:chExt cx="1042647" cy="706366"/>
            </a:xfrm>
          </p:grpSpPr>
          <p:sp>
            <p:nvSpPr>
              <p:cNvPr id="86" name="小红书平北职场PPT11-7"/>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87" name="小红书平北职场PPT11-8"/>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招聘周期</a:t>
                </a:r>
                <a:endParaRPr lang="zh-CN" altLang="en-US" sz="1100" b="1" dirty="0">
                  <a:solidFill>
                    <a:schemeClr val="bg1"/>
                  </a:solidFill>
                  <a:effectLst/>
                  <a:latin typeface="+mn-ea"/>
                  <a:cs typeface="思源黑体 CN Normal" panose="020B0400000000000000" pitchFamily="34" charset="-122"/>
                </a:endParaRPr>
              </a:p>
            </p:txBody>
          </p:sp>
          <p:sp>
            <p:nvSpPr>
              <p:cNvPr id="88" name="小红书平北职场PPT11-9"/>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32</a:t>
                </a:r>
                <a:r>
                  <a:rPr lang="zh-CN" altLang="en-US" sz="1940" b="1" dirty="0">
                    <a:solidFill>
                      <a:schemeClr val="bg1"/>
                    </a:solidFill>
                    <a:effectLst/>
                    <a:latin typeface="+mj-ea"/>
                    <a:ea typeface="+mj-ea"/>
                    <a:cs typeface="思源黑体 CN Normal" panose="020B0400000000000000" pitchFamily="34" charset="-122"/>
                  </a:rPr>
                  <a:t>天</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6" name="组合 65"/>
            <p:cNvGrpSpPr/>
            <p:nvPr/>
          </p:nvGrpSpPr>
          <p:grpSpPr>
            <a:xfrm>
              <a:off x="6087714" y="5816328"/>
              <a:ext cx="1277774" cy="706366"/>
              <a:chOff x="2711655" y="5816328"/>
              <a:chExt cx="1277774" cy="706366"/>
            </a:xfrm>
          </p:grpSpPr>
          <p:sp>
            <p:nvSpPr>
              <p:cNvPr id="83" name="小红书平北职场PPT11-10"/>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84" name="小红书平北职场PPT11-11"/>
              <p:cNvSpPr txBox="1"/>
              <p:nvPr/>
            </p:nvSpPr>
            <p:spPr>
              <a:xfrm>
                <a:off x="2711655" y="6222530"/>
                <a:ext cx="1277774"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关键人才留存率</a:t>
                </a:r>
                <a:endParaRPr lang="zh-CN" altLang="en-US" sz="1100" b="1" dirty="0">
                  <a:solidFill>
                    <a:schemeClr val="bg1"/>
                  </a:solidFill>
                  <a:effectLst/>
                  <a:latin typeface="+mn-ea"/>
                  <a:cs typeface="思源黑体 CN Normal" panose="020B0400000000000000" pitchFamily="34" charset="-122"/>
                </a:endParaRPr>
              </a:p>
            </p:txBody>
          </p:sp>
          <p:sp>
            <p:nvSpPr>
              <p:cNvPr id="85" name="小红书平北职场PPT11-12"/>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92%</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7" name="组合 66"/>
            <p:cNvGrpSpPr/>
            <p:nvPr/>
          </p:nvGrpSpPr>
          <p:grpSpPr>
            <a:xfrm>
              <a:off x="7330630" y="5816328"/>
              <a:ext cx="1042647" cy="706366"/>
              <a:chOff x="2829218" y="5816328"/>
              <a:chExt cx="1042647" cy="706366"/>
            </a:xfrm>
          </p:grpSpPr>
          <p:sp>
            <p:nvSpPr>
              <p:cNvPr id="80" name="小红书平北职场PPT11-13"/>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81" name="小红书平北职场PPT11-14"/>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校招完成</a:t>
                </a:r>
                <a:endParaRPr lang="zh-CN" altLang="en-US" sz="1100" b="1" dirty="0">
                  <a:solidFill>
                    <a:schemeClr val="bg1"/>
                  </a:solidFill>
                  <a:effectLst/>
                  <a:latin typeface="+mn-ea"/>
                  <a:cs typeface="思源黑体 CN Normal" panose="020B0400000000000000" pitchFamily="34" charset="-122"/>
                </a:endParaRPr>
              </a:p>
            </p:txBody>
          </p:sp>
          <p:sp>
            <p:nvSpPr>
              <p:cNvPr id="82" name="小红书平北职场PPT11-15"/>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30</a:t>
                </a:r>
                <a:r>
                  <a:rPr lang="zh-CN" altLang="en-US" sz="1940" b="1" dirty="0">
                    <a:solidFill>
                      <a:schemeClr val="bg1"/>
                    </a:solidFill>
                    <a:effectLst/>
                    <a:latin typeface="+mj-ea"/>
                    <a:ea typeface="+mj-ea"/>
                    <a:cs typeface="思源黑体 CN Normal" panose="020B0400000000000000" pitchFamily="34" charset="-122"/>
                  </a:rPr>
                  <a:t>人</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8" name="组合 67"/>
            <p:cNvGrpSpPr/>
            <p:nvPr/>
          </p:nvGrpSpPr>
          <p:grpSpPr>
            <a:xfrm>
              <a:off x="8455983" y="5816328"/>
              <a:ext cx="1042647" cy="706366"/>
              <a:chOff x="2829218" y="5816328"/>
              <a:chExt cx="1042647" cy="706366"/>
            </a:xfrm>
          </p:grpSpPr>
          <p:sp>
            <p:nvSpPr>
              <p:cNvPr id="77" name="小红书平北职场PPT11-16"/>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78" name="小红书平北职场PPT11-17"/>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招聘成本降</a:t>
                </a:r>
                <a:endParaRPr lang="zh-CN" altLang="en-US" sz="1100" b="1" dirty="0">
                  <a:solidFill>
                    <a:schemeClr val="bg1"/>
                  </a:solidFill>
                  <a:effectLst/>
                  <a:latin typeface="+mn-ea"/>
                  <a:cs typeface="思源黑体 CN Normal" panose="020B0400000000000000" pitchFamily="34" charset="-122"/>
                </a:endParaRPr>
              </a:p>
            </p:txBody>
          </p:sp>
          <p:sp>
            <p:nvSpPr>
              <p:cNvPr id="79" name="小红书平北职场PPT11-18"/>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8%</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9" name="组合 68"/>
            <p:cNvGrpSpPr/>
            <p:nvPr/>
          </p:nvGrpSpPr>
          <p:grpSpPr>
            <a:xfrm>
              <a:off x="9581336" y="5816328"/>
              <a:ext cx="1042647" cy="706366"/>
              <a:chOff x="2829218" y="5816328"/>
              <a:chExt cx="1042647" cy="706366"/>
            </a:xfrm>
          </p:grpSpPr>
          <p:sp>
            <p:nvSpPr>
              <p:cNvPr id="74" name="小红书平北职场PPT11-19"/>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75" name="小红书平北职场PPT11-20"/>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内推占比</a:t>
                </a:r>
                <a:endParaRPr lang="zh-CN" altLang="en-US" sz="1100" b="1" dirty="0">
                  <a:solidFill>
                    <a:schemeClr val="bg1"/>
                  </a:solidFill>
                  <a:effectLst/>
                  <a:latin typeface="+mn-ea"/>
                  <a:cs typeface="思源黑体 CN Normal" panose="020B0400000000000000" pitchFamily="34" charset="-122"/>
                </a:endParaRPr>
              </a:p>
            </p:txBody>
          </p:sp>
          <p:sp>
            <p:nvSpPr>
              <p:cNvPr id="76" name="小红书平北职场PPT11-21"/>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30%</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70" name="组合 69"/>
            <p:cNvGrpSpPr/>
            <p:nvPr/>
          </p:nvGrpSpPr>
          <p:grpSpPr>
            <a:xfrm>
              <a:off x="10706688" y="5816328"/>
              <a:ext cx="1042647" cy="706366"/>
              <a:chOff x="2829218" y="5816328"/>
              <a:chExt cx="1042647" cy="706366"/>
            </a:xfrm>
          </p:grpSpPr>
          <p:sp>
            <p:nvSpPr>
              <p:cNvPr id="71" name="小红书平北职场PPT11-22"/>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72" name="小红书平北职场PPT11-23"/>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绩奖关联</a:t>
                </a:r>
                <a:endParaRPr lang="zh-CN" altLang="en-US" sz="1100" b="1" dirty="0">
                  <a:solidFill>
                    <a:schemeClr val="bg1"/>
                  </a:solidFill>
                  <a:effectLst/>
                  <a:latin typeface="+mn-ea"/>
                  <a:cs typeface="思源黑体 CN Normal" panose="020B0400000000000000" pitchFamily="34" charset="-122"/>
                </a:endParaRPr>
              </a:p>
            </p:txBody>
          </p:sp>
          <p:sp>
            <p:nvSpPr>
              <p:cNvPr id="73" name="小红书平北职场PPT11-24"/>
              <p:cNvSpPr txBox="1"/>
              <p:nvPr/>
            </p:nvSpPr>
            <p:spPr>
              <a:xfrm>
                <a:off x="2868232" y="5873468"/>
                <a:ext cx="995616"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100%</a:t>
                </a:r>
                <a:endParaRPr lang="en-US" altLang="zh-CN" sz="1940" b="1" dirty="0">
                  <a:solidFill>
                    <a:schemeClr val="bg1"/>
                  </a:solidFill>
                  <a:effectLst/>
                  <a:latin typeface="+mj-ea"/>
                  <a:ea typeface="+mj-ea"/>
                  <a:cs typeface="思源黑体 CN Normal" panose="020B0400000000000000" pitchFamily="34" charset="-122"/>
                </a:endParaRPr>
              </a:p>
            </p:txBody>
          </p:sp>
        </p:grpSp>
      </p:grpSp>
      <p:grpSp>
        <p:nvGrpSpPr>
          <p:cNvPr id="13" name="小红书平北职场PPT12"/>
          <p:cNvGrpSpPr/>
          <p:nvPr/>
        </p:nvGrpSpPr>
        <p:grpSpPr>
          <a:xfrm>
            <a:off x="455957" y="1855765"/>
            <a:ext cx="1089134" cy="3661436"/>
            <a:chOff x="413227" y="1855765"/>
            <a:chExt cx="1089134" cy="3661436"/>
          </a:xfrm>
        </p:grpSpPr>
        <p:grpSp>
          <p:nvGrpSpPr>
            <p:cNvPr id="54" name="组合 53"/>
            <p:cNvGrpSpPr/>
            <p:nvPr/>
          </p:nvGrpSpPr>
          <p:grpSpPr>
            <a:xfrm>
              <a:off x="413227" y="1855765"/>
              <a:ext cx="1089134" cy="3661436"/>
              <a:chOff x="413227" y="1855765"/>
              <a:chExt cx="1089134" cy="3661436"/>
            </a:xfrm>
          </p:grpSpPr>
          <p:grpSp>
            <p:nvGrpSpPr>
              <p:cNvPr id="57" name="组合 56"/>
              <p:cNvGrpSpPr/>
              <p:nvPr/>
            </p:nvGrpSpPr>
            <p:grpSpPr>
              <a:xfrm>
                <a:off x="413227" y="1855765"/>
                <a:ext cx="1089134" cy="3661436"/>
                <a:chOff x="442914" y="1295953"/>
                <a:chExt cx="617536" cy="5228673"/>
              </a:xfrm>
            </p:grpSpPr>
            <p:sp>
              <p:nvSpPr>
                <p:cNvPr id="61" name="小红书平北职场PPT12-1"/>
                <p:cNvSpPr/>
                <p:nvPr/>
              </p:nvSpPr>
              <p:spPr>
                <a:xfrm>
                  <a:off x="442914" y="1295953"/>
                  <a:ext cx="617536" cy="2470376"/>
                </a:xfrm>
                <a:prstGeom prst="rect">
                  <a:avLst/>
                </a:prstGeom>
                <a:gradFill flip="none" rotWithShape="1">
                  <a:gsLst>
                    <a:gs pos="0">
                      <a:schemeClr val="accent2">
                        <a:lumMod val="60000"/>
                        <a:lumOff val="4000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ea typeface="+mj-ea"/>
                    <a:cs typeface="思源黑体 CN Normal" panose="020B0400000000000000" pitchFamily="34" charset="-122"/>
                  </a:endParaRPr>
                </a:p>
              </p:txBody>
            </p:sp>
            <p:sp>
              <p:nvSpPr>
                <p:cNvPr id="62" name="小红书平北职场PPT12-2"/>
                <p:cNvSpPr/>
                <p:nvPr/>
              </p:nvSpPr>
              <p:spPr>
                <a:xfrm>
                  <a:off x="442914" y="3955680"/>
                  <a:ext cx="617536" cy="2568946"/>
                </a:xfrm>
                <a:prstGeom prst="rect">
                  <a:avLst/>
                </a:prstGeom>
                <a:gradFill flip="none" rotWithShape="1">
                  <a:gsLst>
                    <a:gs pos="0">
                      <a:schemeClr val="accent2">
                        <a:lumMod val="60000"/>
                        <a:lumOff val="4000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ea typeface="+mj-ea"/>
                    <a:cs typeface="思源黑体 CN Normal" panose="020B0400000000000000" pitchFamily="34" charset="-122"/>
                  </a:endParaRPr>
                </a:p>
              </p:txBody>
            </p:sp>
          </p:grpSp>
          <p:grpSp>
            <p:nvGrpSpPr>
              <p:cNvPr id="58" name="组合 57"/>
              <p:cNvGrpSpPr/>
              <p:nvPr/>
            </p:nvGrpSpPr>
            <p:grpSpPr>
              <a:xfrm>
                <a:off x="469329" y="2796548"/>
                <a:ext cx="976930" cy="2457559"/>
                <a:chOff x="494306" y="2703560"/>
                <a:chExt cx="1548535" cy="2457559"/>
              </a:xfrm>
            </p:grpSpPr>
            <p:sp>
              <p:nvSpPr>
                <p:cNvPr id="59" name="小红书平北职场PPT12-3"/>
                <p:cNvSpPr txBox="1"/>
                <p:nvPr/>
              </p:nvSpPr>
              <p:spPr>
                <a:xfrm>
                  <a:off x="494306" y="2703560"/>
                  <a:ext cx="1548535" cy="707886"/>
                </a:xfrm>
                <a:prstGeom prst="rect">
                  <a:avLst/>
                </a:prstGeom>
                <a:noFill/>
              </p:spPr>
              <p:txBody>
                <a:bodyPr wrap="square">
                  <a:spAutoFit/>
                </a:bodyPr>
                <a:lstStyle/>
                <a:p>
                  <a:pPr algn="ctr"/>
                  <a:r>
                    <a:rPr lang="zh-CN" altLang="en-US" sz="2000" dirty="0">
                      <a:solidFill>
                        <a:schemeClr val="bg1"/>
                      </a:solidFill>
                      <a:latin typeface="+mj-ea"/>
                      <a:ea typeface="+mj-ea"/>
                      <a:cs typeface="思源黑体 CN Normal" panose="020B0400000000000000" pitchFamily="34" charset="-122"/>
                    </a:rPr>
                    <a:t>绩效</a:t>
                  </a:r>
                  <a:endParaRPr lang="en-US" altLang="zh-CN" sz="2000" dirty="0">
                    <a:solidFill>
                      <a:schemeClr val="bg1"/>
                    </a:solidFill>
                    <a:latin typeface="+mj-ea"/>
                    <a:ea typeface="+mj-ea"/>
                    <a:cs typeface="思源黑体 CN Normal" panose="020B0400000000000000" pitchFamily="34" charset="-122"/>
                  </a:endParaRPr>
                </a:p>
                <a:p>
                  <a:pPr algn="ctr"/>
                  <a:r>
                    <a:rPr lang="zh-CN" altLang="en-US" sz="2000" dirty="0">
                      <a:solidFill>
                        <a:schemeClr val="bg1"/>
                      </a:solidFill>
                      <a:latin typeface="+mj-ea"/>
                      <a:ea typeface="+mj-ea"/>
                      <a:cs typeface="思源黑体 CN Normal" panose="020B0400000000000000" pitchFamily="34" charset="-122"/>
                    </a:rPr>
                    <a:t>制定</a:t>
                  </a:r>
                  <a:endParaRPr lang="zh-CN" altLang="en-US" sz="2000" dirty="0">
                    <a:solidFill>
                      <a:schemeClr val="bg1"/>
                    </a:solidFill>
                    <a:latin typeface="+mj-ea"/>
                    <a:ea typeface="+mj-ea"/>
                    <a:cs typeface="思源黑体 CN Normal" panose="020B0400000000000000" pitchFamily="34" charset="-122"/>
                  </a:endParaRPr>
                </a:p>
              </p:txBody>
            </p:sp>
            <p:sp>
              <p:nvSpPr>
                <p:cNvPr id="60" name="小红书平北职场PPT12-4"/>
                <p:cNvSpPr txBox="1"/>
                <p:nvPr/>
              </p:nvSpPr>
              <p:spPr>
                <a:xfrm>
                  <a:off x="494306" y="4453233"/>
                  <a:ext cx="1548535" cy="707886"/>
                </a:xfrm>
                <a:prstGeom prst="rect">
                  <a:avLst/>
                </a:prstGeom>
                <a:noFill/>
              </p:spPr>
              <p:txBody>
                <a:bodyPr wrap="square">
                  <a:spAutoFit/>
                </a:bodyPr>
                <a:lstStyle/>
                <a:p>
                  <a:pPr algn="ctr"/>
                  <a:r>
                    <a:rPr lang="zh-CN" altLang="en-US" sz="2000" dirty="0">
                      <a:solidFill>
                        <a:schemeClr val="bg1"/>
                      </a:solidFill>
                      <a:latin typeface="+mj-ea"/>
                      <a:ea typeface="+mj-ea"/>
                      <a:cs typeface="思源黑体 CN Normal" panose="020B0400000000000000" pitchFamily="34" charset="-122"/>
                    </a:rPr>
                    <a:t>招聘</a:t>
                  </a:r>
                  <a:endParaRPr lang="en-US" altLang="zh-CN" sz="2000" dirty="0">
                    <a:solidFill>
                      <a:schemeClr val="bg1"/>
                    </a:solidFill>
                    <a:latin typeface="+mj-ea"/>
                    <a:ea typeface="+mj-ea"/>
                    <a:cs typeface="思源黑体 CN Normal" panose="020B0400000000000000" pitchFamily="34" charset="-122"/>
                  </a:endParaRPr>
                </a:p>
                <a:p>
                  <a:pPr algn="ctr"/>
                  <a:r>
                    <a:rPr lang="zh-CN" altLang="en-US" sz="2000" dirty="0">
                      <a:solidFill>
                        <a:schemeClr val="bg1"/>
                      </a:solidFill>
                      <a:latin typeface="+mj-ea"/>
                      <a:ea typeface="+mj-ea"/>
                      <a:cs typeface="思源黑体 CN Normal" panose="020B0400000000000000" pitchFamily="34" charset="-122"/>
                    </a:rPr>
                    <a:t>安排</a:t>
                  </a:r>
                  <a:endParaRPr lang="zh-CN" altLang="en-US" sz="2000" dirty="0">
                    <a:solidFill>
                      <a:schemeClr val="bg1"/>
                    </a:solidFill>
                    <a:latin typeface="+mj-ea"/>
                    <a:ea typeface="+mj-ea"/>
                    <a:cs typeface="思源黑体 CN Normal" panose="020B0400000000000000" pitchFamily="34" charset="-122"/>
                  </a:endParaRPr>
                </a:p>
              </p:txBody>
            </p:sp>
          </p:grpSp>
        </p:grpSp>
        <p:pic>
          <p:nvPicPr>
            <p:cNvPr id="55" name="小红书平北职场PPT12-5"/>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1985" y="2191479"/>
              <a:ext cx="509248" cy="509248"/>
            </a:xfrm>
            <a:prstGeom prst="rect">
              <a:avLst/>
            </a:prstGeom>
            <a:effectLst>
              <a:outerShdw blurRad="50800" dist="38100" dir="5400000" algn="t" rotWithShape="0">
                <a:srgbClr val="420003">
                  <a:alpha val="20000"/>
                </a:srgbClr>
              </a:outerShdw>
            </a:effectLst>
          </p:spPr>
        </p:pic>
        <p:pic>
          <p:nvPicPr>
            <p:cNvPr id="56" name="小红书平北职场PPT12-6"/>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985" y="3949938"/>
              <a:ext cx="509248" cy="509248"/>
            </a:xfrm>
            <a:prstGeom prst="rect">
              <a:avLst/>
            </a:prstGeom>
            <a:effectLst>
              <a:outerShdw blurRad="50800" dist="38100" dir="5400000" algn="t" rotWithShape="0">
                <a:srgbClr val="420003">
                  <a:alpha val="20000"/>
                </a:srgbClr>
              </a:outerShdw>
            </a:effectLst>
          </p:spPr>
        </p:pic>
      </p:grpSp>
      <p:grpSp>
        <p:nvGrpSpPr>
          <p:cNvPr id="14" name="小红书平北职场PPT13"/>
          <p:cNvGrpSpPr/>
          <p:nvPr/>
        </p:nvGrpSpPr>
        <p:grpSpPr>
          <a:xfrm>
            <a:off x="2332819" y="2119275"/>
            <a:ext cx="4180444" cy="374119"/>
            <a:chOff x="1690107" y="2666752"/>
            <a:chExt cx="1867767" cy="259972"/>
          </a:xfrm>
        </p:grpSpPr>
        <p:sp>
          <p:nvSpPr>
            <p:cNvPr id="52" name="小红书平北职场PPT13-1"/>
            <p:cNvSpPr/>
            <p:nvPr/>
          </p:nvSpPr>
          <p:spPr>
            <a:xfrm>
              <a:off x="1690107" y="2666752"/>
              <a:ext cx="1867767" cy="259972"/>
            </a:xfrm>
            <a:prstGeom prst="roundRect">
              <a:avLst>
                <a:gd name="adj" fmla="val 14096"/>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53" name="小红书平北职场PPT13-2"/>
            <p:cNvSpPr txBox="1"/>
            <p:nvPr/>
          </p:nvSpPr>
          <p:spPr>
            <a:xfrm>
              <a:off x="1781553" y="2695346"/>
              <a:ext cx="1686964"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100%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绩效体系重构 </a:t>
              </a:r>
              <a:r>
                <a:rPr lang="zh-CN" altLang="en-US" sz="1100" b="0" i="0" dirty="0">
                  <a:solidFill>
                    <a:schemeClr val="bg1"/>
                  </a:solidFill>
                  <a:latin typeface="+mj-ea"/>
                  <a:ea typeface="+mj-ea"/>
                  <a:cs typeface="思源黑体 CN Normal" panose="020B0400000000000000" pitchFamily="34" charset="-122"/>
                </a:rPr>
                <a:t>：</a:t>
              </a:r>
              <a:r>
                <a:rPr lang="en-US" altLang="zh-CN" sz="1100" dirty="0">
                  <a:solidFill>
                    <a:schemeClr val="bg1"/>
                  </a:solidFill>
                  <a:effectLst/>
                  <a:latin typeface="+mj-ea"/>
                  <a:ea typeface="+mj-ea"/>
                  <a:cs typeface="思源黑体 CN Normal" panose="020B0400000000000000" pitchFamily="34" charset="-122"/>
                </a:rPr>
                <a:t> </a:t>
              </a:r>
              <a:r>
                <a:rPr lang="zh-CN" altLang="en-US" sz="1100" dirty="0">
                  <a:solidFill>
                    <a:schemeClr val="bg1"/>
                  </a:solidFill>
                  <a:effectLst/>
                  <a:latin typeface="+mj-ea"/>
                  <a:ea typeface="+mj-ea"/>
                  <a:cs typeface="思源黑体 CN Normal" panose="020B0400000000000000" pitchFamily="34" charset="-122"/>
                </a:rPr>
                <a:t>流程再造与指标库建设</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5" name="小红书平北职场PPT14"/>
          <p:cNvGrpSpPr/>
          <p:nvPr/>
        </p:nvGrpSpPr>
        <p:grpSpPr>
          <a:xfrm>
            <a:off x="3810151" y="2950213"/>
            <a:ext cx="6919308" cy="374118"/>
            <a:chOff x="1688374" y="2658819"/>
            <a:chExt cx="3091454" cy="259972"/>
          </a:xfrm>
        </p:grpSpPr>
        <p:sp>
          <p:nvSpPr>
            <p:cNvPr id="50" name="小红书平北职场PPT14-1"/>
            <p:cNvSpPr/>
            <p:nvPr/>
          </p:nvSpPr>
          <p:spPr>
            <a:xfrm>
              <a:off x="1688374" y="2658819"/>
              <a:ext cx="3091454" cy="259972"/>
            </a:xfrm>
            <a:prstGeom prst="roundRect">
              <a:avLst>
                <a:gd name="adj" fmla="val 14096"/>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51" name="小红书平北职场PPT14-2"/>
            <p:cNvSpPr txBox="1"/>
            <p:nvPr/>
          </p:nvSpPr>
          <p:spPr>
            <a:xfrm>
              <a:off x="1711021" y="2687406"/>
              <a:ext cx="1834874" cy="192485"/>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80%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绩效数字化落地：</a:t>
              </a:r>
              <a:r>
                <a:rPr lang="zh-CN" altLang="en-US" sz="1100" dirty="0">
                  <a:solidFill>
                    <a:schemeClr val="bg1"/>
                  </a:solidFill>
                  <a:effectLst/>
                  <a:latin typeface="+mj-ea"/>
                  <a:ea typeface="+mj-ea"/>
                  <a:cs typeface="思源黑体 CN Normal" panose="020B0400000000000000" pitchFamily="34" charset="-122"/>
                </a:rPr>
                <a:t>系统实施与线上流程部署</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6" name="小红书平北职场PPT15"/>
          <p:cNvGrpSpPr/>
          <p:nvPr/>
        </p:nvGrpSpPr>
        <p:grpSpPr>
          <a:xfrm>
            <a:off x="7189268" y="2345139"/>
            <a:ext cx="4315617" cy="374119"/>
            <a:chOff x="1688373" y="2634980"/>
            <a:chExt cx="1928160" cy="259972"/>
          </a:xfrm>
        </p:grpSpPr>
        <p:sp>
          <p:nvSpPr>
            <p:cNvPr id="48" name="小红书平北职场PPT15-1"/>
            <p:cNvSpPr/>
            <p:nvPr/>
          </p:nvSpPr>
          <p:spPr>
            <a:xfrm>
              <a:off x="1688373" y="2634980"/>
              <a:ext cx="1928160" cy="259972"/>
            </a:xfrm>
            <a:prstGeom prst="roundRect">
              <a:avLst>
                <a:gd name="adj" fmla="val 14096"/>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9" name="小红书平北职场PPT15-2"/>
            <p:cNvSpPr txBox="1"/>
            <p:nvPr/>
          </p:nvSpPr>
          <p:spPr>
            <a:xfrm>
              <a:off x="1762089" y="2671517"/>
              <a:ext cx="1753140"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90%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管理者绩效赋能：</a:t>
              </a:r>
              <a:r>
                <a:rPr lang="zh-CN" altLang="en-US" sz="1100" dirty="0">
                  <a:solidFill>
                    <a:schemeClr val="bg1"/>
                  </a:solidFill>
                  <a:effectLst/>
                  <a:latin typeface="+mj-ea"/>
                  <a:ea typeface="+mj-ea"/>
                  <a:cs typeface="思源黑体 CN Normal" panose="020B0400000000000000" pitchFamily="34" charset="-122"/>
                </a:rPr>
                <a:t>绩效管理全流程培训认证</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7" name="小红书平北职场PPT16"/>
          <p:cNvGrpSpPr/>
          <p:nvPr/>
        </p:nvGrpSpPr>
        <p:grpSpPr>
          <a:xfrm>
            <a:off x="7710371" y="4903977"/>
            <a:ext cx="3866142" cy="374119"/>
            <a:chOff x="1690107" y="2666752"/>
            <a:chExt cx="1727341" cy="259972"/>
          </a:xfrm>
        </p:grpSpPr>
        <p:sp>
          <p:nvSpPr>
            <p:cNvPr id="46" name="小红书平北职场PPT16-1"/>
            <p:cNvSpPr/>
            <p:nvPr/>
          </p:nvSpPr>
          <p:spPr>
            <a:xfrm>
              <a:off x="1690107" y="2666752"/>
              <a:ext cx="1703169" cy="259972"/>
            </a:xfrm>
            <a:prstGeom prst="roundRect">
              <a:avLst>
                <a:gd name="adj" fmla="val 14096"/>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7" name="小红书平北职场PPT16-2"/>
            <p:cNvSpPr txBox="1"/>
            <p:nvPr/>
          </p:nvSpPr>
          <p:spPr>
            <a:xfrm>
              <a:off x="1730484" y="2695346"/>
              <a:ext cx="1686964"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100%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关键技术人才猎聘 </a:t>
              </a:r>
              <a:r>
                <a:rPr lang="zh-CN" altLang="en-US" sz="1100" b="0" i="0" dirty="0">
                  <a:solidFill>
                    <a:schemeClr val="bg1"/>
                  </a:solidFill>
                  <a:latin typeface="+mj-ea"/>
                  <a:ea typeface="+mj-ea"/>
                  <a:cs typeface="思源黑体 CN Normal" panose="020B0400000000000000" pitchFamily="34" charset="-122"/>
                </a:rPr>
                <a:t>：</a:t>
              </a:r>
              <a:r>
                <a:rPr lang="zh-CN" altLang="en-US" sz="1100" dirty="0">
                  <a:solidFill>
                    <a:schemeClr val="bg1"/>
                  </a:solidFill>
                  <a:effectLst/>
                  <a:latin typeface="+mj-ea"/>
                  <a:ea typeface="+mj-ea"/>
                  <a:cs typeface="思源黑体 CN Normal" panose="020B0400000000000000" pitchFamily="34" charset="-122"/>
                </a:rPr>
                <a:t>核心技术岗位系统性寻访</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8" name="小红书平北职场PPT17"/>
          <p:cNvGrpSpPr/>
          <p:nvPr/>
        </p:nvGrpSpPr>
        <p:grpSpPr>
          <a:xfrm>
            <a:off x="1769068" y="3747861"/>
            <a:ext cx="3530772" cy="374119"/>
            <a:chOff x="1690107" y="2666752"/>
            <a:chExt cx="1577502" cy="259972"/>
          </a:xfrm>
        </p:grpSpPr>
        <p:sp>
          <p:nvSpPr>
            <p:cNvPr id="44" name="小红书平北职场PPT17-1"/>
            <p:cNvSpPr/>
            <p:nvPr/>
          </p:nvSpPr>
          <p:spPr>
            <a:xfrm>
              <a:off x="1690107" y="2666752"/>
              <a:ext cx="1577502" cy="259972"/>
            </a:xfrm>
            <a:prstGeom prst="roundRect">
              <a:avLst>
                <a:gd name="adj" fmla="val 14096"/>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5" name="小红书平北职场PPT17-2"/>
            <p:cNvSpPr txBox="1"/>
            <p:nvPr/>
          </p:nvSpPr>
          <p:spPr>
            <a:xfrm>
              <a:off x="1715163" y="2703289"/>
              <a:ext cx="1537125"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100%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全球人才引进 </a:t>
              </a:r>
              <a:r>
                <a:rPr lang="zh-CN" altLang="en-US" sz="1100" b="0" i="0" dirty="0">
                  <a:solidFill>
                    <a:schemeClr val="bg1"/>
                  </a:solidFill>
                  <a:latin typeface="+mj-ea"/>
                  <a:ea typeface="+mj-ea"/>
                  <a:cs typeface="思源黑体 CN Normal" panose="020B0400000000000000" pitchFamily="34" charset="-122"/>
                </a:rPr>
                <a:t>：</a:t>
              </a:r>
              <a:r>
                <a:rPr lang="zh-CN" altLang="en-US" sz="1100" dirty="0">
                  <a:solidFill>
                    <a:schemeClr val="bg1"/>
                  </a:solidFill>
                  <a:effectLst/>
                  <a:latin typeface="+mj-ea"/>
                  <a:ea typeface="+mj-ea"/>
                  <a:cs typeface="思源黑体 CN Normal" panose="020B0400000000000000" pitchFamily="34" charset="-122"/>
                </a:rPr>
                <a:t>海外渠道搭建与人才落地</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9" name="小红书平北职场PPT18"/>
          <p:cNvGrpSpPr/>
          <p:nvPr/>
        </p:nvGrpSpPr>
        <p:grpSpPr>
          <a:xfrm>
            <a:off x="5836221" y="4054261"/>
            <a:ext cx="5494054" cy="374119"/>
            <a:chOff x="1688373" y="2634980"/>
            <a:chExt cx="2454670" cy="259972"/>
          </a:xfrm>
        </p:grpSpPr>
        <p:sp>
          <p:nvSpPr>
            <p:cNvPr id="42" name="小红书平北职场PPT18-1"/>
            <p:cNvSpPr/>
            <p:nvPr/>
          </p:nvSpPr>
          <p:spPr>
            <a:xfrm>
              <a:off x="1688373" y="2634980"/>
              <a:ext cx="2454670" cy="259972"/>
            </a:xfrm>
            <a:prstGeom prst="roundRect">
              <a:avLst>
                <a:gd name="adj" fmla="val 14096"/>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3" name="小红书平北职场PPT18-2"/>
            <p:cNvSpPr txBox="1"/>
            <p:nvPr/>
          </p:nvSpPr>
          <p:spPr>
            <a:xfrm>
              <a:off x="1762089" y="2671517"/>
              <a:ext cx="1753140"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90%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校园招聘体系重建：</a:t>
              </a:r>
              <a:r>
                <a:rPr lang="zh-CN" altLang="en-US" sz="1100" dirty="0">
                  <a:solidFill>
                    <a:schemeClr val="bg1"/>
                  </a:solidFill>
                  <a:effectLst/>
                  <a:latin typeface="+mj-ea"/>
                  <a:ea typeface="+mj-ea"/>
                  <a:cs typeface="思源黑体 CN Normal" panose="020B0400000000000000" pitchFamily="34" charset="-122"/>
                </a:rPr>
                <a:t>流程优化与高校战略合作</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20" name="小红书平北职场PPT19"/>
          <p:cNvGrpSpPr/>
          <p:nvPr/>
        </p:nvGrpSpPr>
        <p:grpSpPr>
          <a:xfrm>
            <a:off x="2225798" y="4659006"/>
            <a:ext cx="4961945" cy="374119"/>
            <a:chOff x="1690107" y="2666752"/>
            <a:chExt cx="2216931" cy="259972"/>
          </a:xfrm>
        </p:grpSpPr>
        <p:sp>
          <p:nvSpPr>
            <p:cNvPr id="40" name="小红书平北职场PPT19-1"/>
            <p:cNvSpPr/>
            <p:nvPr/>
          </p:nvSpPr>
          <p:spPr>
            <a:xfrm>
              <a:off x="1690107" y="2666752"/>
              <a:ext cx="2216931" cy="259972"/>
            </a:xfrm>
            <a:prstGeom prst="roundRect">
              <a:avLst>
                <a:gd name="adj" fmla="val 14096"/>
              </a:avLst>
            </a:prstGeom>
            <a:gradFill>
              <a:gsLst>
                <a:gs pos="0">
                  <a:schemeClr val="accent2">
                    <a:lumMod val="60000"/>
                    <a:lumOff val="40000"/>
                  </a:schemeClr>
                </a:gs>
                <a:gs pos="100000">
                  <a:schemeClr val="accent2"/>
                </a:gs>
              </a:gsLst>
              <a:lin ang="0" scaled="1"/>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1" name="小红书平北职场PPT19-2"/>
            <p:cNvSpPr txBox="1"/>
            <p:nvPr/>
          </p:nvSpPr>
          <p:spPr>
            <a:xfrm>
              <a:off x="1715162" y="2703289"/>
              <a:ext cx="1641419"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90%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雇主品牌升级</a:t>
              </a:r>
              <a:r>
                <a:rPr lang="zh-CN" altLang="en-US" sz="1100" b="0" i="0" dirty="0">
                  <a:solidFill>
                    <a:schemeClr val="bg1"/>
                  </a:solidFill>
                  <a:latin typeface="+mj-ea"/>
                  <a:ea typeface="+mj-ea"/>
                  <a:cs typeface="思源黑体 CN Normal" panose="020B0400000000000000" pitchFamily="34" charset="-122"/>
                </a:rPr>
                <a:t>：</a:t>
              </a:r>
              <a:r>
                <a:rPr lang="zh-CN" altLang="en-US" sz="1100" dirty="0">
                  <a:solidFill>
                    <a:schemeClr val="bg1"/>
                  </a:solidFill>
                  <a:effectLst/>
                  <a:latin typeface="+mj-ea"/>
                  <a:ea typeface="+mj-ea"/>
                  <a:cs typeface="思源黑体 CN Normal" panose="020B0400000000000000" pitchFamily="34" charset="-122"/>
                </a:rPr>
                <a:t>品牌形象提升与影响力拓展</a:t>
              </a:r>
              <a:endParaRPr lang="zh-CN" altLang="en-US" sz="1100" dirty="0">
                <a:solidFill>
                  <a:schemeClr val="bg1"/>
                </a:solidFill>
                <a:effectLst/>
                <a:latin typeface="+mj-ea"/>
                <a:ea typeface="+mj-ea"/>
                <a:cs typeface="思源黑体 CN Normal" panose="020B0400000000000000" pitchFamily="34" charset="-122"/>
              </a:endParaRPr>
            </a:p>
          </p:txBody>
        </p:sp>
      </p:grpSp>
    </p:spTree>
    <p:custDataLst>
      <p:tags r:id="rId7"/>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小红书平北职场PPT1"/>
          <p:cNvSpPr/>
          <p:nvPr/>
        </p:nvSpPr>
        <p:spPr>
          <a:xfrm>
            <a:off x="334963" y="851921"/>
            <a:ext cx="11522075" cy="4168119"/>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4" name="小红书平北职场PPT2"/>
          <p:cNvGrpSpPr/>
          <p:nvPr/>
        </p:nvGrpSpPr>
        <p:grpSpPr>
          <a:xfrm>
            <a:off x="351686" y="5260184"/>
            <a:ext cx="11522075" cy="1170860"/>
            <a:chOff x="351687" y="5288547"/>
            <a:chExt cx="11488624" cy="1170860"/>
          </a:xfrm>
        </p:grpSpPr>
        <p:grpSp>
          <p:nvGrpSpPr>
            <p:cNvPr id="89" name="组合 88"/>
            <p:cNvGrpSpPr/>
            <p:nvPr/>
          </p:nvGrpSpPr>
          <p:grpSpPr>
            <a:xfrm>
              <a:off x="351687" y="5288547"/>
              <a:ext cx="11488624" cy="1170860"/>
              <a:chOff x="351687" y="5356639"/>
              <a:chExt cx="11488624" cy="1055144"/>
            </a:xfrm>
          </p:grpSpPr>
          <p:sp>
            <p:nvSpPr>
              <p:cNvPr id="114" name="小红书平北职场PPT2-1"/>
              <p:cNvSpPr/>
              <p:nvPr/>
            </p:nvSpPr>
            <p:spPr>
              <a:xfrm>
                <a:off x="351687" y="5356643"/>
                <a:ext cx="5657978" cy="1055140"/>
              </a:xfrm>
              <a:prstGeom prst="roundRect">
                <a:avLst>
                  <a:gd name="adj" fmla="val 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15" name="小红书平北职场PPT2-2"/>
              <p:cNvSpPr/>
              <p:nvPr/>
            </p:nvSpPr>
            <p:spPr>
              <a:xfrm>
                <a:off x="6182333" y="5356639"/>
                <a:ext cx="5657978" cy="1055140"/>
              </a:xfrm>
              <a:prstGeom prst="roundRect">
                <a:avLst>
                  <a:gd name="adj" fmla="val 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grpSp>
        <p:grpSp>
          <p:nvGrpSpPr>
            <p:cNvPr id="90" name="组合 89"/>
            <p:cNvGrpSpPr/>
            <p:nvPr/>
          </p:nvGrpSpPr>
          <p:grpSpPr>
            <a:xfrm>
              <a:off x="527327" y="5406747"/>
              <a:ext cx="10975680" cy="389827"/>
              <a:chOff x="527327" y="5406747"/>
              <a:chExt cx="10975680" cy="389827"/>
            </a:xfrm>
          </p:grpSpPr>
          <p:sp>
            <p:nvSpPr>
              <p:cNvPr id="108" name="小红书平北职场PPT2-3"/>
              <p:cNvSpPr txBox="1"/>
              <p:nvPr/>
            </p:nvSpPr>
            <p:spPr>
              <a:xfrm>
                <a:off x="527327" y="5406747"/>
                <a:ext cx="1210589" cy="33855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项目完成度</a:t>
                </a:r>
                <a:endParaRPr kumimoji="0" lang="zh-CN" altLang="en-US" sz="1600" b="1"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09" name="组合 108"/>
              <p:cNvGrpSpPr/>
              <p:nvPr/>
            </p:nvGrpSpPr>
            <p:grpSpPr>
              <a:xfrm>
                <a:off x="608805" y="5406747"/>
                <a:ext cx="10894202" cy="389827"/>
                <a:chOff x="608805" y="5406747"/>
                <a:chExt cx="10894202" cy="389827"/>
              </a:xfrm>
            </p:grpSpPr>
            <p:cxnSp>
              <p:nvCxnSpPr>
                <p:cNvPr id="110" name="小红书平北职场PPT2-4"/>
                <p:cNvCxnSpPr/>
                <p:nvPr/>
              </p:nvCxnSpPr>
              <p:spPr>
                <a:xfrm>
                  <a:off x="608805" y="5796574"/>
                  <a:ext cx="4891042"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11" name="组合 110"/>
                <p:cNvGrpSpPr/>
                <p:nvPr/>
              </p:nvGrpSpPr>
              <p:grpSpPr>
                <a:xfrm>
                  <a:off x="6515584" y="5406747"/>
                  <a:ext cx="4987423" cy="389827"/>
                  <a:chOff x="6152515" y="5406747"/>
                  <a:chExt cx="4987423" cy="389827"/>
                </a:xfrm>
              </p:grpSpPr>
              <p:cxnSp>
                <p:nvCxnSpPr>
                  <p:cNvPr id="112" name="小红书平北职场PPT2-5"/>
                  <p:cNvCxnSpPr/>
                  <p:nvPr/>
                </p:nvCxnSpPr>
                <p:spPr>
                  <a:xfrm>
                    <a:off x="6248896" y="5796574"/>
                    <a:ext cx="4891042"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13" name="小红书平北职场PPT2-6"/>
                  <p:cNvSpPr txBox="1"/>
                  <p:nvPr/>
                </p:nvSpPr>
                <p:spPr>
                  <a:xfrm>
                    <a:off x="6152515" y="5406747"/>
                    <a:ext cx="1210589" cy="33855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mj-ea"/>
                        <a:ea typeface="+mj-ea"/>
                        <a:cs typeface="思源黑体 CN Normal" panose="020B0400000000000000" pitchFamily="34" charset="-122"/>
                      </a:rPr>
                      <a:t>下半年规划</a:t>
                    </a:r>
                    <a:endParaRPr kumimoji="0" lang="zh-CN" altLang="en-US" sz="1600" b="1"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grpSp>
        </p:grpSp>
        <p:grpSp>
          <p:nvGrpSpPr>
            <p:cNvPr id="91" name="组合 90"/>
            <p:cNvGrpSpPr/>
            <p:nvPr/>
          </p:nvGrpSpPr>
          <p:grpSpPr>
            <a:xfrm>
              <a:off x="1718389" y="5360838"/>
              <a:ext cx="3753695" cy="400110"/>
              <a:chOff x="1415161" y="5354421"/>
              <a:chExt cx="3985724" cy="379634"/>
            </a:xfrm>
          </p:grpSpPr>
          <p:sp>
            <p:nvSpPr>
              <p:cNvPr id="105" name="小红书平北职场PPT2-7"/>
              <p:cNvSpPr txBox="1"/>
              <p:nvPr/>
            </p:nvSpPr>
            <p:spPr>
              <a:xfrm>
                <a:off x="1415161" y="5354421"/>
                <a:ext cx="784423" cy="37963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chemeClr val="bg1"/>
                    </a:solidFill>
                    <a:cs typeface="思源黑体 CN Normal" panose="020B0400000000000000" pitchFamily="34" charset="-122"/>
                  </a:rPr>
                  <a:t>90%</a:t>
                </a:r>
                <a:endParaRPr kumimoji="0" lang="zh-CN" altLang="en-US" sz="2000" b="1" i="0" u="none" strike="noStrike" kern="1200" cap="none" normalizeH="0" baseline="0" noProof="0" dirty="0">
                  <a:ln>
                    <a:noFill/>
                  </a:ln>
                  <a:solidFill>
                    <a:schemeClr val="bg1"/>
                  </a:solidFill>
                  <a:effectLst/>
                  <a:uLnTx/>
                  <a:uFillTx/>
                  <a:cs typeface="思源黑体 CN Normal" panose="020B0400000000000000" pitchFamily="34" charset="-122"/>
                </a:endParaRPr>
              </a:p>
            </p:txBody>
          </p:sp>
          <p:sp>
            <p:nvSpPr>
              <p:cNvPr id="106" name="小红书平北职场PPT2-8"/>
              <p:cNvSpPr/>
              <p:nvPr/>
            </p:nvSpPr>
            <p:spPr>
              <a:xfrm>
                <a:off x="2296602" y="5498620"/>
                <a:ext cx="3104283" cy="139835"/>
              </a:xfrm>
              <a:prstGeom prst="roundRect">
                <a:avLst>
                  <a:gd name="adj" fmla="val 50000"/>
                </a:avLst>
              </a:prstGeom>
              <a:solidFill>
                <a:schemeClr val="bg1"/>
              </a:solidFill>
              <a:ln w="19050" cap="flat" cmpd="sng" algn="ctr">
                <a:noFill/>
                <a:prstDash val="solid"/>
                <a:miter lim="800000"/>
              </a:ln>
              <a:effectLst/>
              <a:extLst>
                <a:ext uri="{91240B29-F687-4F45-9708-019B960494DF}">
                  <a14:hiddenLine xmlns:a14="http://schemas.microsoft.com/office/drawing/2010/main" w="1905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07" name="小红书平北职场PPT2-9"/>
              <p:cNvSpPr/>
              <p:nvPr/>
            </p:nvSpPr>
            <p:spPr>
              <a:xfrm>
                <a:off x="2341815" y="5526752"/>
                <a:ext cx="2793852" cy="84313"/>
              </a:xfrm>
              <a:prstGeom prst="roundRect">
                <a:avLst>
                  <a:gd name="adj" fmla="val 50000"/>
                </a:avLst>
              </a:prstGeom>
              <a:gradFill>
                <a:gsLst>
                  <a:gs pos="0">
                    <a:schemeClr val="accent2">
                      <a:lumMod val="60000"/>
                      <a:lumOff val="40000"/>
                      <a:alpha val="70000"/>
                    </a:schemeClr>
                  </a:gs>
                  <a:gs pos="54000">
                    <a:schemeClr val="accent2">
                      <a:alpha val="70000"/>
                    </a:schemeClr>
                  </a:gs>
                </a:gsLst>
                <a:lin ang="0" scaled="1"/>
              </a:gradFill>
              <a:ln w="9525">
                <a:noFill/>
                <a:round/>
              </a:ln>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grpSp>
        <p:grpSp>
          <p:nvGrpSpPr>
            <p:cNvPr id="92" name="组合 91"/>
            <p:cNvGrpSpPr/>
            <p:nvPr/>
          </p:nvGrpSpPr>
          <p:grpSpPr>
            <a:xfrm>
              <a:off x="5826666" y="5643223"/>
              <a:ext cx="502538" cy="504000"/>
              <a:chOff x="5767998" y="5584561"/>
              <a:chExt cx="617037" cy="618833"/>
            </a:xfrm>
          </p:grpSpPr>
          <p:sp>
            <p:nvSpPr>
              <p:cNvPr id="101" name="小红书平北职场PPT2-10"/>
              <p:cNvSpPr/>
              <p:nvPr/>
            </p:nvSpPr>
            <p:spPr>
              <a:xfrm>
                <a:off x="5767998" y="5584561"/>
                <a:ext cx="617037" cy="618833"/>
              </a:xfrm>
              <a:prstGeom prst="ellipse">
                <a:avLst/>
              </a:prstGeom>
              <a:solidFill>
                <a:schemeClr val="tx1">
                  <a:lumMod val="75000"/>
                  <a:lumOff val="2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思源黑体 CN Normal" panose="020B0400000000000000" pitchFamily="34" charset="-122"/>
                </a:endParaRPr>
              </a:p>
            </p:txBody>
          </p:sp>
          <p:grpSp>
            <p:nvGrpSpPr>
              <p:cNvPr id="102" name="组合 101"/>
              <p:cNvGrpSpPr/>
              <p:nvPr/>
            </p:nvGrpSpPr>
            <p:grpSpPr>
              <a:xfrm>
                <a:off x="5952545" y="5779471"/>
                <a:ext cx="304129" cy="220622"/>
                <a:chOff x="5979579" y="5876585"/>
                <a:chExt cx="304129" cy="220622"/>
              </a:xfrm>
              <a:solidFill>
                <a:schemeClr val="bg1"/>
              </a:solidFill>
            </p:grpSpPr>
            <p:sp>
              <p:nvSpPr>
                <p:cNvPr id="103" name="小红书平北职场PPT2-11"/>
                <p:cNvSpPr/>
                <p:nvPr/>
              </p:nvSpPr>
              <p:spPr>
                <a:xfrm>
                  <a:off x="5979579" y="5876585"/>
                  <a:ext cx="152064" cy="220622"/>
                </a:xfrm>
                <a:custGeom>
                  <a:avLst/>
                  <a:gdLst>
                    <a:gd name="connsiteX0" fmla="*/ 49438 w 241228"/>
                    <a:gd name="connsiteY0" fmla="*/ 0 h 349986"/>
                    <a:gd name="connsiteX1" fmla="*/ 49438 w 241228"/>
                    <a:gd name="connsiteY1" fmla="*/ 0 h 349986"/>
                    <a:gd name="connsiteX2" fmla="*/ 16805 w 241228"/>
                    <a:gd name="connsiteY2" fmla="*/ 86344 h 349986"/>
                    <a:gd name="connsiteX3" fmla="*/ 75355 w 241228"/>
                    <a:gd name="connsiteY3" fmla="*/ 137989 h 349986"/>
                    <a:gd name="connsiteX4" fmla="*/ 75355 w 241228"/>
                    <a:gd name="connsiteY4" fmla="*/ 211998 h 349986"/>
                    <a:gd name="connsiteX5" fmla="*/ 16805 w 241228"/>
                    <a:gd name="connsiteY5" fmla="*/ 263642 h 349986"/>
                    <a:gd name="connsiteX6" fmla="*/ 49438 w 241228"/>
                    <a:gd name="connsiteY6" fmla="*/ 349987 h 349986"/>
                    <a:gd name="connsiteX7" fmla="*/ 49438 w 241228"/>
                    <a:gd name="connsiteY7" fmla="*/ 349987 h 349986"/>
                    <a:gd name="connsiteX8" fmla="*/ 82070 w 241228"/>
                    <a:gd name="connsiteY8" fmla="*/ 337652 h 349986"/>
                    <a:gd name="connsiteX9" fmla="*/ 224526 w 241228"/>
                    <a:gd name="connsiteY9" fmla="*/ 212008 h 349986"/>
                    <a:gd name="connsiteX10" fmla="*/ 224526 w 241228"/>
                    <a:gd name="connsiteY10" fmla="*/ 137998 h 349986"/>
                    <a:gd name="connsiteX11" fmla="*/ 82070 w 241228"/>
                    <a:gd name="connsiteY11" fmla="*/ 12354 h 349986"/>
                    <a:gd name="connsiteX12" fmla="*/ 49438 w 241228"/>
                    <a:gd name="connsiteY12" fmla="*/ 0 h 349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1228" h="349986">
                      <a:moveTo>
                        <a:pt x="49438" y="0"/>
                      </a:moveTo>
                      <a:lnTo>
                        <a:pt x="49438" y="0"/>
                      </a:lnTo>
                      <a:cubicBezTo>
                        <a:pt x="3975" y="0"/>
                        <a:pt x="-17295" y="56274"/>
                        <a:pt x="16805" y="86344"/>
                      </a:cubicBezTo>
                      <a:lnTo>
                        <a:pt x="75355" y="137989"/>
                      </a:lnTo>
                      <a:cubicBezTo>
                        <a:pt x="97625" y="157629"/>
                        <a:pt x="97625" y="192348"/>
                        <a:pt x="75355" y="211998"/>
                      </a:cubicBezTo>
                      <a:lnTo>
                        <a:pt x="16805" y="263642"/>
                      </a:lnTo>
                      <a:cubicBezTo>
                        <a:pt x="-17285" y="293713"/>
                        <a:pt x="3984" y="349987"/>
                        <a:pt x="49438" y="349987"/>
                      </a:cubicBezTo>
                      <a:lnTo>
                        <a:pt x="49438" y="349987"/>
                      </a:lnTo>
                      <a:cubicBezTo>
                        <a:pt x="61458" y="349987"/>
                        <a:pt x="73060" y="345605"/>
                        <a:pt x="82070" y="337652"/>
                      </a:cubicBezTo>
                      <a:lnTo>
                        <a:pt x="224526" y="212008"/>
                      </a:lnTo>
                      <a:cubicBezTo>
                        <a:pt x="246796" y="192367"/>
                        <a:pt x="246796" y="157648"/>
                        <a:pt x="224526" y="137998"/>
                      </a:cubicBezTo>
                      <a:lnTo>
                        <a:pt x="82070" y="12354"/>
                      </a:lnTo>
                      <a:cubicBezTo>
                        <a:pt x="73060" y="4391"/>
                        <a:pt x="61458" y="0"/>
                        <a:pt x="49438" y="0"/>
                      </a:cubicBezTo>
                      <a:close/>
                    </a:path>
                  </a:pathLst>
                </a:custGeom>
                <a:grpFill/>
                <a:ln w="8944" cap="flat">
                  <a:noFill/>
                  <a:prstDash val="solid"/>
                  <a:miter/>
                </a:ln>
                <a:effectLst>
                  <a:outerShdw blurRad="304800" dist="292100" dir="5400000" algn="t" rotWithShape="0">
                    <a:schemeClr val="accent1">
                      <a:alpha val="40000"/>
                    </a:scheme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4" name="小红书平北职场PPT2-12"/>
                <p:cNvSpPr/>
                <p:nvPr/>
              </p:nvSpPr>
              <p:spPr>
                <a:xfrm>
                  <a:off x="6131643" y="5876585"/>
                  <a:ext cx="152065" cy="220622"/>
                </a:xfrm>
                <a:custGeom>
                  <a:avLst/>
                  <a:gdLst>
                    <a:gd name="connsiteX0" fmla="*/ 49440 w 241230"/>
                    <a:gd name="connsiteY0" fmla="*/ 0 h 349986"/>
                    <a:gd name="connsiteX1" fmla="*/ 49440 w 241230"/>
                    <a:gd name="connsiteY1" fmla="*/ 0 h 349986"/>
                    <a:gd name="connsiteX2" fmla="*/ 16798 w 241230"/>
                    <a:gd name="connsiteY2" fmla="*/ 86344 h 349986"/>
                    <a:gd name="connsiteX3" fmla="*/ 75348 w 241230"/>
                    <a:gd name="connsiteY3" fmla="*/ 137989 h 349986"/>
                    <a:gd name="connsiteX4" fmla="*/ 75348 w 241230"/>
                    <a:gd name="connsiteY4" fmla="*/ 211998 h 349986"/>
                    <a:gd name="connsiteX5" fmla="*/ 16798 w 241230"/>
                    <a:gd name="connsiteY5" fmla="*/ 263642 h 349986"/>
                    <a:gd name="connsiteX6" fmla="*/ 49440 w 241230"/>
                    <a:gd name="connsiteY6" fmla="*/ 349987 h 349986"/>
                    <a:gd name="connsiteX7" fmla="*/ 49440 w 241230"/>
                    <a:gd name="connsiteY7" fmla="*/ 349987 h 349986"/>
                    <a:gd name="connsiteX8" fmla="*/ 82073 w 241230"/>
                    <a:gd name="connsiteY8" fmla="*/ 337652 h 349986"/>
                    <a:gd name="connsiteX9" fmla="*/ 224529 w 241230"/>
                    <a:gd name="connsiteY9" fmla="*/ 212008 h 349986"/>
                    <a:gd name="connsiteX10" fmla="*/ 224529 w 241230"/>
                    <a:gd name="connsiteY10" fmla="*/ 137998 h 349986"/>
                    <a:gd name="connsiteX11" fmla="*/ 82073 w 241230"/>
                    <a:gd name="connsiteY11" fmla="*/ 12354 h 349986"/>
                    <a:gd name="connsiteX12" fmla="*/ 49440 w 241230"/>
                    <a:gd name="connsiteY12" fmla="*/ 0 h 349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1230" h="349986">
                      <a:moveTo>
                        <a:pt x="49440" y="0"/>
                      </a:moveTo>
                      <a:lnTo>
                        <a:pt x="49440" y="0"/>
                      </a:lnTo>
                      <a:cubicBezTo>
                        <a:pt x="3978" y="0"/>
                        <a:pt x="-17292" y="56274"/>
                        <a:pt x="16798" y="86344"/>
                      </a:cubicBezTo>
                      <a:lnTo>
                        <a:pt x="75348" y="137989"/>
                      </a:lnTo>
                      <a:cubicBezTo>
                        <a:pt x="97618" y="157629"/>
                        <a:pt x="97618" y="192348"/>
                        <a:pt x="75348" y="211998"/>
                      </a:cubicBezTo>
                      <a:lnTo>
                        <a:pt x="16798" y="263642"/>
                      </a:lnTo>
                      <a:cubicBezTo>
                        <a:pt x="-17292" y="293713"/>
                        <a:pt x="3978" y="349987"/>
                        <a:pt x="49440" y="349987"/>
                      </a:cubicBezTo>
                      <a:lnTo>
                        <a:pt x="49440" y="349987"/>
                      </a:lnTo>
                      <a:cubicBezTo>
                        <a:pt x="61461" y="349987"/>
                        <a:pt x="73062" y="345605"/>
                        <a:pt x="82073" y="337652"/>
                      </a:cubicBezTo>
                      <a:lnTo>
                        <a:pt x="224529" y="212008"/>
                      </a:lnTo>
                      <a:cubicBezTo>
                        <a:pt x="246798" y="192367"/>
                        <a:pt x="246798" y="157648"/>
                        <a:pt x="224529" y="137998"/>
                      </a:cubicBezTo>
                      <a:lnTo>
                        <a:pt x="82073" y="12354"/>
                      </a:lnTo>
                      <a:cubicBezTo>
                        <a:pt x="73062" y="4391"/>
                        <a:pt x="61461" y="0"/>
                        <a:pt x="49440" y="0"/>
                      </a:cubicBezTo>
                      <a:close/>
                    </a:path>
                  </a:pathLst>
                </a:custGeom>
                <a:grpFill/>
                <a:ln w="8944" cap="flat">
                  <a:noFill/>
                  <a:prstDash val="solid"/>
                  <a:miter/>
                </a:ln>
                <a:effectLst>
                  <a:outerShdw blurRad="304800" dist="292100" dir="5400000" algn="t" rotWithShape="0">
                    <a:schemeClr val="accent1">
                      <a:alpha val="40000"/>
                    </a:scheme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sp>
          <p:nvSpPr>
            <p:cNvPr id="93" name="小红书平北职场PPT2-13"/>
            <p:cNvSpPr txBox="1"/>
            <p:nvPr/>
          </p:nvSpPr>
          <p:spPr>
            <a:xfrm>
              <a:off x="6547546" y="5863391"/>
              <a:ext cx="5115770" cy="524824"/>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sz="1200" dirty="0">
                  <a:solidFill>
                    <a:schemeClr val="bg1"/>
                  </a:solidFill>
                  <a:latin typeface="+mn-ea"/>
                  <a:cs typeface="思源黑体 CN Normal" panose="020B0400000000000000" pitchFamily="34" charset="-122"/>
                </a:rPr>
                <a:t>下半年将重点突破直播带货、私域运营和双</a:t>
              </a:r>
              <a:r>
                <a:rPr lang="en-US" altLang="zh-CN" sz="1200" dirty="0">
                  <a:solidFill>
                    <a:schemeClr val="bg1"/>
                  </a:solidFill>
                  <a:latin typeface="+mn-ea"/>
                  <a:cs typeface="思源黑体 CN Normal" panose="020B0400000000000000" pitchFamily="34" charset="-122"/>
                </a:rPr>
                <a:t>11</a:t>
              </a:r>
              <a:r>
                <a:rPr lang="zh-CN" altLang="en-US" sz="1200" dirty="0">
                  <a:solidFill>
                    <a:schemeClr val="bg1"/>
                  </a:solidFill>
                  <a:latin typeface="+mn-ea"/>
                  <a:cs typeface="思源黑体 CN Normal" panose="020B0400000000000000" pitchFamily="34" charset="-122"/>
                </a:rPr>
                <a:t>大促，力争全年获客超</a:t>
              </a:r>
              <a:r>
                <a:rPr lang="en-US" altLang="zh-CN" sz="1200" dirty="0">
                  <a:solidFill>
                    <a:schemeClr val="bg1"/>
                  </a:solidFill>
                  <a:latin typeface="+mn-ea"/>
                  <a:cs typeface="思源黑体 CN Normal" panose="020B0400000000000000" pitchFamily="34" charset="-122"/>
                </a:rPr>
                <a:t>10</a:t>
              </a:r>
              <a:r>
                <a:rPr lang="zh-CN" altLang="en-US" sz="1200" dirty="0">
                  <a:solidFill>
                    <a:schemeClr val="bg1"/>
                  </a:solidFill>
                  <a:latin typeface="+mn-ea"/>
                  <a:cs typeface="思源黑体 CN Normal" panose="020B0400000000000000" pitchFamily="34" charset="-122"/>
                </a:rPr>
                <a:t>万、</a:t>
              </a:r>
              <a:r>
                <a:rPr lang="en-US" altLang="zh-CN" sz="1200" dirty="0">
                  <a:solidFill>
                    <a:schemeClr val="bg1"/>
                  </a:solidFill>
                  <a:latin typeface="+mn-ea"/>
                  <a:cs typeface="思源黑体 CN Normal" panose="020B0400000000000000" pitchFamily="34" charset="-122"/>
                </a:rPr>
                <a:t>ROI</a:t>
              </a:r>
              <a:r>
                <a:rPr lang="zh-CN" altLang="en-US" sz="1200" dirty="0">
                  <a:solidFill>
                    <a:schemeClr val="bg1"/>
                  </a:solidFill>
                  <a:latin typeface="+mn-ea"/>
                  <a:cs typeface="思源黑体 CN Normal" panose="020B0400000000000000" pitchFamily="34" charset="-122"/>
                </a:rPr>
                <a:t>达</a:t>
              </a:r>
              <a:r>
                <a:rPr lang="en-US" altLang="zh-CN" sz="1200" dirty="0">
                  <a:solidFill>
                    <a:schemeClr val="bg1"/>
                  </a:solidFill>
                  <a:latin typeface="+mn-ea"/>
                  <a:cs typeface="思源黑体 CN Normal" panose="020B0400000000000000" pitchFamily="34" charset="-122"/>
                </a:rPr>
                <a:t>1:5</a:t>
              </a:r>
              <a:r>
                <a:rPr lang="zh-CN" altLang="en-US" sz="1200" dirty="0">
                  <a:solidFill>
                    <a:schemeClr val="bg1"/>
                  </a:solidFill>
                  <a:latin typeface="+mn-ea"/>
                  <a:cs typeface="思源黑体 CN Normal" panose="020B0400000000000000" pitchFamily="34" charset="-122"/>
                </a:rPr>
                <a:t>，并申请增加</a:t>
              </a:r>
              <a:r>
                <a:rPr lang="en-US" altLang="zh-CN" sz="1200" dirty="0">
                  <a:solidFill>
                    <a:schemeClr val="bg1"/>
                  </a:solidFill>
                  <a:latin typeface="+mn-ea"/>
                  <a:cs typeface="思源黑体 CN Normal" panose="020B0400000000000000" pitchFamily="34" charset="-122"/>
                </a:rPr>
                <a:t>2</a:t>
              </a:r>
              <a:r>
                <a:rPr lang="zh-CN" altLang="en-US" sz="1200" dirty="0">
                  <a:solidFill>
                    <a:schemeClr val="bg1"/>
                  </a:solidFill>
                  <a:latin typeface="+mn-ea"/>
                  <a:cs typeface="思源黑体 CN Normal" panose="020B0400000000000000" pitchFamily="34" charset="-122"/>
                </a:rPr>
                <a:t>名技术人员支持数据运营工作</a:t>
              </a:r>
              <a:endParaRPr lang="zh-CN" altLang="en-US" sz="1200" dirty="0">
                <a:solidFill>
                  <a:schemeClr val="bg1"/>
                </a:solidFill>
                <a:latin typeface="+mn-ea"/>
                <a:cs typeface="思源黑体 CN Normal" panose="020B0400000000000000" pitchFamily="34" charset="-122"/>
              </a:endParaRPr>
            </a:p>
          </p:txBody>
        </p:sp>
        <p:sp>
          <p:nvSpPr>
            <p:cNvPr id="94" name="小红书平北职场PPT2-14"/>
            <p:cNvSpPr txBox="1"/>
            <p:nvPr/>
          </p:nvSpPr>
          <p:spPr>
            <a:xfrm>
              <a:off x="528684" y="5863391"/>
              <a:ext cx="5217370" cy="524824"/>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en-US" altLang="zh-CN" sz="1200" dirty="0">
                  <a:solidFill>
                    <a:schemeClr val="bg1"/>
                  </a:solidFill>
                  <a:latin typeface="+mn-ea"/>
                  <a:cs typeface="思源黑体 CN Normal" panose="020B0400000000000000" pitchFamily="34" charset="-122"/>
                </a:rPr>
                <a:t>2025</a:t>
              </a:r>
              <a:r>
                <a:rPr lang="zh-CN" altLang="en-US" sz="1200" dirty="0">
                  <a:solidFill>
                    <a:schemeClr val="bg1"/>
                  </a:solidFill>
                  <a:latin typeface="+mn-ea"/>
                  <a:cs typeface="思源黑体 CN Normal" panose="020B0400000000000000" pitchFamily="34" charset="-122"/>
                </a:rPr>
                <a:t>年上半年，我们围绕年度目标扎实推进</a:t>
              </a:r>
              <a:r>
                <a:rPr lang="en-US" altLang="zh-CN" sz="1200" dirty="0">
                  <a:solidFill>
                    <a:schemeClr val="bg1"/>
                  </a:solidFill>
                  <a:latin typeface="+mn-ea"/>
                  <a:cs typeface="思源黑体 CN Normal" panose="020B0400000000000000" pitchFamily="34" charset="-122"/>
                </a:rPr>
                <a:t>6</a:t>
              </a:r>
              <a:r>
                <a:rPr lang="zh-CN" altLang="en-US" sz="1200" dirty="0">
                  <a:solidFill>
                    <a:schemeClr val="bg1"/>
                  </a:solidFill>
                  <a:latin typeface="+mn-ea"/>
                  <a:cs typeface="思源黑体 CN Normal" panose="020B0400000000000000" pitchFamily="34" charset="-122"/>
                </a:rPr>
                <a:t>大核心项目，实现获客</a:t>
              </a:r>
              <a:r>
                <a:rPr lang="en-US" altLang="zh-CN" sz="1200" dirty="0">
                  <a:solidFill>
                    <a:schemeClr val="bg1"/>
                  </a:solidFill>
                  <a:latin typeface="+mn-ea"/>
                  <a:cs typeface="思源黑体 CN Normal" panose="020B0400000000000000" pitchFamily="34" charset="-122"/>
                </a:rPr>
                <a:t>4.5</a:t>
              </a:r>
              <a:r>
                <a:rPr lang="zh-CN" altLang="en-US" sz="1200" dirty="0">
                  <a:solidFill>
                    <a:schemeClr val="bg1"/>
                  </a:solidFill>
                  <a:latin typeface="+mn-ea"/>
                  <a:cs typeface="思源黑体 CN Normal" panose="020B0400000000000000" pitchFamily="34" charset="-122"/>
                </a:rPr>
                <a:t>万、</a:t>
              </a:r>
              <a:r>
                <a:rPr lang="en-US" altLang="zh-CN" sz="1200" dirty="0">
                  <a:solidFill>
                    <a:schemeClr val="bg1"/>
                  </a:solidFill>
                  <a:latin typeface="+mn-ea"/>
                  <a:cs typeface="思源黑体 CN Normal" panose="020B0400000000000000" pitchFamily="34" charset="-122"/>
                </a:rPr>
                <a:t>ROI</a:t>
              </a:r>
              <a:r>
                <a:rPr lang="zh-CN" altLang="en-US" sz="1200" dirty="0">
                  <a:solidFill>
                    <a:schemeClr val="bg1"/>
                  </a:solidFill>
                  <a:latin typeface="+mn-ea"/>
                  <a:cs typeface="思源黑体 CN Normal" panose="020B0400000000000000" pitchFamily="34" charset="-122"/>
                </a:rPr>
                <a:t>提升至</a:t>
              </a:r>
              <a:r>
                <a:rPr lang="en-US" altLang="zh-CN" sz="1200" dirty="0">
                  <a:solidFill>
                    <a:schemeClr val="bg1"/>
                  </a:solidFill>
                  <a:latin typeface="+mn-ea"/>
                  <a:cs typeface="思源黑体 CN Normal" panose="020B0400000000000000" pitchFamily="34" charset="-122"/>
                </a:rPr>
                <a:t>1:4.3</a:t>
              </a:r>
              <a:r>
                <a:rPr lang="zh-CN" altLang="en-US" sz="1200" dirty="0">
                  <a:solidFill>
                    <a:schemeClr val="bg1"/>
                  </a:solidFill>
                  <a:latin typeface="+mn-ea"/>
                  <a:cs typeface="思源黑体 CN Normal" panose="020B0400000000000000" pitchFamily="34" charset="-122"/>
                </a:rPr>
                <a:t>等关键成果，同时发现</a:t>
              </a:r>
              <a:r>
                <a:rPr lang="en-US" altLang="zh-CN" sz="1200" dirty="0">
                  <a:solidFill>
                    <a:schemeClr val="bg1"/>
                  </a:solidFill>
                  <a:latin typeface="+mn-ea"/>
                  <a:cs typeface="思源黑体 CN Normal" panose="020B0400000000000000" pitchFamily="34" charset="-122"/>
                </a:rPr>
                <a:t>X</a:t>
              </a:r>
              <a:r>
                <a:rPr lang="zh-CN" altLang="en-US" sz="1200" dirty="0">
                  <a:solidFill>
                    <a:schemeClr val="bg1"/>
                  </a:solidFill>
                  <a:latin typeface="+mn-ea"/>
                  <a:cs typeface="思源黑体 CN Normal" panose="020B0400000000000000" pitchFamily="34" charset="-122"/>
                </a:rPr>
                <a:t>平台转化率不足等问题</a:t>
              </a:r>
              <a:endParaRPr lang="zh-CN" altLang="en-US" sz="1200" dirty="0">
                <a:solidFill>
                  <a:schemeClr val="bg1"/>
                </a:solidFill>
                <a:latin typeface="+mn-ea"/>
                <a:cs typeface="思源黑体 CN Normal" panose="020B0400000000000000" pitchFamily="34" charset="-122"/>
              </a:endParaRPr>
            </a:p>
          </p:txBody>
        </p:sp>
        <p:grpSp>
          <p:nvGrpSpPr>
            <p:cNvPr id="95" name="组合 94"/>
            <p:cNvGrpSpPr/>
            <p:nvPr/>
          </p:nvGrpSpPr>
          <p:grpSpPr>
            <a:xfrm>
              <a:off x="7758052" y="5479498"/>
              <a:ext cx="3605662" cy="268022"/>
              <a:chOff x="3699190" y="8111677"/>
              <a:chExt cx="7040985" cy="268022"/>
            </a:xfrm>
          </p:grpSpPr>
          <p:sp>
            <p:nvSpPr>
              <p:cNvPr id="96" name="小红书平北职场PPT2-15"/>
              <p:cNvSpPr txBox="1"/>
              <p:nvPr/>
            </p:nvSpPr>
            <p:spPr>
              <a:xfrm>
                <a:off x="3699190" y="8111677"/>
                <a:ext cx="1408197" cy="26398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dirty="0">
                    <a:solidFill>
                      <a:schemeClr val="bg1"/>
                    </a:solidFill>
                    <a:cs typeface="思源黑体 CN Normal" panose="020B0400000000000000" pitchFamily="34" charset="-122"/>
                  </a:rPr>
                  <a:t>直播突破</a:t>
                </a:r>
                <a:endParaRPr lang="zh-CN" altLang="en-US" dirty="0">
                  <a:solidFill>
                    <a:schemeClr val="bg1"/>
                  </a:solidFill>
                  <a:cs typeface="思源黑体 CN Normal" panose="020B0400000000000000" pitchFamily="34" charset="-122"/>
                </a:endParaRPr>
              </a:p>
            </p:txBody>
          </p:sp>
          <p:sp>
            <p:nvSpPr>
              <p:cNvPr id="97" name="小红书平北职场PPT2-16"/>
              <p:cNvSpPr txBox="1"/>
              <p:nvPr/>
            </p:nvSpPr>
            <p:spPr>
              <a:xfrm>
                <a:off x="5107387" y="8111677"/>
                <a:ext cx="1408197" cy="26398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dirty="0">
                    <a:solidFill>
                      <a:schemeClr val="bg1"/>
                    </a:solidFill>
                    <a:cs typeface="思源黑体 CN Normal" panose="020B0400000000000000" pitchFamily="34" charset="-122"/>
                  </a:rPr>
                  <a:t>私域深耕</a:t>
                </a:r>
                <a:endParaRPr lang="zh-CN" altLang="en-US" dirty="0">
                  <a:solidFill>
                    <a:schemeClr val="bg1"/>
                  </a:solidFill>
                  <a:cs typeface="思源黑体 CN Normal" panose="020B0400000000000000" pitchFamily="34" charset="-122"/>
                </a:endParaRPr>
              </a:p>
            </p:txBody>
          </p:sp>
          <p:sp>
            <p:nvSpPr>
              <p:cNvPr id="98" name="小红书平北职场PPT2-17"/>
              <p:cNvSpPr txBox="1"/>
              <p:nvPr/>
            </p:nvSpPr>
            <p:spPr>
              <a:xfrm>
                <a:off x="6515586" y="8111677"/>
                <a:ext cx="1408197" cy="26398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a:solidFill>
                      <a:schemeClr val="bg1"/>
                    </a:solidFill>
                    <a:cs typeface="思源黑体 CN Normal" panose="020B0400000000000000" pitchFamily="34" charset="-122"/>
                  </a:rPr>
                  <a:t>大促冲刺</a:t>
                </a:r>
                <a:endParaRPr lang="zh-CN" altLang="en-US" dirty="0">
                  <a:solidFill>
                    <a:schemeClr val="bg1"/>
                  </a:solidFill>
                  <a:cs typeface="思源黑体 CN Normal" panose="020B0400000000000000" pitchFamily="34" charset="-122"/>
                </a:endParaRPr>
              </a:p>
            </p:txBody>
          </p:sp>
          <p:sp>
            <p:nvSpPr>
              <p:cNvPr id="99" name="小红书平北职场PPT2-18"/>
              <p:cNvSpPr txBox="1"/>
              <p:nvPr/>
            </p:nvSpPr>
            <p:spPr>
              <a:xfrm>
                <a:off x="7923779" y="8111677"/>
                <a:ext cx="1408197" cy="26398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dirty="0">
                    <a:solidFill>
                      <a:schemeClr val="bg1"/>
                    </a:solidFill>
                    <a:cs typeface="思源黑体 CN Normal" panose="020B0400000000000000" pitchFamily="34" charset="-122"/>
                  </a:rPr>
                  <a:t>技术赋能</a:t>
                </a:r>
                <a:endParaRPr lang="zh-CN" altLang="en-US" dirty="0">
                  <a:solidFill>
                    <a:schemeClr val="bg1"/>
                  </a:solidFill>
                  <a:cs typeface="思源黑体 CN Normal" panose="020B0400000000000000" pitchFamily="34" charset="-122"/>
                </a:endParaRPr>
              </a:p>
            </p:txBody>
          </p:sp>
          <p:sp>
            <p:nvSpPr>
              <p:cNvPr id="100" name="小红书平北职场PPT2-19"/>
              <p:cNvSpPr txBox="1"/>
              <p:nvPr/>
            </p:nvSpPr>
            <p:spPr>
              <a:xfrm>
                <a:off x="9331978" y="8111677"/>
                <a:ext cx="1408197" cy="268022"/>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en-US" altLang="zh-CN" dirty="0">
                    <a:solidFill>
                      <a:schemeClr val="bg1"/>
                    </a:solidFill>
                    <a:latin typeface="+mn-ea"/>
                    <a:cs typeface="思源黑体 CN Normal" panose="020B0400000000000000" pitchFamily="34" charset="-122"/>
                  </a:rPr>
                  <a:t>ROI</a:t>
                </a:r>
                <a:r>
                  <a:rPr lang="zh-CN" altLang="en-US" dirty="0">
                    <a:solidFill>
                      <a:schemeClr val="bg1"/>
                    </a:solidFill>
                    <a:latin typeface="+mn-ea"/>
                    <a:cs typeface="思源黑体 CN Normal" panose="020B0400000000000000" pitchFamily="34" charset="-122"/>
                  </a:rPr>
                  <a:t>升级</a:t>
                </a:r>
                <a:endParaRPr lang="zh-CN" altLang="en-US" dirty="0">
                  <a:solidFill>
                    <a:schemeClr val="bg1"/>
                  </a:solidFill>
                  <a:latin typeface="+mn-ea"/>
                  <a:cs typeface="思源黑体 CN Normal" panose="020B0400000000000000" pitchFamily="34" charset="-122"/>
                </a:endParaRPr>
              </a:p>
            </p:txBody>
          </p:sp>
        </p:grpSp>
      </p:grpSp>
      <p:grpSp>
        <p:nvGrpSpPr>
          <p:cNvPr id="5" name="小红书平北职场PPT3"/>
          <p:cNvGrpSpPr/>
          <p:nvPr/>
        </p:nvGrpSpPr>
        <p:grpSpPr>
          <a:xfrm>
            <a:off x="534273" y="976953"/>
            <a:ext cx="11123455" cy="469236"/>
            <a:chOff x="534273" y="1124453"/>
            <a:chExt cx="11123455" cy="469236"/>
          </a:xfrm>
        </p:grpSpPr>
        <p:sp>
          <p:nvSpPr>
            <p:cNvPr id="78" name="小红书平北职场PPT3-1"/>
            <p:cNvSpPr/>
            <p:nvPr/>
          </p:nvSpPr>
          <p:spPr>
            <a:xfrm>
              <a:off x="534273" y="1124453"/>
              <a:ext cx="11123455" cy="469236"/>
            </a:xfrm>
            <a:prstGeom prst="rect">
              <a:avLst/>
            </a:pr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grpSp>
          <p:nvGrpSpPr>
            <p:cNvPr id="79" name="组合 78"/>
            <p:cNvGrpSpPr/>
            <p:nvPr/>
          </p:nvGrpSpPr>
          <p:grpSpPr>
            <a:xfrm>
              <a:off x="2273541" y="1240913"/>
              <a:ext cx="8144200" cy="234357"/>
              <a:chOff x="8217402" y="1655595"/>
              <a:chExt cx="3203081" cy="311694"/>
            </a:xfrm>
            <a:gradFill>
              <a:gsLst>
                <a:gs pos="0">
                  <a:schemeClr val="accent1">
                    <a:lumMod val="60000"/>
                    <a:lumOff val="40000"/>
                  </a:schemeClr>
                </a:gs>
                <a:gs pos="100000">
                  <a:schemeClr val="accent3"/>
                </a:gs>
              </a:gsLst>
              <a:lin ang="0" scaled="1"/>
            </a:gradFill>
          </p:grpSpPr>
          <p:sp>
            <p:nvSpPr>
              <p:cNvPr id="83" name="小红书平北职场PPT3-2"/>
              <p:cNvSpPr/>
              <p:nvPr/>
            </p:nvSpPr>
            <p:spPr>
              <a:xfrm>
                <a:off x="8217402" y="1655598"/>
                <a:ext cx="482319" cy="311688"/>
              </a:xfrm>
              <a:prstGeom prst="homePlate">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1</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4" name="小红书平北职场PPT3-3"/>
              <p:cNvSpPr/>
              <p:nvPr/>
            </p:nvSpPr>
            <p:spPr>
              <a:xfrm>
                <a:off x="8761551" y="1655598"/>
                <a:ext cx="482319" cy="311688"/>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2</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5" name="小红书平北职场PPT3-4"/>
              <p:cNvSpPr/>
              <p:nvPr/>
            </p:nvSpPr>
            <p:spPr>
              <a:xfrm>
                <a:off x="9305701" y="1655595"/>
                <a:ext cx="482319" cy="311688"/>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3</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6" name="小红书平北职场PPT3-5"/>
              <p:cNvSpPr/>
              <p:nvPr/>
            </p:nvSpPr>
            <p:spPr>
              <a:xfrm>
                <a:off x="9849853" y="1655600"/>
                <a:ext cx="482319" cy="311689"/>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4</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7" name="小红书平北职场PPT3-6"/>
              <p:cNvSpPr/>
              <p:nvPr/>
            </p:nvSpPr>
            <p:spPr>
              <a:xfrm>
                <a:off x="10394008" y="1655600"/>
                <a:ext cx="482319" cy="311689"/>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5</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8" name="小红书平北职场PPT3-7"/>
              <p:cNvSpPr/>
              <p:nvPr/>
            </p:nvSpPr>
            <p:spPr>
              <a:xfrm>
                <a:off x="10938164" y="1655600"/>
                <a:ext cx="482319" cy="311689"/>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6</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grpSp>
        <p:grpSp>
          <p:nvGrpSpPr>
            <p:cNvPr id="80" name="组合 79"/>
            <p:cNvGrpSpPr/>
            <p:nvPr/>
          </p:nvGrpSpPr>
          <p:grpSpPr>
            <a:xfrm>
              <a:off x="815354" y="1203599"/>
              <a:ext cx="10771417" cy="338298"/>
              <a:chOff x="805080" y="1305013"/>
              <a:chExt cx="10771417" cy="338298"/>
            </a:xfrm>
          </p:grpSpPr>
          <p:sp>
            <p:nvSpPr>
              <p:cNvPr id="81" name="小红书平北职场PPT3-8"/>
              <p:cNvSpPr txBox="1"/>
              <p:nvPr/>
            </p:nvSpPr>
            <p:spPr>
              <a:xfrm>
                <a:off x="805080" y="1305013"/>
                <a:ext cx="902811" cy="338298"/>
              </a:xfrm>
              <a:prstGeom prst="rect">
                <a:avLst/>
              </a:prstGeom>
              <a:noFill/>
            </p:spPr>
            <p:txBody>
              <a:bodyPr wrap="none">
                <a:spAutoFit/>
              </a:bodyPr>
              <a:lstStyle/>
              <a:p>
                <a:pPr>
                  <a:lnSpc>
                    <a:spcPct val="120000"/>
                  </a:lnSpc>
                </a:pPr>
                <a:r>
                  <a:rPr lang="zh-CN" altLang="en-US" sz="1400" b="1" dirty="0">
                    <a:latin typeface="+mj-ea"/>
                    <a:ea typeface="+mj-ea"/>
                    <a:cs typeface="思源黑体 CN Normal" panose="020B0400000000000000" pitchFamily="34" charset="-122"/>
                  </a:rPr>
                  <a:t>任务名称</a:t>
                </a:r>
                <a:endParaRPr lang="zh-CN" altLang="en-US" sz="1400" b="1" dirty="0">
                  <a:latin typeface="+mj-ea"/>
                  <a:ea typeface="+mj-ea"/>
                  <a:cs typeface="思源黑体 CN Normal" panose="020B0400000000000000" pitchFamily="34" charset="-122"/>
                </a:endParaRPr>
              </a:p>
            </p:txBody>
          </p:sp>
          <p:sp>
            <p:nvSpPr>
              <p:cNvPr id="82" name="小红书平北职场PPT3-9"/>
              <p:cNvSpPr txBox="1"/>
              <p:nvPr/>
            </p:nvSpPr>
            <p:spPr>
              <a:xfrm>
                <a:off x="10673686" y="1305013"/>
                <a:ext cx="902811" cy="328936"/>
              </a:xfrm>
              <a:prstGeom prst="rect">
                <a:avLst/>
              </a:prstGeom>
              <a:noFill/>
            </p:spPr>
            <p:txBody>
              <a:bodyPr wrap="none">
                <a:spAutoFit/>
              </a:bodyPr>
              <a:lstStyle/>
              <a:p>
                <a:pPr>
                  <a:lnSpc>
                    <a:spcPct val="120000"/>
                  </a:lnSpc>
                </a:pPr>
                <a:r>
                  <a:rPr lang="zh-CN" altLang="en-US" sz="1400" b="1" dirty="0">
                    <a:cs typeface="思源黑体 CN Normal" panose="020B0400000000000000" pitchFamily="34" charset="-122"/>
                  </a:rPr>
                  <a:t>完成情况</a:t>
                </a:r>
                <a:endParaRPr lang="zh-CN" altLang="en-US" sz="1400" b="1" dirty="0">
                  <a:cs typeface="思源黑体 CN Normal" panose="020B0400000000000000" pitchFamily="34" charset="-122"/>
                </a:endParaRPr>
              </a:p>
            </p:txBody>
          </p:sp>
        </p:grpSp>
      </p:grpSp>
      <p:grpSp>
        <p:nvGrpSpPr>
          <p:cNvPr id="6" name="小红书平北职场PPT4"/>
          <p:cNvGrpSpPr/>
          <p:nvPr/>
        </p:nvGrpSpPr>
        <p:grpSpPr>
          <a:xfrm>
            <a:off x="334963" y="184318"/>
            <a:ext cx="11522075" cy="506147"/>
            <a:chOff x="334963" y="184318"/>
            <a:chExt cx="11522075" cy="506147"/>
          </a:xfrm>
        </p:grpSpPr>
        <p:cxnSp>
          <p:nvCxnSpPr>
            <p:cNvPr id="76" name="小红书平北职场PPT4-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小红书平北职场PPT4-2"/>
            <p:cNvSpPr txBox="1"/>
            <p:nvPr>
              <p:custDataLst>
                <p:tags r:id="rId2"/>
              </p:custDataLst>
            </p:nvPr>
          </p:nvSpPr>
          <p:spPr>
            <a:xfrm>
              <a:off x="334963" y="184318"/>
              <a:ext cx="4924425"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2025</a:t>
              </a:r>
              <a:r>
                <a:rPr lang="zh-CN" altLang="en-US" sz="2800" dirty="0">
                  <a:latin typeface="+mj-ea"/>
                  <a:ea typeface="+mj-ea"/>
                  <a:cs typeface="思源黑体 CN Normal" panose="020B0400000000000000" pitchFamily="34" charset="-122"/>
                  <a:sym typeface="+mj-ea"/>
                </a:rPr>
                <a:t>年度上半年关键动作汇报</a:t>
              </a:r>
              <a:endParaRPr lang="zh-CN" altLang="en-US" sz="2800" dirty="0">
                <a:latin typeface="+mj-ea"/>
                <a:ea typeface="+mj-ea"/>
                <a:cs typeface="思源黑体 CN Normal" panose="020B0400000000000000" pitchFamily="34" charset="-122"/>
                <a:sym typeface="+mj-ea"/>
              </a:endParaRPr>
            </a:p>
          </p:txBody>
        </p:sp>
      </p:grpSp>
      <p:grpSp>
        <p:nvGrpSpPr>
          <p:cNvPr id="7" name="小红书平北职场PPT5"/>
          <p:cNvGrpSpPr/>
          <p:nvPr/>
        </p:nvGrpSpPr>
        <p:grpSpPr>
          <a:xfrm>
            <a:off x="534273" y="1532536"/>
            <a:ext cx="11144884" cy="3365754"/>
            <a:chOff x="534273" y="1760440"/>
            <a:chExt cx="11144884" cy="3137849"/>
          </a:xfrm>
        </p:grpSpPr>
        <p:sp>
          <p:nvSpPr>
            <p:cNvPr id="27" name="小红书平北职场PPT5-1"/>
            <p:cNvSpPr/>
            <p:nvPr/>
          </p:nvSpPr>
          <p:spPr>
            <a:xfrm>
              <a:off x="534273" y="1760440"/>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28" name="小红书平北职场PPT5-2"/>
            <p:cNvSpPr/>
            <p:nvPr/>
          </p:nvSpPr>
          <p:spPr>
            <a:xfrm>
              <a:off x="534273" y="2213605"/>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29" name="小红书平北职场PPT5-3"/>
            <p:cNvSpPr/>
            <p:nvPr/>
          </p:nvSpPr>
          <p:spPr>
            <a:xfrm>
              <a:off x="534273" y="2666769"/>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0" name="小红书平北职场PPT5-4"/>
            <p:cNvSpPr/>
            <p:nvPr/>
          </p:nvSpPr>
          <p:spPr>
            <a:xfrm>
              <a:off x="534273" y="3119935"/>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1" name="小红书平北职场PPT5-5"/>
            <p:cNvSpPr/>
            <p:nvPr/>
          </p:nvSpPr>
          <p:spPr>
            <a:xfrm>
              <a:off x="534273" y="3573099"/>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2" name="小红书平北职场PPT5-6"/>
            <p:cNvSpPr/>
            <p:nvPr/>
          </p:nvSpPr>
          <p:spPr>
            <a:xfrm>
              <a:off x="534273" y="4026264"/>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3" name="小红书平北职场PPT5-7"/>
            <p:cNvSpPr/>
            <p:nvPr/>
          </p:nvSpPr>
          <p:spPr>
            <a:xfrm>
              <a:off x="534273" y="4479428"/>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4" name="小红书平北职场PPT5-8"/>
            <p:cNvSpPr txBox="1"/>
            <p:nvPr/>
          </p:nvSpPr>
          <p:spPr>
            <a:xfrm>
              <a:off x="805080" y="1871689"/>
              <a:ext cx="1047594" cy="268022"/>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en-US" altLang="zh-CN" b="1" dirty="0">
                  <a:latin typeface="+mn-ea"/>
                  <a:cs typeface="思源黑体 CN Normal" panose="020B0400000000000000" pitchFamily="34" charset="-122"/>
                </a:rPr>
                <a:t>KOL</a:t>
              </a:r>
              <a:r>
                <a:rPr lang="zh-CN" altLang="en-US" b="1" dirty="0">
                  <a:latin typeface="+mn-ea"/>
                  <a:cs typeface="思源黑体 CN Normal" panose="020B0400000000000000" pitchFamily="34" charset="-122"/>
                </a:rPr>
                <a:t>直播试点</a:t>
              </a:r>
              <a:endParaRPr lang="zh-CN" altLang="en-US" b="1" dirty="0">
                <a:latin typeface="+mn-ea"/>
                <a:cs typeface="思源黑体 CN Normal" panose="020B0400000000000000" pitchFamily="34" charset="-122"/>
              </a:endParaRPr>
            </a:p>
          </p:txBody>
        </p:sp>
        <p:sp>
          <p:nvSpPr>
            <p:cNvPr id="35" name="小红书平北职场PPT5-9"/>
            <p:cNvSpPr txBox="1"/>
            <p:nvPr/>
          </p:nvSpPr>
          <p:spPr>
            <a:xfrm>
              <a:off x="805080" y="2324854"/>
              <a:ext cx="913002"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直播间搭建</a:t>
              </a:r>
              <a:endParaRPr lang="zh-CN" altLang="en-US" b="1" dirty="0">
                <a:cs typeface="思源黑体 CN Normal" panose="020B0400000000000000" pitchFamily="34" charset="-122"/>
              </a:endParaRPr>
            </a:p>
          </p:txBody>
        </p:sp>
        <p:sp>
          <p:nvSpPr>
            <p:cNvPr id="36" name="小红书平北职场PPT5-10"/>
            <p:cNvSpPr txBox="1"/>
            <p:nvPr/>
          </p:nvSpPr>
          <p:spPr>
            <a:xfrm>
              <a:off x="805080" y="2778018"/>
              <a:ext cx="772881"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主播培训</a:t>
              </a:r>
              <a:endParaRPr lang="zh-CN" altLang="en-US" b="1" dirty="0">
                <a:cs typeface="思源黑体 CN Normal" panose="020B0400000000000000" pitchFamily="34" charset="-122"/>
              </a:endParaRPr>
            </a:p>
          </p:txBody>
        </p:sp>
        <p:sp>
          <p:nvSpPr>
            <p:cNvPr id="37" name="小红书平北职场PPT5-11"/>
            <p:cNvSpPr txBox="1"/>
            <p:nvPr/>
          </p:nvSpPr>
          <p:spPr>
            <a:xfrm>
              <a:off x="805080" y="3231182"/>
              <a:ext cx="1373928"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企业微信社群搭建</a:t>
              </a:r>
              <a:endParaRPr lang="zh-CN" altLang="en-US" b="1" dirty="0">
                <a:cs typeface="思源黑体 CN Normal" panose="020B0400000000000000" pitchFamily="34" charset="-122"/>
              </a:endParaRPr>
            </a:p>
          </p:txBody>
        </p:sp>
        <p:sp>
          <p:nvSpPr>
            <p:cNvPr id="38" name="小红书平北职场PPT5-12"/>
            <p:cNvSpPr txBox="1"/>
            <p:nvPr/>
          </p:nvSpPr>
          <p:spPr>
            <a:xfrm>
              <a:off x="805080" y="3684348"/>
              <a:ext cx="1053123"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会员体系升级</a:t>
              </a:r>
              <a:endParaRPr lang="zh-CN" altLang="en-US" b="1" dirty="0">
                <a:cs typeface="思源黑体 CN Normal" panose="020B0400000000000000" pitchFamily="34" charset="-122"/>
              </a:endParaRPr>
            </a:p>
          </p:txBody>
        </p:sp>
        <p:sp>
          <p:nvSpPr>
            <p:cNvPr id="39" name="小红书平北职场PPT5-13"/>
            <p:cNvSpPr txBox="1"/>
            <p:nvPr/>
          </p:nvSpPr>
          <p:spPr>
            <a:xfrm>
              <a:off x="805080" y="4137512"/>
              <a:ext cx="913002"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预售期运营</a:t>
              </a:r>
              <a:endParaRPr lang="zh-CN" altLang="en-US" b="1" dirty="0">
                <a:cs typeface="思源黑体 CN Normal" panose="020B0400000000000000" pitchFamily="34" charset="-122"/>
              </a:endParaRPr>
            </a:p>
          </p:txBody>
        </p:sp>
        <p:sp>
          <p:nvSpPr>
            <p:cNvPr id="40" name="小红书平北职场PPT5-14"/>
            <p:cNvSpPr txBox="1"/>
            <p:nvPr/>
          </p:nvSpPr>
          <p:spPr>
            <a:xfrm>
              <a:off x="805080" y="4590678"/>
              <a:ext cx="1244871"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爆发期流量承接</a:t>
              </a:r>
              <a:endParaRPr lang="zh-CN" altLang="en-US" b="1" dirty="0">
                <a:cs typeface="思源黑体 CN Normal" panose="020B0400000000000000" pitchFamily="34" charset="-122"/>
              </a:endParaRPr>
            </a:p>
          </p:txBody>
        </p:sp>
        <p:grpSp>
          <p:nvGrpSpPr>
            <p:cNvPr id="41" name="组合 40"/>
            <p:cNvGrpSpPr/>
            <p:nvPr/>
          </p:nvGrpSpPr>
          <p:grpSpPr>
            <a:xfrm>
              <a:off x="11061882" y="1881530"/>
              <a:ext cx="216000" cy="2501975"/>
              <a:chOff x="11164622" y="1881530"/>
              <a:chExt cx="216000" cy="2501975"/>
            </a:xfrm>
          </p:grpSpPr>
          <p:sp>
            <p:nvSpPr>
              <p:cNvPr id="71" name="小红书平北职场PPT5-15"/>
              <p:cNvSpPr/>
              <p:nvPr/>
            </p:nvSpPr>
            <p:spPr>
              <a:xfrm>
                <a:off x="11164622" y="1881530"/>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sp>
            <p:nvSpPr>
              <p:cNvPr id="72" name="小红书平北职场PPT5-16"/>
              <p:cNvSpPr/>
              <p:nvPr/>
            </p:nvSpPr>
            <p:spPr>
              <a:xfrm>
                <a:off x="11164622" y="2324561"/>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sp>
            <p:nvSpPr>
              <p:cNvPr id="73" name="小红书平北职场PPT5-17"/>
              <p:cNvSpPr/>
              <p:nvPr/>
            </p:nvSpPr>
            <p:spPr>
              <a:xfrm>
                <a:off x="11164622" y="3268102"/>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sp>
            <p:nvSpPr>
              <p:cNvPr id="74" name="小红书平北职场PPT5-18"/>
              <p:cNvSpPr/>
              <p:nvPr/>
            </p:nvSpPr>
            <p:spPr>
              <a:xfrm>
                <a:off x="11164622" y="3730079"/>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sp>
            <p:nvSpPr>
              <p:cNvPr id="75" name="小红书平北职场PPT5-19"/>
              <p:cNvSpPr/>
              <p:nvPr/>
            </p:nvSpPr>
            <p:spPr>
              <a:xfrm>
                <a:off x="11164622" y="4182131"/>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grpSp>
        <p:grpSp>
          <p:nvGrpSpPr>
            <p:cNvPr id="42" name="组合 41"/>
            <p:cNvGrpSpPr/>
            <p:nvPr/>
          </p:nvGrpSpPr>
          <p:grpSpPr>
            <a:xfrm>
              <a:off x="2242368" y="1827363"/>
              <a:ext cx="9436789" cy="3014625"/>
              <a:chOff x="2242368" y="1827363"/>
              <a:chExt cx="9436789" cy="3014625"/>
            </a:xfrm>
          </p:grpSpPr>
          <p:grpSp>
            <p:nvGrpSpPr>
              <p:cNvPr id="43" name="组合 42"/>
              <p:cNvGrpSpPr/>
              <p:nvPr/>
            </p:nvGrpSpPr>
            <p:grpSpPr>
              <a:xfrm>
                <a:off x="5052223" y="3197478"/>
                <a:ext cx="3984039" cy="285015"/>
                <a:chOff x="3206951" y="3108447"/>
                <a:chExt cx="4550190" cy="285015"/>
              </a:xfrm>
            </p:grpSpPr>
            <p:sp>
              <p:nvSpPr>
                <p:cNvPr id="68" name="小红书平北职场PPT5-20"/>
                <p:cNvSpPr/>
                <p:nvPr/>
              </p:nvSpPr>
              <p:spPr>
                <a:xfrm>
                  <a:off x="5591156" y="3108447"/>
                  <a:ext cx="2165985"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9" name="小红书平北职场PPT5-21"/>
                <p:cNvSpPr txBox="1"/>
                <p:nvPr/>
              </p:nvSpPr>
              <p:spPr>
                <a:xfrm>
                  <a:off x="6365044" y="3158621"/>
                  <a:ext cx="1230296"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提高会员满意度</a:t>
                  </a:r>
                  <a:endPar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0" name="小红书平北职场PPT5-22"/>
                <p:cNvSpPr/>
                <p:nvPr/>
              </p:nvSpPr>
              <p:spPr>
                <a:xfrm>
                  <a:off x="3206951" y="3108447"/>
                  <a:ext cx="3014910"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3</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- 4</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月：优化会员权益</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4" name="组合 43"/>
              <p:cNvGrpSpPr/>
              <p:nvPr/>
            </p:nvGrpSpPr>
            <p:grpSpPr>
              <a:xfrm>
                <a:off x="7807812" y="4556973"/>
                <a:ext cx="3871345" cy="285015"/>
                <a:chOff x="3977733" y="3108447"/>
                <a:chExt cx="2936029" cy="285015"/>
              </a:xfrm>
            </p:grpSpPr>
            <p:sp>
              <p:nvSpPr>
                <p:cNvPr id="65" name="小红书平北职场PPT5-23"/>
                <p:cNvSpPr/>
                <p:nvPr/>
              </p:nvSpPr>
              <p:spPr>
                <a:xfrm>
                  <a:off x="5578194" y="3108447"/>
                  <a:ext cx="1335568" cy="285015"/>
                </a:xfrm>
                <a:prstGeom prst="roundRect">
                  <a:avLst>
                    <a:gd name="adj" fmla="val 50000"/>
                  </a:avLst>
                </a:prstGeom>
                <a:gradFill flip="none" rotWithShape="1">
                  <a:gsLst>
                    <a:gs pos="51000">
                      <a:schemeClr val="accent2">
                        <a:lumMod val="20000"/>
                        <a:lumOff val="80000"/>
                      </a:schemeClr>
                    </a:gs>
                    <a:gs pos="100000">
                      <a:schemeClr val="accent2">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6" name="小红书平北职场PPT5-24"/>
                <p:cNvSpPr txBox="1"/>
                <p:nvPr/>
              </p:nvSpPr>
              <p:spPr>
                <a:xfrm>
                  <a:off x="6031124" y="3158621"/>
                  <a:ext cx="700254"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有效利用流量</a:t>
                  </a:r>
                  <a:endPar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7" name="小红书平北职场PPT5-25"/>
                <p:cNvSpPr/>
                <p:nvPr/>
              </p:nvSpPr>
              <p:spPr>
                <a:xfrm>
                  <a:off x="3977733" y="3108447"/>
                  <a:ext cx="1979371" cy="285015"/>
                </a:xfrm>
                <a:prstGeom prst="roundRect">
                  <a:avLst>
                    <a:gd name="adj" fmla="val 50000"/>
                  </a:avLst>
                </a:prstGeom>
                <a:gradFill>
                  <a:gsLst>
                    <a:gs pos="0">
                      <a:schemeClr val="accent2">
                        <a:lumMod val="60000"/>
                        <a:lumOff val="40000"/>
                      </a:schemeClr>
                    </a:gs>
                    <a:gs pos="100000">
                      <a:schemeClr val="accent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5</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- 6</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月：引导和转化流量</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5" name="组合 44"/>
              <p:cNvGrpSpPr/>
              <p:nvPr/>
            </p:nvGrpSpPr>
            <p:grpSpPr>
              <a:xfrm>
                <a:off x="2242368" y="1827363"/>
                <a:ext cx="4387823" cy="285015"/>
                <a:chOff x="2986854" y="3108447"/>
                <a:chExt cx="5074445" cy="285015"/>
              </a:xfrm>
            </p:grpSpPr>
            <p:sp>
              <p:nvSpPr>
                <p:cNvPr id="62" name="小红书平北职场PPT5-26"/>
                <p:cNvSpPr/>
                <p:nvPr/>
              </p:nvSpPr>
              <p:spPr>
                <a:xfrm>
                  <a:off x="5591155" y="3108447"/>
                  <a:ext cx="2470144"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小红书平北职场PPT5-27"/>
                <p:cNvSpPr txBox="1"/>
                <p:nvPr/>
              </p:nvSpPr>
              <p:spPr>
                <a:xfrm>
                  <a:off x="6154263" y="3158621"/>
                  <a:ext cx="1423754"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确保直播流程顺畅</a:t>
                  </a:r>
                  <a:endParaRPr lang="zh-CN" altLang="en-US" sz="1600" dirty="0">
                    <a:solidFill>
                      <a:schemeClr val="accent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4" name="小红书平北职场PPT5-28"/>
                <p:cNvSpPr/>
                <p:nvPr/>
              </p:nvSpPr>
              <p:spPr>
                <a:xfrm>
                  <a:off x="2986854" y="3108447"/>
                  <a:ext cx="3054372"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1</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- 2</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月：测试直播功能</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6" name="组合 45"/>
              <p:cNvGrpSpPr/>
              <p:nvPr/>
            </p:nvGrpSpPr>
            <p:grpSpPr>
              <a:xfrm>
                <a:off x="3657101" y="4103807"/>
                <a:ext cx="4019543" cy="285015"/>
                <a:chOff x="3166402" y="3108447"/>
                <a:chExt cx="4590739" cy="285015"/>
              </a:xfrm>
            </p:grpSpPr>
            <p:sp>
              <p:nvSpPr>
                <p:cNvPr id="59" name="小红书平北职场PPT5-29"/>
                <p:cNvSpPr/>
                <p:nvPr/>
              </p:nvSpPr>
              <p:spPr>
                <a:xfrm>
                  <a:off x="5591156" y="3108447"/>
                  <a:ext cx="2165985"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0" name="小红书平北职场PPT5-30"/>
                <p:cNvSpPr txBox="1"/>
                <p:nvPr/>
              </p:nvSpPr>
              <p:spPr>
                <a:xfrm>
                  <a:off x="6251868" y="3158621"/>
                  <a:ext cx="1054540"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提升预售销量</a:t>
                  </a:r>
                  <a:endParaRPr lang="zh-CN" altLang="en-US" sz="1600" dirty="0">
                    <a:solidFill>
                      <a:schemeClr val="accent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1" name="小红书平北职场PPT5-31"/>
                <p:cNvSpPr/>
                <p:nvPr/>
              </p:nvSpPr>
              <p:spPr>
                <a:xfrm>
                  <a:off x="3166402" y="3108447"/>
                  <a:ext cx="2980797"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2</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- 3</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月：策划预售活动</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7" name="组合 46"/>
              <p:cNvGrpSpPr/>
              <p:nvPr/>
            </p:nvGrpSpPr>
            <p:grpSpPr>
              <a:xfrm>
                <a:off x="3657101" y="2280528"/>
                <a:ext cx="4019543" cy="285015"/>
                <a:chOff x="3166402" y="3108447"/>
                <a:chExt cx="4590739" cy="285015"/>
              </a:xfrm>
            </p:grpSpPr>
            <p:sp>
              <p:nvSpPr>
                <p:cNvPr id="56" name="小红书平北职场PPT5-32"/>
                <p:cNvSpPr/>
                <p:nvPr/>
              </p:nvSpPr>
              <p:spPr>
                <a:xfrm>
                  <a:off x="5591156" y="3108447"/>
                  <a:ext cx="2165985"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7" name="小红书平北职场PPT5-33"/>
                <p:cNvSpPr txBox="1"/>
                <p:nvPr/>
              </p:nvSpPr>
              <p:spPr>
                <a:xfrm>
                  <a:off x="6251867" y="3158621"/>
                  <a:ext cx="1230296"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完成直播间搭建</a:t>
                  </a:r>
                  <a:endParaRPr lang="zh-CN" altLang="en-US" sz="1600" dirty="0">
                    <a:solidFill>
                      <a:schemeClr val="accent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58" name="小红书平北职场PPT5-34"/>
                <p:cNvSpPr/>
                <p:nvPr/>
              </p:nvSpPr>
              <p:spPr>
                <a:xfrm>
                  <a:off x="3166402" y="3108447"/>
                  <a:ext cx="2980797"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2</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- 3</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月：安装设备，布置环境</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8" name="组合 47"/>
              <p:cNvGrpSpPr/>
              <p:nvPr/>
            </p:nvGrpSpPr>
            <p:grpSpPr>
              <a:xfrm>
                <a:off x="6424235" y="2708445"/>
                <a:ext cx="5254922" cy="285015"/>
                <a:chOff x="2928428" y="3108447"/>
                <a:chExt cx="3985334" cy="285015"/>
              </a:xfrm>
            </p:grpSpPr>
            <p:sp>
              <p:nvSpPr>
                <p:cNvPr id="53" name="小红书平北职场PPT5-35"/>
                <p:cNvSpPr/>
                <p:nvPr/>
              </p:nvSpPr>
              <p:spPr>
                <a:xfrm>
                  <a:off x="5578194" y="3108447"/>
                  <a:ext cx="1335568" cy="285015"/>
                </a:xfrm>
                <a:prstGeom prst="roundRect">
                  <a:avLst>
                    <a:gd name="adj" fmla="val 50000"/>
                  </a:avLst>
                </a:prstGeom>
                <a:gradFill flip="none" rotWithShape="1">
                  <a:gsLst>
                    <a:gs pos="51000">
                      <a:schemeClr val="accent2">
                        <a:lumMod val="20000"/>
                        <a:lumOff val="80000"/>
                      </a:schemeClr>
                    </a:gs>
                    <a:gs pos="100000">
                      <a:schemeClr val="accent2">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4" name="小红书平北职场PPT5-36"/>
                <p:cNvSpPr txBox="1"/>
                <p:nvPr/>
              </p:nvSpPr>
              <p:spPr>
                <a:xfrm>
                  <a:off x="6031124" y="3158621"/>
                  <a:ext cx="700254"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提升主播能力</a:t>
                  </a:r>
                  <a:endPar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5" name="小红书平北职场PPT5-37"/>
                <p:cNvSpPr/>
                <p:nvPr/>
              </p:nvSpPr>
              <p:spPr>
                <a:xfrm>
                  <a:off x="2928428" y="3108447"/>
                  <a:ext cx="3028677" cy="285015"/>
                </a:xfrm>
                <a:prstGeom prst="roundRect">
                  <a:avLst>
                    <a:gd name="adj" fmla="val 50000"/>
                  </a:avLst>
                </a:prstGeom>
                <a:gradFill>
                  <a:gsLst>
                    <a:gs pos="0">
                      <a:schemeClr val="accent2">
                        <a:lumMod val="60000"/>
                        <a:lumOff val="40000"/>
                      </a:schemeClr>
                    </a:gs>
                    <a:gs pos="100000">
                      <a:schemeClr val="accent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4</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- 6</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月：培训主播专业技能</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9" name="组合 48"/>
              <p:cNvGrpSpPr/>
              <p:nvPr/>
            </p:nvGrpSpPr>
            <p:grpSpPr>
              <a:xfrm>
                <a:off x="5052223" y="3659523"/>
                <a:ext cx="6009659" cy="285015"/>
                <a:chOff x="3206951" y="3108447"/>
                <a:chExt cx="4550190" cy="285015"/>
              </a:xfrm>
            </p:grpSpPr>
            <p:sp>
              <p:nvSpPr>
                <p:cNvPr id="50" name="小红书平北职场PPT5-38"/>
                <p:cNvSpPr/>
                <p:nvPr/>
              </p:nvSpPr>
              <p:spPr>
                <a:xfrm>
                  <a:off x="5591156" y="3108447"/>
                  <a:ext cx="2165985"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1" name="小红书平北职场PPT5-39"/>
                <p:cNvSpPr txBox="1"/>
                <p:nvPr/>
              </p:nvSpPr>
              <p:spPr>
                <a:xfrm>
                  <a:off x="6242107" y="3158621"/>
                  <a:ext cx="699096"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增强用户互动</a:t>
                  </a:r>
                  <a:endPar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2" name="小红书平北职场PPT5-40"/>
                <p:cNvSpPr/>
                <p:nvPr/>
              </p:nvSpPr>
              <p:spPr>
                <a:xfrm>
                  <a:off x="3206951" y="3108447"/>
                  <a:ext cx="2967602"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3</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- 5</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月：建立社群，规划内容</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gr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892194"/>
            <a:ext cx="11522075" cy="5604478"/>
            <a:chOff x="334963" y="906049"/>
            <a:chExt cx="11522075" cy="5604478"/>
          </a:xfrm>
        </p:grpSpPr>
        <p:sp>
          <p:nvSpPr>
            <p:cNvPr id="26" name="小红书平北职场PPT1-1"/>
            <p:cNvSpPr/>
            <p:nvPr/>
          </p:nvSpPr>
          <p:spPr>
            <a:xfrm>
              <a:off x="334963" y="906049"/>
              <a:ext cx="11522075" cy="560447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7" name="小红书平北职场PPT1-2"/>
            <p:cNvSpPr/>
            <p:nvPr/>
          </p:nvSpPr>
          <p:spPr>
            <a:xfrm>
              <a:off x="618044" y="4124540"/>
              <a:ext cx="10964716" cy="561691"/>
            </a:xfrm>
            <a:prstGeom prst="roundRect">
              <a:avLst>
                <a:gd name="adj" fmla="val 12135"/>
              </a:avLst>
            </a:prstGeom>
            <a:gradFill flip="none" rotWithShape="1">
              <a:gsLst>
                <a:gs pos="24000">
                  <a:schemeClr val="accent2">
                    <a:alpha val="20000"/>
                  </a:schemeClr>
                </a:gs>
                <a:gs pos="100000">
                  <a:schemeClr val="lt1">
                    <a:alpha val="0"/>
                  </a:schemeClr>
                </a:gs>
              </a:gsLst>
              <a:lin ang="0" scaled="0"/>
              <a:tileRect/>
            </a:gradFill>
            <a:ln w="12700">
              <a:miter lim="400000"/>
            </a:ln>
          </p:spPr>
          <p:txBody>
            <a:bodyPr lIns="0" tIns="0" rIns="0" bIns="0" anchor="ctr"/>
            <a:lstStyle/>
            <a:p>
              <a:pPr algn="ctr"/>
              <a:endParaRPr sz="900">
                <a:latin typeface="+mn-ea"/>
                <a:cs typeface="思源黑体 CN Normal" panose="020B0400000000000000" pitchFamily="34" charset="-122"/>
              </a:endParaRPr>
            </a:p>
          </p:txBody>
        </p:sp>
        <p:grpSp>
          <p:nvGrpSpPr>
            <p:cNvPr id="28" name="Group"/>
            <p:cNvGrpSpPr/>
            <p:nvPr/>
          </p:nvGrpSpPr>
          <p:grpSpPr>
            <a:xfrm>
              <a:off x="704478" y="4228174"/>
              <a:ext cx="666565" cy="362487"/>
              <a:chOff x="0" y="-2436104"/>
              <a:chExt cx="1281612" cy="648786"/>
            </a:xfrm>
          </p:grpSpPr>
          <p:sp>
            <p:nvSpPr>
              <p:cNvPr id="114" name="小红书平北职场PPT1-3"/>
              <p:cNvSpPr/>
              <p:nvPr/>
            </p:nvSpPr>
            <p:spPr>
              <a:xfrm>
                <a:off x="0" y="-2436104"/>
                <a:ext cx="1281612" cy="648786"/>
              </a:xfrm>
              <a:prstGeom prst="roundRect">
                <a:avLst>
                  <a:gd name="adj" fmla="val 13310"/>
                </a:avLst>
              </a:prstGeom>
              <a:gradFill flip="none" rotWithShape="1">
                <a:gsLst>
                  <a:gs pos="0">
                    <a:schemeClr val="accent2">
                      <a:lumMod val="60000"/>
                      <a:lumOff val="40000"/>
                    </a:schemeClr>
                  </a:gs>
                  <a:gs pos="54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115" name="小红书平北职场PPT1-4"/>
              <p:cNvSpPr txBox="1"/>
              <p:nvPr/>
            </p:nvSpPr>
            <p:spPr>
              <a:xfrm>
                <a:off x="290368" y="-2283850"/>
                <a:ext cx="900900" cy="314339"/>
              </a:xfrm>
              <a:prstGeom prst="rect">
                <a:avLst/>
              </a:prstGeom>
              <a:noFill/>
              <a:ln w="12700" cap="flat">
                <a:noFill/>
                <a:miter lim="400000"/>
              </a:ln>
              <a:effectLst/>
            </p:spPr>
            <p:txBody>
              <a:bodyPr wrap="square" lIns="25400" tIns="25400" rIns="25400" bIns="25400" numCol="1" anchor="ctr">
                <a:spAutoFit/>
              </a:bodyPr>
              <a:lstStyle>
                <a:lvl1pPr>
                  <a:defRPr sz="1800">
                    <a:solidFill>
                      <a:srgbClr val="F7F5F6"/>
                    </a:solidFill>
                    <a:latin typeface="Barlow SemiBold"/>
                    <a:ea typeface="Barlow SemiBold"/>
                    <a:cs typeface="Barlow SemiBold"/>
                    <a:sym typeface="Barlow SemiBold"/>
                  </a:defRPr>
                </a:lvl1pPr>
              </a:lstStyle>
              <a:p>
                <a:pPr algn="ctr"/>
                <a:r>
                  <a:rPr lang="zh-CN" altLang="en-US" sz="900" dirty="0">
                    <a:solidFill>
                      <a:schemeClr val="bg1"/>
                    </a:solidFill>
                    <a:latin typeface="+mn-ea"/>
                    <a:ea typeface="+mn-ea"/>
                    <a:cs typeface="Roboto" panose="02000000000000000000" pitchFamily="2" charset="0"/>
                    <a:sym typeface="Roboto" panose="02000000000000000000" pitchFamily="2" charset="0"/>
                  </a:rPr>
                  <a:t>现在</a:t>
                </a:r>
                <a:endParaRPr sz="900" dirty="0">
                  <a:solidFill>
                    <a:schemeClr val="bg1"/>
                  </a:solidFill>
                  <a:latin typeface="+mn-ea"/>
                  <a:ea typeface="+mn-ea"/>
                  <a:cs typeface="Roboto" panose="02000000000000000000" pitchFamily="2" charset="0"/>
                  <a:sym typeface="Roboto" panose="02000000000000000000" pitchFamily="2" charset="0"/>
                </a:endParaRPr>
              </a:p>
            </p:txBody>
          </p:sp>
          <p:sp>
            <p:nvSpPr>
              <p:cNvPr id="116" name="小红书平北职场PPT1-5"/>
              <p:cNvSpPr/>
              <p:nvPr/>
            </p:nvSpPr>
            <p:spPr>
              <a:xfrm>
                <a:off x="207864" y="-2261112"/>
                <a:ext cx="243071" cy="231232"/>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bg1"/>
              </a:solidFill>
              <a:ln w="12700" cap="flat">
                <a:noFill/>
                <a:miter lim="400000"/>
              </a:ln>
              <a:effectLst/>
            </p:spPr>
            <p:txBody>
              <a:bodyPr wrap="square" lIns="22860" tIns="22860" rIns="22860" bIns="22860" numCol="1" anchor="ctr">
                <a:noAutofit/>
              </a:bodyP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dirty="0">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nvGrpSpPr>
            <p:cNvPr id="29" name="Group"/>
            <p:cNvGrpSpPr/>
            <p:nvPr/>
          </p:nvGrpSpPr>
          <p:grpSpPr>
            <a:xfrm>
              <a:off x="618044" y="1544995"/>
              <a:ext cx="10964716" cy="690020"/>
              <a:chOff x="0" y="0"/>
              <a:chExt cx="21082000" cy="1235012"/>
            </a:xfrm>
          </p:grpSpPr>
          <p:sp>
            <p:nvSpPr>
              <p:cNvPr id="89" name="小红书平北职场PPT1-6"/>
              <p:cNvSpPr/>
              <p:nvPr/>
            </p:nvSpPr>
            <p:spPr>
              <a:xfrm>
                <a:off x="0" y="153823"/>
                <a:ext cx="21082000" cy="1005328"/>
              </a:xfrm>
              <a:prstGeom prst="roundRect">
                <a:avLst>
                  <a:gd name="adj" fmla="val 2010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90" name="小红书平北职场PPT1-7"/>
              <p:cNvSpPr txBox="1"/>
              <p:nvPr/>
            </p:nvSpPr>
            <p:spPr>
              <a:xfrm>
                <a:off x="769"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1</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grpSp>
            <p:nvGrpSpPr>
              <p:cNvPr id="91" name="Group"/>
              <p:cNvGrpSpPr/>
              <p:nvPr/>
            </p:nvGrpSpPr>
            <p:grpSpPr>
              <a:xfrm>
                <a:off x="1733852" y="0"/>
                <a:ext cx="17602202" cy="1235012"/>
                <a:chOff x="-1" y="0"/>
                <a:chExt cx="17602201" cy="1235011"/>
              </a:xfrm>
            </p:grpSpPr>
            <p:sp>
              <p:nvSpPr>
                <p:cNvPr id="103" name="小红书平北职场PPT1-8"/>
                <p:cNvSpPr/>
                <p:nvPr/>
              </p:nvSpPr>
              <p:spPr>
                <a:xfrm>
                  <a:off x="-1"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4" name="小红书平北职场PPT1-9"/>
                <p:cNvSpPr/>
                <p:nvPr/>
              </p:nvSpPr>
              <p:spPr>
                <a:xfrm>
                  <a:off x="5280658"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5" name="小红书平北职场PPT1-10"/>
                <p:cNvSpPr/>
                <p:nvPr/>
              </p:nvSpPr>
              <p:spPr>
                <a:xfrm>
                  <a:off x="8801100"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6" name="小红书平北职场PPT1-11"/>
                <p:cNvSpPr/>
                <p:nvPr/>
              </p:nvSpPr>
              <p:spPr>
                <a:xfrm>
                  <a:off x="12321538"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7" name="小红书平北职场PPT1-12"/>
                <p:cNvSpPr/>
                <p:nvPr/>
              </p:nvSpPr>
              <p:spPr>
                <a:xfrm>
                  <a:off x="1584197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8" name="小红书平北职场PPT1-13"/>
                <p:cNvSpPr/>
                <p:nvPr/>
              </p:nvSpPr>
              <p:spPr>
                <a:xfrm>
                  <a:off x="176021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9" name="小红书平北职场PPT1-14"/>
                <p:cNvSpPr/>
                <p:nvPr/>
              </p:nvSpPr>
              <p:spPr>
                <a:xfrm>
                  <a:off x="352043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10" name="小红书平北职场PPT1-15"/>
                <p:cNvSpPr/>
                <p:nvPr/>
              </p:nvSpPr>
              <p:spPr>
                <a:xfrm>
                  <a:off x="704087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11" name="小红书平北职场PPT1-16"/>
                <p:cNvSpPr/>
                <p:nvPr/>
              </p:nvSpPr>
              <p:spPr>
                <a:xfrm>
                  <a:off x="10561318"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12" name="小红书平北职场PPT1-17"/>
                <p:cNvSpPr/>
                <p:nvPr/>
              </p:nvSpPr>
              <p:spPr>
                <a:xfrm>
                  <a:off x="1408175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13" name="小红书平北职场PPT1-18"/>
                <p:cNvSpPr/>
                <p:nvPr/>
              </p:nvSpPr>
              <p:spPr>
                <a:xfrm>
                  <a:off x="17602200"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sp>
            <p:nvSpPr>
              <p:cNvPr id="92" name="小红书平北职场PPT1-19"/>
              <p:cNvSpPr txBox="1"/>
              <p:nvPr/>
            </p:nvSpPr>
            <p:spPr>
              <a:xfrm>
                <a:off x="1757558"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2</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3" name="小红书平北职场PPT1-20"/>
              <p:cNvSpPr txBox="1"/>
              <p:nvPr/>
            </p:nvSpPr>
            <p:spPr>
              <a:xfrm>
                <a:off x="3514338"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3</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4" name="小红书平北职场PPT1-21"/>
              <p:cNvSpPr txBox="1"/>
              <p:nvPr/>
            </p:nvSpPr>
            <p:spPr>
              <a:xfrm>
                <a:off x="5271127"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4</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5" name="小红书平北职场PPT1-22"/>
              <p:cNvSpPr txBox="1"/>
              <p:nvPr/>
            </p:nvSpPr>
            <p:spPr>
              <a:xfrm>
                <a:off x="7027910"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5</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6" name="小红书平北职场PPT1-23"/>
              <p:cNvSpPr txBox="1"/>
              <p:nvPr/>
            </p:nvSpPr>
            <p:spPr>
              <a:xfrm>
                <a:off x="8784696"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6</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7" name="小红书平北职场PPT1-24"/>
              <p:cNvSpPr txBox="1"/>
              <p:nvPr/>
            </p:nvSpPr>
            <p:spPr>
              <a:xfrm>
                <a:off x="10541481"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7</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8" name="小红书平北职场PPT1-25"/>
              <p:cNvSpPr txBox="1"/>
              <p:nvPr/>
            </p:nvSpPr>
            <p:spPr>
              <a:xfrm>
                <a:off x="12298265"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8</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9" name="小红书平北职场PPT1-26"/>
              <p:cNvSpPr txBox="1"/>
              <p:nvPr/>
            </p:nvSpPr>
            <p:spPr>
              <a:xfrm>
                <a:off x="14055052"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9</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100" name="小红书平北职场PPT1-27"/>
              <p:cNvSpPr txBox="1"/>
              <p:nvPr/>
            </p:nvSpPr>
            <p:spPr>
              <a:xfrm>
                <a:off x="15811835"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10</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101" name="小红书平北职场PPT1-28"/>
              <p:cNvSpPr txBox="1"/>
              <p:nvPr/>
            </p:nvSpPr>
            <p:spPr>
              <a:xfrm>
                <a:off x="17568619"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11</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102" name="小红书平北职场PPT1-29"/>
              <p:cNvSpPr txBox="1"/>
              <p:nvPr/>
            </p:nvSpPr>
            <p:spPr>
              <a:xfrm>
                <a:off x="19325408"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12</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grpSp>
        <p:grpSp>
          <p:nvGrpSpPr>
            <p:cNvPr id="30" name="Group"/>
            <p:cNvGrpSpPr/>
            <p:nvPr/>
          </p:nvGrpSpPr>
          <p:grpSpPr>
            <a:xfrm>
              <a:off x="1591066" y="1157198"/>
              <a:ext cx="861982" cy="5059706"/>
              <a:chOff x="0" y="20648"/>
              <a:chExt cx="1657342" cy="9055970"/>
            </a:xfrm>
          </p:grpSpPr>
          <p:grpSp>
            <p:nvGrpSpPr>
              <p:cNvPr id="85" name="Group"/>
              <p:cNvGrpSpPr/>
              <p:nvPr/>
            </p:nvGrpSpPr>
            <p:grpSpPr>
              <a:xfrm>
                <a:off x="0" y="20648"/>
                <a:ext cx="1657342" cy="704247"/>
                <a:chOff x="0" y="20648"/>
                <a:chExt cx="1657341" cy="704246"/>
              </a:xfrm>
            </p:grpSpPr>
            <p:sp>
              <p:nvSpPr>
                <p:cNvPr id="87" name="小红书平北职场PPT1-30"/>
                <p:cNvSpPr/>
                <p:nvPr/>
              </p:nvSpPr>
              <p:spPr>
                <a:xfrm>
                  <a:off x="654561" y="425764"/>
                  <a:ext cx="348218" cy="299130"/>
                </a:xfrm>
                <a:custGeom>
                  <a:avLst/>
                  <a:gdLst/>
                  <a:ahLst/>
                  <a:cxnLst>
                    <a:cxn ang="0">
                      <a:pos x="wd2" y="hd2"/>
                    </a:cxn>
                    <a:cxn ang="5400000">
                      <a:pos x="wd2" y="hd2"/>
                    </a:cxn>
                    <a:cxn ang="10800000">
                      <a:pos x="wd2" y="hd2"/>
                    </a:cxn>
                    <a:cxn ang="16200000">
                      <a:pos x="wd2" y="hd2"/>
                    </a:cxn>
                  </a:cxnLst>
                  <a:rect l="0" t="0" r="r" b="b"/>
                  <a:pathLst>
                    <a:path w="21597" h="21594" extrusionOk="0">
                      <a:moveTo>
                        <a:pt x="21587" y="6829"/>
                      </a:moveTo>
                      <a:cubicBezTo>
                        <a:pt x="21576" y="6749"/>
                        <a:pt x="21555" y="6670"/>
                        <a:pt x="21528" y="6595"/>
                      </a:cubicBezTo>
                      <a:cubicBezTo>
                        <a:pt x="21522" y="6578"/>
                        <a:pt x="21522" y="6562"/>
                        <a:pt x="21516" y="6545"/>
                      </a:cubicBezTo>
                      <a:cubicBezTo>
                        <a:pt x="21515" y="6544"/>
                        <a:pt x="21514" y="6542"/>
                        <a:pt x="21513" y="6542"/>
                      </a:cubicBezTo>
                      <a:cubicBezTo>
                        <a:pt x="21513" y="6540"/>
                        <a:pt x="21513" y="6539"/>
                        <a:pt x="21512" y="6538"/>
                      </a:cubicBezTo>
                      <a:lnTo>
                        <a:pt x="19123" y="635"/>
                      </a:lnTo>
                      <a:cubicBezTo>
                        <a:pt x="19118" y="621"/>
                        <a:pt x="19108" y="609"/>
                        <a:pt x="19101" y="595"/>
                      </a:cubicBezTo>
                      <a:cubicBezTo>
                        <a:pt x="19093" y="578"/>
                        <a:pt x="19090" y="558"/>
                        <a:pt x="19081" y="542"/>
                      </a:cubicBezTo>
                      <a:cubicBezTo>
                        <a:pt x="19063" y="506"/>
                        <a:pt x="19038" y="478"/>
                        <a:pt x="19016" y="446"/>
                      </a:cubicBezTo>
                      <a:cubicBezTo>
                        <a:pt x="18995" y="413"/>
                        <a:pt x="18975" y="377"/>
                        <a:pt x="18951" y="348"/>
                      </a:cubicBezTo>
                      <a:cubicBezTo>
                        <a:pt x="18915" y="305"/>
                        <a:pt x="18874" y="268"/>
                        <a:pt x="18833" y="232"/>
                      </a:cubicBezTo>
                      <a:cubicBezTo>
                        <a:pt x="18807" y="208"/>
                        <a:pt x="18782" y="182"/>
                        <a:pt x="18754" y="162"/>
                      </a:cubicBezTo>
                      <a:cubicBezTo>
                        <a:pt x="18705" y="128"/>
                        <a:pt x="18653" y="104"/>
                        <a:pt x="18600" y="81"/>
                      </a:cubicBezTo>
                      <a:cubicBezTo>
                        <a:pt x="18573" y="69"/>
                        <a:pt x="18548" y="51"/>
                        <a:pt x="18520" y="42"/>
                      </a:cubicBezTo>
                      <a:cubicBezTo>
                        <a:pt x="18438" y="15"/>
                        <a:pt x="18352" y="0"/>
                        <a:pt x="18263" y="0"/>
                      </a:cubicBezTo>
                      <a:lnTo>
                        <a:pt x="4188" y="0"/>
                      </a:lnTo>
                      <a:cubicBezTo>
                        <a:pt x="4104" y="0"/>
                        <a:pt x="4023" y="14"/>
                        <a:pt x="3944" y="38"/>
                      </a:cubicBezTo>
                      <a:cubicBezTo>
                        <a:pt x="3917" y="46"/>
                        <a:pt x="3892" y="63"/>
                        <a:pt x="3865" y="74"/>
                      </a:cubicBezTo>
                      <a:cubicBezTo>
                        <a:pt x="3816" y="95"/>
                        <a:pt x="3767" y="113"/>
                        <a:pt x="3722" y="143"/>
                      </a:cubicBezTo>
                      <a:cubicBezTo>
                        <a:pt x="3693" y="163"/>
                        <a:pt x="3669" y="189"/>
                        <a:pt x="3642" y="210"/>
                      </a:cubicBezTo>
                      <a:cubicBezTo>
                        <a:pt x="3603" y="242"/>
                        <a:pt x="3563" y="273"/>
                        <a:pt x="3528" y="311"/>
                      </a:cubicBezTo>
                      <a:cubicBezTo>
                        <a:pt x="3504" y="339"/>
                        <a:pt x="3485" y="372"/>
                        <a:pt x="3463" y="404"/>
                      </a:cubicBezTo>
                      <a:cubicBezTo>
                        <a:pt x="3438" y="438"/>
                        <a:pt x="3408" y="470"/>
                        <a:pt x="3387" y="510"/>
                      </a:cubicBezTo>
                      <a:lnTo>
                        <a:pt x="143" y="6413"/>
                      </a:lnTo>
                      <a:cubicBezTo>
                        <a:pt x="131" y="6436"/>
                        <a:pt x="126" y="6462"/>
                        <a:pt x="115" y="6486"/>
                      </a:cubicBezTo>
                      <a:cubicBezTo>
                        <a:pt x="105" y="6506"/>
                        <a:pt x="90" y="6522"/>
                        <a:pt x="82" y="6543"/>
                      </a:cubicBezTo>
                      <a:cubicBezTo>
                        <a:pt x="73" y="6566"/>
                        <a:pt x="73" y="6589"/>
                        <a:pt x="65" y="6610"/>
                      </a:cubicBezTo>
                      <a:cubicBezTo>
                        <a:pt x="47" y="6664"/>
                        <a:pt x="33" y="6718"/>
                        <a:pt x="23" y="6774"/>
                      </a:cubicBezTo>
                      <a:cubicBezTo>
                        <a:pt x="14" y="6818"/>
                        <a:pt x="8" y="6862"/>
                        <a:pt x="4" y="6906"/>
                      </a:cubicBezTo>
                      <a:cubicBezTo>
                        <a:pt x="-1" y="6961"/>
                        <a:pt x="-1" y="7016"/>
                        <a:pt x="2" y="7072"/>
                      </a:cubicBezTo>
                      <a:cubicBezTo>
                        <a:pt x="5" y="7117"/>
                        <a:pt x="8" y="7162"/>
                        <a:pt x="14" y="7206"/>
                      </a:cubicBezTo>
                      <a:cubicBezTo>
                        <a:pt x="22" y="7261"/>
                        <a:pt x="37" y="7312"/>
                        <a:pt x="52" y="7364"/>
                      </a:cubicBezTo>
                      <a:cubicBezTo>
                        <a:pt x="65" y="7408"/>
                        <a:pt x="77" y="7453"/>
                        <a:pt x="95" y="7495"/>
                      </a:cubicBezTo>
                      <a:cubicBezTo>
                        <a:pt x="101" y="7509"/>
                        <a:pt x="104" y="7526"/>
                        <a:pt x="110" y="7541"/>
                      </a:cubicBezTo>
                      <a:cubicBezTo>
                        <a:pt x="127" y="7578"/>
                        <a:pt x="152" y="7607"/>
                        <a:pt x="173" y="7640"/>
                      </a:cubicBezTo>
                      <a:cubicBezTo>
                        <a:pt x="189" y="7669"/>
                        <a:pt x="199" y="7699"/>
                        <a:pt x="218" y="7725"/>
                      </a:cubicBezTo>
                      <a:lnTo>
                        <a:pt x="10022" y="21203"/>
                      </a:lnTo>
                      <a:cubicBezTo>
                        <a:pt x="10191" y="21435"/>
                        <a:pt x="10444" y="21600"/>
                        <a:pt x="10697" y="21592"/>
                      </a:cubicBezTo>
                      <a:cubicBezTo>
                        <a:pt x="10700" y="21592"/>
                        <a:pt x="10703" y="21593"/>
                        <a:pt x="10705" y="21593"/>
                      </a:cubicBezTo>
                      <a:cubicBezTo>
                        <a:pt x="10720" y="21594"/>
                        <a:pt x="10733" y="21594"/>
                        <a:pt x="10747" y="21594"/>
                      </a:cubicBezTo>
                      <a:cubicBezTo>
                        <a:pt x="10748" y="21594"/>
                        <a:pt x="10748" y="21594"/>
                        <a:pt x="10748" y="21594"/>
                      </a:cubicBezTo>
                      <a:cubicBezTo>
                        <a:pt x="10748" y="21594"/>
                        <a:pt x="10748" y="21594"/>
                        <a:pt x="10749" y="21594"/>
                      </a:cubicBezTo>
                      <a:cubicBezTo>
                        <a:pt x="10834" y="21594"/>
                        <a:pt x="10917" y="21576"/>
                        <a:pt x="10997" y="21551"/>
                      </a:cubicBezTo>
                      <a:cubicBezTo>
                        <a:pt x="11021" y="21542"/>
                        <a:pt x="11042" y="21534"/>
                        <a:pt x="11066" y="21523"/>
                      </a:cubicBezTo>
                      <a:cubicBezTo>
                        <a:pt x="11125" y="21499"/>
                        <a:pt x="11182" y="21467"/>
                        <a:pt x="11237" y="21429"/>
                      </a:cubicBezTo>
                      <a:cubicBezTo>
                        <a:pt x="11255" y="21417"/>
                        <a:pt x="11275" y="21404"/>
                        <a:pt x="11293" y="21390"/>
                      </a:cubicBezTo>
                      <a:cubicBezTo>
                        <a:pt x="11357" y="21338"/>
                        <a:pt x="11418" y="21278"/>
                        <a:pt x="11470" y="21206"/>
                      </a:cubicBezTo>
                      <a:lnTo>
                        <a:pt x="21374" y="7728"/>
                      </a:lnTo>
                      <a:cubicBezTo>
                        <a:pt x="21387" y="7711"/>
                        <a:pt x="21394" y="7689"/>
                        <a:pt x="21405" y="7671"/>
                      </a:cubicBezTo>
                      <a:cubicBezTo>
                        <a:pt x="21421" y="7648"/>
                        <a:pt x="21441" y="7628"/>
                        <a:pt x="21454" y="7602"/>
                      </a:cubicBezTo>
                      <a:cubicBezTo>
                        <a:pt x="21468" y="7576"/>
                        <a:pt x="21475" y="7547"/>
                        <a:pt x="21487" y="7519"/>
                      </a:cubicBezTo>
                      <a:cubicBezTo>
                        <a:pt x="21504" y="7483"/>
                        <a:pt x="21520" y="7447"/>
                        <a:pt x="21532" y="7408"/>
                      </a:cubicBezTo>
                      <a:cubicBezTo>
                        <a:pt x="21551" y="7352"/>
                        <a:pt x="21563" y="7295"/>
                        <a:pt x="21574" y="7238"/>
                      </a:cubicBezTo>
                      <a:cubicBezTo>
                        <a:pt x="21582" y="7199"/>
                        <a:pt x="21590" y="7163"/>
                        <a:pt x="21593" y="7124"/>
                      </a:cubicBezTo>
                      <a:cubicBezTo>
                        <a:pt x="21599" y="7060"/>
                        <a:pt x="21597" y="6998"/>
                        <a:pt x="21593" y="6935"/>
                      </a:cubicBezTo>
                      <a:cubicBezTo>
                        <a:pt x="21590" y="6898"/>
                        <a:pt x="21592" y="6863"/>
                        <a:pt x="21587" y="6829"/>
                      </a:cubicBezTo>
                      <a:close/>
                    </a:path>
                  </a:pathLst>
                </a:custGeom>
                <a:gradFill>
                  <a:gsLst>
                    <a:gs pos="0">
                      <a:schemeClr val="accent1">
                        <a:lumMod val="60000"/>
                        <a:lumOff val="40000"/>
                      </a:schemeClr>
                    </a:gs>
                    <a:gs pos="100000">
                      <a:schemeClr val="accent1"/>
                    </a:gs>
                  </a:gsLst>
                  <a:lin ang="0" scaled="1"/>
                </a:gradFill>
                <a:ln w="9525">
                  <a:noFill/>
                  <a:round/>
                </a:ln>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88" name="小红书平北职场PPT1-31"/>
                <p:cNvSpPr/>
                <p:nvPr/>
              </p:nvSpPr>
              <p:spPr>
                <a:xfrm>
                  <a:off x="0" y="20648"/>
                  <a:ext cx="1657341" cy="33970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defRPr sz="1800">
                      <a:solidFill>
                        <a:srgbClr val="A7A7A7"/>
                      </a:solidFill>
                      <a:latin typeface="Barlow SemiBold"/>
                      <a:ea typeface="Barlow SemiBold"/>
                      <a:cs typeface="Barlow SemiBold"/>
                      <a:sym typeface="Barlow SemiBold"/>
                    </a:defRPr>
                  </a:lvl1pPr>
                </a:lstStyle>
                <a:p>
                  <a:pPr algn="ctr"/>
                  <a:r>
                    <a:rPr lang="zh-CN" altLang="en-US" sz="900" dirty="0">
                      <a:solidFill>
                        <a:schemeClr val="dk2">
                          <a:lumMod val="100000"/>
                        </a:schemeClr>
                      </a:solidFill>
                      <a:latin typeface="+mn-ea"/>
                      <a:ea typeface="+mn-ea"/>
                      <a:cs typeface="Roboto" panose="02000000000000000000" pitchFamily="2" charset="0"/>
                      <a:sym typeface="Roboto" panose="02000000000000000000" pitchFamily="2" charset="0"/>
                    </a:rPr>
                    <a:t>重要事件</a:t>
                  </a:r>
                  <a:r>
                    <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rPr>
                    <a:t>1</a:t>
                  </a:r>
                  <a:endParaRPr sz="900" dirty="0">
                    <a:solidFill>
                      <a:schemeClr val="dk2">
                        <a:lumMod val="100000"/>
                      </a:schemeClr>
                    </a:solidFill>
                    <a:latin typeface="+mn-ea"/>
                    <a:ea typeface="+mn-ea"/>
                    <a:cs typeface="Roboto" panose="02000000000000000000" pitchFamily="2" charset="0"/>
                    <a:sym typeface="Roboto" panose="02000000000000000000" pitchFamily="2" charset="0"/>
                  </a:endParaRPr>
                </a:p>
              </p:txBody>
            </p:sp>
          </p:grpSp>
          <p:sp>
            <p:nvSpPr>
              <p:cNvPr id="86" name="小红书平北职场PPT1-32"/>
              <p:cNvSpPr/>
              <p:nvPr/>
            </p:nvSpPr>
            <p:spPr>
              <a:xfrm flipV="1">
                <a:off x="811662" y="862520"/>
                <a:ext cx="0" cy="8214098"/>
              </a:xfrm>
              <a:prstGeom prst="line">
                <a:avLst/>
              </a:prstGeom>
              <a:noFill/>
              <a:ln w="12700" cap="flat">
                <a:solidFill>
                  <a:schemeClr val="accent2"/>
                </a:solidFill>
                <a:custDash>
                  <a:ds d="200000" sp="200000"/>
                </a:custDash>
                <a:miter lim="400000"/>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grpSp>
          <p:nvGrpSpPr>
            <p:cNvPr id="31" name="Group"/>
            <p:cNvGrpSpPr/>
            <p:nvPr/>
          </p:nvGrpSpPr>
          <p:grpSpPr>
            <a:xfrm>
              <a:off x="2308152" y="1157198"/>
              <a:ext cx="861982" cy="5059706"/>
              <a:chOff x="0" y="20648"/>
              <a:chExt cx="1657342" cy="9055969"/>
            </a:xfrm>
          </p:grpSpPr>
          <p:grpSp>
            <p:nvGrpSpPr>
              <p:cNvPr id="81" name="Group"/>
              <p:cNvGrpSpPr/>
              <p:nvPr/>
            </p:nvGrpSpPr>
            <p:grpSpPr>
              <a:xfrm>
                <a:off x="0" y="20648"/>
                <a:ext cx="1657342" cy="704247"/>
                <a:chOff x="0" y="20648"/>
                <a:chExt cx="1657341" cy="704246"/>
              </a:xfrm>
            </p:grpSpPr>
            <p:sp>
              <p:nvSpPr>
                <p:cNvPr id="83" name="小红书平北职场PPT1-33"/>
                <p:cNvSpPr/>
                <p:nvPr/>
              </p:nvSpPr>
              <p:spPr>
                <a:xfrm>
                  <a:off x="654561" y="425764"/>
                  <a:ext cx="348218" cy="299130"/>
                </a:xfrm>
                <a:custGeom>
                  <a:avLst/>
                  <a:gdLst/>
                  <a:ahLst/>
                  <a:cxnLst>
                    <a:cxn ang="0">
                      <a:pos x="wd2" y="hd2"/>
                    </a:cxn>
                    <a:cxn ang="5400000">
                      <a:pos x="wd2" y="hd2"/>
                    </a:cxn>
                    <a:cxn ang="10800000">
                      <a:pos x="wd2" y="hd2"/>
                    </a:cxn>
                    <a:cxn ang="16200000">
                      <a:pos x="wd2" y="hd2"/>
                    </a:cxn>
                  </a:cxnLst>
                  <a:rect l="0" t="0" r="r" b="b"/>
                  <a:pathLst>
                    <a:path w="21597" h="21594" extrusionOk="0">
                      <a:moveTo>
                        <a:pt x="21587" y="6829"/>
                      </a:moveTo>
                      <a:cubicBezTo>
                        <a:pt x="21576" y="6749"/>
                        <a:pt x="21555" y="6670"/>
                        <a:pt x="21528" y="6595"/>
                      </a:cubicBezTo>
                      <a:cubicBezTo>
                        <a:pt x="21522" y="6578"/>
                        <a:pt x="21522" y="6562"/>
                        <a:pt x="21516" y="6545"/>
                      </a:cubicBezTo>
                      <a:cubicBezTo>
                        <a:pt x="21515" y="6544"/>
                        <a:pt x="21514" y="6542"/>
                        <a:pt x="21513" y="6542"/>
                      </a:cubicBezTo>
                      <a:cubicBezTo>
                        <a:pt x="21513" y="6540"/>
                        <a:pt x="21513" y="6539"/>
                        <a:pt x="21512" y="6538"/>
                      </a:cubicBezTo>
                      <a:lnTo>
                        <a:pt x="19123" y="635"/>
                      </a:lnTo>
                      <a:cubicBezTo>
                        <a:pt x="19118" y="621"/>
                        <a:pt x="19108" y="609"/>
                        <a:pt x="19101" y="595"/>
                      </a:cubicBezTo>
                      <a:cubicBezTo>
                        <a:pt x="19093" y="578"/>
                        <a:pt x="19090" y="558"/>
                        <a:pt x="19081" y="542"/>
                      </a:cubicBezTo>
                      <a:cubicBezTo>
                        <a:pt x="19063" y="506"/>
                        <a:pt x="19038" y="478"/>
                        <a:pt x="19016" y="446"/>
                      </a:cubicBezTo>
                      <a:cubicBezTo>
                        <a:pt x="18995" y="413"/>
                        <a:pt x="18975" y="377"/>
                        <a:pt x="18951" y="348"/>
                      </a:cubicBezTo>
                      <a:cubicBezTo>
                        <a:pt x="18915" y="305"/>
                        <a:pt x="18874" y="268"/>
                        <a:pt x="18833" y="232"/>
                      </a:cubicBezTo>
                      <a:cubicBezTo>
                        <a:pt x="18807" y="208"/>
                        <a:pt x="18782" y="182"/>
                        <a:pt x="18754" y="162"/>
                      </a:cubicBezTo>
                      <a:cubicBezTo>
                        <a:pt x="18705" y="128"/>
                        <a:pt x="18653" y="104"/>
                        <a:pt x="18600" y="81"/>
                      </a:cubicBezTo>
                      <a:cubicBezTo>
                        <a:pt x="18573" y="69"/>
                        <a:pt x="18548" y="51"/>
                        <a:pt x="18520" y="42"/>
                      </a:cubicBezTo>
                      <a:cubicBezTo>
                        <a:pt x="18438" y="15"/>
                        <a:pt x="18352" y="0"/>
                        <a:pt x="18263" y="0"/>
                      </a:cubicBezTo>
                      <a:lnTo>
                        <a:pt x="4188" y="0"/>
                      </a:lnTo>
                      <a:cubicBezTo>
                        <a:pt x="4104" y="0"/>
                        <a:pt x="4023" y="14"/>
                        <a:pt x="3944" y="38"/>
                      </a:cubicBezTo>
                      <a:cubicBezTo>
                        <a:pt x="3917" y="46"/>
                        <a:pt x="3892" y="63"/>
                        <a:pt x="3865" y="74"/>
                      </a:cubicBezTo>
                      <a:cubicBezTo>
                        <a:pt x="3816" y="95"/>
                        <a:pt x="3767" y="113"/>
                        <a:pt x="3722" y="143"/>
                      </a:cubicBezTo>
                      <a:cubicBezTo>
                        <a:pt x="3693" y="163"/>
                        <a:pt x="3669" y="189"/>
                        <a:pt x="3642" y="210"/>
                      </a:cubicBezTo>
                      <a:cubicBezTo>
                        <a:pt x="3603" y="242"/>
                        <a:pt x="3563" y="273"/>
                        <a:pt x="3528" y="311"/>
                      </a:cubicBezTo>
                      <a:cubicBezTo>
                        <a:pt x="3504" y="339"/>
                        <a:pt x="3485" y="372"/>
                        <a:pt x="3463" y="404"/>
                      </a:cubicBezTo>
                      <a:cubicBezTo>
                        <a:pt x="3438" y="438"/>
                        <a:pt x="3408" y="470"/>
                        <a:pt x="3387" y="510"/>
                      </a:cubicBezTo>
                      <a:lnTo>
                        <a:pt x="143" y="6413"/>
                      </a:lnTo>
                      <a:cubicBezTo>
                        <a:pt x="131" y="6436"/>
                        <a:pt x="126" y="6462"/>
                        <a:pt x="115" y="6486"/>
                      </a:cubicBezTo>
                      <a:cubicBezTo>
                        <a:pt x="105" y="6506"/>
                        <a:pt x="90" y="6522"/>
                        <a:pt x="82" y="6543"/>
                      </a:cubicBezTo>
                      <a:cubicBezTo>
                        <a:pt x="73" y="6566"/>
                        <a:pt x="73" y="6589"/>
                        <a:pt x="65" y="6610"/>
                      </a:cubicBezTo>
                      <a:cubicBezTo>
                        <a:pt x="47" y="6664"/>
                        <a:pt x="33" y="6718"/>
                        <a:pt x="23" y="6774"/>
                      </a:cubicBezTo>
                      <a:cubicBezTo>
                        <a:pt x="14" y="6818"/>
                        <a:pt x="8" y="6862"/>
                        <a:pt x="4" y="6906"/>
                      </a:cubicBezTo>
                      <a:cubicBezTo>
                        <a:pt x="-1" y="6961"/>
                        <a:pt x="-1" y="7016"/>
                        <a:pt x="2" y="7072"/>
                      </a:cubicBezTo>
                      <a:cubicBezTo>
                        <a:pt x="5" y="7117"/>
                        <a:pt x="8" y="7162"/>
                        <a:pt x="14" y="7206"/>
                      </a:cubicBezTo>
                      <a:cubicBezTo>
                        <a:pt x="22" y="7261"/>
                        <a:pt x="37" y="7312"/>
                        <a:pt x="52" y="7364"/>
                      </a:cubicBezTo>
                      <a:cubicBezTo>
                        <a:pt x="65" y="7408"/>
                        <a:pt x="77" y="7453"/>
                        <a:pt x="95" y="7495"/>
                      </a:cubicBezTo>
                      <a:cubicBezTo>
                        <a:pt x="101" y="7509"/>
                        <a:pt x="104" y="7526"/>
                        <a:pt x="110" y="7541"/>
                      </a:cubicBezTo>
                      <a:cubicBezTo>
                        <a:pt x="127" y="7578"/>
                        <a:pt x="152" y="7607"/>
                        <a:pt x="173" y="7640"/>
                      </a:cubicBezTo>
                      <a:cubicBezTo>
                        <a:pt x="189" y="7669"/>
                        <a:pt x="199" y="7699"/>
                        <a:pt x="218" y="7725"/>
                      </a:cubicBezTo>
                      <a:lnTo>
                        <a:pt x="10022" y="21203"/>
                      </a:lnTo>
                      <a:cubicBezTo>
                        <a:pt x="10191" y="21435"/>
                        <a:pt x="10444" y="21600"/>
                        <a:pt x="10697" y="21592"/>
                      </a:cubicBezTo>
                      <a:cubicBezTo>
                        <a:pt x="10700" y="21592"/>
                        <a:pt x="10703" y="21593"/>
                        <a:pt x="10705" y="21593"/>
                      </a:cubicBezTo>
                      <a:cubicBezTo>
                        <a:pt x="10720" y="21594"/>
                        <a:pt x="10733" y="21594"/>
                        <a:pt x="10747" y="21594"/>
                      </a:cubicBezTo>
                      <a:cubicBezTo>
                        <a:pt x="10748" y="21594"/>
                        <a:pt x="10748" y="21594"/>
                        <a:pt x="10748" y="21594"/>
                      </a:cubicBezTo>
                      <a:cubicBezTo>
                        <a:pt x="10748" y="21594"/>
                        <a:pt x="10748" y="21594"/>
                        <a:pt x="10749" y="21594"/>
                      </a:cubicBezTo>
                      <a:cubicBezTo>
                        <a:pt x="10834" y="21594"/>
                        <a:pt x="10917" y="21576"/>
                        <a:pt x="10997" y="21551"/>
                      </a:cubicBezTo>
                      <a:cubicBezTo>
                        <a:pt x="11021" y="21542"/>
                        <a:pt x="11042" y="21534"/>
                        <a:pt x="11066" y="21523"/>
                      </a:cubicBezTo>
                      <a:cubicBezTo>
                        <a:pt x="11125" y="21499"/>
                        <a:pt x="11182" y="21467"/>
                        <a:pt x="11237" y="21429"/>
                      </a:cubicBezTo>
                      <a:cubicBezTo>
                        <a:pt x="11255" y="21417"/>
                        <a:pt x="11275" y="21404"/>
                        <a:pt x="11293" y="21390"/>
                      </a:cubicBezTo>
                      <a:cubicBezTo>
                        <a:pt x="11357" y="21338"/>
                        <a:pt x="11418" y="21278"/>
                        <a:pt x="11470" y="21206"/>
                      </a:cubicBezTo>
                      <a:lnTo>
                        <a:pt x="21374" y="7728"/>
                      </a:lnTo>
                      <a:cubicBezTo>
                        <a:pt x="21387" y="7711"/>
                        <a:pt x="21394" y="7689"/>
                        <a:pt x="21405" y="7671"/>
                      </a:cubicBezTo>
                      <a:cubicBezTo>
                        <a:pt x="21421" y="7648"/>
                        <a:pt x="21441" y="7628"/>
                        <a:pt x="21454" y="7602"/>
                      </a:cubicBezTo>
                      <a:cubicBezTo>
                        <a:pt x="21468" y="7576"/>
                        <a:pt x="21475" y="7547"/>
                        <a:pt x="21487" y="7519"/>
                      </a:cubicBezTo>
                      <a:cubicBezTo>
                        <a:pt x="21504" y="7483"/>
                        <a:pt x="21520" y="7447"/>
                        <a:pt x="21532" y="7408"/>
                      </a:cubicBezTo>
                      <a:cubicBezTo>
                        <a:pt x="21551" y="7352"/>
                        <a:pt x="21563" y="7295"/>
                        <a:pt x="21574" y="7238"/>
                      </a:cubicBezTo>
                      <a:cubicBezTo>
                        <a:pt x="21582" y="7199"/>
                        <a:pt x="21590" y="7163"/>
                        <a:pt x="21593" y="7124"/>
                      </a:cubicBezTo>
                      <a:cubicBezTo>
                        <a:pt x="21599" y="7060"/>
                        <a:pt x="21597" y="6998"/>
                        <a:pt x="21593" y="6935"/>
                      </a:cubicBezTo>
                      <a:cubicBezTo>
                        <a:pt x="21590" y="6898"/>
                        <a:pt x="21592" y="6863"/>
                        <a:pt x="21587" y="6829"/>
                      </a:cubicBezTo>
                      <a:close/>
                    </a:path>
                  </a:pathLst>
                </a:custGeom>
                <a:gradFill>
                  <a:gsLst>
                    <a:gs pos="0">
                      <a:schemeClr val="accent2">
                        <a:lumMod val="60000"/>
                        <a:lumOff val="40000"/>
                      </a:schemeClr>
                    </a:gs>
                    <a:gs pos="100000">
                      <a:schemeClr val="accent2"/>
                    </a:gs>
                  </a:gsLst>
                  <a:lin ang="0" scaled="1"/>
                </a:gradFill>
                <a:ln w="9525">
                  <a:noFill/>
                  <a:round/>
                </a:ln>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84" name="小红书平北职场PPT1-34"/>
                <p:cNvSpPr/>
                <p:nvPr/>
              </p:nvSpPr>
              <p:spPr>
                <a:xfrm>
                  <a:off x="0" y="20648"/>
                  <a:ext cx="1657341" cy="33970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defRPr sz="1800">
                      <a:solidFill>
                        <a:srgbClr val="A7A7A7"/>
                      </a:solidFill>
                      <a:latin typeface="Barlow SemiBold"/>
                      <a:ea typeface="Barlow SemiBold"/>
                      <a:cs typeface="Barlow SemiBold"/>
                      <a:sym typeface="Barlow SemiBold"/>
                    </a:defRPr>
                  </a:lvl1pPr>
                </a:lstStyle>
                <a:p>
                  <a:pPr algn="ctr"/>
                  <a:r>
                    <a:rPr lang="zh-CN" altLang="en-US" sz="900" dirty="0">
                      <a:solidFill>
                        <a:schemeClr val="dk2">
                          <a:lumMod val="100000"/>
                        </a:schemeClr>
                      </a:solidFill>
                      <a:latin typeface="+mn-ea"/>
                      <a:ea typeface="+mn-ea"/>
                      <a:cs typeface="Roboto" panose="02000000000000000000" pitchFamily="2" charset="0"/>
                      <a:sym typeface="Roboto" panose="02000000000000000000" pitchFamily="2" charset="0"/>
                    </a:rPr>
                    <a:t>重要事件</a:t>
                  </a:r>
                  <a:r>
                    <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rPr>
                    <a:t>2</a:t>
                  </a:r>
                  <a:endPar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endParaRPr>
                </a:p>
              </p:txBody>
            </p:sp>
          </p:grpSp>
          <p:sp>
            <p:nvSpPr>
              <p:cNvPr id="82" name="小红书平北职场PPT1-35"/>
              <p:cNvSpPr/>
              <p:nvPr/>
            </p:nvSpPr>
            <p:spPr>
              <a:xfrm flipV="1">
                <a:off x="837063" y="862519"/>
                <a:ext cx="0" cy="8214098"/>
              </a:xfrm>
              <a:prstGeom prst="line">
                <a:avLst/>
              </a:prstGeom>
              <a:noFill/>
              <a:ln w="12700" cap="flat">
                <a:solidFill>
                  <a:schemeClr val="accent2"/>
                </a:solidFill>
                <a:custDash>
                  <a:ds d="200000" sp="200000"/>
                </a:custDash>
                <a:miter lim="400000"/>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grpSp>
          <p:nvGrpSpPr>
            <p:cNvPr id="32" name="Group"/>
            <p:cNvGrpSpPr/>
            <p:nvPr/>
          </p:nvGrpSpPr>
          <p:grpSpPr>
            <a:xfrm>
              <a:off x="6304296" y="1157198"/>
              <a:ext cx="861982" cy="5059706"/>
              <a:chOff x="0" y="20648"/>
              <a:chExt cx="1657342" cy="9055969"/>
            </a:xfrm>
          </p:grpSpPr>
          <p:grpSp>
            <p:nvGrpSpPr>
              <p:cNvPr id="77" name="Group"/>
              <p:cNvGrpSpPr/>
              <p:nvPr/>
            </p:nvGrpSpPr>
            <p:grpSpPr>
              <a:xfrm>
                <a:off x="0" y="20648"/>
                <a:ext cx="1657342" cy="704247"/>
                <a:chOff x="0" y="20648"/>
                <a:chExt cx="1657341" cy="704246"/>
              </a:xfrm>
            </p:grpSpPr>
            <p:sp>
              <p:nvSpPr>
                <p:cNvPr id="79" name="小红书平北职场PPT1-36"/>
                <p:cNvSpPr/>
                <p:nvPr/>
              </p:nvSpPr>
              <p:spPr>
                <a:xfrm>
                  <a:off x="654561" y="425764"/>
                  <a:ext cx="348218" cy="299130"/>
                </a:xfrm>
                <a:custGeom>
                  <a:avLst/>
                  <a:gdLst/>
                  <a:ahLst/>
                  <a:cxnLst>
                    <a:cxn ang="0">
                      <a:pos x="wd2" y="hd2"/>
                    </a:cxn>
                    <a:cxn ang="5400000">
                      <a:pos x="wd2" y="hd2"/>
                    </a:cxn>
                    <a:cxn ang="10800000">
                      <a:pos x="wd2" y="hd2"/>
                    </a:cxn>
                    <a:cxn ang="16200000">
                      <a:pos x="wd2" y="hd2"/>
                    </a:cxn>
                  </a:cxnLst>
                  <a:rect l="0" t="0" r="r" b="b"/>
                  <a:pathLst>
                    <a:path w="21597" h="21594" extrusionOk="0">
                      <a:moveTo>
                        <a:pt x="21587" y="6829"/>
                      </a:moveTo>
                      <a:cubicBezTo>
                        <a:pt x="21576" y="6749"/>
                        <a:pt x="21555" y="6670"/>
                        <a:pt x="21528" y="6595"/>
                      </a:cubicBezTo>
                      <a:cubicBezTo>
                        <a:pt x="21522" y="6578"/>
                        <a:pt x="21522" y="6562"/>
                        <a:pt x="21516" y="6545"/>
                      </a:cubicBezTo>
                      <a:cubicBezTo>
                        <a:pt x="21515" y="6544"/>
                        <a:pt x="21514" y="6542"/>
                        <a:pt x="21513" y="6542"/>
                      </a:cubicBezTo>
                      <a:cubicBezTo>
                        <a:pt x="21513" y="6540"/>
                        <a:pt x="21513" y="6539"/>
                        <a:pt x="21512" y="6538"/>
                      </a:cubicBezTo>
                      <a:lnTo>
                        <a:pt x="19123" y="635"/>
                      </a:lnTo>
                      <a:cubicBezTo>
                        <a:pt x="19118" y="621"/>
                        <a:pt x="19108" y="609"/>
                        <a:pt x="19101" y="595"/>
                      </a:cubicBezTo>
                      <a:cubicBezTo>
                        <a:pt x="19093" y="578"/>
                        <a:pt x="19090" y="558"/>
                        <a:pt x="19081" y="542"/>
                      </a:cubicBezTo>
                      <a:cubicBezTo>
                        <a:pt x="19063" y="506"/>
                        <a:pt x="19038" y="478"/>
                        <a:pt x="19016" y="446"/>
                      </a:cubicBezTo>
                      <a:cubicBezTo>
                        <a:pt x="18995" y="413"/>
                        <a:pt x="18975" y="377"/>
                        <a:pt x="18951" y="348"/>
                      </a:cubicBezTo>
                      <a:cubicBezTo>
                        <a:pt x="18915" y="305"/>
                        <a:pt x="18874" y="268"/>
                        <a:pt x="18833" y="232"/>
                      </a:cubicBezTo>
                      <a:cubicBezTo>
                        <a:pt x="18807" y="208"/>
                        <a:pt x="18782" y="182"/>
                        <a:pt x="18754" y="162"/>
                      </a:cubicBezTo>
                      <a:cubicBezTo>
                        <a:pt x="18705" y="128"/>
                        <a:pt x="18653" y="104"/>
                        <a:pt x="18600" y="81"/>
                      </a:cubicBezTo>
                      <a:cubicBezTo>
                        <a:pt x="18573" y="69"/>
                        <a:pt x="18548" y="51"/>
                        <a:pt x="18520" y="42"/>
                      </a:cubicBezTo>
                      <a:cubicBezTo>
                        <a:pt x="18438" y="15"/>
                        <a:pt x="18352" y="0"/>
                        <a:pt x="18263" y="0"/>
                      </a:cubicBezTo>
                      <a:lnTo>
                        <a:pt x="4188" y="0"/>
                      </a:lnTo>
                      <a:cubicBezTo>
                        <a:pt x="4104" y="0"/>
                        <a:pt x="4023" y="14"/>
                        <a:pt x="3944" y="38"/>
                      </a:cubicBezTo>
                      <a:cubicBezTo>
                        <a:pt x="3917" y="46"/>
                        <a:pt x="3892" y="63"/>
                        <a:pt x="3865" y="74"/>
                      </a:cubicBezTo>
                      <a:cubicBezTo>
                        <a:pt x="3816" y="95"/>
                        <a:pt x="3767" y="113"/>
                        <a:pt x="3722" y="143"/>
                      </a:cubicBezTo>
                      <a:cubicBezTo>
                        <a:pt x="3693" y="163"/>
                        <a:pt x="3669" y="189"/>
                        <a:pt x="3642" y="210"/>
                      </a:cubicBezTo>
                      <a:cubicBezTo>
                        <a:pt x="3603" y="242"/>
                        <a:pt x="3563" y="273"/>
                        <a:pt x="3528" y="311"/>
                      </a:cubicBezTo>
                      <a:cubicBezTo>
                        <a:pt x="3504" y="339"/>
                        <a:pt x="3485" y="372"/>
                        <a:pt x="3463" y="404"/>
                      </a:cubicBezTo>
                      <a:cubicBezTo>
                        <a:pt x="3438" y="438"/>
                        <a:pt x="3408" y="470"/>
                        <a:pt x="3387" y="510"/>
                      </a:cubicBezTo>
                      <a:lnTo>
                        <a:pt x="143" y="6413"/>
                      </a:lnTo>
                      <a:cubicBezTo>
                        <a:pt x="131" y="6436"/>
                        <a:pt x="126" y="6462"/>
                        <a:pt x="115" y="6486"/>
                      </a:cubicBezTo>
                      <a:cubicBezTo>
                        <a:pt x="105" y="6506"/>
                        <a:pt x="90" y="6522"/>
                        <a:pt x="82" y="6543"/>
                      </a:cubicBezTo>
                      <a:cubicBezTo>
                        <a:pt x="73" y="6566"/>
                        <a:pt x="73" y="6589"/>
                        <a:pt x="65" y="6610"/>
                      </a:cubicBezTo>
                      <a:cubicBezTo>
                        <a:pt x="47" y="6664"/>
                        <a:pt x="33" y="6718"/>
                        <a:pt x="23" y="6774"/>
                      </a:cubicBezTo>
                      <a:cubicBezTo>
                        <a:pt x="14" y="6818"/>
                        <a:pt x="8" y="6862"/>
                        <a:pt x="4" y="6906"/>
                      </a:cubicBezTo>
                      <a:cubicBezTo>
                        <a:pt x="-1" y="6961"/>
                        <a:pt x="-1" y="7016"/>
                        <a:pt x="2" y="7072"/>
                      </a:cubicBezTo>
                      <a:cubicBezTo>
                        <a:pt x="5" y="7117"/>
                        <a:pt x="8" y="7162"/>
                        <a:pt x="14" y="7206"/>
                      </a:cubicBezTo>
                      <a:cubicBezTo>
                        <a:pt x="22" y="7261"/>
                        <a:pt x="37" y="7312"/>
                        <a:pt x="52" y="7364"/>
                      </a:cubicBezTo>
                      <a:cubicBezTo>
                        <a:pt x="65" y="7408"/>
                        <a:pt x="77" y="7453"/>
                        <a:pt x="95" y="7495"/>
                      </a:cubicBezTo>
                      <a:cubicBezTo>
                        <a:pt x="101" y="7509"/>
                        <a:pt x="104" y="7526"/>
                        <a:pt x="110" y="7541"/>
                      </a:cubicBezTo>
                      <a:cubicBezTo>
                        <a:pt x="127" y="7578"/>
                        <a:pt x="152" y="7607"/>
                        <a:pt x="173" y="7640"/>
                      </a:cubicBezTo>
                      <a:cubicBezTo>
                        <a:pt x="189" y="7669"/>
                        <a:pt x="199" y="7699"/>
                        <a:pt x="218" y="7725"/>
                      </a:cubicBezTo>
                      <a:lnTo>
                        <a:pt x="10022" y="21203"/>
                      </a:lnTo>
                      <a:cubicBezTo>
                        <a:pt x="10191" y="21435"/>
                        <a:pt x="10444" y="21600"/>
                        <a:pt x="10697" y="21592"/>
                      </a:cubicBezTo>
                      <a:cubicBezTo>
                        <a:pt x="10700" y="21592"/>
                        <a:pt x="10703" y="21593"/>
                        <a:pt x="10705" y="21593"/>
                      </a:cubicBezTo>
                      <a:cubicBezTo>
                        <a:pt x="10720" y="21594"/>
                        <a:pt x="10733" y="21594"/>
                        <a:pt x="10747" y="21594"/>
                      </a:cubicBezTo>
                      <a:cubicBezTo>
                        <a:pt x="10748" y="21594"/>
                        <a:pt x="10748" y="21594"/>
                        <a:pt x="10748" y="21594"/>
                      </a:cubicBezTo>
                      <a:cubicBezTo>
                        <a:pt x="10748" y="21594"/>
                        <a:pt x="10748" y="21594"/>
                        <a:pt x="10749" y="21594"/>
                      </a:cubicBezTo>
                      <a:cubicBezTo>
                        <a:pt x="10834" y="21594"/>
                        <a:pt x="10917" y="21576"/>
                        <a:pt x="10997" y="21551"/>
                      </a:cubicBezTo>
                      <a:cubicBezTo>
                        <a:pt x="11021" y="21542"/>
                        <a:pt x="11042" y="21534"/>
                        <a:pt x="11066" y="21523"/>
                      </a:cubicBezTo>
                      <a:cubicBezTo>
                        <a:pt x="11125" y="21499"/>
                        <a:pt x="11182" y="21467"/>
                        <a:pt x="11237" y="21429"/>
                      </a:cubicBezTo>
                      <a:cubicBezTo>
                        <a:pt x="11255" y="21417"/>
                        <a:pt x="11275" y="21404"/>
                        <a:pt x="11293" y="21390"/>
                      </a:cubicBezTo>
                      <a:cubicBezTo>
                        <a:pt x="11357" y="21338"/>
                        <a:pt x="11418" y="21278"/>
                        <a:pt x="11470" y="21206"/>
                      </a:cubicBezTo>
                      <a:lnTo>
                        <a:pt x="21374" y="7728"/>
                      </a:lnTo>
                      <a:cubicBezTo>
                        <a:pt x="21387" y="7711"/>
                        <a:pt x="21394" y="7689"/>
                        <a:pt x="21405" y="7671"/>
                      </a:cubicBezTo>
                      <a:cubicBezTo>
                        <a:pt x="21421" y="7648"/>
                        <a:pt x="21441" y="7628"/>
                        <a:pt x="21454" y="7602"/>
                      </a:cubicBezTo>
                      <a:cubicBezTo>
                        <a:pt x="21468" y="7576"/>
                        <a:pt x="21475" y="7547"/>
                        <a:pt x="21487" y="7519"/>
                      </a:cubicBezTo>
                      <a:cubicBezTo>
                        <a:pt x="21504" y="7483"/>
                        <a:pt x="21520" y="7447"/>
                        <a:pt x="21532" y="7408"/>
                      </a:cubicBezTo>
                      <a:cubicBezTo>
                        <a:pt x="21551" y="7352"/>
                        <a:pt x="21563" y="7295"/>
                        <a:pt x="21574" y="7238"/>
                      </a:cubicBezTo>
                      <a:cubicBezTo>
                        <a:pt x="21582" y="7199"/>
                        <a:pt x="21590" y="7163"/>
                        <a:pt x="21593" y="7124"/>
                      </a:cubicBezTo>
                      <a:cubicBezTo>
                        <a:pt x="21599" y="7060"/>
                        <a:pt x="21597" y="6998"/>
                        <a:pt x="21593" y="6935"/>
                      </a:cubicBezTo>
                      <a:cubicBezTo>
                        <a:pt x="21590" y="6898"/>
                        <a:pt x="21592" y="6863"/>
                        <a:pt x="21587" y="6829"/>
                      </a:cubicBezTo>
                      <a:close/>
                    </a:path>
                  </a:pathLst>
                </a:custGeom>
                <a:gradFill>
                  <a:gsLst>
                    <a:gs pos="0">
                      <a:schemeClr val="accent2">
                        <a:lumMod val="60000"/>
                        <a:lumOff val="40000"/>
                      </a:schemeClr>
                    </a:gs>
                    <a:gs pos="100000">
                      <a:schemeClr val="accent2"/>
                    </a:gs>
                  </a:gsLst>
                  <a:lin ang="0" scaled="1"/>
                </a:gradFill>
                <a:ln w="9525">
                  <a:noFill/>
                  <a:round/>
                </a:ln>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80" name="小红书平北职场PPT1-37"/>
                <p:cNvSpPr/>
                <p:nvPr/>
              </p:nvSpPr>
              <p:spPr>
                <a:xfrm>
                  <a:off x="0" y="20648"/>
                  <a:ext cx="1657341" cy="33970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defRPr sz="1800">
                      <a:solidFill>
                        <a:srgbClr val="A7A7A7"/>
                      </a:solidFill>
                      <a:latin typeface="Barlow SemiBold"/>
                      <a:ea typeface="Barlow SemiBold"/>
                      <a:cs typeface="Barlow SemiBold"/>
                      <a:sym typeface="Barlow SemiBold"/>
                    </a:defRPr>
                  </a:lvl1pPr>
                </a:lstStyle>
                <a:p>
                  <a:pPr algn="ctr"/>
                  <a:r>
                    <a:rPr lang="zh-CN" altLang="en-US" sz="900" dirty="0">
                      <a:solidFill>
                        <a:schemeClr val="dk2">
                          <a:lumMod val="100000"/>
                        </a:schemeClr>
                      </a:solidFill>
                      <a:latin typeface="+mn-ea"/>
                      <a:ea typeface="+mn-ea"/>
                      <a:cs typeface="Roboto" panose="02000000000000000000" pitchFamily="2" charset="0"/>
                      <a:sym typeface="Roboto" panose="02000000000000000000" pitchFamily="2" charset="0"/>
                    </a:rPr>
                    <a:t>重要事件</a:t>
                  </a:r>
                  <a:r>
                    <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rPr>
                    <a:t>3</a:t>
                  </a:r>
                  <a:endPar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endParaRPr>
                </a:p>
              </p:txBody>
            </p:sp>
          </p:grpSp>
          <p:sp>
            <p:nvSpPr>
              <p:cNvPr id="78" name="小红书平北职场PPT1-38"/>
              <p:cNvSpPr/>
              <p:nvPr/>
            </p:nvSpPr>
            <p:spPr>
              <a:xfrm flipV="1">
                <a:off x="837063" y="862519"/>
                <a:ext cx="0" cy="8214098"/>
              </a:xfrm>
              <a:prstGeom prst="line">
                <a:avLst/>
              </a:prstGeom>
              <a:noFill/>
              <a:ln w="12700" cap="flat">
                <a:solidFill>
                  <a:schemeClr val="accent2"/>
                </a:solidFill>
                <a:custDash>
                  <a:ds d="200000" sp="200000"/>
                </a:custDash>
                <a:miter lim="400000"/>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grpSp>
          <p:nvGrpSpPr>
            <p:cNvPr id="33" name="Group"/>
            <p:cNvGrpSpPr/>
            <p:nvPr/>
          </p:nvGrpSpPr>
          <p:grpSpPr>
            <a:xfrm>
              <a:off x="9743059" y="1157198"/>
              <a:ext cx="861982" cy="5059706"/>
              <a:chOff x="0" y="20648"/>
              <a:chExt cx="1657342" cy="9055970"/>
            </a:xfrm>
          </p:grpSpPr>
          <p:grpSp>
            <p:nvGrpSpPr>
              <p:cNvPr id="73" name="Group"/>
              <p:cNvGrpSpPr/>
              <p:nvPr/>
            </p:nvGrpSpPr>
            <p:grpSpPr>
              <a:xfrm>
                <a:off x="0" y="20648"/>
                <a:ext cx="1657342" cy="704247"/>
                <a:chOff x="0" y="20648"/>
                <a:chExt cx="1657341" cy="704246"/>
              </a:xfrm>
            </p:grpSpPr>
            <p:sp>
              <p:nvSpPr>
                <p:cNvPr id="75" name="小红书平北职场PPT1-39"/>
                <p:cNvSpPr/>
                <p:nvPr/>
              </p:nvSpPr>
              <p:spPr>
                <a:xfrm>
                  <a:off x="654561" y="425764"/>
                  <a:ext cx="348218" cy="299130"/>
                </a:xfrm>
                <a:custGeom>
                  <a:avLst/>
                  <a:gdLst/>
                  <a:ahLst/>
                  <a:cxnLst>
                    <a:cxn ang="0">
                      <a:pos x="wd2" y="hd2"/>
                    </a:cxn>
                    <a:cxn ang="5400000">
                      <a:pos x="wd2" y="hd2"/>
                    </a:cxn>
                    <a:cxn ang="10800000">
                      <a:pos x="wd2" y="hd2"/>
                    </a:cxn>
                    <a:cxn ang="16200000">
                      <a:pos x="wd2" y="hd2"/>
                    </a:cxn>
                  </a:cxnLst>
                  <a:rect l="0" t="0" r="r" b="b"/>
                  <a:pathLst>
                    <a:path w="21597" h="21594" extrusionOk="0">
                      <a:moveTo>
                        <a:pt x="21587" y="6829"/>
                      </a:moveTo>
                      <a:cubicBezTo>
                        <a:pt x="21576" y="6749"/>
                        <a:pt x="21555" y="6670"/>
                        <a:pt x="21528" y="6595"/>
                      </a:cubicBezTo>
                      <a:cubicBezTo>
                        <a:pt x="21522" y="6578"/>
                        <a:pt x="21522" y="6562"/>
                        <a:pt x="21516" y="6545"/>
                      </a:cubicBezTo>
                      <a:cubicBezTo>
                        <a:pt x="21515" y="6544"/>
                        <a:pt x="21514" y="6542"/>
                        <a:pt x="21513" y="6542"/>
                      </a:cubicBezTo>
                      <a:cubicBezTo>
                        <a:pt x="21513" y="6540"/>
                        <a:pt x="21513" y="6539"/>
                        <a:pt x="21512" y="6538"/>
                      </a:cubicBezTo>
                      <a:lnTo>
                        <a:pt x="19123" y="635"/>
                      </a:lnTo>
                      <a:cubicBezTo>
                        <a:pt x="19118" y="621"/>
                        <a:pt x="19108" y="609"/>
                        <a:pt x="19101" y="595"/>
                      </a:cubicBezTo>
                      <a:cubicBezTo>
                        <a:pt x="19093" y="578"/>
                        <a:pt x="19090" y="558"/>
                        <a:pt x="19081" y="542"/>
                      </a:cubicBezTo>
                      <a:cubicBezTo>
                        <a:pt x="19063" y="506"/>
                        <a:pt x="19038" y="478"/>
                        <a:pt x="19016" y="446"/>
                      </a:cubicBezTo>
                      <a:cubicBezTo>
                        <a:pt x="18995" y="413"/>
                        <a:pt x="18975" y="377"/>
                        <a:pt x="18951" y="348"/>
                      </a:cubicBezTo>
                      <a:cubicBezTo>
                        <a:pt x="18915" y="305"/>
                        <a:pt x="18874" y="268"/>
                        <a:pt x="18833" y="232"/>
                      </a:cubicBezTo>
                      <a:cubicBezTo>
                        <a:pt x="18807" y="208"/>
                        <a:pt x="18782" y="182"/>
                        <a:pt x="18754" y="162"/>
                      </a:cubicBezTo>
                      <a:cubicBezTo>
                        <a:pt x="18705" y="128"/>
                        <a:pt x="18653" y="104"/>
                        <a:pt x="18600" y="81"/>
                      </a:cubicBezTo>
                      <a:cubicBezTo>
                        <a:pt x="18573" y="69"/>
                        <a:pt x="18548" y="51"/>
                        <a:pt x="18520" y="42"/>
                      </a:cubicBezTo>
                      <a:cubicBezTo>
                        <a:pt x="18438" y="15"/>
                        <a:pt x="18352" y="0"/>
                        <a:pt x="18263" y="0"/>
                      </a:cubicBezTo>
                      <a:lnTo>
                        <a:pt x="4188" y="0"/>
                      </a:lnTo>
                      <a:cubicBezTo>
                        <a:pt x="4104" y="0"/>
                        <a:pt x="4023" y="14"/>
                        <a:pt x="3944" y="38"/>
                      </a:cubicBezTo>
                      <a:cubicBezTo>
                        <a:pt x="3917" y="46"/>
                        <a:pt x="3892" y="63"/>
                        <a:pt x="3865" y="74"/>
                      </a:cubicBezTo>
                      <a:cubicBezTo>
                        <a:pt x="3816" y="95"/>
                        <a:pt x="3767" y="113"/>
                        <a:pt x="3722" y="143"/>
                      </a:cubicBezTo>
                      <a:cubicBezTo>
                        <a:pt x="3693" y="163"/>
                        <a:pt x="3669" y="189"/>
                        <a:pt x="3642" y="210"/>
                      </a:cubicBezTo>
                      <a:cubicBezTo>
                        <a:pt x="3603" y="242"/>
                        <a:pt x="3563" y="273"/>
                        <a:pt x="3528" y="311"/>
                      </a:cubicBezTo>
                      <a:cubicBezTo>
                        <a:pt x="3504" y="339"/>
                        <a:pt x="3485" y="372"/>
                        <a:pt x="3463" y="404"/>
                      </a:cubicBezTo>
                      <a:cubicBezTo>
                        <a:pt x="3438" y="438"/>
                        <a:pt x="3408" y="470"/>
                        <a:pt x="3387" y="510"/>
                      </a:cubicBezTo>
                      <a:lnTo>
                        <a:pt x="143" y="6413"/>
                      </a:lnTo>
                      <a:cubicBezTo>
                        <a:pt x="131" y="6436"/>
                        <a:pt x="126" y="6462"/>
                        <a:pt x="115" y="6486"/>
                      </a:cubicBezTo>
                      <a:cubicBezTo>
                        <a:pt x="105" y="6506"/>
                        <a:pt x="90" y="6522"/>
                        <a:pt x="82" y="6543"/>
                      </a:cubicBezTo>
                      <a:cubicBezTo>
                        <a:pt x="73" y="6566"/>
                        <a:pt x="73" y="6589"/>
                        <a:pt x="65" y="6610"/>
                      </a:cubicBezTo>
                      <a:cubicBezTo>
                        <a:pt x="47" y="6664"/>
                        <a:pt x="33" y="6718"/>
                        <a:pt x="23" y="6774"/>
                      </a:cubicBezTo>
                      <a:cubicBezTo>
                        <a:pt x="14" y="6818"/>
                        <a:pt x="8" y="6862"/>
                        <a:pt x="4" y="6906"/>
                      </a:cubicBezTo>
                      <a:cubicBezTo>
                        <a:pt x="-1" y="6961"/>
                        <a:pt x="-1" y="7016"/>
                        <a:pt x="2" y="7072"/>
                      </a:cubicBezTo>
                      <a:cubicBezTo>
                        <a:pt x="5" y="7117"/>
                        <a:pt x="8" y="7162"/>
                        <a:pt x="14" y="7206"/>
                      </a:cubicBezTo>
                      <a:cubicBezTo>
                        <a:pt x="22" y="7261"/>
                        <a:pt x="37" y="7312"/>
                        <a:pt x="52" y="7364"/>
                      </a:cubicBezTo>
                      <a:cubicBezTo>
                        <a:pt x="65" y="7408"/>
                        <a:pt x="77" y="7453"/>
                        <a:pt x="95" y="7495"/>
                      </a:cubicBezTo>
                      <a:cubicBezTo>
                        <a:pt x="101" y="7509"/>
                        <a:pt x="104" y="7526"/>
                        <a:pt x="110" y="7541"/>
                      </a:cubicBezTo>
                      <a:cubicBezTo>
                        <a:pt x="127" y="7578"/>
                        <a:pt x="152" y="7607"/>
                        <a:pt x="173" y="7640"/>
                      </a:cubicBezTo>
                      <a:cubicBezTo>
                        <a:pt x="189" y="7669"/>
                        <a:pt x="199" y="7699"/>
                        <a:pt x="218" y="7725"/>
                      </a:cubicBezTo>
                      <a:lnTo>
                        <a:pt x="10022" y="21203"/>
                      </a:lnTo>
                      <a:cubicBezTo>
                        <a:pt x="10191" y="21435"/>
                        <a:pt x="10444" y="21600"/>
                        <a:pt x="10697" y="21592"/>
                      </a:cubicBezTo>
                      <a:cubicBezTo>
                        <a:pt x="10700" y="21592"/>
                        <a:pt x="10703" y="21593"/>
                        <a:pt x="10705" y="21593"/>
                      </a:cubicBezTo>
                      <a:cubicBezTo>
                        <a:pt x="10720" y="21594"/>
                        <a:pt x="10733" y="21594"/>
                        <a:pt x="10747" y="21594"/>
                      </a:cubicBezTo>
                      <a:cubicBezTo>
                        <a:pt x="10748" y="21594"/>
                        <a:pt x="10748" y="21594"/>
                        <a:pt x="10748" y="21594"/>
                      </a:cubicBezTo>
                      <a:cubicBezTo>
                        <a:pt x="10748" y="21594"/>
                        <a:pt x="10748" y="21594"/>
                        <a:pt x="10749" y="21594"/>
                      </a:cubicBezTo>
                      <a:cubicBezTo>
                        <a:pt x="10834" y="21594"/>
                        <a:pt x="10917" y="21576"/>
                        <a:pt x="10997" y="21551"/>
                      </a:cubicBezTo>
                      <a:cubicBezTo>
                        <a:pt x="11021" y="21542"/>
                        <a:pt x="11042" y="21534"/>
                        <a:pt x="11066" y="21523"/>
                      </a:cubicBezTo>
                      <a:cubicBezTo>
                        <a:pt x="11125" y="21499"/>
                        <a:pt x="11182" y="21467"/>
                        <a:pt x="11237" y="21429"/>
                      </a:cubicBezTo>
                      <a:cubicBezTo>
                        <a:pt x="11255" y="21417"/>
                        <a:pt x="11275" y="21404"/>
                        <a:pt x="11293" y="21390"/>
                      </a:cubicBezTo>
                      <a:cubicBezTo>
                        <a:pt x="11357" y="21338"/>
                        <a:pt x="11418" y="21278"/>
                        <a:pt x="11470" y="21206"/>
                      </a:cubicBezTo>
                      <a:lnTo>
                        <a:pt x="21374" y="7728"/>
                      </a:lnTo>
                      <a:cubicBezTo>
                        <a:pt x="21387" y="7711"/>
                        <a:pt x="21394" y="7689"/>
                        <a:pt x="21405" y="7671"/>
                      </a:cubicBezTo>
                      <a:cubicBezTo>
                        <a:pt x="21421" y="7648"/>
                        <a:pt x="21441" y="7628"/>
                        <a:pt x="21454" y="7602"/>
                      </a:cubicBezTo>
                      <a:cubicBezTo>
                        <a:pt x="21468" y="7576"/>
                        <a:pt x="21475" y="7547"/>
                        <a:pt x="21487" y="7519"/>
                      </a:cubicBezTo>
                      <a:cubicBezTo>
                        <a:pt x="21504" y="7483"/>
                        <a:pt x="21520" y="7447"/>
                        <a:pt x="21532" y="7408"/>
                      </a:cubicBezTo>
                      <a:cubicBezTo>
                        <a:pt x="21551" y="7352"/>
                        <a:pt x="21563" y="7295"/>
                        <a:pt x="21574" y="7238"/>
                      </a:cubicBezTo>
                      <a:cubicBezTo>
                        <a:pt x="21582" y="7199"/>
                        <a:pt x="21590" y="7163"/>
                        <a:pt x="21593" y="7124"/>
                      </a:cubicBezTo>
                      <a:cubicBezTo>
                        <a:pt x="21599" y="7060"/>
                        <a:pt x="21597" y="6998"/>
                        <a:pt x="21593" y="6935"/>
                      </a:cubicBezTo>
                      <a:cubicBezTo>
                        <a:pt x="21590" y="6898"/>
                        <a:pt x="21592" y="6863"/>
                        <a:pt x="21587" y="6829"/>
                      </a:cubicBezTo>
                      <a:close/>
                    </a:path>
                  </a:pathLst>
                </a:custGeom>
                <a:gradFill>
                  <a:gsLst>
                    <a:gs pos="0">
                      <a:schemeClr val="accent1">
                        <a:lumMod val="60000"/>
                        <a:lumOff val="40000"/>
                      </a:schemeClr>
                    </a:gs>
                    <a:gs pos="100000">
                      <a:schemeClr val="accent1"/>
                    </a:gs>
                  </a:gsLst>
                  <a:lin ang="0" scaled="1"/>
                </a:gradFill>
                <a:ln w="9525">
                  <a:noFill/>
                  <a:round/>
                </a:ln>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76" name="小红书平北职场PPT1-40"/>
                <p:cNvSpPr/>
                <p:nvPr/>
              </p:nvSpPr>
              <p:spPr>
                <a:xfrm>
                  <a:off x="0" y="20648"/>
                  <a:ext cx="1657341" cy="33970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defRPr sz="1800">
                      <a:solidFill>
                        <a:srgbClr val="A7A7A7"/>
                      </a:solidFill>
                      <a:latin typeface="Barlow SemiBold"/>
                      <a:ea typeface="Barlow SemiBold"/>
                      <a:cs typeface="Barlow SemiBold"/>
                      <a:sym typeface="Barlow SemiBold"/>
                    </a:defRPr>
                  </a:lvl1pPr>
                </a:lstStyle>
                <a:p>
                  <a:pPr algn="ctr"/>
                  <a:r>
                    <a:rPr lang="zh-CN" altLang="en-US" sz="900" dirty="0">
                      <a:solidFill>
                        <a:schemeClr val="dk2">
                          <a:lumMod val="100000"/>
                        </a:schemeClr>
                      </a:solidFill>
                      <a:latin typeface="+mn-ea"/>
                      <a:ea typeface="+mn-ea"/>
                      <a:cs typeface="Roboto" panose="02000000000000000000" pitchFamily="2" charset="0"/>
                      <a:sym typeface="Roboto" panose="02000000000000000000" pitchFamily="2" charset="0"/>
                    </a:rPr>
                    <a:t>重要事件</a:t>
                  </a:r>
                  <a:r>
                    <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rPr>
                    <a:t>4</a:t>
                  </a:r>
                  <a:endPar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endParaRPr>
                </a:p>
              </p:txBody>
            </p:sp>
          </p:grpSp>
          <p:sp>
            <p:nvSpPr>
              <p:cNvPr id="74" name="小红书平北职场PPT1-41"/>
              <p:cNvSpPr/>
              <p:nvPr/>
            </p:nvSpPr>
            <p:spPr>
              <a:xfrm flipV="1">
                <a:off x="837063" y="862520"/>
                <a:ext cx="0" cy="8214098"/>
              </a:xfrm>
              <a:prstGeom prst="line">
                <a:avLst/>
              </a:prstGeom>
              <a:noFill/>
              <a:ln w="12700" cap="flat">
                <a:solidFill>
                  <a:schemeClr val="accent2"/>
                </a:solidFill>
                <a:custDash>
                  <a:ds d="200000" sp="200000"/>
                </a:custDash>
                <a:miter lim="400000"/>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grpSp>
          <p:nvGrpSpPr>
            <p:cNvPr id="34" name="组合 33"/>
            <p:cNvGrpSpPr/>
            <p:nvPr/>
          </p:nvGrpSpPr>
          <p:grpSpPr>
            <a:xfrm>
              <a:off x="618044" y="2366574"/>
              <a:ext cx="10964034" cy="3855825"/>
              <a:chOff x="618044" y="2366574"/>
              <a:chExt cx="10964034" cy="3855825"/>
            </a:xfrm>
          </p:grpSpPr>
          <p:grpSp>
            <p:nvGrpSpPr>
              <p:cNvPr id="45" name="Group"/>
              <p:cNvGrpSpPr/>
              <p:nvPr/>
            </p:nvGrpSpPr>
            <p:grpSpPr>
              <a:xfrm>
                <a:off x="6198612" y="4198509"/>
                <a:ext cx="1194983" cy="390818"/>
                <a:chOff x="0" y="0"/>
                <a:chExt cx="2297608" cy="699494"/>
              </a:xfrm>
            </p:grpSpPr>
            <p:sp>
              <p:nvSpPr>
                <p:cNvPr id="71" name="小红书平北职场PPT1-42"/>
                <p:cNvSpPr/>
                <p:nvPr/>
              </p:nvSpPr>
              <p:spPr>
                <a:xfrm>
                  <a:off x="0" y="0"/>
                  <a:ext cx="2297608" cy="699494"/>
                </a:xfrm>
                <a:prstGeom prst="roundRect">
                  <a:avLst>
                    <a:gd name="adj" fmla="val 15614"/>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72" name="小红书平北职场PPT1-43"/>
                <p:cNvSpPr/>
                <p:nvPr/>
              </p:nvSpPr>
              <p:spPr>
                <a:xfrm>
                  <a:off x="169520" y="115409"/>
                  <a:ext cx="1987738"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zh-CN" altLang="en-US" sz="1200" dirty="0">
                      <a:solidFill>
                        <a:schemeClr val="bg1"/>
                      </a:solidFill>
                      <a:latin typeface="+mj-ea"/>
                      <a:ea typeface="+mj-ea"/>
                      <a:cs typeface="Roboto" panose="02000000000000000000" pitchFamily="2" charset="0"/>
                      <a:sym typeface="Roboto" panose="02000000000000000000" pitchFamily="2" charset="0"/>
                    </a:rPr>
                    <a:t>内容生态建设</a:t>
                  </a:r>
                  <a:endParaRPr sz="1200" dirty="0">
                    <a:solidFill>
                      <a:schemeClr val="bg1"/>
                    </a:solidFill>
                    <a:latin typeface="+mj-ea"/>
                    <a:ea typeface="+mj-ea"/>
                    <a:cs typeface="Roboto" panose="02000000000000000000" pitchFamily="2" charset="0"/>
                    <a:sym typeface="Roboto" panose="02000000000000000000" pitchFamily="2" charset="0"/>
                  </a:endParaRPr>
                </a:p>
              </p:txBody>
            </p:sp>
          </p:grpSp>
          <p:sp>
            <p:nvSpPr>
              <p:cNvPr id="46" name="小红书平北职场PPT1-44"/>
              <p:cNvSpPr txBox="1"/>
              <p:nvPr/>
            </p:nvSpPr>
            <p:spPr>
              <a:xfrm>
                <a:off x="6304296" y="3944431"/>
                <a:ext cx="861981" cy="235962"/>
              </a:xfrm>
              <a:prstGeom prst="rect">
                <a:avLst/>
              </a:prstGeom>
              <a:ln w="12700">
                <a:miter lim="400000"/>
              </a:ln>
            </p:spPr>
            <p:txBody>
              <a:bodyPr lIns="25400" tIns="25400" rIns="25400" bIns="25400" anchor="ctr">
                <a:spAutoFit/>
              </a:bodyPr>
              <a:lstStyle>
                <a:lvl1pPr algn="l">
                  <a:defRPr sz="1800">
                    <a:solidFill>
                      <a:srgbClr val="A7A7A7"/>
                    </a:solidFill>
                    <a:latin typeface="Barlow SemiBold"/>
                    <a:ea typeface="Barlow SemiBold"/>
                    <a:cs typeface="Barlow SemiBold"/>
                    <a:sym typeface="Barlow SemiBold"/>
                  </a:defRPr>
                </a:lvl1pPr>
              </a:lstStyle>
              <a:p>
                <a:pPr algn="ctr"/>
                <a:r>
                  <a:rPr lang="zh-CN" altLang="en-US" sz="1200" b="1" dirty="0">
                    <a:solidFill>
                      <a:schemeClr val="accent1"/>
                    </a:solidFill>
                    <a:latin typeface="+mj-ea"/>
                    <a:ea typeface="+mj-ea"/>
                    <a:cs typeface="Roboto" panose="02000000000000000000" pitchFamily="2" charset="0"/>
                    <a:sym typeface="Roboto" panose="02000000000000000000" pitchFamily="2" charset="0"/>
                  </a:rPr>
                  <a:t>待开始</a:t>
                </a:r>
                <a:endParaRPr sz="1200" b="1" dirty="0">
                  <a:solidFill>
                    <a:schemeClr val="accent1"/>
                  </a:solidFill>
                  <a:latin typeface="+mj-ea"/>
                  <a:ea typeface="+mj-ea"/>
                  <a:cs typeface="Roboto" panose="02000000000000000000" pitchFamily="2" charset="0"/>
                  <a:sym typeface="Roboto" panose="02000000000000000000" pitchFamily="2" charset="0"/>
                </a:endParaRPr>
              </a:p>
            </p:txBody>
          </p:sp>
          <p:grpSp>
            <p:nvGrpSpPr>
              <p:cNvPr id="47" name="Group"/>
              <p:cNvGrpSpPr/>
              <p:nvPr/>
            </p:nvGrpSpPr>
            <p:grpSpPr>
              <a:xfrm>
                <a:off x="3204311" y="3475815"/>
                <a:ext cx="3046181" cy="390818"/>
                <a:chOff x="0" y="0"/>
                <a:chExt cx="5856930" cy="699494"/>
              </a:xfrm>
            </p:grpSpPr>
            <p:sp>
              <p:nvSpPr>
                <p:cNvPr id="69" name="小红书平北职场PPT1-45"/>
                <p:cNvSpPr/>
                <p:nvPr/>
              </p:nvSpPr>
              <p:spPr>
                <a:xfrm>
                  <a:off x="0" y="0"/>
                  <a:ext cx="5856930" cy="699494"/>
                </a:xfrm>
                <a:prstGeom prst="roundRect">
                  <a:avLst>
                    <a:gd name="adj" fmla="val 15614"/>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70" name="小红书平北职场PPT1-46"/>
                <p:cNvSpPr/>
                <p:nvPr/>
              </p:nvSpPr>
              <p:spPr>
                <a:xfrm>
                  <a:off x="351393" y="106679"/>
                  <a:ext cx="5109870" cy="47741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zh-CN" altLang="en-US" sz="1400" dirty="0">
                      <a:solidFill>
                        <a:schemeClr val="bg1"/>
                      </a:solidFill>
                      <a:latin typeface="+mj-ea"/>
                      <a:ea typeface="+mj-ea"/>
                      <a:cs typeface="Roboto" panose="02000000000000000000" pitchFamily="2" charset="0"/>
                      <a:sym typeface="Roboto" panose="02000000000000000000" pitchFamily="2" charset="0"/>
                    </a:rPr>
                    <a:t>大型营销</a:t>
                  </a:r>
                  <a:r>
                    <a:rPr lang="en-US" sz="1400" dirty="0">
                      <a:solidFill>
                        <a:schemeClr val="bg1"/>
                      </a:solidFill>
                      <a:latin typeface="+mj-ea"/>
                      <a:ea typeface="+mj-ea"/>
                      <a:cs typeface="Roboto" panose="02000000000000000000" pitchFamily="2" charset="0"/>
                      <a:sym typeface="Roboto" panose="02000000000000000000" pitchFamily="2" charset="0"/>
                    </a:rPr>
                    <a:t>Campaign</a:t>
                  </a:r>
                  <a:r>
                    <a:rPr lang="en-US" altLang="zh-CN" sz="1400" dirty="0">
                      <a:solidFill>
                        <a:schemeClr val="bg1"/>
                      </a:solidFill>
                      <a:latin typeface="+mj-ea"/>
                      <a:ea typeface="+mj-ea"/>
                      <a:cs typeface="Roboto" panose="02000000000000000000" pitchFamily="2" charset="0"/>
                      <a:sym typeface="Roboto" panose="02000000000000000000" pitchFamily="2" charset="0"/>
                    </a:rPr>
                    <a:t>618</a:t>
                  </a:r>
                  <a:r>
                    <a:rPr lang="zh-CN" altLang="en-US" sz="1400" dirty="0">
                      <a:solidFill>
                        <a:schemeClr val="bg1"/>
                      </a:solidFill>
                      <a:latin typeface="+mj-ea"/>
                      <a:ea typeface="+mj-ea"/>
                      <a:cs typeface="Roboto" panose="02000000000000000000" pitchFamily="2" charset="0"/>
                      <a:sym typeface="Roboto" panose="02000000000000000000" pitchFamily="2" charset="0"/>
                    </a:rPr>
                    <a:t>大促</a:t>
                  </a:r>
                  <a:endParaRPr lang="zh-CN" altLang="en-US" sz="14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48" name="Group"/>
              <p:cNvGrpSpPr/>
              <p:nvPr/>
            </p:nvGrpSpPr>
            <p:grpSpPr>
              <a:xfrm>
                <a:off x="618044" y="2624334"/>
                <a:ext cx="1139317" cy="390818"/>
                <a:chOff x="0" y="0"/>
                <a:chExt cx="2190578" cy="699494"/>
              </a:xfrm>
            </p:grpSpPr>
            <p:sp>
              <p:nvSpPr>
                <p:cNvPr id="67" name="小红书平北职场PPT1-47"/>
                <p:cNvSpPr/>
                <p:nvPr/>
              </p:nvSpPr>
              <p:spPr>
                <a:xfrm>
                  <a:off x="0" y="0"/>
                  <a:ext cx="2190578"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8" name="小红书平北职场PPT1-48"/>
                <p:cNvSpPr/>
                <p:nvPr/>
              </p:nvSpPr>
              <p:spPr>
                <a:xfrm>
                  <a:off x="169520" y="122687"/>
                  <a:ext cx="1899274"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zh-CN" altLang="en-US" sz="1200" dirty="0">
                      <a:solidFill>
                        <a:schemeClr val="bg1"/>
                      </a:solidFill>
                      <a:latin typeface="+mj-ea"/>
                      <a:ea typeface="+mj-ea"/>
                      <a:cs typeface="Roboto" panose="02000000000000000000" pitchFamily="2" charset="0"/>
                      <a:sym typeface="Roboto" panose="02000000000000000000" pitchFamily="2" charset="0"/>
                    </a:rPr>
                    <a:t>品牌定位重塑</a:t>
                  </a:r>
                  <a:endParaRPr sz="12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49" name="Group"/>
              <p:cNvGrpSpPr/>
              <p:nvPr/>
            </p:nvGrpSpPr>
            <p:grpSpPr>
              <a:xfrm>
                <a:off x="1834672" y="3007500"/>
                <a:ext cx="1351104" cy="390818"/>
                <a:chOff x="-48374" y="0"/>
                <a:chExt cx="2597784" cy="699494"/>
              </a:xfrm>
            </p:grpSpPr>
            <p:sp>
              <p:nvSpPr>
                <p:cNvPr id="65" name="小红书平北职场PPT1-49"/>
                <p:cNvSpPr/>
                <p:nvPr/>
              </p:nvSpPr>
              <p:spPr>
                <a:xfrm>
                  <a:off x="0" y="0"/>
                  <a:ext cx="2515244"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6" name="小红书平北职场PPT1-50"/>
                <p:cNvSpPr/>
                <p:nvPr/>
              </p:nvSpPr>
              <p:spPr>
                <a:xfrm>
                  <a:off x="-48374" y="124337"/>
                  <a:ext cx="2597784"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en-US" altLang="zh-CN" sz="1200" dirty="0">
                      <a:solidFill>
                        <a:schemeClr val="bg1"/>
                      </a:solidFill>
                      <a:latin typeface="+mj-ea"/>
                      <a:ea typeface="+mj-ea"/>
                      <a:cs typeface="Roboto" panose="02000000000000000000" pitchFamily="2" charset="0"/>
                      <a:sym typeface="Roboto" panose="02000000000000000000" pitchFamily="2" charset="0"/>
                    </a:rPr>
                    <a:t> </a:t>
                  </a:r>
                  <a:r>
                    <a:rPr lang="zh-CN" altLang="en-US" sz="1200" dirty="0">
                      <a:solidFill>
                        <a:schemeClr val="bg1"/>
                      </a:solidFill>
                      <a:latin typeface="+mj-ea"/>
                      <a:ea typeface="+mj-ea"/>
                      <a:cs typeface="Roboto" panose="02000000000000000000" pitchFamily="2" charset="0"/>
                      <a:sym typeface="Roboto" panose="02000000000000000000" pitchFamily="2" charset="0"/>
                    </a:rPr>
                    <a:t>数字化转型攻坚战</a:t>
                  </a:r>
                  <a:endParaRPr lang="zh-CN" altLang="en-US" sz="12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50" name="Group"/>
              <p:cNvGrpSpPr/>
              <p:nvPr/>
            </p:nvGrpSpPr>
            <p:grpSpPr>
              <a:xfrm>
                <a:off x="7530248" y="4866568"/>
                <a:ext cx="1662313" cy="390818"/>
                <a:chOff x="-885543" y="0"/>
                <a:chExt cx="3196148" cy="699494"/>
              </a:xfrm>
            </p:grpSpPr>
            <p:sp>
              <p:nvSpPr>
                <p:cNvPr id="63" name="小红书平北职场PPT1-51"/>
                <p:cNvSpPr/>
                <p:nvPr/>
              </p:nvSpPr>
              <p:spPr>
                <a:xfrm>
                  <a:off x="-885543" y="0"/>
                  <a:ext cx="3196148"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4" name="小红书平北职场PPT1-52"/>
                <p:cNvSpPr/>
                <p:nvPr/>
              </p:nvSpPr>
              <p:spPr>
                <a:xfrm>
                  <a:off x="-295271" y="115409"/>
                  <a:ext cx="1993944"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en-US" sz="1200" dirty="0">
                      <a:solidFill>
                        <a:schemeClr val="bg1"/>
                      </a:solidFill>
                      <a:latin typeface="+mj-ea"/>
                      <a:ea typeface="+mj-ea"/>
                      <a:cs typeface="Roboto" panose="02000000000000000000" pitchFamily="2" charset="0"/>
                      <a:sym typeface="Roboto" panose="02000000000000000000" pitchFamily="2" charset="0"/>
                    </a:rPr>
                    <a:t>CDP</a:t>
                  </a:r>
                  <a:r>
                    <a:rPr lang="zh-CN" altLang="en-US" sz="1200" dirty="0">
                      <a:solidFill>
                        <a:schemeClr val="bg1"/>
                      </a:solidFill>
                      <a:latin typeface="+mj-ea"/>
                      <a:ea typeface="+mj-ea"/>
                      <a:cs typeface="Roboto" panose="02000000000000000000" pitchFamily="2" charset="0"/>
                      <a:sym typeface="Roboto" panose="02000000000000000000" pitchFamily="2" charset="0"/>
                    </a:rPr>
                    <a:t>平台部署</a:t>
                  </a:r>
                  <a:endParaRPr sz="12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51" name="Group"/>
              <p:cNvGrpSpPr/>
              <p:nvPr/>
            </p:nvGrpSpPr>
            <p:grpSpPr>
              <a:xfrm>
                <a:off x="8144052" y="5476797"/>
                <a:ext cx="2322094" cy="390818"/>
                <a:chOff x="-2023995" y="0"/>
                <a:chExt cx="4464715" cy="699494"/>
              </a:xfrm>
            </p:grpSpPr>
            <p:sp>
              <p:nvSpPr>
                <p:cNvPr id="61" name="小红书平北职场PPT1-53"/>
                <p:cNvSpPr/>
                <p:nvPr/>
              </p:nvSpPr>
              <p:spPr>
                <a:xfrm>
                  <a:off x="-2023995" y="0"/>
                  <a:ext cx="4464715"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2" name="小红书平北职场PPT1-54"/>
                <p:cNvSpPr/>
                <p:nvPr/>
              </p:nvSpPr>
              <p:spPr>
                <a:xfrm>
                  <a:off x="-1992428" y="132458"/>
                  <a:ext cx="4433148"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zh-CN" altLang="en-US" sz="1200" dirty="0">
                      <a:solidFill>
                        <a:schemeClr val="bg1"/>
                      </a:solidFill>
                      <a:latin typeface="+mj-ea"/>
                      <a:ea typeface="+mj-ea"/>
                      <a:cs typeface="Roboto" panose="02000000000000000000" pitchFamily="2" charset="0"/>
                      <a:sym typeface="Roboto" panose="02000000000000000000" pitchFamily="2" charset="0"/>
                    </a:rPr>
                    <a:t>实施</a:t>
                  </a:r>
                  <a:r>
                    <a:rPr lang="en-US" altLang="zh-CN" sz="1200" dirty="0">
                      <a:solidFill>
                        <a:schemeClr val="bg1"/>
                      </a:solidFill>
                      <a:latin typeface="+mj-ea"/>
                      <a:ea typeface="+mj-ea"/>
                      <a:cs typeface="Roboto" panose="02000000000000000000" pitchFamily="2" charset="0"/>
                      <a:sym typeface="Roboto" panose="02000000000000000000" pitchFamily="2" charset="0"/>
                    </a:rPr>
                    <a:t>"</a:t>
                  </a:r>
                  <a:r>
                    <a:rPr lang="zh-CN" altLang="en-US" sz="1200" dirty="0">
                      <a:solidFill>
                        <a:schemeClr val="bg1"/>
                      </a:solidFill>
                      <a:latin typeface="+mj-ea"/>
                      <a:ea typeface="+mj-ea"/>
                      <a:cs typeface="Roboto" panose="02000000000000000000" pitchFamily="2" charset="0"/>
                      <a:sym typeface="Roboto" panose="02000000000000000000" pitchFamily="2" charset="0"/>
                    </a:rPr>
                    <a:t>领航者计划</a:t>
                  </a:r>
                  <a:r>
                    <a:rPr lang="en-US" altLang="zh-CN" sz="1200" dirty="0">
                      <a:solidFill>
                        <a:schemeClr val="bg1"/>
                      </a:solidFill>
                      <a:latin typeface="+mj-ea"/>
                      <a:ea typeface="+mj-ea"/>
                      <a:cs typeface="Roboto" panose="02000000000000000000" pitchFamily="2" charset="0"/>
                      <a:sym typeface="Roboto" panose="02000000000000000000" pitchFamily="2" charset="0"/>
                    </a:rPr>
                    <a:t>"</a:t>
                  </a:r>
                  <a:r>
                    <a:rPr lang="zh-CN" altLang="en-US" sz="1200" dirty="0">
                      <a:solidFill>
                        <a:schemeClr val="bg1"/>
                      </a:solidFill>
                      <a:latin typeface="+mj-ea"/>
                      <a:ea typeface="+mj-ea"/>
                      <a:cs typeface="Roboto" panose="02000000000000000000" pitchFamily="2" charset="0"/>
                      <a:sym typeface="Roboto" panose="02000000000000000000" pitchFamily="2" charset="0"/>
                    </a:rPr>
                    <a:t>培养中层骨干</a:t>
                  </a:r>
                  <a:endParaRPr lang="zh-CN" altLang="en-US" sz="12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52" name="Group"/>
              <p:cNvGrpSpPr/>
              <p:nvPr/>
            </p:nvGrpSpPr>
            <p:grpSpPr>
              <a:xfrm>
                <a:off x="10466145" y="5831581"/>
                <a:ext cx="1115933" cy="390818"/>
                <a:chOff x="318603" y="0"/>
                <a:chExt cx="2145615" cy="699494"/>
              </a:xfrm>
            </p:grpSpPr>
            <p:sp>
              <p:nvSpPr>
                <p:cNvPr id="59" name="小红书平北职场PPT1-55"/>
                <p:cNvSpPr/>
                <p:nvPr/>
              </p:nvSpPr>
              <p:spPr>
                <a:xfrm>
                  <a:off x="318603" y="0"/>
                  <a:ext cx="2145615"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0" name="小红书平北职场PPT1-56"/>
                <p:cNvSpPr/>
                <p:nvPr/>
              </p:nvSpPr>
              <p:spPr>
                <a:xfrm>
                  <a:off x="391810" y="115409"/>
                  <a:ext cx="2052629"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en-US" sz="1200" dirty="0">
                      <a:solidFill>
                        <a:schemeClr val="bg1"/>
                      </a:solidFill>
                      <a:latin typeface="+mj-ea"/>
                      <a:ea typeface="+mj-ea"/>
                      <a:cs typeface="Roboto" panose="02000000000000000000" pitchFamily="2" charset="0"/>
                      <a:sym typeface="Roboto" panose="02000000000000000000" pitchFamily="2" charset="0"/>
                    </a:rPr>
                    <a:t>A/B</a:t>
                  </a:r>
                  <a:r>
                    <a:rPr lang="zh-CN" altLang="en-US" sz="1200" dirty="0">
                      <a:solidFill>
                        <a:schemeClr val="bg1"/>
                      </a:solidFill>
                      <a:latin typeface="+mj-ea"/>
                      <a:ea typeface="+mj-ea"/>
                      <a:cs typeface="Roboto" panose="02000000000000000000" pitchFamily="2" charset="0"/>
                      <a:sym typeface="Roboto" panose="02000000000000000000" pitchFamily="2" charset="0"/>
                    </a:rPr>
                    <a:t>测试机制</a:t>
                  </a:r>
                  <a:endParaRPr sz="1200" dirty="0">
                    <a:solidFill>
                      <a:schemeClr val="bg1"/>
                    </a:solidFill>
                    <a:latin typeface="+mj-ea"/>
                    <a:ea typeface="+mj-ea"/>
                    <a:cs typeface="Roboto" panose="02000000000000000000" pitchFamily="2" charset="0"/>
                    <a:sym typeface="Roboto" panose="02000000000000000000" pitchFamily="2" charset="0"/>
                  </a:endParaRPr>
                </a:p>
              </p:txBody>
            </p:sp>
          </p:grpSp>
          <p:sp>
            <p:nvSpPr>
              <p:cNvPr id="53" name="小红书平北职场PPT1-57"/>
              <p:cNvSpPr txBox="1"/>
              <p:nvPr/>
            </p:nvSpPr>
            <p:spPr>
              <a:xfrm>
                <a:off x="820079" y="2366574"/>
                <a:ext cx="861981" cy="235962"/>
              </a:xfrm>
              <a:prstGeom prst="rect">
                <a:avLst/>
              </a:prstGeom>
              <a:ln w="12700">
                <a:miter lim="400000"/>
              </a:ln>
            </p:spPr>
            <p:txBody>
              <a:bodyPr lIns="25400" tIns="25400" rIns="25400" bIns="25400" anchor="ctr">
                <a:spAutoFit/>
              </a:bodyPr>
              <a:lstStyle>
                <a:lvl1pPr algn="l">
                  <a:defRPr sz="1800">
                    <a:solidFill>
                      <a:srgbClr val="A7A7A7"/>
                    </a:solidFill>
                    <a:latin typeface="Barlow SemiBold"/>
                    <a:ea typeface="Barlow SemiBold"/>
                    <a:cs typeface="Barlow SemiBold"/>
                    <a:sym typeface="Barlow SemiBold"/>
                  </a:defRPr>
                </a:lvl1pPr>
              </a:lstStyle>
              <a:p>
                <a:pPr algn="ctr"/>
                <a:r>
                  <a:rPr lang="zh-CN" altLang="en-US" sz="1200" b="1" dirty="0">
                    <a:solidFill>
                      <a:schemeClr val="accent1"/>
                    </a:solidFill>
                    <a:latin typeface="+mj-ea"/>
                    <a:ea typeface="+mj-ea"/>
                    <a:cs typeface="Roboto" panose="02000000000000000000" pitchFamily="2" charset="0"/>
                    <a:sym typeface="Roboto" panose="02000000000000000000" pitchFamily="2" charset="0"/>
                  </a:rPr>
                  <a:t>结束</a:t>
                </a:r>
                <a:endParaRPr sz="1200" b="1" dirty="0">
                  <a:solidFill>
                    <a:schemeClr val="accent1"/>
                  </a:solidFill>
                  <a:latin typeface="+mj-ea"/>
                  <a:ea typeface="+mj-ea"/>
                  <a:cs typeface="Roboto" panose="02000000000000000000" pitchFamily="2" charset="0"/>
                  <a:sym typeface="Roboto" panose="02000000000000000000" pitchFamily="2" charset="0"/>
                </a:endParaRPr>
              </a:p>
            </p:txBody>
          </p:sp>
          <p:sp>
            <p:nvSpPr>
              <p:cNvPr id="54" name="小红书平北职场PPT1-58"/>
              <p:cNvSpPr txBox="1"/>
              <p:nvPr/>
            </p:nvSpPr>
            <p:spPr>
              <a:xfrm>
                <a:off x="1983998" y="2749740"/>
                <a:ext cx="861981" cy="235962"/>
              </a:xfrm>
              <a:prstGeom prst="rect">
                <a:avLst/>
              </a:prstGeom>
              <a:ln w="12700">
                <a:miter lim="400000"/>
              </a:ln>
            </p:spPr>
            <p:txBody>
              <a:bodyPr lIns="25400" tIns="25400" rIns="25400" bIns="25400" anchor="ctr">
                <a:spAutoFit/>
              </a:bodyPr>
              <a:lstStyle>
                <a:defPPr>
                  <a:defRPr lang="zh-CN"/>
                </a:defPPr>
                <a:lvl1pPr algn="ctr">
                  <a:defRPr sz="1400">
                    <a:solidFill>
                      <a:schemeClr val="accent2"/>
                    </a:solidFill>
                    <a:latin typeface="+mn-ea"/>
                    <a:cs typeface="Barlow SemiBold"/>
                  </a:defRPr>
                </a:lvl1pPr>
              </a:lstStyle>
              <a:p>
                <a:r>
                  <a:rPr lang="zh-CN" altLang="en-US" sz="1200" b="1" dirty="0">
                    <a:solidFill>
                      <a:schemeClr val="accent1"/>
                    </a:solidFill>
                    <a:latin typeface="+mj-ea"/>
                    <a:ea typeface="+mj-ea"/>
                    <a:cs typeface="Roboto" panose="02000000000000000000" pitchFamily="2" charset="0"/>
                  </a:rPr>
                  <a:t>结束</a:t>
                </a:r>
                <a:endParaRPr lang="zh-CN" altLang="en-US" sz="1200" b="1" dirty="0">
                  <a:solidFill>
                    <a:schemeClr val="accent1"/>
                  </a:solidFill>
                  <a:latin typeface="+mj-ea"/>
                  <a:ea typeface="+mj-ea"/>
                  <a:cs typeface="Roboto" panose="02000000000000000000" pitchFamily="2" charset="0"/>
                </a:endParaRPr>
              </a:p>
            </p:txBody>
          </p:sp>
          <p:sp>
            <p:nvSpPr>
              <p:cNvPr id="55" name="小红书平北职场PPT1-59"/>
              <p:cNvSpPr txBox="1"/>
              <p:nvPr/>
            </p:nvSpPr>
            <p:spPr>
              <a:xfrm>
                <a:off x="4174930" y="3207545"/>
                <a:ext cx="861981" cy="235962"/>
              </a:xfrm>
              <a:prstGeom prst="rect">
                <a:avLst/>
              </a:prstGeom>
              <a:ln w="12700">
                <a:miter lim="400000"/>
              </a:ln>
            </p:spPr>
            <p:txBody>
              <a:bodyPr lIns="25400" tIns="25400" rIns="25400" bIns="25400" anchor="ctr">
                <a:spAutoFit/>
              </a:bodyPr>
              <a:lstStyle>
                <a:defPPr>
                  <a:defRPr lang="zh-CN"/>
                </a:defPPr>
                <a:lvl1pPr algn="ctr">
                  <a:defRPr sz="1400">
                    <a:solidFill>
                      <a:schemeClr val="accent2"/>
                    </a:solidFill>
                    <a:latin typeface="+mn-ea"/>
                    <a:cs typeface="Barlow SemiBold"/>
                  </a:defRPr>
                </a:lvl1pPr>
              </a:lstStyle>
              <a:p>
                <a:r>
                  <a:rPr lang="zh-CN" altLang="en-US" sz="1200" b="1" dirty="0">
                    <a:latin typeface="+mj-ea"/>
                    <a:ea typeface="+mj-ea"/>
                    <a:cs typeface="Roboto" panose="02000000000000000000" pitchFamily="2" charset="0"/>
                  </a:rPr>
                  <a:t>结束</a:t>
                </a:r>
                <a:endParaRPr lang="zh-CN" altLang="en-US" sz="1200" b="1" dirty="0">
                  <a:latin typeface="+mj-ea"/>
                  <a:ea typeface="+mj-ea"/>
                  <a:cs typeface="Roboto" panose="02000000000000000000" pitchFamily="2" charset="0"/>
                </a:endParaRPr>
              </a:p>
            </p:txBody>
          </p:sp>
          <p:sp>
            <p:nvSpPr>
              <p:cNvPr id="56" name="小红书平北职场PPT1-60"/>
              <p:cNvSpPr txBox="1"/>
              <p:nvPr/>
            </p:nvSpPr>
            <p:spPr>
              <a:xfrm>
                <a:off x="7888019" y="4612490"/>
                <a:ext cx="861981" cy="235962"/>
              </a:xfrm>
              <a:prstGeom prst="rect">
                <a:avLst/>
              </a:prstGeom>
              <a:ln w="12700">
                <a:miter lim="400000"/>
              </a:ln>
            </p:spPr>
            <p:txBody>
              <a:bodyPr lIns="25400" tIns="25400" rIns="25400" bIns="25400" anchor="ctr">
                <a:spAutoFit/>
              </a:bodyPr>
              <a:lstStyle>
                <a:defPPr>
                  <a:defRPr lang="zh-CN"/>
                </a:defPPr>
                <a:lvl1pPr algn="ctr">
                  <a:defRPr sz="1400" b="1">
                    <a:solidFill>
                      <a:schemeClr val="dk2">
                        <a:lumMod val="100000"/>
                      </a:schemeClr>
                    </a:solidFill>
                    <a:latin typeface="+mn-ea"/>
                    <a:cs typeface="Barlow SemiBold"/>
                  </a:defRPr>
                </a:lvl1pPr>
              </a:lstStyle>
              <a:p>
                <a:r>
                  <a:rPr lang="zh-CN" altLang="en-US" sz="1200" dirty="0">
                    <a:solidFill>
                      <a:schemeClr val="accent1"/>
                    </a:solidFill>
                    <a:latin typeface="+mj-ea"/>
                    <a:ea typeface="+mj-ea"/>
                    <a:cs typeface="Roboto" panose="02000000000000000000" pitchFamily="2" charset="0"/>
                  </a:rPr>
                  <a:t>待开始</a:t>
                </a:r>
                <a:endParaRPr lang="zh-CN" altLang="en-US" sz="1200" dirty="0">
                  <a:solidFill>
                    <a:schemeClr val="accent1"/>
                  </a:solidFill>
                  <a:latin typeface="+mj-ea"/>
                  <a:ea typeface="+mj-ea"/>
                  <a:cs typeface="Roboto" panose="02000000000000000000" pitchFamily="2" charset="0"/>
                </a:endParaRPr>
              </a:p>
            </p:txBody>
          </p:sp>
          <p:sp>
            <p:nvSpPr>
              <p:cNvPr id="57" name="小红书平北职场PPT1-61"/>
              <p:cNvSpPr txBox="1"/>
              <p:nvPr/>
            </p:nvSpPr>
            <p:spPr>
              <a:xfrm>
                <a:off x="9276659" y="5208527"/>
                <a:ext cx="861981" cy="235962"/>
              </a:xfrm>
              <a:prstGeom prst="rect">
                <a:avLst/>
              </a:prstGeom>
              <a:ln w="12700">
                <a:miter lim="400000"/>
              </a:ln>
            </p:spPr>
            <p:txBody>
              <a:bodyPr lIns="25400" tIns="25400" rIns="25400" bIns="25400" anchor="ctr">
                <a:spAutoFit/>
              </a:bodyPr>
              <a:lstStyle>
                <a:defPPr>
                  <a:defRPr lang="zh-CN"/>
                </a:defPPr>
                <a:lvl1pPr algn="ctr">
                  <a:defRPr sz="1400" b="1">
                    <a:solidFill>
                      <a:schemeClr val="dk2">
                        <a:lumMod val="100000"/>
                      </a:schemeClr>
                    </a:solidFill>
                    <a:latin typeface="+mn-ea"/>
                    <a:cs typeface="Barlow SemiBold"/>
                  </a:defRPr>
                </a:lvl1pPr>
              </a:lstStyle>
              <a:p>
                <a:r>
                  <a:rPr lang="zh-CN" altLang="en-US" sz="1200" dirty="0">
                    <a:solidFill>
                      <a:schemeClr val="accent1"/>
                    </a:solidFill>
                    <a:latin typeface="+mj-ea"/>
                    <a:ea typeface="+mj-ea"/>
                    <a:cs typeface="Roboto" panose="02000000000000000000" pitchFamily="2" charset="0"/>
                  </a:rPr>
                  <a:t>待开始</a:t>
                </a:r>
                <a:endParaRPr lang="zh-CN" altLang="en-US" sz="1200" dirty="0">
                  <a:solidFill>
                    <a:schemeClr val="accent1"/>
                  </a:solidFill>
                  <a:latin typeface="+mj-ea"/>
                  <a:ea typeface="+mj-ea"/>
                  <a:cs typeface="Roboto" panose="02000000000000000000" pitchFamily="2" charset="0"/>
                </a:endParaRPr>
              </a:p>
            </p:txBody>
          </p:sp>
          <p:sp>
            <p:nvSpPr>
              <p:cNvPr id="58" name="小红书平北职场PPT1-62"/>
              <p:cNvSpPr txBox="1"/>
              <p:nvPr/>
            </p:nvSpPr>
            <p:spPr>
              <a:xfrm>
                <a:off x="10617568" y="5563310"/>
                <a:ext cx="861981" cy="235962"/>
              </a:xfrm>
              <a:prstGeom prst="rect">
                <a:avLst/>
              </a:prstGeom>
              <a:ln w="12700">
                <a:miter lim="400000"/>
              </a:ln>
            </p:spPr>
            <p:txBody>
              <a:bodyPr lIns="25400" tIns="25400" rIns="25400" bIns="25400" anchor="ctr">
                <a:spAutoFit/>
              </a:bodyPr>
              <a:lstStyle>
                <a:defPPr>
                  <a:defRPr lang="zh-CN"/>
                </a:defPPr>
                <a:lvl1pPr algn="ctr">
                  <a:defRPr sz="1400" b="1">
                    <a:solidFill>
                      <a:schemeClr val="dk2">
                        <a:lumMod val="100000"/>
                      </a:schemeClr>
                    </a:solidFill>
                    <a:latin typeface="+mn-ea"/>
                    <a:cs typeface="Barlow SemiBold"/>
                  </a:defRPr>
                </a:lvl1pPr>
              </a:lstStyle>
              <a:p>
                <a:r>
                  <a:rPr lang="zh-CN" altLang="en-US" sz="1200" dirty="0">
                    <a:solidFill>
                      <a:schemeClr val="accent1"/>
                    </a:solidFill>
                    <a:latin typeface="+mj-ea"/>
                    <a:ea typeface="+mj-ea"/>
                    <a:cs typeface="Roboto" panose="02000000000000000000" pitchFamily="2" charset="0"/>
                  </a:rPr>
                  <a:t>待开始</a:t>
                </a:r>
                <a:endParaRPr lang="zh-CN" altLang="en-US" sz="1200" dirty="0">
                  <a:solidFill>
                    <a:schemeClr val="accent1"/>
                  </a:solidFill>
                  <a:latin typeface="+mj-ea"/>
                  <a:ea typeface="+mj-ea"/>
                  <a:cs typeface="Roboto" panose="02000000000000000000" pitchFamily="2" charset="0"/>
                </a:endParaRPr>
              </a:p>
            </p:txBody>
          </p:sp>
        </p:grpSp>
        <p:grpSp>
          <p:nvGrpSpPr>
            <p:cNvPr id="35" name="组合 34"/>
            <p:cNvGrpSpPr/>
            <p:nvPr/>
          </p:nvGrpSpPr>
          <p:grpSpPr>
            <a:xfrm flipH="1">
              <a:off x="7378653" y="2655407"/>
              <a:ext cx="4162380" cy="1011310"/>
              <a:chOff x="7289104" y="2155022"/>
              <a:chExt cx="3491239" cy="1270936"/>
            </a:xfrm>
          </p:grpSpPr>
          <p:sp>
            <p:nvSpPr>
              <p:cNvPr id="41" name="小红书平北职场PPT1-63"/>
              <p:cNvSpPr/>
              <p:nvPr/>
            </p:nvSpPr>
            <p:spPr>
              <a:xfrm>
                <a:off x="7289104" y="2155022"/>
                <a:ext cx="3491239" cy="1270936"/>
              </a:xfrm>
              <a:prstGeom prst="wedgeRoundRectCallout">
                <a:avLst>
                  <a:gd name="adj1" fmla="val -33704"/>
                  <a:gd name="adj2" fmla="val 76723"/>
                  <a:gd name="adj3" fmla="val 16667"/>
                </a:avLst>
              </a:prstGeom>
              <a:solidFill>
                <a:schemeClr val="bg1"/>
              </a:solidFill>
              <a:ln w="15875">
                <a:solidFill>
                  <a:schemeClr val="accent2"/>
                </a:solidFill>
              </a:ln>
              <a:effectLst>
                <a:outerShdw blurRad="165100" dist="76200" dir="5400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sym typeface="思源黑体 CN Normal" panose="020B0400000000000000" pitchFamily="34" charset="-122"/>
                </a:endParaRPr>
              </a:p>
            </p:txBody>
          </p:sp>
          <p:sp>
            <p:nvSpPr>
              <p:cNvPr id="42" name="小红书平北职场PPT1-64"/>
              <p:cNvSpPr txBox="1"/>
              <p:nvPr/>
            </p:nvSpPr>
            <p:spPr>
              <a:xfrm>
                <a:off x="8465978" y="2227230"/>
                <a:ext cx="2219283" cy="434575"/>
              </a:xfrm>
              <a:prstGeom prst="rect">
                <a:avLst/>
              </a:prstGeom>
              <a:noFill/>
            </p:spPr>
            <p:txBody>
              <a:bodyPr wrap="square">
                <a:spAutoFit/>
              </a:bodyPr>
              <a:lstStyle>
                <a:defPPr>
                  <a:defRPr lang="zh-CN"/>
                </a:defPPr>
                <a:lvl1pPr marR="0" lvl="0" indent="0" defTabSz="457200" fontAlgn="auto">
                  <a:lnSpc>
                    <a:spcPct val="105000"/>
                  </a:lnSpc>
                  <a:spcBef>
                    <a:spcPts val="0"/>
                  </a:spcBef>
                  <a:spcAft>
                    <a:spcPts val="0"/>
                  </a:spcAft>
                  <a:buClrTx/>
                  <a:buSzTx/>
                  <a:buFontTx/>
                  <a:buNone/>
                  <a:defRPr kumimoji="0" sz="1600" b="1" i="0" u="none" strike="noStrike" cap="none" normalizeH="0" baseline="0">
                    <a:ln>
                      <a:noFill/>
                    </a:ln>
                    <a:gradFill>
                      <a:gsLst>
                        <a:gs pos="0">
                          <a:schemeClr val="accent2">
                            <a:lumMod val="60000"/>
                            <a:lumOff val="40000"/>
                          </a:schemeClr>
                        </a:gs>
                        <a:gs pos="54000">
                          <a:schemeClr val="accent2"/>
                        </a:gs>
                      </a:gsLst>
                      <a:lin ang="0" scaled="1"/>
                    </a:gradFill>
                    <a:effectLst/>
                    <a:uLnTx/>
                    <a:uFillTx/>
                    <a:latin typeface="+mj-ea"/>
                    <a:ea typeface="+mj-ea"/>
                    <a:cs typeface="OPPOSans B" panose="00020600040101010101" charset="-122"/>
                  </a:defRPr>
                </a:lvl1pPr>
              </a:lstStyle>
              <a:p>
                <a:r>
                  <a:rPr lang="zh-CN" altLang="en-US" dirty="0">
                    <a:gradFill>
                      <a:gsLst>
                        <a:gs pos="0">
                          <a:schemeClr val="accent2">
                            <a:lumMod val="60000"/>
                            <a:lumOff val="40000"/>
                          </a:schemeClr>
                        </a:gs>
                        <a:gs pos="100000">
                          <a:schemeClr val="accent2"/>
                        </a:gs>
                      </a:gsLst>
                      <a:lin ang="0" scaled="1"/>
                    </a:gradFill>
                    <a:cs typeface="思源黑体 CN Normal" panose="020B0400000000000000" pitchFamily="34" charset="-122"/>
                    <a:sym typeface="思源黑体 CN Normal" panose="020B0400000000000000" pitchFamily="34" charset="-122"/>
                  </a:rPr>
                  <a:t>下半年计划</a:t>
                </a:r>
                <a:endParaRPr lang="en-US" dirty="0">
                  <a:gradFill>
                    <a:gsLst>
                      <a:gs pos="0">
                        <a:schemeClr val="accent2">
                          <a:lumMod val="60000"/>
                          <a:lumOff val="40000"/>
                        </a:schemeClr>
                      </a:gs>
                      <a:gs pos="100000">
                        <a:schemeClr val="accent2"/>
                      </a:gs>
                    </a:gsLst>
                    <a:lin ang="0" scaled="1"/>
                  </a:gradFill>
                  <a:cs typeface="思源黑体 CN Normal" panose="020B0400000000000000" pitchFamily="34" charset="-122"/>
                  <a:sym typeface="思源黑体 CN Normal" panose="020B0400000000000000" pitchFamily="34" charset="-122"/>
                </a:endParaRPr>
              </a:p>
            </p:txBody>
          </p:sp>
          <p:sp>
            <p:nvSpPr>
              <p:cNvPr id="43" name="小红书平北职场PPT1-65"/>
              <p:cNvSpPr txBox="1"/>
              <p:nvPr/>
            </p:nvSpPr>
            <p:spPr>
              <a:xfrm>
                <a:off x="7516458" y="2745440"/>
                <a:ext cx="3134050" cy="56052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dirty="0">
                    <a:solidFill>
                      <a:schemeClr val="tx2"/>
                    </a:solidFill>
                    <a:cs typeface="思源黑体 CN Normal" panose="020B0400000000000000" pitchFamily="34" charset="-122"/>
                    <a:sym typeface="思源黑体 CN Normal" panose="020B0400000000000000" pitchFamily="34" charset="-122"/>
                  </a:rPr>
                  <a:t>计划推出更多健康产品，加强线上互动，目标销售额增长</a:t>
                </a:r>
                <a:r>
                  <a:rPr lang="en-US" altLang="zh-CN" dirty="0">
                    <a:solidFill>
                      <a:schemeClr val="tx2"/>
                    </a:solidFill>
                    <a:cs typeface="思源黑体 CN Normal" panose="020B0400000000000000" pitchFamily="34" charset="-122"/>
                    <a:sym typeface="思源黑体 CN Normal" panose="020B0400000000000000" pitchFamily="34" charset="-122"/>
                  </a:rPr>
                  <a:t>15%</a:t>
                </a:r>
                <a:r>
                  <a:rPr lang="zh-CN" altLang="en-US" dirty="0">
                    <a:solidFill>
                      <a:schemeClr val="tx2"/>
                    </a:solidFill>
                    <a:cs typeface="思源黑体 CN Normal" panose="020B0400000000000000" pitchFamily="34" charset="-122"/>
                    <a:sym typeface="思源黑体 CN Normal" panose="020B0400000000000000" pitchFamily="34" charset="-122"/>
                  </a:rPr>
                  <a:t>，转化率提升至</a:t>
                </a:r>
                <a:r>
                  <a:rPr lang="en-US" altLang="zh-CN" dirty="0">
                    <a:solidFill>
                      <a:schemeClr val="tx2"/>
                    </a:solidFill>
                    <a:cs typeface="思源黑体 CN Normal" panose="020B0400000000000000" pitchFamily="34" charset="-122"/>
                    <a:sym typeface="思源黑体 CN Normal" panose="020B0400000000000000" pitchFamily="34" charset="-122"/>
                  </a:rPr>
                  <a:t>8%</a:t>
                </a:r>
                <a:r>
                  <a:rPr lang="zh-CN" altLang="en-US" dirty="0">
                    <a:solidFill>
                      <a:schemeClr val="tx2"/>
                    </a:solidFill>
                    <a:cs typeface="思源黑体 CN Normal" panose="020B0400000000000000" pitchFamily="34" charset="-122"/>
                    <a:sym typeface="思源黑体 CN Normal" panose="020B0400000000000000" pitchFamily="34" charset="-122"/>
                  </a:rPr>
                  <a:t>。</a:t>
                </a:r>
                <a:endParaRPr lang="zh-CN" altLang="en-US" dirty="0">
                  <a:solidFill>
                    <a:schemeClr val="tx2"/>
                  </a:solidFill>
                  <a:cs typeface="思源黑体 CN Normal" panose="020B0400000000000000" pitchFamily="34" charset="-122"/>
                  <a:sym typeface="思源黑体 CN Normal" panose="020B0400000000000000" pitchFamily="34" charset="-122"/>
                </a:endParaRPr>
              </a:p>
            </p:txBody>
          </p:sp>
          <p:cxnSp>
            <p:nvCxnSpPr>
              <p:cNvPr id="44" name="小红书平北职场PPT1-66"/>
              <p:cNvCxnSpPr/>
              <p:nvPr/>
            </p:nvCxnSpPr>
            <p:spPr>
              <a:xfrm>
                <a:off x="7455040" y="2687084"/>
                <a:ext cx="314759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1312160" y="5025706"/>
              <a:ext cx="4254674" cy="1033734"/>
              <a:chOff x="7289104" y="2155022"/>
              <a:chExt cx="3491239" cy="1270936"/>
            </a:xfrm>
          </p:grpSpPr>
          <p:sp>
            <p:nvSpPr>
              <p:cNvPr id="37" name="小红书平北职场PPT1-67"/>
              <p:cNvSpPr/>
              <p:nvPr/>
            </p:nvSpPr>
            <p:spPr>
              <a:xfrm>
                <a:off x="7289104" y="2155022"/>
                <a:ext cx="3491239" cy="1270936"/>
              </a:xfrm>
              <a:prstGeom prst="wedgeRoundRectCallout">
                <a:avLst>
                  <a:gd name="adj1" fmla="val -33704"/>
                  <a:gd name="adj2" fmla="val 76723"/>
                  <a:gd name="adj3" fmla="val 16667"/>
                </a:avLst>
              </a:prstGeom>
              <a:solidFill>
                <a:schemeClr val="bg1"/>
              </a:solidFill>
              <a:ln w="15875">
                <a:solidFill>
                  <a:schemeClr val="accent1"/>
                </a:solidFill>
              </a:ln>
              <a:effectLst>
                <a:outerShdw blurRad="165100" dist="76200" dir="5400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sym typeface="思源黑体 CN Normal" panose="020B0400000000000000" pitchFamily="34" charset="-122"/>
                </a:endParaRPr>
              </a:p>
            </p:txBody>
          </p:sp>
          <p:sp>
            <p:nvSpPr>
              <p:cNvPr id="38" name="小红书平北职场PPT1-68"/>
              <p:cNvSpPr txBox="1"/>
              <p:nvPr/>
            </p:nvSpPr>
            <p:spPr>
              <a:xfrm>
                <a:off x="8404271" y="2260759"/>
                <a:ext cx="2219283" cy="425148"/>
              </a:xfrm>
              <a:prstGeom prst="rect">
                <a:avLst/>
              </a:prstGeom>
              <a:noFill/>
            </p:spPr>
            <p:txBody>
              <a:bodyPr wrap="square">
                <a:spAutoFit/>
              </a:bodyPr>
              <a:lstStyle>
                <a:defPPr>
                  <a:defRPr lang="zh-CN"/>
                </a:defPPr>
                <a:lvl1pPr marR="0" lvl="0" indent="0" defTabSz="457200" fontAlgn="auto">
                  <a:lnSpc>
                    <a:spcPct val="105000"/>
                  </a:lnSpc>
                  <a:spcBef>
                    <a:spcPts val="0"/>
                  </a:spcBef>
                  <a:spcAft>
                    <a:spcPts val="0"/>
                  </a:spcAft>
                  <a:buClrTx/>
                  <a:buSzTx/>
                  <a:buFontTx/>
                  <a:buNone/>
                  <a:defRPr kumimoji="0" sz="1600" b="1" i="0" u="none" strike="noStrike" cap="none" normalizeH="0" baseline="0">
                    <a:ln>
                      <a:noFill/>
                    </a:ln>
                    <a:gradFill>
                      <a:gsLst>
                        <a:gs pos="0">
                          <a:schemeClr val="accent1">
                            <a:lumMod val="60000"/>
                            <a:lumOff val="40000"/>
                          </a:schemeClr>
                        </a:gs>
                        <a:gs pos="54000">
                          <a:schemeClr val="accent1"/>
                        </a:gs>
                      </a:gsLst>
                      <a:lin ang="0" scaled="1"/>
                    </a:gradFill>
                    <a:effectLst/>
                    <a:uLnTx/>
                    <a:uFillTx/>
                    <a:latin typeface="+mj-ea"/>
                    <a:ea typeface="+mj-ea"/>
                    <a:cs typeface="OPPOSans B" panose="00020600040101010101" charset="-122"/>
                  </a:defRPr>
                </a:lvl1pPr>
              </a:lstStyle>
              <a:p>
                <a:pPr algn="r"/>
                <a:r>
                  <a:rPr lang="zh-CN" altLang="en-US" dirty="0">
                    <a:gradFill>
                      <a:gsLst>
                        <a:gs pos="0">
                          <a:schemeClr val="accent1">
                            <a:lumMod val="60000"/>
                            <a:lumOff val="40000"/>
                          </a:schemeClr>
                        </a:gs>
                        <a:gs pos="100000">
                          <a:schemeClr val="accent1"/>
                        </a:gs>
                      </a:gsLst>
                      <a:lin ang="0" scaled="1"/>
                    </a:gradFill>
                    <a:cs typeface="思源黑体 CN Normal" panose="020B0400000000000000" pitchFamily="34" charset="-122"/>
                    <a:sym typeface="思源黑体 CN Normal" panose="020B0400000000000000" pitchFamily="34" charset="-122"/>
                  </a:rPr>
                  <a:t>上半年总结</a:t>
                </a:r>
                <a:endParaRPr lang="en-US" dirty="0">
                  <a:gradFill>
                    <a:gsLst>
                      <a:gs pos="0">
                        <a:schemeClr val="accent1">
                          <a:lumMod val="60000"/>
                          <a:lumOff val="40000"/>
                        </a:schemeClr>
                      </a:gs>
                      <a:gs pos="100000">
                        <a:schemeClr val="accent1"/>
                      </a:gs>
                    </a:gsLst>
                    <a:lin ang="0" scaled="1"/>
                  </a:gradFill>
                  <a:cs typeface="思源黑体 CN Normal" panose="020B0400000000000000" pitchFamily="34" charset="-122"/>
                  <a:sym typeface="思源黑体 CN Normal" panose="020B0400000000000000" pitchFamily="34" charset="-122"/>
                </a:endParaRPr>
              </a:p>
            </p:txBody>
          </p:sp>
          <p:sp>
            <p:nvSpPr>
              <p:cNvPr id="39" name="小红书平北职场PPT1-69"/>
              <p:cNvSpPr txBox="1"/>
              <p:nvPr/>
            </p:nvSpPr>
            <p:spPr>
              <a:xfrm>
                <a:off x="7516458" y="2745440"/>
                <a:ext cx="3134050" cy="548364"/>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algn="r"/>
                <a:r>
                  <a:rPr lang="zh-CN" altLang="en-US" dirty="0">
                    <a:solidFill>
                      <a:schemeClr val="tx2"/>
                    </a:solidFill>
                    <a:cs typeface="思源黑体 CN Normal" panose="020B0400000000000000" pitchFamily="34" charset="-122"/>
                    <a:sym typeface="思源黑体 CN Normal" panose="020B0400000000000000" pitchFamily="34" charset="-122"/>
                  </a:rPr>
                  <a:t>上半年，</a:t>
                </a:r>
                <a:r>
                  <a:rPr lang="en-US" altLang="zh-CN" dirty="0">
                    <a:solidFill>
                      <a:schemeClr val="tx2"/>
                    </a:solidFill>
                    <a:cs typeface="思源黑体 CN Normal" panose="020B0400000000000000" pitchFamily="34" charset="-122"/>
                    <a:sym typeface="思源黑体 CN Normal" panose="020B0400000000000000" pitchFamily="34" charset="-122"/>
                  </a:rPr>
                  <a:t>XX</a:t>
                </a:r>
                <a:r>
                  <a:rPr lang="zh-CN" altLang="en-US" dirty="0">
                    <a:solidFill>
                      <a:schemeClr val="tx2"/>
                    </a:solidFill>
                    <a:cs typeface="思源黑体 CN Normal" panose="020B0400000000000000" pitchFamily="34" charset="-122"/>
                    <a:sym typeface="思源黑体 CN Normal" panose="020B0400000000000000" pitchFamily="34" charset="-122"/>
                  </a:rPr>
                  <a:t>健康科技公司数字营销部成功推广智能心率监测手环，社交媒体广告提升品牌知名度</a:t>
                </a:r>
                <a:r>
                  <a:rPr lang="en-US" altLang="zh-CN" dirty="0">
                    <a:solidFill>
                      <a:schemeClr val="tx2"/>
                    </a:solidFill>
                    <a:cs typeface="思源黑体 CN Normal" panose="020B0400000000000000" pitchFamily="34" charset="-122"/>
                    <a:sym typeface="思源黑体 CN Normal" panose="020B0400000000000000" pitchFamily="34" charset="-122"/>
                  </a:rPr>
                  <a:t>15%</a:t>
                </a:r>
                <a:r>
                  <a:rPr lang="zh-CN" altLang="en-US" dirty="0">
                    <a:solidFill>
                      <a:schemeClr val="tx2"/>
                    </a:solidFill>
                    <a:cs typeface="思源黑体 CN Normal" panose="020B0400000000000000" pitchFamily="34" charset="-122"/>
                    <a:sym typeface="思源黑体 CN Normal" panose="020B0400000000000000" pitchFamily="34" charset="-122"/>
                  </a:rPr>
                  <a:t>，销售额达</a:t>
                </a:r>
                <a:r>
                  <a:rPr lang="en-US" altLang="zh-CN" dirty="0">
                    <a:solidFill>
                      <a:schemeClr val="tx2"/>
                    </a:solidFill>
                    <a:cs typeface="思源黑体 CN Normal" panose="020B0400000000000000" pitchFamily="34" charset="-122"/>
                    <a:sym typeface="思源黑体 CN Normal" panose="020B0400000000000000" pitchFamily="34" charset="-122"/>
                  </a:rPr>
                  <a:t>300</a:t>
                </a:r>
                <a:r>
                  <a:rPr lang="zh-CN" altLang="en-US" dirty="0">
                    <a:solidFill>
                      <a:schemeClr val="tx2"/>
                    </a:solidFill>
                    <a:cs typeface="思源黑体 CN Normal" panose="020B0400000000000000" pitchFamily="34" charset="-122"/>
                    <a:sym typeface="思源黑体 CN Normal" panose="020B0400000000000000" pitchFamily="34" charset="-122"/>
                  </a:rPr>
                  <a:t>万元</a:t>
                </a:r>
                <a:endParaRPr lang="zh-CN" altLang="en-US" dirty="0">
                  <a:solidFill>
                    <a:schemeClr val="tx2"/>
                  </a:solidFill>
                  <a:cs typeface="思源黑体 CN Normal" panose="020B0400000000000000" pitchFamily="34" charset="-122"/>
                  <a:sym typeface="思源黑体 CN Normal" panose="020B0400000000000000" pitchFamily="34" charset="-122"/>
                </a:endParaRPr>
              </a:p>
            </p:txBody>
          </p:sp>
          <p:cxnSp>
            <p:nvCxnSpPr>
              <p:cNvPr id="40" name="小红书平北职场PPT1-70"/>
              <p:cNvCxnSpPr/>
              <p:nvPr/>
            </p:nvCxnSpPr>
            <p:spPr>
              <a:xfrm>
                <a:off x="7455040" y="2687084"/>
                <a:ext cx="3147597"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nvGrpSpPr>
          <p:cNvPr id="4" name="小红书平北职场PPT2"/>
          <p:cNvGrpSpPr/>
          <p:nvPr/>
        </p:nvGrpSpPr>
        <p:grpSpPr>
          <a:xfrm>
            <a:off x="334963" y="184318"/>
            <a:ext cx="11522075" cy="506147"/>
            <a:chOff x="334963" y="184318"/>
            <a:chExt cx="11522075" cy="506147"/>
          </a:xfrm>
        </p:grpSpPr>
        <p:cxnSp>
          <p:nvCxnSpPr>
            <p:cNvPr id="24" name="小红书平北职场PPT2-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小红书平北职场PPT2-2"/>
            <p:cNvSpPr txBox="1"/>
            <p:nvPr>
              <p:custDataLst>
                <p:tags r:id="rId2"/>
              </p:custDataLst>
            </p:nvPr>
          </p:nvSpPr>
          <p:spPr>
            <a:xfrm>
              <a:off x="334963" y="184318"/>
              <a:ext cx="6001643"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2025</a:t>
              </a:r>
              <a:r>
                <a:rPr lang="zh-CN" altLang="en-US" sz="2800" dirty="0">
                  <a:latin typeface="+mj-ea"/>
                  <a:ea typeface="+mj-ea"/>
                  <a:cs typeface="思源黑体 CN Normal" panose="020B0400000000000000" pitchFamily="34" charset="-122"/>
                  <a:sym typeface="+mj-ea"/>
                </a:rPr>
                <a:t>年度上半年市场部工作全景汇报</a:t>
              </a:r>
              <a:endParaRPr lang="zh-CN" altLang="en-US" sz="2800" dirty="0">
                <a:latin typeface="+mj-ea"/>
                <a:ea typeface="+mj-ea"/>
                <a:cs typeface="思源黑体 CN Normal" panose="020B0400000000000000" pitchFamily="34" charset="-122"/>
                <a:sym typeface="+mj-ea"/>
              </a:endParaRPr>
            </a:p>
          </p:txBody>
        </p:sp>
      </p:gr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小红书平北职场PPT1"/>
          <p:cNvSpPr/>
          <p:nvPr/>
        </p:nvSpPr>
        <p:spPr>
          <a:xfrm>
            <a:off x="674222" y="1168905"/>
            <a:ext cx="3668273" cy="4078004"/>
          </a:xfrm>
          <a:prstGeom prst="roundRect">
            <a:avLst>
              <a:gd name="adj" fmla="val 2911"/>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sz="1600" b="1">
              <a:solidFill>
                <a:schemeClr val="bg1"/>
              </a:solidFill>
              <a:latin typeface="+mn-ea"/>
              <a:cs typeface="思源黑体 CN Normal" panose="020B0400000000000000" pitchFamily="34" charset="-122"/>
            </a:endParaRPr>
          </a:p>
        </p:txBody>
      </p:sp>
      <p:sp>
        <p:nvSpPr>
          <p:cNvPr id="4" name="小红书平北职场PPT2"/>
          <p:cNvSpPr/>
          <p:nvPr/>
        </p:nvSpPr>
        <p:spPr>
          <a:xfrm>
            <a:off x="4393203" y="1168905"/>
            <a:ext cx="3668273" cy="4078004"/>
          </a:xfrm>
          <a:prstGeom prst="roundRect">
            <a:avLst>
              <a:gd name="adj" fmla="val 2998"/>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sz="1600" b="1">
              <a:solidFill>
                <a:schemeClr val="bg1"/>
              </a:solidFill>
              <a:latin typeface="+mn-ea"/>
              <a:cs typeface="思源黑体 CN Normal" panose="020B0400000000000000" pitchFamily="34" charset="-122"/>
            </a:endParaRPr>
          </a:p>
        </p:txBody>
      </p:sp>
      <p:sp>
        <p:nvSpPr>
          <p:cNvPr id="5" name="小红书平北职场PPT3"/>
          <p:cNvSpPr/>
          <p:nvPr/>
        </p:nvSpPr>
        <p:spPr>
          <a:xfrm>
            <a:off x="8112186" y="1168905"/>
            <a:ext cx="3668273" cy="4078004"/>
          </a:xfrm>
          <a:prstGeom prst="roundRect">
            <a:avLst>
              <a:gd name="adj" fmla="val 2998"/>
            </a:avLst>
          </a:prstGeom>
          <a:gradFill flip="none" rotWithShape="1">
            <a:gsLst>
              <a:gs pos="0">
                <a:schemeClr val="accent2">
                  <a:lumMod val="60000"/>
                  <a:lumOff val="40000"/>
                </a:schemeClr>
              </a:gs>
              <a:gs pos="100000">
                <a:schemeClr val="accent2"/>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sz="1600" b="1">
              <a:solidFill>
                <a:schemeClr val="bg1"/>
              </a:solidFill>
              <a:latin typeface="+mn-ea"/>
              <a:cs typeface="思源黑体 CN Normal" panose="020B0400000000000000" pitchFamily="34" charset="-122"/>
            </a:endParaRPr>
          </a:p>
        </p:txBody>
      </p:sp>
      <p:sp>
        <p:nvSpPr>
          <p:cNvPr id="6" name="小红书平北职场PPT4"/>
          <p:cNvSpPr txBox="1"/>
          <p:nvPr/>
        </p:nvSpPr>
        <p:spPr>
          <a:xfrm>
            <a:off x="1801966" y="829335"/>
            <a:ext cx="1412783" cy="297517"/>
          </a:xfrm>
          <a:prstGeom prst="rect">
            <a:avLst/>
          </a:prstGeom>
          <a:ln w="12700">
            <a:miter lim="400000"/>
          </a:ln>
        </p:spPr>
        <p:txBody>
          <a:bodyPr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n-ea"/>
                <a:ea typeface="+mn-ea"/>
                <a:cs typeface="Roboto" panose="02000000000000000000" pitchFamily="2" charset="0"/>
                <a:sym typeface="Roboto" panose="02000000000000000000" pitchFamily="2" charset="0"/>
              </a:rPr>
              <a:t>待办</a:t>
            </a:r>
            <a:endParaRPr kumimoji="0" sz="1600" b="1" i="0" u="none" strike="noStrike" kern="1200" cap="none" spc="0" normalizeH="0" baseline="0" noProof="0" dirty="0">
              <a:ln>
                <a:noFill/>
              </a:ln>
              <a:effectLst/>
              <a:uLnTx/>
              <a:uFillTx/>
              <a:latin typeface="+mn-ea"/>
              <a:ea typeface="+mn-ea"/>
              <a:cs typeface="Roboto" panose="02000000000000000000" pitchFamily="2" charset="0"/>
              <a:sym typeface="Roboto" panose="02000000000000000000" pitchFamily="2" charset="0"/>
            </a:endParaRPr>
          </a:p>
        </p:txBody>
      </p:sp>
      <p:sp>
        <p:nvSpPr>
          <p:cNvPr id="7" name="小红书平北职场PPT5"/>
          <p:cNvSpPr txBox="1"/>
          <p:nvPr/>
        </p:nvSpPr>
        <p:spPr>
          <a:xfrm>
            <a:off x="5520949" y="829335"/>
            <a:ext cx="1412784" cy="297517"/>
          </a:xfrm>
          <a:prstGeom prst="rect">
            <a:avLst/>
          </a:prstGeom>
          <a:ln w="12700">
            <a:miter lim="400000"/>
          </a:ln>
        </p:spPr>
        <p:txBody>
          <a:bodyPr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n-ea"/>
                <a:ea typeface="+mn-ea"/>
                <a:cs typeface="Roboto" panose="02000000000000000000" pitchFamily="2" charset="0"/>
                <a:sym typeface="Roboto" panose="02000000000000000000" pitchFamily="2" charset="0"/>
              </a:rPr>
              <a:t>进行中</a:t>
            </a:r>
            <a:endParaRPr kumimoji="0" sz="1600" b="1" i="0" u="none" strike="noStrike" kern="1200" cap="none" spc="0" normalizeH="0" baseline="0" noProof="0" dirty="0">
              <a:ln>
                <a:noFill/>
              </a:ln>
              <a:effectLst/>
              <a:uLnTx/>
              <a:uFillTx/>
              <a:latin typeface="+mn-ea"/>
              <a:ea typeface="+mn-ea"/>
              <a:cs typeface="Roboto" panose="02000000000000000000" pitchFamily="2" charset="0"/>
              <a:sym typeface="Roboto" panose="02000000000000000000" pitchFamily="2" charset="0"/>
            </a:endParaRPr>
          </a:p>
        </p:txBody>
      </p:sp>
      <p:sp>
        <p:nvSpPr>
          <p:cNvPr id="8" name="小红书平北职场PPT6"/>
          <p:cNvSpPr txBox="1"/>
          <p:nvPr/>
        </p:nvSpPr>
        <p:spPr>
          <a:xfrm>
            <a:off x="9239930" y="829335"/>
            <a:ext cx="1412783" cy="297517"/>
          </a:xfrm>
          <a:prstGeom prst="rect">
            <a:avLst/>
          </a:prstGeom>
          <a:ln w="12700">
            <a:miter lim="400000"/>
          </a:ln>
        </p:spPr>
        <p:txBody>
          <a:bodyPr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rPr>
              <a:t>完成</a:t>
            </a:r>
            <a:endParaRPr kumimoji="0"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endParaRPr>
          </a:p>
        </p:txBody>
      </p:sp>
      <p:sp>
        <p:nvSpPr>
          <p:cNvPr id="9" name="小红书平北职场PPT7"/>
          <p:cNvSpPr/>
          <p:nvPr/>
        </p:nvSpPr>
        <p:spPr>
          <a:xfrm flipV="1">
            <a:off x="653289" y="2512366"/>
            <a:ext cx="11148103" cy="1"/>
          </a:xfrm>
          <a:prstGeom prst="line">
            <a:avLst/>
          </a:prstGeom>
          <a:ln w="38100">
            <a:solidFill>
              <a:schemeClr val="lt1"/>
            </a:solidFill>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0" name="小红书平北职场PPT8"/>
          <p:cNvSpPr/>
          <p:nvPr/>
        </p:nvSpPr>
        <p:spPr>
          <a:xfrm flipV="1">
            <a:off x="653289" y="3889497"/>
            <a:ext cx="11148103" cy="1"/>
          </a:xfrm>
          <a:prstGeom prst="line">
            <a:avLst/>
          </a:prstGeom>
          <a:ln w="38100">
            <a:solidFill>
              <a:schemeClr val="lt1"/>
            </a:solidFill>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nvGrpSpPr>
          <p:cNvPr id="11" name="小红书平北职场PPT9"/>
          <p:cNvGrpSpPr/>
          <p:nvPr/>
        </p:nvGrpSpPr>
        <p:grpSpPr>
          <a:xfrm>
            <a:off x="749717" y="1235140"/>
            <a:ext cx="9766756" cy="3949693"/>
            <a:chOff x="749717" y="1235140"/>
            <a:chExt cx="9766756" cy="3949693"/>
          </a:xfrm>
        </p:grpSpPr>
        <p:grpSp>
          <p:nvGrpSpPr>
            <p:cNvPr id="59" name="组合 58"/>
            <p:cNvGrpSpPr/>
            <p:nvPr/>
          </p:nvGrpSpPr>
          <p:grpSpPr>
            <a:xfrm>
              <a:off x="749717" y="1235140"/>
              <a:ext cx="6047466" cy="3949693"/>
              <a:chOff x="749717" y="1235140"/>
              <a:chExt cx="6047466" cy="3949693"/>
            </a:xfrm>
          </p:grpSpPr>
          <p:grpSp>
            <p:nvGrpSpPr>
              <p:cNvPr id="93" name="Group"/>
              <p:cNvGrpSpPr/>
              <p:nvPr/>
            </p:nvGrpSpPr>
            <p:grpSpPr>
              <a:xfrm>
                <a:off x="749717" y="1235140"/>
                <a:ext cx="3514413" cy="1213525"/>
                <a:chOff x="-2" y="0"/>
                <a:chExt cx="6360218" cy="2415383"/>
              </a:xfrm>
            </p:grpSpPr>
            <p:grpSp>
              <p:nvGrpSpPr>
                <p:cNvPr id="137" name="Group"/>
                <p:cNvGrpSpPr/>
                <p:nvPr/>
              </p:nvGrpSpPr>
              <p:grpSpPr>
                <a:xfrm>
                  <a:off x="-2" y="0"/>
                  <a:ext cx="2066625" cy="2415383"/>
                  <a:chOff x="-1" y="0"/>
                  <a:chExt cx="2066623" cy="2415382"/>
                </a:xfrm>
              </p:grpSpPr>
              <p:grpSp>
                <p:nvGrpSpPr>
                  <p:cNvPr id="148" name="Group"/>
                  <p:cNvGrpSpPr/>
                  <p:nvPr/>
                </p:nvGrpSpPr>
                <p:grpSpPr>
                  <a:xfrm>
                    <a:off x="-1" y="0"/>
                    <a:ext cx="2066623" cy="2415382"/>
                    <a:chOff x="0" y="0"/>
                    <a:chExt cx="2066621" cy="2415381"/>
                  </a:xfrm>
                </p:grpSpPr>
                <p:sp>
                  <p:nvSpPr>
                    <p:cNvPr id="150" name="小红书平北职场PPT9-1"/>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51" name="小红书平北职场PPT9-2"/>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49" name="小红书平北职场PPT9-3"/>
                  <p:cNvSpPr txBox="1"/>
                  <p:nvPr/>
                </p:nvSpPr>
                <p:spPr>
                  <a:xfrm>
                    <a:off x="157339" y="719791"/>
                    <a:ext cx="1765803" cy="90102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cs typeface="思源黑体 CN Normal" panose="020B0400000000000000" pitchFamily="34" charset="-122"/>
                      </a:rPr>
                      <a:t>完成</a:t>
                    </a:r>
                    <a:r>
                      <a:rPr kumimoji="0" lang="en-US" altLang="zh-CN"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12</a:t>
                    </a: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支品牌宣传视频拍摄</a:t>
                    </a:r>
                    <a:endParaRPr kumimoji="0"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endParaRPr>
                  </a:p>
                </p:txBody>
              </p:sp>
            </p:grpSp>
            <p:grpSp>
              <p:nvGrpSpPr>
                <p:cNvPr id="138" name="Group"/>
                <p:cNvGrpSpPr/>
                <p:nvPr/>
              </p:nvGrpSpPr>
              <p:grpSpPr>
                <a:xfrm>
                  <a:off x="2146795" y="0"/>
                  <a:ext cx="2066624" cy="2415383"/>
                  <a:chOff x="-1" y="0"/>
                  <a:chExt cx="2066623" cy="2415382"/>
                </a:xfrm>
              </p:grpSpPr>
              <p:grpSp>
                <p:nvGrpSpPr>
                  <p:cNvPr id="144" name="Group"/>
                  <p:cNvGrpSpPr/>
                  <p:nvPr/>
                </p:nvGrpSpPr>
                <p:grpSpPr>
                  <a:xfrm>
                    <a:off x="-1" y="0"/>
                    <a:ext cx="2066623" cy="2415382"/>
                    <a:chOff x="0" y="0"/>
                    <a:chExt cx="2066621" cy="2415381"/>
                  </a:xfrm>
                </p:grpSpPr>
                <p:sp>
                  <p:nvSpPr>
                    <p:cNvPr id="146" name="小红书平北职场PPT9-4"/>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47" name="小红书平北职场PPT9-5"/>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45" name="小红书平北职场PPT9-6"/>
                  <p:cNvSpPr txBox="1"/>
                  <p:nvPr/>
                </p:nvSpPr>
                <p:spPr>
                  <a:xfrm>
                    <a:off x="157339" y="719791"/>
                    <a:ext cx="1765802" cy="90102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搭建</a:t>
                    </a:r>
                    <a:r>
                      <a:rPr kumimoji="0" lang="en-US" altLang="zh-CN"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3</a:t>
                    </a: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个虚拟摄影棚</a:t>
                    </a:r>
                    <a:endParaRPr kumimoji="0"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endParaRPr>
                  </a:p>
                </p:txBody>
              </p:sp>
            </p:grpSp>
            <p:grpSp>
              <p:nvGrpSpPr>
                <p:cNvPr id="139" name="Group"/>
                <p:cNvGrpSpPr/>
                <p:nvPr/>
              </p:nvGrpSpPr>
              <p:grpSpPr>
                <a:xfrm>
                  <a:off x="4293592" y="0"/>
                  <a:ext cx="2066624" cy="2415383"/>
                  <a:chOff x="-1" y="0"/>
                  <a:chExt cx="2066623" cy="2415382"/>
                </a:xfrm>
              </p:grpSpPr>
              <p:grpSp>
                <p:nvGrpSpPr>
                  <p:cNvPr id="140" name="Group"/>
                  <p:cNvGrpSpPr/>
                  <p:nvPr/>
                </p:nvGrpSpPr>
                <p:grpSpPr>
                  <a:xfrm>
                    <a:off x="-1" y="0"/>
                    <a:ext cx="2066623" cy="2415382"/>
                    <a:chOff x="0" y="0"/>
                    <a:chExt cx="2066621" cy="2415381"/>
                  </a:xfrm>
                </p:grpSpPr>
                <p:sp>
                  <p:nvSpPr>
                    <p:cNvPr id="142" name="小红书平北职场PPT9-7"/>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43" name="小红书平北职场PPT9-8"/>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41" name="小红书平北职场PPT9-9"/>
                  <p:cNvSpPr txBox="1"/>
                  <p:nvPr/>
                </p:nvSpPr>
                <p:spPr>
                  <a:xfrm>
                    <a:off x="157339" y="719791"/>
                    <a:ext cx="1765802" cy="90102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采购</a:t>
                    </a:r>
                    <a:r>
                      <a:rPr kumimoji="0" lang="en-US" altLang="zh-CN"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8K</a:t>
                    </a: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摄影设备</a:t>
                    </a:r>
                    <a:r>
                      <a:rPr kumimoji="0" lang="en-US" altLang="zh-CN"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3</a:t>
                    </a: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套</a:t>
                    </a:r>
                    <a:endParaRPr kumimoji="0"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endParaRPr>
                  </a:p>
                </p:txBody>
              </p:sp>
            </p:grpSp>
          </p:grpSp>
          <p:grpSp>
            <p:nvGrpSpPr>
              <p:cNvPr id="94" name="Group"/>
              <p:cNvGrpSpPr/>
              <p:nvPr/>
            </p:nvGrpSpPr>
            <p:grpSpPr>
              <a:xfrm>
                <a:off x="749717" y="2603225"/>
                <a:ext cx="2328175" cy="1213525"/>
                <a:chOff x="-2" y="0"/>
                <a:chExt cx="4213421" cy="2415383"/>
              </a:xfrm>
            </p:grpSpPr>
            <p:grpSp>
              <p:nvGrpSpPr>
                <p:cNvPr id="127" name="Group"/>
                <p:cNvGrpSpPr/>
                <p:nvPr/>
              </p:nvGrpSpPr>
              <p:grpSpPr>
                <a:xfrm>
                  <a:off x="-2" y="0"/>
                  <a:ext cx="2066625" cy="2415383"/>
                  <a:chOff x="-1" y="0"/>
                  <a:chExt cx="2066623" cy="2415382"/>
                </a:xfrm>
              </p:grpSpPr>
              <p:grpSp>
                <p:nvGrpSpPr>
                  <p:cNvPr id="133" name="Group"/>
                  <p:cNvGrpSpPr/>
                  <p:nvPr/>
                </p:nvGrpSpPr>
                <p:grpSpPr>
                  <a:xfrm>
                    <a:off x="-1" y="0"/>
                    <a:ext cx="2066623" cy="2415382"/>
                    <a:chOff x="0" y="0"/>
                    <a:chExt cx="2066621" cy="2415381"/>
                  </a:xfrm>
                </p:grpSpPr>
                <p:sp>
                  <p:nvSpPr>
                    <p:cNvPr id="135" name="小红书平北职场PPT9-10"/>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36" name="小红书平北职场PPT9-11"/>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34" name="小红书平北职场PPT9-12"/>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输出品牌</a:t>
                    </a:r>
                    <a:r>
                      <a:rPr kumimoji="0" lang="en-US" altLang="zh-CN"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VI</a:t>
                    </a: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手册</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4</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套</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128" name="Group"/>
                <p:cNvGrpSpPr/>
                <p:nvPr/>
              </p:nvGrpSpPr>
              <p:grpSpPr>
                <a:xfrm>
                  <a:off x="2146795" y="0"/>
                  <a:ext cx="2066624" cy="2415383"/>
                  <a:chOff x="-1" y="0"/>
                  <a:chExt cx="2066623" cy="2415382"/>
                </a:xfrm>
              </p:grpSpPr>
              <p:grpSp>
                <p:nvGrpSpPr>
                  <p:cNvPr id="129" name="Group"/>
                  <p:cNvGrpSpPr/>
                  <p:nvPr/>
                </p:nvGrpSpPr>
                <p:grpSpPr>
                  <a:xfrm>
                    <a:off x="-1" y="0"/>
                    <a:ext cx="2066623" cy="2415382"/>
                    <a:chOff x="0" y="0"/>
                    <a:chExt cx="2066621" cy="2415381"/>
                  </a:xfrm>
                </p:grpSpPr>
                <p:sp>
                  <p:nvSpPr>
                    <p:cNvPr id="131" name="小红书平北职场PPT9-13"/>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32" name="小红书平北职场PPT9-14"/>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30" name="小红书平北职场PPT9-15"/>
                  <p:cNvSpPr/>
                  <p:nvPr/>
                </p:nvSpPr>
                <p:spPr>
                  <a:xfrm>
                    <a:off x="157339" y="719791"/>
                    <a:ext cx="1765802"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开发动态图形模板库</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grpSp>
            <p:nvGrpSpPr>
              <p:cNvPr id="95" name="Group"/>
              <p:cNvGrpSpPr/>
              <p:nvPr/>
            </p:nvGrpSpPr>
            <p:grpSpPr>
              <a:xfrm>
                <a:off x="749717" y="3971309"/>
                <a:ext cx="1141937" cy="1213524"/>
                <a:chOff x="-1" y="0"/>
                <a:chExt cx="2066623" cy="2415382"/>
              </a:xfrm>
            </p:grpSpPr>
            <p:grpSp>
              <p:nvGrpSpPr>
                <p:cNvPr id="123" name="Group"/>
                <p:cNvGrpSpPr/>
                <p:nvPr/>
              </p:nvGrpSpPr>
              <p:grpSpPr>
                <a:xfrm>
                  <a:off x="-1" y="0"/>
                  <a:ext cx="2066623" cy="2415382"/>
                  <a:chOff x="0" y="0"/>
                  <a:chExt cx="2066621" cy="2415381"/>
                </a:xfrm>
              </p:grpSpPr>
              <p:sp>
                <p:nvSpPr>
                  <p:cNvPr id="125" name="小红书平北职场PPT9-16"/>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000000"/>
                      </a:solidFill>
                      <a:effectLst/>
                      <a:uLnTx/>
                      <a:uFillTx/>
                      <a:latin typeface="+mn-ea"/>
                      <a:cs typeface="思源黑体 CN Normal" panose="020B0400000000000000" pitchFamily="34" charset="-122"/>
                    </a:endParaRPr>
                  </a:p>
                </p:txBody>
              </p:sp>
              <p:sp>
                <p:nvSpPr>
                  <p:cNvPr id="126" name="小红书平北职场PPT9-17"/>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24" name="小红书平北职场PPT9-18"/>
                <p:cNvSpPr/>
                <p:nvPr/>
              </p:nvSpPr>
              <p:spPr>
                <a:xfrm>
                  <a:off x="157339" y="719790"/>
                  <a:ext cx="1765802" cy="9010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自研</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AIGC</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内容引擎</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96" name="Group"/>
              <p:cNvGrpSpPr/>
              <p:nvPr/>
            </p:nvGrpSpPr>
            <p:grpSpPr>
              <a:xfrm>
                <a:off x="4469008" y="1235140"/>
                <a:ext cx="2328175" cy="1213525"/>
                <a:chOff x="-2" y="0"/>
                <a:chExt cx="4213421" cy="2415383"/>
              </a:xfrm>
            </p:grpSpPr>
            <p:grpSp>
              <p:nvGrpSpPr>
                <p:cNvPr id="113" name="Group"/>
                <p:cNvGrpSpPr/>
                <p:nvPr/>
              </p:nvGrpSpPr>
              <p:grpSpPr>
                <a:xfrm>
                  <a:off x="-2" y="0"/>
                  <a:ext cx="2066625" cy="2415383"/>
                  <a:chOff x="-1" y="0"/>
                  <a:chExt cx="2066623" cy="2415382"/>
                </a:xfrm>
              </p:grpSpPr>
              <p:grpSp>
                <p:nvGrpSpPr>
                  <p:cNvPr id="119" name="Group"/>
                  <p:cNvGrpSpPr/>
                  <p:nvPr/>
                </p:nvGrpSpPr>
                <p:grpSpPr>
                  <a:xfrm>
                    <a:off x="-1" y="0"/>
                    <a:ext cx="2066623" cy="2415382"/>
                    <a:chOff x="0" y="0"/>
                    <a:chExt cx="2066621" cy="2415381"/>
                  </a:xfrm>
                </p:grpSpPr>
                <p:sp>
                  <p:nvSpPr>
                    <p:cNvPr id="121" name="小红书平北职场PPT9-19"/>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22" name="小红书平北职场PPT9-20"/>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20" name="小红书平北职场PPT9-21"/>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建立供应商白名单</a:t>
                    </a:r>
                    <a:endPar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114" name="Group"/>
                <p:cNvGrpSpPr/>
                <p:nvPr/>
              </p:nvGrpSpPr>
              <p:grpSpPr>
                <a:xfrm>
                  <a:off x="2146795" y="0"/>
                  <a:ext cx="2066624" cy="2415383"/>
                  <a:chOff x="-1" y="0"/>
                  <a:chExt cx="2066623" cy="2415382"/>
                </a:xfrm>
              </p:grpSpPr>
              <p:grpSp>
                <p:nvGrpSpPr>
                  <p:cNvPr id="115" name="Group"/>
                  <p:cNvGrpSpPr/>
                  <p:nvPr/>
                </p:nvGrpSpPr>
                <p:grpSpPr>
                  <a:xfrm>
                    <a:off x="-1" y="0"/>
                    <a:ext cx="2066623" cy="2415382"/>
                    <a:chOff x="0" y="0"/>
                    <a:chExt cx="2066621" cy="2415381"/>
                  </a:xfrm>
                </p:grpSpPr>
                <p:sp>
                  <p:nvSpPr>
                    <p:cNvPr id="117" name="小红书平北职场PPT9-22"/>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18" name="小红书平北职场PPT9-23"/>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16" name="小红书平北职场PPT9-24"/>
                  <p:cNvSpPr/>
                  <p:nvPr/>
                </p:nvSpPr>
                <p:spPr>
                  <a:xfrm>
                    <a:off x="157339" y="719791"/>
                    <a:ext cx="1765802"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标准化素材管理流程</a:t>
                    </a:r>
                    <a:endPar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grpSp>
            <p:nvGrpSpPr>
              <p:cNvPr id="97" name="Group"/>
              <p:cNvGrpSpPr/>
              <p:nvPr/>
            </p:nvGrpSpPr>
            <p:grpSpPr>
              <a:xfrm>
                <a:off x="4469008" y="2603225"/>
                <a:ext cx="1141937" cy="1213524"/>
                <a:chOff x="-1" y="0"/>
                <a:chExt cx="2066623" cy="2415382"/>
              </a:xfrm>
            </p:grpSpPr>
            <p:grpSp>
              <p:nvGrpSpPr>
                <p:cNvPr id="109" name="Group"/>
                <p:cNvGrpSpPr/>
                <p:nvPr/>
              </p:nvGrpSpPr>
              <p:grpSpPr>
                <a:xfrm>
                  <a:off x="-1" y="0"/>
                  <a:ext cx="2066623" cy="2415382"/>
                  <a:chOff x="0" y="0"/>
                  <a:chExt cx="2066621" cy="2415381"/>
                </a:xfrm>
              </p:grpSpPr>
              <p:sp>
                <p:nvSpPr>
                  <p:cNvPr id="111" name="小红书平北职场PPT9-25"/>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12" name="小红书平北职场PPT9-26"/>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10" name="小红书平北职场PPT9-27"/>
                <p:cNvSpPr/>
                <p:nvPr/>
              </p:nvSpPr>
              <p:spPr>
                <a:xfrm>
                  <a:off x="157339" y="719790"/>
                  <a:ext cx="1765802" cy="9010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原创</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3D</a:t>
                  </a: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角色建模</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28</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个</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98" name="Group"/>
              <p:cNvGrpSpPr/>
              <p:nvPr/>
            </p:nvGrpSpPr>
            <p:grpSpPr>
              <a:xfrm>
                <a:off x="4469008" y="3971308"/>
                <a:ext cx="2328175" cy="1213525"/>
                <a:chOff x="-3" y="0"/>
                <a:chExt cx="4213422" cy="2415383"/>
              </a:xfrm>
            </p:grpSpPr>
            <p:grpSp>
              <p:nvGrpSpPr>
                <p:cNvPr id="99" name="Group"/>
                <p:cNvGrpSpPr/>
                <p:nvPr/>
              </p:nvGrpSpPr>
              <p:grpSpPr>
                <a:xfrm>
                  <a:off x="-3" y="0"/>
                  <a:ext cx="2066626" cy="2415383"/>
                  <a:chOff x="-1" y="0"/>
                  <a:chExt cx="2066623" cy="2415382"/>
                </a:xfrm>
              </p:grpSpPr>
              <p:grpSp>
                <p:nvGrpSpPr>
                  <p:cNvPr id="105" name="Group"/>
                  <p:cNvGrpSpPr/>
                  <p:nvPr/>
                </p:nvGrpSpPr>
                <p:grpSpPr>
                  <a:xfrm>
                    <a:off x="-1" y="0"/>
                    <a:ext cx="2066623" cy="2415382"/>
                    <a:chOff x="0" y="0"/>
                    <a:chExt cx="2066621" cy="2415381"/>
                  </a:xfrm>
                </p:grpSpPr>
                <p:sp>
                  <p:nvSpPr>
                    <p:cNvPr id="107" name="小红书平北职场PPT9-28"/>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08" name="小红书平北职场PPT9-29"/>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06" name="小红书平北职场PPT9-30"/>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上线实时渲染云平台</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100" name="Group"/>
                <p:cNvGrpSpPr/>
                <p:nvPr/>
              </p:nvGrpSpPr>
              <p:grpSpPr>
                <a:xfrm>
                  <a:off x="2146795" y="0"/>
                  <a:ext cx="2066624" cy="2415383"/>
                  <a:chOff x="-1" y="0"/>
                  <a:chExt cx="2066623" cy="2415382"/>
                </a:xfrm>
              </p:grpSpPr>
              <p:grpSp>
                <p:nvGrpSpPr>
                  <p:cNvPr id="101" name="Group"/>
                  <p:cNvGrpSpPr/>
                  <p:nvPr/>
                </p:nvGrpSpPr>
                <p:grpSpPr>
                  <a:xfrm>
                    <a:off x="-1" y="0"/>
                    <a:ext cx="2066623" cy="2415382"/>
                    <a:chOff x="0" y="0"/>
                    <a:chExt cx="2066621" cy="2415381"/>
                  </a:xfrm>
                </p:grpSpPr>
                <p:sp>
                  <p:nvSpPr>
                    <p:cNvPr id="103" name="小红书平北职场PPT9-31"/>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04" name="小红书平北职场PPT9-32"/>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000000"/>
                        </a:solidFill>
                        <a:effectLst/>
                        <a:uLnTx/>
                        <a:uFillTx/>
                        <a:latin typeface="+mn-ea"/>
                        <a:cs typeface="思源黑体 CN Normal" panose="020B0400000000000000" pitchFamily="34" charset="-122"/>
                      </a:endParaRPr>
                    </a:p>
                  </p:txBody>
                </p:sp>
              </p:grpSp>
              <p:sp>
                <p:nvSpPr>
                  <p:cNvPr id="102" name="小红书平北职场PPT9-33"/>
                  <p:cNvSpPr/>
                  <p:nvPr/>
                </p:nvSpPr>
                <p:spPr>
                  <a:xfrm>
                    <a:off x="157339" y="719791"/>
                    <a:ext cx="1765802"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实现</a:t>
                    </a:r>
                    <a:r>
                      <a:rPr kumimoji="0" lang="en-US" altLang="zh-CN"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8</a:t>
                    </a:r>
                    <a:r>
                      <a:rPr kumimoji="0" 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K HDR</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直播</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grpSp>
        <p:grpSp>
          <p:nvGrpSpPr>
            <p:cNvPr id="60" name="组合 59"/>
            <p:cNvGrpSpPr/>
            <p:nvPr/>
          </p:nvGrpSpPr>
          <p:grpSpPr>
            <a:xfrm>
              <a:off x="8188298" y="1235140"/>
              <a:ext cx="2328175" cy="3949693"/>
              <a:chOff x="8188298" y="1235140"/>
              <a:chExt cx="2328175" cy="3949693"/>
            </a:xfrm>
          </p:grpSpPr>
          <p:grpSp>
            <p:nvGrpSpPr>
              <p:cNvPr id="61" name="Group"/>
              <p:cNvGrpSpPr/>
              <p:nvPr/>
            </p:nvGrpSpPr>
            <p:grpSpPr>
              <a:xfrm>
                <a:off x="8188298" y="1235140"/>
                <a:ext cx="2328175" cy="1213525"/>
                <a:chOff x="-2" y="0"/>
                <a:chExt cx="4213421" cy="2415383"/>
              </a:xfrm>
            </p:grpSpPr>
            <p:grpSp>
              <p:nvGrpSpPr>
                <p:cNvPr id="81" name="Group"/>
                <p:cNvGrpSpPr/>
                <p:nvPr/>
              </p:nvGrpSpPr>
              <p:grpSpPr>
                <a:xfrm>
                  <a:off x="-2" y="0"/>
                  <a:ext cx="2066625" cy="2415383"/>
                  <a:chOff x="-1" y="0"/>
                  <a:chExt cx="2066623" cy="2415382"/>
                </a:xfrm>
              </p:grpSpPr>
              <p:grpSp>
                <p:nvGrpSpPr>
                  <p:cNvPr id="88" name="Group"/>
                  <p:cNvGrpSpPr/>
                  <p:nvPr/>
                </p:nvGrpSpPr>
                <p:grpSpPr>
                  <a:xfrm>
                    <a:off x="-1" y="0"/>
                    <a:ext cx="2066623" cy="2415382"/>
                    <a:chOff x="0" y="0"/>
                    <a:chExt cx="2066621" cy="2415381"/>
                  </a:xfrm>
                </p:grpSpPr>
                <p:sp>
                  <p:nvSpPr>
                    <p:cNvPr id="91" name="小红书平北职场PPT9-34"/>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000000"/>
                        </a:solidFill>
                        <a:effectLst/>
                        <a:uLnTx/>
                        <a:uFillTx/>
                        <a:latin typeface="+mn-ea"/>
                        <a:cs typeface="思源黑体 CN Normal" panose="020B0400000000000000" pitchFamily="34" charset="-122"/>
                      </a:endParaRPr>
                    </a:p>
                  </p:txBody>
                </p:sp>
                <p:sp>
                  <p:nvSpPr>
                    <p:cNvPr id="92" name="小红书平北职场PPT9-35"/>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89" name="小红书平北职场PPT9-36"/>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实施碳中和拍摄方案</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90" name="小红书平北职场PPT9-37"/>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nvGrpSpPr>
                <p:cNvPr id="82" name="Group"/>
                <p:cNvGrpSpPr/>
                <p:nvPr/>
              </p:nvGrpSpPr>
              <p:grpSpPr>
                <a:xfrm>
                  <a:off x="2146795" y="0"/>
                  <a:ext cx="2066624" cy="2415383"/>
                  <a:chOff x="-1" y="0"/>
                  <a:chExt cx="2066623" cy="2415382"/>
                </a:xfrm>
              </p:grpSpPr>
              <p:grpSp>
                <p:nvGrpSpPr>
                  <p:cNvPr id="83" name="Group"/>
                  <p:cNvGrpSpPr/>
                  <p:nvPr/>
                </p:nvGrpSpPr>
                <p:grpSpPr>
                  <a:xfrm>
                    <a:off x="-1" y="0"/>
                    <a:ext cx="2066623" cy="2415382"/>
                    <a:chOff x="0" y="0"/>
                    <a:chExt cx="2066621" cy="2415381"/>
                  </a:xfrm>
                </p:grpSpPr>
                <p:sp>
                  <p:nvSpPr>
                    <p:cNvPr id="86" name="小红书平北职场PPT9-38"/>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87" name="小红书平北职场PPT9-39"/>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84" name="小红书平北职场PPT9-40"/>
                  <p:cNvSpPr/>
                  <p:nvPr/>
                </p:nvSpPr>
                <p:spPr>
                  <a:xfrm>
                    <a:off x="157339" y="719791"/>
                    <a:ext cx="1765802"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培养多技能制片人</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85" name="小红书平北职场PPT9-41"/>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grpSp>
            <p:nvGrpSpPr>
              <p:cNvPr id="62" name="Group"/>
              <p:cNvGrpSpPr/>
              <p:nvPr/>
            </p:nvGrpSpPr>
            <p:grpSpPr>
              <a:xfrm>
                <a:off x="8188298" y="2603225"/>
                <a:ext cx="1141937" cy="1213524"/>
                <a:chOff x="-1" y="0"/>
                <a:chExt cx="2066623" cy="2415382"/>
              </a:xfrm>
            </p:grpSpPr>
            <p:grpSp>
              <p:nvGrpSpPr>
                <p:cNvPr id="76" name="Group"/>
                <p:cNvGrpSpPr/>
                <p:nvPr/>
              </p:nvGrpSpPr>
              <p:grpSpPr>
                <a:xfrm>
                  <a:off x="-1" y="0"/>
                  <a:ext cx="2066623" cy="2415382"/>
                  <a:chOff x="0" y="0"/>
                  <a:chExt cx="2066621" cy="2415381"/>
                </a:xfrm>
              </p:grpSpPr>
              <p:sp>
                <p:nvSpPr>
                  <p:cNvPr id="79" name="小红书平北职场PPT9-42"/>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80" name="小红书平北职场PPT9-43"/>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77" name="小红书平北职场PPT9-44"/>
                <p:cNvSpPr/>
                <p:nvPr/>
              </p:nvSpPr>
              <p:spPr>
                <a:xfrm>
                  <a:off x="157339" y="719790"/>
                  <a:ext cx="1765802" cy="9010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落地</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AR</a:t>
                  </a: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交互设计</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3</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例</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78" name="小红书平北职场PPT9-45"/>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nvGrpSpPr>
              <p:cNvPr id="63" name="Group"/>
              <p:cNvGrpSpPr/>
              <p:nvPr/>
            </p:nvGrpSpPr>
            <p:grpSpPr>
              <a:xfrm>
                <a:off x="8188298" y="3971308"/>
                <a:ext cx="2328175" cy="1213525"/>
                <a:chOff x="-2" y="0"/>
                <a:chExt cx="4213421" cy="2415383"/>
              </a:xfrm>
            </p:grpSpPr>
            <p:grpSp>
              <p:nvGrpSpPr>
                <p:cNvPr id="64" name="Group"/>
                <p:cNvGrpSpPr/>
                <p:nvPr/>
              </p:nvGrpSpPr>
              <p:grpSpPr>
                <a:xfrm>
                  <a:off x="-2" y="0"/>
                  <a:ext cx="2066625" cy="2415383"/>
                  <a:chOff x="-1" y="0"/>
                  <a:chExt cx="2066623" cy="2415382"/>
                </a:xfrm>
              </p:grpSpPr>
              <p:grpSp>
                <p:nvGrpSpPr>
                  <p:cNvPr id="71" name="Group"/>
                  <p:cNvGrpSpPr/>
                  <p:nvPr/>
                </p:nvGrpSpPr>
                <p:grpSpPr>
                  <a:xfrm>
                    <a:off x="-1" y="0"/>
                    <a:ext cx="2066623" cy="2415382"/>
                    <a:chOff x="0" y="0"/>
                    <a:chExt cx="2066621" cy="2415381"/>
                  </a:xfrm>
                </p:grpSpPr>
                <p:sp>
                  <p:nvSpPr>
                    <p:cNvPr id="74" name="小红书平北职场PPT9-46"/>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75" name="小红书平北职场PPT9-47"/>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72" name="小红书平北职场PPT9-48"/>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构建用户行为分析系统</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73" name="小红书平北职场PPT9-49"/>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nvGrpSpPr>
                <p:cNvPr id="65" name="Group"/>
                <p:cNvGrpSpPr/>
                <p:nvPr/>
              </p:nvGrpSpPr>
              <p:grpSpPr>
                <a:xfrm>
                  <a:off x="2146795" y="0"/>
                  <a:ext cx="2066624" cy="2415383"/>
                  <a:chOff x="-1" y="0"/>
                  <a:chExt cx="2066623" cy="2415382"/>
                </a:xfrm>
              </p:grpSpPr>
              <p:grpSp>
                <p:nvGrpSpPr>
                  <p:cNvPr id="66" name="Group"/>
                  <p:cNvGrpSpPr/>
                  <p:nvPr/>
                </p:nvGrpSpPr>
                <p:grpSpPr>
                  <a:xfrm>
                    <a:off x="-1" y="0"/>
                    <a:ext cx="2066623" cy="2415382"/>
                    <a:chOff x="0" y="0"/>
                    <a:chExt cx="2066621" cy="2415381"/>
                  </a:xfrm>
                </p:grpSpPr>
                <p:sp>
                  <p:nvSpPr>
                    <p:cNvPr id="69" name="小红书平北职场PPT9-50"/>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70" name="小红书平北职场PPT9-51"/>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67" name="小红书平北职场PPT9-52"/>
                  <p:cNvSpPr/>
                  <p:nvPr/>
                </p:nvSpPr>
                <p:spPr>
                  <a:xfrm>
                    <a:off x="157339" y="719791"/>
                    <a:ext cx="1765802" cy="126858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通过</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ISO27001</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信息安全认证</a:t>
                    </a:r>
                    <a:endPar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68" name="小红书平北职场PPT9-53"/>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grpSp>
      </p:grpSp>
      <p:sp>
        <p:nvSpPr>
          <p:cNvPr id="12" name="小红书平北职场PPT10"/>
          <p:cNvSpPr txBox="1"/>
          <p:nvPr/>
        </p:nvSpPr>
        <p:spPr>
          <a:xfrm>
            <a:off x="316098" y="1584702"/>
            <a:ext cx="244307" cy="543739"/>
          </a:xfrm>
          <a:prstGeom prst="rect">
            <a:avLst/>
          </a:prstGeom>
          <a:ln w="12700">
            <a:miter lim="400000"/>
          </a:ln>
        </p:spPr>
        <p:txBody>
          <a:bodyPr wrap="square"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rPr>
              <a:t>制作</a:t>
            </a:r>
            <a:endParaRPr kumimoji="0"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endParaRPr>
          </a:p>
        </p:txBody>
      </p:sp>
      <p:sp>
        <p:nvSpPr>
          <p:cNvPr id="13" name="小红书平北职场PPT11"/>
          <p:cNvSpPr txBox="1"/>
          <p:nvPr/>
        </p:nvSpPr>
        <p:spPr>
          <a:xfrm>
            <a:off x="316098" y="2912711"/>
            <a:ext cx="244307" cy="543739"/>
          </a:xfrm>
          <a:prstGeom prst="rect">
            <a:avLst/>
          </a:prstGeom>
          <a:ln w="12700">
            <a:miter lim="400000"/>
          </a:ln>
        </p:spPr>
        <p:txBody>
          <a:bodyPr wrap="square"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rPr>
              <a:t>设计 </a:t>
            </a:r>
            <a:endParaRPr kumimoji="0"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endParaRPr>
          </a:p>
        </p:txBody>
      </p:sp>
      <p:sp>
        <p:nvSpPr>
          <p:cNvPr id="14" name="小红书平北职场PPT12"/>
          <p:cNvSpPr txBox="1"/>
          <p:nvPr/>
        </p:nvSpPr>
        <p:spPr>
          <a:xfrm>
            <a:off x="316098" y="4255636"/>
            <a:ext cx="244307" cy="543739"/>
          </a:xfrm>
          <a:prstGeom prst="rect">
            <a:avLst/>
          </a:prstGeom>
          <a:ln w="12700">
            <a:miter lim="400000"/>
          </a:ln>
        </p:spPr>
        <p:txBody>
          <a:bodyPr wrap="square"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rPr>
              <a:t>开发</a:t>
            </a:r>
            <a:endParaRPr kumimoji="0"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endParaRPr>
          </a:p>
        </p:txBody>
      </p:sp>
      <p:sp>
        <p:nvSpPr>
          <p:cNvPr id="15" name="小红书平北职场PPT13"/>
          <p:cNvSpPr/>
          <p:nvPr/>
        </p:nvSpPr>
        <p:spPr>
          <a:xfrm>
            <a:off x="316100" y="5531439"/>
            <a:ext cx="1748959" cy="919479"/>
          </a:xfrm>
          <a:prstGeom prst="rect">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6" name="小红书平北职场PPT14"/>
          <p:cNvSpPr txBox="1"/>
          <p:nvPr/>
        </p:nvSpPr>
        <p:spPr>
          <a:xfrm>
            <a:off x="469870" y="6032631"/>
            <a:ext cx="1441420" cy="30777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ja-JP" altLang="en-US" sz="1400" i="0" u="none" strike="noStrike" kern="1200" cap="none" spc="0" normalizeH="0" baseline="0" noProof="0" dirty="0">
                <a:ln>
                  <a:noFill/>
                </a:ln>
                <a:solidFill>
                  <a:srgbClr val="FFFFFF"/>
                </a:solidFill>
                <a:effectLst/>
                <a:uLnTx/>
                <a:uFillTx/>
                <a:latin typeface="+mj-ea"/>
                <a:ea typeface="+mj-ea"/>
                <a:cs typeface="思源黑体 CN Normal" panose="020B0400000000000000" pitchFamily="34" charset="-122"/>
              </a:rPr>
              <a:t>年度总结与亮点</a:t>
            </a:r>
            <a:endParaRPr kumimoji="0" lang="zh-CN" altLang="en-US" sz="1400" i="0" u="none" strike="noStrike" kern="1200" cap="none" spc="0" normalizeH="0" baseline="0" noProof="0" dirty="0">
              <a:ln>
                <a:noFill/>
              </a:ln>
              <a:solidFill>
                <a:srgbClr val="FFFFFF"/>
              </a:solidFill>
              <a:effectLst/>
              <a:uLnTx/>
              <a:uFillTx/>
              <a:latin typeface="+mj-ea"/>
              <a:ea typeface="+mj-ea"/>
              <a:cs typeface="思源黑体 CN Normal" panose="020B0400000000000000" pitchFamily="34" charset="-122"/>
            </a:endParaRPr>
          </a:p>
        </p:txBody>
      </p:sp>
      <p:sp>
        <p:nvSpPr>
          <p:cNvPr id="17" name="小红书平北职场PPT15"/>
          <p:cNvSpPr/>
          <p:nvPr/>
        </p:nvSpPr>
        <p:spPr>
          <a:xfrm>
            <a:off x="1023408" y="5687347"/>
            <a:ext cx="334343" cy="330200"/>
          </a:xfrm>
          <a:custGeom>
            <a:avLst/>
            <a:gdLst>
              <a:gd name="connsiteX0" fmla="*/ 407670 w 816483"/>
              <a:gd name="connsiteY0" fmla="*/ 95 h 814579"/>
              <a:gd name="connsiteX1" fmla="*/ 431959 w 816483"/>
              <a:gd name="connsiteY1" fmla="*/ 19145 h 814579"/>
              <a:gd name="connsiteX2" fmla="*/ 489204 w 816483"/>
              <a:gd name="connsiteY2" fmla="*/ 176022 h 814579"/>
              <a:gd name="connsiteX3" fmla="*/ 525780 w 816483"/>
              <a:gd name="connsiteY3" fmla="*/ 276606 h 814579"/>
              <a:gd name="connsiteX4" fmla="*/ 539877 w 816483"/>
              <a:gd name="connsiteY4" fmla="*/ 290513 h 814579"/>
              <a:gd name="connsiteX5" fmla="*/ 797528 w 816483"/>
              <a:gd name="connsiteY5" fmla="*/ 383572 h 814579"/>
              <a:gd name="connsiteX6" fmla="*/ 816483 w 816483"/>
              <a:gd name="connsiteY6" fmla="*/ 407670 h 814579"/>
              <a:gd name="connsiteX7" fmla="*/ 797147 w 816483"/>
              <a:gd name="connsiteY7" fmla="*/ 431483 h 814579"/>
              <a:gd name="connsiteX8" fmla="*/ 540544 w 816483"/>
              <a:gd name="connsiteY8" fmla="*/ 524256 h 814579"/>
              <a:gd name="connsiteX9" fmla="*/ 525494 w 816483"/>
              <a:gd name="connsiteY9" fmla="*/ 538734 h 814579"/>
              <a:gd name="connsiteX10" fmla="*/ 435007 w 816483"/>
              <a:gd name="connsiteY10" fmla="*/ 787432 h 814579"/>
              <a:gd name="connsiteX11" fmla="*/ 408527 w 816483"/>
              <a:gd name="connsiteY11" fmla="*/ 814578 h 814579"/>
              <a:gd name="connsiteX12" fmla="*/ 381095 w 816483"/>
              <a:gd name="connsiteY12" fmla="*/ 786956 h 814579"/>
              <a:gd name="connsiteX13" fmla="*/ 290608 w 816483"/>
              <a:gd name="connsiteY13" fmla="*/ 538353 h 814579"/>
              <a:gd name="connsiteX14" fmla="*/ 276511 w 816483"/>
              <a:gd name="connsiteY14" fmla="*/ 524447 h 814579"/>
              <a:gd name="connsiteX15" fmla="*/ 18764 w 816483"/>
              <a:gd name="connsiteY15" fmla="*/ 431387 h 814579"/>
              <a:gd name="connsiteX16" fmla="*/ 0 w 816483"/>
              <a:gd name="connsiteY16" fmla="*/ 407194 h 814579"/>
              <a:gd name="connsiteX17" fmla="*/ 19336 w 816483"/>
              <a:gd name="connsiteY17" fmla="*/ 383381 h 814579"/>
              <a:gd name="connsiteX18" fmla="*/ 275939 w 816483"/>
              <a:gd name="connsiteY18" fmla="*/ 290703 h 814579"/>
              <a:gd name="connsiteX19" fmla="*/ 290989 w 816483"/>
              <a:gd name="connsiteY19" fmla="*/ 276225 h 814579"/>
              <a:gd name="connsiteX20" fmla="*/ 381857 w 816483"/>
              <a:gd name="connsiteY20" fmla="*/ 26480 h 814579"/>
              <a:gd name="connsiteX21" fmla="*/ 402050 w 816483"/>
              <a:gd name="connsiteY21" fmla="*/ 1048 h 814579"/>
              <a:gd name="connsiteX22" fmla="*/ 407670 w 816483"/>
              <a:gd name="connsiteY22" fmla="*/ 0 h 814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16483" h="814579">
                <a:moveTo>
                  <a:pt x="407670" y="95"/>
                </a:moveTo>
                <a:cubicBezTo>
                  <a:pt x="420338" y="857"/>
                  <a:pt x="427768" y="7430"/>
                  <a:pt x="431959" y="19145"/>
                </a:cubicBezTo>
                <a:cubicBezTo>
                  <a:pt x="450818" y="71533"/>
                  <a:pt x="470059" y="123730"/>
                  <a:pt x="489204" y="176022"/>
                </a:cubicBezTo>
                <a:cubicBezTo>
                  <a:pt x="501396" y="209550"/>
                  <a:pt x="513874" y="242983"/>
                  <a:pt x="525780" y="276606"/>
                </a:cubicBezTo>
                <a:cubicBezTo>
                  <a:pt x="528352" y="283845"/>
                  <a:pt x="532448" y="287846"/>
                  <a:pt x="539877" y="290513"/>
                </a:cubicBezTo>
                <a:cubicBezTo>
                  <a:pt x="625888" y="321278"/>
                  <a:pt x="711708" y="352520"/>
                  <a:pt x="797528" y="383572"/>
                </a:cubicBezTo>
                <a:cubicBezTo>
                  <a:pt x="808863" y="387668"/>
                  <a:pt x="816578" y="394907"/>
                  <a:pt x="816483" y="407670"/>
                </a:cubicBezTo>
                <a:cubicBezTo>
                  <a:pt x="816388" y="420434"/>
                  <a:pt x="808482" y="427387"/>
                  <a:pt x="797147" y="431483"/>
                </a:cubicBezTo>
                <a:cubicBezTo>
                  <a:pt x="711613" y="462439"/>
                  <a:pt x="626174" y="493490"/>
                  <a:pt x="540544" y="524256"/>
                </a:cubicBezTo>
                <a:cubicBezTo>
                  <a:pt x="532829" y="527018"/>
                  <a:pt x="528352" y="530924"/>
                  <a:pt x="525494" y="538734"/>
                </a:cubicBezTo>
                <a:cubicBezTo>
                  <a:pt x="495491" y="621697"/>
                  <a:pt x="465106" y="704469"/>
                  <a:pt x="435007" y="787432"/>
                </a:cubicBezTo>
                <a:cubicBezTo>
                  <a:pt x="430149" y="800672"/>
                  <a:pt x="425863" y="814388"/>
                  <a:pt x="408527" y="814578"/>
                </a:cubicBezTo>
                <a:cubicBezTo>
                  <a:pt x="390525" y="814769"/>
                  <a:pt x="386048" y="800576"/>
                  <a:pt x="381095" y="786956"/>
                </a:cubicBezTo>
                <a:cubicBezTo>
                  <a:pt x="350996" y="704088"/>
                  <a:pt x="320612" y="621221"/>
                  <a:pt x="290608" y="538353"/>
                </a:cubicBezTo>
                <a:cubicBezTo>
                  <a:pt x="287941" y="531114"/>
                  <a:pt x="283940" y="527114"/>
                  <a:pt x="276511" y="524447"/>
                </a:cubicBezTo>
                <a:cubicBezTo>
                  <a:pt x="190500" y="493681"/>
                  <a:pt x="104680" y="462439"/>
                  <a:pt x="18764" y="431387"/>
                </a:cubicBezTo>
                <a:cubicBezTo>
                  <a:pt x="7620" y="427196"/>
                  <a:pt x="0" y="419957"/>
                  <a:pt x="0" y="407194"/>
                </a:cubicBezTo>
                <a:cubicBezTo>
                  <a:pt x="0" y="394430"/>
                  <a:pt x="8001" y="387477"/>
                  <a:pt x="19336" y="383381"/>
                </a:cubicBezTo>
                <a:cubicBezTo>
                  <a:pt x="104870" y="352425"/>
                  <a:pt x="190310" y="321374"/>
                  <a:pt x="275939" y="290703"/>
                </a:cubicBezTo>
                <a:cubicBezTo>
                  <a:pt x="283750" y="287941"/>
                  <a:pt x="288131" y="284036"/>
                  <a:pt x="290989" y="276225"/>
                </a:cubicBezTo>
                <a:cubicBezTo>
                  <a:pt x="321088" y="192881"/>
                  <a:pt x="351568" y="109728"/>
                  <a:pt x="381857" y="26480"/>
                </a:cubicBezTo>
                <a:cubicBezTo>
                  <a:pt x="385763" y="15716"/>
                  <a:pt x="389096" y="4572"/>
                  <a:pt x="402050" y="1048"/>
                </a:cubicBezTo>
                <a:cubicBezTo>
                  <a:pt x="403955" y="572"/>
                  <a:pt x="405860" y="381"/>
                  <a:pt x="407670" y="0"/>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18" name="小红书平北职场PPT16"/>
          <p:cNvSpPr/>
          <p:nvPr/>
        </p:nvSpPr>
        <p:spPr>
          <a:xfrm>
            <a:off x="1086344" y="5749658"/>
            <a:ext cx="49045" cy="48348"/>
          </a:xfrm>
          <a:custGeom>
            <a:avLst/>
            <a:gdLst>
              <a:gd name="connsiteX0" fmla="*/ 119772 w 119771"/>
              <a:gd name="connsiteY0" fmla="*/ 30307 h 119270"/>
              <a:gd name="connsiteX1" fmla="*/ 98150 w 119771"/>
              <a:gd name="connsiteY1" fmla="*/ 90314 h 119270"/>
              <a:gd name="connsiteX2" fmla="*/ 92244 w 119771"/>
              <a:gd name="connsiteY2" fmla="*/ 96886 h 119270"/>
              <a:gd name="connsiteX3" fmla="*/ 30999 w 119771"/>
              <a:gd name="connsiteY3" fmla="*/ 119270 h 119270"/>
              <a:gd name="connsiteX4" fmla="*/ 16997 w 119771"/>
              <a:gd name="connsiteY4" fmla="*/ 79170 h 119270"/>
              <a:gd name="connsiteX5" fmla="*/ 2328 w 119771"/>
              <a:gd name="connsiteY5" fmla="*/ 35736 h 119270"/>
              <a:gd name="connsiteX6" fmla="*/ 6710 w 119771"/>
              <a:gd name="connsiteY6" fmla="*/ 7256 h 119270"/>
              <a:gd name="connsiteX7" fmla="*/ 36047 w 119771"/>
              <a:gd name="connsiteY7" fmla="*/ 2494 h 119270"/>
              <a:gd name="connsiteX8" fmla="*/ 119676 w 119771"/>
              <a:gd name="connsiteY8" fmla="*/ 30402 h 119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71" h="119270">
                <a:moveTo>
                  <a:pt x="119772" y="30307"/>
                </a:moveTo>
                <a:cubicBezTo>
                  <a:pt x="112247" y="51357"/>
                  <a:pt x="105389" y="70883"/>
                  <a:pt x="98150" y="90314"/>
                </a:cubicBezTo>
                <a:cubicBezTo>
                  <a:pt x="97197" y="92886"/>
                  <a:pt x="94721" y="95934"/>
                  <a:pt x="92244" y="96886"/>
                </a:cubicBezTo>
                <a:cubicBezTo>
                  <a:pt x="72528" y="104411"/>
                  <a:pt x="52620" y="111460"/>
                  <a:pt x="30999" y="119270"/>
                </a:cubicBezTo>
                <a:cubicBezTo>
                  <a:pt x="26141" y="105459"/>
                  <a:pt x="21474" y="92315"/>
                  <a:pt x="16997" y="79170"/>
                </a:cubicBezTo>
                <a:cubicBezTo>
                  <a:pt x="12044" y="64692"/>
                  <a:pt x="7186" y="50214"/>
                  <a:pt x="2328" y="35736"/>
                </a:cubicBezTo>
                <a:cubicBezTo>
                  <a:pt x="-1101" y="25449"/>
                  <a:pt x="-1577" y="15638"/>
                  <a:pt x="6710" y="7256"/>
                </a:cubicBezTo>
                <a:cubicBezTo>
                  <a:pt x="15282" y="-1507"/>
                  <a:pt x="25188" y="-1316"/>
                  <a:pt x="36047" y="2494"/>
                </a:cubicBezTo>
                <a:cubicBezTo>
                  <a:pt x="63384" y="11923"/>
                  <a:pt x="90911" y="20877"/>
                  <a:pt x="119676" y="30402"/>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19" name="小红书平北职场PPT17"/>
          <p:cNvSpPr/>
          <p:nvPr/>
        </p:nvSpPr>
        <p:spPr>
          <a:xfrm>
            <a:off x="1086373" y="5906965"/>
            <a:ext cx="48977" cy="48409"/>
          </a:xfrm>
          <a:custGeom>
            <a:avLst/>
            <a:gdLst>
              <a:gd name="connsiteX0" fmla="*/ 30544 w 119603"/>
              <a:gd name="connsiteY0" fmla="*/ 0 h 119422"/>
              <a:gd name="connsiteX1" fmla="*/ 92362 w 119603"/>
              <a:gd name="connsiteY1" fmla="*/ 22479 h 119422"/>
              <a:gd name="connsiteX2" fmla="*/ 97600 w 119603"/>
              <a:gd name="connsiteY2" fmla="*/ 28194 h 119422"/>
              <a:gd name="connsiteX3" fmla="*/ 119603 w 119603"/>
              <a:gd name="connsiteY3" fmla="*/ 88868 h 119422"/>
              <a:gd name="connsiteX4" fmla="*/ 43498 w 119603"/>
              <a:gd name="connsiteY4" fmla="*/ 114395 h 119422"/>
              <a:gd name="connsiteX5" fmla="*/ 6446 w 119603"/>
              <a:gd name="connsiteY5" fmla="*/ 111919 h 119422"/>
              <a:gd name="connsiteX6" fmla="*/ 5208 w 119603"/>
              <a:gd name="connsiteY6" fmla="*/ 75628 h 119422"/>
              <a:gd name="connsiteX7" fmla="*/ 30544 w 119603"/>
              <a:gd name="connsiteY7" fmla="*/ 95 h 119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603" h="119422">
                <a:moveTo>
                  <a:pt x="30544" y="0"/>
                </a:moveTo>
                <a:cubicBezTo>
                  <a:pt x="52071" y="7715"/>
                  <a:pt x="72264" y="14954"/>
                  <a:pt x="92362" y="22479"/>
                </a:cubicBezTo>
                <a:cubicBezTo>
                  <a:pt x="94552" y="23336"/>
                  <a:pt x="96743" y="25908"/>
                  <a:pt x="97600" y="28194"/>
                </a:cubicBezTo>
                <a:cubicBezTo>
                  <a:pt x="104935" y="47911"/>
                  <a:pt x="112078" y="67818"/>
                  <a:pt x="119603" y="88868"/>
                </a:cubicBezTo>
                <a:cubicBezTo>
                  <a:pt x="93790" y="97536"/>
                  <a:pt x="68644" y="106013"/>
                  <a:pt x="43498" y="114395"/>
                </a:cubicBezTo>
                <a:cubicBezTo>
                  <a:pt x="30830" y="118682"/>
                  <a:pt x="17971" y="124206"/>
                  <a:pt x="6446" y="111919"/>
                </a:cubicBezTo>
                <a:cubicBezTo>
                  <a:pt x="-4603" y="100108"/>
                  <a:pt x="1017" y="87916"/>
                  <a:pt x="5208" y="75628"/>
                </a:cubicBezTo>
                <a:cubicBezTo>
                  <a:pt x="13685" y="50864"/>
                  <a:pt x="21877" y="26003"/>
                  <a:pt x="30544" y="95"/>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0" name="小红书平北职场PPT18"/>
          <p:cNvSpPr/>
          <p:nvPr/>
        </p:nvSpPr>
        <p:spPr>
          <a:xfrm>
            <a:off x="1245848" y="5749593"/>
            <a:ext cx="48936" cy="48412"/>
          </a:xfrm>
          <a:custGeom>
            <a:avLst/>
            <a:gdLst>
              <a:gd name="connsiteX0" fmla="*/ 88964 w 119504"/>
              <a:gd name="connsiteY0" fmla="*/ 119431 h 119430"/>
              <a:gd name="connsiteX1" fmla="*/ 27432 w 119504"/>
              <a:gd name="connsiteY1" fmla="*/ 96952 h 119430"/>
              <a:gd name="connsiteX2" fmla="*/ 21527 w 119504"/>
              <a:gd name="connsiteY2" fmla="*/ 90380 h 119430"/>
              <a:gd name="connsiteX3" fmla="*/ 0 w 119504"/>
              <a:gd name="connsiteY3" fmla="*/ 30563 h 119430"/>
              <a:gd name="connsiteX4" fmla="*/ 76867 w 119504"/>
              <a:gd name="connsiteY4" fmla="*/ 4750 h 119430"/>
              <a:gd name="connsiteX5" fmla="*/ 112871 w 119504"/>
              <a:gd name="connsiteY5" fmla="*/ 7322 h 119430"/>
              <a:gd name="connsiteX6" fmla="*/ 114395 w 119504"/>
              <a:gd name="connsiteY6" fmla="*/ 43612 h 119430"/>
              <a:gd name="connsiteX7" fmla="*/ 88964 w 119504"/>
              <a:gd name="connsiteY7" fmla="*/ 119431 h 11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504" h="119430">
                <a:moveTo>
                  <a:pt x="88964" y="119431"/>
                </a:moveTo>
                <a:cubicBezTo>
                  <a:pt x="67056" y="111525"/>
                  <a:pt x="47149" y="104477"/>
                  <a:pt x="27432" y="96952"/>
                </a:cubicBezTo>
                <a:cubicBezTo>
                  <a:pt x="24956" y="95999"/>
                  <a:pt x="22479" y="93047"/>
                  <a:pt x="21527" y="90380"/>
                </a:cubicBezTo>
                <a:cubicBezTo>
                  <a:pt x="14288" y="70949"/>
                  <a:pt x="7430" y="51422"/>
                  <a:pt x="0" y="30563"/>
                </a:cubicBezTo>
                <a:cubicBezTo>
                  <a:pt x="25908" y="21895"/>
                  <a:pt x="51435" y="13418"/>
                  <a:pt x="76867" y="4750"/>
                </a:cubicBezTo>
                <a:cubicBezTo>
                  <a:pt x="89249" y="559"/>
                  <a:pt x="101632" y="-4489"/>
                  <a:pt x="112871" y="7322"/>
                </a:cubicBezTo>
                <a:cubicBezTo>
                  <a:pt x="124016" y="18942"/>
                  <a:pt x="118681" y="31229"/>
                  <a:pt x="114395" y="43612"/>
                </a:cubicBezTo>
                <a:cubicBezTo>
                  <a:pt x="105918" y="68377"/>
                  <a:pt x="97727" y="93237"/>
                  <a:pt x="88964" y="119431"/>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1" name="小红书平北职场PPT19"/>
          <p:cNvSpPr/>
          <p:nvPr/>
        </p:nvSpPr>
        <p:spPr>
          <a:xfrm>
            <a:off x="1245810" y="5907043"/>
            <a:ext cx="48956" cy="48474"/>
          </a:xfrm>
          <a:custGeom>
            <a:avLst/>
            <a:gdLst>
              <a:gd name="connsiteX0" fmla="*/ 0 w 119551"/>
              <a:gd name="connsiteY0" fmla="*/ 88773 h 119581"/>
              <a:gd name="connsiteX1" fmla="*/ 21336 w 119551"/>
              <a:gd name="connsiteY1" fmla="*/ 29623 h 119581"/>
              <a:gd name="connsiteX2" fmla="*/ 27908 w 119551"/>
              <a:gd name="connsiteY2" fmla="*/ 22289 h 119581"/>
              <a:gd name="connsiteX3" fmla="*/ 88868 w 119551"/>
              <a:gd name="connsiteY3" fmla="*/ 0 h 119581"/>
              <a:gd name="connsiteX4" fmla="*/ 108109 w 119551"/>
              <a:gd name="connsiteY4" fmla="*/ 56007 h 119581"/>
              <a:gd name="connsiteX5" fmla="*/ 118777 w 119551"/>
              <a:gd name="connsiteY5" fmla="*/ 89630 h 119581"/>
              <a:gd name="connsiteX6" fmla="*/ 90107 w 119551"/>
              <a:gd name="connsiteY6" fmla="*/ 118586 h 119581"/>
              <a:gd name="connsiteX7" fmla="*/ 95 w 119551"/>
              <a:gd name="connsiteY7" fmla="*/ 88773 h 11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551" h="119581">
                <a:moveTo>
                  <a:pt x="0" y="88773"/>
                </a:moveTo>
                <a:cubicBezTo>
                  <a:pt x="7429" y="67913"/>
                  <a:pt x="14192" y="48673"/>
                  <a:pt x="21336" y="29623"/>
                </a:cubicBezTo>
                <a:cubicBezTo>
                  <a:pt x="22479" y="26670"/>
                  <a:pt x="25146" y="23336"/>
                  <a:pt x="27908" y="22289"/>
                </a:cubicBezTo>
                <a:cubicBezTo>
                  <a:pt x="47625" y="14764"/>
                  <a:pt x="67532" y="7715"/>
                  <a:pt x="88868" y="0"/>
                </a:cubicBezTo>
                <a:cubicBezTo>
                  <a:pt x="95441" y="19145"/>
                  <a:pt x="101822" y="37529"/>
                  <a:pt x="108109" y="56007"/>
                </a:cubicBezTo>
                <a:cubicBezTo>
                  <a:pt x="111824" y="67151"/>
                  <a:pt x="115919" y="78200"/>
                  <a:pt x="118777" y="89630"/>
                </a:cubicBezTo>
                <a:cubicBezTo>
                  <a:pt x="123253" y="107537"/>
                  <a:pt x="107632" y="123825"/>
                  <a:pt x="90107" y="118586"/>
                </a:cubicBezTo>
                <a:cubicBezTo>
                  <a:pt x="60198" y="109633"/>
                  <a:pt x="30671" y="99060"/>
                  <a:pt x="95" y="88773"/>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2" name="小红书平北职场PPT20"/>
          <p:cNvSpPr/>
          <p:nvPr/>
        </p:nvSpPr>
        <p:spPr>
          <a:xfrm>
            <a:off x="2162639" y="5531439"/>
            <a:ext cx="7174718" cy="919479"/>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23" name="小红书平北职场PPT21"/>
          <p:cNvGrpSpPr/>
          <p:nvPr/>
        </p:nvGrpSpPr>
        <p:grpSpPr>
          <a:xfrm>
            <a:off x="2387364" y="5680929"/>
            <a:ext cx="6832961" cy="672556"/>
            <a:chOff x="2387364" y="5706687"/>
            <a:chExt cx="6832961" cy="672556"/>
          </a:xfrm>
        </p:grpSpPr>
        <p:sp>
          <p:nvSpPr>
            <p:cNvPr id="50" name="小红书平北职场PPT21-1"/>
            <p:cNvSpPr txBox="1"/>
            <p:nvPr/>
          </p:nvSpPr>
          <p:spPr>
            <a:xfrm>
              <a:off x="2387364" y="5706687"/>
              <a:ext cx="1415772" cy="672556"/>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rPr>
                <a:t>1500</a:t>
              </a:r>
              <a:endPar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endParaRPr>
            </a:p>
            <a:p>
              <a:pPr>
                <a:lnSpc>
                  <a:spcPct val="120000"/>
                </a:lnSpc>
                <a:defRPr/>
              </a:pPr>
              <a:r>
                <a:rPr lang="zh-CN" altLang="en-US" dirty="0">
                  <a:solidFill>
                    <a:schemeClr val="tx1"/>
                  </a:solidFill>
                  <a:latin typeface="+mn-ea"/>
                  <a:ea typeface="+mn-ea"/>
                  <a:cs typeface="思源黑体 CN Normal" panose="020B0400000000000000" pitchFamily="34" charset="-122"/>
                </a:rPr>
                <a:t>全年累计项目收入</a:t>
              </a:r>
              <a:endParaRPr lang="zh-CN" altLang="en-US" dirty="0">
                <a:solidFill>
                  <a:schemeClr val="tx1"/>
                </a:solidFill>
                <a:latin typeface="+mn-ea"/>
                <a:ea typeface="+mn-ea"/>
                <a:cs typeface="思源黑体 CN Normal" panose="020B0400000000000000" pitchFamily="34" charset="-122"/>
              </a:endParaRPr>
            </a:p>
          </p:txBody>
        </p:sp>
        <p:cxnSp>
          <p:nvCxnSpPr>
            <p:cNvPr id="51" name="小红书平北职场PPT21-2"/>
            <p:cNvCxnSpPr/>
            <p:nvPr/>
          </p:nvCxnSpPr>
          <p:spPr>
            <a:xfrm>
              <a:off x="3998090" y="5797216"/>
              <a:ext cx="0" cy="497676"/>
            </a:xfrm>
            <a:prstGeom prst="line">
              <a:avLst/>
            </a:prstGeom>
            <a:ln w="6350">
              <a:solidFill>
                <a:schemeClr val="tx1">
                  <a:lumMod val="65000"/>
                  <a:lumOff val="35000"/>
                  <a:alpha val="50000"/>
                </a:schemeClr>
              </a:solidFill>
            </a:ln>
          </p:spPr>
          <p:style>
            <a:lnRef idx="2">
              <a:schemeClr val="accent1"/>
            </a:lnRef>
            <a:fillRef idx="0">
              <a:schemeClr val="accent1"/>
            </a:fillRef>
            <a:effectRef idx="1">
              <a:schemeClr val="accent1"/>
            </a:effectRef>
            <a:fontRef idx="minor">
              <a:schemeClr val="tx1"/>
            </a:fontRef>
          </p:style>
        </p:cxnSp>
        <p:sp>
          <p:nvSpPr>
            <p:cNvPr id="52" name="小红书平北职场PPT21-3"/>
            <p:cNvSpPr txBox="1"/>
            <p:nvPr/>
          </p:nvSpPr>
          <p:spPr>
            <a:xfrm>
              <a:off x="4413880" y="5706687"/>
              <a:ext cx="954107" cy="672556"/>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000" b="1"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88.6%</a:t>
              </a:r>
              <a:endParaRPr kumimoji="0" lang="en-US" altLang="zh-CN" sz="2000" b="1"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lang="zh-CN" altLang="en-US" dirty="0">
                  <a:solidFill>
                    <a:schemeClr val="tx1"/>
                  </a:solidFill>
                  <a:latin typeface="+mn-ea"/>
                  <a:ea typeface="+mn-ea"/>
                  <a:cs typeface="思源黑体 CN Normal" panose="020B0400000000000000" pitchFamily="34" charset="-122"/>
                </a:rPr>
                <a:t>客户满意度</a:t>
              </a:r>
              <a:endParaRPr lang="zh-CN" altLang="en-US" dirty="0">
                <a:solidFill>
                  <a:schemeClr val="tx1"/>
                </a:solidFill>
                <a:latin typeface="+mn-ea"/>
                <a:ea typeface="+mn-ea"/>
                <a:cs typeface="思源黑体 CN Normal" panose="020B0400000000000000" pitchFamily="34" charset="-122"/>
              </a:endParaRPr>
            </a:p>
          </p:txBody>
        </p:sp>
        <p:sp>
          <p:nvSpPr>
            <p:cNvPr id="53" name="小红书平北职场PPT21-4"/>
            <p:cNvSpPr txBox="1"/>
            <p:nvPr/>
          </p:nvSpPr>
          <p:spPr>
            <a:xfrm>
              <a:off x="6201659" y="5706687"/>
              <a:ext cx="1107996" cy="672556"/>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rPr>
                <a:t>20</a:t>
              </a:r>
              <a:endPar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endParaRPr>
            </a:p>
            <a:p>
              <a:pPr>
                <a:lnSpc>
                  <a:spcPct val="120000"/>
                </a:lnSpc>
                <a:defRPr/>
              </a:pPr>
              <a:r>
                <a:rPr lang="zh-CN" altLang="en-US" dirty="0">
                  <a:solidFill>
                    <a:schemeClr val="tx1"/>
                  </a:solidFill>
                  <a:latin typeface="+mn-ea"/>
                  <a:ea typeface="+mn-ea"/>
                  <a:cs typeface="思源黑体 CN Normal" panose="020B0400000000000000" pitchFamily="34" charset="-122"/>
                </a:rPr>
                <a:t>技术团队扩充</a:t>
              </a:r>
              <a:endParaRPr lang="zh-CN" altLang="en-US" dirty="0">
                <a:solidFill>
                  <a:schemeClr val="tx1"/>
                </a:solidFill>
                <a:latin typeface="+mn-ea"/>
                <a:ea typeface="+mn-ea"/>
                <a:cs typeface="思源黑体 CN Normal" panose="020B0400000000000000" pitchFamily="34" charset="-122"/>
              </a:endParaRPr>
            </a:p>
          </p:txBody>
        </p:sp>
        <p:sp>
          <p:nvSpPr>
            <p:cNvPr id="54" name="小红书平北职场PPT21-5"/>
            <p:cNvSpPr txBox="1"/>
            <p:nvPr/>
          </p:nvSpPr>
          <p:spPr>
            <a:xfrm>
              <a:off x="7958441" y="5706687"/>
              <a:ext cx="1261884" cy="672556"/>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rPr>
                <a:t>120%</a:t>
              </a:r>
              <a:endPar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endParaRPr>
            </a:p>
            <a:p>
              <a:pPr>
                <a:lnSpc>
                  <a:spcPct val="120000"/>
                </a:lnSpc>
                <a:defRPr/>
              </a:pPr>
              <a:r>
                <a:rPr lang="zh-CN" altLang="en-US" dirty="0">
                  <a:solidFill>
                    <a:schemeClr val="tx1"/>
                  </a:solidFill>
                  <a:latin typeface="+mn-ea"/>
                  <a:ea typeface="+mn-ea"/>
                  <a:cs typeface="思源黑体 CN Normal" panose="020B0400000000000000" pitchFamily="34" charset="-122"/>
                </a:rPr>
                <a:t>创新项目增长率</a:t>
              </a:r>
              <a:endParaRPr lang="zh-CN" altLang="en-US" dirty="0">
                <a:solidFill>
                  <a:schemeClr val="tx1"/>
                </a:solidFill>
                <a:latin typeface="+mn-ea"/>
                <a:ea typeface="+mn-ea"/>
                <a:cs typeface="思源黑体 CN Normal" panose="020B0400000000000000" pitchFamily="34" charset="-122"/>
              </a:endParaRPr>
            </a:p>
          </p:txBody>
        </p:sp>
        <p:cxnSp>
          <p:nvCxnSpPr>
            <p:cNvPr id="55" name="小红书平北职场PPT21-6"/>
            <p:cNvCxnSpPr/>
            <p:nvPr/>
          </p:nvCxnSpPr>
          <p:spPr>
            <a:xfrm>
              <a:off x="5876550" y="5797216"/>
              <a:ext cx="0" cy="497676"/>
            </a:xfrm>
            <a:prstGeom prst="line">
              <a:avLst/>
            </a:prstGeom>
            <a:ln w="6350">
              <a:solidFill>
                <a:schemeClr val="tx1">
                  <a:lumMod val="65000"/>
                  <a:lumOff val="35000"/>
                  <a:alpha val="50000"/>
                </a:schemeClr>
              </a:solidFill>
            </a:ln>
          </p:spPr>
          <p:style>
            <a:lnRef idx="2">
              <a:schemeClr val="accent1"/>
            </a:lnRef>
            <a:fillRef idx="0">
              <a:schemeClr val="accent1"/>
            </a:fillRef>
            <a:effectRef idx="1">
              <a:schemeClr val="accent1"/>
            </a:effectRef>
            <a:fontRef idx="minor">
              <a:schemeClr val="tx1"/>
            </a:fontRef>
          </p:style>
        </p:cxnSp>
        <p:cxnSp>
          <p:nvCxnSpPr>
            <p:cNvPr id="56" name="小红书平北职场PPT21-7"/>
            <p:cNvCxnSpPr/>
            <p:nvPr/>
          </p:nvCxnSpPr>
          <p:spPr>
            <a:xfrm>
              <a:off x="7724014" y="5797216"/>
              <a:ext cx="0" cy="497676"/>
            </a:xfrm>
            <a:prstGeom prst="line">
              <a:avLst/>
            </a:prstGeom>
            <a:ln w="6350">
              <a:solidFill>
                <a:schemeClr val="tx1">
                  <a:lumMod val="65000"/>
                  <a:lumOff val="35000"/>
                  <a:alpha val="50000"/>
                </a:schemeClr>
              </a:solidFill>
            </a:ln>
          </p:spPr>
          <p:style>
            <a:lnRef idx="2">
              <a:schemeClr val="accent1"/>
            </a:lnRef>
            <a:fillRef idx="0">
              <a:schemeClr val="accent1"/>
            </a:fillRef>
            <a:effectRef idx="1">
              <a:schemeClr val="accent1"/>
            </a:effectRef>
            <a:fontRef idx="minor">
              <a:schemeClr val="tx1"/>
            </a:fontRef>
          </p:style>
        </p:cxnSp>
        <p:sp>
          <p:nvSpPr>
            <p:cNvPr id="57" name="小红书平北职场PPT21-8"/>
            <p:cNvSpPr txBox="1">
              <a:spLocks noChangeArrowheads="1"/>
            </p:cNvSpPr>
            <p:nvPr/>
          </p:nvSpPr>
          <p:spPr bwMode="auto">
            <a:xfrm>
              <a:off x="2950243" y="5823939"/>
              <a:ext cx="1338160" cy="303225"/>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defTabSz="914400">
                <a:defRPr/>
              </a:pPr>
              <a:r>
                <a:rPr lang="zh-CN" altLang="en-US" sz="1200" dirty="0">
                  <a:solidFill>
                    <a:schemeClr val="tx1"/>
                  </a:solidFill>
                  <a:latin typeface="+mn-ea"/>
                  <a:cs typeface="思源黑体 CN Normal" panose="020B0400000000000000" pitchFamily="34" charset="-122"/>
                </a:rPr>
                <a:t>万元</a:t>
              </a:r>
              <a:endParaRPr lang="zh-CN" altLang="en-US" sz="1200" dirty="0">
                <a:solidFill>
                  <a:schemeClr val="tx1"/>
                </a:solidFill>
                <a:latin typeface="+mn-ea"/>
                <a:cs typeface="思源黑体 CN Normal" panose="020B0400000000000000" pitchFamily="34" charset="-122"/>
              </a:endParaRPr>
            </a:p>
          </p:txBody>
        </p:sp>
        <p:sp>
          <p:nvSpPr>
            <p:cNvPr id="58" name="小红书平北职场PPT21-9"/>
            <p:cNvSpPr txBox="1">
              <a:spLocks noChangeArrowheads="1"/>
            </p:cNvSpPr>
            <p:nvPr/>
          </p:nvSpPr>
          <p:spPr bwMode="auto">
            <a:xfrm>
              <a:off x="6552798" y="5823939"/>
              <a:ext cx="1338160" cy="303225"/>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defTabSz="914400">
                <a:defRPr/>
              </a:pPr>
              <a:r>
                <a:rPr lang="zh-CN" altLang="en-US" sz="1200" dirty="0">
                  <a:solidFill>
                    <a:srgbClr val="000000">
                      <a:lumMod val="75000"/>
                      <a:lumOff val="25000"/>
                    </a:srgbClr>
                  </a:solidFill>
                  <a:latin typeface="+mn-ea"/>
                  <a:cs typeface="思源黑体 CN Normal" panose="020B0400000000000000" pitchFamily="34" charset="-122"/>
                </a:rPr>
                <a:t>人</a:t>
              </a:r>
              <a:endParaRPr lang="zh-CN" altLang="en-US" sz="1200" dirty="0">
                <a:solidFill>
                  <a:srgbClr val="000000">
                    <a:lumMod val="75000"/>
                    <a:lumOff val="25000"/>
                  </a:srgbClr>
                </a:solidFill>
                <a:latin typeface="+mn-ea"/>
                <a:cs typeface="思源黑体 CN Normal" panose="020B0400000000000000" pitchFamily="34" charset="-122"/>
              </a:endParaRPr>
            </a:p>
          </p:txBody>
        </p:sp>
      </p:grpSp>
      <p:grpSp>
        <p:nvGrpSpPr>
          <p:cNvPr id="24" name="小红书平北职场PPT22"/>
          <p:cNvGrpSpPr/>
          <p:nvPr/>
        </p:nvGrpSpPr>
        <p:grpSpPr>
          <a:xfrm>
            <a:off x="9429787" y="5531439"/>
            <a:ext cx="2330730" cy="919479"/>
            <a:chOff x="9924271" y="981075"/>
            <a:chExt cx="1824811" cy="1012824"/>
          </a:xfrm>
        </p:grpSpPr>
        <p:sp>
          <p:nvSpPr>
            <p:cNvPr id="47" name="小红书平北职场PPT22-1"/>
            <p:cNvSpPr/>
            <p:nvPr/>
          </p:nvSpPr>
          <p:spPr>
            <a:xfrm>
              <a:off x="9924271" y="981075"/>
              <a:ext cx="1824811" cy="1012824"/>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en-US" sz="1600" b="1">
                <a:solidFill>
                  <a:schemeClr val="bg1"/>
                </a:solidFill>
                <a:latin typeface="+mj-ea"/>
                <a:ea typeface="+mj-ea"/>
                <a:cs typeface="思源黑体 CN Normal" panose="020B0400000000000000" pitchFamily="34" charset="-122"/>
              </a:endParaRPr>
            </a:p>
          </p:txBody>
        </p:sp>
        <p:sp>
          <p:nvSpPr>
            <p:cNvPr id="48" name="小红书平北职场PPT22-2"/>
            <p:cNvSpPr txBox="1"/>
            <p:nvPr/>
          </p:nvSpPr>
          <p:spPr>
            <a:xfrm>
              <a:off x="10488276" y="1641752"/>
              <a:ext cx="696802" cy="309498"/>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rPr>
                <a:t>项目完成度</a:t>
              </a:r>
              <a:endParaRPr kumimoji="0" lang="en-US" sz="11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49" name="小红书平北职场PPT22-3"/>
            <p:cNvSpPr txBox="1"/>
            <p:nvPr/>
          </p:nvSpPr>
          <p:spPr>
            <a:xfrm>
              <a:off x="10427681" y="1039140"/>
              <a:ext cx="817990" cy="651346"/>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8F8F8"/>
                  </a:solidFill>
                  <a:effectLst/>
                  <a:uLnTx/>
                  <a:uFillTx/>
                  <a:latin typeface="Roboto" panose="02000000000000000000" pitchFamily="2" charset="0"/>
                  <a:ea typeface="思源黑体 CN Heavy" panose="020B0A00000000000000" charset="-122"/>
                  <a:cs typeface="思源黑体 CN Normal" panose="020B0400000000000000" pitchFamily="34" charset="-122"/>
                </a:rPr>
                <a:t>100%</a:t>
              </a:r>
              <a:endParaRPr kumimoji="0" lang="en-US" sz="3200" b="1" i="0" u="none" strike="noStrike" kern="1200" cap="none" spc="0" normalizeH="0" baseline="0" noProof="0" dirty="0">
                <a:ln>
                  <a:noFill/>
                </a:ln>
                <a:solidFill>
                  <a:srgbClr val="F8F8F8"/>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grpSp>
        <p:nvGrpSpPr>
          <p:cNvPr id="25" name="小红书平北职场PPT23"/>
          <p:cNvGrpSpPr/>
          <p:nvPr/>
        </p:nvGrpSpPr>
        <p:grpSpPr>
          <a:xfrm>
            <a:off x="334963" y="184318"/>
            <a:ext cx="11522075" cy="506147"/>
            <a:chOff x="334963" y="184318"/>
            <a:chExt cx="11522075" cy="506147"/>
          </a:xfrm>
        </p:grpSpPr>
        <p:cxnSp>
          <p:nvCxnSpPr>
            <p:cNvPr id="45" name="小红书平北职场PPT2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小红书平北职场PPT23-2"/>
            <p:cNvSpPr txBox="1"/>
            <p:nvPr>
              <p:custDataLst>
                <p:tags r:id="rId2"/>
              </p:custDataLst>
            </p:nvPr>
          </p:nvSpPr>
          <p:spPr>
            <a:xfrm>
              <a:off x="334963" y="184318"/>
              <a:ext cx="5219378"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XX</a:t>
              </a:r>
              <a:r>
                <a:rPr lang="zh-CN" altLang="en-US" sz="2800" dirty="0">
                  <a:latin typeface="+mj-ea"/>
                  <a:ea typeface="+mj-ea"/>
                  <a:cs typeface="思源黑体 CN Normal" panose="020B0400000000000000" pitchFamily="34" charset="-122"/>
                  <a:sym typeface="+mj-ea"/>
                </a:rPr>
                <a:t>数字营销公司创意技术部汇报</a:t>
              </a:r>
              <a:endParaRPr lang="zh-CN" altLang="en-US" sz="2800" dirty="0">
                <a:latin typeface="+mj-ea"/>
                <a:ea typeface="+mj-ea"/>
                <a:cs typeface="思源黑体 CN Normal" panose="020B0400000000000000" pitchFamily="34" charset="-122"/>
                <a:sym typeface="+mj-ea"/>
              </a:endParaRPr>
            </a:p>
          </p:txBody>
        </p:sp>
      </p:gr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74"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小红书平北职场PPT1-2"/>
            <p:cNvSpPr txBox="1"/>
            <p:nvPr>
              <p:custDataLst>
                <p:tags r:id="rId2"/>
              </p:custDataLst>
            </p:nvPr>
          </p:nvSpPr>
          <p:spPr>
            <a:xfrm>
              <a:off x="334963" y="184318"/>
              <a:ext cx="5283498"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2024</a:t>
              </a:r>
              <a:r>
                <a:rPr lang="zh-CN" altLang="en-US" sz="2800" dirty="0">
                  <a:latin typeface="+mj-ea"/>
                  <a:ea typeface="+mj-ea"/>
                  <a:cs typeface="思源黑体 CN Normal" panose="020B0400000000000000" pitchFamily="34" charset="-122"/>
                  <a:sym typeface="+mj-ea"/>
                </a:rPr>
                <a:t>年业绩完成情况及重点数据</a:t>
              </a:r>
              <a:endParaRPr lang="zh-CN" altLang="en-US" sz="2800" dirty="0">
                <a:latin typeface="+mj-ea"/>
                <a:ea typeface="+mj-ea"/>
                <a:cs typeface="思源黑体 CN Normal" panose="020B0400000000000000" pitchFamily="34" charset="-122"/>
                <a:sym typeface="+mj-ea"/>
              </a:endParaRPr>
            </a:p>
          </p:txBody>
        </p:sp>
      </p:grpSp>
      <p:sp>
        <p:nvSpPr>
          <p:cNvPr id="4" name="小红书平北职场PPT2"/>
          <p:cNvSpPr/>
          <p:nvPr/>
        </p:nvSpPr>
        <p:spPr>
          <a:xfrm>
            <a:off x="334962" y="981860"/>
            <a:ext cx="11522076" cy="2613986"/>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 name="小红书平北职场PPT3"/>
          <p:cNvSpPr/>
          <p:nvPr/>
        </p:nvSpPr>
        <p:spPr>
          <a:xfrm>
            <a:off x="4990279" y="1183133"/>
            <a:ext cx="2211442" cy="2211440"/>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6" name="小红书平北职场PPT4"/>
          <p:cNvSpPr/>
          <p:nvPr/>
        </p:nvSpPr>
        <p:spPr>
          <a:xfrm>
            <a:off x="4437829" y="630684"/>
            <a:ext cx="3316342" cy="3316338"/>
          </a:xfrm>
          <a:prstGeom prst="ellipse">
            <a:avLst/>
          </a:prstGeom>
          <a:noFill/>
          <a:ln w="9525">
            <a:gradFill>
              <a:gsLst>
                <a:gs pos="60000">
                  <a:schemeClr val="accent1">
                    <a:alpha val="60000"/>
                  </a:schemeClr>
                </a:gs>
                <a:gs pos="40000">
                  <a:schemeClr val="accent1">
                    <a:alpha val="60000"/>
                  </a:schemeClr>
                </a:gs>
                <a:gs pos="20000">
                  <a:schemeClr val="accent1">
                    <a:alpha val="0"/>
                  </a:schemeClr>
                </a:gs>
                <a:gs pos="80000">
                  <a:schemeClr val="accent1">
                    <a:alpha val="0"/>
                  </a:schemeClr>
                </a:gs>
              </a:gsLst>
              <a:lin ang="5400000" scaled="1"/>
            </a:grad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7" name="小红书平北职场PPT5"/>
          <p:cNvSpPr txBox="1"/>
          <p:nvPr/>
        </p:nvSpPr>
        <p:spPr>
          <a:xfrm>
            <a:off x="5490706" y="2262586"/>
            <a:ext cx="1210588" cy="813108"/>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市场推广</a:t>
            </a:r>
            <a:endParaRPr kumimoji="0" lang="en-US" altLang="zh-CN"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进展</a:t>
            </a:r>
            <a:endPar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pic>
        <p:nvPicPr>
          <p:cNvPr id="8" name="小红书平北职场PPT6"/>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36472" y="1564691"/>
            <a:ext cx="719057" cy="541592"/>
          </a:xfrm>
          <a:prstGeom prst="rect">
            <a:avLst/>
          </a:prstGeom>
          <a:effectLst>
            <a:outerShdw blurRad="50800" dist="38100" dir="5400000" algn="t" rotWithShape="0">
              <a:srgbClr val="420003">
                <a:alpha val="20000"/>
              </a:srgbClr>
            </a:outerShdw>
          </a:effectLst>
        </p:spPr>
      </p:pic>
      <p:grpSp>
        <p:nvGrpSpPr>
          <p:cNvPr id="9" name="小红书平北职场PPT7"/>
          <p:cNvGrpSpPr/>
          <p:nvPr/>
        </p:nvGrpSpPr>
        <p:grpSpPr>
          <a:xfrm>
            <a:off x="641613" y="1247082"/>
            <a:ext cx="3559965" cy="2146059"/>
            <a:chOff x="743693" y="4312805"/>
            <a:chExt cx="3559965" cy="2146059"/>
          </a:xfrm>
        </p:grpSpPr>
        <p:grpSp>
          <p:nvGrpSpPr>
            <p:cNvPr id="68" name="组合 67"/>
            <p:cNvGrpSpPr/>
            <p:nvPr/>
          </p:nvGrpSpPr>
          <p:grpSpPr>
            <a:xfrm>
              <a:off x="743693" y="5584782"/>
              <a:ext cx="3559965" cy="874082"/>
              <a:chOff x="743693" y="5584782"/>
              <a:chExt cx="3559965" cy="874082"/>
            </a:xfrm>
          </p:grpSpPr>
          <p:sp>
            <p:nvSpPr>
              <p:cNvPr id="72" name="小红书平北职场PPT7-1"/>
              <p:cNvSpPr txBox="1"/>
              <p:nvPr/>
            </p:nvSpPr>
            <p:spPr>
              <a:xfrm flipH="1">
                <a:off x="1246411" y="5584782"/>
                <a:ext cx="3057247" cy="373500"/>
              </a:xfrm>
              <a:prstGeom prst="rect">
                <a:avLst/>
              </a:prstGeom>
              <a:noFill/>
            </p:spPr>
            <p:txBody>
              <a:bodyPr wrap="none">
                <a:spAutoFit/>
              </a:bodyPr>
              <a:lstStyle/>
              <a:p>
                <a:pPr algn="r">
                  <a:lnSpc>
                    <a:spcPct val="120000"/>
                  </a:lnSpc>
                </a:pPr>
                <a:r>
                  <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行业研讨会显著提升品牌影响力</a:t>
                </a:r>
                <a:endPar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p:txBody>
          </p:sp>
          <p:sp>
            <p:nvSpPr>
              <p:cNvPr id="73" name="小红书平北职场PPT7-2"/>
              <p:cNvSpPr txBox="1"/>
              <p:nvPr/>
            </p:nvSpPr>
            <p:spPr>
              <a:xfrm flipH="1">
                <a:off x="743693"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rPr>
                  <a:t>成功举办一场线上行业研讨会，邀请</a:t>
                </a:r>
                <a:r>
                  <a:rPr lang="en-US" altLang="zh-CN" sz="1200" dirty="0">
                    <a:solidFill>
                      <a:schemeClr val="tx1"/>
                    </a:solidFill>
                    <a:latin typeface="+mn-ea"/>
                    <a:cs typeface="思源黑体 CN Normal" panose="020B0400000000000000" pitchFamily="34" charset="-122"/>
                  </a:rPr>
                  <a:t>3</a:t>
                </a:r>
                <a:r>
                  <a:rPr lang="zh-CN" altLang="en-US" sz="1200" dirty="0">
                    <a:solidFill>
                      <a:schemeClr val="tx1"/>
                    </a:solidFill>
                    <a:latin typeface="+mn-ea"/>
                    <a:cs typeface="思源黑体 CN Normal" panose="020B0400000000000000" pitchFamily="34" charset="-122"/>
                  </a:rPr>
                  <a:t>位行业专家分享，直播观看人次达</a:t>
                </a:r>
                <a:r>
                  <a:rPr lang="en-US" altLang="zh-CN" sz="1200" dirty="0">
                    <a:solidFill>
                      <a:schemeClr val="tx1"/>
                    </a:solidFill>
                    <a:latin typeface="+mn-ea"/>
                    <a:cs typeface="思源黑体 CN Normal" panose="020B0400000000000000" pitchFamily="34" charset="-122"/>
                  </a:rPr>
                  <a:t>2</a:t>
                </a:r>
                <a:r>
                  <a:rPr lang="zh-CN" altLang="en-US" sz="1200" dirty="0">
                    <a:solidFill>
                      <a:schemeClr val="tx1"/>
                    </a:solidFill>
                    <a:latin typeface="+mn-ea"/>
                    <a:cs typeface="思源黑体 CN Normal" panose="020B0400000000000000" pitchFamily="34" charset="-122"/>
                  </a:rPr>
                  <a:t>万，提升了品牌影响力</a:t>
                </a:r>
                <a:endParaRPr lang="zh-CN" altLang="en-US" sz="1200" dirty="0">
                  <a:solidFill>
                    <a:schemeClr val="tx1"/>
                  </a:solidFill>
                  <a:latin typeface="+mn-ea"/>
                  <a:cs typeface="思源黑体 CN Normal" panose="020B0400000000000000" pitchFamily="34" charset="-122"/>
                </a:endParaRPr>
              </a:p>
            </p:txBody>
          </p:sp>
        </p:grpSp>
        <p:grpSp>
          <p:nvGrpSpPr>
            <p:cNvPr id="69" name="组合 68"/>
            <p:cNvGrpSpPr/>
            <p:nvPr/>
          </p:nvGrpSpPr>
          <p:grpSpPr>
            <a:xfrm>
              <a:off x="743693" y="4312805"/>
              <a:ext cx="3559965" cy="874082"/>
              <a:chOff x="743693" y="5584782"/>
              <a:chExt cx="3559965" cy="874082"/>
            </a:xfrm>
          </p:grpSpPr>
          <p:sp>
            <p:nvSpPr>
              <p:cNvPr id="70" name="小红书平北职场PPT7-3"/>
              <p:cNvSpPr txBox="1"/>
              <p:nvPr/>
            </p:nvSpPr>
            <p:spPr>
              <a:xfrm flipH="1">
                <a:off x="1451595" y="5584782"/>
                <a:ext cx="2852063" cy="373500"/>
              </a:xfrm>
              <a:prstGeom prst="rect">
                <a:avLst/>
              </a:prstGeom>
              <a:noFill/>
            </p:spPr>
            <p:txBody>
              <a:bodyPr wrap="none">
                <a:spAutoFit/>
              </a:bodyPr>
              <a:lstStyle/>
              <a:p>
                <a:pPr algn="r">
                  <a:lnSpc>
                    <a:spcPct val="120000"/>
                  </a:lnSpc>
                </a:pPr>
                <a:r>
                  <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新媒体平台拓展助力粉丝增长</a:t>
                </a:r>
                <a:endPar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p:txBody>
          </p:sp>
          <p:sp>
            <p:nvSpPr>
              <p:cNvPr id="71" name="小红书平北职场PPT7-4"/>
              <p:cNvSpPr txBox="1"/>
              <p:nvPr/>
            </p:nvSpPr>
            <p:spPr>
              <a:xfrm flipH="1">
                <a:off x="743693"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rPr>
                  <a:t>本月新开拓小红书与</a:t>
                </a:r>
                <a:r>
                  <a:rPr lang="en-US" altLang="zh-CN" sz="1200" dirty="0">
                    <a:solidFill>
                      <a:schemeClr val="tx1"/>
                    </a:solidFill>
                    <a:latin typeface="+mn-ea"/>
                    <a:cs typeface="思源黑体 CN Normal" panose="020B0400000000000000" pitchFamily="34" charset="-122"/>
                  </a:rPr>
                  <a:t>B</a:t>
                </a:r>
                <a:r>
                  <a:rPr lang="zh-CN" altLang="en-US" sz="1200" dirty="0">
                    <a:solidFill>
                      <a:schemeClr val="tx1"/>
                    </a:solidFill>
                    <a:latin typeface="+mn-ea"/>
                    <a:cs typeface="思源黑体 CN Normal" panose="020B0400000000000000" pitchFamily="34" charset="-122"/>
                  </a:rPr>
                  <a:t>站两个新媒体平台，已完成账号搭建并发布</a:t>
                </a:r>
                <a:r>
                  <a:rPr lang="en-US" altLang="zh-CN" sz="1200" dirty="0">
                    <a:solidFill>
                      <a:schemeClr val="tx1"/>
                    </a:solidFill>
                    <a:latin typeface="+mn-ea"/>
                    <a:cs typeface="思源黑体 CN Normal" panose="020B0400000000000000" pitchFamily="34" charset="-122"/>
                  </a:rPr>
                  <a:t>12</a:t>
                </a:r>
                <a:r>
                  <a:rPr lang="zh-CN" altLang="en-US" sz="1200" dirty="0">
                    <a:solidFill>
                      <a:schemeClr val="tx1"/>
                    </a:solidFill>
                    <a:latin typeface="+mn-ea"/>
                    <a:cs typeface="思源黑体 CN Normal" panose="020B0400000000000000" pitchFamily="34" charset="-122"/>
                  </a:rPr>
                  <a:t>篇原创内容，新增粉丝</a:t>
                </a:r>
                <a:r>
                  <a:rPr lang="en-US" altLang="zh-CN" sz="1200" dirty="0">
                    <a:solidFill>
                      <a:schemeClr val="tx1"/>
                    </a:solidFill>
                    <a:latin typeface="+mn-ea"/>
                    <a:cs typeface="思源黑体 CN Normal" panose="020B0400000000000000" pitchFamily="34" charset="-122"/>
                  </a:rPr>
                  <a:t>5000+</a:t>
                </a:r>
                <a:endParaRPr lang="zh-CN" altLang="en-US" sz="1200" dirty="0">
                  <a:solidFill>
                    <a:schemeClr val="tx1"/>
                  </a:solidFill>
                  <a:latin typeface="+mn-ea"/>
                  <a:cs typeface="思源黑体 CN Normal" panose="020B0400000000000000" pitchFamily="34" charset="-122"/>
                </a:endParaRPr>
              </a:p>
            </p:txBody>
          </p:sp>
        </p:grpSp>
      </p:grpSp>
      <p:sp>
        <p:nvSpPr>
          <p:cNvPr id="10" name="小红书平北职场PPT8"/>
          <p:cNvSpPr/>
          <p:nvPr/>
        </p:nvSpPr>
        <p:spPr>
          <a:xfrm flipH="1">
            <a:off x="4450145" y="2733707"/>
            <a:ext cx="101311" cy="101311"/>
          </a:xfrm>
          <a:prstGeom prst="ellipse">
            <a:avLst/>
          </a:prstGeom>
          <a:solidFill>
            <a:schemeClr val="bg1"/>
          </a:solidFill>
          <a:ln w="20261" cap="flat" cmpd="sng" algn="ctr">
            <a:gradFill flip="none" rotWithShape="1">
              <a:gsLst>
                <a:gs pos="0">
                  <a:schemeClr val="accent1">
                    <a:lumMod val="60000"/>
                    <a:lumOff val="40000"/>
                  </a:schemeClr>
                </a:gs>
                <a:gs pos="100000">
                  <a:schemeClr val="accent1"/>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 name="小红书平北职场PPT9"/>
          <p:cNvSpPr/>
          <p:nvPr/>
        </p:nvSpPr>
        <p:spPr>
          <a:xfrm flipH="1">
            <a:off x="4450145" y="1742687"/>
            <a:ext cx="101311" cy="101311"/>
          </a:xfrm>
          <a:prstGeom prst="ellipse">
            <a:avLst/>
          </a:prstGeom>
          <a:solidFill>
            <a:schemeClr val="bg1"/>
          </a:solidFill>
          <a:ln w="20261" cap="flat" cmpd="sng" algn="ctr">
            <a:gradFill flip="none" rotWithShape="1">
              <a:gsLst>
                <a:gs pos="0">
                  <a:schemeClr val="accent1">
                    <a:lumMod val="60000"/>
                    <a:lumOff val="40000"/>
                  </a:schemeClr>
                </a:gs>
                <a:gs pos="100000">
                  <a:schemeClr val="accent1"/>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2" name="小红书平北职场PPT10"/>
          <p:cNvSpPr/>
          <p:nvPr/>
        </p:nvSpPr>
        <p:spPr>
          <a:xfrm>
            <a:off x="7625044" y="2733707"/>
            <a:ext cx="101311" cy="101311"/>
          </a:xfrm>
          <a:prstGeom prst="ellipse">
            <a:avLst/>
          </a:prstGeom>
          <a:solidFill>
            <a:schemeClr val="bg1"/>
          </a:solidFill>
          <a:ln w="20261" cap="flat" cmpd="sng" algn="ctr">
            <a:gradFill flip="none" rotWithShape="1">
              <a:gsLst>
                <a:gs pos="0">
                  <a:schemeClr val="accent1">
                    <a:lumMod val="60000"/>
                    <a:lumOff val="40000"/>
                  </a:schemeClr>
                </a:gs>
                <a:gs pos="100000">
                  <a:schemeClr val="accent1"/>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3" name="小红书平北职场PPT11"/>
          <p:cNvSpPr/>
          <p:nvPr/>
        </p:nvSpPr>
        <p:spPr>
          <a:xfrm>
            <a:off x="7625044" y="1742687"/>
            <a:ext cx="101311" cy="101311"/>
          </a:xfrm>
          <a:prstGeom prst="ellipse">
            <a:avLst/>
          </a:prstGeom>
          <a:solidFill>
            <a:schemeClr val="bg1"/>
          </a:solidFill>
          <a:ln w="20261" cap="flat" cmpd="sng" algn="ctr">
            <a:gradFill flip="none" rotWithShape="1">
              <a:gsLst>
                <a:gs pos="0">
                  <a:schemeClr val="accent1">
                    <a:lumMod val="60000"/>
                    <a:lumOff val="40000"/>
                  </a:schemeClr>
                </a:gs>
                <a:gs pos="100000">
                  <a:schemeClr val="accent1"/>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14" name="小红书平北职场PPT12"/>
          <p:cNvGrpSpPr/>
          <p:nvPr/>
        </p:nvGrpSpPr>
        <p:grpSpPr>
          <a:xfrm flipH="1">
            <a:off x="7990422" y="1247082"/>
            <a:ext cx="3559964" cy="874082"/>
            <a:chOff x="743694" y="5584782"/>
            <a:chExt cx="3559964" cy="874082"/>
          </a:xfrm>
        </p:grpSpPr>
        <p:sp>
          <p:nvSpPr>
            <p:cNvPr id="66" name="小红书平北职场PPT12-1"/>
            <p:cNvSpPr txBox="1"/>
            <p:nvPr/>
          </p:nvSpPr>
          <p:spPr>
            <a:xfrm flipH="1">
              <a:off x="1813874" y="5584782"/>
              <a:ext cx="2489784" cy="373500"/>
            </a:xfrm>
            <a:prstGeom prst="rect">
              <a:avLst/>
            </a:prstGeom>
            <a:noFill/>
          </p:spPr>
          <p:txBody>
            <a:bodyPr wrap="none">
              <a:spAutoFit/>
            </a:bodyPr>
            <a:lstStyle/>
            <a:p>
              <a:pPr>
                <a:lnSpc>
                  <a:spcPct val="120000"/>
                </a:lnSpc>
              </a:pPr>
              <a:r>
                <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与</a:t>
              </a:r>
              <a:r>
                <a:rPr lang="en-US" altLang="zh-CN"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KOL</a:t>
              </a:r>
              <a:r>
                <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合作推动联合推广</a:t>
              </a:r>
              <a:endPar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p:txBody>
        </p:sp>
        <p:sp>
          <p:nvSpPr>
            <p:cNvPr id="67" name="小红书平北职场PPT12-2"/>
            <p:cNvSpPr txBox="1"/>
            <p:nvPr/>
          </p:nvSpPr>
          <p:spPr>
            <a:xfrm flipH="1">
              <a:off x="743694"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gn="l">
                <a:lnSpc>
                  <a:spcPct val="130000"/>
                </a:lnSpc>
              </a:pPr>
              <a:r>
                <a:rPr lang="zh-CN" altLang="en-US" sz="1200" dirty="0">
                  <a:solidFill>
                    <a:schemeClr val="tx1"/>
                  </a:solidFill>
                  <a:latin typeface="+mn-ea"/>
                  <a:cs typeface="思源黑体 CN Normal" panose="020B0400000000000000" pitchFamily="34" charset="-122"/>
                </a:rPr>
                <a:t>已与</a:t>
              </a:r>
              <a:r>
                <a:rPr lang="en-US" altLang="zh-CN" sz="1200" dirty="0">
                  <a:solidFill>
                    <a:schemeClr val="tx1"/>
                  </a:solidFill>
                  <a:latin typeface="+mn-ea"/>
                  <a:cs typeface="思源黑体 CN Normal" panose="020B0400000000000000" pitchFamily="34" charset="-122"/>
                </a:rPr>
                <a:t>5</a:t>
              </a:r>
              <a:r>
                <a:rPr lang="zh-CN" altLang="en-US" sz="1200" dirty="0">
                  <a:solidFill>
                    <a:schemeClr val="tx1"/>
                  </a:solidFill>
                  <a:latin typeface="+mn-ea"/>
                  <a:cs typeface="思源黑体 CN Normal" panose="020B0400000000000000" pitchFamily="34" charset="-122"/>
                </a:rPr>
                <a:t>家行业内的</a:t>
              </a:r>
              <a:r>
                <a:rPr lang="en-US" altLang="zh-CN" sz="1200" dirty="0">
                  <a:solidFill>
                    <a:schemeClr val="tx1"/>
                  </a:solidFill>
                  <a:latin typeface="+mn-ea"/>
                  <a:cs typeface="思源黑体 CN Normal" panose="020B0400000000000000" pitchFamily="34" charset="-122"/>
                </a:rPr>
                <a:t>KOL</a:t>
              </a:r>
              <a:r>
                <a:rPr lang="zh-CN" altLang="en-US" sz="1200" dirty="0">
                  <a:solidFill>
                    <a:schemeClr val="tx1"/>
                  </a:solidFill>
                  <a:latin typeface="+mn-ea"/>
                  <a:cs typeface="思源黑体 CN Normal" panose="020B0400000000000000" pitchFamily="34" charset="-122"/>
                </a:rPr>
                <a:t>（关键意见领袖）初步建立合作关系，计划下月启动第一轮联合内容推广</a:t>
              </a:r>
              <a:endParaRPr lang="zh-CN" altLang="en-US" sz="1200" dirty="0">
                <a:solidFill>
                  <a:schemeClr val="tx1"/>
                </a:solidFill>
                <a:latin typeface="+mn-ea"/>
                <a:cs typeface="思源黑体 CN Normal" panose="020B0400000000000000" pitchFamily="34" charset="-122"/>
              </a:endParaRPr>
            </a:p>
          </p:txBody>
        </p:sp>
      </p:grpSp>
      <p:sp>
        <p:nvSpPr>
          <p:cNvPr id="15" name="小红书平北职场PPT13"/>
          <p:cNvSpPr/>
          <p:nvPr/>
        </p:nvSpPr>
        <p:spPr>
          <a:xfrm>
            <a:off x="8398653" y="2540913"/>
            <a:ext cx="2589273" cy="130612"/>
          </a:xfrm>
          <a:prstGeom prst="roundRect">
            <a:avLst>
              <a:gd name="adj" fmla="val 0"/>
            </a:avLst>
          </a:prstGeom>
          <a:solidFill>
            <a:schemeClr val="accent1">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6" name="小红书平北职场PPT14"/>
          <p:cNvSpPr txBox="1"/>
          <p:nvPr/>
        </p:nvSpPr>
        <p:spPr>
          <a:xfrm>
            <a:off x="8398653" y="2209552"/>
            <a:ext cx="2589274" cy="500073"/>
          </a:xfrm>
          <a:prstGeom prst="rect">
            <a:avLst/>
          </a:prstGeom>
          <a:noFill/>
        </p:spPr>
        <p:txBody>
          <a:bodyPr wrap="square">
            <a:spAutoFit/>
          </a:bodyPr>
          <a:lstStyle/>
          <a:p>
            <a:pPr marL="0" marR="0" lvl="0" indent="0" algn="ctr" defTabSz="914400" rtl="0" eaLnBrk="1" fontAlgn="base" latinLnBrk="0" hangingPunct="1">
              <a:lnSpc>
                <a:spcPct val="130000"/>
              </a:lnSpc>
              <a:spcBef>
                <a:spcPts val="0"/>
              </a:spcBef>
              <a:spcAft>
                <a:spcPts val="0"/>
              </a:spcAft>
              <a:buClrTx/>
              <a:buSzTx/>
              <a:buFontTx/>
              <a:buNone/>
              <a:defRPr/>
            </a:pPr>
            <a:r>
              <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rPr>
              <a:t>市场推广多点开花</a:t>
            </a:r>
            <a:endParaRPr kumimoji="0" lang="en-US" altLang="zh-CN"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endParaRPr>
          </a:p>
        </p:txBody>
      </p:sp>
      <p:sp>
        <p:nvSpPr>
          <p:cNvPr id="17" name="小红书平北职场PPT15"/>
          <p:cNvSpPr/>
          <p:nvPr/>
        </p:nvSpPr>
        <p:spPr>
          <a:xfrm>
            <a:off x="8679106" y="3055629"/>
            <a:ext cx="2813474" cy="130612"/>
          </a:xfrm>
          <a:prstGeom prst="roundRect">
            <a:avLst>
              <a:gd name="adj" fmla="val 0"/>
            </a:avLst>
          </a:prstGeom>
          <a:solidFill>
            <a:schemeClr val="accent1">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8" name="小红书平北职场PPT16"/>
          <p:cNvSpPr txBox="1"/>
          <p:nvPr/>
        </p:nvSpPr>
        <p:spPr>
          <a:xfrm>
            <a:off x="8679105" y="2724267"/>
            <a:ext cx="2813474" cy="500073"/>
          </a:xfrm>
          <a:prstGeom prst="rect">
            <a:avLst/>
          </a:prstGeom>
          <a:noFill/>
        </p:spPr>
        <p:txBody>
          <a:bodyPr wrap="square">
            <a:spAutoFit/>
          </a:bodyPr>
          <a:lstStyle/>
          <a:p>
            <a:pPr marL="0" marR="0" lvl="0" indent="0" algn="ctr" defTabSz="914400" rtl="0" eaLnBrk="1" fontAlgn="base" latinLnBrk="0" hangingPunct="1">
              <a:lnSpc>
                <a:spcPct val="130000"/>
              </a:lnSpc>
              <a:spcBef>
                <a:spcPts val="0"/>
              </a:spcBef>
              <a:spcAft>
                <a:spcPts val="0"/>
              </a:spcAft>
              <a:buClrTx/>
              <a:buSzTx/>
              <a:buFontTx/>
              <a:buNone/>
              <a:defRPr/>
            </a:pPr>
            <a:r>
              <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rPr>
              <a:t>品牌影响力显著提升</a:t>
            </a:r>
            <a:endPar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endParaRPr>
          </a:p>
        </p:txBody>
      </p:sp>
      <p:sp>
        <p:nvSpPr>
          <p:cNvPr id="19" name="小红书平北职场PPT17"/>
          <p:cNvSpPr/>
          <p:nvPr/>
        </p:nvSpPr>
        <p:spPr>
          <a:xfrm flipH="1">
            <a:off x="334962" y="3861819"/>
            <a:ext cx="11522076" cy="2613986"/>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0" name="小红书平北职场PPT18"/>
          <p:cNvSpPr/>
          <p:nvPr/>
        </p:nvSpPr>
        <p:spPr>
          <a:xfrm>
            <a:off x="4990279" y="4063092"/>
            <a:ext cx="2211442" cy="2211440"/>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21" name="小红书平北职场PPT19"/>
          <p:cNvSpPr/>
          <p:nvPr/>
        </p:nvSpPr>
        <p:spPr>
          <a:xfrm flipH="1">
            <a:off x="4437829" y="3510643"/>
            <a:ext cx="3316342" cy="3316338"/>
          </a:xfrm>
          <a:prstGeom prst="ellipse">
            <a:avLst/>
          </a:prstGeom>
          <a:noFill/>
          <a:ln w="9525">
            <a:gradFill>
              <a:gsLst>
                <a:gs pos="60000">
                  <a:schemeClr val="accent1">
                    <a:alpha val="60000"/>
                  </a:schemeClr>
                </a:gs>
                <a:gs pos="40000">
                  <a:schemeClr val="accent1">
                    <a:alpha val="60000"/>
                  </a:schemeClr>
                </a:gs>
                <a:gs pos="20000">
                  <a:schemeClr val="accent1">
                    <a:alpha val="0"/>
                  </a:schemeClr>
                </a:gs>
                <a:gs pos="80000">
                  <a:schemeClr val="accent1">
                    <a:alpha val="0"/>
                  </a:schemeClr>
                </a:gs>
              </a:gsLst>
              <a:lin ang="5400000" scaled="1"/>
            </a:grad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22" name="小红书平北职场PPT20"/>
          <p:cNvSpPr/>
          <p:nvPr/>
        </p:nvSpPr>
        <p:spPr>
          <a:xfrm flipH="1">
            <a:off x="5698180" y="4444650"/>
            <a:ext cx="719057" cy="541592"/>
          </a:xfrm>
          <a:custGeom>
            <a:avLst/>
            <a:gdLst>
              <a:gd name="connsiteX0" fmla="*/ 477818 w 847559"/>
              <a:gd name="connsiteY0" fmla="*/ 526180 h 638380"/>
              <a:gd name="connsiteX1" fmla="*/ 460408 w 847559"/>
              <a:gd name="connsiteY1" fmla="*/ 464277 h 638380"/>
              <a:gd name="connsiteX2" fmla="*/ 0 w 847559"/>
              <a:gd name="connsiteY2" fmla="*/ 464277 h 638380"/>
              <a:gd name="connsiteX3" fmla="*/ 0 w 847559"/>
              <a:gd name="connsiteY3" fmla="*/ 561001 h 638380"/>
              <a:gd name="connsiteX4" fmla="*/ 77379 w 847559"/>
              <a:gd name="connsiteY4" fmla="*/ 638381 h 638380"/>
              <a:gd name="connsiteX5" fmla="*/ 483622 w 847559"/>
              <a:gd name="connsiteY5" fmla="*/ 638381 h 638380"/>
              <a:gd name="connsiteX6" fmla="*/ 479753 w 847559"/>
              <a:gd name="connsiteY6" fmla="*/ 634512 h 638380"/>
              <a:gd name="connsiteX7" fmla="*/ 477818 w 847559"/>
              <a:gd name="connsiteY7" fmla="*/ 526180 h 638380"/>
              <a:gd name="connsiteX8" fmla="*/ 203121 w 847559"/>
              <a:gd name="connsiteY8" fmla="*/ 580346 h 638380"/>
              <a:gd name="connsiteX9" fmla="*/ 106397 w 847559"/>
              <a:gd name="connsiteY9" fmla="*/ 580346 h 638380"/>
              <a:gd name="connsiteX10" fmla="*/ 77379 w 847559"/>
              <a:gd name="connsiteY10" fmla="*/ 551329 h 638380"/>
              <a:gd name="connsiteX11" fmla="*/ 106397 w 847559"/>
              <a:gd name="connsiteY11" fmla="*/ 522312 h 638380"/>
              <a:gd name="connsiteX12" fmla="*/ 203121 w 847559"/>
              <a:gd name="connsiteY12" fmla="*/ 522312 h 638380"/>
              <a:gd name="connsiteX13" fmla="*/ 232139 w 847559"/>
              <a:gd name="connsiteY13" fmla="*/ 551329 h 638380"/>
              <a:gd name="connsiteX14" fmla="*/ 203121 w 847559"/>
              <a:gd name="connsiteY14" fmla="*/ 580346 h 638380"/>
              <a:gd name="connsiteX15" fmla="*/ 481688 w 847559"/>
              <a:gd name="connsiteY15" fmla="*/ 357880 h 638380"/>
              <a:gd name="connsiteX16" fmla="*/ 607429 w 847559"/>
              <a:gd name="connsiteY16" fmla="*/ 232138 h 638380"/>
              <a:gd name="connsiteX17" fmla="*/ 0 w 847559"/>
              <a:gd name="connsiteY17" fmla="*/ 232138 h 638380"/>
              <a:gd name="connsiteX18" fmla="*/ 0 w 847559"/>
              <a:gd name="connsiteY18" fmla="*/ 406242 h 638380"/>
              <a:gd name="connsiteX19" fmla="*/ 456539 w 847559"/>
              <a:gd name="connsiteY19" fmla="*/ 406242 h 638380"/>
              <a:gd name="connsiteX20" fmla="*/ 481688 w 847559"/>
              <a:gd name="connsiteY20" fmla="*/ 357880 h 638380"/>
              <a:gd name="connsiteX21" fmla="*/ 203121 w 847559"/>
              <a:gd name="connsiteY21" fmla="*/ 348208 h 638380"/>
              <a:gd name="connsiteX22" fmla="*/ 106397 w 847559"/>
              <a:gd name="connsiteY22" fmla="*/ 348208 h 638380"/>
              <a:gd name="connsiteX23" fmla="*/ 77379 w 847559"/>
              <a:gd name="connsiteY23" fmla="*/ 319190 h 638380"/>
              <a:gd name="connsiteX24" fmla="*/ 106397 w 847559"/>
              <a:gd name="connsiteY24" fmla="*/ 290173 h 638380"/>
              <a:gd name="connsiteX25" fmla="*/ 203121 w 847559"/>
              <a:gd name="connsiteY25" fmla="*/ 290173 h 638380"/>
              <a:gd name="connsiteX26" fmla="*/ 232139 w 847559"/>
              <a:gd name="connsiteY26" fmla="*/ 319190 h 638380"/>
              <a:gd name="connsiteX27" fmla="*/ 203121 w 847559"/>
              <a:gd name="connsiteY27" fmla="*/ 348208 h 638380"/>
              <a:gd name="connsiteX28" fmla="*/ 677070 w 847559"/>
              <a:gd name="connsiteY28" fmla="*/ 77379 h 638380"/>
              <a:gd name="connsiteX29" fmla="*/ 599691 w 847559"/>
              <a:gd name="connsiteY29" fmla="*/ 0 h 638380"/>
              <a:gd name="connsiteX30" fmla="*/ 77379 w 847559"/>
              <a:gd name="connsiteY30" fmla="*/ 0 h 638380"/>
              <a:gd name="connsiteX31" fmla="*/ 0 w 847559"/>
              <a:gd name="connsiteY31" fmla="*/ 77379 h 638380"/>
              <a:gd name="connsiteX32" fmla="*/ 0 w 847559"/>
              <a:gd name="connsiteY32" fmla="*/ 174104 h 638380"/>
              <a:gd name="connsiteX33" fmla="*/ 677070 w 847559"/>
              <a:gd name="connsiteY33" fmla="*/ 174104 h 638380"/>
              <a:gd name="connsiteX34" fmla="*/ 677070 w 847559"/>
              <a:gd name="connsiteY34" fmla="*/ 77379 h 638380"/>
              <a:gd name="connsiteX35" fmla="*/ 203121 w 847559"/>
              <a:gd name="connsiteY35" fmla="*/ 116069 h 638380"/>
              <a:gd name="connsiteX36" fmla="*/ 106397 w 847559"/>
              <a:gd name="connsiteY36" fmla="*/ 116069 h 638380"/>
              <a:gd name="connsiteX37" fmla="*/ 77379 w 847559"/>
              <a:gd name="connsiteY37" fmla="*/ 87052 h 638380"/>
              <a:gd name="connsiteX38" fmla="*/ 106397 w 847559"/>
              <a:gd name="connsiteY38" fmla="*/ 58035 h 638380"/>
              <a:gd name="connsiteX39" fmla="*/ 203121 w 847559"/>
              <a:gd name="connsiteY39" fmla="*/ 58035 h 638380"/>
              <a:gd name="connsiteX40" fmla="*/ 232139 w 847559"/>
              <a:gd name="connsiteY40" fmla="*/ 87052 h 638380"/>
              <a:gd name="connsiteX41" fmla="*/ 203121 w 847559"/>
              <a:gd name="connsiteY41" fmla="*/ 116069 h 638380"/>
              <a:gd name="connsiteX42" fmla="*/ 473949 w 847559"/>
              <a:gd name="connsiteY42" fmla="*/ 116069 h 638380"/>
              <a:gd name="connsiteX43" fmla="*/ 444932 w 847559"/>
              <a:gd name="connsiteY43" fmla="*/ 87052 h 638380"/>
              <a:gd name="connsiteX44" fmla="*/ 473949 w 847559"/>
              <a:gd name="connsiteY44" fmla="*/ 58035 h 638380"/>
              <a:gd name="connsiteX45" fmla="*/ 502966 w 847559"/>
              <a:gd name="connsiteY45" fmla="*/ 87052 h 638380"/>
              <a:gd name="connsiteX46" fmla="*/ 473949 w 847559"/>
              <a:gd name="connsiteY46" fmla="*/ 116069 h 638380"/>
              <a:gd name="connsiteX47" fmla="*/ 570674 w 847559"/>
              <a:gd name="connsiteY47" fmla="*/ 116069 h 638380"/>
              <a:gd name="connsiteX48" fmla="*/ 541657 w 847559"/>
              <a:gd name="connsiteY48" fmla="*/ 87052 h 638380"/>
              <a:gd name="connsiteX49" fmla="*/ 570674 w 847559"/>
              <a:gd name="connsiteY49" fmla="*/ 58035 h 638380"/>
              <a:gd name="connsiteX50" fmla="*/ 599691 w 847559"/>
              <a:gd name="connsiteY50" fmla="*/ 87052 h 638380"/>
              <a:gd name="connsiteX51" fmla="*/ 570674 w 847559"/>
              <a:gd name="connsiteY51" fmla="*/ 116069 h 638380"/>
              <a:gd name="connsiteX52" fmla="*/ 835699 w 847559"/>
              <a:gd name="connsiteY52" fmla="*/ 415914 h 638380"/>
              <a:gd name="connsiteX53" fmla="*/ 725433 w 847559"/>
              <a:gd name="connsiteY53" fmla="*/ 305648 h 638380"/>
              <a:gd name="connsiteX54" fmla="*/ 671267 w 847559"/>
              <a:gd name="connsiteY54" fmla="*/ 305648 h 638380"/>
              <a:gd name="connsiteX55" fmla="*/ 644185 w 847559"/>
              <a:gd name="connsiteY55" fmla="*/ 332732 h 638380"/>
              <a:gd name="connsiteX56" fmla="*/ 617102 w 847559"/>
              <a:gd name="connsiteY56" fmla="*/ 305648 h 638380"/>
              <a:gd name="connsiteX57" fmla="*/ 524246 w 847559"/>
              <a:gd name="connsiteY57" fmla="*/ 398504 h 638380"/>
              <a:gd name="connsiteX58" fmla="*/ 514573 w 847559"/>
              <a:gd name="connsiteY58" fmla="*/ 437194 h 638380"/>
              <a:gd name="connsiteX59" fmla="*/ 545526 w 847559"/>
              <a:gd name="connsiteY59" fmla="*/ 543590 h 638380"/>
              <a:gd name="connsiteX60" fmla="*/ 522312 w 847559"/>
              <a:gd name="connsiteY60" fmla="*/ 566804 h 638380"/>
              <a:gd name="connsiteX61" fmla="*/ 522312 w 847559"/>
              <a:gd name="connsiteY61" fmla="*/ 593887 h 638380"/>
              <a:gd name="connsiteX62" fmla="*/ 549394 w 847559"/>
              <a:gd name="connsiteY62" fmla="*/ 620970 h 638380"/>
              <a:gd name="connsiteX63" fmla="*/ 576477 w 847559"/>
              <a:gd name="connsiteY63" fmla="*/ 620970 h 638380"/>
              <a:gd name="connsiteX64" fmla="*/ 599691 w 847559"/>
              <a:gd name="connsiteY64" fmla="*/ 597757 h 638380"/>
              <a:gd name="connsiteX65" fmla="*/ 706088 w 847559"/>
              <a:gd name="connsiteY65" fmla="*/ 628708 h 638380"/>
              <a:gd name="connsiteX66" fmla="*/ 744778 w 847559"/>
              <a:gd name="connsiteY66" fmla="*/ 619035 h 638380"/>
              <a:gd name="connsiteX67" fmla="*/ 837633 w 847559"/>
              <a:gd name="connsiteY67" fmla="*/ 526180 h 638380"/>
              <a:gd name="connsiteX68" fmla="*/ 810550 w 847559"/>
              <a:gd name="connsiteY68" fmla="*/ 499098 h 638380"/>
              <a:gd name="connsiteX69" fmla="*/ 837633 w 847559"/>
              <a:gd name="connsiteY69" fmla="*/ 472015 h 638380"/>
              <a:gd name="connsiteX70" fmla="*/ 835699 w 847559"/>
              <a:gd name="connsiteY70" fmla="*/ 415914 h 638380"/>
              <a:gd name="connsiteX71" fmla="*/ 711891 w 847559"/>
              <a:gd name="connsiteY71" fmla="*/ 402373 h 638380"/>
              <a:gd name="connsiteX72" fmla="*/ 684809 w 847559"/>
              <a:gd name="connsiteY72" fmla="*/ 375290 h 638380"/>
              <a:gd name="connsiteX73" fmla="*/ 711891 w 847559"/>
              <a:gd name="connsiteY73" fmla="*/ 348208 h 638380"/>
              <a:gd name="connsiteX74" fmla="*/ 738974 w 847559"/>
              <a:gd name="connsiteY74" fmla="*/ 375290 h 638380"/>
              <a:gd name="connsiteX75" fmla="*/ 711891 w 847559"/>
              <a:gd name="connsiteY75" fmla="*/ 402373 h 638380"/>
              <a:gd name="connsiteX76" fmla="*/ 767992 w 847559"/>
              <a:gd name="connsiteY76" fmla="*/ 456538 h 638380"/>
              <a:gd name="connsiteX77" fmla="*/ 740908 w 847559"/>
              <a:gd name="connsiteY77" fmla="*/ 429456 h 638380"/>
              <a:gd name="connsiteX78" fmla="*/ 767992 w 847559"/>
              <a:gd name="connsiteY78" fmla="*/ 402373 h 638380"/>
              <a:gd name="connsiteX79" fmla="*/ 795075 w 847559"/>
              <a:gd name="connsiteY79" fmla="*/ 429456 h 638380"/>
              <a:gd name="connsiteX80" fmla="*/ 767992 w 847559"/>
              <a:gd name="connsiteY80" fmla="*/ 456538 h 63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847559" h="638380">
                <a:moveTo>
                  <a:pt x="477818" y="526180"/>
                </a:moveTo>
                <a:lnTo>
                  <a:pt x="460408" y="464277"/>
                </a:lnTo>
                <a:lnTo>
                  <a:pt x="0" y="464277"/>
                </a:lnTo>
                <a:lnTo>
                  <a:pt x="0" y="561001"/>
                </a:lnTo>
                <a:cubicBezTo>
                  <a:pt x="0" y="603560"/>
                  <a:pt x="34821" y="638381"/>
                  <a:pt x="77379" y="638381"/>
                </a:cubicBezTo>
                <a:lnTo>
                  <a:pt x="483622" y="638381"/>
                </a:lnTo>
                <a:lnTo>
                  <a:pt x="479753" y="634512"/>
                </a:lnTo>
                <a:cubicBezTo>
                  <a:pt x="450735" y="603560"/>
                  <a:pt x="448801" y="557132"/>
                  <a:pt x="477818" y="526180"/>
                </a:cubicBezTo>
                <a:close/>
                <a:moveTo>
                  <a:pt x="203121" y="580346"/>
                </a:moveTo>
                <a:lnTo>
                  <a:pt x="106397" y="580346"/>
                </a:lnTo>
                <a:cubicBezTo>
                  <a:pt x="90921" y="580346"/>
                  <a:pt x="77379" y="566804"/>
                  <a:pt x="77379" y="551329"/>
                </a:cubicBezTo>
                <a:cubicBezTo>
                  <a:pt x="77379" y="535853"/>
                  <a:pt x="90921" y="522312"/>
                  <a:pt x="106397" y="522312"/>
                </a:cubicBezTo>
                <a:lnTo>
                  <a:pt x="203121" y="522312"/>
                </a:lnTo>
                <a:cubicBezTo>
                  <a:pt x="218597" y="522312"/>
                  <a:pt x="232139" y="535853"/>
                  <a:pt x="232139" y="551329"/>
                </a:cubicBezTo>
                <a:cubicBezTo>
                  <a:pt x="232139" y="566804"/>
                  <a:pt x="218597" y="580346"/>
                  <a:pt x="203121" y="580346"/>
                </a:cubicBezTo>
                <a:close/>
                <a:moveTo>
                  <a:pt x="481688" y="357880"/>
                </a:moveTo>
                <a:lnTo>
                  <a:pt x="607429" y="232138"/>
                </a:lnTo>
                <a:lnTo>
                  <a:pt x="0" y="232138"/>
                </a:lnTo>
                <a:lnTo>
                  <a:pt x="0" y="406242"/>
                </a:lnTo>
                <a:lnTo>
                  <a:pt x="456539" y="406242"/>
                </a:lnTo>
                <a:cubicBezTo>
                  <a:pt x="460408" y="388832"/>
                  <a:pt x="468146" y="371422"/>
                  <a:pt x="481688" y="357880"/>
                </a:cubicBezTo>
                <a:close/>
                <a:moveTo>
                  <a:pt x="203121" y="348208"/>
                </a:moveTo>
                <a:lnTo>
                  <a:pt x="106397" y="348208"/>
                </a:lnTo>
                <a:cubicBezTo>
                  <a:pt x="90921" y="348208"/>
                  <a:pt x="77379" y="334666"/>
                  <a:pt x="77379" y="319190"/>
                </a:cubicBezTo>
                <a:cubicBezTo>
                  <a:pt x="77379" y="303714"/>
                  <a:pt x="90921" y="290173"/>
                  <a:pt x="106397" y="290173"/>
                </a:cubicBezTo>
                <a:lnTo>
                  <a:pt x="203121" y="290173"/>
                </a:lnTo>
                <a:cubicBezTo>
                  <a:pt x="218597" y="290173"/>
                  <a:pt x="232139" y="303714"/>
                  <a:pt x="232139" y="319190"/>
                </a:cubicBezTo>
                <a:cubicBezTo>
                  <a:pt x="232139" y="334666"/>
                  <a:pt x="218597" y="348208"/>
                  <a:pt x="203121" y="348208"/>
                </a:cubicBezTo>
                <a:close/>
                <a:moveTo>
                  <a:pt x="677070" y="77379"/>
                </a:moveTo>
                <a:cubicBezTo>
                  <a:pt x="677070" y="34821"/>
                  <a:pt x="642250" y="0"/>
                  <a:pt x="599691" y="0"/>
                </a:cubicBezTo>
                <a:lnTo>
                  <a:pt x="77379" y="0"/>
                </a:lnTo>
                <a:cubicBezTo>
                  <a:pt x="34821" y="0"/>
                  <a:pt x="0" y="34821"/>
                  <a:pt x="0" y="77379"/>
                </a:cubicBezTo>
                <a:lnTo>
                  <a:pt x="0" y="174104"/>
                </a:lnTo>
                <a:lnTo>
                  <a:pt x="677070" y="174104"/>
                </a:lnTo>
                <a:lnTo>
                  <a:pt x="677070" y="77379"/>
                </a:lnTo>
                <a:close/>
                <a:moveTo>
                  <a:pt x="203121" y="116069"/>
                </a:moveTo>
                <a:lnTo>
                  <a:pt x="106397" y="116069"/>
                </a:lnTo>
                <a:cubicBezTo>
                  <a:pt x="90921" y="116069"/>
                  <a:pt x="77379" y="102527"/>
                  <a:pt x="77379" y="87052"/>
                </a:cubicBezTo>
                <a:cubicBezTo>
                  <a:pt x="77379" y="71576"/>
                  <a:pt x="90921" y="58035"/>
                  <a:pt x="106397" y="58035"/>
                </a:cubicBezTo>
                <a:lnTo>
                  <a:pt x="203121" y="58035"/>
                </a:lnTo>
                <a:cubicBezTo>
                  <a:pt x="218597" y="58035"/>
                  <a:pt x="232139" y="71576"/>
                  <a:pt x="232139" y="87052"/>
                </a:cubicBezTo>
                <a:cubicBezTo>
                  <a:pt x="232139" y="102527"/>
                  <a:pt x="218597" y="116069"/>
                  <a:pt x="203121" y="116069"/>
                </a:cubicBezTo>
                <a:close/>
                <a:moveTo>
                  <a:pt x="473949" y="116069"/>
                </a:moveTo>
                <a:cubicBezTo>
                  <a:pt x="458474" y="116069"/>
                  <a:pt x="444932" y="102527"/>
                  <a:pt x="444932" y="87052"/>
                </a:cubicBezTo>
                <a:cubicBezTo>
                  <a:pt x="444932" y="71576"/>
                  <a:pt x="458474" y="58035"/>
                  <a:pt x="473949" y="58035"/>
                </a:cubicBezTo>
                <a:cubicBezTo>
                  <a:pt x="489425" y="58035"/>
                  <a:pt x="502966" y="71576"/>
                  <a:pt x="502966" y="87052"/>
                </a:cubicBezTo>
                <a:cubicBezTo>
                  <a:pt x="502966" y="102527"/>
                  <a:pt x="489425" y="116069"/>
                  <a:pt x="473949" y="116069"/>
                </a:cubicBezTo>
                <a:close/>
                <a:moveTo>
                  <a:pt x="570674" y="116069"/>
                </a:moveTo>
                <a:cubicBezTo>
                  <a:pt x="555198" y="116069"/>
                  <a:pt x="541657" y="102527"/>
                  <a:pt x="541657" y="87052"/>
                </a:cubicBezTo>
                <a:cubicBezTo>
                  <a:pt x="541657" y="71576"/>
                  <a:pt x="555198" y="58035"/>
                  <a:pt x="570674" y="58035"/>
                </a:cubicBezTo>
                <a:cubicBezTo>
                  <a:pt x="586150" y="58035"/>
                  <a:pt x="599691" y="71576"/>
                  <a:pt x="599691" y="87052"/>
                </a:cubicBezTo>
                <a:cubicBezTo>
                  <a:pt x="599691" y="102527"/>
                  <a:pt x="586150" y="116069"/>
                  <a:pt x="570674" y="116069"/>
                </a:cubicBezTo>
                <a:close/>
                <a:moveTo>
                  <a:pt x="835699" y="415914"/>
                </a:moveTo>
                <a:lnTo>
                  <a:pt x="725433" y="305648"/>
                </a:lnTo>
                <a:cubicBezTo>
                  <a:pt x="709957" y="290173"/>
                  <a:pt x="686743" y="290173"/>
                  <a:pt x="671267" y="305648"/>
                </a:cubicBezTo>
                <a:lnTo>
                  <a:pt x="644185" y="332732"/>
                </a:lnTo>
                <a:lnTo>
                  <a:pt x="617102" y="305648"/>
                </a:lnTo>
                <a:lnTo>
                  <a:pt x="524246" y="398504"/>
                </a:lnTo>
                <a:cubicBezTo>
                  <a:pt x="514573" y="408177"/>
                  <a:pt x="510705" y="423653"/>
                  <a:pt x="514573" y="437194"/>
                </a:cubicBezTo>
                <a:lnTo>
                  <a:pt x="545526" y="543590"/>
                </a:lnTo>
                <a:lnTo>
                  <a:pt x="522312" y="566804"/>
                </a:lnTo>
                <a:cubicBezTo>
                  <a:pt x="514573" y="574543"/>
                  <a:pt x="514573" y="586150"/>
                  <a:pt x="522312" y="593887"/>
                </a:cubicBezTo>
                <a:lnTo>
                  <a:pt x="549394" y="620970"/>
                </a:lnTo>
                <a:cubicBezTo>
                  <a:pt x="557133" y="628708"/>
                  <a:pt x="568740" y="628708"/>
                  <a:pt x="576477" y="620970"/>
                </a:cubicBezTo>
                <a:lnTo>
                  <a:pt x="599691" y="597757"/>
                </a:lnTo>
                <a:lnTo>
                  <a:pt x="706088" y="628708"/>
                </a:lnTo>
                <a:cubicBezTo>
                  <a:pt x="719630" y="632577"/>
                  <a:pt x="735105" y="628708"/>
                  <a:pt x="744778" y="619035"/>
                </a:cubicBezTo>
                <a:lnTo>
                  <a:pt x="837633" y="526180"/>
                </a:lnTo>
                <a:lnTo>
                  <a:pt x="810550" y="499098"/>
                </a:lnTo>
                <a:lnTo>
                  <a:pt x="837633" y="472015"/>
                </a:lnTo>
                <a:cubicBezTo>
                  <a:pt x="851174" y="454604"/>
                  <a:pt x="851174" y="429456"/>
                  <a:pt x="835699" y="415914"/>
                </a:cubicBezTo>
                <a:close/>
                <a:moveTo>
                  <a:pt x="711891" y="402373"/>
                </a:moveTo>
                <a:lnTo>
                  <a:pt x="684809" y="375290"/>
                </a:lnTo>
                <a:lnTo>
                  <a:pt x="711891" y="348208"/>
                </a:lnTo>
                <a:lnTo>
                  <a:pt x="738974" y="375290"/>
                </a:lnTo>
                <a:lnTo>
                  <a:pt x="711891" y="402373"/>
                </a:lnTo>
                <a:close/>
                <a:moveTo>
                  <a:pt x="767992" y="456538"/>
                </a:moveTo>
                <a:lnTo>
                  <a:pt x="740908" y="429456"/>
                </a:lnTo>
                <a:lnTo>
                  <a:pt x="767992" y="402373"/>
                </a:lnTo>
                <a:lnTo>
                  <a:pt x="795075" y="429456"/>
                </a:lnTo>
                <a:lnTo>
                  <a:pt x="767992" y="456538"/>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3" name="小红书平北职场PPT21"/>
          <p:cNvGrpSpPr/>
          <p:nvPr/>
        </p:nvGrpSpPr>
        <p:grpSpPr>
          <a:xfrm flipH="1">
            <a:off x="7990422" y="4127041"/>
            <a:ext cx="3559965" cy="2146059"/>
            <a:chOff x="743693" y="4312805"/>
            <a:chExt cx="3559965" cy="2146059"/>
          </a:xfrm>
        </p:grpSpPr>
        <p:grpSp>
          <p:nvGrpSpPr>
            <p:cNvPr id="60" name="组合 59"/>
            <p:cNvGrpSpPr/>
            <p:nvPr/>
          </p:nvGrpSpPr>
          <p:grpSpPr>
            <a:xfrm>
              <a:off x="743693" y="5584782"/>
              <a:ext cx="3559965" cy="874082"/>
              <a:chOff x="743693" y="5584782"/>
              <a:chExt cx="3559965" cy="874082"/>
            </a:xfrm>
          </p:grpSpPr>
          <p:sp>
            <p:nvSpPr>
              <p:cNvPr id="64" name="小红书平北职场PPT21-1"/>
              <p:cNvSpPr txBox="1"/>
              <p:nvPr/>
            </p:nvSpPr>
            <p:spPr>
              <a:xfrm flipH="1">
                <a:off x="1656780" y="5584782"/>
                <a:ext cx="2646878" cy="373500"/>
              </a:xfrm>
              <a:prstGeom prst="rect">
                <a:avLst/>
              </a:prstGeom>
              <a:noFill/>
            </p:spPr>
            <p:txBody>
              <a:bodyPr wrap="none">
                <a:spAutoFit/>
              </a:bodyPr>
              <a:lstStyle/>
              <a:p>
                <a:pPr>
                  <a:lnSpc>
                    <a:spcPct val="120000"/>
                  </a:lnSpc>
                </a:pPr>
                <a:r>
                  <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用户反馈驱动产品细节优化</a:t>
                </a:r>
                <a:endPar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endParaRPr>
              </a:p>
            </p:txBody>
          </p:sp>
          <p:sp>
            <p:nvSpPr>
              <p:cNvPr id="65" name="小红书平北职场PPT21-2"/>
              <p:cNvSpPr txBox="1"/>
              <p:nvPr/>
            </p:nvSpPr>
            <p:spPr>
              <a:xfrm flipH="1">
                <a:off x="743693"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gn="l">
                  <a:lnSpc>
                    <a:spcPct val="130000"/>
                  </a:lnSpc>
                </a:pPr>
                <a:r>
                  <a:rPr lang="zh-CN" altLang="en-US" sz="1200" dirty="0">
                    <a:solidFill>
                      <a:schemeClr val="tx1"/>
                    </a:solidFill>
                    <a:latin typeface="+mn-ea"/>
                    <a:cs typeface="思源黑体 CN Normal" panose="020B0400000000000000" pitchFamily="34" charset="-122"/>
                  </a:rPr>
                  <a:t>系统梳理了上月收集的</a:t>
                </a:r>
                <a:r>
                  <a:rPr lang="en-US" altLang="zh-CN" sz="1200" dirty="0">
                    <a:solidFill>
                      <a:schemeClr val="tx1"/>
                    </a:solidFill>
                    <a:latin typeface="+mn-ea"/>
                    <a:cs typeface="思源黑体 CN Normal" panose="020B0400000000000000" pitchFamily="34" charset="-122"/>
                  </a:rPr>
                  <a:t>120</a:t>
                </a:r>
                <a:r>
                  <a:rPr lang="zh-CN" altLang="en-US" sz="1200" dirty="0">
                    <a:solidFill>
                      <a:schemeClr val="tx1"/>
                    </a:solidFill>
                    <a:latin typeface="+mn-ea"/>
                    <a:cs typeface="思源黑体 CN Normal" panose="020B0400000000000000" pitchFamily="34" charset="-122"/>
                  </a:rPr>
                  <a:t>条用户建议，并据此优化了</a:t>
                </a:r>
                <a:r>
                  <a:rPr lang="en-US" altLang="zh-CN" sz="1200" dirty="0">
                    <a:solidFill>
                      <a:schemeClr val="tx1"/>
                    </a:solidFill>
                    <a:latin typeface="+mn-ea"/>
                    <a:cs typeface="思源黑体 CN Normal" panose="020B0400000000000000" pitchFamily="34" charset="-122"/>
                  </a:rPr>
                  <a:t>15</a:t>
                </a:r>
                <a:r>
                  <a:rPr lang="zh-CN" altLang="en-US" sz="1200" dirty="0">
                    <a:solidFill>
                      <a:schemeClr val="tx1"/>
                    </a:solidFill>
                    <a:latin typeface="+mn-ea"/>
                    <a:cs typeface="思源黑体 CN Normal" panose="020B0400000000000000" pitchFamily="34" charset="-122"/>
                  </a:rPr>
                  <a:t>项产品细节，提升了用户满意度</a:t>
                </a:r>
                <a:endParaRPr lang="zh-CN" altLang="en-US" sz="1200" dirty="0">
                  <a:solidFill>
                    <a:schemeClr val="tx1"/>
                  </a:solidFill>
                  <a:latin typeface="+mn-ea"/>
                  <a:cs typeface="思源黑体 CN Normal" panose="020B0400000000000000" pitchFamily="34" charset="-122"/>
                </a:endParaRPr>
              </a:p>
            </p:txBody>
          </p:sp>
        </p:grpSp>
        <p:grpSp>
          <p:nvGrpSpPr>
            <p:cNvPr id="61" name="组合 60"/>
            <p:cNvGrpSpPr/>
            <p:nvPr/>
          </p:nvGrpSpPr>
          <p:grpSpPr>
            <a:xfrm>
              <a:off x="743693" y="4312805"/>
              <a:ext cx="3559965" cy="874082"/>
              <a:chOff x="743693" y="5584782"/>
              <a:chExt cx="3559965" cy="874082"/>
            </a:xfrm>
          </p:grpSpPr>
          <p:sp>
            <p:nvSpPr>
              <p:cNvPr id="62" name="小红书平北职场PPT21-3"/>
              <p:cNvSpPr txBox="1"/>
              <p:nvPr/>
            </p:nvSpPr>
            <p:spPr>
              <a:xfrm flipH="1">
                <a:off x="1153437" y="5584782"/>
                <a:ext cx="3150221" cy="373500"/>
              </a:xfrm>
              <a:prstGeom prst="rect">
                <a:avLst/>
              </a:prstGeom>
              <a:noFill/>
            </p:spPr>
            <p:txBody>
              <a:bodyPr wrap="none">
                <a:spAutoFit/>
              </a:bodyPr>
              <a:lstStyle/>
              <a:p>
                <a:pPr>
                  <a:lnSpc>
                    <a:spcPct val="120000"/>
                  </a:lnSpc>
                </a:pPr>
                <a:r>
                  <a:rPr lang="en-US" altLang="zh-CN"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V3.5</a:t>
                </a:r>
                <a:r>
                  <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版本开发进入关键测试阶段</a:t>
                </a:r>
                <a:endPar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endParaRPr>
              </a:p>
            </p:txBody>
          </p:sp>
          <p:sp>
            <p:nvSpPr>
              <p:cNvPr id="63" name="小红书平北职场PPT21-4"/>
              <p:cNvSpPr txBox="1"/>
              <p:nvPr/>
            </p:nvSpPr>
            <p:spPr>
              <a:xfrm flipH="1">
                <a:off x="743693"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gn="l">
                  <a:lnSpc>
                    <a:spcPct val="130000"/>
                  </a:lnSpc>
                </a:pPr>
                <a:r>
                  <a:rPr lang="zh-CN" altLang="en-US" sz="1200" dirty="0">
                    <a:solidFill>
                      <a:schemeClr val="tx1"/>
                    </a:solidFill>
                    <a:latin typeface="+mn-ea"/>
                    <a:cs typeface="思源黑体 CN Normal" panose="020B0400000000000000" pitchFamily="34" charset="-122"/>
                  </a:rPr>
                  <a:t>完成了</a:t>
                </a:r>
                <a:r>
                  <a:rPr lang="en-US" altLang="zh-CN" sz="1200" dirty="0">
                    <a:solidFill>
                      <a:schemeClr val="tx1"/>
                    </a:solidFill>
                    <a:latin typeface="+mn-ea"/>
                    <a:cs typeface="思源黑体 CN Normal" panose="020B0400000000000000" pitchFamily="34" charset="-122"/>
                  </a:rPr>
                  <a:t>V3.5</a:t>
                </a:r>
                <a:r>
                  <a:rPr lang="zh-CN" altLang="en-US" sz="1200" dirty="0">
                    <a:solidFill>
                      <a:schemeClr val="tx1"/>
                    </a:solidFill>
                    <a:latin typeface="+mn-ea"/>
                    <a:cs typeface="思源黑体 CN Normal" panose="020B0400000000000000" pitchFamily="34" charset="-122"/>
                  </a:rPr>
                  <a:t>版本的核心功能模块开发，目前正在进行内部测试，确保产品稳定性和用户体验</a:t>
                </a:r>
                <a:endParaRPr lang="zh-CN" altLang="en-US" sz="1200" dirty="0">
                  <a:solidFill>
                    <a:schemeClr val="tx1"/>
                  </a:solidFill>
                  <a:latin typeface="+mn-ea"/>
                  <a:cs typeface="思源黑体 CN Normal" panose="020B0400000000000000" pitchFamily="34" charset="-122"/>
                </a:endParaRPr>
              </a:p>
            </p:txBody>
          </p:sp>
        </p:grpSp>
      </p:grpSp>
      <p:sp>
        <p:nvSpPr>
          <p:cNvPr id="24" name="小红书平北职场PPT22"/>
          <p:cNvSpPr/>
          <p:nvPr/>
        </p:nvSpPr>
        <p:spPr>
          <a:xfrm>
            <a:off x="7640544" y="5613666"/>
            <a:ext cx="101311" cy="101311"/>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5" name="小红书平北职场PPT23"/>
          <p:cNvSpPr/>
          <p:nvPr/>
        </p:nvSpPr>
        <p:spPr>
          <a:xfrm>
            <a:off x="7640544" y="4622646"/>
            <a:ext cx="101311" cy="101311"/>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6" name="小红书平北职场PPT24"/>
          <p:cNvSpPr/>
          <p:nvPr/>
        </p:nvSpPr>
        <p:spPr>
          <a:xfrm flipH="1">
            <a:off x="4465645" y="5613666"/>
            <a:ext cx="101311" cy="101311"/>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7" name="小红书平北职场PPT25"/>
          <p:cNvSpPr/>
          <p:nvPr/>
        </p:nvSpPr>
        <p:spPr>
          <a:xfrm flipH="1">
            <a:off x="4465645" y="4622646"/>
            <a:ext cx="101311" cy="101311"/>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28" name="小红书平北职场PPT26"/>
          <p:cNvGrpSpPr/>
          <p:nvPr/>
        </p:nvGrpSpPr>
        <p:grpSpPr>
          <a:xfrm>
            <a:off x="641615" y="4127041"/>
            <a:ext cx="3559963" cy="874082"/>
            <a:chOff x="798709" y="4127041"/>
            <a:chExt cx="3559963" cy="874082"/>
          </a:xfrm>
        </p:grpSpPr>
        <p:sp>
          <p:nvSpPr>
            <p:cNvPr id="58" name="小红书平北职场PPT26-1"/>
            <p:cNvSpPr txBox="1"/>
            <p:nvPr/>
          </p:nvSpPr>
          <p:spPr>
            <a:xfrm flipH="1">
              <a:off x="1711794" y="4127041"/>
              <a:ext cx="2646878" cy="373500"/>
            </a:xfrm>
            <a:prstGeom prst="rect">
              <a:avLst/>
            </a:prstGeom>
            <a:noFill/>
          </p:spPr>
          <p:txBody>
            <a:bodyPr wrap="none">
              <a:spAutoFit/>
            </a:bodyPr>
            <a:lstStyle/>
            <a:p>
              <a:pPr algn="r">
                <a:lnSpc>
                  <a:spcPct val="120000"/>
                </a:lnSpc>
              </a:pPr>
              <a:r>
                <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技术架构升级优化系统性能</a:t>
              </a:r>
              <a:endPar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endParaRPr>
            </a:p>
          </p:txBody>
        </p:sp>
        <p:sp>
          <p:nvSpPr>
            <p:cNvPr id="59" name="小红书平北职场PPT26-2"/>
            <p:cNvSpPr txBox="1"/>
            <p:nvPr/>
          </p:nvSpPr>
          <p:spPr>
            <a:xfrm flipH="1">
              <a:off x="798709" y="4443983"/>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rPr>
                <a:t>启动了后端服务架构的优化项目，旨在提升系统并发处理能力，预计将使页面加载速度提升</a:t>
              </a:r>
              <a:r>
                <a:rPr lang="en-US" altLang="zh-CN" sz="1200" dirty="0">
                  <a:solidFill>
                    <a:schemeClr val="tx1"/>
                  </a:solidFill>
                  <a:latin typeface="+mn-ea"/>
                  <a:cs typeface="思源黑体 CN Normal" panose="020B0400000000000000" pitchFamily="34" charset="-122"/>
                </a:rPr>
                <a:t>20%</a:t>
              </a:r>
              <a:endParaRPr lang="zh-CN" altLang="en-US" sz="1200" dirty="0">
                <a:solidFill>
                  <a:schemeClr val="tx1"/>
                </a:solidFill>
                <a:latin typeface="+mn-ea"/>
                <a:cs typeface="思源黑体 CN Normal" panose="020B0400000000000000" pitchFamily="34" charset="-122"/>
              </a:endParaRPr>
            </a:p>
          </p:txBody>
        </p:sp>
      </p:grpSp>
      <p:grpSp>
        <p:nvGrpSpPr>
          <p:cNvPr id="29" name="小红书平北职场PPT27"/>
          <p:cNvGrpSpPr/>
          <p:nvPr/>
        </p:nvGrpSpPr>
        <p:grpSpPr>
          <a:xfrm>
            <a:off x="699421" y="5089511"/>
            <a:ext cx="3255162" cy="1014788"/>
            <a:chOff x="749433" y="5138497"/>
            <a:chExt cx="3255162" cy="1014788"/>
          </a:xfrm>
        </p:grpSpPr>
        <p:grpSp>
          <p:nvGrpSpPr>
            <p:cNvPr id="52" name="组合 51"/>
            <p:cNvGrpSpPr/>
            <p:nvPr/>
          </p:nvGrpSpPr>
          <p:grpSpPr>
            <a:xfrm>
              <a:off x="1415321" y="5138497"/>
              <a:ext cx="2589274" cy="500073"/>
              <a:chOff x="1415321" y="5138497"/>
              <a:chExt cx="2589274" cy="500073"/>
            </a:xfrm>
          </p:grpSpPr>
          <p:sp>
            <p:nvSpPr>
              <p:cNvPr id="56" name="小红书平北职场PPT27-1"/>
              <p:cNvSpPr/>
              <p:nvPr/>
            </p:nvSpPr>
            <p:spPr>
              <a:xfrm flipH="1">
                <a:off x="1415322" y="5469858"/>
                <a:ext cx="2589273" cy="130612"/>
              </a:xfrm>
              <a:prstGeom prst="roundRect">
                <a:avLst>
                  <a:gd name="adj" fmla="val 0"/>
                </a:avLst>
              </a:prstGeom>
              <a:solidFill>
                <a:schemeClr val="accent2">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57" name="小红书平北职场PPT27-2"/>
              <p:cNvSpPr txBox="1"/>
              <p:nvPr/>
            </p:nvSpPr>
            <p:spPr>
              <a:xfrm flipH="1">
                <a:off x="1415321" y="5138497"/>
                <a:ext cx="2589274" cy="500073"/>
              </a:xfrm>
              <a:prstGeom prst="rect">
                <a:avLst/>
              </a:prstGeom>
              <a:noFill/>
            </p:spPr>
            <p:txBody>
              <a:bodyPr wrap="square">
                <a:spAutoFit/>
              </a:bodyPr>
              <a:lstStyle/>
              <a:p>
                <a:pPr marL="0" marR="0" lvl="0" indent="0" algn="ctr" defTabSz="914400" rtl="0" eaLnBrk="1" fontAlgn="base" latinLnBrk="0" hangingPunct="1">
                  <a:lnSpc>
                    <a:spcPct val="130000"/>
                  </a:lnSpc>
                  <a:spcBef>
                    <a:spcPts val="0"/>
                  </a:spcBef>
                  <a:spcAft>
                    <a:spcPts val="0"/>
                  </a:spcAft>
                  <a:buClrTx/>
                  <a:buSzTx/>
                  <a:buFontTx/>
                  <a:buNone/>
                  <a:defRPr/>
                </a:pPr>
                <a:r>
                  <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rPr>
                  <a:t>产品研发稳步推进</a:t>
                </a:r>
                <a:endParaRPr kumimoji="0" lang="en-US" altLang="zh-CN"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endParaRPr>
              </a:p>
            </p:txBody>
          </p:sp>
        </p:grpSp>
        <p:grpSp>
          <p:nvGrpSpPr>
            <p:cNvPr id="53" name="组合 52"/>
            <p:cNvGrpSpPr/>
            <p:nvPr/>
          </p:nvGrpSpPr>
          <p:grpSpPr>
            <a:xfrm>
              <a:off x="749433" y="5653212"/>
              <a:ext cx="3135946" cy="500073"/>
              <a:chOff x="749433" y="5718528"/>
              <a:chExt cx="3135946" cy="500073"/>
            </a:xfrm>
          </p:grpSpPr>
          <p:sp>
            <p:nvSpPr>
              <p:cNvPr id="54" name="小红书平北职场PPT27-3"/>
              <p:cNvSpPr/>
              <p:nvPr/>
            </p:nvSpPr>
            <p:spPr>
              <a:xfrm flipH="1">
                <a:off x="861681" y="6049890"/>
                <a:ext cx="2880000" cy="130612"/>
              </a:xfrm>
              <a:prstGeom prst="roundRect">
                <a:avLst>
                  <a:gd name="adj" fmla="val 0"/>
                </a:avLst>
              </a:prstGeom>
              <a:solidFill>
                <a:schemeClr val="accent2">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55" name="小红书平北职场PPT27-4"/>
              <p:cNvSpPr txBox="1"/>
              <p:nvPr/>
            </p:nvSpPr>
            <p:spPr>
              <a:xfrm flipH="1">
                <a:off x="749433" y="5718528"/>
                <a:ext cx="3135946" cy="500073"/>
              </a:xfrm>
              <a:prstGeom prst="rect">
                <a:avLst/>
              </a:prstGeom>
              <a:noFill/>
            </p:spPr>
            <p:txBody>
              <a:bodyPr wrap="square">
                <a:spAutoFit/>
              </a:bodyPr>
              <a:lstStyle/>
              <a:p>
                <a:pPr marL="0" marR="0" lvl="0" indent="0" algn="ctr" defTabSz="914400" rtl="0" eaLnBrk="1" fontAlgn="base" latinLnBrk="0" hangingPunct="1">
                  <a:lnSpc>
                    <a:spcPct val="130000"/>
                  </a:lnSpc>
                  <a:spcBef>
                    <a:spcPts val="0"/>
                  </a:spcBef>
                  <a:spcAft>
                    <a:spcPts val="0"/>
                  </a:spcAft>
                  <a:buClrTx/>
                  <a:buSzTx/>
                  <a:buFontTx/>
                  <a:buNone/>
                  <a:defRPr/>
                </a:pPr>
                <a:r>
                  <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rPr>
                  <a:t>用户体验与性能双提升</a:t>
                </a:r>
                <a:endPar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endParaRPr>
              </a:p>
            </p:txBody>
          </p:sp>
        </p:grpSp>
      </p:grpSp>
      <p:sp>
        <p:nvSpPr>
          <p:cNvPr id="30" name="小红书平北职场PPT28"/>
          <p:cNvSpPr txBox="1"/>
          <p:nvPr/>
        </p:nvSpPr>
        <p:spPr>
          <a:xfrm>
            <a:off x="5490706" y="5141796"/>
            <a:ext cx="1210588" cy="813108"/>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产品研发</a:t>
            </a:r>
            <a:endParaRPr kumimoji="0" lang="en-US" altLang="zh-CN"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进展</a:t>
            </a:r>
            <a:endPar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cxnSp>
        <p:nvCxnSpPr>
          <p:cNvPr id="31" name="小红书平北职场PPT29"/>
          <p:cNvCxnSpPr/>
          <p:nvPr/>
        </p:nvCxnSpPr>
        <p:spPr>
          <a:xfrm>
            <a:off x="641613" y="2298223"/>
            <a:ext cx="3347690" cy="0"/>
          </a:xfrm>
          <a:prstGeom prst="line">
            <a:avLst/>
          </a:prstGeom>
          <a:noFill/>
          <a:ln w="6350">
            <a:solidFill>
              <a:schemeClr val="tx1">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2" name="小红书平北职场PPT30"/>
          <p:cNvCxnSpPr/>
          <p:nvPr/>
        </p:nvCxnSpPr>
        <p:spPr>
          <a:xfrm>
            <a:off x="8089359" y="5229225"/>
            <a:ext cx="3347690" cy="0"/>
          </a:xfrm>
          <a:prstGeom prst="line">
            <a:avLst/>
          </a:prstGeom>
          <a:noFill/>
          <a:ln w="6350">
            <a:solidFill>
              <a:schemeClr val="tx1">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spTree>
    <p:custDataLst>
      <p:tags r:id="rId5"/>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75"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小红书平北职场PPT1-2"/>
            <p:cNvSpPr txBox="1"/>
            <p:nvPr>
              <p:custDataLst>
                <p:tags r:id="rId2"/>
              </p:custDataLst>
            </p:nvPr>
          </p:nvSpPr>
          <p:spPr>
            <a:xfrm>
              <a:off x="334963" y="184318"/>
              <a:ext cx="5745163"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以客户为中心的品牌管理与服务体系</a:t>
              </a:r>
              <a:endParaRPr lang="zh-CN" altLang="en-US" sz="2800" dirty="0">
                <a:latin typeface="+mj-ea"/>
                <a:ea typeface="+mj-ea"/>
                <a:cs typeface="思源黑体 CN Normal" panose="020B0400000000000000" pitchFamily="34" charset="-122"/>
                <a:sym typeface="+mj-ea"/>
              </a:endParaRPr>
            </a:p>
          </p:txBody>
        </p:sp>
      </p:grpSp>
      <p:grpSp>
        <p:nvGrpSpPr>
          <p:cNvPr id="4" name="小红书平北职场PPT2"/>
          <p:cNvGrpSpPr/>
          <p:nvPr/>
        </p:nvGrpSpPr>
        <p:grpSpPr>
          <a:xfrm>
            <a:off x="4450714" y="1137710"/>
            <a:ext cx="3197584" cy="5171746"/>
            <a:chOff x="4642436" y="1197236"/>
            <a:chExt cx="2907128" cy="4701965"/>
          </a:xfrm>
        </p:grpSpPr>
        <p:sp>
          <p:nvSpPr>
            <p:cNvPr id="73" name="小红书平北职场PPT2-1"/>
            <p:cNvSpPr/>
            <p:nvPr/>
          </p:nvSpPr>
          <p:spPr bwMode="auto">
            <a:xfrm rot="16200000" flipV="1">
              <a:off x="3745017" y="2094655"/>
              <a:ext cx="4701965" cy="29071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0">
              <a:gsLst>
                <a:gs pos="8547">
                  <a:schemeClr val="accent1"/>
                </a:gs>
                <a:gs pos="60000">
                  <a:schemeClr val="accent1">
                    <a:lumMod val="60000"/>
                    <a:lumOff val="40000"/>
                  </a:schemeClr>
                </a:gs>
                <a:gs pos="100000">
                  <a:schemeClr val="accent1">
                    <a:lumMod val="60000"/>
                    <a:lumOff val="40000"/>
                    <a:alpha val="0"/>
                  </a:schemeClr>
                </a:gs>
              </a:gsLst>
              <a:lin ang="5400000" scaled="1"/>
              <a:tileRect/>
            </a:gradFill>
            <a:ln>
              <a:gradFill>
                <a:gsLst>
                  <a:gs pos="100000">
                    <a:schemeClr val="accent1">
                      <a:lumMod val="60000"/>
                      <a:lumOff val="40000"/>
                    </a:schemeClr>
                  </a:gs>
                  <a:gs pos="65000">
                    <a:schemeClr val="accent1">
                      <a:lumMod val="60000"/>
                      <a:lumOff val="4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4" name="小红书平北职场PPT2-2"/>
            <p:cNvSpPr/>
            <p:nvPr/>
          </p:nvSpPr>
          <p:spPr bwMode="auto">
            <a:xfrm rot="16200000" flipV="1">
              <a:off x="4817176" y="3382053"/>
              <a:ext cx="2543522" cy="1393084"/>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a:gsLst>
                <a:gs pos="100000">
                  <a:schemeClr val="accent1">
                    <a:lumMod val="20000"/>
                    <a:lumOff val="80000"/>
                  </a:schemeClr>
                </a:gs>
                <a:gs pos="3000">
                  <a:schemeClr val="accent1">
                    <a:lumMod val="20000"/>
                    <a:lumOff val="80000"/>
                    <a:alpha val="0"/>
                  </a:schemeClr>
                </a:gs>
              </a:gsLst>
              <a:lin ang="0" scaled="0"/>
            </a:gradFill>
            <a:ln>
              <a:gradFill>
                <a:gsLst>
                  <a:gs pos="100000">
                    <a:schemeClr val="accent1">
                      <a:lumMod val="60000"/>
                      <a:lumOff val="40000"/>
                    </a:schemeClr>
                  </a:gs>
                  <a:gs pos="3000">
                    <a:schemeClr val="accent1">
                      <a:lumMod val="60000"/>
                      <a:lumOff val="4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5" name="小红书平北职场PPT3"/>
          <p:cNvGrpSpPr/>
          <p:nvPr/>
        </p:nvGrpSpPr>
        <p:grpSpPr>
          <a:xfrm>
            <a:off x="19050" y="4896450"/>
            <a:ext cx="12153900" cy="1880054"/>
            <a:chOff x="19050" y="5196918"/>
            <a:chExt cx="12153900" cy="2381250"/>
          </a:xfrm>
        </p:grpSpPr>
        <p:sp>
          <p:nvSpPr>
            <p:cNvPr id="71" name="小红书平北职场PPT3-1"/>
            <p:cNvSpPr/>
            <p:nvPr/>
          </p:nvSpPr>
          <p:spPr>
            <a:xfrm>
              <a:off x="19050" y="5196918"/>
              <a:ext cx="12153900" cy="2381250"/>
            </a:xfrm>
            <a:custGeom>
              <a:avLst/>
              <a:gdLst>
                <a:gd name="connsiteX0" fmla="*/ 6076950 w 12153900"/>
                <a:gd name="connsiteY0" fmla="*/ 190500 h 2381250"/>
                <a:gd name="connsiteX1" fmla="*/ 972312 w 12153900"/>
                <a:gd name="connsiteY1" fmla="*/ 1123950 h 2381250"/>
                <a:gd name="connsiteX2" fmla="*/ 6076950 w 12153900"/>
                <a:gd name="connsiteY2" fmla="*/ 2057400 h 2381250"/>
                <a:gd name="connsiteX3" fmla="*/ 11181588 w 12153900"/>
                <a:gd name="connsiteY3" fmla="*/ 1123950 h 2381250"/>
                <a:gd name="connsiteX4" fmla="*/ 6076950 w 12153900"/>
                <a:gd name="connsiteY4" fmla="*/ 190500 h 2381250"/>
                <a:gd name="connsiteX5" fmla="*/ 6076950 w 12153900"/>
                <a:gd name="connsiteY5" fmla="*/ 0 h 2381250"/>
                <a:gd name="connsiteX6" fmla="*/ 12153900 w 12153900"/>
                <a:gd name="connsiteY6" fmla="*/ 1190625 h 2381250"/>
                <a:gd name="connsiteX7" fmla="*/ 6076950 w 12153900"/>
                <a:gd name="connsiteY7" fmla="*/ 2381250 h 2381250"/>
                <a:gd name="connsiteX8" fmla="*/ 0 w 12153900"/>
                <a:gd name="connsiteY8" fmla="*/ 1190625 h 2381250"/>
                <a:gd name="connsiteX9" fmla="*/ 6076950 w 12153900"/>
                <a:gd name="connsiteY9" fmla="*/ 0 h 2381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53900" h="2381250">
                  <a:moveTo>
                    <a:pt x="6076950" y="190500"/>
                  </a:moveTo>
                  <a:cubicBezTo>
                    <a:pt x="3257736" y="190500"/>
                    <a:pt x="972312" y="608420"/>
                    <a:pt x="972312" y="1123950"/>
                  </a:cubicBezTo>
                  <a:cubicBezTo>
                    <a:pt x="972312" y="1639480"/>
                    <a:pt x="3257736" y="2057400"/>
                    <a:pt x="6076950" y="2057400"/>
                  </a:cubicBezTo>
                  <a:cubicBezTo>
                    <a:pt x="8896164" y="2057400"/>
                    <a:pt x="11181588" y="1639480"/>
                    <a:pt x="11181588" y="1123950"/>
                  </a:cubicBezTo>
                  <a:cubicBezTo>
                    <a:pt x="11181588" y="608420"/>
                    <a:pt x="8896164" y="190500"/>
                    <a:pt x="6076950" y="190500"/>
                  </a:cubicBezTo>
                  <a:close/>
                  <a:moveTo>
                    <a:pt x="6076950" y="0"/>
                  </a:moveTo>
                  <a:cubicBezTo>
                    <a:pt x="9433157" y="0"/>
                    <a:pt x="12153900" y="533061"/>
                    <a:pt x="12153900" y="1190625"/>
                  </a:cubicBezTo>
                  <a:cubicBezTo>
                    <a:pt x="12153900" y="1848189"/>
                    <a:pt x="9433157" y="2381250"/>
                    <a:pt x="6076950" y="2381250"/>
                  </a:cubicBezTo>
                  <a:cubicBezTo>
                    <a:pt x="2720743" y="2381250"/>
                    <a:pt x="0" y="1848189"/>
                    <a:pt x="0" y="1190625"/>
                  </a:cubicBezTo>
                  <a:cubicBezTo>
                    <a:pt x="0" y="533061"/>
                    <a:pt x="2720743" y="0"/>
                    <a:pt x="6076950" y="0"/>
                  </a:cubicBezTo>
                  <a:close/>
                </a:path>
              </a:pathLst>
            </a:custGeom>
            <a:gradFill>
              <a:gsLst>
                <a:gs pos="15000">
                  <a:schemeClr val="bg1">
                    <a:alpha val="0"/>
                  </a:schemeClr>
                </a:gs>
                <a:gs pos="100000">
                  <a:schemeClr val="accent1">
                    <a:lumMod val="40000"/>
                    <a:lumOff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思源黑体 CN Heavy" panose="020B0A00000000000000" charset="-122"/>
                <a:cs typeface="思源黑体 CN Normal" panose="020B0400000000000000" pitchFamily="34" charset="-122"/>
              </a:endParaRPr>
            </a:p>
          </p:txBody>
        </p:sp>
        <p:sp>
          <p:nvSpPr>
            <p:cNvPr id="72" name="小红书平北职场PPT3-2"/>
            <p:cNvSpPr/>
            <p:nvPr/>
          </p:nvSpPr>
          <p:spPr>
            <a:xfrm>
              <a:off x="991362" y="5387418"/>
              <a:ext cx="10209276" cy="1866900"/>
            </a:xfrm>
            <a:custGeom>
              <a:avLst/>
              <a:gdLst>
                <a:gd name="connsiteX0" fmla="*/ 5104638 w 10209276"/>
                <a:gd name="connsiteY0" fmla="*/ 170284 h 1866900"/>
                <a:gd name="connsiteX1" fmla="*/ 951738 w 10209276"/>
                <a:gd name="connsiteY1" fmla="*/ 863471 h 1866900"/>
                <a:gd name="connsiteX2" fmla="*/ 5104638 w 10209276"/>
                <a:gd name="connsiteY2" fmla="*/ 1556658 h 1866900"/>
                <a:gd name="connsiteX3" fmla="*/ 9257538 w 10209276"/>
                <a:gd name="connsiteY3" fmla="*/ 863471 h 1866900"/>
                <a:gd name="connsiteX4" fmla="*/ 5104638 w 10209276"/>
                <a:gd name="connsiteY4" fmla="*/ 170284 h 1866900"/>
                <a:gd name="connsiteX5" fmla="*/ 5104638 w 10209276"/>
                <a:gd name="connsiteY5" fmla="*/ 0 h 1866900"/>
                <a:gd name="connsiteX6" fmla="*/ 10209276 w 10209276"/>
                <a:gd name="connsiteY6" fmla="*/ 933450 h 1866900"/>
                <a:gd name="connsiteX7" fmla="*/ 5104638 w 10209276"/>
                <a:gd name="connsiteY7" fmla="*/ 1866900 h 1866900"/>
                <a:gd name="connsiteX8" fmla="*/ 0 w 10209276"/>
                <a:gd name="connsiteY8" fmla="*/ 933450 h 1866900"/>
                <a:gd name="connsiteX9" fmla="*/ 5104638 w 10209276"/>
                <a:gd name="connsiteY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09276" h="1866900">
                  <a:moveTo>
                    <a:pt x="5104638" y="170284"/>
                  </a:moveTo>
                  <a:cubicBezTo>
                    <a:pt x="2811055" y="170284"/>
                    <a:pt x="951738" y="480634"/>
                    <a:pt x="951738" y="863471"/>
                  </a:cubicBezTo>
                  <a:cubicBezTo>
                    <a:pt x="951738" y="1246308"/>
                    <a:pt x="2811055" y="1556658"/>
                    <a:pt x="5104638" y="1556658"/>
                  </a:cubicBezTo>
                  <a:cubicBezTo>
                    <a:pt x="7398221" y="1556658"/>
                    <a:pt x="9257538" y="1246308"/>
                    <a:pt x="9257538" y="863471"/>
                  </a:cubicBezTo>
                  <a:cubicBezTo>
                    <a:pt x="9257538" y="480634"/>
                    <a:pt x="7398221" y="170284"/>
                    <a:pt x="5104638" y="170284"/>
                  </a:cubicBezTo>
                  <a:close/>
                  <a:moveTo>
                    <a:pt x="5104638" y="0"/>
                  </a:moveTo>
                  <a:cubicBezTo>
                    <a:pt x="7923852" y="0"/>
                    <a:pt x="10209276" y="417920"/>
                    <a:pt x="10209276" y="933450"/>
                  </a:cubicBezTo>
                  <a:cubicBezTo>
                    <a:pt x="10209276" y="1448980"/>
                    <a:pt x="7923852" y="1866900"/>
                    <a:pt x="5104638" y="1866900"/>
                  </a:cubicBezTo>
                  <a:cubicBezTo>
                    <a:pt x="2285424" y="1866900"/>
                    <a:pt x="0" y="1448980"/>
                    <a:pt x="0" y="933450"/>
                  </a:cubicBezTo>
                  <a:cubicBezTo>
                    <a:pt x="0" y="417920"/>
                    <a:pt x="2285424" y="0"/>
                    <a:pt x="5104638" y="0"/>
                  </a:cubicBezTo>
                  <a:close/>
                </a:path>
              </a:pathLst>
            </a:custGeom>
            <a:gradFill>
              <a:gsLst>
                <a:gs pos="23000">
                  <a:schemeClr val="accent1">
                    <a:alpha val="0"/>
                  </a:schemeClr>
                </a:gs>
                <a:gs pos="86000">
                  <a:schemeClr val="accent1">
                    <a:alpha val="70000"/>
                  </a:schemeClr>
                </a:gs>
              </a:gsLst>
              <a:lin ang="5400000" scaled="0"/>
            </a:gradFill>
            <a:ln>
              <a:gradFill>
                <a:gsLst>
                  <a:gs pos="37000">
                    <a:schemeClr val="accent1">
                      <a:lumMod val="5000"/>
                      <a:lumOff val="95000"/>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思源黑体 CN Heavy" panose="020B0A00000000000000" charset="-122"/>
                <a:cs typeface="思源黑体 CN Normal" panose="020B0400000000000000" pitchFamily="34" charset="-122"/>
              </a:endParaRPr>
            </a:p>
          </p:txBody>
        </p:sp>
      </p:grpSp>
      <p:grpSp>
        <p:nvGrpSpPr>
          <p:cNvPr id="6" name="小红书平北职场PPT4"/>
          <p:cNvGrpSpPr/>
          <p:nvPr/>
        </p:nvGrpSpPr>
        <p:grpSpPr>
          <a:xfrm flipH="1">
            <a:off x="619720" y="3059766"/>
            <a:ext cx="2810433" cy="618392"/>
            <a:chOff x="1995247" y="1288988"/>
            <a:chExt cx="2810433" cy="618392"/>
          </a:xfrm>
        </p:grpSpPr>
        <p:sp>
          <p:nvSpPr>
            <p:cNvPr id="69" name="小红书平北职场PPT4-1"/>
            <p:cNvSpPr/>
            <p:nvPr/>
          </p:nvSpPr>
          <p:spPr>
            <a:xfrm>
              <a:off x="2200275" y="1356879"/>
              <a:ext cx="2605405" cy="481446"/>
            </a:xfrm>
            <a:prstGeom prst="roundRect">
              <a:avLst>
                <a:gd name="adj" fmla="val 50000"/>
              </a:avLst>
            </a:prstGeom>
            <a:solidFill>
              <a:schemeClr val="bg1"/>
            </a:solidFill>
            <a:ln>
              <a:gradFill>
                <a:gsLst>
                  <a:gs pos="19000">
                    <a:schemeClr val="accent1">
                      <a:lumMod val="60000"/>
                      <a:lumOff val="40000"/>
                    </a:schemeClr>
                  </a:gs>
                  <a:gs pos="100000">
                    <a:schemeClr val="accent1">
                      <a:lumMod val="20000"/>
                      <a:lumOff val="80000"/>
                    </a:schemeClr>
                  </a:gs>
                </a:gsLst>
                <a:lin ang="0" scaled="0"/>
              </a:gradFill>
            </a:ln>
            <a:effectLst>
              <a:outerShdw blurRad="165100" dist="762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CN Heavy" panose="020B0A00000000000000" charset="-122"/>
                <a:cs typeface="思源黑体 CN Normal" panose="020B0400000000000000" pitchFamily="34" charset="-122"/>
              </a:endParaRPr>
            </a:p>
          </p:txBody>
        </p:sp>
        <p:sp>
          <p:nvSpPr>
            <p:cNvPr id="70" name="小红书平北职场PPT4-2"/>
            <p:cNvSpPr/>
            <p:nvPr/>
          </p:nvSpPr>
          <p:spPr>
            <a:xfrm flipH="1">
              <a:off x="1995247" y="1288988"/>
              <a:ext cx="618390" cy="618392"/>
            </a:xfrm>
            <a:prstGeom prst="ellipse">
              <a:avLst/>
            </a:prstGeom>
            <a:gradFill flip="none" rotWithShape="1">
              <a:gsLst>
                <a:gs pos="0">
                  <a:schemeClr val="accent1">
                    <a:lumMod val="60000"/>
                    <a:lumOff val="40000"/>
                  </a:schemeClr>
                </a:gs>
                <a:gs pos="100000">
                  <a:schemeClr val="accent1"/>
                </a:gs>
              </a:gsLst>
              <a:path path="circle">
                <a:fillToRect l="100000" b="100000"/>
              </a:path>
              <a:tileRect t="-100000" r="-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grpSp>
      <p:sp>
        <p:nvSpPr>
          <p:cNvPr id="7" name="小红书平北职场PPT5"/>
          <p:cNvSpPr txBox="1"/>
          <p:nvPr/>
        </p:nvSpPr>
        <p:spPr>
          <a:xfrm>
            <a:off x="558043" y="3751750"/>
            <a:ext cx="2403211" cy="556178"/>
          </a:xfrm>
          <a:prstGeom prst="rect">
            <a:avLst/>
          </a:prstGeom>
          <a:noFill/>
        </p:spPr>
        <p:txBody>
          <a:bodyPr wrap="square" rtlCol="0">
            <a:spAutoFit/>
          </a:bodyPr>
          <a:lstStyle>
            <a:defPPr>
              <a:defRPr lang="zh-CN"/>
            </a:defPPr>
            <a:lvl1pPr>
              <a:lnSpc>
                <a:spcPct val="110000"/>
              </a:lnSpc>
              <a:defRPr sz="1600">
                <a:solidFill>
                  <a:schemeClr val="tx1">
                    <a:lumMod val="75000"/>
                    <a:lumOff val="25000"/>
                  </a:schemeClr>
                </a:solidFill>
              </a:defRPr>
            </a:lvl1pPr>
          </a:lstStyle>
          <a:p>
            <a:pPr algn="r" fontAlgn="base">
              <a:lnSpc>
                <a:spcPct val="130000"/>
              </a:lnSpc>
            </a:pPr>
            <a:r>
              <a:rPr lang="zh-CN" altLang="en-US" sz="1200" b="0" i="0" dirty="0">
                <a:solidFill>
                  <a:schemeClr val="tx1"/>
                </a:solidFill>
                <a:effectLst/>
                <a:latin typeface="思源黑体 CN Heavy" panose="020B0A00000000000000" charset="-122"/>
                <a:cs typeface="思源黑体 CN Normal" panose="020B0400000000000000" pitchFamily="34" charset="-122"/>
              </a:rPr>
              <a:t>提供一致的品牌体验，加强客户联系，提升品牌价值</a:t>
            </a:r>
            <a:endParaRPr lang="zh-CN" altLang="en-US" sz="1200" b="0" i="0" dirty="0">
              <a:solidFill>
                <a:schemeClr val="tx1"/>
              </a:solidFill>
              <a:effectLst/>
              <a:latin typeface="思源黑体 CN Heavy" panose="020B0A00000000000000" charset="-122"/>
              <a:cs typeface="思源黑体 CN Normal" panose="020B0400000000000000" pitchFamily="34" charset="-122"/>
            </a:endParaRPr>
          </a:p>
        </p:txBody>
      </p:sp>
      <p:sp>
        <p:nvSpPr>
          <p:cNvPr id="8" name="小红书平北职场PPT6"/>
          <p:cNvSpPr txBox="1"/>
          <p:nvPr/>
        </p:nvSpPr>
        <p:spPr>
          <a:xfrm>
            <a:off x="2871530" y="3175038"/>
            <a:ext cx="498855" cy="400110"/>
          </a:xfrm>
          <a:prstGeom prst="rect">
            <a:avLst/>
          </a:prstGeom>
          <a:noFill/>
        </p:spPr>
        <p:txBody>
          <a:bodyPr wrap="none" rtlCol="0">
            <a:spAutoFit/>
          </a:bodyPr>
          <a:lstStyle/>
          <a:p>
            <a:r>
              <a:rPr lang="en-US" altLang="zh-CN" sz="2000" dirty="0">
                <a:solidFill>
                  <a:schemeClr val="bg1"/>
                </a:solidFill>
                <a:latin typeface="+mj-ea"/>
                <a:ea typeface="+mj-ea"/>
                <a:cs typeface="思源黑体 CN Normal" panose="020B0400000000000000" pitchFamily="34" charset="-122"/>
              </a:rPr>
              <a:t>01</a:t>
            </a:r>
            <a:endParaRPr lang="zh-CN" altLang="en-US" sz="2000" dirty="0">
              <a:solidFill>
                <a:schemeClr val="bg1"/>
              </a:solidFill>
              <a:latin typeface="+mj-ea"/>
              <a:ea typeface="+mj-ea"/>
              <a:cs typeface="思源黑体 CN Normal" panose="020B0400000000000000" pitchFamily="34" charset="-122"/>
            </a:endParaRPr>
          </a:p>
        </p:txBody>
      </p:sp>
      <p:sp>
        <p:nvSpPr>
          <p:cNvPr id="9" name="小红书平北职场PPT7"/>
          <p:cNvSpPr txBox="1"/>
          <p:nvPr/>
        </p:nvSpPr>
        <p:spPr>
          <a:xfrm>
            <a:off x="9380238" y="3751750"/>
            <a:ext cx="2253718" cy="557140"/>
          </a:xfrm>
          <a:prstGeom prst="rect">
            <a:avLst/>
          </a:prstGeom>
          <a:noFill/>
        </p:spPr>
        <p:txBody>
          <a:bodyPr wrap="square" rtlCol="0">
            <a:spAutoFit/>
          </a:bodyPr>
          <a:lstStyle>
            <a:defPPr>
              <a:defRPr lang="zh-CN"/>
            </a:defPPr>
            <a:lvl1pPr>
              <a:lnSpc>
                <a:spcPct val="110000"/>
              </a:lnSpc>
              <a:defRPr sz="1600">
                <a:solidFill>
                  <a:schemeClr val="tx1">
                    <a:lumMod val="75000"/>
                    <a:lumOff val="2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sym typeface="思源黑体 CN Normal" panose="020B0400000000000000" pitchFamily="34" charset="-122"/>
              </a:rPr>
              <a:t>整合库存平台，优化物流，提升购物体验</a:t>
            </a:r>
            <a:endParaRPr lang="zh-CN" altLang="en-US" sz="1200" dirty="0">
              <a:solidFill>
                <a:schemeClr val="tx1"/>
              </a:solidFill>
              <a:latin typeface="+mn-ea"/>
              <a:cs typeface="思源黑体 CN Normal" panose="020B0400000000000000" pitchFamily="34" charset="-122"/>
              <a:sym typeface="思源黑体 CN Normal" panose="020B0400000000000000" pitchFamily="34" charset="-122"/>
            </a:endParaRPr>
          </a:p>
        </p:txBody>
      </p:sp>
      <p:sp>
        <p:nvSpPr>
          <p:cNvPr id="10" name="小红书平北职场PPT8"/>
          <p:cNvSpPr/>
          <p:nvPr/>
        </p:nvSpPr>
        <p:spPr>
          <a:xfrm>
            <a:off x="8944730" y="3127657"/>
            <a:ext cx="2605405" cy="481446"/>
          </a:xfrm>
          <a:prstGeom prst="roundRect">
            <a:avLst>
              <a:gd name="adj" fmla="val 50000"/>
            </a:avLst>
          </a:prstGeom>
          <a:solidFill>
            <a:schemeClr val="bg1"/>
          </a:solidFill>
          <a:ln>
            <a:gradFill>
              <a:gsLst>
                <a:gs pos="19000">
                  <a:schemeClr val="accent1">
                    <a:lumMod val="60000"/>
                    <a:lumOff val="40000"/>
                  </a:schemeClr>
                </a:gs>
                <a:gs pos="100000">
                  <a:schemeClr val="accent1">
                    <a:lumMod val="20000"/>
                    <a:lumOff val="80000"/>
                  </a:schemeClr>
                </a:gs>
              </a:gsLst>
              <a:lin ang="0" scaled="0"/>
            </a:gradFill>
          </a:ln>
          <a:effectLst>
            <a:outerShdw blurRad="165100" dist="762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CN Heavy" panose="020B0A00000000000000" charset="-122"/>
              <a:cs typeface="思源黑体 CN Normal" panose="020B0400000000000000" pitchFamily="34" charset="-122"/>
            </a:endParaRPr>
          </a:p>
        </p:txBody>
      </p:sp>
      <p:sp>
        <p:nvSpPr>
          <p:cNvPr id="11" name="小红书平北职场PPT9"/>
          <p:cNvSpPr/>
          <p:nvPr/>
        </p:nvSpPr>
        <p:spPr>
          <a:xfrm flipH="1">
            <a:off x="8739702" y="3059766"/>
            <a:ext cx="618390" cy="618392"/>
          </a:xfrm>
          <a:prstGeom prst="ellipse">
            <a:avLst/>
          </a:prstGeom>
          <a:gradFill flip="none" rotWithShape="1">
            <a:gsLst>
              <a:gs pos="0">
                <a:schemeClr val="accent1">
                  <a:lumMod val="60000"/>
                  <a:lumOff val="40000"/>
                </a:schemeClr>
              </a:gs>
              <a:gs pos="100000">
                <a:schemeClr val="accent1"/>
              </a:gs>
            </a:gsLst>
            <a:path path="circle">
              <a:fillToRect l="100000" b="100000"/>
            </a:path>
            <a:tileRect t="-100000" r="-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sp>
        <p:nvSpPr>
          <p:cNvPr id="12" name="小红书平北职场PPT10"/>
          <p:cNvSpPr txBox="1"/>
          <p:nvPr/>
        </p:nvSpPr>
        <p:spPr>
          <a:xfrm>
            <a:off x="8799056" y="3175038"/>
            <a:ext cx="530915" cy="400110"/>
          </a:xfrm>
          <a:prstGeom prst="rect">
            <a:avLst/>
          </a:prstGeom>
          <a:noFill/>
        </p:spPr>
        <p:txBody>
          <a:bodyPr wrap="none" rtlCol="0">
            <a:spAutoFit/>
          </a:bodyPr>
          <a:lstStyle/>
          <a:p>
            <a:r>
              <a:rPr lang="en-US" altLang="zh-CN" sz="2000" dirty="0">
                <a:solidFill>
                  <a:schemeClr val="bg1"/>
                </a:solidFill>
                <a:latin typeface="+mj-ea"/>
                <a:ea typeface="+mj-ea"/>
                <a:cs typeface="思源黑体 CN Normal" panose="020B0400000000000000" pitchFamily="34" charset="-122"/>
              </a:rPr>
              <a:t>02</a:t>
            </a:r>
            <a:endParaRPr lang="zh-CN" altLang="en-US" sz="2000" dirty="0">
              <a:solidFill>
                <a:schemeClr val="bg1"/>
              </a:solidFill>
              <a:latin typeface="+mj-ea"/>
              <a:ea typeface="+mj-ea"/>
              <a:cs typeface="思源黑体 CN Normal" panose="020B0400000000000000" pitchFamily="34" charset="-122"/>
            </a:endParaRPr>
          </a:p>
        </p:txBody>
      </p:sp>
      <p:sp>
        <p:nvSpPr>
          <p:cNvPr id="13" name="小红书平北职场PPT11"/>
          <p:cNvSpPr txBox="1"/>
          <p:nvPr/>
        </p:nvSpPr>
        <p:spPr>
          <a:xfrm>
            <a:off x="8217956" y="5155280"/>
            <a:ext cx="2253718" cy="557140"/>
          </a:xfrm>
          <a:prstGeom prst="rect">
            <a:avLst/>
          </a:prstGeom>
          <a:noFill/>
        </p:spPr>
        <p:txBody>
          <a:bodyPr wrap="square" rtlCol="0">
            <a:spAutoFit/>
          </a:bodyPr>
          <a:lstStyle>
            <a:defPPr>
              <a:defRPr lang="zh-CN"/>
            </a:defPPr>
            <a:lvl1pPr>
              <a:lnSpc>
                <a:spcPct val="110000"/>
              </a:lnSpc>
              <a:defRPr sz="1600">
                <a:solidFill>
                  <a:schemeClr val="tx1">
                    <a:lumMod val="75000"/>
                    <a:lumOff val="2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sym typeface="思源黑体 CN Normal" panose="020B0400000000000000" pitchFamily="34" charset="-122"/>
              </a:rPr>
              <a:t>建立反馈机制，利用数据分析，提高市场影响力</a:t>
            </a:r>
            <a:endParaRPr lang="zh-CN" altLang="en-US" sz="1200" dirty="0">
              <a:solidFill>
                <a:schemeClr val="tx1"/>
              </a:solidFill>
              <a:latin typeface="+mn-ea"/>
              <a:cs typeface="思源黑体 CN Normal" panose="020B0400000000000000" pitchFamily="34" charset="-122"/>
              <a:sym typeface="思源黑体 CN Normal" panose="020B0400000000000000" pitchFamily="34" charset="-122"/>
            </a:endParaRPr>
          </a:p>
        </p:txBody>
      </p:sp>
      <p:sp>
        <p:nvSpPr>
          <p:cNvPr id="14" name="小红书平北职场PPT12"/>
          <p:cNvSpPr/>
          <p:nvPr/>
        </p:nvSpPr>
        <p:spPr>
          <a:xfrm>
            <a:off x="7782448" y="4531187"/>
            <a:ext cx="2605405" cy="481446"/>
          </a:xfrm>
          <a:prstGeom prst="roundRect">
            <a:avLst>
              <a:gd name="adj" fmla="val 50000"/>
            </a:avLst>
          </a:prstGeom>
          <a:solidFill>
            <a:schemeClr val="bg1"/>
          </a:solidFill>
          <a:ln>
            <a:gradFill>
              <a:gsLst>
                <a:gs pos="19000">
                  <a:schemeClr val="accent3">
                    <a:lumMod val="60000"/>
                    <a:lumOff val="40000"/>
                  </a:schemeClr>
                </a:gs>
                <a:gs pos="100000">
                  <a:schemeClr val="accent3">
                    <a:lumMod val="20000"/>
                    <a:lumOff val="80000"/>
                  </a:schemeClr>
                </a:gs>
              </a:gsLst>
              <a:lin ang="0" scaled="0"/>
            </a:gradFill>
          </a:ln>
          <a:effectLst>
            <a:outerShdw blurRad="165100" dist="762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CN Heavy" panose="020B0A00000000000000" charset="-122"/>
              <a:cs typeface="思源黑体 CN Normal" panose="020B0400000000000000" pitchFamily="34" charset="-122"/>
            </a:endParaRPr>
          </a:p>
        </p:txBody>
      </p:sp>
      <p:grpSp>
        <p:nvGrpSpPr>
          <p:cNvPr id="15" name="小红书平北职场PPT13"/>
          <p:cNvGrpSpPr/>
          <p:nvPr/>
        </p:nvGrpSpPr>
        <p:grpSpPr>
          <a:xfrm>
            <a:off x="8406641" y="3190427"/>
            <a:ext cx="3456481" cy="1772862"/>
            <a:chOff x="8217955" y="3190427"/>
            <a:chExt cx="3456481" cy="1772862"/>
          </a:xfrm>
        </p:grpSpPr>
        <p:sp>
          <p:nvSpPr>
            <p:cNvPr id="67" name="小红书平北职场PPT13-1"/>
            <p:cNvSpPr txBox="1"/>
            <p:nvPr/>
          </p:nvSpPr>
          <p:spPr>
            <a:xfrm>
              <a:off x="9380237" y="3190427"/>
              <a:ext cx="2294199" cy="369332"/>
            </a:xfrm>
            <a:prstGeom prst="rect">
              <a:avLst/>
            </a:prstGeom>
            <a:noFill/>
          </p:spPr>
          <p:txBody>
            <a:bodyPr wrap="square" rtlCol="0">
              <a:spAutoFit/>
            </a:bodyPr>
            <a:lstStyle/>
            <a:p>
              <a:r>
                <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rPr>
                <a:t>库存物流优化 </a:t>
              </a:r>
              <a:endPar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endParaRPr>
            </a:p>
          </p:txBody>
        </p:sp>
        <p:sp>
          <p:nvSpPr>
            <p:cNvPr id="68" name="小红书平北职场PPT13-2"/>
            <p:cNvSpPr txBox="1"/>
            <p:nvPr/>
          </p:nvSpPr>
          <p:spPr>
            <a:xfrm>
              <a:off x="8217955" y="4593957"/>
              <a:ext cx="2294199" cy="369332"/>
            </a:xfrm>
            <a:prstGeom prst="rect">
              <a:avLst/>
            </a:prstGeom>
            <a:noFill/>
          </p:spPr>
          <p:txBody>
            <a:bodyPr wrap="square" rtlCol="0">
              <a:spAutoFit/>
            </a:bodyPr>
            <a:lstStyle/>
            <a:p>
              <a:r>
                <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rPr>
                <a:t>反馈数据分析 </a:t>
              </a:r>
              <a:endPar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endParaRPr>
            </a:p>
          </p:txBody>
        </p:sp>
      </p:grpSp>
      <p:sp>
        <p:nvSpPr>
          <p:cNvPr id="16" name="小红书平北职场PPT14"/>
          <p:cNvSpPr/>
          <p:nvPr/>
        </p:nvSpPr>
        <p:spPr>
          <a:xfrm flipH="1">
            <a:off x="7577420" y="4463296"/>
            <a:ext cx="618390" cy="618392"/>
          </a:xfrm>
          <a:prstGeom prst="ellipse">
            <a:avLst/>
          </a:prstGeom>
          <a:gradFill flip="none" rotWithShape="1">
            <a:gsLst>
              <a:gs pos="0">
                <a:schemeClr val="accent1">
                  <a:lumMod val="60000"/>
                  <a:lumOff val="40000"/>
                </a:schemeClr>
              </a:gs>
              <a:gs pos="100000">
                <a:schemeClr val="accent1"/>
              </a:gs>
            </a:gsLst>
            <a:path path="circle">
              <a:fillToRect l="100000" b="100000"/>
            </a:path>
            <a:tileRect t="-100000" r="-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sp>
        <p:nvSpPr>
          <p:cNvPr id="17" name="小红书平北职场PPT15"/>
          <p:cNvSpPr txBox="1"/>
          <p:nvPr/>
        </p:nvSpPr>
        <p:spPr>
          <a:xfrm>
            <a:off x="7637187" y="4563179"/>
            <a:ext cx="530915" cy="400110"/>
          </a:xfrm>
          <a:prstGeom prst="rect">
            <a:avLst/>
          </a:prstGeom>
          <a:noFill/>
        </p:spPr>
        <p:txBody>
          <a:bodyPr wrap="none" rtlCol="0">
            <a:spAutoFit/>
          </a:bodyPr>
          <a:lstStyle/>
          <a:p>
            <a:r>
              <a:rPr lang="en-US" altLang="zh-CN" sz="2000" dirty="0">
                <a:solidFill>
                  <a:schemeClr val="bg1"/>
                </a:solidFill>
                <a:latin typeface="+mj-ea"/>
                <a:ea typeface="+mj-ea"/>
                <a:cs typeface="思源黑体 CN Normal" panose="020B0400000000000000" pitchFamily="34" charset="-122"/>
              </a:rPr>
              <a:t>04</a:t>
            </a:r>
            <a:endParaRPr lang="zh-CN" altLang="en-US" sz="2000" dirty="0">
              <a:solidFill>
                <a:schemeClr val="bg1"/>
              </a:solidFill>
              <a:latin typeface="+mj-ea"/>
              <a:ea typeface="+mj-ea"/>
              <a:cs typeface="思源黑体 CN Normal" panose="020B0400000000000000" pitchFamily="34" charset="-122"/>
            </a:endParaRPr>
          </a:p>
        </p:txBody>
      </p:sp>
      <p:sp>
        <p:nvSpPr>
          <p:cNvPr id="18" name="小红书平北职场PPT16"/>
          <p:cNvSpPr/>
          <p:nvPr/>
        </p:nvSpPr>
        <p:spPr>
          <a:xfrm flipH="1">
            <a:off x="1782003" y="4531187"/>
            <a:ext cx="2605405" cy="481446"/>
          </a:xfrm>
          <a:prstGeom prst="roundRect">
            <a:avLst>
              <a:gd name="adj" fmla="val 50000"/>
            </a:avLst>
          </a:prstGeom>
          <a:solidFill>
            <a:schemeClr val="bg1"/>
          </a:solidFill>
          <a:ln>
            <a:gradFill>
              <a:gsLst>
                <a:gs pos="19000">
                  <a:schemeClr val="accent2">
                    <a:lumMod val="60000"/>
                    <a:lumOff val="40000"/>
                  </a:schemeClr>
                </a:gs>
                <a:gs pos="100000">
                  <a:schemeClr val="accent2">
                    <a:lumMod val="20000"/>
                    <a:lumOff val="80000"/>
                  </a:schemeClr>
                </a:gs>
              </a:gsLst>
              <a:lin ang="0" scaled="0"/>
            </a:gradFill>
          </a:ln>
          <a:effectLst>
            <a:outerShdw blurRad="101600" dist="38100" dir="2700000" algn="tl" rotWithShape="0">
              <a:schemeClr val="accent2">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CN Heavy" panose="020B0A00000000000000" charset="-122"/>
              <a:cs typeface="思源黑体 CN Normal" panose="020B0400000000000000" pitchFamily="34" charset="-122"/>
            </a:endParaRPr>
          </a:p>
        </p:txBody>
      </p:sp>
      <p:sp>
        <p:nvSpPr>
          <p:cNvPr id="19" name="小红书平北职场PPT17"/>
          <p:cNvSpPr/>
          <p:nvPr/>
        </p:nvSpPr>
        <p:spPr>
          <a:xfrm>
            <a:off x="3974046" y="4463296"/>
            <a:ext cx="618390" cy="618392"/>
          </a:xfrm>
          <a:prstGeom prst="ellipse">
            <a:avLst/>
          </a:prstGeom>
          <a:gradFill>
            <a:gsLst>
              <a:gs pos="0">
                <a:schemeClr val="accent2">
                  <a:lumMod val="60000"/>
                  <a:lumOff val="40000"/>
                </a:schemeClr>
              </a:gs>
              <a:gs pos="100000">
                <a:schemeClr val="accent2"/>
              </a:gs>
            </a:gsLst>
            <a:lin ang="2700000" scaled="1"/>
          </a:gradFill>
          <a:ln>
            <a:noFill/>
          </a:ln>
          <a:effectLst>
            <a:outerShdw blurRad="177800" dist="76200" dir="3600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ea typeface="思源黑体 CN Heavy" panose="020B0A00000000000000" charset="-122"/>
              <a:cs typeface="思源黑体 CN Normal" panose="020B0400000000000000" pitchFamily="34" charset="-122"/>
            </a:endParaRPr>
          </a:p>
        </p:txBody>
      </p:sp>
      <p:sp>
        <p:nvSpPr>
          <p:cNvPr id="20" name="小红书平北职场PPT18"/>
          <p:cNvSpPr txBox="1"/>
          <p:nvPr/>
        </p:nvSpPr>
        <p:spPr>
          <a:xfrm>
            <a:off x="2061029" y="5155280"/>
            <a:ext cx="1913015" cy="557140"/>
          </a:xfrm>
          <a:prstGeom prst="rect">
            <a:avLst/>
          </a:prstGeom>
          <a:noFill/>
        </p:spPr>
        <p:txBody>
          <a:bodyPr wrap="square" rtlCol="0">
            <a:spAutoFit/>
          </a:bodyPr>
          <a:lstStyle>
            <a:defPPr>
              <a:defRPr lang="zh-CN"/>
            </a:defPPr>
            <a:lvl1pPr>
              <a:lnSpc>
                <a:spcPct val="110000"/>
              </a:lnSpc>
              <a:defRPr sz="1600">
                <a:solidFill>
                  <a:schemeClr val="tx1">
                    <a:lumMod val="75000"/>
                    <a:lumOff val="25000"/>
                  </a:schemeClr>
                </a:solidFill>
              </a:defRPr>
            </a:lvl1pPr>
          </a:lstStyle>
          <a:p>
            <a:pPr algn="r">
              <a:lnSpc>
                <a:spcPct val="130000"/>
              </a:lnSpc>
            </a:pPr>
            <a:r>
              <a:rPr lang="zh-CN" altLang="en-US" sz="1200" dirty="0">
                <a:solidFill>
                  <a:schemeClr val="tx1"/>
                </a:solidFill>
                <a:latin typeface="+mn-ea"/>
                <a:cs typeface="思源黑体 CN Normal" panose="020B0400000000000000" pitchFamily="34" charset="-122"/>
                <a:sym typeface="思源黑体 CN Normal" panose="020B0400000000000000" pitchFamily="34" charset="-122"/>
              </a:rPr>
              <a:t>利用数据分析，提供个性化服务，增强客户忠诚度</a:t>
            </a:r>
            <a:endParaRPr lang="zh-CN" altLang="en-US" sz="1200" dirty="0">
              <a:solidFill>
                <a:schemeClr val="tx1"/>
              </a:solidFill>
              <a:latin typeface="+mn-ea"/>
              <a:cs typeface="思源黑体 CN Normal" panose="020B0400000000000000" pitchFamily="34" charset="-122"/>
              <a:sym typeface="思源黑体 CN Normal" panose="020B0400000000000000" pitchFamily="34" charset="-122"/>
            </a:endParaRPr>
          </a:p>
        </p:txBody>
      </p:sp>
      <p:grpSp>
        <p:nvGrpSpPr>
          <p:cNvPr id="21" name="小红书平北职场PPT19"/>
          <p:cNvGrpSpPr/>
          <p:nvPr/>
        </p:nvGrpSpPr>
        <p:grpSpPr>
          <a:xfrm>
            <a:off x="285334" y="3190427"/>
            <a:ext cx="3456482" cy="1772862"/>
            <a:chOff x="517563" y="3190427"/>
            <a:chExt cx="3456482" cy="1772862"/>
          </a:xfrm>
        </p:grpSpPr>
        <p:sp>
          <p:nvSpPr>
            <p:cNvPr id="65" name="小红书平北职场PPT19-1"/>
            <p:cNvSpPr txBox="1"/>
            <p:nvPr/>
          </p:nvSpPr>
          <p:spPr>
            <a:xfrm>
              <a:off x="517563" y="3190427"/>
              <a:ext cx="2294199" cy="369332"/>
            </a:xfrm>
            <a:prstGeom prst="rect">
              <a:avLst/>
            </a:prstGeom>
            <a:noFill/>
          </p:spPr>
          <p:txBody>
            <a:bodyPr wrap="square" rtlCol="0">
              <a:spAutoFit/>
            </a:bodyPr>
            <a:lstStyle/>
            <a:p>
              <a:pPr algn="r"/>
              <a:r>
                <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rPr>
                <a:t>品牌形象统一 </a:t>
              </a:r>
              <a:endPar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endParaRPr>
            </a:p>
          </p:txBody>
        </p:sp>
        <p:sp>
          <p:nvSpPr>
            <p:cNvPr id="66" name="小红书平北职场PPT19-2"/>
            <p:cNvSpPr txBox="1"/>
            <p:nvPr/>
          </p:nvSpPr>
          <p:spPr>
            <a:xfrm>
              <a:off x="1679846" y="4593957"/>
              <a:ext cx="2294199" cy="369332"/>
            </a:xfrm>
            <a:prstGeom prst="rect">
              <a:avLst/>
            </a:prstGeom>
            <a:noFill/>
          </p:spPr>
          <p:txBody>
            <a:bodyPr wrap="square" rtlCol="0">
              <a:spAutoFit/>
            </a:bodyPr>
            <a:lstStyle/>
            <a:p>
              <a:pPr algn="r"/>
              <a:r>
                <a:rPr lang="zh-CN" altLang="en-US"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服务个性化 </a:t>
              </a:r>
              <a:endParaRPr lang="zh-CN" altLang="en-US"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endParaRPr>
            </a:p>
          </p:txBody>
        </p:sp>
      </p:grpSp>
      <p:sp>
        <p:nvSpPr>
          <p:cNvPr id="22" name="小红书平北职场PPT20"/>
          <p:cNvSpPr txBox="1"/>
          <p:nvPr/>
        </p:nvSpPr>
        <p:spPr>
          <a:xfrm>
            <a:off x="4033814" y="4566043"/>
            <a:ext cx="530915" cy="400110"/>
          </a:xfrm>
          <a:prstGeom prst="rect">
            <a:avLst/>
          </a:prstGeom>
          <a:noFill/>
        </p:spPr>
        <p:txBody>
          <a:bodyPr wrap="none" rtlCol="0">
            <a:spAutoFit/>
          </a:bodyPr>
          <a:lstStyle/>
          <a:p>
            <a:r>
              <a:rPr lang="en-US" altLang="zh-CN" sz="2000" dirty="0">
                <a:solidFill>
                  <a:schemeClr val="bg1"/>
                </a:solidFill>
                <a:latin typeface="+mj-ea"/>
                <a:ea typeface="+mj-ea"/>
                <a:cs typeface="思源黑体 CN Normal" panose="020B0400000000000000" pitchFamily="34" charset="-122"/>
              </a:rPr>
              <a:t>03</a:t>
            </a:r>
            <a:endParaRPr lang="zh-CN" altLang="en-US" sz="2000" dirty="0">
              <a:solidFill>
                <a:schemeClr val="bg1"/>
              </a:solidFill>
              <a:latin typeface="+mj-ea"/>
              <a:ea typeface="+mj-ea"/>
              <a:cs typeface="思源黑体 CN Normal" panose="020B0400000000000000" pitchFamily="34" charset="-122"/>
            </a:endParaRPr>
          </a:p>
        </p:txBody>
      </p:sp>
      <p:sp>
        <p:nvSpPr>
          <p:cNvPr id="77" name="任意多边形: 形状 76"/>
          <p:cNvSpPr/>
          <p:nvPr/>
        </p:nvSpPr>
        <p:spPr>
          <a:xfrm>
            <a:off x="0" y="1132090"/>
            <a:ext cx="4235303" cy="1060710"/>
          </a:xfrm>
          <a:custGeom>
            <a:avLst/>
            <a:gdLst>
              <a:gd name="connsiteX0" fmla="*/ 12589 w 4235303"/>
              <a:gd name="connsiteY0" fmla="*/ 0 h 1060710"/>
              <a:gd name="connsiteX1" fmla="*/ 3704948 w 4235303"/>
              <a:gd name="connsiteY1" fmla="*/ 0 h 1060710"/>
              <a:gd name="connsiteX2" fmla="*/ 4235303 w 4235303"/>
              <a:gd name="connsiteY2" fmla="*/ 530355 h 1060710"/>
              <a:gd name="connsiteX3" fmla="*/ 3704948 w 4235303"/>
              <a:gd name="connsiteY3" fmla="*/ 1060710 h 1060710"/>
              <a:gd name="connsiteX4" fmla="*/ 12589 w 4235303"/>
              <a:gd name="connsiteY4" fmla="*/ 1060710 h 1060710"/>
              <a:gd name="connsiteX5" fmla="*/ 0 w 4235303"/>
              <a:gd name="connsiteY5" fmla="*/ 1059441 h 1060710"/>
              <a:gd name="connsiteX6" fmla="*/ 0 w 4235303"/>
              <a:gd name="connsiteY6" fmla="*/ 1269 h 106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5303" h="1060710">
                <a:moveTo>
                  <a:pt x="12589" y="0"/>
                </a:moveTo>
                <a:lnTo>
                  <a:pt x="3704948" y="0"/>
                </a:lnTo>
                <a:cubicBezTo>
                  <a:pt x="3997855" y="0"/>
                  <a:pt x="4235303" y="237448"/>
                  <a:pt x="4235303" y="530355"/>
                </a:cubicBezTo>
                <a:cubicBezTo>
                  <a:pt x="4235303" y="823262"/>
                  <a:pt x="3997855" y="1060710"/>
                  <a:pt x="3704948" y="1060710"/>
                </a:cubicBezTo>
                <a:lnTo>
                  <a:pt x="12589" y="1060710"/>
                </a:lnTo>
                <a:lnTo>
                  <a:pt x="0" y="1059441"/>
                </a:lnTo>
                <a:lnTo>
                  <a:pt x="0" y="1269"/>
                </a:lnTo>
                <a:close/>
              </a:path>
            </a:pathLst>
          </a:custGeom>
          <a:gradFill>
            <a:gsLst>
              <a:gs pos="0">
                <a:schemeClr val="accent1"/>
              </a:gs>
              <a:gs pos="66000">
                <a:schemeClr val="accent1">
                  <a:lumMod val="60000"/>
                  <a:lumOff val="40000"/>
                </a:schemeClr>
              </a:gs>
              <a:gs pos="88000">
                <a:schemeClr val="accent1">
                  <a:lumMod val="60000"/>
                  <a:lumOff val="40000"/>
                  <a:alpha val="0"/>
                </a:schemeClr>
              </a:gs>
            </a:gsLst>
            <a:lin ang="10800000" scaled="1"/>
          </a:gradFill>
          <a:ln w="25400">
            <a:noFill/>
          </a:ln>
          <a:effectLst>
            <a:outerShdw blurRad="266700" sx="102000" sy="102000" algn="ctr" rotWithShape="0">
              <a:schemeClr val="accent1">
                <a:lumMod val="60000"/>
                <a:lumOff val="40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cs typeface="思源黑体 CN Normal" panose="020B0400000000000000" pitchFamily="34" charset="-122"/>
            </a:endParaRPr>
          </a:p>
        </p:txBody>
      </p:sp>
      <p:sp>
        <p:nvSpPr>
          <p:cNvPr id="78" name="任意多边形: 形状 77"/>
          <p:cNvSpPr/>
          <p:nvPr/>
        </p:nvSpPr>
        <p:spPr>
          <a:xfrm flipH="1">
            <a:off x="7956697" y="1132090"/>
            <a:ext cx="4235303" cy="1060710"/>
          </a:xfrm>
          <a:custGeom>
            <a:avLst/>
            <a:gdLst>
              <a:gd name="connsiteX0" fmla="*/ 3704948 w 4235303"/>
              <a:gd name="connsiteY0" fmla="*/ 0 h 1060710"/>
              <a:gd name="connsiteX1" fmla="*/ 12589 w 4235303"/>
              <a:gd name="connsiteY1" fmla="*/ 0 h 1060710"/>
              <a:gd name="connsiteX2" fmla="*/ 0 w 4235303"/>
              <a:gd name="connsiteY2" fmla="*/ 1269 h 1060710"/>
              <a:gd name="connsiteX3" fmla="*/ 0 w 4235303"/>
              <a:gd name="connsiteY3" fmla="*/ 1059441 h 1060710"/>
              <a:gd name="connsiteX4" fmla="*/ 12589 w 4235303"/>
              <a:gd name="connsiteY4" fmla="*/ 1060710 h 1060710"/>
              <a:gd name="connsiteX5" fmla="*/ 3704948 w 4235303"/>
              <a:gd name="connsiteY5" fmla="*/ 1060710 h 1060710"/>
              <a:gd name="connsiteX6" fmla="*/ 4235303 w 4235303"/>
              <a:gd name="connsiteY6" fmla="*/ 530355 h 1060710"/>
              <a:gd name="connsiteX7" fmla="*/ 3704948 w 4235303"/>
              <a:gd name="connsiteY7" fmla="*/ 0 h 106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5303" h="1060710">
                <a:moveTo>
                  <a:pt x="3704948" y="0"/>
                </a:moveTo>
                <a:lnTo>
                  <a:pt x="12589" y="0"/>
                </a:lnTo>
                <a:lnTo>
                  <a:pt x="0" y="1269"/>
                </a:lnTo>
                <a:lnTo>
                  <a:pt x="0" y="1059441"/>
                </a:lnTo>
                <a:lnTo>
                  <a:pt x="12589" y="1060710"/>
                </a:lnTo>
                <a:lnTo>
                  <a:pt x="3704948" y="1060710"/>
                </a:lnTo>
                <a:cubicBezTo>
                  <a:pt x="3997855" y="1060710"/>
                  <a:pt x="4235303" y="823262"/>
                  <a:pt x="4235303" y="530355"/>
                </a:cubicBezTo>
                <a:cubicBezTo>
                  <a:pt x="4235303" y="237448"/>
                  <a:pt x="3997855" y="0"/>
                  <a:pt x="3704948" y="0"/>
                </a:cubicBezTo>
                <a:close/>
              </a:path>
            </a:pathLst>
          </a:custGeom>
          <a:gradFill>
            <a:gsLst>
              <a:gs pos="0">
                <a:schemeClr val="accent1"/>
              </a:gs>
              <a:gs pos="66000">
                <a:schemeClr val="accent1">
                  <a:lumMod val="60000"/>
                  <a:lumOff val="40000"/>
                </a:schemeClr>
              </a:gs>
              <a:gs pos="88000">
                <a:schemeClr val="accent1">
                  <a:lumMod val="60000"/>
                  <a:lumOff val="40000"/>
                  <a:alpha val="0"/>
                </a:schemeClr>
              </a:gs>
            </a:gsLst>
            <a:lin ang="10800000" scaled="1"/>
          </a:gradFill>
          <a:ln w="25400">
            <a:noFill/>
          </a:ln>
          <a:effectLst>
            <a:outerShdw blurRad="266700" sx="102000" sy="102000" algn="ctr" rotWithShape="0">
              <a:schemeClr val="accent1">
                <a:lumMod val="60000"/>
                <a:lumOff val="40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cs typeface="思源黑体 CN Normal" panose="020B0400000000000000" pitchFamily="34" charset="-122"/>
            </a:endParaRPr>
          </a:p>
        </p:txBody>
      </p:sp>
      <p:sp>
        <p:nvSpPr>
          <p:cNvPr id="24" name="小红书平北职场PPT22"/>
          <p:cNvSpPr/>
          <p:nvPr/>
        </p:nvSpPr>
        <p:spPr>
          <a:xfrm>
            <a:off x="4138555" y="1590445"/>
            <a:ext cx="144000" cy="144000"/>
          </a:xfrm>
          <a:prstGeom prst="ellipse">
            <a:avLst/>
          </a:prstGeom>
          <a:solidFill>
            <a:schemeClr val="bg1"/>
          </a:solidFill>
          <a:ln w="15875">
            <a:solidFill>
              <a:schemeClr val="accent1"/>
            </a:solidFill>
          </a:ln>
          <a:effectLst>
            <a:outerShdw blurRad="312039" dist="242697" dir="5400000" sx="89000" sy="89000" algn="t" rotWithShape="0">
              <a:schemeClr val="accent1">
                <a:lumMod val="60000"/>
                <a:lumOff val="40000"/>
                <a:alpha val="5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4889" tIns="37445" rIns="74889" bIns="37445" rtlCol="0" anchor="ctr"/>
          <a:lstStyle/>
          <a:p>
            <a:pPr algn="ctr"/>
            <a:endParaRPr lang="zh-CN" altLang="en-US" sz="1475"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5" name="小红书平北职场PPT23"/>
          <p:cNvSpPr/>
          <p:nvPr/>
        </p:nvSpPr>
        <p:spPr>
          <a:xfrm>
            <a:off x="7910454" y="1590445"/>
            <a:ext cx="144000" cy="144000"/>
          </a:xfrm>
          <a:prstGeom prst="ellipse">
            <a:avLst/>
          </a:prstGeom>
          <a:solidFill>
            <a:schemeClr val="bg1"/>
          </a:solidFill>
          <a:ln w="15875">
            <a:solidFill>
              <a:schemeClr val="accent1"/>
            </a:solidFill>
          </a:ln>
          <a:effectLst>
            <a:outerShdw blurRad="312039" dist="242697" dir="5400000" sx="89000" sy="89000" algn="t" rotWithShape="0">
              <a:schemeClr val="accent1">
                <a:lumMod val="60000"/>
                <a:lumOff val="40000"/>
                <a:alpha val="5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4889" tIns="37445" rIns="74889" bIns="37445" rtlCol="0" anchor="ctr"/>
          <a:lstStyle/>
          <a:p>
            <a:pPr algn="ctr"/>
            <a:endParaRPr lang="zh-CN" altLang="en-US" sz="1475"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6" name="小红书平北职场PPT24"/>
          <p:cNvGrpSpPr/>
          <p:nvPr/>
        </p:nvGrpSpPr>
        <p:grpSpPr>
          <a:xfrm>
            <a:off x="4482753" y="1318254"/>
            <a:ext cx="3257489" cy="657386"/>
            <a:chOff x="4480051" y="1333752"/>
            <a:chExt cx="3257489" cy="657386"/>
          </a:xfrm>
        </p:grpSpPr>
        <p:grpSp>
          <p:nvGrpSpPr>
            <p:cNvPr id="57" name="组合 56"/>
            <p:cNvGrpSpPr/>
            <p:nvPr/>
          </p:nvGrpSpPr>
          <p:grpSpPr>
            <a:xfrm>
              <a:off x="4480051" y="1333752"/>
              <a:ext cx="1080082" cy="657386"/>
              <a:chOff x="4286619" y="1229708"/>
              <a:chExt cx="2261447" cy="1376424"/>
            </a:xfrm>
          </p:grpSpPr>
          <p:sp>
            <p:nvSpPr>
              <p:cNvPr id="61" name="小红书平北职场PPT24-1"/>
              <p:cNvSpPr txBox="1"/>
              <p:nvPr/>
            </p:nvSpPr>
            <p:spPr>
              <a:xfrm>
                <a:off x="4286619" y="1229708"/>
                <a:ext cx="2261447" cy="1376424"/>
              </a:xfrm>
              <a:prstGeom prst="rect">
                <a:avLst/>
              </a:prstGeom>
              <a:noFill/>
            </p:spPr>
            <p:txBody>
              <a:bodyPr wrap="none" lIns="0" tIns="0" rIns="0" bIns="0" rtlCol="0">
                <a:spAutoFit/>
              </a:bodyPr>
              <a:lstStyle/>
              <a:p>
                <a:pPr algn="l"/>
                <a:r>
                  <a:rPr lang="zh-CN" altLang="en-US" sz="415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客户</a:t>
                </a:r>
                <a:endParaRPr lang="zh-CN" altLang="en-US" sz="415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62" name="小红书平北职场PPT24-2"/>
              <p:cNvSpPr txBox="1"/>
              <p:nvPr/>
            </p:nvSpPr>
            <p:spPr>
              <a:xfrm>
                <a:off x="4286619" y="1229708"/>
                <a:ext cx="2261447" cy="1376424"/>
              </a:xfrm>
              <a:prstGeom prst="rect">
                <a:avLst/>
              </a:prstGeom>
              <a:noFill/>
              <a:effectLst/>
            </p:spPr>
            <p:txBody>
              <a:bodyPr wrap="none" lIns="0" tIns="0" rIns="0" bIns="0" rtlCol="0">
                <a:spAutoFit/>
              </a:bodyPr>
              <a:lstStyle/>
              <a:p>
                <a:pPr algn="l"/>
                <a:r>
                  <a:rPr lang="zh-CN" altLang="en-US" sz="4150" dirty="0">
                    <a:ln w="22225">
                      <a:noFill/>
                    </a:ln>
                    <a:solidFill>
                      <a:schemeClr val="bg1"/>
                    </a:solidFill>
                    <a:latin typeface="+mj-ea"/>
                    <a:ea typeface="+mj-ea"/>
                    <a:cs typeface="思源黑体 CN Normal" panose="020B0400000000000000" pitchFamily="34" charset="-122"/>
                  </a:rPr>
                  <a:t>客户</a:t>
                </a:r>
                <a:endParaRPr lang="zh-CN" altLang="en-US" sz="4150" dirty="0">
                  <a:ln w="22225">
                    <a:noFill/>
                  </a:ln>
                  <a:solidFill>
                    <a:schemeClr val="bg1"/>
                  </a:solidFill>
                  <a:latin typeface="+mj-ea"/>
                  <a:ea typeface="+mj-ea"/>
                  <a:cs typeface="思源黑体 CN Normal" panose="020B0400000000000000" pitchFamily="34" charset="-122"/>
                </a:endParaRPr>
              </a:p>
            </p:txBody>
          </p:sp>
        </p:grpSp>
        <p:grpSp>
          <p:nvGrpSpPr>
            <p:cNvPr id="58" name="组合 57"/>
            <p:cNvGrpSpPr/>
            <p:nvPr/>
          </p:nvGrpSpPr>
          <p:grpSpPr>
            <a:xfrm>
              <a:off x="6657458" y="1333752"/>
              <a:ext cx="1080082" cy="657386"/>
              <a:chOff x="4286618" y="1229708"/>
              <a:chExt cx="2261449" cy="1376424"/>
            </a:xfrm>
          </p:grpSpPr>
          <p:sp>
            <p:nvSpPr>
              <p:cNvPr id="59" name="小红书平北职场PPT24-3"/>
              <p:cNvSpPr txBox="1"/>
              <p:nvPr/>
            </p:nvSpPr>
            <p:spPr>
              <a:xfrm>
                <a:off x="4286618" y="1229708"/>
                <a:ext cx="2261449" cy="1376424"/>
              </a:xfrm>
              <a:prstGeom prst="rect">
                <a:avLst/>
              </a:prstGeom>
              <a:noFill/>
            </p:spPr>
            <p:txBody>
              <a:bodyPr wrap="none" lIns="0" tIns="0" rIns="0" bIns="0" rtlCol="0">
                <a:spAutoFit/>
              </a:bodyPr>
              <a:lstStyle/>
              <a:p>
                <a:pPr algn="l"/>
                <a:r>
                  <a:rPr lang="zh-CN" altLang="en-US" sz="415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品牌</a:t>
                </a:r>
                <a:endParaRPr lang="zh-CN" altLang="en-US" sz="415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60" name="小红书平北职场PPT24-4"/>
              <p:cNvSpPr txBox="1"/>
              <p:nvPr/>
            </p:nvSpPr>
            <p:spPr>
              <a:xfrm>
                <a:off x="4286618" y="1229708"/>
                <a:ext cx="2261449" cy="1376424"/>
              </a:xfrm>
              <a:prstGeom prst="rect">
                <a:avLst/>
              </a:prstGeom>
              <a:noFill/>
              <a:effectLst/>
            </p:spPr>
            <p:txBody>
              <a:bodyPr wrap="none" lIns="0" tIns="0" rIns="0" bIns="0" rtlCol="0">
                <a:spAutoFit/>
              </a:bodyPr>
              <a:lstStyle/>
              <a:p>
                <a:pPr algn="l"/>
                <a:r>
                  <a:rPr lang="zh-CN" altLang="en-US" sz="4150" dirty="0">
                    <a:ln w="22225">
                      <a:noFill/>
                    </a:ln>
                    <a:solidFill>
                      <a:schemeClr val="bg1"/>
                    </a:solidFill>
                    <a:latin typeface="+mj-ea"/>
                    <a:ea typeface="+mj-ea"/>
                    <a:cs typeface="思源黑体 CN Normal" panose="020B0400000000000000" pitchFamily="34" charset="-122"/>
                  </a:rPr>
                  <a:t>品牌</a:t>
                </a:r>
                <a:endParaRPr lang="zh-CN" altLang="en-US" sz="4150" dirty="0">
                  <a:ln w="22225">
                    <a:noFill/>
                  </a:ln>
                  <a:solidFill>
                    <a:schemeClr val="bg1"/>
                  </a:solidFill>
                  <a:latin typeface="+mj-ea"/>
                  <a:ea typeface="+mj-ea"/>
                  <a:cs typeface="思源黑体 CN Normal" panose="020B0400000000000000" pitchFamily="34" charset="-122"/>
                </a:endParaRPr>
              </a:p>
            </p:txBody>
          </p:sp>
        </p:grpSp>
      </p:grpSp>
      <p:grpSp>
        <p:nvGrpSpPr>
          <p:cNvPr id="27" name="小红书平北职场PPT25"/>
          <p:cNvGrpSpPr/>
          <p:nvPr/>
        </p:nvGrpSpPr>
        <p:grpSpPr>
          <a:xfrm>
            <a:off x="861040" y="1266407"/>
            <a:ext cx="10489217" cy="792076"/>
            <a:chOff x="861040" y="1197223"/>
            <a:chExt cx="10489217" cy="792076"/>
          </a:xfrm>
        </p:grpSpPr>
        <p:sp>
          <p:nvSpPr>
            <p:cNvPr id="55" name="小红书平北职场PPT25-1"/>
            <p:cNvSpPr txBox="1"/>
            <p:nvPr/>
          </p:nvSpPr>
          <p:spPr>
            <a:xfrm>
              <a:off x="861040" y="1197223"/>
              <a:ext cx="3080140" cy="792076"/>
            </a:xfrm>
            <a:prstGeom prst="rect">
              <a:avLst/>
            </a:prstGeom>
            <a:noFill/>
          </p:spPr>
          <p:txBody>
            <a:bodyPr wrap="square">
              <a:spAutoFit/>
            </a:bodyPr>
            <a:lstStyle/>
            <a:p>
              <a:pPr algn="r">
                <a:lnSpc>
                  <a:spcPct val="130000"/>
                </a:lnSpc>
              </a:pPr>
              <a:r>
                <a:rPr lang="zh-CN" altLang="en-US" sz="1200" dirty="0">
                  <a:solidFill>
                    <a:schemeClr val="bg1"/>
                  </a:solidFill>
                  <a:cs typeface="思源黑体 CN Normal" panose="020B0400000000000000" pitchFamily="34" charset="-122"/>
                </a:rPr>
                <a:t>通过客户分级系统和明确的沟通策略，使客户更好地了解品牌在不同市场的特点，从而提升客户满意度和忠诚度</a:t>
              </a:r>
              <a:endParaRPr lang="zh-CN" altLang="en-US" sz="1200" dirty="0">
                <a:solidFill>
                  <a:schemeClr val="bg1"/>
                </a:solidFill>
                <a:cs typeface="思源黑体 CN Normal" panose="020B0400000000000000" pitchFamily="34" charset="-122"/>
              </a:endParaRPr>
            </a:p>
          </p:txBody>
        </p:sp>
        <p:sp>
          <p:nvSpPr>
            <p:cNvPr id="56" name="小红书平北职场PPT25-2"/>
            <p:cNvSpPr txBox="1"/>
            <p:nvPr/>
          </p:nvSpPr>
          <p:spPr>
            <a:xfrm flipH="1">
              <a:off x="8270117" y="1197223"/>
              <a:ext cx="3080140" cy="792076"/>
            </a:xfrm>
            <a:prstGeom prst="rect">
              <a:avLst/>
            </a:prstGeom>
            <a:noFill/>
          </p:spPr>
          <p:txBody>
            <a:bodyPr wrap="square">
              <a:spAutoFit/>
            </a:bodyPr>
            <a:lstStyle/>
            <a:p>
              <a:pPr>
                <a:lnSpc>
                  <a:spcPct val="130000"/>
                </a:lnSpc>
              </a:pPr>
              <a:r>
                <a:rPr lang="zh-CN" altLang="en-US" sz="1200" dirty="0">
                  <a:solidFill>
                    <a:schemeClr val="bg1"/>
                  </a:solidFill>
                  <a:cs typeface="思源黑体 CN Normal" panose="020B0400000000000000" pitchFamily="34" charset="-122"/>
                </a:rPr>
                <a:t>根据不同市场环境设定品牌目标和评估标准，利用多样化的市场分析来提升品牌价值，推动品牌持续发展</a:t>
              </a:r>
              <a:endParaRPr lang="zh-CN" altLang="en-US" sz="1200" dirty="0">
                <a:solidFill>
                  <a:schemeClr val="bg1"/>
                </a:solidFill>
                <a:cs typeface="思源黑体 CN Normal" panose="020B0400000000000000" pitchFamily="34" charset="-122"/>
              </a:endParaRPr>
            </a:p>
          </p:txBody>
        </p:sp>
      </p:grpSp>
      <p:grpSp>
        <p:nvGrpSpPr>
          <p:cNvPr id="28" name="小红书平北职场PPT26"/>
          <p:cNvGrpSpPr/>
          <p:nvPr/>
        </p:nvGrpSpPr>
        <p:grpSpPr>
          <a:xfrm>
            <a:off x="697800" y="2433487"/>
            <a:ext cx="10796400" cy="400110"/>
            <a:chOff x="716460" y="2273830"/>
            <a:chExt cx="10796400" cy="400110"/>
          </a:xfrm>
        </p:grpSpPr>
        <p:sp>
          <p:nvSpPr>
            <p:cNvPr id="53" name="小红书平北职场PPT26-1"/>
            <p:cNvSpPr txBox="1"/>
            <p:nvPr/>
          </p:nvSpPr>
          <p:spPr>
            <a:xfrm>
              <a:off x="716460" y="2273830"/>
              <a:ext cx="4031873" cy="400110"/>
            </a:xfrm>
            <a:prstGeom prst="rect">
              <a:avLst/>
            </a:prstGeom>
            <a:noFill/>
          </p:spPr>
          <p:txBody>
            <a:bodyPr wrap="none">
              <a:spAutoFit/>
            </a:bodyPr>
            <a:lstStyle/>
            <a:p>
              <a:pPr marL="0" marR="0" lvl="0" indent="0" algn="r" defTabSz="914400" rtl="0" eaLnBrk="1" fontAlgn="base"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gradFill>
                    <a:gsLst>
                      <a:gs pos="2000">
                        <a:schemeClr val="accent1">
                          <a:lumMod val="60000"/>
                          <a:lumOff val="40000"/>
                        </a:schemeClr>
                      </a:gs>
                      <a:gs pos="100000">
                        <a:schemeClr val="accent1"/>
                      </a:gs>
                    </a:gsLst>
                    <a:lin ang="2700000" scaled="1"/>
                  </a:gradFill>
                  <a:effectLst/>
                  <a:uLnTx/>
                  <a:uFillTx/>
                  <a:latin typeface="+mj-ea"/>
                  <a:ea typeface="+mj-ea"/>
                  <a:cs typeface="思源黑体 CN Normal" panose="020B0400000000000000" pitchFamily="34" charset="-122"/>
                </a:rPr>
                <a:t>以客户为中心的全方位接触点网络</a:t>
              </a:r>
              <a:endParaRPr kumimoji="0" lang="zh-CN" altLang="en-US" sz="2000" i="0" u="none" strike="noStrike" kern="1200" cap="none" spc="0" normalizeH="0" baseline="0" noProof="0" dirty="0">
                <a:ln>
                  <a:noFill/>
                </a:ln>
                <a:gradFill>
                  <a:gsLst>
                    <a:gs pos="2000">
                      <a:schemeClr val="accent1">
                        <a:lumMod val="60000"/>
                        <a:lumOff val="40000"/>
                      </a:schemeClr>
                    </a:gs>
                    <a:gs pos="100000">
                      <a:schemeClr val="accent1"/>
                    </a:gs>
                  </a:gsLst>
                  <a:lin ang="2700000" scaled="1"/>
                </a:gradFill>
                <a:effectLst/>
                <a:uLnTx/>
                <a:uFillTx/>
                <a:latin typeface="+mj-ea"/>
                <a:ea typeface="+mj-ea"/>
                <a:cs typeface="思源黑体 CN Normal" panose="020B0400000000000000" pitchFamily="34" charset="-122"/>
              </a:endParaRPr>
            </a:p>
          </p:txBody>
        </p:sp>
        <p:sp>
          <p:nvSpPr>
            <p:cNvPr id="54" name="小红书平北职场PPT26-2"/>
            <p:cNvSpPr txBox="1"/>
            <p:nvPr/>
          </p:nvSpPr>
          <p:spPr>
            <a:xfrm>
              <a:off x="7224507" y="2273830"/>
              <a:ext cx="4288353" cy="400110"/>
            </a:xfrm>
            <a:prstGeom prst="rect">
              <a:avLst/>
            </a:prstGeom>
            <a:noFill/>
          </p:spPr>
          <p:txBody>
            <a:bodyPr wrap="none">
              <a:spAutoFit/>
            </a:bodyPr>
            <a:lstStyle/>
            <a:p>
              <a:pPr algn="l" fontAlgn="base"/>
              <a:r>
                <a:rPr lang="zh-CN" altLang="en-US" sz="2000"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rPr>
                <a:t>高效服务支持的一体化库存管理体系</a:t>
              </a:r>
              <a:endParaRPr lang="zh-CN" altLang="en-US" sz="2000"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endParaRPr>
            </a:p>
          </p:txBody>
        </p:sp>
      </p:grpSp>
      <p:grpSp>
        <p:nvGrpSpPr>
          <p:cNvPr id="29" name="小红书平北职场PPT27"/>
          <p:cNvGrpSpPr/>
          <p:nvPr/>
        </p:nvGrpSpPr>
        <p:grpSpPr>
          <a:xfrm>
            <a:off x="4005007" y="3069561"/>
            <a:ext cx="4259123" cy="961788"/>
            <a:chOff x="3989509" y="3038564"/>
            <a:chExt cx="4259123" cy="961788"/>
          </a:xfrm>
        </p:grpSpPr>
        <p:sp>
          <p:nvSpPr>
            <p:cNvPr id="49" name="小红书平北职场PPT27-1"/>
            <p:cNvSpPr/>
            <p:nvPr/>
          </p:nvSpPr>
          <p:spPr>
            <a:xfrm>
              <a:off x="7471112" y="3038564"/>
              <a:ext cx="777520" cy="961788"/>
            </a:xfrm>
            <a:custGeom>
              <a:avLst/>
              <a:gdLst>
                <a:gd name="connsiteX0" fmla="*/ 527796 w 852198"/>
                <a:gd name="connsiteY0" fmla="*/ 442762 h 1054164"/>
                <a:gd name="connsiteX1" fmla="*/ 542514 w 852198"/>
                <a:gd name="connsiteY1" fmla="*/ 398782 h 1054164"/>
                <a:gd name="connsiteX2" fmla="*/ 530740 w 852198"/>
                <a:gd name="connsiteY2" fmla="*/ 360663 h 1054164"/>
                <a:gd name="connsiteX3" fmla="*/ 501296 w 852198"/>
                <a:gd name="connsiteY3" fmla="*/ 337210 h 1054164"/>
                <a:gd name="connsiteX4" fmla="*/ 427689 w 852198"/>
                <a:gd name="connsiteY4" fmla="*/ 328416 h 1054164"/>
                <a:gd name="connsiteX5" fmla="*/ 330530 w 852198"/>
                <a:gd name="connsiteY5" fmla="*/ 328416 h 1054164"/>
                <a:gd name="connsiteX6" fmla="*/ 330530 w 852198"/>
                <a:gd name="connsiteY6" fmla="*/ 472083 h 1054164"/>
                <a:gd name="connsiteX7" fmla="*/ 424747 w 852198"/>
                <a:gd name="connsiteY7" fmla="*/ 472083 h 1054164"/>
                <a:gd name="connsiteX8" fmla="*/ 489518 w 852198"/>
                <a:gd name="connsiteY8" fmla="*/ 466215 h 1054164"/>
                <a:gd name="connsiteX9" fmla="*/ 527796 w 852198"/>
                <a:gd name="connsiteY9" fmla="*/ 442762 h 1054164"/>
                <a:gd name="connsiteX10" fmla="*/ 527796 w 852198"/>
                <a:gd name="connsiteY10" fmla="*/ 442762 h 1054164"/>
                <a:gd name="connsiteX11" fmla="*/ 426099 w 852198"/>
                <a:gd name="connsiteY11" fmla="*/ 0 h 1054164"/>
                <a:gd name="connsiteX12" fmla="*/ 0 w 852198"/>
                <a:gd name="connsiteY12" fmla="*/ 137920 h 1054164"/>
                <a:gd name="connsiteX13" fmla="*/ 2158 w 852198"/>
                <a:gd name="connsiteY13" fmla="*/ 675000 h 1054164"/>
                <a:gd name="connsiteX14" fmla="*/ 2640 w 852198"/>
                <a:gd name="connsiteY14" fmla="*/ 680817 h 1054164"/>
                <a:gd name="connsiteX15" fmla="*/ 101792 w 852198"/>
                <a:gd name="connsiteY15" fmla="*/ 851865 h 1054164"/>
                <a:gd name="connsiteX16" fmla="*/ 385386 w 852198"/>
                <a:gd name="connsiteY16" fmla="*/ 1033319 h 1054164"/>
                <a:gd name="connsiteX17" fmla="*/ 407919 w 852198"/>
                <a:gd name="connsiteY17" fmla="*/ 1045511 h 1054164"/>
                <a:gd name="connsiteX18" fmla="*/ 423577 w 852198"/>
                <a:gd name="connsiteY18" fmla="*/ 1054164 h 1054164"/>
                <a:gd name="connsiteX19" fmla="*/ 442808 w 852198"/>
                <a:gd name="connsiteY19" fmla="*/ 1044213 h 1054164"/>
                <a:gd name="connsiteX20" fmla="*/ 750353 w 852198"/>
                <a:gd name="connsiteY20" fmla="*/ 851985 h 1054164"/>
                <a:gd name="connsiteX21" fmla="*/ 849511 w 852198"/>
                <a:gd name="connsiteY21" fmla="*/ 680857 h 1054164"/>
                <a:gd name="connsiteX22" fmla="*/ 852198 w 852198"/>
                <a:gd name="connsiteY22" fmla="*/ 137961 h 1054164"/>
                <a:gd name="connsiteX23" fmla="*/ 426099 w 852198"/>
                <a:gd name="connsiteY23" fmla="*/ 0 h 1054164"/>
                <a:gd name="connsiteX24" fmla="*/ 426099 w 852198"/>
                <a:gd name="connsiteY24" fmla="*/ 0 h 1054164"/>
                <a:gd name="connsiteX25" fmla="*/ 654386 w 852198"/>
                <a:gd name="connsiteY25" fmla="*/ 762343 h 1054164"/>
                <a:gd name="connsiteX26" fmla="*/ 636719 w 852198"/>
                <a:gd name="connsiteY26" fmla="*/ 777005 h 1054164"/>
                <a:gd name="connsiteX27" fmla="*/ 610224 w 852198"/>
                <a:gd name="connsiteY27" fmla="*/ 782867 h 1054164"/>
                <a:gd name="connsiteX28" fmla="*/ 580785 w 852198"/>
                <a:gd name="connsiteY28" fmla="*/ 774073 h 1054164"/>
                <a:gd name="connsiteX29" fmla="*/ 560171 w 852198"/>
                <a:gd name="connsiteY29" fmla="*/ 753549 h 1054164"/>
                <a:gd name="connsiteX30" fmla="*/ 536621 w 852198"/>
                <a:gd name="connsiteY30" fmla="*/ 715434 h 1054164"/>
                <a:gd name="connsiteX31" fmla="*/ 495403 w 852198"/>
                <a:gd name="connsiteY31" fmla="*/ 645067 h 1054164"/>
                <a:gd name="connsiteX32" fmla="*/ 454185 w 852198"/>
                <a:gd name="connsiteY32" fmla="*/ 586425 h 1054164"/>
                <a:gd name="connsiteX33" fmla="*/ 418853 w 852198"/>
                <a:gd name="connsiteY33" fmla="*/ 560044 h 1054164"/>
                <a:gd name="connsiteX34" fmla="*/ 371743 w 852198"/>
                <a:gd name="connsiteY34" fmla="*/ 551249 h 1054164"/>
                <a:gd name="connsiteX35" fmla="*/ 333472 w 852198"/>
                <a:gd name="connsiteY35" fmla="*/ 551249 h 1054164"/>
                <a:gd name="connsiteX36" fmla="*/ 333472 w 852198"/>
                <a:gd name="connsiteY36" fmla="*/ 718368 h 1054164"/>
                <a:gd name="connsiteX37" fmla="*/ 318749 w 852198"/>
                <a:gd name="connsiteY37" fmla="*/ 765277 h 1054164"/>
                <a:gd name="connsiteX38" fmla="*/ 280475 w 852198"/>
                <a:gd name="connsiteY38" fmla="*/ 779941 h 1054164"/>
                <a:gd name="connsiteX39" fmla="*/ 242204 w 852198"/>
                <a:gd name="connsiteY39" fmla="*/ 762355 h 1054164"/>
                <a:gd name="connsiteX40" fmla="*/ 227481 w 852198"/>
                <a:gd name="connsiteY40" fmla="*/ 715436 h 1054164"/>
                <a:gd name="connsiteX41" fmla="*/ 227481 w 852198"/>
                <a:gd name="connsiteY41" fmla="*/ 316682 h 1054164"/>
                <a:gd name="connsiteX42" fmla="*/ 242204 w 852198"/>
                <a:gd name="connsiteY42" fmla="*/ 266839 h 1054164"/>
                <a:gd name="connsiteX43" fmla="*/ 292254 w 852198"/>
                <a:gd name="connsiteY43" fmla="*/ 252171 h 1054164"/>
                <a:gd name="connsiteX44" fmla="*/ 463020 w 852198"/>
                <a:gd name="connsiteY44" fmla="*/ 252171 h 1054164"/>
                <a:gd name="connsiteX45" fmla="*/ 512308 w 852198"/>
                <a:gd name="connsiteY45" fmla="*/ 253525 h 1054164"/>
                <a:gd name="connsiteX46" fmla="*/ 524847 w 852198"/>
                <a:gd name="connsiteY46" fmla="*/ 255106 h 1054164"/>
                <a:gd name="connsiteX47" fmla="*/ 569004 w 852198"/>
                <a:gd name="connsiteY47" fmla="*/ 266839 h 1054164"/>
                <a:gd name="connsiteX48" fmla="*/ 613171 w 852198"/>
                <a:gd name="connsiteY48" fmla="*/ 296158 h 1054164"/>
                <a:gd name="connsiteX49" fmla="*/ 642615 w 852198"/>
                <a:gd name="connsiteY49" fmla="*/ 340133 h 1054164"/>
                <a:gd name="connsiteX50" fmla="*/ 651446 w 852198"/>
                <a:gd name="connsiteY50" fmla="*/ 392909 h 1054164"/>
                <a:gd name="connsiteX51" fmla="*/ 619064 w 852198"/>
                <a:gd name="connsiteY51" fmla="*/ 486734 h 1054164"/>
                <a:gd name="connsiteX52" fmla="*/ 518956 w 852198"/>
                <a:gd name="connsiteY52" fmla="*/ 536582 h 1054164"/>
                <a:gd name="connsiteX53" fmla="*/ 571958 w 852198"/>
                <a:gd name="connsiteY53" fmla="*/ 580558 h 1054164"/>
                <a:gd name="connsiteX54" fmla="*/ 616115 w 852198"/>
                <a:gd name="connsiteY54" fmla="*/ 642133 h 1054164"/>
                <a:gd name="connsiteX55" fmla="*/ 648498 w 852198"/>
                <a:gd name="connsiteY55" fmla="*/ 706638 h 1054164"/>
                <a:gd name="connsiteX56" fmla="*/ 660277 w 852198"/>
                <a:gd name="connsiteY56" fmla="*/ 741819 h 1054164"/>
                <a:gd name="connsiteX57" fmla="*/ 654386 w 852198"/>
                <a:gd name="connsiteY57" fmla="*/ 762343 h 1054164"/>
                <a:gd name="connsiteX58" fmla="*/ 654386 w 852198"/>
                <a:gd name="connsiteY58" fmla="*/ 762343 h 105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52198" h="1054164">
                  <a:moveTo>
                    <a:pt x="527796" y="442762"/>
                  </a:moveTo>
                  <a:cubicBezTo>
                    <a:pt x="536628" y="431034"/>
                    <a:pt x="542514" y="416371"/>
                    <a:pt x="542514" y="398782"/>
                  </a:cubicBezTo>
                  <a:cubicBezTo>
                    <a:pt x="542514" y="384120"/>
                    <a:pt x="536628" y="372390"/>
                    <a:pt x="530740" y="360663"/>
                  </a:cubicBezTo>
                  <a:cubicBezTo>
                    <a:pt x="524854" y="351869"/>
                    <a:pt x="513068" y="343074"/>
                    <a:pt x="501296" y="337210"/>
                  </a:cubicBezTo>
                  <a:cubicBezTo>
                    <a:pt x="489517" y="331344"/>
                    <a:pt x="463021" y="328416"/>
                    <a:pt x="427689" y="328416"/>
                  </a:cubicBezTo>
                  <a:lnTo>
                    <a:pt x="330530" y="328416"/>
                  </a:lnTo>
                  <a:lnTo>
                    <a:pt x="330530" y="472083"/>
                  </a:lnTo>
                  <a:lnTo>
                    <a:pt x="424747" y="472083"/>
                  </a:lnTo>
                  <a:cubicBezTo>
                    <a:pt x="451244" y="472083"/>
                    <a:pt x="471853" y="469150"/>
                    <a:pt x="489518" y="466215"/>
                  </a:cubicBezTo>
                  <a:cubicBezTo>
                    <a:pt x="504244" y="463287"/>
                    <a:pt x="518962" y="454492"/>
                    <a:pt x="527796" y="442762"/>
                  </a:cubicBezTo>
                  <a:lnTo>
                    <a:pt x="527796" y="442762"/>
                  </a:lnTo>
                  <a:close/>
                  <a:moveTo>
                    <a:pt x="426099" y="0"/>
                  </a:moveTo>
                  <a:lnTo>
                    <a:pt x="0" y="137920"/>
                  </a:lnTo>
                  <a:lnTo>
                    <a:pt x="2158" y="675000"/>
                  </a:lnTo>
                  <a:lnTo>
                    <a:pt x="2640" y="680817"/>
                  </a:lnTo>
                  <a:cubicBezTo>
                    <a:pt x="3415" y="684349"/>
                    <a:pt x="19802" y="769675"/>
                    <a:pt x="101792" y="851865"/>
                  </a:cubicBezTo>
                  <a:cubicBezTo>
                    <a:pt x="164833" y="915232"/>
                    <a:pt x="319417" y="997992"/>
                    <a:pt x="385386" y="1033319"/>
                  </a:cubicBezTo>
                  <a:cubicBezTo>
                    <a:pt x="395753" y="1038883"/>
                    <a:pt x="403480" y="1042991"/>
                    <a:pt x="407919" y="1045511"/>
                  </a:cubicBezTo>
                  <a:lnTo>
                    <a:pt x="423577" y="1054164"/>
                  </a:lnTo>
                  <a:lnTo>
                    <a:pt x="442808" y="1044213"/>
                  </a:lnTo>
                  <a:cubicBezTo>
                    <a:pt x="481369" y="1024941"/>
                    <a:pt x="677476" y="925116"/>
                    <a:pt x="750353" y="851985"/>
                  </a:cubicBezTo>
                  <a:cubicBezTo>
                    <a:pt x="832428" y="769714"/>
                    <a:pt x="848816" y="684393"/>
                    <a:pt x="849511" y="680857"/>
                  </a:cubicBezTo>
                  <a:lnTo>
                    <a:pt x="852198" y="137961"/>
                  </a:lnTo>
                  <a:lnTo>
                    <a:pt x="426099" y="0"/>
                  </a:lnTo>
                  <a:lnTo>
                    <a:pt x="426099" y="0"/>
                  </a:lnTo>
                  <a:close/>
                  <a:moveTo>
                    <a:pt x="654386" y="762343"/>
                  </a:moveTo>
                  <a:cubicBezTo>
                    <a:pt x="651447" y="768210"/>
                    <a:pt x="645556" y="774071"/>
                    <a:pt x="636719" y="777005"/>
                  </a:cubicBezTo>
                  <a:cubicBezTo>
                    <a:pt x="627889" y="779934"/>
                    <a:pt x="619059" y="782867"/>
                    <a:pt x="610224" y="782867"/>
                  </a:cubicBezTo>
                  <a:cubicBezTo>
                    <a:pt x="598450" y="782867"/>
                    <a:pt x="589615" y="779939"/>
                    <a:pt x="580785" y="774073"/>
                  </a:cubicBezTo>
                  <a:cubicBezTo>
                    <a:pt x="571950" y="768211"/>
                    <a:pt x="566062" y="762345"/>
                    <a:pt x="560171" y="753549"/>
                  </a:cubicBezTo>
                  <a:cubicBezTo>
                    <a:pt x="554288" y="744758"/>
                    <a:pt x="545448" y="733024"/>
                    <a:pt x="536621" y="715434"/>
                  </a:cubicBezTo>
                  <a:lnTo>
                    <a:pt x="495403" y="645067"/>
                  </a:lnTo>
                  <a:cubicBezTo>
                    <a:pt x="480680" y="618677"/>
                    <a:pt x="465964" y="598158"/>
                    <a:pt x="454185" y="586425"/>
                  </a:cubicBezTo>
                  <a:cubicBezTo>
                    <a:pt x="442406" y="574700"/>
                    <a:pt x="430628" y="565906"/>
                    <a:pt x="418853" y="560044"/>
                  </a:cubicBezTo>
                  <a:cubicBezTo>
                    <a:pt x="407074" y="554178"/>
                    <a:pt x="389408" y="551249"/>
                    <a:pt x="371743" y="551249"/>
                  </a:cubicBezTo>
                  <a:lnTo>
                    <a:pt x="333472" y="551249"/>
                  </a:lnTo>
                  <a:lnTo>
                    <a:pt x="333472" y="718368"/>
                  </a:lnTo>
                  <a:cubicBezTo>
                    <a:pt x="333472" y="738892"/>
                    <a:pt x="327584" y="753554"/>
                    <a:pt x="318749" y="765277"/>
                  </a:cubicBezTo>
                  <a:cubicBezTo>
                    <a:pt x="309919" y="774078"/>
                    <a:pt x="295196" y="779941"/>
                    <a:pt x="280475" y="779941"/>
                  </a:cubicBezTo>
                  <a:cubicBezTo>
                    <a:pt x="265757" y="779941"/>
                    <a:pt x="251036" y="774079"/>
                    <a:pt x="242204" y="762355"/>
                  </a:cubicBezTo>
                  <a:cubicBezTo>
                    <a:pt x="233369" y="753556"/>
                    <a:pt x="227481" y="735964"/>
                    <a:pt x="227481" y="715436"/>
                  </a:cubicBezTo>
                  <a:lnTo>
                    <a:pt x="227481" y="316682"/>
                  </a:lnTo>
                  <a:cubicBezTo>
                    <a:pt x="227481" y="293226"/>
                    <a:pt x="233367" y="275629"/>
                    <a:pt x="242204" y="266839"/>
                  </a:cubicBezTo>
                  <a:cubicBezTo>
                    <a:pt x="253978" y="258038"/>
                    <a:pt x="268699" y="252171"/>
                    <a:pt x="292254" y="252171"/>
                  </a:cubicBezTo>
                  <a:lnTo>
                    <a:pt x="463020" y="252171"/>
                  </a:lnTo>
                  <a:cubicBezTo>
                    <a:pt x="481203" y="252171"/>
                    <a:pt x="497636" y="252171"/>
                    <a:pt x="512308" y="253525"/>
                  </a:cubicBezTo>
                  <a:cubicBezTo>
                    <a:pt x="516640" y="253924"/>
                    <a:pt x="520822" y="254436"/>
                    <a:pt x="524847" y="255106"/>
                  </a:cubicBezTo>
                  <a:cubicBezTo>
                    <a:pt x="539570" y="258038"/>
                    <a:pt x="554286" y="260972"/>
                    <a:pt x="569004" y="266839"/>
                  </a:cubicBezTo>
                  <a:cubicBezTo>
                    <a:pt x="586676" y="272700"/>
                    <a:pt x="601397" y="284428"/>
                    <a:pt x="613171" y="296158"/>
                  </a:cubicBezTo>
                  <a:cubicBezTo>
                    <a:pt x="627894" y="307881"/>
                    <a:pt x="636729" y="322543"/>
                    <a:pt x="642615" y="340133"/>
                  </a:cubicBezTo>
                  <a:cubicBezTo>
                    <a:pt x="648503" y="354795"/>
                    <a:pt x="651446" y="375319"/>
                    <a:pt x="651446" y="392909"/>
                  </a:cubicBezTo>
                  <a:cubicBezTo>
                    <a:pt x="651446" y="433961"/>
                    <a:pt x="639671" y="463281"/>
                    <a:pt x="619064" y="486734"/>
                  </a:cubicBezTo>
                  <a:cubicBezTo>
                    <a:pt x="595509" y="510191"/>
                    <a:pt x="563118" y="527788"/>
                    <a:pt x="518956" y="536582"/>
                  </a:cubicBezTo>
                  <a:cubicBezTo>
                    <a:pt x="536628" y="545376"/>
                    <a:pt x="554291" y="560040"/>
                    <a:pt x="571958" y="580558"/>
                  </a:cubicBezTo>
                  <a:cubicBezTo>
                    <a:pt x="586676" y="601087"/>
                    <a:pt x="601397" y="621606"/>
                    <a:pt x="616115" y="642133"/>
                  </a:cubicBezTo>
                  <a:cubicBezTo>
                    <a:pt x="627894" y="662663"/>
                    <a:pt x="639671" y="683187"/>
                    <a:pt x="648498" y="706638"/>
                  </a:cubicBezTo>
                  <a:cubicBezTo>
                    <a:pt x="657328" y="724230"/>
                    <a:pt x="660277" y="735953"/>
                    <a:pt x="660277" y="741819"/>
                  </a:cubicBezTo>
                  <a:cubicBezTo>
                    <a:pt x="660279" y="747683"/>
                    <a:pt x="657330" y="756477"/>
                    <a:pt x="654386" y="762343"/>
                  </a:cubicBezTo>
                  <a:lnTo>
                    <a:pt x="654386" y="762343"/>
                  </a:lnTo>
                  <a:close/>
                </a:path>
              </a:pathLst>
            </a:custGeom>
            <a:gradFill>
              <a:gsLst>
                <a:gs pos="0">
                  <a:schemeClr val="accent1">
                    <a:lumMod val="60000"/>
                    <a:lumOff val="40000"/>
                  </a:schemeClr>
                </a:gs>
                <a:gs pos="100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nvGrpSpPr>
            <p:cNvPr id="50" name="组合 49"/>
            <p:cNvGrpSpPr/>
            <p:nvPr/>
          </p:nvGrpSpPr>
          <p:grpSpPr>
            <a:xfrm>
              <a:off x="3989509" y="3088899"/>
              <a:ext cx="861122" cy="861120"/>
              <a:chOff x="4079905" y="2309639"/>
              <a:chExt cx="680330" cy="680329"/>
            </a:xfrm>
          </p:grpSpPr>
          <p:sp>
            <p:nvSpPr>
              <p:cNvPr id="51" name="小红书平北职场PPT27-2"/>
              <p:cNvSpPr/>
              <p:nvPr/>
            </p:nvSpPr>
            <p:spPr>
              <a:xfrm>
                <a:off x="4249987" y="2309639"/>
                <a:ext cx="340165" cy="340165"/>
              </a:xfrm>
              <a:custGeom>
                <a:avLst/>
                <a:gdLst>
                  <a:gd name="connsiteX0" fmla="*/ 0 w 340165"/>
                  <a:gd name="connsiteY0" fmla="*/ 170083 h 340165"/>
                  <a:gd name="connsiteX1" fmla="*/ 170083 w 340165"/>
                  <a:gd name="connsiteY1" fmla="*/ 340165 h 340165"/>
                  <a:gd name="connsiteX2" fmla="*/ 340165 w 340165"/>
                  <a:gd name="connsiteY2" fmla="*/ 170083 h 340165"/>
                  <a:gd name="connsiteX3" fmla="*/ 170083 w 340165"/>
                  <a:gd name="connsiteY3" fmla="*/ 0 h 340165"/>
                  <a:gd name="connsiteX4" fmla="*/ 0 w 340165"/>
                  <a:gd name="connsiteY4" fmla="*/ 170083 h 340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165" h="340165">
                    <a:moveTo>
                      <a:pt x="0" y="170083"/>
                    </a:moveTo>
                    <a:cubicBezTo>
                      <a:pt x="0" y="264016"/>
                      <a:pt x="76149" y="340165"/>
                      <a:pt x="170083" y="340165"/>
                    </a:cubicBezTo>
                    <a:cubicBezTo>
                      <a:pt x="264016" y="340165"/>
                      <a:pt x="340165" y="264016"/>
                      <a:pt x="340165" y="170083"/>
                    </a:cubicBezTo>
                    <a:cubicBezTo>
                      <a:pt x="340165" y="76149"/>
                      <a:pt x="264016" y="0"/>
                      <a:pt x="170083" y="0"/>
                    </a:cubicBezTo>
                    <a:cubicBezTo>
                      <a:pt x="76149" y="0"/>
                      <a:pt x="0" y="76149"/>
                      <a:pt x="0" y="170083"/>
                    </a:cubicBezTo>
                    <a:close/>
                  </a:path>
                </a:pathLst>
              </a:custGeom>
              <a:gradFill>
                <a:gsLst>
                  <a:gs pos="0">
                    <a:schemeClr val="accent1">
                      <a:lumMod val="60000"/>
                      <a:lumOff val="40000"/>
                    </a:schemeClr>
                  </a:gs>
                  <a:gs pos="100000">
                    <a:schemeClr val="accent1"/>
                  </a:gs>
                </a:gsLst>
                <a:lin ang="0" scaled="1"/>
              </a:gradFill>
              <a:ln w="9525">
                <a:noFill/>
                <a:round/>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52" name="小红书平北职场PPT27-3"/>
              <p:cNvSpPr/>
              <p:nvPr/>
            </p:nvSpPr>
            <p:spPr>
              <a:xfrm>
                <a:off x="4079905" y="2654056"/>
                <a:ext cx="680330" cy="335912"/>
              </a:xfrm>
              <a:custGeom>
                <a:avLst/>
                <a:gdLst>
                  <a:gd name="connsiteX0" fmla="*/ 394151 w 680330"/>
                  <a:gd name="connsiteY0" fmla="*/ 0 h 335912"/>
                  <a:gd name="connsiteX1" fmla="*/ 340165 w 680330"/>
                  <a:gd name="connsiteY1" fmla="*/ 53986 h 335912"/>
                  <a:gd name="connsiteX2" fmla="*/ 286179 w 680330"/>
                  <a:gd name="connsiteY2" fmla="*/ 0 h 335912"/>
                  <a:gd name="connsiteX3" fmla="*/ 0 w 680330"/>
                  <a:gd name="connsiteY3" fmla="*/ 335913 h 335912"/>
                  <a:gd name="connsiteX4" fmla="*/ 680330 w 680330"/>
                  <a:gd name="connsiteY4" fmla="*/ 335913 h 335912"/>
                  <a:gd name="connsiteX5" fmla="*/ 394151 w 680330"/>
                  <a:gd name="connsiteY5" fmla="*/ 0 h 335912"/>
                  <a:gd name="connsiteX6" fmla="*/ 340165 w 680330"/>
                  <a:gd name="connsiteY6" fmla="*/ 287318 h 335912"/>
                  <a:gd name="connsiteX7" fmla="*/ 281927 w 680330"/>
                  <a:gd name="connsiteY7" fmla="*/ 229080 h 335912"/>
                  <a:gd name="connsiteX8" fmla="*/ 340165 w 680330"/>
                  <a:gd name="connsiteY8" fmla="*/ 54214 h 335912"/>
                  <a:gd name="connsiteX9" fmla="*/ 398403 w 680330"/>
                  <a:gd name="connsiteY9" fmla="*/ 229156 h 335912"/>
                  <a:gd name="connsiteX10" fmla="*/ 340165 w 680330"/>
                  <a:gd name="connsiteY10" fmla="*/ 287318 h 33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0330" h="335912">
                    <a:moveTo>
                      <a:pt x="394151" y="0"/>
                    </a:moveTo>
                    <a:lnTo>
                      <a:pt x="340165" y="53986"/>
                    </a:lnTo>
                    <a:lnTo>
                      <a:pt x="286179" y="0"/>
                    </a:lnTo>
                    <a:cubicBezTo>
                      <a:pt x="123993" y="25892"/>
                      <a:pt x="0" y="166438"/>
                      <a:pt x="0" y="335913"/>
                    </a:cubicBezTo>
                    <a:lnTo>
                      <a:pt x="680330" y="335913"/>
                    </a:lnTo>
                    <a:cubicBezTo>
                      <a:pt x="680330" y="166438"/>
                      <a:pt x="556337" y="25892"/>
                      <a:pt x="394151" y="0"/>
                    </a:cubicBezTo>
                    <a:close/>
                    <a:moveTo>
                      <a:pt x="340165" y="287318"/>
                    </a:moveTo>
                    <a:lnTo>
                      <a:pt x="281927" y="229080"/>
                    </a:lnTo>
                    <a:lnTo>
                      <a:pt x="340165" y="54214"/>
                    </a:lnTo>
                    <a:lnTo>
                      <a:pt x="398403" y="229156"/>
                    </a:lnTo>
                    <a:lnTo>
                      <a:pt x="340165" y="287318"/>
                    </a:lnTo>
                    <a:close/>
                  </a:path>
                </a:pathLst>
              </a:custGeom>
              <a:gradFill>
                <a:gsLst>
                  <a:gs pos="0">
                    <a:schemeClr val="accent1">
                      <a:lumMod val="60000"/>
                      <a:lumOff val="40000"/>
                    </a:schemeClr>
                  </a:gs>
                  <a:gs pos="100000">
                    <a:schemeClr val="accent1"/>
                  </a:gs>
                </a:gsLst>
                <a:lin ang="0" scaled="1"/>
              </a:gradFill>
              <a:ln w="9525">
                <a:noFill/>
                <a:round/>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任意多边形: 形状 56"/>
          <p:cNvSpPr/>
          <p:nvPr/>
        </p:nvSpPr>
        <p:spPr>
          <a:xfrm flipH="1">
            <a:off x="42672" y="2202502"/>
            <a:ext cx="12149328" cy="1428750"/>
          </a:xfrm>
          <a:custGeom>
            <a:avLst/>
            <a:gdLst>
              <a:gd name="connsiteX0" fmla="*/ 12149328 w 12149328"/>
              <a:gd name="connsiteY0" fmla="*/ 0 h 1428750"/>
              <a:gd name="connsiteX1" fmla="*/ 10798289 w 12149328"/>
              <a:gd name="connsiteY1" fmla="*/ 0 h 1428750"/>
              <a:gd name="connsiteX2" fmla="*/ 28789 w 12149328"/>
              <a:gd name="connsiteY2" fmla="*/ 0 h 1428750"/>
              <a:gd name="connsiteX3" fmla="*/ 0 w 12149328"/>
              <a:gd name="connsiteY3" fmla="*/ 0 h 1428750"/>
              <a:gd name="connsiteX4" fmla="*/ 0 w 12149328"/>
              <a:gd name="connsiteY4" fmla="*/ 1428750 h 1428750"/>
              <a:gd name="connsiteX5" fmla="*/ 877133 w 12149328"/>
              <a:gd name="connsiteY5" fmla="*/ 1428750 h 1428750"/>
              <a:gd name="connsiteX6" fmla="*/ 11851513 w 12149328"/>
              <a:gd name="connsiteY6" fmla="*/ 1428750 h 1428750"/>
              <a:gd name="connsiteX7" fmla="*/ 12149328 w 12149328"/>
              <a:gd name="connsiteY7" fmla="*/ 142875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49328" h="1428750">
                <a:moveTo>
                  <a:pt x="12149328" y="0"/>
                </a:moveTo>
                <a:lnTo>
                  <a:pt x="10798289" y="0"/>
                </a:lnTo>
                <a:cubicBezTo>
                  <a:pt x="1990008" y="0"/>
                  <a:pt x="338456" y="0"/>
                  <a:pt x="28789" y="0"/>
                </a:cubicBezTo>
                <a:lnTo>
                  <a:pt x="0" y="0"/>
                </a:lnTo>
                <a:lnTo>
                  <a:pt x="0" y="1428750"/>
                </a:lnTo>
                <a:lnTo>
                  <a:pt x="877133" y="1428750"/>
                </a:lnTo>
                <a:cubicBezTo>
                  <a:pt x="5412997" y="1428750"/>
                  <a:pt x="9005763" y="1428750"/>
                  <a:pt x="11851513" y="1428750"/>
                </a:cubicBezTo>
                <a:lnTo>
                  <a:pt x="12149328" y="1428750"/>
                </a:lnTo>
                <a:close/>
              </a:path>
            </a:pathLst>
          </a:cu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ru-RU"/>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ru-RU"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2" name="小红书平北职场PPT1-2"/>
          <p:cNvSpPr txBox="1"/>
          <p:nvPr/>
        </p:nvSpPr>
        <p:spPr>
          <a:xfrm flipH="1">
            <a:off x="6324346" y="2450601"/>
            <a:ext cx="4623816" cy="994669"/>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defTabSz="2438400">
              <a:lnSpc>
                <a:spcPct val="150000"/>
              </a:lnSpc>
              <a:buNone/>
            </a:pPr>
            <a:r>
              <a:rPr lang="zh-CN" altLang="en-US" sz="1200" dirty="0">
                <a:latin typeface="+mn-ea"/>
                <a:cs typeface="思源黑体 CN Normal" panose="020B0400000000000000" pitchFamily="34" charset="-122"/>
              </a:rPr>
              <a:t>市场占有率未达预期，产品质量存在性能不稳定和外观瑕疵等问题，影响用户体验和品牌形象。多部门协作沟通不畅，导致产品定位与市场需求不匹配</a:t>
            </a:r>
            <a:endParaRPr lang="en-US" sz="1100" dirty="0">
              <a:latin typeface="+mn-ea"/>
              <a:cs typeface="思源黑体 CN Normal" panose="020B0400000000000000" pitchFamily="34" charset="-122"/>
            </a:endParaRPr>
          </a:p>
        </p:txBody>
      </p:sp>
      <p:sp>
        <p:nvSpPr>
          <p:cNvPr id="48" name="任意多边形: 形状 47"/>
          <p:cNvSpPr/>
          <p:nvPr/>
        </p:nvSpPr>
        <p:spPr bwMode="auto">
          <a:xfrm rot="10800000" flipH="1">
            <a:off x="-1" y="1974321"/>
            <a:ext cx="5650190" cy="1888760"/>
          </a:xfrm>
          <a:custGeom>
            <a:avLst/>
            <a:gdLst>
              <a:gd name="connsiteX0" fmla="*/ 4728559 w 5650190"/>
              <a:gd name="connsiteY0" fmla="*/ 1888374 h 1888760"/>
              <a:gd name="connsiteX1" fmla="*/ 4747035 w 5650190"/>
              <a:gd name="connsiteY1" fmla="*/ 1878894 h 1888760"/>
              <a:gd name="connsiteX2" fmla="*/ 5625781 w 5650190"/>
              <a:gd name="connsiteY2" fmla="*/ 1001346 h 1888760"/>
              <a:gd name="connsiteX3" fmla="*/ 5625781 w 5650190"/>
              <a:gd name="connsiteY3" fmla="*/ 887589 h 1888760"/>
              <a:gd name="connsiteX4" fmla="*/ 4747035 w 5650190"/>
              <a:gd name="connsiteY4" fmla="*/ 10041 h 1888760"/>
              <a:gd name="connsiteX5" fmla="*/ 4687367 w 5650190"/>
              <a:gd name="connsiteY5" fmla="*/ 31709 h 1888760"/>
              <a:gd name="connsiteX6" fmla="*/ 4687367 w 5650190"/>
              <a:gd name="connsiteY6" fmla="*/ 215886 h 1888760"/>
              <a:gd name="connsiteX7" fmla="*/ 31235 w 5650190"/>
              <a:gd name="connsiteY7" fmla="*/ 215886 h 1888760"/>
              <a:gd name="connsiteX8" fmla="*/ 0 w 5650190"/>
              <a:gd name="connsiteY8" fmla="*/ 215886 h 1888760"/>
              <a:gd name="connsiteX9" fmla="*/ 0 w 5650190"/>
              <a:gd name="connsiteY9" fmla="*/ 1667632 h 1888760"/>
              <a:gd name="connsiteX10" fmla="*/ 387056 w 5650190"/>
              <a:gd name="connsiteY10" fmla="*/ 1667632 h 1888760"/>
              <a:gd name="connsiteX11" fmla="*/ 4687367 w 5650190"/>
              <a:gd name="connsiteY11" fmla="*/ 1667632 h 1888760"/>
              <a:gd name="connsiteX12" fmla="*/ 4687367 w 5650190"/>
              <a:gd name="connsiteY12" fmla="*/ 1851809 h 1888760"/>
              <a:gd name="connsiteX13" fmla="*/ 4728559 w 5650190"/>
              <a:gd name="connsiteY13" fmla="*/ 1888374 h 188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0190" h="1888760">
                <a:moveTo>
                  <a:pt x="4728559" y="1888374"/>
                </a:moveTo>
                <a:cubicBezTo>
                  <a:pt x="4735170" y="1887358"/>
                  <a:pt x="4741611" y="1884311"/>
                  <a:pt x="4747035" y="1878894"/>
                </a:cubicBezTo>
                <a:cubicBezTo>
                  <a:pt x="5625781" y="1001346"/>
                  <a:pt x="5625781" y="1001346"/>
                  <a:pt x="5625781" y="1001346"/>
                </a:cubicBezTo>
                <a:cubicBezTo>
                  <a:pt x="5658327" y="968844"/>
                  <a:pt x="5658327" y="920091"/>
                  <a:pt x="5625781" y="887589"/>
                </a:cubicBezTo>
                <a:cubicBezTo>
                  <a:pt x="4747035" y="10041"/>
                  <a:pt x="4747035" y="10041"/>
                  <a:pt x="4747035" y="10041"/>
                </a:cubicBezTo>
                <a:cubicBezTo>
                  <a:pt x="4725338" y="-11627"/>
                  <a:pt x="4687367" y="4624"/>
                  <a:pt x="4687367" y="31709"/>
                </a:cubicBezTo>
                <a:cubicBezTo>
                  <a:pt x="4687367" y="215886"/>
                  <a:pt x="4687367" y="215886"/>
                  <a:pt x="4687367" y="215886"/>
                </a:cubicBezTo>
                <a:cubicBezTo>
                  <a:pt x="1139838" y="215886"/>
                  <a:pt x="252956" y="215886"/>
                  <a:pt x="31235" y="215886"/>
                </a:cubicBezTo>
                <a:lnTo>
                  <a:pt x="0" y="215886"/>
                </a:lnTo>
                <a:lnTo>
                  <a:pt x="0" y="1667632"/>
                </a:lnTo>
                <a:lnTo>
                  <a:pt x="387056" y="1667632"/>
                </a:lnTo>
                <a:cubicBezTo>
                  <a:pt x="4687367" y="1667632"/>
                  <a:pt x="4687367" y="1667632"/>
                  <a:pt x="4687367" y="1667632"/>
                </a:cubicBezTo>
                <a:cubicBezTo>
                  <a:pt x="4687367" y="1851809"/>
                  <a:pt x="4687367" y="1851809"/>
                  <a:pt x="4687367" y="1851809"/>
                </a:cubicBezTo>
                <a:cubicBezTo>
                  <a:pt x="4687367" y="1876186"/>
                  <a:pt x="4708726" y="1891421"/>
                  <a:pt x="4728559" y="1888374"/>
                </a:cubicBezTo>
                <a:close/>
              </a:path>
            </a:pathLst>
          </a:custGeom>
          <a:gradFill flip="none" rotWithShape="1">
            <a:gsLst>
              <a:gs pos="0">
                <a:schemeClr val="accent1">
                  <a:lumMod val="60000"/>
                  <a:lumOff val="40000"/>
                </a:schemeClr>
              </a:gs>
              <a:gs pos="100000">
                <a:schemeClr val="accent1"/>
              </a:gs>
            </a:gsLst>
            <a:lin ang="10800000" scaled="1"/>
            <a:tileRect/>
          </a:gradFill>
          <a:ln w="9525">
            <a:solidFill>
              <a:schemeClr val="bg1"/>
            </a:solid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35" name="小红书平北职场PPT1-4"/>
          <p:cNvSpPr txBox="1"/>
          <p:nvPr/>
        </p:nvSpPr>
        <p:spPr>
          <a:xfrm flipH="1">
            <a:off x="6968706" y="3945655"/>
            <a:ext cx="4434840" cy="730301"/>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defTabSz="2438400">
              <a:lnSpc>
                <a:spcPct val="150000"/>
              </a:lnSpc>
              <a:buNone/>
            </a:pPr>
            <a:r>
              <a:rPr lang="zh-CN" altLang="en-US" sz="1200" dirty="0">
                <a:latin typeface="+mn-ea"/>
                <a:cs typeface="思源黑体 CN Normal" panose="020B0400000000000000" pitchFamily="34" charset="-122"/>
              </a:rPr>
              <a:t>前期准备不足导致进度滞后，产品创新性不足，缺乏竞争优势。团队压力大，士气低落，部分成员有离职意向</a:t>
            </a:r>
            <a:endParaRPr lang="en-US" altLang="zh-CN" sz="1200" dirty="0">
              <a:latin typeface="+mn-ea"/>
              <a:cs typeface="思源黑体 CN Normal" panose="020B0400000000000000" pitchFamily="34" charset="-122"/>
            </a:endParaRPr>
          </a:p>
        </p:txBody>
      </p:sp>
      <p:sp>
        <p:nvSpPr>
          <p:cNvPr id="59" name="任意多边形: 形状 58"/>
          <p:cNvSpPr/>
          <p:nvPr/>
        </p:nvSpPr>
        <p:spPr>
          <a:xfrm flipH="1">
            <a:off x="42672" y="4906843"/>
            <a:ext cx="12149328" cy="1448011"/>
          </a:xfrm>
          <a:custGeom>
            <a:avLst/>
            <a:gdLst>
              <a:gd name="connsiteX0" fmla="*/ 12149328 w 12149328"/>
              <a:gd name="connsiteY0" fmla="*/ 0 h 1448011"/>
              <a:gd name="connsiteX1" fmla="*/ 10798289 w 12149328"/>
              <a:gd name="connsiteY1" fmla="*/ 0 h 1448011"/>
              <a:gd name="connsiteX2" fmla="*/ 28789 w 12149328"/>
              <a:gd name="connsiteY2" fmla="*/ 0 h 1448011"/>
              <a:gd name="connsiteX3" fmla="*/ 0 w 12149328"/>
              <a:gd name="connsiteY3" fmla="*/ 0 h 1448011"/>
              <a:gd name="connsiteX4" fmla="*/ 0 w 12149328"/>
              <a:gd name="connsiteY4" fmla="*/ 1448011 h 1448011"/>
              <a:gd name="connsiteX5" fmla="*/ 877133 w 12149328"/>
              <a:gd name="connsiteY5" fmla="*/ 1448011 h 1448011"/>
              <a:gd name="connsiteX6" fmla="*/ 11851513 w 12149328"/>
              <a:gd name="connsiteY6" fmla="*/ 1448011 h 1448011"/>
              <a:gd name="connsiteX7" fmla="*/ 12149328 w 12149328"/>
              <a:gd name="connsiteY7" fmla="*/ 1448011 h 144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49328" h="1448011">
                <a:moveTo>
                  <a:pt x="12149328" y="0"/>
                </a:moveTo>
                <a:lnTo>
                  <a:pt x="10798289" y="0"/>
                </a:lnTo>
                <a:cubicBezTo>
                  <a:pt x="1990008" y="0"/>
                  <a:pt x="338456" y="0"/>
                  <a:pt x="28789" y="0"/>
                </a:cubicBezTo>
                <a:lnTo>
                  <a:pt x="0" y="0"/>
                </a:lnTo>
                <a:lnTo>
                  <a:pt x="0" y="1448011"/>
                </a:lnTo>
                <a:lnTo>
                  <a:pt x="877133" y="1448011"/>
                </a:lnTo>
                <a:cubicBezTo>
                  <a:pt x="5412997" y="1448011"/>
                  <a:pt x="9005763" y="1448011"/>
                  <a:pt x="11851513" y="1448011"/>
                </a:cubicBezTo>
                <a:lnTo>
                  <a:pt x="12149328" y="1448011"/>
                </a:lnTo>
                <a:close/>
              </a:path>
            </a:pathLst>
          </a:cu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ru-RU"/>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ru-RU"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8" name="小红书平北职场PPT1-6"/>
          <p:cNvSpPr txBox="1"/>
          <p:nvPr/>
        </p:nvSpPr>
        <p:spPr>
          <a:xfrm flipH="1">
            <a:off x="6634591" y="5402436"/>
            <a:ext cx="4926038" cy="731477"/>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438400">
              <a:lnSpc>
                <a:spcPct val="150000"/>
              </a:lnSpc>
            </a:pPr>
            <a:r>
              <a:rPr lang="zh-CN" altLang="en-US" sz="1200" dirty="0">
                <a:latin typeface="+mn-ea"/>
                <a:cs typeface="思源黑体 CN Normal" panose="020B0400000000000000" pitchFamily="34" charset="-122"/>
              </a:rPr>
              <a:t>成本估算不准确导致超支，关键技术难题仍未完全突破，致使项目进度延迟。产品功能和操作未完全满足客户期望，客户满意度较低</a:t>
            </a:r>
            <a:endParaRPr lang="en-US" altLang="zh-CN" sz="1200" dirty="0">
              <a:latin typeface="+mn-ea"/>
              <a:cs typeface="思源黑体 CN Normal" panose="020B0400000000000000" pitchFamily="34" charset="-122"/>
            </a:endParaRPr>
          </a:p>
        </p:txBody>
      </p:sp>
      <p:sp>
        <p:nvSpPr>
          <p:cNvPr id="50" name="任意多边形: 形状 49"/>
          <p:cNvSpPr/>
          <p:nvPr/>
        </p:nvSpPr>
        <p:spPr bwMode="auto">
          <a:xfrm rot="10800000" flipH="1">
            <a:off x="-1" y="4684056"/>
            <a:ext cx="5650190" cy="1898782"/>
          </a:xfrm>
          <a:custGeom>
            <a:avLst/>
            <a:gdLst>
              <a:gd name="connsiteX0" fmla="*/ 4728559 w 5650190"/>
              <a:gd name="connsiteY0" fmla="*/ 1897831 h 1898782"/>
              <a:gd name="connsiteX1" fmla="*/ 4747035 w 5650190"/>
              <a:gd name="connsiteY1" fmla="*/ 1887457 h 1898782"/>
              <a:gd name="connsiteX2" fmla="*/ 5625781 w 5650190"/>
              <a:gd name="connsiteY2" fmla="*/ 1005827 h 1898782"/>
              <a:gd name="connsiteX3" fmla="*/ 5625781 w 5650190"/>
              <a:gd name="connsiteY3" fmla="*/ 891542 h 1898782"/>
              <a:gd name="connsiteX4" fmla="*/ 4747035 w 5650190"/>
              <a:gd name="connsiteY4" fmla="*/ 9912 h 1898782"/>
              <a:gd name="connsiteX5" fmla="*/ 4687367 w 5650190"/>
              <a:gd name="connsiteY5" fmla="*/ 37123 h 1898782"/>
              <a:gd name="connsiteX6" fmla="*/ 4687367 w 5650190"/>
              <a:gd name="connsiteY6" fmla="*/ 222157 h 1898782"/>
              <a:gd name="connsiteX7" fmla="*/ 31235 w 5650190"/>
              <a:gd name="connsiteY7" fmla="*/ 222157 h 1898782"/>
              <a:gd name="connsiteX8" fmla="*/ 0 w 5650190"/>
              <a:gd name="connsiteY8" fmla="*/ 222157 h 1898782"/>
              <a:gd name="connsiteX9" fmla="*/ 0 w 5650190"/>
              <a:gd name="connsiteY9" fmla="*/ 1680656 h 1898782"/>
              <a:gd name="connsiteX10" fmla="*/ 387056 w 5650190"/>
              <a:gd name="connsiteY10" fmla="*/ 1680656 h 1898782"/>
              <a:gd name="connsiteX11" fmla="*/ 4687367 w 5650190"/>
              <a:gd name="connsiteY11" fmla="*/ 1680655 h 1898782"/>
              <a:gd name="connsiteX12" fmla="*/ 4687367 w 5650190"/>
              <a:gd name="connsiteY12" fmla="*/ 1865689 h 1898782"/>
              <a:gd name="connsiteX13" fmla="*/ 4728559 w 5650190"/>
              <a:gd name="connsiteY13" fmla="*/ 1897831 h 189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0190" h="1898782">
                <a:moveTo>
                  <a:pt x="4728559" y="1897831"/>
                </a:moveTo>
                <a:cubicBezTo>
                  <a:pt x="4735170" y="1896301"/>
                  <a:pt x="4741611" y="1892899"/>
                  <a:pt x="4747035" y="1887457"/>
                </a:cubicBezTo>
                <a:cubicBezTo>
                  <a:pt x="5625781" y="1005827"/>
                  <a:pt x="5625781" y="1005827"/>
                  <a:pt x="5625781" y="1005827"/>
                </a:cubicBezTo>
                <a:cubicBezTo>
                  <a:pt x="5658327" y="978617"/>
                  <a:pt x="5658327" y="924195"/>
                  <a:pt x="5625781" y="891542"/>
                </a:cubicBezTo>
                <a:cubicBezTo>
                  <a:pt x="4747035" y="9912"/>
                  <a:pt x="4747035" y="9912"/>
                  <a:pt x="4747035" y="9912"/>
                </a:cubicBezTo>
                <a:cubicBezTo>
                  <a:pt x="4725338" y="-11856"/>
                  <a:pt x="4687367" y="4470"/>
                  <a:pt x="4687367" y="37123"/>
                </a:cubicBezTo>
                <a:cubicBezTo>
                  <a:pt x="4687367" y="222157"/>
                  <a:pt x="4687367" y="222157"/>
                  <a:pt x="4687367" y="222157"/>
                </a:cubicBezTo>
                <a:cubicBezTo>
                  <a:pt x="1139838" y="222157"/>
                  <a:pt x="252956" y="222157"/>
                  <a:pt x="31235" y="222157"/>
                </a:cubicBezTo>
                <a:lnTo>
                  <a:pt x="0" y="222157"/>
                </a:lnTo>
                <a:lnTo>
                  <a:pt x="0" y="1680656"/>
                </a:lnTo>
                <a:lnTo>
                  <a:pt x="387056" y="1680656"/>
                </a:lnTo>
                <a:cubicBezTo>
                  <a:pt x="4687367" y="1680655"/>
                  <a:pt x="4687367" y="1680655"/>
                  <a:pt x="4687367" y="1680655"/>
                </a:cubicBezTo>
                <a:cubicBezTo>
                  <a:pt x="4687367" y="1865689"/>
                  <a:pt x="4687367" y="1865689"/>
                  <a:pt x="4687367" y="1865689"/>
                </a:cubicBezTo>
                <a:cubicBezTo>
                  <a:pt x="4687367" y="1890178"/>
                  <a:pt x="4708726" y="1902423"/>
                  <a:pt x="4728559" y="1897831"/>
                </a:cubicBezTo>
                <a:close/>
              </a:path>
            </a:pathLst>
          </a:custGeom>
          <a:gradFill flip="none" rotWithShape="1">
            <a:gsLst>
              <a:gs pos="0">
                <a:schemeClr val="accent1">
                  <a:lumMod val="60000"/>
                  <a:lumOff val="40000"/>
                </a:schemeClr>
              </a:gs>
              <a:gs pos="100000">
                <a:schemeClr val="accent1"/>
              </a:gs>
            </a:gsLst>
            <a:lin ang="10800000" scaled="1"/>
            <a:tileRect/>
          </a:gradFill>
          <a:ln w="9525">
            <a:solidFill>
              <a:schemeClr val="bg1"/>
            </a:solid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40" name="小红书平北职场PPT1-8"/>
          <p:cNvSpPr txBox="1"/>
          <p:nvPr/>
        </p:nvSpPr>
        <p:spPr>
          <a:xfrm flipH="1">
            <a:off x="221742" y="5042213"/>
            <a:ext cx="4252652" cy="1080232"/>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dirty="0">
                <a:solidFill>
                  <a:schemeClr val="bg1"/>
                </a:solidFill>
                <a:latin typeface="+mj-ea"/>
                <a:ea typeface="+mj-ea"/>
                <a:cs typeface="思源黑体 CN Normal" panose="020B0400000000000000" pitchFamily="34" charset="-122"/>
              </a:rPr>
              <a:t>企业数字化转型项目</a:t>
            </a:r>
            <a:endParaRPr lang="zh-CN" altLang="en-US" dirty="0">
              <a:solidFill>
                <a:schemeClr val="bg1"/>
              </a:solidFill>
              <a:latin typeface="+mj-ea"/>
              <a:ea typeface="+mj-ea"/>
              <a:cs typeface="思源黑体 CN Normal" panose="020B0400000000000000" pitchFamily="34" charset="-122"/>
            </a:endParaRPr>
          </a:p>
          <a:p>
            <a:pPr marL="0" indent="0" defTabSz="2438400">
              <a:lnSpc>
                <a:spcPct val="150000"/>
              </a:lnSpc>
              <a:buNone/>
            </a:pPr>
            <a:r>
              <a:rPr lang="zh-CN" altLang="en-US" sz="1200" dirty="0">
                <a:solidFill>
                  <a:schemeClr val="bg1"/>
                </a:solidFill>
                <a:latin typeface="+mn-ea"/>
                <a:cs typeface="思源黑体 CN Normal" panose="020B0400000000000000" pitchFamily="34" charset="-122"/>
              </a:rPr>
              <a:t>企业数字化转型项目在团队建设方面取得成效，团队协作能力有所提升，项目整体推进了一定进度</a:t>
            </a:r>
            <a:endParaRPr lang="zh-CN" altLang="en-US" sz="1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cxnSp>
        <p:nvCxnSpPr>
          <p:cNvPr id="32" name="小红书平北职场PPT2-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小红书平北职场PPT2-2"/>
          <p:cNvSpPr txBox="1"/>
          <p:nvPr>
            <p:custDataLst>
              <p:tags r:id="rId2"/>
            </p:custDataLst>
          </p:nvPr>
        </p:nvSpPr>
        <p:spPr>
          <a:xfrm>
            <a:off x="334963" y="184318"/>
            <a:ext cx="5745163"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项目成果与问题总结及未来改进措施</a:t>
            </a:r>
            <a:endParaRPr lang="zh-CN" altLang="en-US" sz="2800" dirty="0">
              <a:latin typeface="+mj-ea"/>
              <a:ea typeface="+mj-ea"/>
              <a:cs typeface="思源黑体 CN Normal" panose="020B0400000000000000" pitchFamily="34" charset="-122"/>
              <a:sym typeface="+mj-ea"/>
            </a:endParaRPr>
          </a:p>
        </p:txBody>
      </p:sp>
      <p:sp>
        <p:nvSpPr>
          <p:cNvPr id="5" name="小红书平北职场PPT3"/>
          <p:cNvSpPr txBox="1"/>
          <p:nvPr/>
        </p:nvSpPr>
        <p:spPr>
          <a:xfrm flipH="1">
            <a:off x="221742" y="2291395"/>
            <a:ext cx="4252652" cy="1080232"/>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buNone/>
            </a:pPr>
            <a:r>
              <a:rPr lang="zh-CN" altLang="en-US" sz="1800" dirty="0">
                <a:solidFill>
                  <a:schemeClr val="bg1"/>
                </a:solidFill>
                <a:latin typeface="+mj-ea"/>
                <a:ea typeface="+mj-ea"/>
                <a:cs typeface="思源黑体 CN Normal" panose="020B0400000000000000" pitchFamily="34" charset="-122"/>
              </a:rPr>
              <a:t>智能穿戴设备研发与推广项目</a:t>
            </a:r>
            <a:endParaRPr lang="zh-CN" altLang="en-US" sz="1800" dirty="0">
              <a:solidFill>
                <a:schemeClr val="bg1"/>
              </a:solidFill>
              <a:latin typeface="+mj-ea"/>
              <a:ea typeface="+mj-ea"/>
              <a:cs typeface="思源黑体 CN Normal" panose="020B0400000000000000" pitchFamily="34" charset="-122"/>
            </a:endParaRPr>
          </a:p>
          <a:p>
            <a:pPr marL="0" indent="0" defTabSz="2438400">
              <a:lnSpc>
                <a:spcPct val="150000"/>
              </a:lnSpc>
              <a:buNone/>
            </a:pPr>
            <a:r>
              <a:rPr lang="zh-CN" altLang="en-US" sz="1200" dirty="0">
                <a:solidFill>
                  <a:schemeClr val="bg1"/>
                </a:solidFill>
                <a:latin typeface="+mn-ea"/>
                <a:cs typeface="思源黑体 CN Normal" panose="020B0400000000000000" pitchFamily="34" charset="-122"/>
              </a:rPr>
              <a:t>项目</a:t>
            </a:r>
            <a:r>
              <a:rPr lang="en-US" altLang="zh-CN" sz="1200" dirty="0">
                <a:solidFill>
                  <a:schemeClr val="bg1"/>
                </a:solidFill>
                <a:latin typeface="+mn-ea"/>
                <a:cs typeface="思源黑体 CN Normal" panose="020B0400000000000000" pitchFamily="34" charset="-122"/>
              </a:rPr>
              <a:t>1</a:t>
            </a:r>
            <a:r>
              <a:rPr lang="zh-CN" altLang="en-US" sz="1200" dirty="0">
                <a:solidFill>
                  <a:schemeClr val="bg1"/>
                </a:solidFill>
                <a:latin typeface="+mn-ea"/>
                <a:cs typeface="思源黑体 CN Normal" panose="020B0400000000000000" pitchFamily="34" charset="-122"/>
              </a:rPr>
              <a:t>成功推出部分新产品，初步进入目标市场并获得客户反馈，为后续改进提供了依据</a:t>
            </a:r>
            <a:endParaRPr lang="en-US" sz="1200" dirty="0">
              <a:solidFill>
                <a:schemeClr val="bg1"/>
              </a:solidFill>
              <a:latin typeface="+mn-ea"/>
              <a:cs typeface="思源黑体 CN Normal" panose="020B0400000000000000" pitchFamily="34" charset="-122"/>
            </a:endParaRPr>
          </a:p>
        </p:txBody>
      </p:sp>
      <p:sp>
        <p:nvSpPr>
          <p:cNvPr id="52" name="任意多边形: 形状 51"/>
          <p:cNvSpPr/>
          <p:nvPr/>
        </p:nvSpPr>
        <p:spPr bwMode="auto">
          <a:xfrm rot="10800000" flipH="1">
            <a:off x="0" y="3333642"/>
            <a:ext cx="6886440" cy="1888652"/>
          </a:xfrm>
          <a:custGeom>
            <a:avLst/>
            <a:gdLst>
              <a:gd name="connsiteX0" fmla="*/ 5964875 w 6886440"/>
              <a:gd name="connsiteY0" fmla="*/ 1888267 h 1888652"/>
              <a:gd name="connsiteX1" fmla="*/ 5983351 w 6886440"/>
              <a:gd name="connsiteY1" fmla="*/ 1878814 h 1888652"/>
              <a:gd name="connsiteX2" fmla="*/ 6862032 w 6886440"/>
              <a:gd name="connsiteY2" fmla="*/ 1003745 h 1888652"/>
              <a:gd name="connsiteX3" fmla="*/ 6862032 w 6886440"/>
              <a:gd name="connsiteY3" fmla="*/ 884908 h 1888652"/>
              <a:gd name="connsiteX4" fmla="*/ 5983351 w 6886440"/>
              <a:gd name="connsiteY4" fmla="*/ 9838 h 1888652"/>
              <a:gd name="connsiteX5" fmla="*/ 5923687 w 6886440"/>
              <a:gd name="connsiteY5" fmla="*/ 36847 h 1888652"/>
              <a:gd name="connsiteX6" fmla="*/ 5923687 w 6886440"/>
              <a:gd name="connsiteY6" fmla="*/ 220503 h 1888652"/>
              <a:gd name="connsiteX7" fmla="*/ 50552 w 6886440"/>
              <a:gd name="connsiteY7" fmla="*/ 220504 h 1888652"/>
              <a:gd name="connsiteX8" fmla="*/ 0 w 6886440"/>
              <a:gd name="connsiteY8" fmla="*/ 220504 h 1888652"/>
              <a:gd name="connsiteX9" fmla="*/ 0 w 6886440"/>
              <a:gd name="connsiteY9" fmla="*/ 1668150 h 1888652"/>
              <a:gd name="connsiteX10" fmla="*/ 499377 w 6886440"/>
              <a:gd name="connsiteY10" fmla="*/ 1668150 h 1888652"/>
              <a:gd name="connsiteX11" fmla="*/ 5923687 w 6886440"/>
              <a:gd name="connsiteY11" fmla="*/ 1668149 h 1888652"/>
              <a:gd name="connsiteX12" fmla="*/ 5923687 w 6886440"/>
              <a:gd name="connsiteY12" fmla="*/ 1851806 h 1888652"/>
              <a:gd name="connsiteX13" fmla="*/ 5964875 w 6886440"/>
              <a:gd name="connsiteY13" fmla="*/ 1888267 h 188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86440" h="1888652">
                <a:moveTo>
                  <a:pt x="5964875" y="1888267"/>
                </a:moveTo>
                <a:cubicBezTo>
                  <a:pt x="5971486" y="1887254"/>
                  <a:pt x="5977927" y="1884216"/>
                  <a:pt x="5983351" y="1878814"/>
                </a:cubicBezTo>
                <a:cubicBezTo>
                  <a:pt x="6862032" y="1003745"/>
                  <a:pt x="6862032" y="1003745"/>
                  <a:pt x="6862032" y="1003745"/>
                </a:cubicBezTo>
                <a:cubicBezTo>
                  <a:pt x="6894576" y="971335"/>
                  <a:pt x="6894576" y="917318"/>
                  <a:pt x="6862032" y="884908"/>
                </a:cubicBezTo>
                <a:cubicBezTo>
                  <a:pt x="5983351" y="9838"/>
                  <a:pt x="5983351" y="9838"/>
                  <a:pt x="5983351" y="9838"/>
                </a:cubicBezTo>
                <a:cubicBezTo>
                  <a:pt x="5961655" y="-11768"/>
                  <a:pt x="5923687" y="4437"/>
                  <a:pt x="5923687" y="36847"/>
                </a:cubicBezTo>
                <a:cubicBezTo>
                  <a:pt x="5923687" y="220503"/>
                  <a:pt x="5923687" y="220503"/>
                  <a:pt x="5923687" y="220503"/>
                </a:cubicBezTo>
                <a:cubicBezTo>
                  <a:pt x="1448918" y="220504"/>
                  <a:pt x="330226" y="220504"/>
                  <a:pt x="50552" y="220504"/>
                </a:cubicBezTo>
                <a:lnTo>
                  <a:pt x="0" y="220504"/>
                </a:lnTo>
                <a:lnTo>
                  <a:pt x="0" y="1668150"/>
                </a:lnTo>
                <a:lnTo>
                  <a:pt x="499377" y="1668150"/>
                </a:lnTo>
                <a:cubicBezTo>
                  <a:pt x="5923687" y="1668149"/>
                  <a:pt x="5923687" y="1668149"/>
                  <a:pt x="5923687" y="1668149"/>
                </a:cubicBezTo>
                <a:cubicBezTo>
                  <a:pt x="5923687" y="1851806"/>
                  <a:pt x="5923687" y="1851806"/>
                  <a:pt x="5923687" y="1851806"/>
                </a:cubicBezTo>
                <a:cubicBezTo>
                  <a:pt x="5923687" y="1876113"/>
                  <a:pt x="5945044" y="1891305"/>
                  <a:pt x="5964875" y="1888267"/>
                </a:cubicBezTo>
                <a:close/>
              </a:path>
            </a:pathLst>
          </a:custGeom>
          <a:gradFill flip="none" rotWithShape="1">
            <a:gsLst>
              <a:gs pos="0">
                <a:schemeClr val="accent2">
                  <a:lumMod val="60000"/>
                  <a:lumOff val="40000"/>
                </a:schemeClr>
              </a:gs>
              <a:gs pos="100000">
                <a:schemeClr val="accent2"/>
              </a:gs>
            </a:gsLst>
            <a:lin ang="10800000" scaled="1"/>
            <a:tileRect/>
          </a:gradFill>
          <a:ln w="9525">
            <a:solidFill>
              <a:schemeClr val="bg1"/>
            </a:solid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31" name="小红书平北职场PPT4-2"/>
          <p:cNvSpPr txBox="1"/>
          <p:nvPr/>
        </p:nvSpPr>
        <p:spPr>
          <a:xfrm flipH="1">
            <a:off x="221742" y="3707626"/>
            <a:ext cx="5589270" cy="1080232"/>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buNone/>
            </a:pPr>
            <a:r>
              <a:rPr lang="zh-CN" altLang="en-US" sz="1800" dirty="0">
                <a:solidFill>
                  <a:schemeClr val="bg1"/>
                </a:solidFill>
                <a:latin typeface="+mj-ea"/>
                <a:ea typeface="+mj-ea"/>
                <a:cs typeface="思源黑体 CN Normal" panose="020B0400000000000000" pitchFamily="34" charset="-122"/>
              </a:rPr>
              <a:t>新能源汽车电池技术研发项目</a:t>
            </a:r>
            <a:endParaRPr lang="zh-CN" altLang="en-US" sz="1800" dirty="0">
              <a:solidFill>
                <a:schemeClr val="bg1"/>
              </a:solidFill>
              <a:latin typeface="+mj-ea"/>
              <a:ea typeface="+mj-ea"/>
              <a:cs typeface="思源黑体 CN Normal" panose="020B0400000000000000" pitchFamily="34" charset="-122"/>
            </a:endParaRPr>
          </a:p>
          <a:p>
            <a:pPr defTabSz="2438400">
              <a:lnSpc>
                <a:spcPct val="150000"/>
              </a:lnSpc>
            </a:pPr>
            <a:r>
              <a:rPr lang="zh-CN" altLang="en-US" sz="1200" dirty="0">
                <a:solidFill>
                  <a:schemeClr val="bg1"/>
                </a:solidFill>
                <a:latin typeface="+mn-ea"/>
                <a:cs typeface="思源黑体 CN Normal" panose="020B0400000000000000" pitchFamily="34" charset="-122"/>
              </a:rPr>
              <a:t>新能源汽车电池技术研发取得进展，攻克了能量密度提升、快速充电、热管理等技术难题，提升了电池性能与安全性，为产品开发和商业化应用奠定了基础</a:t>
            </a:r>
            <a:endParaRPr lang="en-US" sz="1200" dirty="0">
              <a:solidFill>
                <a:schemeClr val="bg1"/>
              </a:solidFill>
              <a:latin typeface="+mn-ea"/>
              <a:cs typeface="思源黑体 CN Normal" panose="020B0400000000000000" pitchFamily="34" charset="-122"/>
            </a:endParaRPr>
          </a:p>
        </p:txBody>
      </p:sp>
      <p:sp>
        <p:nvSpPr>
          <p:cNvPr id="7" name="小红书平北职场PPT5"/>
          <p:cNvSpPr txBox="1"/>
          <p:nvPr/>
        </p:nvSpPr>
        <p:spPr>
          <a:xfrm>
            <a:off x="334963" y="885962"/>
            <a:ext cx="11357430" cy="107343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j-ea"/>
                <a:ea typeface="+mj-ea"/>
                <a:cs typeface="思源黑体 CN Normal" panose="020B0400000000000000" pitchFamily="34" charset="-122"/>
                <a:sym typeface="思源黑体 CN Normal" panose="020B0400000000000000" pitchFamily="34" charset="-122"/>
              </a:rPr>
              <a:t>三个项目虽有成果，但暴露出市场占有率低、产品质量欠佳、成本超支、进度延迟、客户满意度低、团队士气低落等问题。未来，我们将加强市场调研，完善质量控制，优化成本管理，加大技术研发，提升团队协作，确保项目目标顺利实现</a:t>
            </a:r>
            <a:endParaRPr kumimoji="0" lang="zh-CN" altLang="en-US" sz="1800" b="0" i="0" u="none" strike="noStrike" kern="1200" cap="none" spc="0" normalizeH="0" baseline="0" noProof="0" dirty="0">
              <a:ln>
                <a:noFill/>
              </a:ln>
              <a:effectLst/>
              <a:uLnTx/>
              <a:uFillTx/>
              <a:latin typeface="+mj-ea"/>
              <a:ea typeface="+mj-ea"/>
              <a:cs typeface="思源黑体 CN Normal" panose="020B0400000000000000" pitchFamily="34" charset="-122"/>
              <a:sym typeface="思源黑体 CN Normal" panose="020B0400000000000000" pitchFamily="34" charset="-122"/>
            </a:endParaRPr>
          </a:p>
        </p:txBody>
      </p:sp>
      <p:sp>
        <p:nvSpPr>
          <p:cNvPr id="8" name="小红书平北职场PPT6"/>
          <p:cNvSpPr/>
          <p:nvPr/>
        </p:nvSpPr>
        <p:spPr>
          <a:xfrm>
            <a:off x="4622878" y="2592358"/>
            <a:ext cx="443094" cy="444146"/>
          </a:xfrm>
          <a:custGeom>
            <a:avLst/>
            <a:gdLst>
              <a:gd name="connsiteX0" fmla="*/ 1027906 w 1111250"/>
              <a:gd name="connsiteY0" fmla="*/ 108426 h 1113887"/>
              <a:gd name="connsiteX1" fmla="*/ 861219 w 1111250"/>
              <a:gd name="connsiteY1" fmla="*/ 108426 h 1113887"/>
              <a:gd name="connsiteX2" fmla="*/ 861219 w 1111250"/>
              <a:gd name="connsiteY2" fmla="*/ 55563 h 1113887"/>
              <a:gd name="connsiteX3" fmla="*/ 805656 w 1111250"/>
              <a:gd name="connsiteY3" fmla="*/ 0 h 1113887"/>
              <a:gd name="connsiteX4" fmla="*/ 750094 w 1111250"/>
              <a:gd name="connsiteY4" fmla="*/ 55563 h 1113887"/>
              <a:gd name="connsiteX5" fmla="*/ 750094 w 1111250"/>
              <a:gd name="connsiteY5" fmla="*/ 108426 h 1113887"/>
              <a:gd name="connsiteX6" fmla="*/ 361156 w 1111250"/>
              <a:gd name="connsiteY6" fmla="*/ 108426 h 1113887"/>
              <a:gd name="connsiteX7" fmla="*/ 361156 w 1111250"/>
              <a:gd name="connsiteY7" fmla="*/ 55563 h 1113887"/>
              <a:gd name="connsiteX8" fmla="*/ 305594 w 1111250"/>
              <a:gd name="connsiteY8" fmla="*/ 0 h 1113887"/>
              <a:gd name="connsiteX9" fmla="*/ 250031 w 1111250"/>
              <a:gd name="connsiteY9" fmla="*/ 55563 h 1113887"/>
              <a:gd name="connsiteX10" fmla="*/ 250031 w 1111250"/>
              <a:gd name="connsiteY10" fmla="*/ 108426 h 1113887"/>
              <a:gd name="connsiteX11" fmla="*/ 83344 w 1111250"/>
              <a:gd name="connsiteY11" fmla="*/ 108426 h 1113887"/>
              <a:gd name="connsiteX12" fmla="*/ 0 w 1111250"/>
              <a:gd name="connsiteY12" fmla="*/ 187801 h 1113887"/>
              <a:gd name="connsiteX13" fmla="*/ 0 w 1111250"/>
              <a:gd name="connsiteY13" fmla="*/ 1034494 h 1113887"/>
              <a:gd name="connsiteX14" fmla="*/ 83344 w 1111250"/>
              <a:gd name="connsiteY14" fmla="*/ 1113869 h 1113887"/>
              <a:gd name="connsiteX15" fmla="*/ 1027906 w 1111250"/>
              <a:gd name="connsiteY15" fmla="*/ 1113869 h 1113887"/>
              <a:gd name="connsiteX16" fmla="*/ 1111250 w 1111250"/>
              <a:gd name="connsiteY16" fmla="*/ 1034494 h 1113887"/>
              <a:gd name="connsiteX17" fmla="*/ 1111250 w 1111250"/>
              <a:gd name="connsiteY17" fmla="*/ 187801 h 1113887"/>
              <a:gd name="connsiteX18" fmla="*/ 1027906 w 1111250"/>
              <a:gd name="connsiteY18" fmla="*/ 108426 h 1113887"/>
              <a:gd name="connsiteX19" fmla="*/ 666750 w 1111250"/>
              <a:gd name="connsiteY19" fmla="*/ 743426 h 1113887"/>
              <a:gd name="connsiteX20" fmla="*/ 222250 w 1111250"/>
              <a:gd name="connsiteY20" fmla="*/ 743426 h 1113887"/>
              <a:gd name="connsiteX21" fmla="*/ 167312 w 1111250"/>
              <a:gd name="connsiteY21" fmla="*/ 692556 h 1113887"/>
              <a:gd name="connsiteX22" fmla="*/ 218183 w 1111250"/>
              <a:gd name="connsiteY22" fmla="*/ 637618 h 1113887"/>
              <a:gd name="connsiteX23" fmla="*/ 222250 w 1111250"/>
              <a:gd name="connsiteY23" fmla="*/ 637618 h 1113887"/>
              <a:gd name="connsiteX24" fmla="*/ 666750 w 1111250"/>
              <a:gd name="connsiteY24" fmla="*/ 637618 h 1113887"/>
              <a:gd name="connsiteX25" fmla="*/ 721688 w 1111250"/>
              <a:gd name="connsiteY25" fmla="*/ 688489 h 1113887"/>
              <a:gd name="connsiteX26" fmla="*/ 670817 w 1111250"/>
              <a:gd name="connsiteY26" fmla="*/ 743426 h 1113887"/>
              <a:gd name="connsiteX27" fmla="*/ 666750 w 1111250"/>
              <a:gd name="connsiteY27" fmla="*/ 743426 h 1113887"/>
              <a:gd name="connsiteX28" fmla="*/ 889000 w 1111250"/>
              <a:gd name="connsiteY28" fmla="*/ 478872 h 1113887"/>
              <a:gd name="connsiteX29" fmla="*/ 222250 w 1111250"/>
              <a:gd name="connsiteY29" fmla="*/ 478872 h 1113887"/>
              <a:gd name="connsiteX30" fmla="*/ 167312 w 1111250"/>
              <a:gd name="connsiteY30" fmla="*/ 428001 h 1113887"/>
              <a:gd name="connsiteX31" fmla="*/ 218183 w 1111250"/>
              <a:gd name="connsiteY31" fmla="*/ 373064 h 1113887"/>
              <a:gd name="connsiteX32" fmla="*/ 222250 w 1111250"/>
              <a:gd name="connsiteY32" fmla="*/ 373064 h 1113887"/>
              <a:gd name="connsiteX33" fmla="*/ 889000 w 1111250"/>
              <a:gd name="connsiteY33" fmla="*/ 373064 h 1113887"/>
              <a:gd name="connsiteX34" fmla="*/ 943953 w 1111250"/>
              <a:gd name="connsiteY34" fmla="*/ 423918 h 1113887"/>
              <a:gd name="connsiteX35" fmla="*/ 893099 w 1111250"/>
              <a:gd name="connsiteY35" fmla="*/ 478871 h 1113887"/>
              <a:gd name="connsiteX36" fmla="*/ 889000 w 1111250"/>
              <a:gd name="connsiteY36" fmla="*/ 478871 h 111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11250" h="1113887">
                <a:moveTo>
                  <a:pt x="1027906" y="108426"/>
                </a:moveTo>
                <a:lnTo>
                  <a:pt x="861219" y="108426"/>
                </a:lnTo>
                <a:lnTo>
                  <a:pt x="861219" y="55563"/>
                </a:lnTo>
                <a:cubicBezTo>
                  <a:pt x="861219" y="24876"/>
                  <a:pt x="836343" y="0"/>
                  <a:pt x="805656" y="0"/>
                </a:cubicBezTo>
                <a:cubicBezTo>
                  <a:pt x="774970" y="0"/>
                  <a:pt x="750094" y="24876"/>
                  <a:pt x="750094" y="55563"/>
                </a:cubicBezTo>
                <a:lnTo>
                  <a:pt x="750094" y="108426"/>
                </a:lnTo>
                <a:lnTo>
                  <a:pt x="361156" y="108426"/>
                </a:lnTo>
                <a:lnTo>
                  <a:pt x="361156" y="55563"/>
                </a:lnTo>
                <a:cubicBezTo>
                  <a:pt x="361156" y="24876"/>
                  <a:pt x="336280" y="0"/>
                  <a:pt x="305594" y="0"/>
                </a:cubicBezTo>
                <a:cubicBezTo>
                  <a:pt x="274907" y="0"/>
                  <a:pt x="250031" y="24876"/>
                  <a:pt x="250031" y="55563"/>
                </a:cubicBezTo>
                <a:lnTo>
                  <a:pt x="250031" y="108426"/>
                </a:lnTo>
                <a:lnTo>
                  <a:pt x="83344" y="108426"/>
                </a:lnTo>
                <a:cubicBezTo>
                  <a:pt x="38473" y="107493"/>
                  <a:pt x="1255" y="142938"/>
                  <a:pt x="0" y="187801"/>
                </a:cubicBezTo>
                <a:lnTo>
                  <a:pt x="0" y="1034494"/>
                </a:lnTo>
                <a:cubicBezTo>
                  <a:pt x="1255" y="1079357"/>
                  <a:pt x="38473" y="1114803"/>
                  <a:pt x="83344" y="1113869"/>
                </a:cubicBezTo>
                <a:lnTo>
                  <a:pt x="1027906" y="1113869"/>
                </a:lnTo>
                <a:cubicBezTo>
                  <a:pt x="1072777" y="1114803"/>
                  <a:pt x="1109995" y="1079357"/>
                  <a:pt x="1111250" y="1034494"/>
                </a:cubicBezTo>
                <a:lnTo>
                  <a:pt x="1111250" y="187801"/>
                </a:lnTo>
                <a:cubicBezTo>
                  <a:pt x="1109995" y="142938"/>
                  <a:pt x="1072777" y="107493"/>
                  <a:pt x="1027906" y="108426"/>
                </a:cubicBezTo>
                <a:close/>
                <a:moveTo>
                  <a:pt x="666750" y="743426"/>
                </a:moveTo>
                <a:lnTo>
                  <a:pt x="222250" y="743426"/>
                </a:lnTo>
                <a:cubicBezTo>
                  <a:pt x="193032" y="744549"/>
                  <a:pt x="168436" y="721774"/>
                  <a:pt x="167312" y="692556"/>
                </a:cubicBezTo>
                <a:cubicBezTo>
                  <a:pt x="166189" y="663338"/>
                  <a:pt x="188965" y="638741"/>
                  <a:pt x="218183" y="637618"/>
                </a:cubicBezTo>
                <a:cubicBezTo>
                  <a:pt x="219538" y="637566"/>
                  <a:pt x="220895" y="637566"/>
                  <a:pt x="222250" y="637618"/>
                </a:cubicBezTo>
                <a:lnTo>
                  <a:pt x="666750" y="637618"/>
                </a:lnTo>
                <a:cubicBezTo>
                  <a:pt x="695968" y="636495"/>
                  <a:pt x="720564" y="659271"/>
                  <a:pt x="721688" y="688489"/>
                </a:cubicBezTo>
                <a:cubicBezTo>
                  <a:pt x="722811" y="717707"/>
                  <a:pt x="700035" y="742303"/>
                  <a:pt x="670817" y="743426"/>
                </a:cubicBezTo>
                <a:cubicBezTo>
                  <a:pt x="669462" y="743478"/>
                  <a:pt x="668105" y="743478"/>
                  <a:pt x="666750" y="743426"/>
                </a:cubicBezTo>
                <a:close/>
                <a:moveTo>
                  <a:pt x="889000" y="478872"/>
                </a:moveTo>
                <a:lnTo>
                  <a:pt x="222250" y="478872"/>
                </a:lnTo>
                <a:cubicBezTo>
                  <a:pt x="193032" y="479995"/>
                  <a:pt x="168436" y="457219"/>
                  <a:pt x="167312" y="428001"/>
                </a:cubicBezTo>
                <a:cubicBezTo>
                  <a:pt x="166189" y="398783"/>
                  <a:pt x="188965" y="374187"/>
                  <a:pt x="218183" y="373064"/>
                </a:cubicBezTo>
                <a:cubicBezTo>
                  <a:pt x="219538" y="373012"/>
                  <a:pt x="220895" y="373012"/>
                  <a:pt x="222250" y="373064"/>
                </a:cubicBezTo>
                <a:lnTo>
                  <a:pt x="889000" y="373064"/>
                </a:lnTo>
                <a:cubicBezTo>
                  <a:pt x="918218" y="371932"/>
                  <a:pt x="942821" y="394700"/>
                  <a:pt x="943953" y="423918"/>
                </a:cubicBezTo>
                <a:cubicBezTo>
                  <a:pt x="945085" y="453135"/>
                  <a:pt x="922317" y="477739"/>
                  <a:pt x="893099" y="478871"/>
                </a:cubicBezTo>
                <a:cubicBezTo>
                  <a:pt x="891733" y="478924"/>
                  <a:pt x="890366" y="478924"/>
                  <a:pt x="889000" y="478871"/>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 name="小红书平北职场PPT7"/>
          <p:cNvSpPr/>
          <p:nvPr/>
        </p:nvSpPr>
        <p:spPr>
          <a:xfrm>
            <a:off x="5952997" y="3972644"/>
            <a:ext cx="371350" cy="530498"/>
          </a:xfrm>
          <a:custGeom>
            <a:avLst/>
            <a:gdLst>
              <a:gd name="connsiteX0" fmla="*/ 73849 w 258471"/>
              <a:gd name="connsiteY0" fmla="*/ 36925 h 369245"/>
              <a:gd name="connsiteX1" fmla="*/ 73849 w 258471"/>
              <a:gd name="connsiteY1" fmla="*/ 18462 h 369245"/>
              <a:gd name="connsiteX2" fmla="*/ 92311 w 258471"/>
              <a:gd name="connsiteY2" fmla="*/ 0 h 369245"/>
              <a:gd name="connsiteX3" fmla="*/ 166160 w 258471"/>
              <a:gd name="connsiteY3" fmla="*/ 0 h 369245"/>
              <a:gd name="connsiteX4" fmla="*/ 184623 w 258471"/>
              <a:gd name="connsiteY4" fmla="*/ 18462 h 369245"/>
              <a:gd name="connsiteX5" fmla="*/ 184623 w 258471"/>
              <a:gd name="connsiteY5" fmla="*/ 36925 h 369245"/>
              <a:gd name="connsiteX6" fmla="*/ 240009 w 258471"/>
              <a:gd name="connsiteY6" fmla="*/ 36925 h 369245"/>
              <a:gd name="connsiteX7" fmla="*/ 258472 w 258471"/>
              <a:gd name="connsiteY7" fmla="*/ 55387 h 369245"/>
              <a:gd name="connsiteX8" fmla="*/ 258472 w 258471"/>
              <a:gd name="connsiteY8" fmla="*/ 350783 h 369245"/>
              <a:gd name="connsiteX9" fmla="*/ 240009 w 258471"/>
              <a:gd name="connsiteY9" fmla="*/ 369245 h 369245"/>
              <a:gd name="connsiteX10" fmla="*/ 18462 w 258471"/>
              <a:gd name="connsiteY10" fmla="*/ 369245 h 369245"/>
              <a:gd name="connsiteX11" fmla="*/ 0 w 258471"/>
              <a:gd name="connsiteY11" fmla="*/ 350783 h 369245"/>
              <a:gd name="connsiteX12" fmla="*/ 0 w 258471"/>
              <a:gd name="connsiteY12" fmla="*/ 55387 h 369245"/>
              <a:gd name="connsiteX13" fmla="*/ 18462 w 258471"/>
              <a:gd name="connsiteY13" fmla="*/ 36924 h 369245"/>
              <a:gd name="connsiteX14" fmla="*/ 73849 w 258471"/>
              <a:gd name="connsiteY14" fmla="*/ 36925 h 369245"/>
              <a:gd name="connsiteX15" fmla="*/ 147698 w 258471"/>
              <a:gd name="connsiteY15" fmla="*/ 184623 h 369245"/>
              <a:gd name="connsiteX16" fmla="*/ 147698 w 258471"/>
              <a:gd name="connsiteY16" fmla="*/ 92311 h 369245"/>
              <a:gd name="connsiteX17" fmla="*/ 55387 w 258471"/>
              <a:gd name="connsiteY17" fmla="*/ 221547 h 369245"/>
              <a:gd name="connsiteX18" fmla="*/ 110774 w 258471"/>
              <a:gd name="connsiteY18" fmla="*/ 221547 h 369245"/>
              <a:gd name="connsiteX19" fmla="*/ 110774 w 258471"/>
              <a:gd name="connsiteY19" fmla="*/ 313858 h 369245"/>
              <a:gd name="connsiteX20" fmla="*/ 203085 w 258471"/>
              <a:gd name="connsiteY20" fmla="*/ 184623 h 369245"/>
              <a:gd name="connsiteX21" fmla="*/ 147698 w 258471"/>
              <a:gd name="connsiteY21" fmla="*/ 184623 h 36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8471" h="369245">
                <a:moveTo>
                  <a:pt x="73849" y="36925"/>
                </a:moveTo>
                <a:lnTo>
                  <a:pt x="73849" y="18462"/>
                </a:lnTo>
                <a:cubicBezTo>
                  <a:pt x="73849" y="8266"/>
                  <a:pt x="82115" y="0"/>
                  <a:pt x="92311" y="0"/>
                </a:cubicBezTo>
                <a:lnTo>
                  <a:pt x="166160" y="0"/>
                </a:lnTo>
                <a:cubicBezTo>
                  <a:pt x="176357" y="0"/>
                  <a:pt x="184623" y="8266"/>
                  <a:pt x="184623" y="18462"/>
                </a:cubicBezTo>
                <a:lnTo>
                  <a:pt x="184623" y="36925"/>
                </a:lnTo>
                <a:lnTo>
                  <a:pt x="240009" y="36925"/>
                </a:lnTo>
                <a:cubicBezTo>
                  <a:pt x="250206" y="36925"/>
                  <a:pt x="258472" y="45190"/>
                  <a:pt x="258472" y="55387"/>
                </a:cubicBezTo>
                <a:lnTo>
                  <a:pt x="258472" y="350783"/>
                </a:lnTo>
                <a:cubicBezTo>
                  <a:pt x="258472" y="360979"/>
                  <a:pt x="250206" y="369245"/>
                  <a:pt x="240009" y="369245"/>
                </a:cubicBezTo>
                <a:lnTo>
                  <a:pt x="18462" y="369245"/>
                </a:lnTo>
                <a:cubicBezTo>
                  <a:pt x="8266" y="369245"/>
                  <a:pt x="0" y="360979"/>
                  <a:pt x="0" y="350783"/>
                </a:cubicBezTo>
                <a:lnTo>
                  <a:pt x="0" y="55387"/>
                </a:lnTo>
                <a:cubicBezTo>
                  <a:pt x="0" y="45190"/>
                  <a:pt x="8266" y="36924"/>
                  <a:pt x="18462" y="36924"/>
                </a:cubicBezTo>
                <a:lnTo>
                  <a:pt x="73849" y="36925"/>
                </a:lnTo>
                <a:close/>
                <a:moveTo>
                  <a:pt x="147698" y="184623"/>
                </a:moveTo>
                <a:lnTo>
                  <a:pt x="147698" y="92311"/>
                </a:lnTo>
                <a:lnTo>
                  <a:pt x="55387" y="221547"/>
                </a:lnTo>
                <a:lnTo>
                  <a:pt x="110774" y="221547"/>
                </a:lnTo>
                <a:lnTo>
                  <a:pt x="110774" y="313858"/>
                </a:lnTo>
                <a:lnTo>
                  <a:pt x="203085" y="184623"/>
                </a:lnTo>
                <a:lnTo>
                  <a:pt x="147698" y="184623"/>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 name="小红书平北职场PPT8"/>
          <p:cNvSpPr/>
          <p:nvPr/>
        </p:nvSpPr>
        <p:spPr>
          <a:xfrm>
            <a:off x="4610400" y="5486067"/>
            <a:ext cx="455572" cy="455580"/>
          </a:xfrm>
          <a:custGeom>
            <a:avLst/>
            <a:gdLst>
              <a:gd name="connsiteX0" fmla="*/ 1104680 w 1110001"/>
              <a:gd name="connsiteY0" fmla="*/ 415937 h 1110022"/>
              <a:gd name="connsiteX1" fmla="*/ 1086014 w 1110001"/>
              <a:gd name="connsiteY1" fmla="*/ 396081 h 1110022"/>
              <a:gd name="connsiteX2" fmla="*/ 1086014 w 1110001"/>
              <a:gd name="connsiteY2" fmla="*/ 47054 h 1110022"/>
              <a:gd name="connsiteX3" fmla="*/ 1038959 w 1110001"/>
              <a:gd name="connsiteY3" fmla="*/ 0 h 1110022"/>
              <a:gd name="connsiteX4" fmla="*/ 195538 w 1110001"/>
              <a:gd name="connsiteY4" fmla="*/ 0 h 1110022"/>
              <a:gd name="connsiteX5" fmla="*/ 148297 w 1110001"/>
              <a:gd name="connsiteY5" fmla="*/ 47241 h 1110022"/>
              <a:gd name="connsiteX6" fmla="*/ 148297 w 1110001"/>
              <a:gd name="connsiteY6" fmla="*/ 141635 h 1110022"/>
              <a:gd name="connsiteX7" fmla="*/ 121595 w 1110001"/>
              <a:gd name="connsiteY7" fmla="*/ 141635 h 1110022"/>
              <a:gd name="connsiteX8" fmla="*/ 74355 w 1110001"/>
              <a:gd name="connsiteY8" fmla="*/ 188875 h 1110022"/>
              <a:gd name="connsiteX9" fmla="*/ 74355 w 1110001"/>
              <a:gd name="connsiteY9" fmla="*/ 306425 h 1110022"/>
              <a:gd name="connsiteX10" fmla="*/ 47727 w 1110001"/>
              <a:gd name="connsiteY10" fmla="*/ 306425 h 1110022"/>
              <a:gd name="connsiteX11" fmla="*/ 486 w 1110001"/>
              <a:gd name="connsiteY11" fmla="*/ 353665 h 1110022"/>
              <a:gd name="connsiteX12" fmla="*/ 486 w 1110001"/>
              <a:gd name="connsiteY12" fmla="*/ 484944 h 1110022"/>
              <a:gd name="connsiteX13" fmla="*/ 3 w 1110001"/>
              <a:gd name="connsiteY13" fmla="*/ 492274 h 1110022"/>
              <a:gd name="connsiteX14" fmla="*/ 3 w 1110001"/>
              <a:gd name="connsiteY14" fmla="*/ 1053492 h 1110022"/>
              <a:gd name="connsiteX15" fmla="*/ 424 w 1110001"/>
              <a:gd name="connsiteY15" fmla="*/ 1060884 h 1110022"/>
              <a:gd name="connsiteX16" fmla="*/ 424 w 1110001"/>
              <a:gd name="connsiteY16" fmla="*/ 1078644 h 1110022"/>
              <a:gd name="connsiteX17" fmla="*/ 31219 w 1110001"/>
              <a:gd name="connsiteY17" fmla="*/ 1109328 h 1110022"/>
              <a:gd name="connsiteX18" fmla="*/ 47516 w 1110001"/>
              <a:gd name="connsiteY18" fmla="*/ 1109328 h 1110022"/>
              <a:gd name="connsiteX19" fmla="*/ 56533 w 1110001"/>
              <a:gd name="connsiteY19" fmla="*/ 1110022 h 1110022"/>
              <a:gd name="connsiteX20" fmla="*/ 1053309 w 1110001"/>
              <a:gd name="connsiteY20" fmla="*/ 1110022 h 1110022"/>
              <a:gd name="connsiteX21" fmla="*/ 1062325 w 1110001"/>
              <a:gd name="connsiteY21" fmla="*/ 1109328 h 1110022"/>
              <a:gd name="connsiteX22" fmla="*/ 1078424 w 1110001"/>
              <a:gd name="connsiteY22" fmla="*/ 1109328 h 1110022"/>
              <a:gd name="connsiteX23" fmla="*/ 1109219 w 1110001"/>
              <a:gd name="connsiteY23" fmla="*/ 1078644 h 1110022"/>
              <a:gd name="connsiteX24" fmla="*/ 1109219 w 1110001"/>
              <a:gd name="connsiteY24" fmla="*/ 1061852 h 1110022"/>
              <a:gd name="connsiteX25" fmla="*/ 1109839 w 1110001"/>
              <a:gd name="connsiteY25" fmla="*/ 1053492 h 1110022"/>
              <a:gd name="connsiteX26" fmla="*/ 1109839 w 1110001"/>
              <a:gd name="connsiteY26" fmla="*/ 492274 h 1110022"/>
              <a:gd name="connsiteX27" fmla="*/ 1104680 w 1110001"/>
              <a:gd name="connsiteY27" fmla="*/ 415937 h 1110022"/>
              <a:gd name="connsiteX28" fmla="*/ 821422 w 1110001"/>
              <a:gd name="connsiteY28" fmla="*/ 701613 h 1110022"/>
              <a:gd name="connsiteX29" fmla="*/ 777344 w 1110001"/>
              <a:gd name="connsiteY29" fmla="*/ 715466 h 1110022"/>
              <a:gd name="connsiteX30" fmla="*/ 752155 w 1110001"/>
              <a:gd name="connsiteY30" fmla="*/ 711324 h 1110022"/>
              <a:gd name="connsiteX31" fmla="*/ 686844 w 1110001"/>
              <a:gd name="connsiteY31" fmla="*/ 798190 h 1110022"/>
              <a:gd name="connsiteX32" fmla="*/ 653309 w 1110001"/>
              <a:gd name="connsiteY32" fmla="*/ 913892 h 1110022"/>
              <a:gd name="connsiteX33" fmla="*/ 585183 w 1110001"/>
              <a:gd name="connsiteY33" fmla="*/ 908931 h 1110022"/>
              <a:gd name="connsiteX34" fmla="*/ 555020 w 1110001"/>
              <a:gd name="connsiteY34" fmla="*/ 809774 h 1110022"/>
              <a:gd name="connsiteX35" fmla="*/ 452961 w 1110001"/>
              <a:gd name="connsiteY35" fmla="*/ 707926 h 1110022"/>
              <a:gd name="connsiteX36" fmla="*/ 396654 w 1110001"/>
              <a:gd name="connsiteY36" fmla="*/ 711944 h 1110022"/>
              <a:gd name="connsiteX37" fmla="*/ 288841 w 1110001"/>
              <a:gd name="connsiteY37" fmla="*/ 855464 h 1110022"/>
              <a:gd name="connsiteX38" fmla="*/ 254040 w 1110001"/>
              <a:gd name="connsiteY38" fmla="*/ 918307 h 1110022"/>
              <a:gd name="connsiteX39" fmla="*/ 191024 w 1110001"/>
              <a:gd name="connsiteY39" fmla="*/ 883642 h 1110022"/>
              <a:gd name="connsiteX40" fmla="*/ 225763 w 1110001"/>
              <a:gd name="connsiteY40" fmla="*/ 820800 h 1110022"/>
              <a:gd name="connsiteX41" fmla="*/ 255330 w 1110001"/>
              <a:gd name="connsiteY41" fmla="*/ 821196 h 1110022"/>
              <a:gd name="connsiteX42" fmla="*/ 357984 w 1110001"/>
              <a:gd name="connsiteY42" fmla="*/ 684609 h 1110022"/>
              <a:gd name="connsiteX43" fmla="*/ 373772 w 1110001"/>
              <a:gd name="connsiteY43" fmla="*/ 577466 h 1110022"/>
              <a:gd name="connsiteX44" fmla="*/ 481338 w 1110001"/>
              <a:gd name="connsiteY44" fmla="*/ 593130 h 1110022"/>
              <a:gd name="connsiteX45" fmla="*/ 487316 w 1110001"/>
              <a:gd name="connsiteY45" fmla="*/ 675308 h 1110022"/>
              <a:gd name="connsiteX46" fmla="*/ 587824 w 1110001"/>
              <a:gd name="connsiteY46" fmla="*/ 775419 h 1110022"/>
              <a:gd name="connsiteX47" fmla="*/ 648695 w 1110001"/>
              <a:gd name="connsiteY47" fmla="*/ 770136 h 1110022"/>
              <a:gd name="connsiteX48" fmla="*/ 714340 w 1110001"/>
              <a:gd name="connsiteY48" fmla="*/ 682737 h 1110022"/>
              <a:gd name="connsiteX49" fmla="*/ 753495 w 1110001"/>
              <a:gd name="connsiteY49" fmla="*/ 565857 h 1110022"/>
              <a:gd name="connsiteX50" fmla="*/ 825193 w 1110001"/>
              <a:gd name="connsiteY50" fmla="*/ 578656 h 1110022"/>
              <a:gd name="connsiteX51" fmla="*/ 821422 w 1110001"/>
              <a:gd name="connsiteY51" fmla="*/ 701613 h 1110022"/>
              <a:gd name="connsiteX52" fmla="*/ 854251 w 1110001"/>
              <a:gd name="connsiteY52" fmla="*/ 396788 h 1110022"/>
              <a:gd name="connsiteX53" fmla="*/ 837868 w 1110001"/>
              <a:gd name="connsiteY53" fmla="*/ 413172 h 1110022"/>
              <a:gd name="connsiteX54" fmla="*/ 475323 w 1110001"/>
              <a:gd name="connsiteY54" fmla="*/ 413172 h 1110022"/>
              <a:gd name="connsiteX55" fmla="*/ 463702 w 1110001"/>
              <a:gd name="connsiteY55" fmla="*/ 408657 h 1110022"/>
              <a:gd name="connsiteX56" fmla="*/ 339256 w 1110001"/>
              <a:gd name="connsiteY56" fmla="*/ 316644 h 1110022"/>
              <a:gd name="connsiteX57" fmla="*/ 318731 w 1110001"/>
              <a:gd name="connsiteY57" fmla="*/ 308496 h 1110022"/>
              <a:gd name="connsiteX58" fmla="*/ 180705 w 1110001"/>
              <a:gd name="connsiteY58" fmla="*/ 308496 h 1110022"/>
              <a:gd name="connsiteX59" fmla="*/ 164259 w 1110001"/>
              <a:gd name="connsiteY59" fmla="*/ 292050 h 1110022"/>
              <a:gd name="connsiteX60" fmla="*/ 164259 w 1110001"/>
              <a:gd name="connsiteY60" fmla="*/ 246385 h 1110022"/>
              <a:gd name="connsiteX61" fmla="*/ 180643 w 1110001"/>
              <a:gd name="connsiteY61" fmla="*/ 230001 h 1110022"/>
              <a:gd name="connsiteX62" fmla="*/ 837806 w 1110001"/>
              <a:gd name="connsiteY62" fmla="*/ 230001 h 1110022"/>
              <a:gd name="connsiteX63" fmla="*/ 854251 w 1110001"/>
              <a:gd name="connsiteY63" fmla="*/ 246447 h 1110022"/>
              <a:gd name="connsiteX64" fmla="*/ 854251 w 1110001"/>
              <a:gd name="connsiteY64" fmla="*/ 396788 h 1110022"/>
              <a:gd name="connsiteX65" fmla="*/ 998367 w 1110001"/>
              <a:gd name="connsiteY65" fmla="*/ 104887 h 1110022"/>
              <a:gd name="connsiteX66" fmla="*/ 998367 w 1110001"/>
              <a:gd name="connsiteY66" fmla="*/ 413172 h 1110022"/>
              <a:gd name="connsiteX67" fmla="*/ 940869 w 1110001"/>
              <a:gd name="connsiteY67" fmla="*/ 413172 h 1110022"/>
              <a:gd name="connsiteX68" fmla="*/ 940869 w 1110001"/>
              <a:gd name="connsiteY68" fmla="*/ 188689 h 1110022"/>
              <a:gd name="connsiteX69" fmla="*/ 893815 w 1110001"/>
              <a:gd name="connsiteY69" fmla="*/ 141635 h 1110022"/>
              <a:gd name="connsiteX70" fmla="*/ 237582 w 1110001"/>
              <a:gd name="connsiteY70" fmla="*/ 141635 h 1110022"/>
              <a:gd name="connsiteX71" fmla="*/ 237582 w 1110001"/>
              <a:gd name="connsiteY71" fmla="*/ 88429 h 1110022"/>
              <a:gd name="connsiteX72" fmla="*/ 981921 w 1110001"/>
              <a:gd name="connsiteY72" fmla="*/ 88429 h 1110022"/>
              <a:gd name="connsiteX73" fmla="*/ 998367 w 1110001"/>
              <a:gd name="connsiteY73" fmla="*/ 104887 h 1110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110001" h="1110022">
                <a:moveTo>
                  <a:pt x="1104680" y="415937"/>
                </a:moveTo>
                <a:cubicBezTo>
                  <a:pt x="1095923" y="415937"/>
                  <a:pt x="1086014" y="404626"/>
                  <a:pt x="1086014" y="396081"/>
                </a:cubicBezTo>
                <a:lnTo>
                  <a:pt x="1086014" y="47054"/>
                </a:lnTo>
                <a:cubicBezTo>
                  <a:pt x="1086014" y="21171"/>
                  <a:pt x="1064843" y="0"/>
                  <a:pt x="1038959" y="0"/>
                </a:cubicBezTo>
                <a:lnTo>
                  <a:pt x="195538" y="0"/>
                </a:lnTo>
                <a:cubicBezTo>
                  <a:pt x="169555" y="0"/>
                  <a:pt x="148297" y="21258"/>
                  <a:pt x="148297" y="47241"/>
                </a:cubicBezTo>
                <a:lnTo>
                  <a:pt x="148297" y="141635"/>
                </a:lnTo>
                <a:lnTo>
                  <a:pt x="121595" y="141635"/>
                </a:lnTo>
                <a:cubicBezTo>
                  <a:pt x="95612" y="141635"/>
                  <a:pt x="74355" y="162892"/>
                  <a:pt x="74355" y="188875"/>
                </a:cubicBezTo>
                <a:lnTo>
                  <a:pt x="74355" y="306425"/>
                </a:lnTo>
                <a:lnTo>
                  <a:pt x="47727" y="306425"/>
                </a:lnTo>
                <a:cubicBezTo>
                  <a:pt x="21744" y="306425"/>
                  <a:pt x="486" y="327682"/>
                  <a:pt x="486" y="353665"/>
                </a:cubicBezTo>
                <a:lnTo>
                  <a:pt x="486" y="484944"/>
                </a:lnTo>
                <a:cubicBezTo>
                  <a:pt x="139" y="487363"/>
                  <a:pt x="3" y="489781"/>
                  <a:pt x="3" y="492274"/>
                </a:cubicBezTo>
                <a:lnTo>
                  <a:pt x="3" y="1053492"/>
                </a:lnTo>
                <a:cubicBezTo>
                  <a:pt x="-22" y="1055960"/>
                  <a:pt x="127" y="1058428"/>
                  <a:pt x="424" y="1060884"/>
                </a:cubicBezTo>
                <a:lnTo>
                  <a:pt x="424" y="1078644"/>
                </a:lnTo>
                <a:cubicBezTo>
                  <a:pt x="821" y="1095425"/>
                  <a:pt x="14377" y="1108918"/>
                  <a:pt x="31219" y="1109328"/>
                </a:cubicBezTo>
                <a:lnTo>
                  <a:pt x="47516" y="1109328"/>
                </a:lnTo>
                <a:cubicBezTo>
                  <a:pt x="50505" y="1109799"/>
                  <a:pt x="53519" y="1110022"/>
                  <a:pt x="56533" y="1110022"/>
                </a:cubicBezTo>
                <a:lnTo>
                  <a:pt x="1053309" y="1110022"/>
                </a:lnTo>
                <a:cubicBezTo>
                  <a:pt x="1056335" y="1110035"/>
                  <a:pt x="1059349" y="1109799"/>
                  <a:pt x="1062325" y="1109328"/>
                </a:cubicBezTo>
                <a:lnTo>
                  <a:pt x="1078424" y="1109328"/>
                </a:lnTo>
                <a:cubicBezTo>
                  <a:pt x="1095266" y="1108931"/>
                  <a:pt x="1108822" y="1095425"/>
                  <a:pt x="1109219" y="1078644"/>
                </a:cubicBezTo>
                <a:lnTo>
                  <a:pt x="1109219" y="1061852"/>
                </a:lnTo>
                <a:cubicBezTo>
                  <a:pt x="1109628" y="1059086"/>
                  <a:pt x="1109839" y="1056295"/>
                  <a:pt x="1109839" y="1053492"/>
                </a:cubicBezTo>
                <a:lnTo>
                  <a:pt x="1109839" y="492274"/>
                </a:lnTo>
                <a:cubicBezTo>
                  <a:pt x="1109839" y="489446"/>
                  <a:pt x="1111426" y="415937"/>
                  <a:pt x="1104680" y="415937"/>
                </a:cubicBezTo>
                <a:close/>
                <a:moveTo>
                  <a:pt x="821422" y="701613"/>
                </a:moveTo>
                <a:cubicBezTo>
                  <a:pt x="808524" y="710642"/>
                  <a:pt x="793133" y="715466"/>
                  <a:pt x="777344" y="715466"/>
                </a:cubicBezTo>
                <a:cubicBezTo>
                  <a:pt x="768812" y="715466"/>
                  <a:pt x="760279" y="714065"/>
                  <a:pt x="752155" y="711324"/>
                </a:cubicBezTo>
                <a:lnTo>
                  <a:pt x="686844" y="798190"/>
                </a:lnTo>
                <a:cubicBezTo>
                  <a:pt x="714998" y="837270"/>
                  <a:pt x="700909" y="893887"/>
                  <a:pt x="653309" y="913892"/>
                </a:cubicBezTo>
                <a:cubicBezTo>
                  <a:pt x="631294" y="923144"/>
                  <a:pt x="605572" y="921370"/>
                  <a:pt x="585183" y="908931"/>
                </a:cubicBezTo>
                <a:cubicBezTo>
                  <a:pt x="549501" y="887152"/>
                  <a:pt x="538426" y="844228"/>
                  <a:pt x="555020" y="809774"/>
                </a:cubicBezTo>
                <a:lnTo>
                  <a:pt x="452961" y="707926"/>
                </a:lnTo>
                <a:cubicBezTo>
                  <a:pt x="435362" y="716285"/>
                  <a:pt x="415270" y="717699"/>
                  <a:pt x="396654" y="711944"/>
                </a:cubicBezTo>
                <a:lnTo>
                  <a:pt x="288841" y="855464"/>
                </a:lnTo>
                <a:cubicBezTo>
                  <a:pt x="296630" y="882365"/>
                  <a:pt x="281040" y="910468"/>
                  <a:pt x="254040" y="918307"/>
                </a:cubicBezTo>
                <a:cubicBezTo>
                  <a:pt x="227028" y="926071"/>
                  <a:pt x="198812" y="910543"/>
                  <a:pt x="191024" y="883642"/>
                </a:cubicBezTo>
                <a:cubicBezTo>
                  <a:pt x="183160" y="856742"/>
                  <a:pt x="198750" y="828563"/>
                  <a:pt x="225763" y="820800"/>
                </a:cubicBezTo>
                <a:cubicBezTo>
                  <a:pt x="235448" y="818058"/>
                  <a:pt x="245722" y="818196"/>
                  <a:pt x="255330" y="821196"/>
                </a:cubicBezTo>
                <a:lnTo>
                  <a:pt x="357984" y="684609"/>
                </a:lnTo>
                <a:cubicBezTo>
                  <a:pt x="332658" y="650677"/>
                  <a:pt x="339715" y="602704"/>
                  <a:pt x="373772" y="577466"/>
                </a:cubicBezTo>
                <a:cubicBezTo>
                  <a:pt x="407841" y="552177"/>
                  <a:pt x="456012" y="559197"/>
                  <a:pt x="481338" y="593130"/>
                </a:cubicBezTo>
                <a:cubicBezTo>
                  <a:pt x="499214" y="617002"/>
                  <a:pt x="501549" y="649100"/>
                  <a:pt x="487316" y="675308"/>
                </a:cubicBezTo>
                <a:lnTo>
                  <a:pt x="587824" y="775419"/>
                </a:lnTo>
                <a:cubicBezTo>
                  <a:pt x="606502" y="765386"/>
                  <a:pt x="628541" y="763439"/>
                  <a:pt x="648695" y="770136"/>
                </a:cubicBezTo>
                <a:lnTo>
                  <a:pt x="714340" y="682737"/>
                </a:lnTo>
                <a:cubicBezTo>
                  <a:pt x="685852" y="642119"/>
                  <a:pt x="702360" y="583505"/>
                  <a:pt x="753495" y="565857"/>
                </a:cubicBezTo>
                <a:cubicBezTo>
                  <a:pt x="777766" y="557485"/>
                  <a:pt x="805349" y="562372"/>
                  <a:pt x="825193" y="578656"/>
                </a:cubicBezTo>
                <a:cubicBezTo>
                  <a:pt x="866802" y="612775"/>
                  <a:pt x="862114" y="673286"/>
                  <a:pt x="821422" y="701613"/>
                </a:cubicBezTo>
                <a:close/>
                <a:moveTo>
                  <a:pt x="854251" y="396788"/>
                </a:moveTo>
                <a:cubicBezTo>
                  <a:pt x="854251" y="405830"/>
                  <a:pt x="846922" y="413172"/>
                  <a:pt x="837868" y="413172"/>
                </a:cubicBezTo>
                <a:lnTo>
                  <a:pt x="475323" y="413172"/>
                </a:lnTo>
                <a:cubicBezTo>
                  <a:pt x="471019" y="413172"/>
                  <a:pt x="466877" y="411559"/>
                  <a:pt x="463702" y="408657"/>
                </a:cubicBezTo>
                <a:lnTo>
                  <a:pt x="339256" y="316644"/>
                </a:lnTo>
                <a:cubicBezTo>
                  <a:pt x="333936" y="311063"/>
                  <a:pt x="326432" y="308087"/>
                  <a:pt x="318731" y="308496"/>
                </a:cubicBezTo>
                <a:lnTo>
                  <a:pt x="180705" y="308496"/>
                </a:lnTo>
                <a:cubicBezTo>
                  <a:pt x="171626" y="308496"/>
                  <a:pt x="164259" y="301129"/>
                  <a:pt x="164259" y="292050"/>
                </a:cubicBezTo>
                <a:lnTo>
                  <a:pt x="164259" y="246385"/>
                </a:lnTo>
                <a:cubicBezTo>
                  <a:pt x="164259" y="237344"/>
                  <a:pt x="171589" y="230001"/>
                  <a:pt x="180643" y="230001"/>
                </a:cubicBezTo>
                <a:lnTo>
                  <a:pt x="837806" y="230001"/>
                </a:lnTo>
                <a:cubicBezTo>
                  <a:pt x="846884" y="230001"/>
                  <a:pt x="854251" y="237368"/>
                  <a:pt x="854251" y="246447"/>
                </a:cubicBezTo>
                <a:lnTo>
                  <a:pt x="854251" y="396788"/>
                </a:lnTo>
                <a:close/>
                <a:moveTo>
                  <a:pt x="998367" y="104887"/>
                </a:moveTo>
                <a:lnTo>
                  <a:pt x="998367" y="413172"/>
                </a:lnTo>
                <a:lnTo>
                  <a:pt x="940869" y="413172"/>
                </a:lnTo>
                <a:lnTo>
                  <a:pt x="940869" y="188689"/>
                </a:lnTo>
                <a:cubicBezTo>
                  <a:pt x="940869" y="162806"/>
                  <a:pt x="919698" y="141635"/>
                  <a:pt x="893815" y="141635"/>
                </a:cubicBezTo>
                <a:lnTo>
                  <a:pt x="237582" y="141635"/>
                </a:lnTo>
                <a:lnTo>
                  <a:pt x="237582" y="88429"/>
                </a:lnTo>
                <a:lnTo>
                  <a:pt x="981921" y="88429"/>
                </a:lnTo>
                <a:cubicBezTo>
                  <a:pt x="991000" y="88429"/>
                  <a:pt x="998367" y="95796"/>
                  <a:pt x="998367" y="104887"/>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117"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小红书平北职场PPT1-2"/>
            <p:cNvSpPr txBox="1"/>
            <p:nvPr>
              <p:custDataLst>
                <p:tags r:id="rId2"/>
              </p:custDataLst>
            </p:nvPr>
          </p:nvSpPr>
          <p:spPr>
            <a:xfrm>
              <a:off x="334963" y="184318"/>
              <a:ext cx="5027017"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述职报告：不足之处与改进策略</a:t>
              </a:r>
              <a:endParaRPr lang="zh-CN" altLang="en-US" sz="2800" dirty="0">
                <a:latin typeface="+mj-ea"/>
                <a:ea typeface="+mj-ea"/>
                <a:cs typeface="思源黑体 CN Normal" panose="020B0400000000000000" pitchFamily="34" charset="-122"/>
                <a:sym typeface="+mj-ea"/>
              </a:endParaRPr>
            </a:p>
          </p:txBody>
        </p:sp>
      </p:grpSp>
      <p:sp>
        <p:nvSpPr>
          <p:cNvPr id="4" name="小红书平北职场PPT2"/>
          <p:cNvSpPr/>
          <p:nvPr/>
        </p:nvSpPr>
        <p:spPr>
          <a:xfrm>
            <a:off x="334963" y="1467852"/>
            <a:ext cx="11522074" cy="1472357"/>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 name="小红书平北职场PPT3"/>
          <p:cNvSpPr/>
          <p:nvPr/>
        </p:nvSpPr>
        <p:spPr>
          <a:xfrm>
            <a:off x="334963" y="3280891"/>
            <a:ext cx="11522074" cy="1472357"/>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 name="小红书平北职场PPT4"/>
          <p:cNvSpPr/>
          <p:nvPr/>
        </p:nvSpPr>
        <p:spPr>
          <a:xfrm>
            <a:off x="334963" y="5093930"/>
            <a:ext cx="11522074" cy="1472357"/>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7" name="小红书平北职场PPT5"/>
          <p:cNvGrpSpPr/>
          <p:nvPr/>
        </p:nvGrpSpPr>
        <p:grpSpPr>
          <a:xfrm>
            <a:off x="334963" y="1467852"/>
            <a:ext cx="1473174" cy="3691551"/>
            <a:chOff x="334963" y="891292"/>
            <a:chExt cx="2086292" cy="4075349"/>
          </a:xfrm>
        </p:grpSpPr>
        <p:sp>
          <p:nvSpPr>
            <p:cNvPr id="114" name="小红书平北职场PPT5-1"/>
            <p:cNvSpPr/>
            <p:nvPr/>
          </p:nvSpPr>
          <p:spPr>
            <a:xfrm>
              <a:off x="334963" y="891292"/>
              <a:ext cx="2086292" cy="72280"/>
            </a:xfrm>
            <a:prstGeom prst="rect">
              <a:avLst/>
            </a:prstGeom>
            <a:gradFill>
              <a:gsLst>
                <a:gs pos="0">
                  <a:schemeClr val="accent1">
                    <a:lumMod val="60000"/>
                    <a:lumOff val="40000"/>
                  </a:schemeClr>
                </a:gs>
                <a:gs pos="100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115" name="小红书平北职场PPT5-2"/>
            <p:cNvSpPr/>
            <p:nvPr/>
          </p:nvSpPr>
          <p:spPr>
            <a:xfrm>
              <a:off x="334963" y="2892827"/>
              <a:ext cx="2086292" cy="72280"/>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116" name="小红书平北职场PPT5-3"/>
            <p:cNvSpPr/>
            <p:nvPr/>
          </p:nvSpPr>
          <p:spPr>
            <a:xfrm>
              <a:off x="334963" y="4894361"/>
              <a:ext cx="2086292" cy="72280"/>
            </a:xfrm>
            <a:prstGeom prst="rect">
              <a:avLst/>
            </a:prstGeom>
            <a:gradFill>
              <a:gsLst>
                <a:gs pos="0">
                  <a:schemeClr val="accent1">
                    <a:lumMod val="60000"/>
                    <a:lumOff val="40000"/>
                  </a:schemeClr>
                </a:gs>
                <a:gs pos="100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grpSp>
      <p:grpSp>
        <p:nvGrpSpPr>
          <p:cNvPr id="8" name="小红书平北职场PPT6"/>
          <p:cNvGrpSpPr/>
          <p:nvPr/>
        </p:nvGrpSpPr>
        <p:grpSpPr>
          <a:xfrm>
            <a:off x="5806386" y="1467852"/>
            <a:ext cx="3358158" cy="5092575"/>
            <a:chOff x="5848350" y="891292"/>
            <a:chExt cx="4535513" cy="5622033"/>
          </a:xfrm>
        </p:grpSpPr>
        <p:sp>
          <p:nvSpPr>
            <p:cNvPr id="109" name="小红书平北职场PPT6-1"/>
            <p:cNvSpPr/>
            <p:nvPr/>
          </p:nvSpPr>
          <p:spPr bwMode="auto">
            <a:xfrm>
              <a:off x="5848350" y="2891322"/>
              <a:ext cx="3794708" cy="3622003"/>
            </a:xfrm>
            <a:custGeom>
              <a:avLst/>
              <a:gdLst>
                <a:gd name="T0" fmla="*/ 251 w 251"/>
                <a:gd name="T1" fmla="*/ 0 h 297"/>
                <a:gd name="T2" fmla="*/ 0 w 251"/>
                <a:gd name="T3" fmla="*/ 164 h 297"/>
                <a:gd name="T4" fmla="*/ 0 w 251"/>
                <a:gd name="T5" fmla="*/ 297 h 297"/>
                <a:gd name="T6" fmla="*/ 251 w 251"/>
                <a:gd name="T7" fmla="*/ 134 h 297"/>
                <a:gd name="T8" fmla="*/ 251 w 251"/>
                <a:gd name="T9" fmla="*/ 0 h 297"/>
              </a:gdLst>
              <a:ahLst/>
              <a:cxnLst>
                <a:cxn ang="0">
                  <a:pos x="T0" y="T1"/>
                </a:cxn>
                <a:cxn ang="0">
                  <a:pos x="T2" y="T3"/>
                </a:cxn>
                <a:cxn ang="0">
                  <a:pos x="T4" y="T5"/>
                </a:cxn>
                <a:cxn ang="0">
                  <a:pos x="T6" y="T7"/>
                </a:cxn>
                <a:cxn ang="0">
                  <a:pos x="T8" y="T9"/>
                </a:cxn>
              </a:cxnLst>
              <a:rect l="0" t="0" r="r" b="b"/>
              <a:pathLst>
                <a:path w="251" h="297">
                  <a:moveTo>
                    <a:pt x="251" y="0"/>
                  </a:moveTo>
                  <a:lnTo>
                    <a:pt x="0" y="164"/>
                  </a:lnTo>
                  <a:lnTo>
                    <a:pt x="0" y="297"/>
                  </a:lnTo>
                  <a:lnTo>
                    <a:pt x="251" y="134"/>
                  </a:lnTo>
                  <a:lnTo>
                    <a:pt x="251" y="0"/>
                  </a:lnTo>
                  <a:close/>
                </a:path>
              </a:pathLst>
            </a:custGeom>
            <a:solidFill>
              <a:schemeClr val="bg1">
                <a:lumMod val="85000"/>
              </a:schemeClr>
            </a:solidFill>
            <a:ln w="11622">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ru-RU">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0" name="小红书平北职场PPT6-2"/>
            <p:cNvSpPr/>
            <p:nvPr/>
          </p:nvSpPr>
          <p:spPr bwMode="auto">
            <a:xfrm>
              <a:off x="5848350" y="1454424"/>
              <a:ext cx="3462109" cy="3071065"/>
            </a:xfrm>
            <a:custGeom>
              <a:avLst/>
              <a:gdLst>
                <a:gd name="connsiteX0" fmla="*/ 2150954 w 2989418"/>
                <a:gd name="connsiteY0" fmla="*/ 0 h 3287366"/>
                <a:gd name="connsiteX1" fmla="*/ 2989418 w 2989418"/>
                <a:gd name="connsiteY1" fmla="*/ 1146472 h 3287366"/>
                <a:gd name="connsiteX2" fmla="*/ 0 w 2989418"/>
                <a:gd name="connsiteY2" fmla="*/ 3287366 h 3287366"/>
                <a:gd name="connsiteX3" fmla="*/ 0 w 2989418"/>
                <a:gd name="connsiteY3" fmla="*/ 1540422 h 3287366"/>
              </a:gdLst>
              <a:ahLst/>
              <a:cxnLst>
                <a:cxn ang="0">
                  <a:pos x="connsiteX0" y="connsiteY0"/>
                </a:cxn>
                <a:cxn ang="0">
                  <a:pos x="connsiteX1" y="connsiteY1"/>
                </a:cxn>
                <a:cxn ang="0">
                  <a:pos x="connsiteX2" y="connsiteY2"/>
                </a:cxn>
                <a:cxn ang="0">
                  <a:pos x="connsiteX3" y="connsiteY3"/>
                </a:cxn>
              </a:cxnLst>
              <a:rect l="l" t="t" r="r" b="b"/>
              <a:pathLst>
                <a:path w="2989418" h="3287366">
                  <a:moveTo>
                    <a:pt x="2150954" y="0"/>
                  </a:moveTo>
                  <a:lnTo>
                    <a:pt x="2989418" y="1146472"/>
                  </a:lnTo>
                  <a:lnTo>
                    <a:pt x="0" y="3287366"/>
                  </a:lnTo>
                  <a:lnTo>
                    <a:pt x="0" y="1540422"/>
                  </a:lnTo>
                  <a:close/>
                </a:path>
              </a:pathLst>
            </a:custGeom>
            <a:solidFill>
              <a:schemeClr val="bg1">
                <a:lumMod val="85000"/>
              </a:schemeClr>
            </a:solidFill>
            <a:ln w="11622">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ru-RU">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1" name="小红书平北职场PPT6-3"/>
            <p:cNvSpPr/>
            <p:nvPr/>
          </p:nvSpPr>
          <p:spPr bwMode="auto">
            <a:xfrm>
              <a:off x="5848350" y="4891343"/>
              <a:ext cx="3462109" cy="1621972"/>
            </a:xfrm>
            <a:custGeom>
              <a:avLst/>
              <a:gdLst>
                <a:gd name="T0" fmla="*/ 0 w 229"/>
                <a:gd name="T1" fmla="*/ 0 h 133"/>
                <a:gd name="T2" fmla="*/ 0 w 229"/>
                <a:gd name="T3" fmla="*/ 133 h 133"/>
                <a:gd name="T4" fmla="*/ 131 w 229"/>
                <a:gd name="T5" fmla="*/ 133 h 133"/>
                <a:gd name="T6" fmla="*/ 229 w 229"/>
                <a:gd name="T7" fmla="*/ 0 h 133"/>
                <a:gd name="T8" fmla="*/ 0 w 229"/>
                <a:gd name="T9" fmla="*/ 0 h 133"/>
              </a:gdLst>
              <a:ahLst/>
              <a:cxnLst>
                <a:cxn ang="0">
                  <a:pos x="T0" y="T1"/>
                </a:cxn>
                <a:cxn ang="0">
                  <a:pos x="T2" y="T3"/>
                </a:cxn>
                <a:cxn ang="0">
                  <a:pos x="T4" y="T5"/>
                </a:cxn>
                <a:cxn ang="0">
                  <a:pos x="T6" y="T7"/>
                </a:cxn>
                <a:cxn ang="0">
                  <a:pos x="T8" y="T9"/>
                </a:cxn>
              </a:cxnLst>
              <a:rect l="0" t="0" r="r" b="b"/>
              <a:pathLst>
                <a:path w="229" h="133">
                  <a:moveTo>
                    <a:pt x="0" y="0"/>
                  </a:moveTo>
                  <a:lnTo>
                    <a:pt x="0" y="133"/>
                  </a:lnTo>
                  <a:lnTo>
                    <a:pt x="131" y="133"/>
                  </a:lnTo>
                  <a:lnTo>
                    <a:pt x="229" y="0"/>
                  </a:lnTo>
                  <a:lnTo>
                    <a:pt x="0" y="0"/>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112" name="小红书平北职场PPT6-4"/>
            <p:cNvSpPr/>
            <p:nvPr/>
          </p:nvSpPr>
          <p:spPr bwMode="auto">
            <a:xfrm>
              <a:off x="5848350" y="2891322"/>
              <a:ext cx="4535513" cy="1634167"/>
            </a:xfrm>
            <a:custGeom>
              <a:avLst/>
              <a:gdLst>
                <a:gd name="T0" fmla="*/ 0 w 300"/>
                <a:gd name="T1" fmla="*/ 134 h 134"/>
                <a:gd name="T2" fmla="*/ 251 w 300"/>
                <a:gd name="T3" fmla="*/ 134 h 134"/>
                <a:gd name="T4" fmla="*/ 300 w 300"/>
                <a:gd name="T5" fmla="*/ 66 h 134"/>
                <a:gd name="T6" fmla="*/ 251 w 300"/>
                <a:gd name="T7" fmla="*/ 0 h 134"/>
                <a:gd name="T8" fmla="*/ 0 w 300"/>
                <a:gd name="T9" fmla="*/ 0 h 134"/>
                <a:gd name="T10" fmla="*/ 0 w 300"/>
                <a:gd name="T11" fmla="*/ 134 h 134"/>
              </a:gdLst>
              <a:ahLst/>
              <a:cxnLst>
                <a:cxn ang="0">
                  <a:pos x="T0" y="T1"/>
                </a:cxn>
                <a:cxn ang="0">
                  <a:pos x="T2" y="T3"/>
                </a:cxn>
                <a:cxn ang="0">
                  <a:pos x="T4" y="T5"/>
                </a:cxn>
                <a:cxn ang="0">
                  <a:pos x="T6" y="T7"/>
                </a:cxn>
                <a:cxn ang="0">
                  <a:pos x="T8" y="T9"/>
                </a:cxn>
                <a:cxn ang="0">
                  <a:pos x="T10" y="T11"/>
                </a:cxn>
              </a:cxnLst>
              <a:rect l="0" t="0" r="r" b="b"/>
              <a:pathLst>
                <a:path w="300" h="134">
                  <a:moveTo>
                    <a:pt x="0" y="134"/>
                  </a:moveTo>
                  <a:lnTo>
                    <a:pt x="251" y="134"/>
                  </a:lnTo>
                  <a:lnTo>
                    <a:pt x="300" y="66"/>
                  </a:lnTo>
                  <a:lnTo>
                    <a:pt x="251" y="0"/>
                  </a:lnTo>
                  <a:lnTo>
                    <a:pt x="0" y="0"/>
                  </a:lnTo>
                  <a:lnTo>
                    <a:pt x="0" y="134"/>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113" name="小红书平北职场PPT6-5"/>
            <p:cNvSpPr/>
            <p:nvPr/>
          </p:nvSpPr>
          <p:spPr bwMode="auto">
            <a:xfrm>
              <a:off x="5848350" y="891292"/>
              <a:ext cx="3462109" cy="1634167"/>
            </a:xfrm>
            <a:custGeom>
              <a:avLst/>
              <a:gdLst>
                <a:gd name="T0" fmla="*/ 229 w 229"/>
                <a:gd name="T1" fmla="*/ 134 h 134"/>
                <a:gd name="T2" fmla="*/ 131 w 229"/>
                <a:gd name="T3" fmla="*/ 0 h 134"/>
                <a:gd name="T4" fmla="*/ 0 w 229"/>
                <a:gd name="T5" fmla="*/ 0 h 134"/>
                <a:gd name="T6" fmla="*/ 0 w 229"/>
                <a:gd name="T7" fmla="*/ 134 h 134"/>
                <a:gd name="T8" fmla="*/ 229 w 229"/>
                <a:gd name="T9" fmla="*/ 134 h 134"/>
              </a:gdLst>
              <a:ahLst/>
              <a:cxnLst>
                <a:cxn ang="0">
                  <a:pos x="T0" y="T1"/>
                </a:cxn>
                <a:cxn ang="0">
                  <a:pos x="T2" y="T3"/>
                </a:cxn>
                <a:cxn ang="0">
                  <a:pos x="T4" y="T5"/>
                </a:cxn>
                <a:cxn ang="0">
                  <a:pos x="T6" y="T7"/>
                </a:cxn>
                <a:cxn ang="0">
                  <a:pos x="T8" y="T9"/>
                </a:cxn>
              </a:cxnLst>
              <a:rect l="0" t="0" r="r" b="b"/>
              <a:pathLst>
                <a:path w="229" h="134">
                  <a:moveTo>
                    <a:pt x="229" y="134"/>
                  </a:moveTo>
                  <a:lnTo>
                    <a:pt x="131" y="0"/>
                  </a:lnTo>
                  <a:lnTo>
                    <a:pt x="0" y="0"/>
                  </a:lnTo>
                  <a:lnTo>
                    <a:pt x="0" y="134"/>
                  </a:lnTo>
                  <a:lnTo>
                    <a:pt x="229" y="134"/>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grpSp>
      <p:sp>
        <p:nvSpPr>
          <p:cNvPr id="9" name="小红书平北职场PPT7"/>
          <p:cNvSpPr txBox="1"/>
          <p:nvPr/>
        </p:nvSpPr>
        <p:spPr>
          <a:xfrm>
            <a:off x="5998761" y="1884820"/>
            <a:ext cx="1265090" cy="70788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复合型</a:t>
            </a:r>
            <a:endParaRPr kumimoji="0" lang="en-US" altLang="zh-CN"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02O团队</a:t>
            </a:r>
            <a:endPar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sp>
        <p:nvSpPr>
          <p:cNvPr id="10" name="小红书平北职场PPT8"/>
          <p:cNvSpPr txBox="1"/>
          <p:nvPr/>
        </p:nvSpPr>
        <p:spPr>
          <a:xfrm>
            <a:off x="5998761" y="3696496"/>
            <a:ext cx="1265090" cy="70788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专业型 </a:t>
            </a:r>
            <a:endParaRPr kumimoji="0" lang="en-US" altLang="zh-CN"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02O团队</a:t>
            </a:r>
            <a:endPar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sp>
        <p:nvSpPr>
          <p:cNvPr id="11" name="小红书平北职场PPT9"/>
          <p:cNvSpPr txBox="1"/>
          <p:nvPr/>
        </p:nvSpPr>
        <p:spPr>
          <a:xfrm>
            <a:off x="5998761" y="5488213"/>
            <a:ext cx="1265090" cy="70788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综合型</a:t>
            </a:r>
            <a:endParaRPr kumimoji="0" lang="en-US" altLang="zh-CN"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02O团队</a:t>
            </a:r>
            <a:endPar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2" name="小红书平北职场PPT10"/>
          <p:cNvGrpSpPr/>
          <p:nvPr/>
        </p:nvGrpSpPr>
        <p:grpSpPr>
          <a:xfrm>
            <a:off x="8946707" y="1734239"/>
            <a:ext cx="2687389" cy="4503412"/>
            <a:chOff x="9187341" y="1279996"/>
            <a:chExt cx="2687389" cy="4971616"/>
          </a:xfrm>
        </p:grpSpPr>
        <p:sp>
          <p:nvSpPr>
            <p:cNvPr id="106" name="小红书平北职场PPT10-1"/>
            <p:cNvSpPr txBox="1"/>
            <p:nvPr/>
          </p:nvSpPr>
          <p:spPr>
            <a:xfrm>
              <a:off x="9187341" y="1279996"/>
              <a:ext cx="2687389" cy="880089"/>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cs typeface="思源黑体 CN Normal" panose="020B0400000000000000" pitchFamily="34" charset="-122"/>
                </a:rPr>
                <a:t>在全渠道架构内设 </a:t>
              </a:r>
              <a:r>
                <a:rPr lang="en-US" altLang="zh-CN" dirty="0">
                  <a:cs typeface="思源黑体 CN Normal" panose="020B0400000000000000" pitchFamily="34" charset="-122"/>
                </a:rPr>
                <a:t>O2O </a:t>
              </a:r>
              <a:r>
                <a:rPr lang="zh-CN" altLang="en-US" dirty="0">
                  <a:cs typeface="思源黑体 CN Normal" panose="020B0400000000000000" pitchFamily="34" charset="-122"/>
                </a:rPr>
                <a:t>部门，整合资源，实现品牌策略一体化，提升品牌价值与客户忠诚度</a:t>
              </a:r>
              <a:endParaRPr lang="zh-CN" altLang="en-US" dirty="0">
                <a:cs typeface="思源黑体 CN Normal" panose="020B0400000000000000" pitchFamily="34" charset="-122"/>
              </a:endParaRPr>
            </a:p>
          </p:txBody>
        </p:sp>
        <p:sp>
          <p:nvSpPr>
            <p:cNvPr id="107" name="小红书平北职场PPT10-2"/>
            <p:cNvSpPr txBox="1"/>
            <p:nvPr/>
          </p:nvSpPr>
          <p:spPr>
            <a:xfrm>
              <a:off x="9579991" y="3188241"/>
              <a:ext cx="2279655" cy="880089"/>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cs typeface="思源黑体 CN Normal" panose="020B0400000000000000" pitchFamily="34" charset="-122"/>
                </a:rPr>
                <a:t>设立市场推广部门，整合跨平台资源，协同推广，提升品牌曝光度与市场影响力</a:t>
              </a:r>
              <a:endParaRPr lang="zh-CN" altLang="en-US" dirty="0">
                <a:cs typeface="思源黑体 CN Normal" panose="020B0400000000000000" pitchFamily="34" charset="-122"/>
              </a:endParaRPr>
            </a:p>
          </p:txBody>
        </p:sp>
        <p:sp>
          <p:nvSpPr>
            <p:cNvPr id="108" name="小红书平北职场PPT10-3"/>
            <p:cNvSpPr txBox="1"/>
            <p:nvPr/>
          </p:nvSpPr>
          <p:spPr>
            <a:xfrm>
              <a:off x="9187341" y="5371523"/>
              <a:ext cx="2687389" cy="880089"/>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cs typeface="思源黑体 CN Normal" panose="020B0400000000000000" pitchFamily="34" charset="-122"/>
                </a:rPr>
                <a:t>通过精细化用户运营和数据驱动决策，持续提升客户满意度和品牌忠诚度，确保品牌长期稳定发展</a:t>
              </a:r>
              <a:endParaRPr lang="zh-CN" altLang="en-US" dirty="0">
                <a:cs typeface="思源黑体 CN Normal" panose="020B0400000000000000" pitchFamily="34" charset="-122"/>
              </a:endParaRPr>
            </a:p>
          </p:txBody>
        </p:sp>
      </p:grpSp>
      <p:grpSp>
        <p:nvGrpSpPr>
          <p:cNvPr id="13" name="小红书平北职场PPT11"/>
          <p:cNvGrpSpPr/>
          <p:nvPr/>
        </p:nvGrpSpPr>
        <p:grpSpPr>
          <a:xfrm>
            <a:off x="6896488" y="1750849"/>
            <a:ext cx="615214" cy="754406"/>
            <a:chOff x="660848" y="3129412"/>
            <a:chExt cx="339490" cy="416301"/>
          </a:xfrm>
          <a:gradFill>
            <a:gsLst>
              <a:gs pos="0">
                <a:schemeClr val="bg1">
                  <a:alpha val="50000"/>
                </a:schemeClr>
              </a:gs>
              <a:gs pos="80000">
                <a:schemeClr val="bg1">
                  <a:alpha val="0"/>
                </a:schemeClr>
              </a:gs>
            </a:gsLst>
            <a:lin ang="8100000" scaled="1"/>
          </a:gradFill>
        </p:grpSpPr>
        <p:sp>
          <p:nvSpPr>
            <p:cNvPr id="91" name="小红书平北职场PPT11-1"/>
            <p:cNvSpPr/>
            <p:nvPr/>
          </p:nvSpPr>
          <p:spPr>
            <a:xfrm>
              <a:off x="660848" y="3464421"/>
              <a:ext cx="109698" cy="81292"/>
            </a:xfrm>
            <a:custGeom>
              <a:avLst/>
              <a:gdLst>
                <a:gd name="connsiteX0" fmla="*/ 82638 w 109698"/>
                <a:gd name="connsiteY0" fmla="*/ 25 h 81292"/>
                <a:gd name="connsiteX1" fmla="*/ 26817 w 109698"/>
                <a:gd name="connsiteY1" fmla="*/ 0 h 81292"/>
                <a:gd name="connsiteX2" fmla="*/ 7842 w 109698"/>
                <a:gd name="connsiteY2" fmla="*/ 8642 h 81292"/>
                <a:gd name="connsiteX3" fmla="*/ 0 w 109698"/>
                <a:gd name="connsiteY3" fmla="*/ 29430 h 81292"/>
                <a:gd name="connsiteX4" fmla="*/ 38 w 109698"/>
                <a:gd name="connsiteY4" fmla="*/ 57555 h 81292"/>
                <a:gd name="connsiteX5" fmla="*/ 6069 w 109698"/>
                <a:gd name="connsiteY5" fmla="*/ 68382 h 81292"/>
                <a:gd name="connsiteX6" fmla="*/ 54848 w 109698"/>
                <a:gd name="connsiteY6" fmla="*/ 81293 h 81292"/>
                <a:gd name="connsiteX7" fmla="*/ 103629 w 109698"/>
                <a:gd name="connsiteY7" fmla="*/ 68382 h 81292"/>
                <a:gd name="connsiteX8" fmla="*/ 109664 w 109698"/>
                <a:gd name="connsiteY8" fmla="*/ 57551 h 81292"/>
                <a:gd name="connsiteX9" fmla="*/ 109698 w 109698"/>
                <a:gd name="connsiteY9" fmla="*/ 29455 h 81292"/>
                <a:gd name="connsiteX10" fmla="*/ 101857 w 109698"/>
                <a:gd name="connsiteY10" fmla="*/ 8801 h 81292"/>
                <a:gd name="connsiteX11" fmla="*/ 82638 w 109698"/>
                <a:gd name="connsiteY11" fmla="*/ 25 h 81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698" h="81292">
                  <a:moveTo>
                    <a:pt x="82638" y="25"/>
                  </a:moveTo>
                  <a:cubicBezTo>
                    <a:pt x="73401" y="25"/>
                    <a:pt x="36057" y="0"/>
                    <a:pt x="26817" y="0"/>
                  </a:cubicBezTo>
                  <a:cubicBezTo>
                    <a:pt x="19656" y="0"/>
                    <a:pt x="12918" y="3071"/>
                    <a:pt x="7842" y="8642"/>
                  </a:cubicBezTo>
                  <a:cubicBezTo>
                    <a:pt x="2774" y="14206"/>
                    <a:pt x="-9" y="21591"/>
                    <a:pt x="0" y="29430"/>
                  </a:cubicBezTo>
                  <a:lnTo>
                    <a:pt x="38" y="57555"/>
                  </a:lnTo>
                  <a:cubicBezTo>
                    <a:pt x="43" y="62115"/>
                    <a:pt x="2369" y="66295"/>
                    <a:pt x="6069" y="68382"/>
                  </a:cubicBezTo>
                  <a:cubicBezTo>
                    <a:pt x="21043" y="76827"/>
                    <a:pt x="37911" y="81293"/>
                    <a:pt x="54848" y="81293"/>
                  </a:cubicBezTo>
                  <a:cubicBezTo>
                    <a:pt x="71788" y="81293"/>
                    <a:pt x="88655" y="76827"/>
                    <a:pt x="103629" y="68382"/>
                  </a:cubicBezTo>
                  <a:cubicBezTo>
                    <a:pt x="107330" y="66295"/>
                    <a:pt x="109658" y="62115"/>
                    <a:pt x="109664" y="57551"/>
                  </a:cubicBezTo>
                  <a:lnTo>
                    <a:pt x="109698" y="29455"/>
                  </a:lnTo>
                  <a:cubicBezTo>
                    <a:pt x="109710" y="21702"/>
                    <a:pt x="106924" y="14366"/>
                    <a:pt x="101857" y="8801"/>
                  </a:cubicBezTo>
                  <a:cubicBezTo>
                    <a:pt x="96781" y="3223"/>
                    <a:pt x="89773" y="25"/>
                    <a:pt x="82638" y="25"/>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2" name="小红书平北职场PPT11-2"/>
            <p:cNvSpPr/>
            <p:nvPr/>
          </p:nvSpPr>
          <p:spPr>
            <a:xfrm>
              <a:off x="675790" y="3366262"/>
              <a:ext cx="79791" cy="87518"/>
            </a:xfrm>
            <a:custGeom>
              <a:avLst/>
              <a:gdLst>
                <a:gd name="connsiteX0" fmla="*/ 39897 w 79791"/>
                <a:gd name="connsiteY0" fmla="*/ 87519 h 87518"/>
                <a:gd name="connsiteX1" fmla="*/ 79792 w 79791"/>
                <a:gd name="connsiteY1" fmla="*/ 43757 h 87518"/>
                <a:gd name="connsiteX2" fmla="*/ 39897 w 79791"/>
                <a:gd name="connsiteY2" fmla="*/ 0 h 87518"/>
                <a:gd name="connsiteX3" fmla="*/ 0 w 79791"/>
                <a:gd name="connsiteY3" fmla="*/ 43757 h 87518"/>
                <a:gd name="connsiteX4" fmla="*/ 39897 w 79791"/>
                <a:gd name="connsiteY4" fmla="*/ 87519 h 87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91" h="87518">
                  <a:moveTo>
                    <a:pt x="39897" y="87519"/>
                  </a:moveTo>
                  <a:cubicBezTo>
                    <a:pt x="61896" y="87519"/>
                    <a:pt x="79792" y="67887"/>
                    <a:pt x="79792" y="43757"/>
                  </a:cubicBezTo>
                  <a:cubicBezTo>
                    <a:pt x="79792" y="19631"/>
                    <a:pt x="61893" y="0"/>
                    <a:pt x="39897" y="0"/>
                  </a:cubicBezTo>
                  <a:cubicBezTo>
                    <a:pt x="17898" y="0"/>
                    <a:pt x="0" y="19631"/>
                    <a:pt x="0" y="43757"/>
                  </a:cubicBezTo>
                  <a:cubicBezTo>
                    <a:pt x="0" y="67887"/>
                    <a:pt x="17898" y="87519"/>
                    <a:pt x="39897" y="87519"/>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3" name="小红书平北职场PPT11-3"/>
            <p:cNvSpPr/>
            <p:nvPr/>
          </p:nvSpPr>
          <p:spPr>
            <a:xfrm>
              <a:off x="890637" y="3464421"/>
              <a:ext cx="109701" cy="81292"/>
            </a:xfrm>
            <a:custGeom>
              <a:avLst/>
              <a:gdLst>
                <a:gd name="connsiteX0" fmla="*/ 101857 w 109701"/>
                <a:gd name="connsiteY0" fmla="*/ 8801 h 81292"/>
                <a:gd name="connsiteX1" fmla="*/ 82638 w 109701"/>
                <a:gd name="connsiteY1" fmla="*/ 25 h 81292"/>
                <a:gd name="connsiteX2" fmla="*/ 26814 w 109701"/>
                <a:gd name="connsiteY2" fmla="*/ 0 h 81292"/>
                <a:gd name="connsiteX3" fmla="*/ 7842 w 109701"/>
                <a:gd name="connsiteY3" fmla="*/ 8642 h 81292"/>
                <a:gd name="connsiteX4" fmla="*/ 0 w 109701"/>
                <a:gd name="connsiteY4" fmla="*/ 29430 h 81292"/>
                <a:gd name="connsiteX5" fmla="*/ 38 w 109701"/>
                <a:gd name="connsiteY5" fmla="*/ 57555 h 81292"/>
                <a:gd name="connsiteX6" fmla="*/ 6073 w 109701"/>
                <a:gd name="connsiteY6" fmla="*/ 68382 h 81292"/>
                <a:gd name="connsiteX7" fmla="*/ 54851 w 109701"/>
                <a:gd name="connsiteY7" fmla="*/ 81293 h 81292"/>
                <a:gd name="connsiteX8" fmla="*/ 103629 w 109701"/>
                <a:gd name="connsiteY8" fmla="*/ 68382 h 81292"/>
                <a:gd name="connsiteX9" fmla="*/ 109664 w 109701"/>
                <a:gd name="connsiteY9" fmla="*/ 57551 h 81292"/>
                <a:gd name="connsiteX10" fmla="*/ 109702 w 109701"/>
                <a:gd name="connsiteY10" fmla="*/ 29452 h 81292"/>
                <a:gd name="connsiteX11" fmla="*/ 101857 w 109701"/>
                <a:gd name="connsiteY11" fmla="*/ 8801 h 81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701" h="81292">
                  <a:moveTo>
                    <a:pt x="101857" y="8801"/>
                  </a:moveTo>
                  <a:cubicBezTo>
                    <a:pt x="96778" y="3223"/>
                    <a:pt x="89773" y="25"/>
                    <a:pt x="82638" y="25"/>
                  </a:cubicBezTo>
                  <a:cubicBezTo>
                    <a:pt x="73401" y="25"/>
                    <a:pt x="36058" y="0"/>
                    <a:pt x="26814" y="0"/>
                  </a:cubicBezTo>
                  <a:cubicBezTo>
                    <a:pt x="19653" y="0"/>
                    <a:pt x="12915" y="3071"/>
                    <a:pt x="7842" y="8642"/>
                  </a:cubicBezTo>
                  <a:cubicBezTo>
                    <a:pt x="2775" y="14210"/>
                    <a:pt x="-8" y="21591"/>
                    <a:pt x="0" y="29430"/>
                  </a:cubicBezTo>
                  <a:lnTo>
                    <a:pt x="38" y="57555"/>
                  </a:lnTo>
                  <a:cubicBezTo>
                    <a:pt x="44" y="62115"/>
                    <a:pt x="2372" y="66295"/>
                    <a:pt x="6073" y="68382"/>
                  </a:cubicBezTo>
                  <a:cubicBezTo>
                    <a:pt x="21043" y="76827"/>
                    <a:pt x="37911" y="81293"/>
                    <a:pt x="54851" y="81293"/>
                  </a:cubicBezTo>
                  <a:cubicBezTo>
                    <a:pt x="71788" y="81293"/>
                    <a:pt x="88655" y="76827"/>
                    <a:pt x="103629" y="68382"/>
                  </a:cubicBezTo>
                  <a:cubicBezTo>
                    <a:pt x="107330" y="66295"/>
                    <a:pt x="109658" y="62115"/>
                    <a:pt x="109664" y="57551"/>
                  </a:cubicBezTo>
                  <a:lnTo>
                    <a:pt x="109702" y="29452"/>
                  </a:lnTo>
                  <a:cubicBezTo>
                    <a:pt x="109711" y="21702"/>
                    <a:pt x="106925" y="14366"/>
                    <a:pt x="101857" y="8801"/>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4" name="小红书平北职场PPT11-4"/>
            <p:cNvSpPr/>
            <p:nvPr/>
          </p:nvSpPr>
          <p:spPr>
            <a:xfrm>
              <a:off x="905583" y="3366262"/>
              <a:ext cx="79787" cy="87515"/>
            </a:xfrm>
            <a:custGeom>
              <a:avLst/>
              <a:gdLst>
                <a:gd name="connsiteX0" fmla="*/ 0 w 79787"/>
                <a:gd name="connsiteY0" fmla="*/ 43757 h 87515"/>
                <a:gd name="connsiteX1" fmla="*/ 39894 w 79787"/>
                <a:gd name="connsiteY1" fmla="*/ 87515 h 87515"/>
                <a:gd name="connsiteX2" fmla="*/ 79788 w 79787"/>
                <a:gd name="connsiteY2" fmla="*/ 43757 h 87515"/>
                <a:gd name="connsiteX3" fmla="*/ 39894 w 79787"/>
                <a:gd name="connsiteY3" fmla="*/ 0 h 87515"/>
                <a:gd name="connsiteX4" fmla="*/ 0 w 79787"/>
                <a:gd name="connsiteY4" fmla="*/ 43757 h 87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87" h="87515">
                  <a:moveTo>
                    <a:pt x="0" y="43757"/>
                  </a:moveTo>
                  <a:cubicBezTo>
                    <a:pt x="0" y="67887"/>
                    <a:pt x="17895" y="87515"/>
                    <a:pt x="39894" y="87515"/>
                  </a:cubicBezTo>
                  <a:cubicBezTo>
                    <a:pt x="61890" y="87515"/>
                    <a:pt x="79788" y="67887"/>
                    <a:pt x="79788" y="43757"/>
                  </a:cubicBezTo>
                  <a:cubicBezTo>
                    <a:pt x="79788" y="19629"/>
                    <a:pt x="61890" y="0"/>
                    <a:pt x="39894" y="0"/>
                  </a:cubicBezTo>
                  <a:cubicBezTo>
                    <a:pt x="17895" y="0"/>
                    <a:pt x="0" y="19631"/>
                    <a:pt x="0" y="43757"/>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5" name="小红书平北职场PPT11-5"/>
            <p:cNvSpPr/>
            <p:nvPr/>
          </p:nvSpPr>
          <p:spPr>
            <a:xfrm>
              <a:off x="819423" y="3129412"/>
              <a:ext cx="22239" cy="38786"/>
            </a:xfrm>
            <a:custGeom>
              <a:avLst/>
              <a:gdLst>
                <a:gd name="connsiteX0" fmla="*/ 11120 w 22239"/>
                <a:gd name="connsiteY0" fmla="*/ 38787 h 38786"/>
                <a:gd name="connsiteX1" fmla="*/ 22239 w 22239"/>
                <a:gd name="connsiteY1" fmla="*/ 26591 h 38786"/>
                <a:gd name="connsiteX2" fmla="*/ 22239 w 22239"/>
                <a:gd name="connsiteY2" fmla="*/ 12196 h 38786"/>
                <a:gd name="connsiteX3" fmla="*/ 11120 w 22239"/>
                <a:gd name="connsiteY3" fmla="*/ 0 h 38786"/>
                <a:gd name="connsiteX4" fmla="*/ 0 w 22239"/>
                <a:gd name="connsiteY4" fmla="*/ 12196 h 38786"/>
                <a:gd name="connsiteX5" fmla="*/ 0 w 22239"/>
                <a:gd name="connsiteY5" fmla="*/ 26591 h 38786"/>
                <a:gd name="connsiteX6" fmla="*/ 11120 w 22239"/>
                <a:gd name="connsiteY6" fmla="*/ 38787 h 3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39" h="38786">
                  <a:moveTo>
                    <a:pt x="11120" y="38787"/>
                  </a:moveTo>
                  <a:cubicBezTo>
                    <a:pt x="17261" y="38787"/>
                    <a:pt x="22239" y="33324"/>
                    <a:pt x="22239" y="26591"/>
                  </a:cubicBezTo>
                  <a:lnTo>
                    <a:pt x="22239" y="12196"/>
                  </a:lnTo>
                  <a:cubicBezTo>
                    <a:pt x="22239" y="5460"/>
                    <a:pt x="17261" y="0"/>
                    <a:pt x="11120" y="0"/>
                  </a:cubicBezTo>
                  <a:cubicBezTo>
                    <a:pt x="4978" y="0"/>
                    <a:pt x="0" y="5460"/>
                    <a:pt x="0" y="12196"/>
                  </a:cubicBezTo>
                  <a:lnTo>
                    <a:pt x="0" y="26591"/>
                  </a:lnTo>
                  <a:cubicBezTo>
                    <a:pt x="0" y="33324"/>
                    <a:pt x="4978" y="38787"/>
                    <a:pt x="11120" y="38787"/>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6" name="小红书平北职场PPT11-6"/>
            <p:cNvSpPr/>
            <p:nvPr/>
          </p:nvSpPr>
          <p:spPr>
            <a:xfrm>
              <a:off x="919300" y="3253354"/>
              <a:ext cx="35362" cy="24392"/>
            </a:xfrm>
            <a:custGeom>
              <a:avLst/>
              <a:gdLst>
                <a:gd name="connsiteX0" fmla="*/ 0 w 35362"/>
                <a:gd name="connsiteY0" fmla="*/ 12196 h 24392"/>
                <a:gd name="connsiteX1" fmla="*/ 11120 w 35362"/>
                <a:gd name="connsiteY1" fmla="*/ 24393 h 24392"/>
                <a:gd name="connsiteX2" fmla="*/ 24243 w 35362"/>
                <a:gd name="connsiteY2" fmla="*/ 24393 h 24392"/>
                <a:gd name="connsiteX3" fmla="*/ 35362 w 35362"/>
                <a:gd name="connsiteY3" fmla="*/ 12196 h 24392"/>
                <a:gd name="connsiteX4" fmla="*/ 24243 w 35362"/>
                <a:gd name="connsiteY4" fmla="*/ 0 h 24392"/>
                <a:gd name="connsiteX5" fmla="*/ 11120 w 35362"/>
                <a:gd name="connsiteY5" fmla="*/ 0 h 24392"/>
                <a:gd name="connsiteX6" fmla="*/ 0 w 35362"/>
                <a:gd name="connsiteY6" fmla="*/ 12196 h 2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62" h="24392">
                  <a:moveTo>
                    <a:pt x="0" y="12196"/>
                  </a:moveTo>
                  <a:cubicBezTo>
                    <a:pt x="0" y="18933"/>
                    <a:pt x="4977" y="24393"/>
                    <a:pt x="11120" y="24393"/>
                  </a:cubicBezTo>
                  <a:lnTo>
                    <a:pt x="24243" y="24393"/>
                  </a:lnTo>
                  <a:cubicBezTo>
                    <a:pt x="30385" y="24393"/>
                    <a:pt x="35362" y="18933"/>
                    <a:pt x="35362" y="12196"/>
                  </a:cubicBezTo>
                  <a:cubicBezTo>
                    <a:pt x="35362" y="5459"/>
                    <a:pt x="30385" y="0"/>
                    <a:pt x="24243" y="0"/>
                  </a:cubicBezTo>
                  <a:lnTo>
                    <a:pt x="11120" y="0"/>
                  </a:lnTo>
                  <a:cubicBezTo>
                    <a:pt x="4977" y="0"/>
                    <a:pt x="0" y="5459"/>
                    <a:pt x="0" y="12196"/>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7" name="小红书平北职场PPT11-7"/>
            <p:cNvSpPr/>
            <p:nvPr/>
          </p:nvSpPr>
          <p:spPr>
            <a:xfrm>
              <a:off x="706424" y="3253354"/>
              <a:ext cx="35362" cy="24392"/>
            </a:xfrm>
            <a:custGeom>
              <a:avLst/>
              <a:gdLst>
                <a:gd name="connsiteX0" fmla="*/ 11120 w 35362"/>
                <a:gd name="connsiteY0" fmla="*/ 24393 h 24392"/>
                <a:gd name="connsiteX1" fmla="*/ 24243 w 35362"/>
                <a:gd name="connsiteY1" fmla="*/ 24393 h 24392"/>
                <a:gd name="connsiteX2" fmla="*/ 35363 w 35362"/>
                <a:gd name="connsiteY2" fmla="*/ 12196 h 24392"/>
                <a:gd name="connsiteX3" fmla="*/ 24243 w 35362"/>
                <a:gd name="connsiteY3" fmla="*/ 0 h 24392"/>
                <a:gd name="connsiteX4" fmla="*/ 11120 w 35362"/>
                <a:gd name="connsiteY4" fmla="*/ 0 h 24392"/>
                <a:gd name="connsiteX5" fmla="*/ 0 w 35362"/>
                <a:gd name="connsiteY5" fmla="*/ 12196 h 24392"/>
                <a:gd name="connsiteX6" fmla="*/ 11120 w 35362"/>
                <a:gd name="connsiteY6" fmla="*/ 24393 h 2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62" h="24392">
                  <a:moveTo>
                    <a:pt x="11120" y="24393"/>
                  </a:moveTo>
                  <a:lnTo>
                    <a:pt x="24243" y="24393"/>
                  </a:lnTo>
                  <a:cubicBezTo>
                    <a:pt x="30385" y="24393"/>
                    <a:pt x="35363" y="18933"/>
                    <a:pt x="35363" y="12196"/>
                  </a:cubicBezTo>
                  <a:cubicBezTo>
                    <a:pt x="35363" y="5459"/>
                    <a:pt x="30385" y="0"/>
                    <a:pt x="24243" y="0"/>
                  </a:cubicBezTo>
                  <a:lnTo>
                    <a:pt x="11120" y="0"/>
                  </a:lnTo>
                  <a:cubicBezTo>
                    <a:pt x="4981" y="0"/>
                    <a:pt x="0" y="5459"/>
                    <a:pt x="0" y="12196"/>
                  </a:cubicBezTo>
                  <a:cubicBezTo>
                    <a:pt x="0" y="18933"/>
                    <a:pt x="4978" y="24393"/>
                    <a:pt x="11120" y="24393"/>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8" name="小红书平北职场PPT11-8"/>
            <p:cNvSpPr/>
            <p:nvPr/>
          </p:nvSpPr>
          <p:spPr>
            <a:xfrm>
              <a:off x="721562" y="3191379"/>
              <a:ext cx="33606" cy="31594"/>
            </a:xfrm>
            <a:custGeom>
              <a:avLst/>
              <a:gdLst>
                <a:gd name="connsiteX0" fmla="*/ 5561 w 33606"/>
                <a:gd name="connsiteY0" fmla="*/ 22762 h 31594"/>
                <a:gd name="connsiteX1" fmla="*/ 16926 w 33606"/>
                <a:gd name="connsiteY1" fmla="*/ 29959 h 31594"/>
                <a:gd name="connsiteX2" fmla="*/ 22475 w 33606"/>
                <a:gd name="connsiteY2" fmla="*/ 31595 h 31594"/>
                <a:gd name="connsiteX3" fmla="*/ 32115 w 33606"/>
                <a:gd name="connsiteY3" fmla="*/ 25493 h 31594"/>
                <a:gd name="connsiteX4" fmla="*/ 28046 w 33606"/>
                <a:gd name="connsiteY4" fmla="*/ 8835 h 31594"/>
                <a:gd name="connsiteX5" fmla="*/ 16680 w 33606"/>
                <a:gd name="connsiteY5" fmla="*/ 1638 h 31594"/>
                <a:gd name="connsiteX6" fmla="*/ 1492 w 33606"/>
                <a:gd name="connsiteY6" fmla="*/ 6100 h 31594"/>
                <a:gd name="connsiteX7" fmla="*/ 5561 w 33606"/>
                <a:gd name="connsiteY7" fmla="*/ 22762 h 3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06" h="31594">
                  <a:moveTo>
                    <a:pt x="5561" y="22762"/>
                  </a:moveTo>
                  <a:lnTo>
                    <a:pt x="16926" y="29959"/>
                  </a:lnTo>
                  <a:cubicBezTo>
                    <a:pt x="18679" y="31068"/>
                    <a:pt x="20590" y="31595"/>
                    <a:pt x="22475" y="31595"/>
                  </a:cubicBezTo>
                  <a:cubicBezTo>
                    <a:pt x="26317" y="31595"/>
                    <a:pt x="30055" y="29410"/>
                    <a:pt x="32115" y="25493"/>
                  </a:cubicBezTo>
                  <a:cubicBezTo>
                    <a:pt x="35187" y="19663"/>
                    <a:pt x="33362" y="12201"/>
                    <a:pt x="28046" y="8835"/>
                  </a:cubicBezTo>
                  <a:lnTo>
                    <a:pt x="16680" y="1638"/>
                  </a:lnTo>
                  <a:cubicBezTo>
                    <a:pt x="11361" y="-1732"/>
                    <a:pt x="4562" y="266"/>
                    <a:pt x="1492" y="6100"/>
                  </a:cubicBezTo>
                  <a:cubicBezTo>
                    <a:pt x="-1580" y="11935"/>
                    <a:pt x="244" y="19392"/>
                    <a:pt x="5561" y="22762"/>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9" name="小红书平北职场PPT11-9"/>
            <p:cNvSpPr/>
            <p:nvPr/>
          </p:nvSpPr>
          <p:spPr>
            <a:xfrm>
              <a:off x="762921" y="3146014"/>
              <a:ext cx="28806" cy="36860"/>
            </a:xfrm>
            <a:custGeom>
              <a:avLst/>
              <a:gdLst>
                <a:gd name="connsiteX0" fmla="*/ 8055 w 28806"/>
                <a:gd name="connsiteY0" fmla="*/ 30763 h 36860"/>
                <a:gd name="connsiteX1" fmla="*/ 17694 w 28806"/>
                <a:gd name="connsiteY1" fmla="*/ 36861 h 36860"/>
                <a:gd name="connsiteX2" fmla="*/ 23245 w 28806"/>
                <a:gd name="connsiteY2" fmla="*/ 35225 h 36860"/>
                <a:gd name="connsiteX3" fmla="*/ 27314 w 28806"/>
                <a:gd name="connsiteY3" fmla="*/ 18566 h 36860"/>
                <a:gd name="connsiteX4" fmla="*/ 20752 w 28806"/>
                <a:gd name="connsiteY4" fmla="*/ 6100 h 36860"/>
                <a:gd name="connsiteX5" fmla="*/ 5561 w 28806"/>
                <a:gd name="connsiteY5" fmla="*/ 1638 h 36860"/>
                <a:gd name="connsiteX6" fmla="*/ 1493 w 28806"/>
                <a:gd name="connsiteY6" fmla="*/ 18296 h 3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06" h="36860">
                  <a:moveTo>
                    <a:pt x="8055" y="30763"/>
                  </a:moveTo>
                  <a:cubicBezTo>
                    <a:pt x="10113" y="34676"/>
                    <a:pt x="13852" y="36861"/>
                    <a:pt x="17694" y="36861"/>
                  </a:cubicBezTo>
                  <a:cubicBezTo>
                    <a:pt x="19582" y="36861"/>
                    <a:pt x="21494" y="36334"/>
                    <a:pt x="23245" y="35225"/>
                  </a:cubicBezTo>
                  <a:cubicBezTo>
                    <a:pt x="28562" y="31855"/>
                    <a:pt x="30386" y="24398"/>
                    <a:pt x="27314" y="18566"/>
                  </a:cubicBezTo>
                  <a:lnTo>
                    <a:pt x="20752" y="6100"/>
                  </a:lnTo>
                  <a:cubicBezTo>
                    <a:pt x="17680" y="265"/>
                    <a:pt x="10878" y="-1732"/>
                    <a:pt x="5561" y="1638"/>
                  </a:cubicBezTo>
                  <a:cubicBezTo>
                    <a:pt x="244" y="5004"/>
                    <a:pt x="-1580" y="12462"/>
                    <a:pt x="1493" y="18296"/>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0" name="小红书平北职场PPT11-10"/>
            <p:cNvSpPr/>
            <p:nvPr/>
          </p:nvSpPr>
          <p:spPr>
            <a:xfrm>
              <a:off x="869359" y="3146013"/>
              <a:ext cx="28805" cy="36862"/>
            </a:xfrm>
            <a:custGeom>
              <a:avLst/>
              <a:gdLst>
                <a:gd name="connsiteX0" fmla="*/ 5561 w 28805"/>
                <a:gd name="connsiteY0" fmla="*/ 35227 h 36862"/>
                <a:gd name="connsiteX1" fmla="*/ 11112 w 28805"/>
                <a:gd name="connsiteY1" fmla="*/ 36862 h 36862"/>
                <a:gd name="connsiteX2" fmla="*/ 20752 w 28805"/>
                <a:gd name="connsiteY2" fmla="*/ 30764 h 36862"/>
                <a:gd name="connsiteX3" fmla="*/ 27313 w 28805"/>
                <a:gd name="connsiteY3" fmla="*/ 18298 h 36862"/>
                <a:gd name="connsiteX4" fmla="*/ 23245 w 28805"/>
                <a:gd name="connsiteY4" fmla="*/ 1639 h 36862"/>
                <a:gd name="connsiteX5" fmla="*/ 8054 w 28805"/>
                <a:gd name="connsiteY5" fmla="*/ 6101 h 36862"/>
                <a:gd name="connsiteX6" fmla="*/ 1492 w 28805"/>
                <a:gd name="connsiteY6" fmla="*/ 18568 h 36862"/>
                <a:gd name="connsiteX7" fmla="*/ 5561 w 28805"/>
                <a:gd name="connsiteY7" fmla="*/ 35227 h 3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05" h="36862">
                  <a:moveTo>
                    <a:pt x="5561" y="35227"/>
                  </a:moveTo>
                  <a:cubicBezTo>
                    <a:pt x="7313" y="36335"/>
                    <a:pt x="9224" y="36862"/>
                    <a:pt x="11112" y="36862"/>
                  </a:cubicBezTo>
                  <a:cubicBezTo>
                    <a:pt x="14954" y="36862"/>
                    <a:pt x="18693" y="34677"/>
                    <a:pt x="20752" y="30764"/>
                  </a:cubicBezTo>
                  <a:lnTo>
                    <a:pt x="27313" y="18298"/>
                  </a:lnTo>
                  <a:cubicBezTo>
                    <a:pt x="30386" y="12463"/>
                    <a:pt x="28562" y="5006"/>
                    <a:pt x="23245" y="1639"/>
                  </a:cubicBezTo>
                  <a:cubicBezTo>
                    <a:pt x="17923" y="-1734"/>
                    <a:pt x="11123" y="267"/>
                    <a:pt x="8054" y="6101"/>
                  </a:cubicBezTo>
                  <a:lnTo>
                    <a:pt x="1492" y="18568"/>
                  </a:lnTo>
                  <a:cubicBezTo>
                    <a:pt x="-1580" y="24399"/>
                    <a:pt x="244" y="31860"/>
                    <a:pt x="5561" y="35227"/>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1" name="小红书平北职场PPT11-11"/>
            <p:cNvSpPr/>
            <p:nvPr/>
          </p:nvSpPr>
          <p:spPr>
            <a:xfrm>
              <a:off x="905917" y="3191381"/>
              <a:ext cx="33607" cy="31593"/>
            </a:xfrm>
            <a:custGeom>
              <a:avLst/>
              <a:gdLst>
                <a:gd name="connsiteX0" fmla="*/ 11133 w 33607"/>
                <a:gd name="connsiteY0" fmla="*/ 31593 h 31593"/>
                <a:gd name="connsiteX1" fmla="*/ 16681 w 33607"/>
                <a:gd name="connsiteY1" fmla="*/ 29958 h 31593"/>
                <a:gd name="connsiteX2" fmla="*/ 28047 w 33607"/>
                <a:gd name="connsiteY2" fmla="*/ 22757 h 31593"/>
                <a:gd name="connsiteX3" fmla="*/ 32115 w 33607"/>
                <a:gd name="connsiteY3" fmla="*/ 6099 h 31593"/>
                <a:gd name="connsiteX4" fmla="*/ 16927 w 33607"/>
                <a:gd name="connsiteY4" fmla="*/ 1636 h 31593"/>
                <a:gd name="connsiteX5" fmla="*/ 5562 w 33607"/>
                <a:gd name="connsiteY5" fmla="*/ 8833 h 31593"/>
                <a:gd name="connsiteX6" fmla="*/ 1493 w 33607"/>
                <a:gd name="connsiteY6" fmla="*/ 25492 h 31593"/>
                <a:gd name="connsiteX7" fmla="*/ 11133 w 33607"/>
                <a:gd name="connsiteY7" fmla="*/ 31593 h 31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07" h="31593">
                  <a:moveTo>
                    <a:pt x="11133" y="31593"/>
                  </a:moveTo>
                  <a:cubicBezTo>
                    <a:pt x="13018" y="31593"/>
                    <a:pt x="14932" y="31066"/>
                    <a:pt x="16681" y="29958"/>
                  </a:cubicBezTo>
                  <a:lnTo>
                    <a:pt x="28047" y="22757"/>
                  </a:lnTo>
                  <a:cubicBezTo>
                    <a:pt x="33364" y="19390"/>
                    <a:pt x="35188" y="11933"/>
                    <a:pt x="32115" y="6099"/>
                  </a:cubicBezTo>
                  <a:cubicBezTo>
                    <a:pt x="29043" y="264"/>
                    <a:pt x="22244" y="-1731"/>
                    <a:pt x="16927" y="1636"/>
                  </a:cubicBezTo>
                  <a:lnTo>
                    <a:pt x="5562" y="8833"/>
                  </a:lnTo>
                  <a:cubicBezTo>
                    <a:pt x="242" y="12200"/>
                    <a:pt x="-1579" y="19661"/>
                    <a:pt x="1493" y="25492"/>
                  </a:cubicBezTo>
                  <a:cubicBezTo>
                    <a:pt x="3552" y="29405"/>
                    <a:pt x="7290" y="31593"/>
                    <a:pt x="11133" y="31593"/>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2" name="小红书平北职场PPT11-12"/>
            <p:cNvSpPr/>
            <p:nvPr/>
          </p:nvSpPr>
          <p:spPr>
            <a:xfrm>
              <a:off x="905917" y="3308124"/>
              <a:ext cx="33607" cy="31594"/>
            </a:xfrm>
            <a:custGeom>
              <a:avLst/>
              <a:gdLst>
                <a:gd name="connsiteX0" fmla="*/ 16927 w 33607"/>
                <a:gd name="connsiteY0" fmla="*/ 29959 h 31594"/>
                <a:gd name="connsiteX1" fmla="*/ 22475 w 33607"/>
                <a:gd name="connsiteY1" fmla="*/ 31595 h 31594"/>
                <a:gd name="connsiteX2" fmla="*/ 32115 w 33607"/>
                <a:gd name="connsiteY2" fmla="*/ 25493 h 31594"/>
                <a:gd name="connsiteX3" fmla="*/ 28046 w 33607"/>
                <a:gd name="connsiteY3" fmla="*/ 8835 h 31594"/>
                <a:gd name="connsiteX4" fmla="*/ 16681 w 33607"/>
                <a:gd name="connsiteY4" fmla="*/ 1638 h 31594"/>
                <a:gd name="connsiteX5" fmla="*/ 1492 w 33607"/>
                <a:gd name="connsiteY5" fmla="*/ 6100 h 31594"/>
                <a:gd name="connsiteX6" fmla="*/ 5561 w 33607"/>
                <a:gd name="connsiteY6" fmla="*/ 22762 h 3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7" h="31594">
                  <a:moveTo>
                    <a:pt x="16927" y="29959"/>
                  </a:moveTo>
                  <a:cubicBezTo>
                    <a:pt x="18675" y="31068"/>
                    <a:pt x="20590" y="31595"/>
                    <a:pt x="22475" y="31595"/>
                  </a:cubicBezTo>
                  <a:cubicBezTo>
                    <a:pt x="26318" y="31595"/>
                    <a:pt x="30056" y="29410"/>
                    <a:pt x="32115" y="25493"/>
                  </a:cubicBezTo>
                  <a:cubicBezTo>
                    <a:pt x="35187" y="19662"/>
                    <a:pt x="33366" y="12202"/>
                    <a:pt x="28046" y="8835"/>
                  </a:cubicBezTo>
                  <a:lnTo>
                    <a:pt x="16681" y="1638"/>
                  </a:lnTo>
                  <a:cubicBezTo>
                    <a:pt x="11361" y="-1732"/>
                    <a:pt x="4562" y="265"/>
                    <a:pt x="1492" y="6100"/>
                  </a:cubicBezTo>
                  <a:cubicBezTo>
                    <a:pt x="-1580" y="11935"/>
                    <a:pt x="244" y="19392"/>
                    <a:pt x="5561" y="22762"/>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3" name="小红书平北职场PPT11-13"/>
            <p:cNvSpPr/>
            <p:nvPr/>
          </p:nvSpPr>
          <p:spPr>
            <a:xfrm>
              <a:off x="721561" y="3308124"/>
              <a:ext cx="33608" cy="31594"/>
            </a:xfrm>
            <a:custGeom>
              <a:avLst/>
              <a:gdLst>
                <a:gd name="connsiteX0" fmla="*/ 5561 w 33608"/>
                <a:gd name="connsiteY0" fmla="*/ 8835 h 31594"/>
                <a:gd name="connsiteX1" fmla="*/ 1493 w 33608"/>
                <a:gd name="connsiteY1" fmla="*/ 25493 h 31594"/>
                <a:gd name="connsiteX2" fmla="*/ 11133 w 33608"/>
                <a:gd name="connsiteY2" fmla="*/ 31595 h 31594"/>
                <a:gd name="connsiteX3" fmla="*/ 16681 w 33608"/>
                <a:gd name="connsiteY3" fmla="*/ 29959 h 31594"/>
                <a:gd name="connsiteX4" fmla="*/ 28046 w 33608"/>
                <a:gd name="connsiteY4" fmla="*/ 22762 h 31594"/>
                <a:gd name="connsiteX5" fmla="*/ 32115 w 33608"/>
                <a:gd name="connsiteY5" fmla="*/ 6100 h 31594"/>
                <a:gd name="connsiteX6" fmla="*/ 16927 w 33608"/>
                <a:gd name="connsiteY6" fmla="*/ 1638 h 3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8" h="31594">
                  <a:moveTo>
                    <a:pt x="5561" y="8835"/>
                  </a:moveTo>
                  <a:cubicBezTo>
                    <a:pt x="242" y="12202"/>
                    <a:pt x="-1579" y="19662"/>
                    <a:pt x="1493" y="25493"/>
                  </a:cubicBezTo>
                  <a:cubicBezTo>
                    <a:pt x="3552" y="29406"/>
                    <a:pt x="7290" y="31595"/>
                    <a:pt x="11133" y="31595"/>
                  </a:cubicBezTo>
                  <a:cubicBezTo>
                    <a:pt x="13018" y="31595"/>
                    <a:pt x="14932" y="31068"/>
                    <a:pt x="16681" y="29959"/>
                  </a:cubicBezTo>
                  <a:lnTo>
                    <a:pt x="28046" y="22762"/>
                  </a:lnTo>
                  <a:cubicBezTo>
                    <a:pt x="33366" y="19392"/>
                    <a:pt x="35187" y="11935"/>
                    <a:pt x="32115" y="6100"/>
                  </a:cubicBezTo>
                  <a:cubicBezTo>
                    <a:pt x="29046" y="265"/>
                    <a:pt x="22244" y="-1732"/>
                    <a:pt x="16927" y="1638"/>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4" name="小红书平北职场PPT11-14"/>
            <p:cNvSpPr/>
            <p:nvPr/>
          </p:nvSpPr>
          <p:spPr>
            <a:xfrm>
              <a:off x="748464" y="3175322"/>
              <a:ext cx="164158" cy="170370"/>
            </a:xfrm>
            <a:custGeom>
              <a:avLst/>
              <a:gdLst>
                <a:gd name="connsiteX0" fmla="*/ 82079 w 164158"/>
                <a:gd name="connsiteY0" fmla="*/ 0 h 170370"/>
                <a:gd name="connsiteX1" fmla="*/ 0 w 164158"/>
                <a:gd name="connsiteY1" fmla="*/ 90028 h 170370"/>
                <a:gd name="connsiteX2" fmla="*/ 42906 w 164158"/>
                <a:gd name="connsiteY2" fmla="*/ 169155 h 170370"/>
                <a:gd name="connsiteX3" fmla="*/ 44180 w 164158"/>
                <a:gd name="connsiteY3" fmla="*/ 170371 h 170370"/>
                <a:gd name="connsiteX4" fmla="*/ 71104 w 164158"/>
                <a:gd name="connsiteY4" fmla="*/ 170371 h 170370"/>
                <a:gd name="connsiteX5" fmla="*/ 70960 w 164158"/>
                <a:gd name="connsiteY5" fmla="*/ 168494 h 170370"/>
                <a:gd name="connsiteX6" fmla="*/ 70960 w 164158"/>
                <a:gd name="connsiteY6" fmla="*/ 113496 h 170370"/>
                <a:gd name="connsiteX7" fmla="*/ 57773 w 164158"/>
                <a:gd name="connsiteY7" fmla="*/ 99032 h 170370"/>
                <a:gd name="connsiteX8" fmla="*/ 57773 w 164158"/>
                <a:gd name="connsiteY8" fmla="*/ 81782 h 170370"/>
                <a:gd name="connsiteX9" fmla="*/ 73497 w 164158"/>
                <a:gd name="connsiteY9" fmla="*/ 81782 h 170370"/>
                <a:gd name="connsiteX10" fmla="*/ 82079 w 164158"/>
                <a:gd name="connsiteY10" fmla="*/ 91196 h 170370"/>
                <a:gd name="connsiteX11" fmla="*/ 90662 w 164158"/>
                <a:gd name="connsiteY11" fmla="*/ 81782 h 170370"/>
                <a:gd name="connsiteX12" fmla="*/ 106386 w 164158"/>
                <a:gd name="connsiteY12" fmla="*/ 81782 h 170370"/>
                <a:gd name="connsiteX13" fmla="*/ 106386 w 164158"/>
                <a:gd name="connsiteY13" fmla="*/ 99032 h 170370"/>
                <a:gd name="connsiteX14" fmla="*/ 93199 w 164158"/>
                <a:gd name="connsiteY14" fmla="*/ 113496 h 170370"/>
                <a:gd name="connsiteX15" fmla="*/ 93199 w 164158"/>
                <a:gd name="connsiteY15" fmla="*/ 168494 h 170370"/>
                <a:gd name="connsiteX16" fmla="*/ 93054 w 164158"/>
                <a:gd name="connsiteY16" fmla="*/ 170371 h 170370"/>
                <a:gd name="connsiteX17" fmla="*/ 119981 w 164158"/>
                <a:gd name="connsiteY17" fmla="*/ 170371 h 170370"/>
                <a:gd name="connsiteX18" fmla="*/ 121253 w 164158"/>
                <a:gd name="connsiteY18" fmla="*/ 169155 h 170370"/>
                <a:gd name="connsiteX19" fmla="*/ 164159 w 164158"/>
                <a:gd name="connsiteY19" fmla="*/ 90028 h 170370"/>
                <a:gd name="connsiteX20" fmla="*/ 82079 w 164158"/>
                <a:gd name="connsiteY20" fmla="*/ 0 h 170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158" h="170370">
                  <a:moveTo>
                    <a:pt x="82079" y="0"/>
                  </a:moveTo>
                  <a:cubicBezTo>
                    <a:pt x="36822" y="0"/>
                    <a:pt x="0" y="40385"/>
                    <a:pt x="0" y="90028"/>
                  </a:cubicBezTo>
                  <a:cubicBezTo>
                    <a:pt x="0" y="123040"/>
                    <a:pt x="16442" y="153363"/>
                    <a:pt x="42906" y="169155"/>
                  </a:cubicBezTo>
                  <a:cubicBezTo>
                    <a:pt x="43465" y="169485"/>
                    <a:pt x="43885" y="169891"/>
                    <a:pt x="44180" y="170371"/>
                  </a:cubicBezTo>
                  <a:lnTo>
                    <a:pt x="71104" y="170371"/>
                  </a:lnTo>
                  <a:cubicBezTo>
                    <a:pt x="71018" y="169758"/>
                    <a:pt x="70960" y="169133"/>
                    <a:pt x="70960" y="168494"/>
                  </a:cubicBezTo>
                  <a:lnTo>
                    <a:pt x="70960" y="113496"/>
                  </a:lnTo>
                  <a:lnTo>
                    <a:pt x="57773" y="99032"/>
                  </a:lnTo>
                  <a:cubicBezTo>
                    <a:pt x="53429" y="94267"/>
                    <a:pt x="53429" y="86546"/>
                    <a:pt x="57773" y="81782"/>
                  </a:cubicBezTo>
                  <a:cubicBezTo>
                    <a:pt x="62113" y="77021"/>
                    <a:pt x="69155" y="77021"/>
                    <a:pt x="73497" y="81782"/>
                  </a:cubicBezTo>
                  <a:lnTo>
                    <a:pt x="82079" y="91196"/>
                  </a:lnTo>
                  <a:lnTo>
                    <a:pt x="90662" y="81782"/>
                  </a:lnTo>
                  <a:cubicBezTo>
                    <a:pt x="95003" y="77021"/>
                    <a:pt x="102046" y="77021"/>
                    <a:pt x="106386" y="81782"/>
                  </a:cubicBezTo>
                  <a:cubicBezTo>
                    <a:pt x="110729" y="86546"/>
                    <a:pt x="110729" y="94267"/>
                    <a:pt x="106386" y="99032"/>
                  </a:cubicBezTo>
                  <a:lnTo>
                    <a:pt x="93199" y="113496"/>
                  </a:lnTo>
                  <a:lnTo>
                    <a:pt x="93199" y="168494"/>
                  </a:lnTo>
                  <a:cubicBezTo>
                    <a:pt x="93199" y="169133"/>
                    <a:pt x="93141" y="169758"/>
                    <a:pt x="93054" y="170371"/>
                  </a:cubicBezTo>
                  <a:lnTo>
                    <a:pt x="119981" y="170371"/>
                  </a:lnTo>
                  <a:cubicBezTo>
                    <a:pt x="120276" y="169891"/>
                    <a:pt x="120694" y="169485"/>
                    <a:pt x="121253" y="169155"/>
                  </a:cubicBezTo>
                  <a:cubicBezTo>
                    <a:pt x="147717" y="153363"/>
                    <a:pt x="164159" y="123043"/>
                    <a:pt x="164159" y="90028"/>
                  </a:cubicBezTo>
                  <a:cubicBezTo>
                    <a:pt x="164159" y="40385"/>
                    <a:pt x="127337" y="0"/>
                    <a:pt x="82079" y="0"/>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5" name="小红书平北职场PPT11-15"/>
            <p:cNvSpPr/>
            <p:nvPr/>
          </p:nvSpPr>
          <p:spPr>
            <a:xfrm>
              <a:off x="793186" y="3370086"/>
              <a:ext cx="74715" cy="40664"/>
            </a:xfrm>
            <a:custGeom>
              <a:avLst/>
              <a:gdLst>
                <a:gd name="connsiteX0" fmla="*/ 37357 w 74715"/>
                <a:gd name="connsiteY0" fmla="*/ 40664 h 40664"/>
                <a:gd name="connsiteX1" fmla="*/ 74715 w 74715"/>
                <a:gd name="connsiteY1" fmla="*/ 0 h 40664"/>
                <a:gd name="connsiteX2" fmla="*/ 0 w 74715"/>
                <a:gd name="connsiteY2" fmla="*/ 0 h 40664"/>
                <a:gd name="connsiteX3" fmla="*/ 37357 w 74715"/>
                <a:gd name="connsiteY3" fmla="*/ 40664 h 40664"/>
              </a:gdLst>
              <a:ahLst/>
              <a:cxnLst>
                <a:cxn ang="0">
                  <a:pos x="connsiteX0" y="connsiteY0"/>
                </a:cxn>
                <a:cxn ang="0">
                  <a:pos x="connsiteX1" y="connsiteY1"/>
                </a:cxn>
                <a:cxn ang="0">
                  <a:pos x="connsiteX2" y="connsiteY2"/>
                </a:cxn>
                <a:cxn ang="0">
                  <a:pos x="connsiteX3" y="connsiteY3"/>
                </a:cxn>
              </a:cxnLst>
              <a:rect l="l" t="t" r="r" b="b"/>
              <a:pathLst>
                <a:path w="74715" h="40664">
                  <a:moveTo>
                    <a:pt x="37357" y="40664"/>
                  </a:moveTo>
                  <a:cubicBezTo>
                    <a:pt x="57862" y="40664"/>
                    <a:pt x="74559" y="22452"/>
                    <a:pt x="74715" y="0"/>
                  </a:cubicBezTo>
                  <a:lnTo>
                    <a:pt x="0" y="0"/>
                  </a:lnTo>
                  <a:cubicBezTo>
                    <a:pt x="159" y="22452"/>
                    <a:pt x="16853" y="40664"/>
                    <a:pt x="37357" y="40664"/>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grpSp>
      <p:grpSp>
        <p:nvGrpSpPr>
          <p:cNvPr id="14" name="小红书平北职场PPT12"/>
          <p:cNvGrpSpPr/>
          <p:nvPr/>
        </p:nvGrpSpPr>
        <p:grpSpPr>
          <a:xfrm>
            <a:off x="7187546" y="3550149"/>
            <a:ext cx="603768" cy="663530"/>
            <a:chOff x="685881" y="4449873"/>
            <a:chExt cx="333173" cy="366153"/>
          </a:xfrm>
          <a:gradFill>
            <a:gsLst>
              <a:gs pos="0">
                <a:schemeClr val="bg1">
                  <a:alpha val="50000"/>
                </a:schemeClr>
              </a:gs>
              <a:gs pos="80000">
                <a:schemeClr val="bg1">
                  <a:alpha val="0"/>
                </a:schemeClr>
              </a:gs>
            </a:gsLst>
            <a:lin ang="8100000" scaled="1"/>
          </a:gradFill>
        </p:grpSpPr>
        <p:sp>
          <p:nvSpPr>
            <p:cNvPr id="82" name="小红书平北职场PPT12-1"/>
            <p:cNvSpPr/>
            <p:nvPr/>
          </p:nvSpPr>
          <p:spPr>
            <a:xfrm>
              <a:off x="685881" y="4693080"/>
              <a:ext cx="90738" cy="122940"/>
            </a:xfrm>
            <a:custGeom>
              <a:avLst/>
              <a:gdLst>
                <a:gd name="connsiteX0" fmla="*/ 68103 w 90738"/>
                <a:gd name="connsiteY0" fmla="*/ 0 h 122940"/>
                <a:gd name="connsiteX1" fmla="*/ 22636 w 90738"/>
                <a:gd name="connsiteY1" fmla="*/ 0 h 122940"/>
                <a:gd name="connsiteX2" fmla="*/ 0 w 90738"/>
                <a:gd name="connsiteY2" fmla="*/ 24876 h 122940"/>
                <a:gd name="connsiteX3" fmla="*/ 0 w 90738"/>
                <a:gd name="connsiteY3" fmla="*/ 49641 h 122940"/>
                <a:gd name="connsiteX4" fmla="*/ 10709 w 90738"/>
                <a:gd name="connsiteY4" fmla="*/ 70799 h 122940"/>
                <a:gd name="connsiteX5" fmla="*/ 10709 w 90738"/>
                <a:gd name="connsiteY5" fmla="*/ 112213 h 122940"/>
                <a:gd name="connsiteX6" fmla="*/ 20470 w 90738"/>
                <a:gd name="connsiteY6" fmla="*/ 122941 h 122940"/>
                <a:gd name="connsiteX7" fmla="*/ 70269 w 90738"/>
                <a:gd name="connsiteY7" fmla="*/ 122941 h 122940"/>
                <a:gd name="connsiteX8" fmla="*/ 80030 w 90738"/>
                <a:gd name="connsiteY8" fmla="*/ 112213 h 122940"/>
                <a:gd name="connsiteX9" fmla="*/ 80030 w 90738"/>
                <a:gd name="connsiteY9" fmla="*/ 70799 h 122940"/>
                <a:gd name="connsiteX10" fmla="*/ 90739 w 90738"/>
                <a:gd name="connsiteY10" fmla="*/ 49641 h 122940"/>
                <a:gd name="connsiteX11" fmla="*/ 90739 w 90738"/>
                <a:gd name="connsiteY11" fmla="*/ 24876 h 122940"/>
                <a:gd name="connsiteX12" fmla="*/ 68103 w 90738"/>
                <a:gd name="connsiteY12" fmla="*/ 0 h 12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38" h="122940">
                  <a:moveTo>
                    <a:pt x="68103" y="0"/>
                  </a:moveTo>
                  <a:lnTo>
                    <a:pt x="22636" y="0"/>
                  </a:lnTo>
                  <a:cubicBezTo>
                    <a:pt x="10155" y="0"/>
                    <a:pt x="0" y="11161"/>
                    <a:pt x="0" y="24876"/>
                  </a:cubicBezTo>
                  <a:lnTo>
                    <a:pt x="0" y="49641"/>
                  </a:lnTo>
                  <a:cubicBezTo>
                    <a:pt x="0" y="58505"/>
                    <a:pt x="4204" y="66385"/>
                    <a:pt x="10709" y="70799"/>
                  </a:cubicBezTo>
                  <a:lnTo>
                    <a:pt x="10709" y="112213"/>
                  </a:lnTo>
                  <a:cubicBezTo>
                    <a:pt x="10709" y="118138"/>
                    <a:pt x="15079" y="122941"/>
                    <a:pt x="20470" y="122941"/>
                  </a:cubicBezTo>
                  <a:lnTo>
                    <a:pt x="70269" y="122941"/>
                  </a:lnTo>
                  <a:cubicBezTo>
                    <a:pt x="75661" y="122941"/>
                    <a:pt x="80030" y="118138"/>
                    <a:pt x="80030" y="112213"/>
                  </a:cubicBezTo>
                  <a:lnTo>
                    <a:pt x="80030" y="70799"/>
                  </a:lnTo>
                  <a:cubicBezTo>
                    <a:pt x="86532" y="66385"/>
                    <a:pt x="90739" y="58502"/>
                    <a:pt x="90739" y="49641"/>
                  </a:cubicBezTo>
                  <a:lnTo>
                    <a:pt x="90739" y="24876"/>
                  </a:lnTo>
                  <a:cubicBezTo>
                    <a:pt x="90739" y="11161"/>
                    <a:pt x="80584" y="0"/>
                    <a:pt x="68103" y="0"/>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3" name="小红书平北职场PPT12-2"/>
            <p:cNvSpPr/>
            <p:nvPr/>
          </p:nvSpPr>
          <p:spPr>
            <a:xfrm>
              <a:off x="697876" y="4612906"/>
              <a:ext cx="66728" cy="73333"/>
            </a:xfrm>
            <a:custGeom>
              <a:avLst/>
              <a:gdLst>
                <a:gd name="connsiteX0" fmla="*/ 66728 w 66728"/>
                <a:gd name="connsiteY0" fmla="*/ 36668 h 73333"/>
                <a:gd name="connsiteX1" fmla="*/ 33363 w 66728"/>
                <a:gd name="connsiteY1" fmla="*/ 0 h 73333"/>
                <a:gd name="connsiteX2" fmla="*/ 0 w 66728"/>
                <a:gd name="connsiteY2" fmla="*/ 36668 h 73333"/>
                <a:gd name="connsiteX3" fmla="*/ 33363 w 66728"/>
                <a:gd name="connsiteY3" fmla="*/ 73333 h 73333"/>
                <a:gd name="connsiteX4" fmla="*/ 66728 w 66728"/>
                <a:gd name="connsiteY4" fmla="*/ 36668 h 73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728" h="73333">
                  <a:moveTo>
                    <a:pt x="66728" y="36668"/>
                  </a:moveTo>
                  <a:cubicBezTo>
                    <a:pt x="66728" y="16448"/>
                    <a:pt x="51761" y="0"/>
                    <a:pt x="33363" y="0"/>
                  </a:cubicBezTo>
                  <a:cubicBezTo>
                    <a:pt x="14967" y="0"/>
                    <a:pt x="0" y="16448"/>
                    <a:pt x="0" y="36668"/>
                  </a:cubicBezTo>
                  <a:cubicBezTo>
                    <a:pt x="0" y="56885"/>
                    <a:pt x="14967" y="73333"/>
                    <a:pt x="33363" y="73333"/>
                  </a:cubicBezTo>
                  <a:cubicBezTo>
                    <a:pt x="51761" y="73333"/>
                    <a:pt x="66728" y="56885"/>
                    <a:pt x="66728" y="36668"/>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4" name="小红书平北职场PPT12-3"/>
            <p:cNvSpPr/>
            <p:nvPr/>
          </p:nvSpPr>
          <p:spPr>
            <a:xfrm>
              <a:off x="797387" y="4678001"/>
              <a:ext cx="109023" cy="138025"/>
            </a:xfrm>
            <a:custGeom>
              <a:avLst/>
              <a:gdLst>
                <a:gd name="connsiteX0" fmla="*/ 83083 w 109023"/>
                <a:gd name="connsiteY0" fmla="*/ 0 h 138025"/>
                <a:gd name="connsiteX1" fmla="*/ 25938 w 109023"/>
                <a:gd name="connsiteY1" fmla="*/ 0 h 138025"/>
                <a:gd name="connsiteX2" fmla="*/ 0 w 109023"/>
                <a:gd name="connsiteY2" fmla="*/ 28536 h 138025"/>
                <a:gd name="connsiteX3" fmla="*/ 0 w 109023"/>
                <a:gd name="connsiteY3" fmla="*/ 43735 h 138025"/>
                <a:gd name="connsiteX4" fmla="*/ 13477 w 109023"/>
                <a:gd name="connsiteY4" fmla="*/ 68777 h 138025"/>
                <a:gd name="connsiteX5" fmla="*/ 13633 w 109023"/>
                <a:gd name="connsiteY5" fmla="*/ 127329 h 138025"/>
                <a:gd name="connsiteX6" fmla="*/ 23394 w 109023"/>
                <a:gd name="connsiteY6" fmla="*/ 138026 h 138025"/>
                <a:gd name="connsiteX7" fmla="*/ 85981 w 109023"/>
                <a:gd name="connsiteY7" fmla="*/ 138026 h 138025"/>
                <a:gd name="connsiteX8" fmla="*/ 95742 w 109023"/>
                <a:gd name="connsiteY8" fmla="*/ 127268 h 138025"/>
                <a:gd name="connsiteX9" fmla="*/ 95587 w 109023"/>
                <a:gd name="connsiteY9" fmla="*/ 68755 h 138025"/>
                <a:gd name="connsiteX10" fmla="*/ 109024 w 109023"/>
                <a:gd name="connsiteY10" fmla="*/ 43735 h 138025"/>
                <a:gd name="connsiteX11" fmla="*/ 109024 w 109023"/>
                <a:gd name="connsiteY11" fmla="*/ 28536 h 138025"/>
                <a:gd name="connsiteX12" fmla="*/ 83083 w 109023"/>
                <a:gd name="connsiteY12" fmla="*/ 0 h 138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023" h="138025">
                  <a:moveTo>
                    <a:pt x="83083" y="0"/>
                  </a:moveTo>
                  <a:lnTo>
                    <a:pt x="25938" y="0"/>
                  </a:lnTo>
                  <a:cubicBezTo>
                    <a:pt x="11637" y="0"/>
                    <a:pt x="0" y="12800"/>
                    <a:pt x="0" y="28536"/>
                  </a:cubicBezTo>
                  <a:lnTo>
                    <a:pt x="0" y="43735"/>
                  </a:lnTo>
                  <a:cubicBezTo>
                    <a:pt x="0" y="54440"/>
                    <a:pt x="5343" y="63897"/>
                    <a:pt x="13477" y="68777"/>
                  </a:cubicBezTo>
                  <a:lnTo>
                    <a:pt x="13633" y="127329"/>
                  </a:lnTo>
                  <a:cubicBezTo>
                    <a:pt x="13648" y="133243"/>
                    <a:pt x="18015" y="138026"/>
                    <a:pt x="23394" y="138026"/>
                  </a:cubicBezTo>
                  <a:lnTo>
                    <a:pt x="85981" y="138026"/>
                  </a:lnTo>
                  <a:cubicBezTo>
                    <a:pt x="91314" y="138026"/>
                    <a:pt x="95757" y="133126"/>
                    <a:pt x="95742" y="127268"/>
                  </a:cubicBezTo>
                  <a:lnTo>
                    <a:pt x="95587" y="68755"/>
                  </a:lnTo>
                  <a:cubicBezTo>
                    <a:pt x="103698" y="63866"/>
                    <a:pt x="109024" y="54424"/>
                    <a:pt x="109024" y="43735"/>
                  </a:cubicBezTo>
                  <a:lnTo>
                    <a:pt x="109024" y="28536"/>
                  </a:lnTo>
                  <a:cubicBezTo>
                    <a:pt x="109024" y="12800"/>
                    <a:pt x="97387" y="0"/>
                    <a:pt x="83083" y="0"/>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5" name="小红书平北职场PPT12-4"/>
            <p:cNvSpPr/>
            <p:nvPr/>
          </p:nvSpPr>
          <p:spPr>
            <a:xfrm>
              <a:off x="812461" y="4577414"/>
              <a:ext cx="78847" cy="86652"/>
            </a:xfrm>
            <a:custGeom>
              <a:avLst/>
              <a:gdLst>
                <a:gd name="connsiteX0" fmla="*/ 39425 w 78847"/>
                <a:gd name="connsiteY0" fmla="*/ 86653 h 86652"/>
                <a:gd name="connsiteX1" fmla="*/ 78848 w 78847"/>
                <a:gd name="connsiteY1" fmla="*/ 43325 h 86652"/>
                <a:gd name="connsiteX2" fmla="*/ 39425 w 78847"/>
                <a:gd name="connsiteY2" fmla="*/ 0 h 86652"/>
                <a:gd name="connsiteX3" fmla="*/ 0 w 78847"/>
                <a:gd name="connsiteY3" fmla="*/ 43325 h 86652"/>
                <a:gd name="connsiteX4" fmla="*/ 39425 w 78847"/>
                <a:gd name="connsiteY4" fmla="*/ 86653 h 866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47" h="86652">
                  <a:moveTo>
                    <a:pt x="39425" y="86653"/>
                  </a:moveTo>
                  <a:cubicBezTo>
                    <a:pt x="61164" y="86653"/>
                    <a:pt x="78848" y="67215"/>
                    <a:pt x="78848" y="43325"/>
                  </a:cubicBezTo>
                  <a:cubicBezTo>
                    <a:pt x="78848" y="19435"/>
                    <a:pt x="61164" y="0"/>
                    <a:pt x="39425" y="0"/>
                  </a:cubicBezTo>
                  <a:cubicBezTo>
                    <a:pt x="17686" y="0"/>
                    <a:pt x="0" y="19435"/>
                    <a:pt x="0" y="43325"/>
                  </a:cubicBezTo>
                  <a:cubicBezTo>
                    <a:pt x="0" y="67215"/>
                    <a:pt x="17686" y="86653"/>
                    <a:pt x="39425" y="86653"/>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6" name="小红书平北职场PPT12-5"/>
            <p:cNvSpPr/>
            <p:nvPr/>
          </p:nvSpPr>
          <p:spPr>
            <a:xfrm>
              <a:off x="797157" y="4449873"/>
              <a:ext cx="110568" cy="110846"/>
            </a:xfrm>
            <a:custGeom>
              <a:avLst/>
              <a:gdLst>
                <a:gd name="connsiteX0" fmla="*/ 103275 w 110568"/>
                <a:gd name="connsiteY0" fmla="*/ 34495 h 110846"/>
                <a:gd name="connsiteX1" fmla="*/ 77798 w 110568"/>
                <a:gd name="connsiteY1" fmla="*/ 27170 h 110846"/>
                <a:gd name="connsiteX2" fmla="*/ 63258 w 110568"/>
                <a:gd name="connsiteY2" fmla="*/ 4539 h 110846"/>
                <a:gd name="connsiteX3" fmla="*/ 55284 w 110568"/>
                <a:gd name="connsiteY3" fmla="*/ 0 h 110846"/>
                <a:gd name="connsiteX4" fmla="*/ 47309 w 110568"/>
                <a:gd name="connsiteY4" fmla="*/ 4539 h 110846"/>
                <a:gd name="connsiteX5" fmla="*/ 32769 w 110568"/>
                <a:gd name="connsiteY5" fmla="*/ 27170 h 110846"/>
                <a:gd name="connsiteX6" fmla="*/ 7292 w 110568"/>
                <a:gd name="connsiteY6" fmla="*/ 34495 h 110846"/>
                <a:gd name="connsiteX7" fmla="*/ 457 w 110568"/>
                <a:gd name="connsiteY7" fmla="*/ 41632 h 110846"/>
                <a:gd name="connsiteX8" fmla="*/ 2307 w 110568"/>
                <a:gd name="connsiteY8" fmla="*/ 51795 h 110846"/>
                <a:gd name="connsiteX9" fmla="*/ 18505 w 110568"/>
                <a:gd name="connsiteY9" fmla="*/ 72861 h 110846"/>
                <a:gd name="connsiteX10" fmla="*/ 17399 w 110568"/>
                <a:gd name="connsiteY10" fmla="*/ 99631 h 110846"/>
                <a:gd name="connsiteX11" fmla="*/ 21324 w 110568"/>
                <a:gd name="connsiteY11" fmla="*/ 108724 h 110846"/>
                <a:gd name="connsiteX12" fmla="*/ 30375 w 110568"/>
                <a:gd name="connsiteY12" fmla="*/ 110244 h 110846"/>
                <a:gd name="connsiteX13" fmla="*/ 55284 w 110568"/>
                <a:gd name="connsiteY13" fmla="*/ 100657 h 110846"/>
                <a:gd name="connsiteX14" fmla="*/ 80192 w 110568"/>
                <a:gd name="connsiteY14" fmla="*/ 110244 h 110846"/>
                <a:gd name="connsiteX15" fmla="*/ 89244 w 110568"/>
                <a:gd name="connsiteY15" fmla="*/ 108724 h 110846"/>
                <a:gd name="connsiteX16" fmla="*/ 93168 w 110568"/>
                <a:gd name="connsiteY16" fmla="*/ 99631 h 110846"/>
                <a:gd name="connsiteX17" fmla="*/ 92063 w 110568"/>
                <a:gd name="connsiteY17" fmla="*/ 72861 h 110846"/>
                <a:gd name="connsiteX18" fmla="*/ 108262 w 110568"/>
                <a:gd name="connsiteY18" fmla="*/ 51795 h 110846"/>
                <a:gd name="connsiteX19" fmla="*/ 110113 w 110568"/>
                <a:gd name="connsiteY19" fmla="*/ 41632 h 110846"/>
                <a:gd name="connsiteX20" fmla="*/ 103275 w 110568"/>
                <a:gd name="connsiteY20" fmla="*/ 34495 h 11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0568" h="110846">
                  <a:moveTo>
                    <a:pt x="103275" y="34495"/>
                  </a:moveTo>
                  <a:lnTo>
                    <a:pt x="77798" y="27170"/>
                  </a:lnTo>
                  <a:lnTo>
                    <a:pt x="63258" y="4539"/>
                  </a:lnTo>
                  <a:cubicBezTo>
                    <a:pt x="61430" y="1693"/>
                    <a:pt x="58456" y="0"/>
                    <a:pt x="55284" y="0"/>
                  </a:cubicBezTo>
                  <a:cubicBezTo>
                    <a:pt x="52114" y="0"/>
                    <a:pt x="49140" y="1693"/>
                    <a:pt x="47309" y="4539"/>
                  </a:cubicBezTo>
                  <a:lnTo>
                    <a:pt x="32769" y="27170"/>
                  </a:lnTo>
                  <a:lnTo>
                    <a:pt x="7292" y="34495"/>
                  </a:lnTo>
                  <a:cubicBezTo>
                    <a:pt x="4049" y="35425"/>
                    <a:pt x="1469" y="38121"/>
                    <a:pt x="457" y="41632"/>
                  </a:cubicBezTo>
                  <a:cubicBezTo>
                    <a:pt x="-557" y="45144"/>
                    <a:pt x="142" y="48982"/>
                    <a:pt x="2307" y="51795"/>
                  </a:cubicBezTo>
                  <a:lnTo>
                    <a:pt x="18505" y="72861"/>
                  </a:lnTo>
                  <a:lnTo>
                    <a:pt x="17399" y="99631"/>
                  </a:lnTo>
                  <a:cubicBezTo>
                    <a:pt x="17251" y="103190"/>
                    <a:pt x="18723" y="106599"/>
                    <a:pt x="21324" y="108724"/>
                  </a:cubicBezTo>
                  <a:cubicBezTo>
                    <a:pt x="23924" y="110853"/>
                    <a:pt x="27317" y="111420"/>
                    <a:pt x="30375" y="110244"/>
                  </a:cubicBezTo>
                  <a:lnTo>
                    <a:pt x="55284" y="100657"/>
                  </a:lnTo>
                  <a:lnTo>
                    <a:pt x="80192" y="110244"/>
                  </a:lnTo>
                  <a:cubicBezTo>
                    <a:pt x="83232" y="111415"/>
                    <a:pt x="86659" y="110839"/>
                    <a:pt x="89244" y="108724"/>
                  </a:cubicBezTo>
                  <a:cubicBezTo>
                    <a:pt x="91847" y="106599"/>
                    <a:pt x="93316" y="103190"/>
                    <a:pt x="93168" y="99631"/>
                  </a:cubicBezTo>
                  <a:lnTo>
                    <a:pt x="92063" y="72861"/>
                  </a:lnTo>
                  <a:lnTo>
                    <a:pt x="108262" y="51795"/>
                  </a:lnTo>
                  <a:cubicBezTo>
                    <a:pt x="110425" y="48982"/>
                    <a:pt x="111125" y="45144"/>
                    <a:pt x="110113" y="41632"/>
                  </a:cubicBezTo>
                  <a:cubicBezTo>
                    <a:pt x="109098" y="38121"/>
                    <a:pt x="106518" y="35425"/>
                    <a:pt x="103275" y="34495"/>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7" name="小红书平北职场PPT12-6"/>
            <p:cNvSpPr/>
            <p:nvPr/>
          </p:nvSpPr>
          <p:spPr>
            <a:xfrm>
              <a:off x="685937" y="4467123"/>
              <a:ext cx="92998" cy="93595"/>
            </a:xfrm>
            <a:custGeom>
              <a:avLst/>
              <a:gdLst>
                <a:gd name="connsiteX0" fmla="*/ 85705 w 92998"/>
                <a:gd name="connsiteY0" fmla="*/ 27905 h 93595"/>
                <a:gd name="connsiteX1" fmla="*/ 65810 w 92998"/>
                <a:gd name="connsiteY1" fmla="*/ 22189 h 93595"/>
                <a:gd name="connsiteX2" fmla="*/ 54473 w 92998"/>
                <a:gd name="connsiteY2" fmla="*/ 4540 h 93595"/>
                <a:gd name="connsiteX3" fmla="*/ 46499 w 92998"/>
                <a:gd name="connsiteY3" fmla="*/ 0 h 93595"/>
                <a:gd name="connsiteX4" fmla="*/ 38525 w 92998"/>
                <a:gd name="connsiteY4" fmla="*/ 4540 h 93595"/>
                <a:gd name="connsiteX5" fmla="*/ 27188 w 92998"/>
                <a:gd name="connsiteY5" fmla="*/ 22186 h 93595"/>
                <a:gd name="connsiteX6" fmla="*/ 7292 w 92998"/>
                <a:gd name="connsiteY6" fmla="*/ 27905 h 93595"/>
                <a:gd name="connsiteX7" fmla="*/ 457 w 92998"/>
                <a:gd name="connsiteY7" fmla="*/ 35045 h 93595"/>
                <a:gd name="connsiteX8" fmla="*/ 2307 w 92998"/>
                <a:gd name="connsiteY8" fmla="*/ 45205 h 93595"/>
                <a:gd name="connsiteX9" fmla="*/ 14903 w 92998"/>
                <a:gd name="connsiteY9" fmla="*/ 61589 h 93595"/>
                <a:gd name="connsiteX10" fmla="*/ 14044 w 92998"/>
                <a:gd name="connsiteY10" fmla="*/ 82381 h 93595"/>
                <a:gd name="connsiteX11" fmla="*/ 17968 w 92998"/>
                <a:gd name="connsiteY11" fmla="*/ 91474 h 93595"/>
                <a:gd name="connsiteX12" fmla="*/ 27020 w 92998"/>
                <a:gd name="connsiteY12" fmla="*/ 92991 h 93595"/>
                <a:gd name="connsiteX13" fmla="*/ 46499 w 92998"/>
                <a:gd name="connsiteY13" fmla="*/ 85496 h 93595"/>
                <a:gd name="connsiteX14" fmla="*/ 65978 w 92998"/>
                <a:gd name="connsiteY14" fmla="*/ 92991 h 93595"/>
                <a:gd name="connsiteX15" fmla="*/ 75032 w 92998"/>
                <a:gd name="connsiteY15" fmla="*/ 91474 h 93595"/>
                <a:gd name="connsiteX16" fmla="*/ 78954 w 92998"/>
                <a:gd name="connsiteY16" fmla="*/ 82381 h 93595"/>
                <a:gd name="connsiteX17" fmla="*/ 78095 w 92998"/>
                <a:gd name="connsiteY17" fmla="*/ 61589 h 93595"/>
                <a:gd name="connsiteX18" fmla="*/ 90693 w 92998"/>
                <a:gd name="connsiteY18" fmla="*/ 45205 h 93595"/>
                <a:gd name="connsiteX19" fmla="*/ 92543 w 92998"/>
                <a:gd name="connsiteY19" fmla="*/ 35042 h 93595"/>
                <a:gd name="connsiteX20" fmla="*/ 85705 w 92998"/>
                <a:gd name="connsiteY20" fmla="*/ 27905 h 9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998" h="93595">
                  <a:moveTo>
                    <a:pt x="85705" y="27905"/>
                  </a:moveTo>
                  <a:lnTo>
                    <a:pt x="65810" y="22189"/>
                  </a:lnTo>
                  <a:lnTo>
                    <a:pt x="54473" y="4540"/>
                  </a:lnTo>
                  <a:cubicBezTo>
                    <a:pt x="52643" y="1693"/>
                    <a:pt x="49671" y="0"/>
                    <a:pt x="46499" y="0"/>
                  </a:cubicBezTo>
                  <a:cubicBezTo>
                    <a:pt x="43329" y="0"/>
                    <a:pt x="40355" y="1693"/>
                    <a:pt x="38525" y="4540"/>
                  </a:cubicBezTo>
                  <a:lnTo>
                    <a:pt x="27188" y="22186"/>
                  </a:lnTo>
                  <a:lnTo>
                    <a:pt x="7292" y="27905"/>
                  </a:lnTo>
                  <a:cubicBezTo>
                    <a:pt x="4049" y="28838"/>
                    <a:pt x="1469" y="31531"/>
                    <a:pt x="457" y="35045"/>
                  </a:cubicBezTo>
                  <a:cubicBezTo>
                    <a:pt x="-557" y="38556"/>
                    <a:pt x="142" y="42392"/>
                    <a:pt x="2307" y="45205"/>
                  </a:cubicBezTo>
                  <a:lnTo>
                    <a:pt x="14903" y="61589"/>
                  </a:lnTo>
                  <a:lnTo>
                    <a:pt x="14044" y="82381"/>
                  </a:lnTo>
                  <a:cubicBezTo>
                    <a:pt x="13896" y="85940"/>
                    <a:pt x="15365" y="89349"/>
                    <a:pt x="17968" y="91474"/>
                  </a:cubicBezTo>
                  <a:cubicBezTo>
                    <a:pt x="20569" y="93603"/>
                    <a:pt x="23962" y="94170"/>
                    <a:pt x="27020" y="92991"/>
                  </a:cubicBezTo>
                  <a:lnTo>
                    <a:pt x="46499" y="85496"/>
                  </a:lnTo>
                  <a:lnTo>
                    <a:pt x="65978" y="92991"/>
                  </a:lnTo>
                  <a:cubicBezTo>
                    <a:pt x="69013" y="94159"/>
                    <a:pt x="72452" y="93583"/>
                    <a:pt x="75032" y="91474"/>
                  </a:cubicBezTo>
                  <a:cubicBezTo>
                    <a:pt x="77632" y="89349"/>
                    <a:pt x="79102" y="85940"/>
                    <a:pt x="78954" y="82381"/>
                  </a:cubicBezTo>
                  <a:lnTo>
                    <a:pt x="78095" y="61589"/>
                  </a:lnTo>
                  <a:lnTo>
                    <a:pt x="90693" y="45205"/>
                  </a:lnTo>
                  <a:cubicBezTo>
                    <a:pt x="92856" y="42392"/>
                    <a:pt x="93555" y="38556"/>
                    <a:pt x="92543" y="35042"/>
                  </a:cubicBezTo>
                  <a:cubicBezTo>
                    <a:pt x="91531" y="31533"/>
                    <a:pt x="88949" y="28838"/>
                    <a:pt x="85705" y="27905"/>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8" name="小红书平北职场PPT12-7"/>
            <p:cNvSpPr/>
            <p:nvPr/>
          </p:nvSpPr>
          <p:spPr>
            <a:xfrm>
              <a:off x="926056" y="4467123"/>
              <a:ext cx="92998" cy="93596"/>
            </a:xfrm>
            <a:custGeom>
              <a:avLst/>
              <a:gdLst>
                <a:gd name="connsiteX0" fmla="*/ 14904 w 92998"/>
                <a:gd name="connsiteY0" fmla="*/ 61589 h 93596"/>
                <a:gd name="connsiteX1" fmla="*/ 14045 w 92998"/>
                <a:gd name="connsiteY1" fmla="*/ 82381 h 93596"/>
                <a:gd name="connsiteX2" fmla="*/ 17967 w 92998"/>
                <a:gd name="connsiteY2" fmla="*/ 91474 h 93596"/>
                <a:gd name="connsiteX3" fmla="*/ 27021 w 92998"/>
                <a:gd name="connsiteY3" fmla="*/ 92994 h 93596"/>
                <a:gd name="connsiteX4" fmla="*/ 46500 w 92998"/>
                <a:gd name="connsiteY4" fmla="*/ 85496 h 93596"/>
                <a:gd name="connsiteX5" fmla="*/ 65979 w 92998"/>
                <a:gd name="connsiteY5" fmla="*/ 92994 h 93596"/>
                <a:gd name="connsiteX6" fmla="*/ 75031 w 92998"/>
                <a:gd name="connsiteY6" fmla="*/ 91474 h 93596"/>
                <a:gd name="connsiteX7" fmla="*/ 78955 w 92998"/>
                <a:gd name="connsiteY7" fmla="*/ 82381 h 93596"/>
                <a:gd name="connsiteX8" fmla="*/ 78096 w 92998"/>
                <a:gd name="connsiteY8" fmla="*/ 61589 h 93596"/>
                <a:gd name="connsiteX9" fmla="*/ 90691 w 92998"/>
                <a:gd name="connsiteY9" fmla="*/ 45208 h 93596"/>
                <a:gd name="connsiteX10" fmla="*/ 92542 w 92998"/>
                <a:gd name="connsiteY10" fmla="*/ 35045 h 93596"/>
                <a:gd name="connsiteX11" fmla="*/ 85706 w 92998"/>
                <a:gd name="connsiteY11" fmla="*/ 27905 h 93596"/>
                <a:gd name="connsiteX12" fmla="*/ 65811 w 92998"/>
                <a:gd name="connsiteY12" fmla="*/ 22189 h 93596"/>
                <a:gd name="connsiteX13" fmla="*/ 54471 w 92998"/>
                <a:gd name="connsiteY13" fmla="*/ 4540 h 93596"/>
                <a:gd name="connsiteX14" fmla="*/ 46500 w 92998"/>
                <a:gd name="connsiteY14" fmla="*/ 0 h 93596"/>
                <a:gd name="connsiteX15" fmla="*/ 38526 w 92998"/>
                <a:gd name="connsiteY15" fmla="*/ 4540 h 93596"/>
                <a:gd name="connsiteX16" fmla="*/ 27186 w 92998"/>
                <a:gd name="connsiteY16" fmla="*/ 22189 h 93596"/>
                <a:gd name="connsiteX17" fmla="*/ 7291 w 92998"/>
                <a:gd name="connsiteY17" fmla="*/ 27905 h 93596"/>
                <a:gd name="connsiteX18" fmla="*/ 455 w 92998"/>
                <a:gd name="connsiteY18" fmla="*/ 35045 h 93596"/>
                <a:gd name="connsiteX19" fmla="*/ 2306 w 92998"/>
                <a:gd name="connsiteY19" fmla="*/ 45208 h 9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998" h="93596">
                  <a:moveTo>
                    <a:pt x="14904" y="61589"/>
                  </a:moveTo>
                  <a:lnTo>
                    <a:pt x="14045" y="82381"/>
                  </a:lnTo>
                  <a:cubicBezTo>
                    <a:pt x="13897" y="85940"/>
                    <a:pt x="15366" y="89349"/>
                    <a:pt x="17967" y="91474"/>
                  </a:cubicBezTo>
                  <a:cubicBezTo>
                    <a:pt x="20569" y="93603"/>
                    <a:pt x="23963" y="94170"/>
                    <a:pt x="27021" y="92994"/>
                  </a:cubicBezTo>
                  <a:lnTo>
                    <a:pt x="46500" y="85496"/>
                  </a:lnTo>
                  <a:cubicBezTo>
                    <a:pt x="46500" y="85496"/>
                    <a:pt x="65966" y="92988"/>
                    <a:pt x="65979" y="92994"/>
                  </a:cubicBezTo>
                  <a:cubicBezTo>
                    <a:pt x="68854" y="94100"/>
                    <a:pt x="72440" y="93592"/>
                    <a:pt x="75031" y="91474"/>
                  </a:cubicBezTo>
                  <a:cubicBezTo>
                    <a:pt x="77633" y="89349"/>
                    <a:pt x="79103" y="85940"/>
                    <a:pt x="78955" y="82381"/>
                  </a:cubicBezTo>
                  <a:lnTo>
                    <a:pt x="78096" y="61589"/>
                  </a:lnTo>
                  <a:lnTo>
                    <a:pt x="90691" y="45208"/>
                  </a:lnTo>
                  <a:cubicBezTo>
                    <a:pt x="92857" y="42392"/>
                    <a:pt x="93556" y="38556"/>
                    <a:pt x="92542" y="35045"/>
                  </a:cubicBezTo>
                  <a:cubicBezTo>
                    <a:pt x="91530" y="31533"/>
                    <a:pt x="88950" y="28838"/>
                    <a:pt x="85706" y="27905"/>
                  </a:cubicBezTo>
                  <a:lnTo>
                    <a:pt x="65811" y="22189"/>
                  </a:lnTo>
                  <a:lnTo>
                    <a:pt x="54471" y="4540"/>
                  </a:lnTo>
                  <a:cubicBezTo>
                    <a:pt x="52643" y="1693"/>
                    <a:pt x="49670" y="0"/>
                    <a:pt x="46500" y="0"/>
                  </a:cubicBezTo>
                  <a:cubicBezTo>
                    <a:pt x="43328" y="0"/>
                    <a:pt x="40354" y="1693"/>
                    <a:pt x="38526" y="4540"/>
                  </a:cubicBezTo>
                  <a:lnTo>
                    <a:pt x="27186" y="22189"/>
                  </a:lnTo>
                  <a:lnTo>
                    <a:pt x="7291" y="27905"/>
                  </a:lnTo>
                  <a:cubicBezTo>
                    <a:pt x="4050" y="28838"/>
                    <a:pt x="1467" y="31533"/>
                    <a:pt x="455" y="35045"/>
                  </a:cubicBezTo>
                  <a:cubicBezTo>
                    <a:pt x="-557" y="38556"/>
                    <a:pt x="143" y="42392"/>
                    <a:pt x="2306" y="45208"/>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9" name="小红书平北职场PPT12-8"/>
            <p:cNvSpPr/>
            <p:nvPr/>
          </p:nvSpPr>
          <p:spPr>
            <a:xfrm>
              <a:off x="928317" y="4693080"/>
              <a:ext cx="90736" cy="122940"/>
            </a:xfrm>
            <a:custGeom>
              <a:avLst/>
              <a:gdLst>
                <a:gd name="connsiteX0" fmla="*/ 68103 w 90736"/>
                <a:gd name="connsiteY0" fmla="*/ 0 h 122940"/>
                <a:gd name="connsiteX1" fmla="*/ 22633 w 90736"/>
                <a:gd name="connsiteY1" fmla="*/ 0 h 122940"/>
                <a:gd name="connsiteX2" fmla="*/ 0 w 90736"/>
                <a:gd name="connsiteY2" fmla="*/ 24876 h 122940"/>
                <a:gd name="connsiteX3" fmla="*/ 0 w 90736"/>
                <a:gd name="connsiteY3" fmla="*/ 49641 h 122940"/>
                <a:gd name="connsiteX4" fmla="*/ 10707 w 90736"/>
                <a:gd name="connsiteY4" fmla="*/ 70799 h 122940"/>
                <a:gd name="connsiteX5" fmla="*/ 10707 w 90736"/>
                <a:gd name="connsiteY5" fmla="*/ 112213 h 122940"/>
                <a:gd name="connsiteX6" fmla="*/ 20467 w 90736"/>
                <a:gd name="connsiteY6" fmla="*/ 122941 h 122940"/>
                <a:gd name="connsiteX7" fmla="*/ 70269 w 90736"/>
                <a:gd name="connsiteY7" fmla="*/ 122941 h 122940"/>
                <a:gd name="connsiteX8" fmla="*/ 80030 w 90736"/>
                <a:gd name="connsiteY8" fmla="*/ 112213 h 122940"/>
                <a:gd name="connsiteX9" fmla="*/ 80030 w 90736"/>
                <a:gd name="connsiteY9" fmla="*/ 70799 h 122940"/>
                <a:gd name="connsiteX10" fmla="*/ 90736 w 90736"/>
                <a:gd name="connsiteY10" fmla="*/ 49641 h 122940"/>
                <a:gd name="connsiteX11" fmla="*/ 90736 w 90736"/>
                <a:gd name="connsiteY11" fmla="*/ 24876 h 122940"/>
                <a:gd name="connsiteX12" fmla="*/ 68103 w 90736"/>
                <a:gd name="connsiteY12" fmla="*/ 0 h 12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36" h="122940">
                  <a:moveTo>
                    <a:pt x="68103" y="0"/>
                  </a:moveTo>
                  <a:lnTo>
                    <a:pt x="22633" y="0"/>
                  </a:lnTo>
                  <a:cubicBezTo>
                    <a:pt x="10152" y="0"/>
                    <a:pt x="0" y="11161"/>
                    <a:pt x="0" y="24876"/>
                  </a:cubicBezTo>
                  <a:lnTo>
                    <a:pt x="0" y="49641"/>
                  </a:lnTo>
                  <a:cubicBezTo>
                    <a:pt x="0" y="58502"/>
                    <a:pt x="4204" y="66385"/>
                    <a:pt x="10707" y="70799"/>
                  </a:cubicBezTo>
                  <a:lnTo>
                    <a:pt x="10707" y="112213"/>
                  </a:lnTo>
                  <a:cubicBezTo>
                    <a:pt x="10707" y="118138"/>
                    <a:pt x="15078" y="122941"/>
                    <a:pt x="20467" y="122941"/>
                  </a:cubicBezTo>
                  <a:lnTo>
                    <a:pt x="70269" y="122941"/>
                  </a:lnTo>
                  <a:cubicBezTo>
                    <a:pt x="75657" y="122941"/>
                    <a:pt x="80030" y="118138"/>
                    <a:pt x="80030" y="112213"/>
                  </a:cubicBezTo>
                  <a:lnTo>
                    <a:pt x="80030" y="70799"/>
                  </a:lnTo>
                  <a:cubicBezTo>
                    <a:pt x="86532" y="66385"/>
                    <a:pt x="90736" y="58505"/>
                    <a:pt x="90736" y="49641"/>
                  </a:cubicBezTo>
                  <a:lnTo>
                    <a:pt x="90736" y="24876"/>
                  </a:lnTo>
                  <a:cubicBezTo>
                    <a:pt x="90736" y="11161"/>
                    <a:pt x="80584" y="0"/>
                    <a:pt x="68103" y="0"/>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90" name="小红书平北职场PPT12-9"/>
            <p:cNvSpPr/>
            <p:nvPr/>
          </p:nvSpPr>
          <p:spPr>
            <a:xfrm>
              <a:off x="940312" y="4612906"/>
              <a:ext cx="66725" cy="73333"/>
            </a:xfrm>
            <a:custGeom>
              <a:avLst/>
              <a:gdLst>
                <a:gd name="connsiteX0" fmla="*/ 33363 w 66725"/>
                <a:gd name="connsiteY0" fmla="*/ 0 h 73333"/>
                <a:gd name="connsiteX1" fmla="*/ 0 w 66725"/>
                <a:gd name="connsiteY1" fmla="*/ 36668 h 73333"/>
                <a:gd name="connsiteX2" fmla="*/ 33363 w 66725"/>
                <a:gd name="connsiteY2" fmla="*/ 73333 h 73333"/>
                <a:gd name="connsiteX3" fmla="*/ 66725 w 66725"/>
                <a:gd name="connsiteY3" fmla="*/ 36668 h 73333"/>
                <a:gd name="connsiteX4" fmla="*/ 33363 w 66725"/>
                <a:gd name="connsiteY4" fmla="*/ 0 h 73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725" h="73333">
                  <a:moveTo>
                    <a:pt x="33363" y="0"/>
                  </a:moveTo>
                  <a:cubicBezTo>
                    <a:pt x="14967" y="0"/>
                    <a:pt x="0" y="16448"/>
                    <a:pt x="0" y="36668"/>
                  </a:cubicBezTo>
                  <a:cubicBezTo>
                    <a:pt x="0" y="56885"/>
                    <a:pt x="14967" y="73333"/>
                    <a:pt x="33363" y="73333"/>
                  </a:cubicBezTo>
                  <a:cubicBezTo>
                    <a:pt x="51761" y="73333"/>
                    <a:pt x="66725" y="56885"/>
                    <a:pt x="66725" y="36668"/>
                  </a:cubicBezTo>
                  <a:cubicBezTo>
                    <a:pt x="66725" y="16448"/>
                    <a:pt x="51759" y="0"/>
                    <a:pt x="33363" y="0"/>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grpSp>
      <p:grpSp>
        <p:nvGrpSpPr>
          <p:cNvPr id="15" name="小红书平北职场PPT13"/>
          <p:cNvGrpSpPr/>
          <p:nvPr/>
        </p:nvGrpSpPr>
        <p:grpSpPr>
          <a:xfrm>
            <a:off x="6899492" y="5321518"/>
            <a:ext cx="603598" cy="663530"/>
            <a:chOff x="683292" y="5745254"/>
            <a:chExt cx="333079" cy="366153"/>
          </a:xfrm>
          <a:gradFill>
            <a:gsLst>
              <a:gs pos="0">
                <a:schemeClr val="bg1">
                  <a:alpha val="50000"/>
                </a:schemeClr>
              </a:gs>
              <a:gs pos="80000">
                <a:schemeClr val="bg1">
                  <a:alpha val="0"/>
                </a:schemeClr>
              </a:gs>
            </a:gsLst>
            <a:lin ang="8100000" scaled="1"/>
          </a:gradFill>
        </p:grpSpPr>
        <p:sp>
          <p:nvSpPr>
            <p:cNvPr id="75" name="小红书平北职场PPT13-1"/>
            <p:cNvSpPr/>
            <p:nvPr/>
          </p:nvSpPr>
          <p:spPr>
            <a:xfrm>
              <a:off x="683292" y="6039930"/>
              <a:ext cx="96268" cy="71477"/>
            </a:xfrm>
            <a:custGeom>
              <a:avLst/>
              <a:gdLst>
                <a:gd name="connsiteX0" fmla="*/ 72518 w 96268"/>
                <a:gd name="connsiteY0" fmla="*/ 22 h 71477"/>
                <a:gd name="connsiteX1" fmla="*/ 23533 w 96268"/>
                <a:gd name="connsiteY1" fmla="*/ 0 h 71477"/>
                <a:gd name="connsiteX2" fmla="*/ 6884 w 96268"/>
                <a:gd name="connsiteY2" fmla="*/ 7598 h 71477"/>
                <a:gd name="connsiteX3" fmla="*/ 0 w 96268"/>
                <a:gd name="connsiteY3" fmla="*/ 25876 h 71477"/>
                <a:gd name="connsiteX4" fmla="*/ 33 w 96268"/>
                <a:gd name="connsiteY4" fmla="*/ 50604 h 71477"/>
                <a:gd name="connsiteX5" fmla="*/ 5328 w 96268"/>
                <a:gd name="connsiteY5" fmla="*/ 60125 h 71477"/>
                <a:gd name="connsiteX6" fmla="*/ 48134 w 96268"/>
                <a:gd name="connsiteY6" fmla="*/ 71478 h 71477"/>
                <a:gd name="connsiteX7" fmla="*/ 90942 w 96268"/>
                <a:gd name="connsiteY7" fmla="*/ 60125 h 71477"/>
                <a:gd name="connsiteX8" fmla="*/ 96237 w 96268"/>
                <a:gd name="connsiteY8" fmla="*/ 50604 h 71477"/>
                <a:gd name="connsiteX9" fmla="*/ 96268 w 96268"/>
                <a:gd name="connsiteY9" fmla="*/ 25899 h 71477"/>
                <a:gd name="connsiteX10" fmla="*/ 89387 w 96268"/>
                <a:gd name="connsiteY10" fmla="*/ 7738 h 71477"/>
                <a:gd name="connsiteX11" fmla="*/ 72518 w 96268"/>
                <a:gd name="connsiteY11" fmla="*/ 22 h 7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268" h="71477">
                  <a:moveTo>
                    <a:pt x="72518" y="22"/>
                  </a:moveTo>
                  <a:cubicBezTo>
                    <a:pt x="64412" y="22"/>
                    <a:pt x="31642" y="0"/>
                    <a:pt x="23533" y="0"/>
                  </a:cubicBezTo>
                  <a:cubicBezTo>
                    <a:pt x="17250" y="0"/>
                    <a:pt x="11334" y="2698"/>
                    <a:pt x="6884" y="7598"/>
                  </a:cubicBezTo>
                  <a:cubicBezTo>
                    <a:pt x="2435" y="12493"/>
                    <a:pt x="-8" y="18982"/>
                    <a:pt x="0" y="25876"/>
                  </a:cubicBezTo>
                  <a:lnTo>
                    <a:pt x="33" y="50604"/>
                  </a:lnTo>
                  <a:cubicBezTo>
                    <a:pt x="38" y="54616"/>
                    <a:pt x="2079" y="58290"/>
                    <a:pt x="5328" y="60125"/>
                  </a:cubicBezTo>
                  <a:cubicBezTo>
                    <a:pt x="18467" y="67553"/>
                    <a:pt x="33271" y="71478"/>
                    <a:pt x="48134" y="71478"/>
                  </a:cubicBezTo>
                  <a:cubicBezTo>
                    <a:pt x="62999" y="71478"/>
                    <a:pt x="77801" y="67553"/>
                    <a:pt x="90942" y="60125"/>
                  </a:cubicBezTo>
                  <a:cubicBezTo>
                    <a:pt x="94188" y="58290"/>
                    <a:pt x="96232" y="54616"/>
                    <a:pt x="96237" y="50604"/>
                  </a:cubicBezTo>
                  <a:lnTo>
                    <a:pt x="96268" y="25899"/>
                  </a:lnTo>
                  <a:cubicBezTo>
                    <a:pt x="96278" y="19079"/>
                    <a:pt x="93832" y="12632"/>
                    <a:pt x="89387" y="7738"/>
                  </a:cubicBezTo>
                  <a:cubicBezTo>
                    <a:pt x="84931" y="2836"/>
                    <a:pt x="78782" y="22"/>
                    <a:pt x="72518" y="22"/>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76" name="小红书平北职场PPT13-2"/>
            <p:cNvSpPr/>
            <p:nvPr/>
          </p:nvSpPr>
          <p:spPr>
            <a:xfrm>
              <a:off x="696406" y="5953620"/>
              <a:ext cx="70019" cy="76950"/>
            </a:xfrm>
            <a:custGeom>
              <a:avLst/>
              <a:gdLst>
                <a:gd name="connsiteX0" fmla="*/ 35010 w 70019"/>
                <a:gd name="connsiteY0" fmla="*/ 76951 h 76950"/>
                <a:gd name="connsiteX1" fmla="*/ 70020 w 70019"/>
                <a:gd name="connsiteY1" fmla="*/ 38475 h 76950"/>
                <a:gd name="connsiteX2" fmla="*/ 35010 w 70019"/>
                <a:gd name="connsiteY2" fmla="*/ 0 h 76950"/>
                <a:gd name="connsiteX3" fmla="*/ 0 w 70019"/>
                <a:gd name="connsiteY3" fmla="*/ 38475 h 76950"/>
                <a:gd name="connsiteX4" fmla="*/ 35010 w 70019"/>
                <a:gd name="connsiteY4" fmla="*/ 76951 h 7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19" h="76950">
                  <a:moveTo>
                    <a:pt x="35010" y="76951"/>
                  </a:moveTo>
                  <a:cubicBezTo>
                    <a:pt x="54316" y="76951"/>
                    <a:pt x="70020" y="59690"/>
                    <a:pt x="70020" y="38475"/>
                  </a:cubicBezTo>
                  <a:cubicBezTo>
                    <a:pt x="70020" y="17261"/>
                    <a:pt x="54313" y="0"/>
                    <a:pt x="35010" y="0"/>
                  </a:cubicBezTo>
                  <a:cubicBezTo>
                    <a:pt x="15707" y="0"/>
                    <a:pt x="0" y="17261"/>
                    <a:pt x="0" y="38475"/>
                  </a:cubicBezTo>
                  <a:cubicBezTo>
                    <a:pt x="0" y="59690"/>
                    <a:pt x="15704" y="76951"/>
                    <a:pt x="35010" y="76951"/>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77" name="小红书平北职场PPT13-3"/>
            <p:cNvSpPr/>
            <p:nvPr/>
          </p:nvSpPr>
          <p:spPr>
            <a:xfrm>
              <a:off x="801362" y="6039930"/>
              <a:ext cx="96270" cy="71477"/>
            </a:xfrm>
            <a:custGeom>
              <a:avLst/>
              <a:gdLst>
                <a:gd name="connsiteX0" fmla="*/ 72522 w 96270"/>
                <a:gd name="connsiteY0" fmla="*/ 22 h 71477"/>
                <a:gd name="connsiteX1" fmla="*/ 23533 w 96270"/>
                <a:gd name="connsiteY1" fmla="*/ 0 h 71477"/>
                <a:gd name="connsiteX2" fmla="*/ 6884 w 96270"/>
                <a:gd name="connsiteY2" fmla="*/ 7598 h 71477"/>
                <a:gd name="connsiteX3" fmla="*/ 0 w 96270"/>
                <a:gd name="connsiteY3" fmla="*/ 25876 h 71477"/>
                <a:gd name="connsiteX4" fmla="*/ 33 w 96270"/>
                <a:gd name="connsiteY4" fmla="*/ 50604 h 71477"/>
                <a:gd name="connsiteX5" fmla="*/ 5328 w 96270"/>
                <a:gd name="connsiteY5" fmla="*/ 60125 h 71477"/>
                <a:gd name="connsiteX6" fmla="*/ 48134 w 96270"/>
                <a:gd name="connsiteY6" fmla="*/ 71478 h 71477"/>
                <a:gd name="connsiteX7" fmla="*/ 90942 w 96270"/>
                <a:gd name="connsiteY7" fmla="*/ 60125 h 71477"/>
                <a:gd name="connsiteX8" fmla="*/ 96237 w 96270"/>
                <a:gd name="connsiteY8" fmla="*/ 50604 h 71477"/>
                <a:gd name="connsiteX9" fmla="*/ 96271 w 96270"/>
                <a:gd name="connsiteY9" fmla="*/ 25899 h 71477"/>
                <a:gd name="connsiteX10" fmla="*/ 89387 w 96270"/>
                <a:gd name="connsiteY10" fmla="*/ 7738 h 71477"/>
                <a:gd name="connsiteX11" fmla="*/ 72522 w 96270"/>
                <a:gd name="connsiteY11" fmla="*/ 22 h 7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270" h="71477">
                  <a:moveTo>
                    <a:pt x="72522" y="22"/>
                  </a:moveTo>
                  <a:cubicBezTo>
                    <a:pt x="64415" y="22"/>
                    <a:pt x="31642" y="0"/>
                    <a:pt x="23533" y="0"/>
                  </a:cubicBezTo>
                  <a:cubicBezTo>
                    <a:pt x="17250" y="0"/>
                    <a:pt x="11337" y="2698"/>
                    <a:pt x="6884" y="7598"/>
                  </a:cubicBezTo>
                  <a:cubicBezTo>
                    <a:pt x="2436" y="12493"/>
                    <a:pt x="-7" y="18982"/>
                    <a:pt x="0" y="25876"/>
                  </a:cubicBezTo>
                  <a:lnTo>
                    <a:pt x="33" y="50604"/>
                  </a:lnTo>
                  <a:cubicBezTo>
                    <a:pt x="38" y="54616"/>
                    <a:pt x="2080" y="58290"/>
                    <a:pt x="5328" y="60125"/>
                  </a:cubicBezTo>
                  <a:cubicBezTo>
                    <a:pt x="18470" y="67553"/>
                    <a:pt x="33271" y="71478"/>
                    <a:pt x="48134" y="71478"/>
                  </a:cubicBezTo>
                  <a:cubicBezTo>
                    <a:pt x="62999" y="71478"/>
                    <a:pt x="77801" y="67553"/>
                    <a:pt x="90942" y="60125"/>
                  </a:cubicBezTo>
                  <a:cubicBezTo>
                    <a:pt x="94189" y="58290"/>
                    <a:pt x="96232" y="54616"/>
                    <a:pt x="96237" y="50604"/>
                  </a:cubicBezTo>
                  <a:lnTo>
                    <a:pt x="96271" y="25899"/>
                  </a:lnTo>
                  <a:cubicBezTo>
                    <a:pt x="96278" y="19079"/>
                    <a:pt x="93836" y="12632"/>
                    <a:pt x="89387" y="7738"/>
                  </a:cubicBezTo>
                  <a:cubicBezTo>
                    <a:pt x="84931" y="2836"/>
                    <a:pt x="78785" y="22"/>
                    <a:pt x="72522" y="22"/>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78" name="小红书平北职场PPT13-4"/>
            <p:cNvSpPr/>
            <p:nvPr/>
          </p:nvSpPr>
          <p:spPr>
            <a:xfrm>
              <a:off x="814476" y="5953620"/>
              <a:ext cx="70019" cy="76950"/>
            </a:xfrm>
            <a:custGeom>
              <a:avLst/>
              <a:gdLst>
                <a:gd name="connsiteX0" fmla="*/ 0 w 70019"/>
                <a:gd name="connsiteY0" fmla="*/ 38475 h 76950"/>
                <a:gd name="connsiteX1" fmla="*/ 35010 w 70019"/>
                <a:gd name="connsiteY1" fmla="*/ 76951 h 76950"/>
                <a:gd name="connsiteX2" fmla="*/ 70019 w 70019"/>
                <a:gd name="connsiteY2" fmla="*/ 38475 h 76950"/>
                <a:gd name="connsiteX3" fmla="*/ 35010 w 70019"/>
                <a:gd name="connsiteY3" fmla="*/ 0 h 76950"/>
                <a:gd name="connsiteX4" fmla="*/ 0 w 70019"/>
                <a:gd name="connsiteY4" fmla="*/ 38475 h 7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19" h="76950">
                  <a:moveTo>
                    <a:pt x="0" y="38475"/>
                  </a:moveTo>
                  <a:cubicBezTo>
                    <a:pt x="0" y="59692"/>
                    <a:pt x="15706" y="76951"/>
                    <a:pt x="35010" y="76951"/>
                  </a:cubicBezTo>
                  <a:cubicBezTo>
                    <a:pt x="54315" y="76951"/>
                    <a:pt x="70019" y="59690"/>
                    <a:pt x="70019" y="38475"/>
                  </a:cubicBezTo>
                  <a:cubicBezTo>
                    <a:pt x="70019" y="17261"/>
                    <a:pt x="54315" y="0"/>
                    <a:pt x="35010" y="0"/>
                  </a:cubicBezTo>
                  <a:cubicBezTo>
                    <a:pt x="15706" y="0"/>
                    <a:pt x="0" y="17259"/>
                    <a:pt x="0" y="38475"/>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79" name="小红书平北职场PPT13-5"/>
            <p:cNvSpPr/>
            <p:nvPr/>
          </p:nvSpPr>
          <p:spPr>
            <a:xfrm>
              <a:off x="920103" y="6039930"/>
              <a:ext cx="96268" cy="71477"/>
            </a:xfrm>
            <a:custGeom>
              <a:avLst/>
              <a:gdLst>
                <a:gd name="connsiteX0" fmla="*/ 89384 w 96268"/>
                <a:gd name="connsiteY0" fmla="*/ 7738 h 71477"/>
                <a:gd name="connsiteX1" fmla="*/ 72518 w 96268"/>
                <a:gd name="connsiteY1" fmla="*/ 22 h 71477"/>
                <a:gd name="connsiteX2" fmla="*/ 23531 w 96268"/>
                <a:gd name="connsiteY2" fmla="*/ 0 h 71477"/>
                <a:gd name="connsiteX3" fmla="*/ 6881 w 96268"/>
                <a:gd name="connsiteY3" fmla="*/ 7598 h 71477"/>
                <a:gd name="connsiteX4" fmla="*/ 0 w 96268"/>
                <a:gd name="connsiteY4" fmla="*/ 25876 h 71477"/>
                <a:gd name="connsiteX5" fmla="*/ 31 w 96268"/>
                <a:gd name="connsiteY5" fmla="*/ 50604 h 71477"/>
                <a:gd name="connsiteX6" fmla="*/ 5326 w 96268"/>
                <a:gd name="connsiteY6" fmla="*/ 60125 h 71477"/>
                <a:gd name="connsiteX7" fmla="*/ 48134 w 96268"/>
                <a:gd name="connsiteY7" fmla="*/ 71478 h 71477"/>
                <a:gd name="connsiteX8" fmla="*/ 90940 w 96268"/>
                <a:gd name="connsiteY8" fmla="*/ 60125 h 71477"/>
                <a:gd name="connsiteX9" fmla="*/ 96237 w 96268"/>
                <a:gd name="connsiteY9" fmla="*/ 50604 h 71477"/>
                <a:gd name="connsiteX10" fmla="*/ 96268 w 96268"/>
                <a:gd name="connsiteY10" fmla="*/ 25896 h 71477"/>
                <a:gd name="connsiteX11" fmla="*/ 89384 w 96268"/>
                <a:gd name="connsiteY11" fmla="*/ 7738 h 7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268" h="71477">
                  <a:moveTo>
                    <a:pt x="89384" y="7738"/>
                  </a:moveTo>
                  <a:cubicBezTo>
                    <a:pt x="84928" y="2836"/>
                    <a:pt x="78780" y="22"/>
                    <a:pt x="72518" y="22"/>
                  </a:cubicBezTo>
                  <a:cubicBezTo>
                    <a:pt x="64412" y="22"/>
                    <a:pt x="31642" y="0"/>
                    <a:pt x="23531" y="0"/>
                  </a:cubicBezTo>
                  <a:cubicBezTo>
                    <a:pt x="17247" y="0"/>
                    <a:pt x="11332" y="2698"/>
                    <a:pt x="6881" y="7598"/>
                  </a:cubicBezTo>
                  <a:cubicBezTo>
                    <a:pt x="2435" y="12493"/>
                    <a:pt x="-10" y="18982"/>
                    <a:pt x="0" y="25876"/>
                  </a:cubicBezTo>
                  <a:lnTo>
                    <a:pt x="31" y="50604"/>
                  </a:lnTo>
                  <a:cubicBezTo>
                    <a:pt x="36" y="54616"/>
                    <a:pt x="2079" y="58290"/>
                    <a:pt x="5326" y="60125"/>
                  </a:cubicBezTo>
                  <a:cubicBezTo>
                    <a:pt x="18467" y="67553"/>
                    <a:pt x="33269" y="71478"/>
                    <a:pt x="48134" y="71478"/>
                  </a:cubicBezTo>
                  <a:cubicBezTo>
                    <a:pt x="62997" y="71478"/>
                    <a:pt x="77801" y="67553"/>
                    <a:pt x="90940" y="60125"/>
                  </a:cubicBezTo>
                  <a:cubicBezTo>
                    <a:pt x="94188" y="58290"/>
                    <a:pt x="96232" y="54616"/>
                    <a:pt x="96237" y="50604"/>
                  </a:cubicBezTo>
                  <a:lnTo>
                    <a:pt x="96268" y="25896"/>
                  </a:lnTo>
                  <a:cubicBezTo>
                    <a:pt x="96275" y="19079"/>
                    <a:pt x="93830" y="12632"/>
                    <a:pt x="89384" y="7738"/>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0" name="小红书平北职场PPT13-6"/>
            <p:cNvSpPr/>
            <p:nvPr/>
          </p:nvSpPr>
          <p:spPr>
            <a:xfrm>
              <a:off x="933214" y="5953620"/>
              <a:ext cx="70022" cy="76950"/>
            </a:xfrm>
            <a:custGeom>
              <a:avLst/>
              <a:gdLst>
                <a:gd name="connsiteX0" fmla="*/ 0 w 70022"/>
                <a:gd name="connsiteY0" fmla="*/ 38475 h 76950"/>
                <a:gd name="connsiteX1" fmla="*/ 35010 w 70022"/>
                <a:gd name="connsiteY1" fmla="*/ 76951 h 76950"/>
                <a:gd name="connsiteX2" fmla="*/ 70023 w 70022"/>
                <a:gd name="connsiteY2" fmla="*/ 38475 h 76950"/>
                <a:gd name="connsiteX3" fmla="*/ 35010 w 70022"/>
                <a:gd name="connsiteY3" fmla="*/ 0 h 76950"/>
                <a:gd name="connsiteX4" fmla="*/ 0 w 70022"/>
                <a:gd name="connsiteY4" fmla="*/ 38475 h 7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2" h="76950">
                  <a:moveTo>
                    <a:pt x="0" y="38475"/>
                  </a:moveTo>
                  <a:cubicBezTo>
                    <a:pt x="0" y="59692"/>
                    <a:pt x="15707" y="76951"/>
                    <a:pt x="35010" y="76951"/>
                  </a:cubicBezTo>
                  <a:cubicBezTo>
                    <a:pt x="54316" y="76951"/>
                    <a:pt x="70023" y="59690"/>
                    <a:pt x="70023" y="38475"/>
                  </a:cubicBezTo>
                  <a:cubicBezTo>
                    <a:pt x="70023" y="17261"/>
                    <a:pt x="54316" y="0"/>
                    <a:pt x="35010" y="0"/>
                  </a:cubicBezTo>
                  <a:cubicBezTo>
                    <a:pt x="15707" y="0"/>
                    <a:pt x="0" y="17259"/>
                    <a:pt x="0" y="38475"/>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1" name="小红书平北职场PPT13-7"/>
            <p:cNvSpPr/>
            <p:nvPr/>
          </p:nvSpPr>
          <p:spPr>
            <a:xfrm>
              <a:off x="723628" y="5745254"/>
              <a:ext cx="252407" cy="190993"/>
            </a:xfrm>
            <a:custGeom>
              <a:avLst/>
              <a:gdLst>
                <a:gd name="connsiteX0" fmla="*/ 9756 w 252407"/>
                <a:gd name="connsiteY0" fmla="*/ 35855 h 190993"/>
                <a:gd name="connsiteX1" fmla="*/ 13660 w 252407"/>
                <a:gd name="connsiteY1" fmla="*/ 35855 h 190993"/>
                <a:gd name="connsiteX2" fmla="*/ 13660 w 252407"/>
                <a:gd name="connsiteY2" fmla="*/ 180269 h 190993"/>
                <a:gd name="connsiteX3" fmla="*/ 23419 w 252407"/>
                <a:gd name="connsiteY3" fmla="*/ 190994 h 190993"/>
                <a:gd name="connsiteX4" fmla="*/ 228989 w 252407"/>
                <a:gd name="connsiteY4" fmla="*/ 190994 h 190993"/>
                <a:gd name="connsiteX5" fmla="*/ 238748 w 252407"/>
                <a:gd name="connsiteY5" fmla="*/ 180269 h 190993"/>
                <a:gd name="connsiteX6" fmla="*/ 238748 w 252407"/>
                <a:gd name="connsiteY6" fmla="*/ 35855 h 190993"/>
                <a:gd name="connsiteX7" fmla="*/ 242649 w 252407"/>
                <a:gd name="connsiteY7" fmla="*/ 35855 h 190993"/>
                <a:gd name="connsiteX8" fmla="*/ 252408 w 252407"/>
                <a:gd name="connsiteY8" fmla="*/ 25131 h 190993"/>
                <a:gd name="connsiteX9" fmla="*/ 242649 w 252407"/>
                <a:gd name="connsiteY9" fmla="*/ 14406 h 190993"/>
                <a:gd name="connsiteX10" fmla="*/ 135962 w 252407"/>
                <a:gd name="connsiteY10" fmla="*/ 14406 h 190993"/>
                <a:gd name="connsiteX11" fmla="*/ 135962 w 252407"/>
                <a:gd name="connsiteY11" fmla="*/ 10724 h 190993"/>
                <a:gd name="connsiteX12" fmla="*/ 126204 w 252407"/>
                <a:gd name="connsiteY12" fmla="*/ 0 h 190993"/>
                <a:gd name="connsiteX13" fmla="*/ 116446 w 252407"/>
                <a:gd name="connsiteY13" fmla="*/ 10724 h 190993"/>
                <a:gd name="connsiteX14" fmla="*/ 116446 w 252407"/>
                <a:gd name="connsiteY14" fmla="*/ 14406 h 190993"/>
                <a:gd name="connsiteX15" fmla="*/ 9756 w 252407"/>
                <a:gd name="connsiteY15" fmla="*/ 14406 h 190993"/>
                <a:gd name="connsiteX16" fmla="*/ 0 w 252407"/>
                <a:gd name="connsiteY16" fmla="*/ 25131 h 190993"/>
                <a:gd name="connsiteX17" fmla="*/ 9756 w 252407"/>
                <a:gd name="connsiteY17" fmla="*/ 35855 h 190993"/>
                <a:gd name="connsiteX18" fmla="*/ 50910 w 252407"/>
                <a:gd name="connsiteY18" fmla="*/ 105724 h 190993"/>
                <a:gd name="connsiteX19" fmla="*/ 64707 w 252407"/>
                <a:gd name="connsiteY19" fmla="*/ 105528 h 190993"/>
                <a:gd name="connsiteX20" fmla="*/ 81957 w 252407"/>
                <a:gd name="connsiteY20" fmla="*/ 124007 h 190993"/>
                <a:gd name="connsiteX21" fmla="*/ 134707 w 252407"/>
                <a:gd name="connsiteY21" fmla="*/ 67497 h 190993"/>
                <a:gd name="connsiteX22" fmla="*/ 148329 w 252407"/>
                <a:gd name="connsiteY22" fmla="*/ 67497 h 190993"/>
                <a:gd name="connsiteX23" fmla="*/ 173499 w 252407"/>
                <a:gd name="connsiteY23" fmla="*/ 94461 h 190993"/>
                <a:gd name="connsiteX24" fmla="*/ 187698 w 252407"/>
                <a:gd name="connsiteY24" fmla="*/ 79249 h 190993"/>
                <a:gd name="connsiteX25" fmla="*/ 201496 w 252407"/>
                <a:gd name="connsiteY25" fmla="*/ 79443 h 190993"/>
                <a:gd name="connsiteX26" fmla="*/ 201320 w 252407"/>
                <a:gd name="connsiteY26" fmla="*/ 94609 h 190993"/>
                <a:gd name="connsiteX27" fmla="*/ 180309 w 252407"/>
                <a:gd name="connsiteY27" fmla="*/ 117116 h 190993"/>
                <a:gd name="connsiteX28" fmla="*/ 166687 w 252407"/>
                <a:gd name="connsiteY28" fmla="*/ 117116 h 190993"/>
                <a:gd name="connsiteX29" fmla="*/ 141516 w 252407"/>
                <a:gd name="connsiteY29" fmla="*/ 90153 h 190993"/>
                <a:gd name="connsiteX30" fmla="*/ 88769 w 252407"/>
                <a:gd name="connsiteY30" fmla="*/ 146663 h 190993"/>
                <a:gd name="connsiteX31" fmla="*/ 81957 w 252407"/>
                <a:gd name="connsiteY31" fmla="*/ 149708 h 190993"/>
                <a:gd name="connsiteX32" fmla="*/ 75144 w 252407"/>
                <a:gd name="connsiteY32" fmla="*/ 146663 h 190993"/>
                <a:gd name="connsiteX33" fmla="*/ 51085 w 252407"/>
                <a:gd name="connsiteY33" fmla="*/ 120887 h 190993"/>
                <a:gd name="connsiteX34" fmla="*/ 50910 w 252407"/>
                <a:gd name="connsiteY34" fmla="*/ 105724 h 190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52407" h="190993">
                  <a:moveTo>
                    <a:pt x="9756" y="35855"/>
                  </a:moveTo>
                  <a:lnTo>
                    <a:pt x="13660" y="35855"/>
                  </a:lnTo>
                  <a:lnTo>
                    <a:pt x="13660" y="180269"/>
                  </a:lnTo>
                  <a:cubicBezTo>
                    <a:pt x="13660" y="186191"/>
                    <a:pt x="18030" y="190994"/>
                    <a:pt x="23419" y="190994"/>
                  </a:cubicBezTo>
                  <a:lnTo>
                    <a:pt x="228989" y="190994"/>
                  </a:lnTo>
                  <a:cubicBezTo>
                    <a:pt x="234378" y="190994"/>
                    <a:pt x="238748" y="186191"/>
                    <a:pt x="238748" y="180269"/>
                  </a:cubicBezTo>
                  <a:lnTo>
                    <a:pt x="238748" y="35855"/>
                  </a:lnTo>
                  <a:lnTo>
                    <a:pt x="242649" y="35855"/>
                  </a:lnTo>
                  <a:cubicBezTo>
                    <a:pt x="248041" y="35855"/>
                    <a:pt x="252408" y="31053"/>
                    <a:pt x="252408" y="25131"/>
                  </a:cubicBezTo>
                  <a:cubicBezTo>
                    <a:pt x="252408" y="19208"/>
                    <a:pt x="248041" y="14406"/>
                    <a:pt x="242649" y="14406"/>
                  </a:cubicBezTo>
                  <a:lnTo>
                    <a:pt x="135962" y="14406"/>
                  </a:lnTo>
                  <a:lnTo>
                    <a:pt x="135962" y="10724"/>
                  </a:lnTo>
                  <a:cubicBezTo>
                    <a:pt x="135962" y="4802"/>
                    <a:pt x="131593" y="0"/>
                    <a:pt x="126204" y="0"/>
                  </a:cubicBezTo>
                  <a:cubicBezTo>
                    <a:pt x="120815" y="0"/>
                    <a:pt x="116446" y="4802"/>
                    <a:pt x="116446" y="10724"/>
                  </a:cubicBezTo>
                  <a:lnTo>
                    <a:pt x="116446" y="14406"/>
                  </a:lnTo>
                  <a:lnTo>
                    <a:pt x="9756" y="14406"/>
                  </a:lnTo>
                  <a:cubicBezTo>
                    <a:pt x="4367" y="14406"/>
                    <a:pt x="0" y="19208"/>
                    <a:pt x="0" y="25131"/>
                  </a:cubicBezTo>
                  <a:cubicBezTo>
                    <a:pt x="0" y="31053"/>
                    <a:pt x="4367" y="35855"/>
                    <a:pt x="9756" y="35855"/>
                  </a:cubicBezTo>
                  <a:close/>
                  <a:moveTo>
                    <a:pt x="50910" y="105724"/>
                  </a:moveTo>
                  <a:cubicBezTo>
                    <a:pt x="54669" y="101480"/>
                    <a:pt x="60846" y="101394"/>
                    <a:pt x="64707" y="105528"/>
                  </a:cubicBezTo>
                  <a:lnTo>
                    <a:pt x="81957" y="124007"/>
                  </a:lnTo>
                  <a:lnTo>
                    <a:pt x="134707" y="67497"/>
                  </a:lnTo>
                  <a:cubicBezTo>
                    <a:pt x="138496" y="63436"/>
                    <a:pt x="144539" y="63436"/>
                    <a:pt x="148329" y="67497"/>
                  </a:cubicBezTo>
                  <a:lnTo>
                    <a:pt x="173499" y="94461"/>
                  </a:lnTo>
                  <a:lnTo>
                    <a:pt x="187698" y="79249"/>
                  </a:lnTo>
                  <a:cubicBezTo>
                    <a:pt x="191557" y="75115"/>
                    <a:pt x="197734" y="75202"/>
                    <a:pt x="201496" y="79443"/>
                  </a:cubicBezTo>
                  <a:cubicBezTo>
                    <a:pt x="205258" y="83686"/>
                    <a:pt x="205179" y="90474"/>
                    <a:pt x="201320" y="94609"/>
                  </a:cubicBezTo>
                  <a:lnTo>
                    <a:pt x="180309" y="117116"/>
                  </a:lnTo>
                  <a:cubicBezTo>
                    <a:pt x="176519" y="121175"/>
                    <a:pt x="170477" y="121175"/>
                    <a:pt x="166687" y="117116"/>
                  </a:cubicBezTo>
                  <a:lnTo>
                    <a:pt x="141516" y="90153"/>
                  </a:lnTo>
                  <a:lnTo>
                    <a:pt x="88769" y="146663"/>
                  </a:lnTo>
                  <a:cubicBezTo>
                    <a:pt x="86873" y="148691"/>
                    <a:pt x="84415" y="149708"/>
                    <a:pt x="81957" y="149708"/>
                  </a:cubicBezTo>
                  <a:cubicBezTo>
                    <a:pt x="79496" y="149708"/>
                    <a:pt x="77038" y="148691"/>
                    <a:pt x="75144" y="146663"/>
                  </a:cubicBezTo>
                  <a:lnTo>
                    <a:pt x="51085" y="120887"/>
                  </a:lnTo>
                  <a:cubicBezTo>
                    <a:pt x="47227" y="116756"/>
                    <a:pt x="47148" y="109965"/>
                    <a:pt x="50910" y="105724"/>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grpSp>
      <p:grpSp>
        <p:nvGrpSpPr>
          <p:cNvPr id="16" name="小红书平北职场PPT14"/>
          <p:cNvGrpSpPr/>
          <p:nvPr/>
        </p:nvGrpSpPr>
        <p:grpSpPr>
          <a:xfrm>
            <a:off x="2720073" y="915782"/>
            <a:ext cx="8352717" cy="317074"/>
            <a:chOff x="2907963" y="948056"/>
            <a:chExt cx="8352717" cy="317074"/>
          </a:xfrm>
        </p:grpSpPr>
        <p:sp>
          <p:nvSpPr>
            <p:cNvPr id="72" name="小红书平北职场PPT14-1"/>
            <p:cNvSpPr txBox="1"/>
            <p:nvPr/>
          </p:nvSpPr>
          <p:spPr>
            <a:xfrm>
              <a:off x="2907963" y="948056"/>
              <a:ext cx="800219" cy="317074"/>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1">
                      <a:lumMod val="85000"/>
                      <a:lumOff val="15000"/>
                    </a:schemeClr>
                  </a:solidFill>
                  <a:cs typeface="思源黑体 CN Normal" panose="020B0400000000000000" pitchFamily="34" charset="-122"/>
                </a:rPr>
                <a:t>基本介绍</a:t>
              </a:r>
              <a:endParaRPr lang="zh-CN" altLang="en-US" dirty="0">
                <a:solidFill>
                  <a:schemeClr val="tx1">
                    <a:lumMod val="85000"/>
                    <a:lumOff val="15000"/>
                  </a:schemeClr>
                </a:solidFill>
                <a:cs typeface="思源黑体 CN Normal" panose="020B0400000000000000" pitchFamily="34" charset="-122"/>
              </a:endParaRPr>
            </a:p>
          </p:txBody>
        </p:sp>
        <p:sp>
          <p:nvSpPr>
            <p:cNvPr id="73" name="小红书平北职场PPT14-2"/>
            <p:cNvSpPr txBox="1"/>
            <p:nvPr/>
          </p:nvSpPr>
          <p:spPr>
            <a:xfrm>
              <a:off x="7143310" y="948056"/>
              <a:ext cx="800219" cy="317074"/>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1">
                      <a:lumMod val="85000"/>
                      <a:lumOff val="15000"/>
                    </a:schemeClr>
                  </a:solidFill>
                  <a:cs typeface="思源黑体 CN Normal" panose="020B0400000000000000" pitchFamily="34" charset="-122"/>
                </a:rPr>
                <a:t>团队名称</a:t>
              </a:r>
              <a:endParaRPr lang="zh-CN" altLang="en-US" dirty="0">
                <a:solidFill>
                  <a:schemeClr val="tx1">
                    <a:lumMod val="85000"/>
                    <a:lumOff val="15000"/>
                  </a:schemeClr>
                </a:solidFill>
                <a:cs typeface="思源黑体 CN Normal" panose="020B0400000000000000" pitchFamily="34" charset="-122"/>
              </a:endParaRPr>
            </a:p>
          </p:txBody>
        </p:sp>
        <p:sp>
          <p:nvSpPr>
            <p:cNvPr id="74" name="小红书平北职场PPT14-3"/>
            <p:cNvSpPr txBox="1"/>
            <p:nvPr/>
          </p:nvSpPr>
          <p:spPr>
            <a:xfrm>
              <a:off x="10460461" y="948056"/>
              <a:ext cx="800219" cy="317074"/>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1">
                      <a:lumMod val="85000"/>
                      <a:lumOff val="15000"/>
                    </a:schemeClr>
                  </a:solidFill>
                  <a:cs typeface="思源黑体 CN Normal" panose="020B0400000000000000" pitchFamily="34" charset="-122"/>
                </a:rPr>
                <a:t>未来建议</a:t>
              </a:r>
              <a:endParaRPr lang="zh-CN" altLang="en-US" dirty="0">
                <a:solidFill>
                  <a:schemeClr val="tx1">
                    <a:lumMod val="85000"/>
                    <a:lumOff val="15000"/>
                  </a:schemeClr>
                </a:solidFill>
                <a:cs typeface="思源黑体 CN Normal" panose="020B0400000000000000" pitchFamily="34" charset="-122"/>
              </a:endParaRPr>
            </a:p>
          </p:txBody>
        </p:sp>
      </p:grpSp>
      <p:grpSp>
        <p:nvGrpSpPr>
          <p:cNvPr id="17" name="小红书平北职场PPT15"/>
          <p:cNvGrpSpPr/>
          <p:nvPr/>
        </p:nvGrpSpPr>
        <p:grpSpPr>
          <a:xfrm>
            <a:off x="629403" y="1743171"/>
            <a:ext cx="3997108" cy="332020"/>
            <a:chOff x="792241" y="2052635"/>
            <a:chExt cx="3997108" cy="332020"/>
          </a:xfrm>
        </p:grpSpPr>
        <p:grpSp>
          <p:nvGrpSpPr>
            <p:cNvPr id="66" name="组合 65"/>
            <p:cNvGrpSpPr/>
            <p:nvPr/>
          </p:nvGrpSpPr>
          <p:grpSpPr>
            <a:xfrm>
              <a:off x="792241" y="2052635"/>
              <a:ext cx="1679038" cy="332020"/>
              <a:chOff x="3850428" y="5516342"/>
              <a:chExt cx="1109956" cy="332020"/>
            </a:xfrm>
          </p:grpSpPr>
          <p:sp>
            <p:nvSpPr>
              <p:cNvPr id="70" name="小红书平北职场PPT15-1"/>
              <p:cNvSpPr/>
              <p:nvPr/>
            </p:nvSpPr>
            <p:spPr>
              <a:xfrm>
                <a:off x="3850428"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71" name="小红书平北职场PPT15-2"/>
              <p:cNvSpPr txBox="1"/>
              <p:nvPr/>
            </p:nvSpPr>
            <p:spPr>
              <a:xfrm>
                <a:off x="3907940" y="5535168"/>
                <a:ext cx="952875" cy="307777"/>
              </a:xfrm>
              <a:prstGeom prst="rect">
                <a:avLst/>
              </a:prstGeom>
              <a:noFill/>
            </p:spPr>
            <p:txBody>
              <a:bodyPr wrap="non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品牌发展成熟期</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nvGrpSpPr>
            <p:cNvPr id="67" name="组合 66"/>
            <p:cNvGrpSpPr/>
            <p:nvPr/>
          </p:nvGrpSpPr>
          <p:grpSpPr>
            <a:xfrm>
              <a:off x="2639930" y="2052635"/>
              <a:ext cx="2149419" cy="332020"/>
              <a:chOff x="3838939" y="5516342"/>
              <a:chExt cx="1420910" cy="332020"/>
            </a:xfrm>
          </p:grpSpPr>
          <p:sp>
            <p:nvSpPr>
              <p:cNvPr id="68" name="小红书平北职场PPT15-3"/>
              <p:cNvSpPr/>
              <p:nvPr/>
            </p:nvSpPr>
            <p:spPr>
              <a:xfrm>
                <a:off x="3850428" y="5516342"/>
                <a:ext cx="1374205"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9" name="小红书平北职场PPT15-4"/>
              <p:cNvSpPr txBox="1"/>
              <p:nvPr/>
            </p:nvSpPr>
            <p:spPr>
              <a:xfrm>
                <a:off x="3838939" y="5535168"/>
                <a:ext cx="1420910" cy="307777"/>
              </a:xfrm>
              <a:prstGeom prst="rect">
                <a:avLst/>
              </a:prstGeom>
              <a:noFill/>
            </p:spPr>
            <p:txBody>
              <a:bodyPr wrap="squar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品牌建设与客群建设</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grpSp>
        <p:nvGrpSpPr>
          <p:cNvPr id="18" name="小红书平北职场PPT16"/>
          <p:cNvGrpSpPr/>
          <p:nvPr/>
        </p:nvGrpSpPr>
        <p:grpSpPr>
          <a:xfrm>
            <a:off x="629403" y="3551566"/>
            <a:ext cx="3997108" cy="332020"/>
            <a:chOff x="792241" y="2052635"/>
            <a:chExt cx="3997108" cy="332020"/>
          </a:xfrm>
        </p:grpSpPr>
        <p:grpSp>
          <p:nvGrpSpPr>
            <p:cNvPr id="60" name="组合 59"/>
            <p:cNvGrpSpPr/>
            <p:nvPr/>
          </p:nvGrpSpPr>
          <p:grpSpPr>
            <a:xfrm>
              <a:off x="792241" y="2052635"/>
              <a:ext cx="1679038" cy="332020"/>
              <a:chOff x="3850428" y="5516342"/>
              <a:chExt cx="1109956" cy="332020"/>
            </a:xfrm>
          </p:grpSpPr>
          <p:sp>
            <p:nvSpPr>
              <p:cNvPr id="64" name="小红书平北职场PPT16-1"/>
              <p:cNvSpPr/>
              <p:nvPr/>
            </p:nvSpPr>
            <p:spPr>
              <a:xfrm>
                <a:off x="3850428"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5" name="小红书平北职场PPT16-2"/>
              <p:cNvSpPr txBox="1"/>
              <p:nvPr/>
            </p:nvSpPr>
            <p:spPr>
              <a:xfrm>
                <a:off x="3967282" y="5535168"/>
                <a:ext cx="834190" cy="307777"/>
              </a:xfrm>
              <a:prstGeom prst="rect">
                <a:avLst/>
              </a:prstGeom>
              <a:noFill/>
            </p:spPr>
            <p:txBody>
              <a:bodyPr wrap="non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品牌发展中期</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nvGrpSpPr>
            <p:cNvPr id="61" name="组合 60"/>
            <p:cNvGrpSpPr/>
            <p:nvPr/>
          </p:nvGrpSpPr>
          <p:grpSpPr>
            <a:xfrm>
              <a:off x="2639930" y="2052635"/>
              <a:ext cx="2149419" cy="332020"/>
              <a:chOff x="3838939" y="5516342"/>
              <a:chExt cx="1420910" cy="332020"/>
            </a:xfrm>
          </p:grpSpPr>
          <p:sp>
            <p:nvSpPr>
              <p:cNvPr id="62" name="小红书平北职场PPT16-3"/>
              <p:cNvSpPr/>
              <p:nvPr/>
            </p:nvSpPr>
            <p:spPr>
              <a:xfrm>
                <a:off x="3850428" y="5516342"/>
                <a:ext cx="1374205"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3" name="小红书平北职场PPT16-4"/>
              <p:cNvSpPr txBox="1"/>
              <p:nvPr/>
            </p:nvSpPr>
            <p:spPr>
              <a:xfrm>
                <a:off x="3838939" y="5535168"/>
                <a:ext cx="1420910" cy="307777"/>
              </a:xfrm>
              <a:prstGeom prst="rect">
                <a:avLst/>
              </a:prstGeom>
              <a:noFill/>
            </p:spPr>
            <p:txBody>
              <a:bodyPr wrap="squar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市场扩展与品牌推广</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grpSp>
        <p:nvGrpSpPr>
          <p:cNvPr id="19" name="小红书平北职场PPT17"/>
          <p:cNvGrpSpPr/>
          <p:nvPr/>
        </p:nvGrpSpPr>
        <p:grpSpPr>
          <a:xfrm>
            <a:off x="629403" y="5404691"/>
            <a:ext cx="3997108" cy="332020"/>
            <a:chOff x="792241" y="2052635"/>
            <a:chExt cx="3997108" cy="332020"/>
          </a:xfrm>
        </p:grpSpPr>
        <p:grpSp>
          <p:nvGrpSpPr>
            <p:cNvPr id="54" name="组合 53"/>
            <p:cNvGrpSpPr/>
            <p:nvPr/>
          </p:nvGrpSpPr>
          <p:grpSpPr>
            <a:xfrm>
              <a:off x="792241" y="2052635"/>
              <a:ext cx="1679038" cy="332020"/>
              <a:chOff x="3850428" y="5516342"/>
              <a:chExt cx="1109956" cy="332020"/>
            </a:xfrm>
          </p:grpSpPr>
          <p:sp>
            <p:nvSpPr>
              <p:cNvPr id="58" name="小红书平北职场PPT17-1"/>
              <p:cNvSpPr/>
              <p:nvPr/>
            </p:nvSpPr>
            <p:spPr>
              <a:xfrm>
                <a:off x="3850428"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59" name="小红书平北职场PPT17-2"/>
              <p:cNvSpPr txBox="1"/>
              <p:nvPr/>
            </p:nvSpPr>
            <p:spPr>
              <a:xfrm>
                <a:off x="3907940" y="5535168"/>
                <a:ext cx="952875" cy="307777"/>
              </a:xfrm>
              <a:prstGeom prst="rect">
                <a:avLst/>
              </a:prstGeom>
              <a:noFill/>
            </p:spPr>
            <p:txBody>
              <a:bodyPr wrap="non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品牌发展稳定期</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nvGrpSpPr>
            <p:cNvPr id="55" name="组合 54"/>
            <p:cNvGrpSpPr/>
            <p:nvPr/>
          </p:nvGrpSpPr>
          <p:grpSpPr>
            <a:xfrm>
              <a:off x="2639930" y="2052635"/>
              <a:ext cx="2149419" cy="332020"/>
              <a:chOff x="3838939" y="5516342"/>
              <a:chExt cx="1420910" cy="332020"/>
            </a:xfrm>
          </p:grpSpPr>
          <p:sp>
            <p:nvSpPr>
              <p:cNvPr id="56" name="小红书平北职场PPT17-3"/>
              <p:cNvSpPr/>
              <p:nvPr/>
            </p:nvSpPr>
            <p:spPr>
              <a:xfrm>
                <a:off x="3850428" y="5516342"/>
                <a:ext cx="1374205"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57" name="小红书平北职场PPT17-4"/>
              <p:cNvSpPr txBox="1"/>
              <p:nvPr/>
            </p:nvSpPr>
            <p:spPr>
              <a:xfrm>
                <a:off x="3838939" y="5535168"/>
                <a:ext cx="1420910" cy="307777"/>
              </a:xfrm>
              <a:prstGeom prst="rect">
                <a:avLst/>
              </a:prstGeom>
              <a:noFill/>
            </p:spPr>
            <p:txBody>
              <a:bodyPr wrap="squar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客户维护与数据分析</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grpSp>
        <p:nvGrpSpPr>
          <p:cNvPr id="20" name="小红书平北职场PPT18"/>
          <p:cNvGrpSpPr/>
          <p:nvPr/>
        </p:nvGrpSpPr>
        <p:grpSpPr>
          <a:xfrm rot="16200000" flipV="1">
            <a:off x="2986149" y="-1412870"/>
            <a:ext cx="112712" cy="5328000"/>
            <a:chOff x="442913" y="981075"/>
            <a:chExt cx="112712" cy="1266825"/>
          </a:xfrm>
        </p:grpSpPr>
        <p:cxnSp>
          <p:nvCxnSpPr>
            <p:cNvPr id="51" name="小红书平北职场PPT18-1"/>
            <p:cNvCxnSpPr/>
            <p:nvPr/>
          </p:nvCxnSpPr>
          <p:spPr>
            <a:xfrm>
              <a:off x="499269" y="981075"/>
              <a:ext cx="0" cy="1261013"/>
            </a:xfrm>
            <a:prstGeom prst="straightConnector1">
              <a:avLst/>
            </a:prstGeom>
            <a:ln w="12700">
              <a:solidFill>
                <a:schemeClr val="tx2">
                  <a:lumMod val="95000"/>
                  <a:lumOff val="5000"/>
                </a:schemeClr>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52" name="小红书平北职场PPT18-2"/>
            <p:cNvCxnSpPr/>
            <p:nvPr/>
          </p:nvCxnSpPr>
          <p:spPr>
            <a:xfrm>
              <a:off x="442913" y="981075"/>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3" name="小红书平北职场PPT18-3"/>
            <p:cNvCxnSpPr/>
            <p:nvPr/>
          </p:nvCxnSpPr>
          <p:spPr>
            <a:xfrm>
              <a:off x="442913" y="2247900"/>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21" name="小红书平北职场PPT19"/>
          <p:cNvGrpSpPr/>
          <p:nvPr/>
        </p:nvGrpSpPr>
        <p:grpSpPr>
          <a:xfrm rot="16200000" flipV="1">
            <a:off x="7408856" y="-368870"/>
            <a:ext cx="112712" cy="3240000"/>
            <a:chOff x="442913" y="981075"/>
            <a:chExt cx="112712" cy="1266825"/>
          </a:xfrm>
        </p:grpSpPr>
        <p:cxnSp>
          <p:nvCxnSpPr>
            <p:cNvPr id="48" name="小红书平北职场PPT19-1"/>
            <p:cNvCxnSpPr/>
            <p:nvPr/>
          </p:nvCxnSpPr>
          <p:spPr>
            <a:xfrm>
              <a:off x="499269" y="981075"/>
              <a:ext cx="0" cy="1261013"/>
            </a:xfrm>
            <a:prstGeom prst="straightConnector1">
              <a:avLst/>
            </a:prstGeom>
            <a:ln w="12700">
              <a:solidFill>
                <a:schemeClr val="tx2">
                  <a:lumMod val="95000"/>
                  <a:lumOff val="5000"/>
                </a:schemeClr>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49" name="小红书平北职场PPT19-2"/>
            <p:cNvCxnSpPr/>
            <p:nvPr/>
          </p:nvCxnSpPr>
          <p:spPr>
            <a:xfrm>
              <a:off x="442913" y="981075"/>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0" name="小红书平北职场PPT19-3"/>
            <p:cNvCxnSpPr/>
            <p:nvPr/>
          </p:nvCxnSpPr>
          <p:spPr>
            <a:xfrm>
              <a:off x="442913" y="2247900"/>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22" name="小红书平北职场PPT20"/>
          <p:cNvGrpSpPr/>
          <p:nvPr/>
        </p:nvGrpSpPr>
        <p:grpSpPr>
          <a:xfrm rot="16200000" flipV="1">
            <a:off x="10408987" y="-8870"/>
            <a:ext cx="112712" cy="2520000"/>
            <a:chOff x="442913" y="981075"/>
            <a:chExt cx="112712" cy="1266825"/>
          </a:xfrm>
        </p:grpSpPr>
        <p:cxnSp>
          <p:nvCxnSpPr>
            <p:cNvPr id="45" name="小红书平北职场PPT20-1"/>
            <p:cNvCxnSpPr/>
            <p:nvPr/>
          </p:nvCxnSpPr>
          <p:spPr>
            <a:xfrm>
              <a:off x="499269" y="981075"/>
              <a:ext cx="0" cy="1261013"/>
            </a:xfrm>
            <a:prstGeom prst="straightConnector1">
              <a:avLst/>
            </a:prstGeom>
            <a:ln w="12700">
              <a:solidFill>
                <a:schemeClr val="tx2">
                  <a:lumMod val="95000"/>
                  <a:lumOff val="5000"/>
                </a:schemeClr>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46" name="小红书平北职场PPT20-2"/>
            <p:cNvCxnSpPr/>
            <p:nvPr/>
          </p:nvCxnSpPr>
          <p:spPr>
            <a:xfrm>
              <a:off x="442913" y="981075"/>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7" name="小红书平北职场PPT20-3"/>
            <p:cNvCxnSpPr/>
            <p:nvPr/>
          </p:nvCxnSpPr>
          <p:spPr>
            <a:xfrm>
              <a:off x="442913" y="2247900"/>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grpSp>
      <p:sp>
        <p:nvSpPr>
          <p:cNvPr id="23" name="小红书平北职场PPT21"/>
          <p:cNvSpPr txBox="1"/>
          <p:nvPr/>
        </p:nvSpPr>
        <p:spPr>
          <a:xfrm>
            <a:off x="605038" y="5822624"/>
            <a:ext cx="4943358" cy="557140"/>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2"/>
                </a:solidFill>
                <a:cs typeface="思源黑体 CN Normal" panose="020B0400000000000000" pitchFamily="34" charset="-122"/>
              </a:rPr>
              <a:t>客户服务团队提供高效、专业的客户支持，提升客户满意度；数据分析团队收集、分析客户数据，优化用户体验，确保客户忠诚度</a:t>
            </a:r>
            <a:endParaRPr lang="zh-CN" altLang="en-US" dirty="0">
              <a:solidFill>
                <a:schemeClr val="tx2"/>
              </a:solidFill>
              <a:cs typeface="思源黑体 CN Normal" panose="020B0400000000000000" pitchFamily="34" charset="-122"/>
            </a:endParaRPr>
          </a:p>
        </p:txBody>
      </p:sp>
      <p:sp>
        <p:nvSpPr>
          <p:cNvPr id="24" name="小红书平北职场PPT22"/>
          <p:cNvSpPr txBox="1"/>
          <p:nvPr/>
        </p:nvSpPr>
        <p:spPr>
          <a:xfrm>
            <a:off x="605038" y="4001638"/>
            <a:ext cx="4943358" cy="557140"/>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2"/>
                </a:solidFill>
                <a:cs typeface="思源黑体 CN Normal" panose="020B0400000000000000" pitchFamily="34" charset="-122"/>
              </a:rPr>
              <a:t>活动策划师设计线上线下活动，提升品牌曝光度；社交媒体专员负责内容创作与平台互动，扩大品牌影响力，助力市场扩展</a:t>
            </a:r>
            <a:endParaRPr lang="zh-CN" altLang="en-US" dirty="0">
              <a:solidFill>
                <a:schemeClr val="tx2"/>
              </a:solidFill>
              <a:cs typeface="思源黑体 CN Normal" panose="020B0400000000000000" pitchFamily="34" charset="-122"/>
            </a:endParaRPr>
          </a:p>
        </p:txBody>
      </p:sp>
      <p:sp>
        <p:nvSpPr>
          <p:cNvPr id="25" name="小红书平北职场PPT23"/>
          <p:cNvSpPr txBox="1"/>
          <p:nvPr/>
        </p:nvSpPr>
        <p:spPr>
          <a:xfrm>
            <a:off x="605038" y="2161215"/>
            <a:ext cx="4943358" cy="557140"/>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2"/>
                </a:solidFill>
                <a:cs typeface="思源黑体 CN Normal" panose="020B0400000000000000" pitchFamily="34" charset="-122"/>
              </a:rPr>
              <a:t>市场营销专家制定全渠道品牌推广策略，提升品牌知名度；人群洞察分析师通过数据分析了解客户需求，为品牌建设提供精准依据。</a:t>
            </a:r>
            <a:endParaRPr lang="zh-CN" altLang="en-US" dirty="0">
              <a:solidFill>
                <a:schemeClr val="tx2"/>
              </a:solidFill>
              <a:cs typeface="思源黑体 CN Normal" panose="020B0400000000000000" pitchFamily="34" charset="-122"/>
            </a:endParaRPr>
          </a:p>
        </p:txBody>
      </p:sp>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72"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小红书平北职场PPT1-2"/>
            <p:cNvSpPr txBox="1"/>
            <p:nvPr>
              <p:custDataLst>
                <p:tags r:id="rId2"/>
              </p:custDataLst>
            </p:nvPr>
          </p:nvSpPr>
          <p:spPr>
            <a:xfrm>
              <a:off x="334963" y="184318"/>
              <a:ext cx="5362045"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AGI</a:t>
              </a:r>
              <a:r>
                <a:rPr lang="zh-CN" altLang="en-US" sz="2800" dirty="0">
                  <a:latin typeface="+mj-ea"/>
                  <a:ea typeface="+mj-ea"/>
                  <a:cs typeface="思源黑体 CN Normal" panose="020B0400000000000000" pitchFamily="34" charset="-122"/>
                  <a:sym typeface="+mj-ea"/>
                </a:rPr>
                <a:t>核心能力构建上的进展与挑战</a:t>
              </a:r>
              <a:endParaRPr lang="zh-CN" altLang="en-US" sz="2800" dirty="0">
                <a:latin typeface="+mj-ea"/>
                <a:ea typeface="+mj-ea"/>
                <a:cs typeface="思源黑体 CN Normal" panose="020B0400000000000000" pitchFamily="34" charset="-122"/>
                <a:sym typeface="+mj-ea"/>
              </a:endParaRPr>
            </a:p>
          </p:txBody>
        </p:sp>
      </p:grpSp>
      <p:sp>
        <p:nvSpPr>
          <p:cNvPr id="4" name="小红书平北职场PPT2"/>
          <p:cNvSpPr txBox="1"/>
          <p:nvPr/>
        </p:nvSpPr>
        <p:spPr>
          <a:xfrm>
            <a:off x="552284" y="907972"/>
            <a:ext cx="10962384" cy="276999"/>
          </a:xfrm>
          <a:prstGeom prst="rect">
            <a:avLst/>
          </a:prstGeom>
          <a:noFill/>
        </p:spPr>
        <p:txBody>
          <a:bodyPr wrap="square">
            <a:spAutoFit/>
          </a:bodyPr>
          <a:lstStyle/>
          <a:p>
            <a:r>
              <a:rPr lang="zh-CN" altLang="en-US" sz="1200" b="0" i="0" dirty="0">
                <a:effectLst/>
                <a:latin typeface="+mn-ea"/>
                <a:cs typeface="思源黑体 CN Normal" panose="020B0400000000000000" pitchFamily="34" charset="-122"/>
              </a:rPr>
              <a:t>在</a:t>
            </a:r>
            <a:r>
              <a:rPr lang="en-US" altLang="zh-CN" sz="1200" b="0" i="0" dirty="0">
                <a:effectLst/>
                <a:latin typeface="+mn-ea"/>
                <a:cs typeface="思源黑体 CN Normal" panose="020B0400000000000000" pitchFamily="34" charset="-122"/>
              </a:rPr>
              <a:t>AI</a:t>
            </a:r>
            <a:r>
              <a:rPr lang="zh-CN" altLang="en-US" sz="1200" b="0" i="0" dirty="0">
                <a:effectLst/>
                <a:latin typeface="+mn-ea"/>
                <a:cs typeface="思源黑体 CN Normal" panose="020B0400000000000000" pitchFamily="34" charset="-122"/>
              </a:rPr>
              <a:t>技术的浪潮中，我们正致力于塑造通用人工智能（</a:t>
            </a:r>
            <a:r>
              <a:rPr lang="en-US" altLang="zh-CN" sz="1200" b="0" i="0" dirty="0">
                <a:effectLst/>
                <a:latin typeface="+mn-ea"/>
                <a:cs typeface="思源黑体 CN Normal" panose="020B0400000000000000" pitchFamily="34" charset="-122"/>
              </a:rPr>
              <a:t>AGI</a:t>
            </a:r>
            <a:r>
              <a:rPr lang="zh-CN" altLang="en-US" sz="1200" b="0" i="0" dirty="0">
                <a:effectLst/>
                <a:latin typeface="+mn-ea"/>
                <a:cs typeface="思源黑体 CN Normal" panose="020B0400000000000000" pitchFamily="34" charset="-122"/>
              </a:rPr>
              <a:t>）的未来。本次汇报将展示我们在</a:t>
            </a:r>
            <a:r>
              <a:rPr lang="en-US" altLang="zh-CN" sz="1200" b="0" i="0" dirty="0">
                <a:effectLst/>
                <a:latin typeface="+mn-ea"/>
                <a:cs typeface="思源黑体 CN Normal" panose="020B0400000000000000" pitchFamily="34" charset="-122"/>
              </a:rPr>
              <a:t>AGI</a:t>
            </a:r>
            <a:r>
              <a:rPr lang="zh-CN" altLang="en-US" sz="1200" b="0" i="0" dirty="0">
                <a:effectLst/>
                <a:latin typeface="+mn-ea"/>
                <a:cs typeface="思源黑体 CN Normal" panose="020B0400000000000000" pitchFamily="34" charset="-122"/>
              </a:rPr>
              <a:t>核心能力构建上的进展与挑战，探索技术如何赋能业务创新。</a:t>
            </a:r>
            <a:endParaRPr lang="zh-CN" altLang="en-US" sz="1200" dirty="0">
              <a:latin typeface="+mn-ea"/>
              <a:cs typeface="思源黑体 CN Normal" panose="020B0400000000000000" pitchFamily="34" charset="-122"/>
            </a:endParaRPr>
          </a:p>
        </p:txBody>
      </p:sp>
      <p:grpSp>
        <p:nvGrpSpPr>
          <p:cNvPr id="5" name="小红书平北职场PPT3"/>
          <p:cNvGrpSpPr/>
          <p:nvPr/>
        </p:nvGrpSpPr>
        <p:grpSpPr>
          <a:xfrm>
            <a:off x="-6074" y="1484012"/>
            <a:ext cx="12198074" cy="5057416"/>
            <a:chOff x="-6074" y="1484012"/>
            <a:chExt cx="12198074" cy="5057416"/>
          </a:xfrm>
        </p:grpSpPr>
        <p:grpSp>
          <p:nvGrpSpPr>
            <p:cNvPr id="25" name="组合 24"/>
            <p:cNvGrpSpPr/>
            <p:nvPr/>
          </p:nvGrpSpPr>
          <p:grpSpPr>
            <a:xfrm>
              <a:off x="-6074" y="1484012"/>
              <a:ext cx="11290502" cy="1523013"/>
              <a:chOff x="-6074" y="1389883"/>
              <a:chExt cx="11290502" cy="1523013"/>
            </a:xfrm>
          </p:grpSpPr>
          <p:grpSp>
            <p:nvGrpSpPr>
              <p:cNvPr id="57" name="组合 56"/>
              <p:cNvGrpSpPr/>
              <p:nvPr/>
            </p:nvGrpSpPr>
            <p:grpSpPr>
              <a:xfrm>
                <a:off x="-6074" y="1389883"/>
                <a:ext cx="11290502" cy="1523013"/>
                <a:chOff x="-6074" y="1126797"/>
                <a:chExt cx="11290502" cy="1606347"/>
              </a:xfrm>
            </p:grpSpPr>
            <p:sp>
              <p:nvSpPr>
                <p:cNvPr id="64" name="小红书平北职场PPT3-1"/>
                <p:cNvSpPr/>
                <p:nvPr/>
              </p:nvSpPr>
              <p:spPr>
                <a:xfrm rot="10800000" flipH="1" flipV="1">
                  <a:off x="5557553" y="1126797"/>
                  <a:ext cx="5726875" cy="1246811"/>
                </a:xfrm>
                <a:prstGeom prst="roundRect">
                  <a:avLst>
                    <a:gd name="adj" fmla="val 5000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5" name="小红书平北职场PPT3-2"/>
                <p:cNvSpPr/>
                <p:nvPr/>
              </p:nvSpPr>
              <p:spPr>
                <a:xfrm rot="10800000">
                  <a:off x="-6074" y="1766604"/>
                  <a:ext cx="1350957" cy="9665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sp>
              <p:nvSpPr>
                <p:cNvPr id="66" name="小红书平北职场PPT3-3"/>
                <p:cNvSpPr/>
                <p:nvPr/>
              </p:nvSpPr>
              <p:spPr>
                <a:xfrm rot="10800000" flipH="1" flipV="1">
                  <a:off x="944890" y="1126797"/>
                  <a:ext cx="5151110" cy="1246811"/>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67" name="小红书平北职场PPT3-4"/>
                <p:cNvSpPr/>
                <p:nvPr/>
              </p:nvSpPr>
              <p:spPr>
                <a:xfrm rot="10800000">
                  <a:off x="944887" y="2361119"/>
                  <a:ext cx="388979" cy="372025"/>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grpSp>
              <p:nvGrpSpPr>
                <p:cNvPr id="68" name="组合 67"/>
                <p:cNvGrpSpPr/>
                <p:nvPr/>
              </p:nvGrpSpPr>
              <p:grpSpPr>
                <a:xfrm>
                  <a:off x="159498" y="1131069"/>
                  <a:ext cx="471283" cy="1168622"/>
                  <a:chOff x="4317401" y="1266373"/>
                  <a:chExt cx="471283" cy="1168622"/>
                </a:xfrm>
              </p:grpSpPr>
              <p:sp>
                <p:nvSpPr>
                  <p:cNvPr id="70" name="小红书平北职场PPT3-5"/>
                  <p:cNvSpPr txBox="1"/>
                  <p:nvPr/>
                </p:nvSpPr>
                <p:spPr>
                  <a:xfrm>
                    <a:off x="4317401" y="1266373"/>
                    <a:ext cx="471283" cy="1168622"/>
                  </a:xfrm>
                  <a:prstGeom prst="rect">
                    <a:avLst/>
                  </a:prstGeom>
                  <a:noFill/>
                </p:spPr>
                <p:txBody>
                  <a:bodyPr wrap="none" lIns="0" tIns="0" rIns="0" bIns="0" rtlCol="0">
                    <a:spAutoFit/>
                  </a:bodyPr>
                  <a:lstStyle/>
                  <a:p>
                    <a:pPr algn="l"/>
                    <a:r>
                      <a:rPr lang="en-US" altLang="zh-CN" sz="720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1</a:t>
                    </a:r>
                    <a:endParaRPr lang="zh-CN" altLang="en-US" sz="720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71" name="小红书平北职场PPT3-6"/>
                  <p:cNvSpPr txBox="1"/>
                  <p:nvPr/>
                </p:nvSpPr>
                <p:spPr>
                  <a:xfrm>
                    <a:off x="4317401" y="1266373"/>
                    <a:ext cx="471283" cy="1168622"/>
                  </a:xfrm>
                  <a:prstGeom prst="rect">
                    <a:avLst/>
                  </a:prstGeom>
                  <a:noFill/>
                  <a:effectLst/>
                </p:spPr>
                <p:txBody>
                  <a:bodyPr wrap="none" lIns="0" tIns="0" rIns="0" bIns="0" rtlCol="0">
                    <a:spAutoFit/>
                  </a:bodyPr>
                  <a:lstStyle/>
                  <a:p>
                    <a:pPr algn="l"/>
                    <a:r>
                      <a:rPr lang="en-US" altLang="zh-CN" sz="7200" dirty="0">
                        <a:ln w="22225">
                          <a:noFill/>
                        </a:ln>
                        <a:solidFill>
                          <a:schemeClr val="bg1"/>
                        </a:solidFill>
                        <a:latin typeface="+mj-ea"/>
                        <a:ea typeface="+mj-ea"/>
                        <a:cs typeface="思源黑体 CN Normal" panose="020B0400000000000000" pitchFamily="34" charset="-122"/>
                      </a:rPr>
                      <a:t>1</a:t>
                    </a:r>
                    <a:endParaRPr lang="zh-CN" altLang="en-US" sz="7200" dirty="0">
                      <a:ln w="22225">
                        <a:noFill/>
                      </a:ln>
                      <a:solidFill>
                        <a:schemeClr val="bg1"/>
                      </a:solidFill>
                      <a:latin typeface="+mj-ea"/>
                      <a:ea typeface="+mj-ea"/>
                      <a:cs typeface="思源黑体 CN Normal" panose="020B0400000000000000" pitchFamily="34" charset="-122"/>
                    </a:endParaRPr>
                  </a:p>
                </p:txBody>
              </p:sp>
            </p:grpSp>
            <p:sp>
              <p:nvSpPr>
                <p:cNvPr id="69" name="小红书平北职场PPT3-7"/>
                <p:cNvSpPr/>
                <p:nvPr/>
              </p:nvSpPr>
              <p:spPr>
                <a:xfrm>
                  <a:off x="5413131" y="1126797"/>
                  <a:ext cx="1144800" cy="1270000"/>
                </a:xfrm>
                <a:prstGeom prst="ellipse">
                  <a:avLst/>
                </a:prstGeom>
                <a:solidFill>
                  <a:schemeClr val="bg1"/>
                </a:solidFill>
                <a:ln w="50800" cap="flat" cmpd="sng" algn="ctr">
                  <a:gradFill>
                    <a:gsLst>
                      <a:gs pos="0">
                        <a:schemeClr val="accent1">
                          <a:lumMod val="60000"/>
                          <a:lumOff val="40000"/>
                        </a:schemeClr>
                      </a:gs>
                      <a:gs pos="100000">
                        <a:schemeClr val="accent1"/>
                      </a:gs>
                    </a:gsLst>
                    <a:lin ang="5400000" scaled="1"/>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sp>
            <p:nvSpPr>
              <p:cNvPr id="58" name="小红书平北职场PPT3-8"/>
              <p:cNvSpPr txBox="1"/>
              <p:nvPr/>
            </p:nvSpPr>
            <p:spPr>
              <a:xfrm>
                <a:off x="6806958" y="1491182"/>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effectLst/>
                    <a:uLnTx/>
                    <a:uFillTx/>
                    <a:latin typeface="+mj-ea"/>
                    <a:ea typeface="+mj-ea"/>
                    <a:cs typeface="思源黑体 CN Normal" panose="020B0400000000000000" pitchFamily="34" charset="-122"/>
                  </a:rPr>
                  <a:t>任务处理局限性</a:t>
                </a:r>
                <a:endParaRPr kumimoji="0" lang="en-US" altLang="zh-CN" sz="1800" i="0" u="none" strike="noStrike" kern="1200" cap="none" spc="0" normalizeH="0" baseline="0" noProof="0" dirty="0">
                  <a:ln>
                    <a:noFill/>
                  </a:ln>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zh-CN" altLang="en-US" sz="1200" dirty="0">
                    <a:latin typeface="+mn-ea"/>
                    <a:cs typeface="思源黑体 CN Normal" panose="020B0400000000000000" pitchFamily="34" charset="-122"/>
                  </a:rPr>
                  <a:t>然而，我们的系统在处理跨领域任务时仍有局限，需要进一步优化以提高适应性和灵活性</a:t>
                </a:r>
                <a:endParaRPr lang="zh-CN" altLang="en-US" sz="1200" dirty="0">
                  <a:latin typeface="+mn-ea"/>
                  <a:cs typeface="思源黑体 CN Normal" panose="020B0400000000000000" pitchFamily="34" charset="-122"/>
                </a:endParaRPr>
              </a:p>
            </p:txBody>
          </p:sp>
          <p:sp>
            <p:nvSpPr>
              <p:cNvPr id="59" name="小红书平北职场PPT3-9"/>
              <p:cNvSpPr txBox="1"/>
              <p:nvPr/>
            </p:nvSpPr>
            <p:spPr>
              <a:xfrm>
                <a:off x="1217077" y="1491182"/>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全面认知</a:t>
                </a:r>
                <a:r>
                  <a:rPr lang="zh-CN" altLang="en-US" dirty="0">
                    <a:solidFill>
                      <a:schemeClr val="bg1"/>
                    </a:solidFill>
                    <a:latin typeface="+mj-ea"/>
                    <a:ea typeface="+mj-ea"/>
                    <a:cs typeface="思源黑体 CN Normal" panose="020B0400000000000000" pitchFamily="34" charset="-122"/>
                  </a:rPr>
                  <a:t>能力</a:t>
                </a:r>
                <a:endParaRPr lang="en-US" altLang="zh-CN" dirty="0">
                  <a:solidFill>
                    <a:schemeClr val="bg1"/>
                  </a:solidFill>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zh-CN" altLang="en-US" sz="1200" dirty="0">
                    <a:solidFill>
                      <a:schemeClr val="bg1"/>
                    </a:solidFill>
                    <a:latin typeface="+mn-ea"/>
                    <a:cs typeface="思源黑体 CN Normal" panose="020B0400000000000000" pitchFamily="34" charset="-122"/>
                  </a:rPr>
                  <a:t>我们的</a:t>
                </a:r>
                <a:r>
                  <a:rPr lang="en-US" altLang="zh-CN" sz="1200" dirty="0">
                    <a:solidFill>
                      <a:schemeClr val="bg1"/>
                    </a:solidFill>
                    <a:latin typeface="+mn-ea"/>
                    <a:cs typeface="思源黑体 CN Normal" panose="020B0400000000000000" pitchFamily="34" charset="-122"/>
                  </a:rPr>
                  <a:t>AGI</a:t>
                </a:r>
                <a:r>
                  <a:rPr lang="zh-CN" altLang="en-US" sz="1200" dirty="0">
                    <a:solidFill>
                      <a:schemeClr val="bg1"/>
                    </a:solidFill>
                    <a:latin typeface="+mn-ea"/>
                    <a:cs typeface="思源黑体 CN Normal" panose="020B0400000000000000" pitchFamily="34" charset="-122"/>
                  </a:rPr>
                  <a:t>系统已经能够处理多样化的任务，包括文本分析、语音识别和图像处理，展现了类似人类的通用认知能力</a:t>
                </a:r>
                <a:endParaRPr lang="zh-CN" altLang="en-US" sz="1200" dirty="0">
                  <a:solidFill>
                    <a:schemeClr val="bg1"/>
                  </a:solidFill>
                  <a:latin typeface="+mn-ea"/>
                  <a:cs typeface="思源黑体 CN Normal" panose="020B0400000000000000" pitchFamily="34" charset="-122"/>
                </a:endParaRPr>
              </a:p>
            </p:txBody>
          </p:sp>
          <p:sp>
            <p:nvSpPr>
              <p:cNvPr id="60" name="小红书平北职场PPT3-10"/>
              <p:cNvSpPr txBox="1"/>
              <p:nvPr/>
            </p:nvSpPr>
            <p:spPr>
              <a:xfrm>
                <a:off x="5494548" y="1961784"/>
                <a:ext cx="1005403" cy="338554"/>
              </a:xfrm>
              <a:prstGeom prst="rect">
                <a:avLst/>
              </a:prstGeom>
              <a:noFill/>
            </p:spPr>
            <p:txBody>
              <a:bodyPr wrap="none">
                <a:spAutoFit/>
              </a:bodyPr>
              <a:lstStyle/>
              <a:p>
                <a:pPr algn="l" fontAlgn="base"/>
                <a:r>
                  <a:rPr lang="zh-CN" altLang="en-US" sz="1600" b="1" i="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认知能力</a:t>
                </a:r>
                <a:endParaRPr lang="zh-CN" altLang="en-US" sz="1600" b="0" i="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p:txBody>
          </p:sp>
          <p:grpSp>
            <p:nvGrpSpPr>
              <p:cNvPr id="61" name="组合 60"/>
              <p:cNvGrpSpPr/>
              <p:nvPr/>
            </p:nvGrpSpPr>
            <p:grpSpPr>
              <a:xfrm>
                <a:off x="5876928" y="1597612"/>
                <a:ext cx="240642" cy="300802"/>
                <a:chOff x="5701052" y="1677252"/>
                <a:chExt cx="203232" cy="254040"/>
              </a:xfrm>
              <a:gradFill>
                <a:gsLst>
                  <a:gs pos="0">
                    <a:schemeClr val="accent1">
                      <a:lumMod val="60000"/>
                      <a:lumOff val="40000"/>
                    </a:schemeClr>
                  </a:gs>
                  <a:gs pos="100000">
                    <a:schemeClr val="accent1"/>
                  </a:gs>
                </a:gsLst>
                <a:lin ang="2700000" scaled="1"/>
              </a:gradFill>
            </p:grpSpPr>
            <p:sp>
              <p:nvSpPr>
                <p:cNvPr id="62" name="小红书平北职场PPT3-11"/>
                <p:cNvSpPr/>
                <p:nvPr/>
              </p:nvSpPr>
              <p:spPr>
                <a:xfrm>
                  <a:off x="5701052" y="1677252"/>
                  <a:ext cx="203232" cy="254040"/>
                </a:xfrm>
                <a:custGeom>
                  <a:avLst/>
                  <a:gdLst>
                    <a:gd name="connsiteX0" fmla="*/ 163314 w 203232"/>
                    <a:gd name="connsiteY0" fmla="*/ 180673 h 254040"/>
                    <a:gd name="connsiteX1" fmla="*/ 191682 w 203232"/>
                    <a:gd name="connsiteY1" fmla="*/ 147309 h 254040"/>
                    <a:gd name="connsiteX2" fmla="*/ 203232 w 203232"/>
                    <a:gd name="connsiteY2" fmla="*/ 100668 h 254040"/>
                    <a:gd name="connsiteX3" fmla="*/ 173425 w 203232"/>
                    <a:gd name="connsiteY3" fmla="*/ 29452 h 254040"/>
                    <a:gd name="connsiteX4" fmla="*/ 101616 w 203232"/>
                    <a:gd name="connsiteY4" fmla="*/ 0 h 254040"/>
                    <a:gd name="connsiteX5" fmla="*/ 29807 w 203232"/>
                    <a:gd name="connsiteY5" fmla="*/ 29469 h 254040"/>
                    <a:gd name="connsiteX6" fmla="*/ 0 w 203232"/>
                    <a:gd name="connsiteY6" fmla="*/ 100651 h 254040"/>
                    <a:gd name="connsiteX7" fmla="*/ 11567 w 203232"/>
                    <a:gd name="connsiteY7" fmla="*/ 147292 h 254040"/>
                    <a:gd name="connsiteX8" fmla="*/ 39918 w 203232"/>
                    <a:gd name="connsiteY8" fmla="*/ 180656 h 254040"/>
                    <a:gd name="connsiteX9" fmla="*/ 39918 w 203232"/>
                    <a:gd name="connsiteY9" fmla="*/ 220168 h 254040"/>
                    <a:gd name="connsiteX10" fmla="*/ 49843 w 203232"/>
                    <a:gd name="connsiteY10" fmla="*/ 244116 h 254040"/>
                    <a:gd name="connsiteX11" fmla="*/ 73790 w 203232"/>
                    <a:gd name="connsiteY11" fmla="*/ 254040 h 254040"/>
                    <a:gd name="connsiteX12" fmla="*/ 129442 w 203232"/>
                    <a:gd name="connsiteY12" fmla="*/ 254040 h 254040"/>
                    <a:gd name="connsiteX13" fmla="*/ 153389 w 203232"/>
                    <a:gd name="connsiteY13" fmla="*/ 244116 h 254040"/>
                    <a:gd name="connsiteX14" fmla="*/ 163314 w 203232"/>
                    <a:gd name="connsiteY14" fmla="*/ 220168 h 254040"/>
                    <a:gd name="connsiteX15" fmla="*/ 163314 w 203232"/>
                    <a:gd name="connsiteY15" fmla="*/ 180673 h 254040"/>
                    <a:gd name="connsiteX16" fmla="*/ 176693 w 203232"/>
                    <a:gd name="connsiteY16" fmla="*/ 139400 h 254040"/>
                    <a:gd name="connsiteX17" fmla="*/ 150036 w 203232"/>
                    <a:gd name="connsiteY17" fmla="*/ 169377 h 254040"/>
                    <a:gd name="connsiteX18" fmla="*/ 146378 w 203232"/>
                    <a:gd name="connsiteY18" fmla="*/ 171900 h 254040"/>
                    <a:gd name="connsiteX19" fmla="*/ 146378 w 203232"/>
                    <a:gd name="connsiteY19" fmla="*/ 220168 h 254040"/>
                    <a:gd name="connsiteX20" fmla="*/ 141416 w 203232"/>
                    <a:gd name="connsiteY20" fmla="*/ 232142 h 254040"/>
                    <a:gd name="connsiteX21" fmla="*/ 129442 w 203232"/>
                    <a:gd name="connsiteY21" fmla="*/ 237104 h 254040"/>
                    <a:gd name="connsiteX22" fmla="*/ 73790 w 203232"/>
                    <a:gd name="connsiteY22" fmla="*/ 237104 h 254040"/>
                    <a:gd name="connsiteX23" fmla="*/ 61816 w 203232"/>
                    <a:gd name="connsiteY23" fmla="*/ 232142 h 254040"/>
                    <a:gd name="connsiteX24" fmla="*/ 56854 w 203232"/>
                    <a:gd name="connsiteY24" fmla="*/ 220168 h 254040"/>
                    <a:gd name="connsiteX25" fmla="*/ 56854 w 203232"/>
                    <a:gd name="connsiteY25" fmla="*/ 171900 h 254040"/>
                    <a:gd name="connsiteX26" fmla="*/ 53196 w 203232"/>
                    <a:gd name="connsiteY26" fmla="*/ 169360 h 254040"/>
                    <a:gd name="connsiteX27" fmla="*/ 26539 w 203232"/>
                    <a:gd name="connsiteY27" fmla="*/ 139400 h 254040"/>
                    <a:gd name="connsiteX28" fmla="*/ 16936 w 203232"/>
                    <a:gd name="connsiteY28" fmla="*/ 100668 h 254040"/>
                    <a:gd name="connsiteX29" fmla="*/ 41713 w 203232"/>
                    <a:gd name="connsiteY29" fmla="*/ 41493 h 254040"/>
                    <a:gd name="connsiteX30" fmla="*/ 101616 w 203232"/>
                    <a:gd name="connsiteY30" fmla="*/ 16936 h 254040"/>
                    <a:gd name="connsiteX31" fmla="*/ 161519 w 203232"/>
                    <a:gd name="connsiteY31" fmla="*/ 41493 h 254040"/>
                    <a:gd name="connsiteX32" fmla="*/ 186296 w 203232"/>
                    <a:gd name="connsiteY32" fmla="*/ 100668 h 254040"/>
                    <a:gd name="connsiteX33" fmla="*/ 176693 w 203232"/>
                    <a:gd name="connsiteY33" fmla="*/ 139400 h 25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03232" h="254040">
                      <a:moveTo>
                        <a:pt x="163314" y="180673"/>
                      </a:moveTo>
                      <a:cubicBezTo>
                        <a:pt x="175226" y="171697"/>
                        <a:pt x="184681" y="160576"/>
                        <a:pt x="191682" y="147309"/>
                      </a:cubicBezTo>
                      <a:cubicBezTo>
                        <a:pt x="199382" y="132699"/>
                        <a:pt x="203232" y="117152"/>
                        <a:pt x="203232" y="100668"/>
                      </a:cubicBezTo>
                      <a:cubicBezTo>
                        <a:pt x="203232" y="72859"/>
                        <a:pt x="193296" y="49120"/>
                        <a:pt x="173425" y="29452"/>
                      </a:cubicBezTo>
                      <a:cubicBezTo>
                        <a:pt x="153610" y="9817"/>
                        <a:pt x="129673" y="0"/>
                        <a:pt x="101616" y="0"/>
                      </a:cubicBezTo>
                      <a:cubicBezTo>
                        <a:pt x="73559" y="0"/>
                        <a:pt x="49622" y="9823"/>
                        <a:pt x="29807" y="29469"/>
                      </a:cubicBezTo>
                      <a:cubicBezTo>
                        <a:pt x="9936" y="49114"/>
                        <a:pt x="0" y="72842"/>
                        <a:pt x="0" y="100651"/>
                      </a:cubicBezTo>
                      <a:cubicBezTo>
                        <a:pt x="0" y="117135"/>
                        <a:pt x="3856" y="132682"/>
                        <a:pt x="11567" y="147292"/>
                      </a:cubicBezTo>
                      <a:cubicBezTo>
                        <a:pt x="18568" y="160559"/>
                        <a:pt x="28018" y="171680"/>
                        <a:pt x="39918" y="180656"/>
                      </a:cubicBezTo>
                      <a:lnTo>
                        <a:pt x="39918" y="220168"/>
                      </a:lnTo>
                      <a:cubicBezTo>
                        <a:pt x="39918" y="229517"/>
                        <a:pt x="43226" y="237499"/>
                        <a:pt x="49843" y="244116"/>
                      </a:cubicBezTo>
                      <a:cubicBezTo>
                        <a:pt x="56459" y="250732"/>
                        <a:pt x="64441" y="254040"/>
                        <a:pt x="73790" y="254040"/>
                      </a:cubicBezTo>
                      <a:lnTo>
                        <a:pt x="129442" y="254040"/>
                      </a:lnTo>
                      <a:cubicBezTo>
                        <a:pt x="138791" y="254040"/>
                        <a:pt x="146773" y="250732"/>
                        <a:pt x="153389" y="244116"/>
                      </a:cubicBezTo>
                      <a:cubicBezTo>
                        <a:pt x="160006" y="237499"/>
                        <a:pt x="163314" y="229517"/>
                        <a:pt x="163314" y="220168"/>
                      </a:cubicBezTo>
                      <a:lnTo>
                        <a:pt x="163314" y="180673"/>
                      </a:lnTo>
                      <a:close/>
                      <a:moveTo>
                        <a:pt x="176693" y="139400"/>
                      </a:moveTo>
                      <a:cubicBezTo>
                        <a:pt x="170292" y="151549"/>
                        <a:pt x="161406" y="161541"/>
                        <a:pt x="150036" y="169377"/>
                      </a:cubicBezTo>
                      <a:lnTo>
                        <a:pt x="146378" y="171900"/>
                      </a:lnTo>
                      <a:lnTo>
                        <a:pt x="146378" y="220168"/>
                      </a:lnTo>
                      <a:cubicBezTo>
                        <a:pt x="146378" y="224842"/>
                        <a:pt x="144724" y="228834"/>
                        <a:pt x="141416" y="232142"/>
                      </a:cubicBezTo>
                      <a:cubicBezTo>
                        <a:pt x="138107" y="235450"/>
                        <a:pt x="134116" y="237104"/>
                        <a:pt x="129442" y="237104"/>
                      </a:cubicBezTo>
                      <a:lnTo>
                        <a:pt x="73790" y="237104"/>
                      </a:lnTo>
                      <a:cubicBezTo>
                        <a:pt x="69116" y="237104"/>
                        <a:pt x="65125" y="235450"/>
                        <a:pt x="61816" y="232142"/>
                      </a:cubicBezTo>
                      <a:cubicBezTo>
                        <a:pt x="58508" y="228834"/>
                        <a:pt x="56854" y="224842"/>
                        <a:pt x="56854" y="220168"/>
                      </a:cubicBezTo>
                      <a:lnTo>
                        <a:pt x="56854" y="171900"/>
                      </a:lnTo>
                      <a:lnTo>
                        <a:pt x="53196" y="169360"/>
                      </a:lnTo>
                      <a:cubicBezTo>
                        <a:pt x="41826" y="161536"/>
                        <a:pt x="32941" y="151549"/>
                        <a:pt x="26539" y="139400"/>
                      </a:cubicBezTo>
                      <a:cubicBezTo>
                        <a:pt x="20137" y="127274"/>
                        <a:pt x="16936" y="114363"/>
                        <a:pt x="16936" y="100668"/>
                      </a:cubicBezTo>
                      <a:cubicBezTo>
                        <a:pt x="16936" y="77567"/>
                        <a:pt x="25195" y="57842"/>
                        <a:pt x="41713" y="41493"/>
                      </a:cubicBezTo>
                      <a:cubicBezTo>
                        <a:pt x="58243" y="25122"/>
                        <a:pt x="78210" y="16936"/>
                        <a:pt x="101616" y="16936"/>
                      </a:cubicBezTo>
                      <a:cubicBezTo>
                        <a:pt x="125022" y="16936"/>
                        <a:pt x="144989" y="25122"/>
                        <a:pt x="161519" y="41493"/>
                      </a:cubicBezTo>
                      <a:cubicBezTo>
                        <a:pt x="178037" y="57842"/>
                        <a:pt x="186296" y="77567"/>
                        <a:pt x="186296" y="100668"/>
                      </a:cubicBezTo>
                      <a:cubicBezTo>
                        <a:pt x="186296" y="114363"/>
                        <a:pt x="183095" y="127274"/>
                        <a:pt x="176693" y="139400"/>
                      </a:cubicBezTo>
                      <a:close/>
                    </a:path>
                  </a:pathLst>
                </a:custGeom>
                <a:grpFill/>
                <a:ln w="391" cap="flat">
                  <a:noFill/>
                  <a:prstDash val="solid"/>
                  <a:miter/>
                </a:ln>
              </p:spPr>
              <p:txBody>
                <a:bodyPr rtlCol="0" anchor="ctr"/>
                <a:lstStyle/>
                <a:p>
                  <a:endParaRPr lang="zh-CN" altLang="en-US">
                    <a:cs typeface="思源黑体 CN Normal" panose="020B0400000000000000" pitchFamily="34" charset="-122"/>
                  </a:endParaRPr>
                </a:p>
              </p:txBody>
            </p:sp>
            <p:sp>
              <p:nvSpPr>
                <p:cNvPr id="63" name="小红书平北职场PPT3-12"/>
                <p:cNvSpPr/>
                <p:nvPr/>
              </p:nvSpPr>
              <p:spPr>
                <a:xfrm>
                  <a:off x="5751860" y="1728439"/>
                  <a:ext cx="102564" cy="163340"/>
                </a:xfrm>
                <a:custGeom>
                  <a:avLst/>
                  <a:gdLst>
                    <a:gd name="connsiteX0" fmla="*/ 72029 w 102564"/>
                    <a:gd name="connsiteY0" fmla="*/ 16861 h 163340"/>
                    <a:gd name="connsiteX1" fmla="*/ 71925 w 102564"/>
                    <a:gd name="connsiteY1" fmla="*/ 2850 h 163340"/>
                    <a:gd name="connsiteX2" fmla="*/ 57914 w 102564"/>
                    <a:gd name="connsiteY2" fmla="*/ 2954 h 163340"/>
                    <a:gd name="connsiteX3" fmla="*/ 56854 w 102564"/>
                    <a:gd name="connsiteY3" fmla="*/ 4227 h 163340"/>
                    <a:gd name="connsiteX4" fmla="*/ 27995 w 102564"/>
                    <a:gd name="connsiteY4" fmla="*/ 38844 h 163340"/>
                    <a:gd name="connsiteX5" fmla="*/ 26285 w 102564"/>
                    <a:gd name="connsiteY5" fmla="*/ 52156 h 163340"/>
                    <a:gd name="connsiteX6" fmla="*/ 37615 w 102564"/>
                    <a:gd name="connsiteY6" fmla="*/ 59371 h 163340"/>
                    <a:gd name="connsiteX7" fmla="*/ 50418 w 102564"/>
                    <a:gd name="connsiteY7" fmla="*/ 59371 h 163340"/>
                    <a:gd name="connsiteX8" fmla="*/ 31450 w 102564"/>
                    <a:gd name="connsiteY8" fmla="*/ 82099 h 163340"/>
                    <a:gd name="connsiteX9" fmla="*/ 31775 w 102564"/>
                    <a:gd name="connsiteY9" fmla="*/ 96106 h 163340"/>
                    <a:gd name="connsiteX10" fmla="*/ 45783 w 102564"/>
                    <a:gd name="connsiteY10" fmla="*/ 95781 h 163340"/>
                    <a:gd name="connsiteX11" fmla="*/ 46642 w 102564"/>
                    <a:gd name="connsiteY11" fmla="*/ 94750 h 163340"/>
                    <a:gd name="connsiteX12" fmla="*/ 75501 w 102564"/>
                    <a:gd name="connsiteY12" fmla="*/ 60133 h 163340"/>
                    <a:gd name="connsiteX13" fmla="*/ 77211 w 102564"/>
                    <a:gd name="connsiteY13" fmla="*/ 46821 h 163340"/>
                    <a:gd name="connsiteX14" fmla="*/ 65881 w 102564"/>
                    <a:gd name="connsiteY14" fmla="*/ 39606 h 163340"/>
                    <a:gd name="connsiteX15" fmla="*/ 53077 w 102564"/>
                    <a:gd name="connsiteY15" fmla="*/ 39606 h 163340"/>
                    <a:gd name="connsiteX16" fmla="*/ 72046 w 102564"/>
                    <a:gd name="connsiteY16" fmla="*/ 16861 h 163340"/>
                    <a:gd name="connsiteX17" fmla="*/ 102564 w 102564"/>
                    <a:gd name="connsiteY17" fmla="*/ 163341 h 163340"/>
                    <a:gd name="connsiteX18" fmla="*/ 0 w 102564"/>
                    <a:gd name="connsiteY18" fmla="*/ 163341 h 163340"/>
                    <a:gd name="connsiteX19" fmla="*/ 0 w 102564"/>
                    <a:gd name="connsiteY19" fmla="*/ 146405 h 163340"/>
                    <a:gd name="connsiteX20" fmla="*/ 102564 w 102564"/>
                    <a:gd name="connsiteY20" fmla="*/ 146405 h 163340"/>
                    <a:gd name="connsiteX21" fmla="*/ 102564 w 102564"/>
                    <a:gd name="connsiteY21" fmla="*/ 163341 h 16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564" h="163340">
                      <a:moveTo>
                        <a:pt x="72029" y="16861"/>
                      </a:moveTo>
                      <a:cubicBezTo>
                        <a:pt x="75869" y="12964"/>
                        <a:pt x="75823" y="6691"/>
                        <a:pt x="71925" y="2850"/>
                      </a:cubicBezTo>
                      <a:cubicBezTo>
                        <a:pt x="68027" y="-990"/>
                        <a:pt x="61755" y="-944"/>
                        <a:pt x="57914" y="2954"/>
                      </a:cubicBezTo>
                      <a:cubicBezTo>
                        <a:pt x="57526" y="3348"/>
                        <a:pt x="57171" y="3774"/>
                        <a:pt x="56854" y="4227"/>
                      </a:cubicBezTo>
                      <a:lnTo>
                        <a:pt x="27995" y="38844"/>
                      </a:lnTo>
                      <a:cubicBezTo>
                        <a:pt x="24608" y="42909"/>
                        <a:pt x="24038" y="47346"/>
                        <a:pt x="26285" y="52156"/>
                      </a:cubicBezTo>
                      <a:cubicBezTo>
                        <a:pt x="28543" y="56966"/>
                        <a:pt x="32320" y="59371"/>
                        <a:pt x="37615" y="59371"/>
                      </a:cubicBezTo>
                      <a:lnTo>
                        <a:pt x="50418" y="59371"/>
                      </a:lnTo>
                      <a:lnTo>
                        <a:pt x="31450" y="82099"/>
                      </a:lnTo>
                      <a:cubicBezTo>
                        <a:pt x="27672" y="86057"/>
                        <a:pt x="27817" y="92328"/>
                        <a:pt x="31775" y="96106"/>
                      </a:cubicBezTo>
                      <a:cubicBezTo>
                        <a:pt x="35733" y="99885"/>
                        <a:pt x="42004" y="99739"/>
                        <a:pt x="45783" y="95781"/>
                      </a:cubicBezTo>
                      <a:cubicBezTo>
                        <a:pt x="46092" y="95457"/>
                        <a:pt x="46379" y="95113"/>
                        <a:pt x="46642" y="94750"/>
                      </a:cubicBezTo>
                      <a:lnTo>
                        <a:pt x="75501" y="60133"/>
                      </a:lnTo>
                      <a:cubicBezTo>
                        <a:pt x="78888" y="56068"/>
                        <a:pt x="79458" y="51631"/>
                        <a:pt x="77211" y="46821"/>
                      </a:cubicBezTo>
                      <a:cubicBezTo>
                        <a:pt x="74953" y="42011"/>
                        <a:pt x="71176" y="39606"/>
                        <a:pt x="65881" y="39606"/>
                      </a:cubicBezTo>
                      <a:lnTo>
                        <a:pt x="53077" y="39606"/>
                      </a:lnTo>
                      <a:lnTo>
                        <a:pt x="72046" y="16861"/>
                      </a:lnTo>
                      <a:close/>
                      <a:moveTo>
                        <a:pt x="102564" y="163341"/>
                      </a:moveTo>
                      <a:lnTo>
                        <a:pt x="0" y="163341"/>
                      </a:lnTo>
                      <a:lnTo>
                        <a:pt x="0" y="146405"/>
                      </a:lnTo>
                      <a:lnTo>
                        <a:pt x="102564" y="146405"/>
                      </a:lnTo>
                      <a:lnTo>
                        <a:pt x="102564" y="163341"/>
                      </a:lnTo>
                      <a:close/>
                    </a:path>
                  </a:pathLst>
                </a:custGeom>
                <a:grpFill/>
                <a:ln w="391" cap="flat">
                  <a:noFill/>
                  <a:prstDash val="solid"/>
                  <a:miter/>
                </a:ln>
              </p:spPr>
              <p:txBody>
                <a:bodyPr rtlCol="0" anchor="ctr"/>
                <a:lstStyle/>
                <a:p>
                  <a:endParaRPr lang="zh-CN" altLang="en-US">
                    <a:cs typeface="思源黑体 CN Normal" panose="020B0400000000000000" pitchFamily="34" charset="-122"/>
                  </a:endParaRPr>
                </a:p>
              </p:txBody>
            </p:sp>
          </p:grpSp>
        </p:grpSp>
        <p:grpSp>
          <p:nvGrpSpPr>
            <p:cNvPr id="26" name="组合 25"/>
            <p:cNvGrpSpPr/>
            <p:nvPr/>
          </p:nvGrpSpPr>
          <p:grpSpPr>
            <a:xfrm>
              <a:off x="793922" y="3251214"/>
              <a:ext cx="11398078" cy="1523013"/>
              <a:chOff x="793922" y="3204149"/>
              <a:chExt cx="11398078" cy="1523013"/>
            </a:xfrm>
          </p:grpSpPr>
          <p:grpSp>
            <p:nvGrpSpPr>
              <p:cNvPr id="43" name="组合 42"/>
              <p:cNvGrpSpPr/>
              <p:nvPr/>
            </p:nvGrpSpPr>
            <p:grpSpPr>
              <a:xfrm>
                <a:off x="793922" y="3204149"/>
                <a:ext cx="11398078" cy="1523013"/>
                <a:chOff x="793922" y="3022472"/>
                <a:chExt cx="11398078" cy="1606347"/>
              </a:xfrm>
            </p:grpSpPr>
            <p:grpSp>
              <p:nvGrpSpPr>
                <p:cNvPr id="48" name="组合 47"/>
                <p:cNvGrpSpPr/>
                <p:nvPr/>
              </p:nvGrpSpPr>
              <p:grpSpPr>
                <a:xfrm flipH="1">
                  <a:off x="793922" y="3022472"/>
                  <a:ext cx="11398078" cy="1606347"/>
                  <a:chOff x="0" y="4918148"/>
                  <a:chExt cx="11398078" cy="1606347"/>
                </a:xfrm>
              </p:grpSpPr>
              <p:sp>
                <p:nvSpPr>
                  <p:cNvPr id="52" name="小红书平北职场PPT3-13"/>
                  <p:cNvSpPr/>
                  <p:nvPr/>
                </p:nvSpPr>
                <p:spPr>
                  <a:xfrm rot="10800000" flipH="1" flipV="1">
                    <a:off x="5671203" y="4918148"/>
                    <a:ext cx="5726875" cy="1246811"/>
                  </a:xfrm>
                  <a:prstGeom prst="roundRect">
                    <a:avLst>
                      <a:gd name="adj" fmla="val 5000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53" name="小红书平北职场PPT3-14"/>
                  <p:cNvSpPr/>
                  <p:nvPr/>
                </p:nvSpPr>
                <p:spPr>
                  <a:xfrm rot="10800000">
                    <a:off x="0" y="5557955"/>
                    <a:ext cx="1350957" cy="966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sp>
                <p:nvSpPr>
                  <p:cNvPr id="54" name="小红书平北职场PPT3-15"/>
                  <p:cNvSpPr/>
                  <p:nvPr/>
                </p:nvSpPr>
                <p:spPr>
                  <a:xfrm rot="10800000" flipH="1" flipV="1">
                    <a:off x="950961" y="4918148"/>
                    <a:ext cx="5151110" cy="1246811"/>
                  </a:xfrm>
                  <a:prstGeom prst="rect">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55" name="小红书平北职场PPT3-16"/>
                  <p:cNvSpPr/>
                  <p:nvPr/>
                </p:nvSpPr>
                <p:spPr>
                  <a:xfrm rot="10800000">
                    <a:off x="950961" y="6152470"/>
                    <a:ext cx="388979" cy="372025"/>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sp>
                <p:nvSpPr>
                  <p:cNvPr id="56" name="小红书平北职场PPT3-17"/>
                  <p:cNvSpPr/>
                  <p:nvPr/>
                </p:nvSpPr>
                <p:spPr>
                  <a:xfrm>
                    <a:off x="5634069" y="4918148"/>
                    <a:ext cx="1144800" cy="1270000"/>
                  </a:xfrm>
                  <a:prstGeom prst="ellipse">
                    <a:avLst/>
                  </a:prstGeom>
                  <a:solidFill>
                    <a:schemeClr val="bg1"/>
                  </a:solidFill>
                  <a:ln w="50800" cap="flat" cmpd="sng" algn="ctr">
                    <a:gradFill>
                      <a:gsLst>
                        <a:gs pos="0">
                          <a:schemeClr val="accent2">
                            <a:lumMod val="60000"/>
                            <a:lumOff val="40000"/>
                          </a:schemeClr>
                        </a:gs>
                        <a:gs pos="100000">
                          <a:schemeClr val="accent2"/>
                        </a:gs>
                      </a:gsLst>
                      <a:lin ang="5400000" scaled="1"/>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nvGrpSpPr>
                <p:cNvPr id="49" name="组合 48"/>
                <p:cNvGrpSpPr/>
                <p:nvPr/>
              </p:nvGrpSpPr>
              <p:grpSpPr>
                <a:xfrm>
                  <a:off x="11404034" y="3069608"/>
                  <a:ext cx="626775" cy="1168622"/>
                  <a:chOff x="4317401" y="1266373"/>
                  <a:chExt cx="626775" cy="1168622"/>
                </a:xfrm>
              </p:grpSpPr>
              <p:sp>
                <p:nvSpPr>
                  <p:cNvPr id="50" name="小红书平北职场PPT3-18"/>
                  <p:cNvSpPr txBox="1"/>
                  <p:nvPr/>
                </p:nvSpPr>
                <p:spPr>
                  <a:xfrm>
                    <a:off x="4317401" y="1266373"/>
                    <a:ext cx="626775" cy="1168622"/>
                  </a:xfrm>
                  <a:prstGeom prst="rect">
                    <a:avLst/>
                  </a:prstGeom>
                  <a:noFill/>
                </p:spPr>
                <p:txBody>
                  <a:bodyPr wrap="none" lIns="0" tIns="0" rIns="0" bIns="0" rtlCol="0">
                    <a:spAutoFit/>
                  </a:bodyPr>
                  <a:lstStyle/>
                  <a:p>
                    <a:pPr algn="l"/>
                    <a:r>
                      <a:rPr lang="en-US" altLang="zh-CN" sz="7200" dirty="0">
                        <a:ln w="34925">
                          <a:gradFill>
                            <a:gsLst>
                              <a:gs pos="0">
                                <a:schemeClr val="accent2">
                                  <a:lumMod val="60000"/>
                                  <a:lumOff val="40000"/>
                                </a:schemeClr>
                              </a:gs>
                              <a:gs pos="100000">
                                <a:schemeClr val="accent2"/>
                              </a:gs>
                            </a:gsLst>
                            <a:lin ang="5400000" scaled="1"/>
                          </a:gra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2</a:t>
                    </a:r>
                    <a:endParaRPr lang="zh-CN" altLang="en-US" sz="7200" dirty="0">
                      <a:ln w="34925">
                        <a:gradFill>
                          <a:gsLst>
                            <a:gs pos="0">
                              <a:schemeClr val="accent2">
                                <a:lumMod val="60000"/>
                                <a:lumOff val="40000"/>
                              </a:schemeClr>
                            </a:gs>
                            <a:gs pos="100000">
                              <a:schemeClr val="accent2"/>
                            </a:gs>
                          </a:gsLst>
                          <a:lin ang="5400000" scaled="1"/>
                        </a:gra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51" name="小红书平北职场PPT3-19"/>
                  <p:cNvSpPr txBox="1"/>
                  <p:nvPr/>
                </p:nvSpPr>
                <p:spPr>
                  <a:xfrm>
                    <a:off x="4317401" y="1266373"/>
                    <a:ext cx="626775" cy="1168622"/>
                  </a:xfrm>
                  <a:prstGeom prst="rect">
                    <a:avLst/>
                  </a:prstGeom>
                  <a:noFill/>
                  <a:effectLst/>
                </p:spPr>
                <p:txBody>
                  <a:bodyPr wrap="none" lIns="0" tIns="0" rIns="0" bIns="0" rtlCol="0">
                    <a:spAutoFit/>
                  </a:bodyPr>
                  <a:lstStyle/>
                  <a:p>
                    <a:pPr algn="l"/>
                    <a:r>
                      <a:rPr lang="en-US" altLang="zh-CN" sz="7200" dirty="0">
                        <a:ln w="22225">
                          <a:noFill/>
                        </a:ln>
                        <a:solidFill>
                          <a:schemeClr val="bg1"/>
                        </a:solidFill>
                        <a:latin typeface="+mj-ea"/>
                        <a:ea typeface="+mj-ea"/>
                        <a:cs typeface="思源黑体 CN Normal" panose="020B0400000000000000" pitchFamily="34" charset="-122"/>
                      </a:rPr>
                      <a:t>2</a:t>
                    </a:r>
                    <a:endParaRPr lang="zh-CN" altLang="en-US" sz="7200" dirty="0">
                      <a:ln w="22225">
                        <a:noFill/>
                      </a:ln>
                      <a:solidFill>
                        <a:schemeClr val="bg1"/>
                      </a:solidFill>
                      <a:latin typeface="+mj-ea"/>
                      <a:ea typeface="+mj-ea"/>
                      <a:cs typeface="思源黑体 CN Normal" panose="020B0400000000000000" pitchFamily="34" charset="-122"/>
                    </a:endParaRPr>
                  </a:p>
                </p:txBody>
              </p:sp>
            </p:grpSp>
          </p:grpSp>
          <p:sp>
            <p:nvSpPr>
              <p:cNvPr id="44" name="小红书平北职场PPT3-20"/>
              <p:cNvSpPr txBox="1"/>
              <p:nvPr/>
            </p:nvSpPr>
            <p:spPr>
              <a:xfrm>
                <a:off x="6806958" y="3314608"/>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人工干预依赖</a:t>
                </a:r>
                <a:endParaRPr kumimoji="0" lang="en-US" altLang="zh-CN"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zh-CN" altLang="en-US" sz="1200" dirty="0">
                    <a:solidFill>
                      <a:schemeClr val="bg1"/>
                    </a:solidFill>
                    <a:latin typeface="+mn-ea"/>
                    <a:cs typeface="思源黑体 CN Normal" panose="020B0400000000000000" pitchFamily="34" charset="-122"/>
                  </a:rPr>
                  <a:t>目前，我们的系统在自我学习方面还依赖于大量的人工干预，尚未完全实现自主发现规律和自我迭代的能力</a:t>
                </a:r>
                <a:endParaRPr lang="zh-CN" altLang="en-US" sz="1200" dirty="0">
                  <a:solidFill>
                    <a:schemeClr val="bg1"/>
                  </a:solidFill>
                  <a:latin typeface="+mn-ea"/>
                  <a:cs typeface="思源黑体 CN Normal" panose="020B0400000000000000" pitchFamily="34" charset="-122"/>
                </a:endParaRPr>
              </a:p>
            </p:txBody>
          </p:sp>
          <p:sp>
            <p:nvSpPr>
              <p:cNvPr id="45" name="小红书平北职场PPT3-21"/>
              <p:cNvSpPr txBox="1"/>
              <p:nvPr/>
            </p:nvSpPr>
            <p:spPr>
              <a:xfrm>
                <a:off x="1217077" y="3314608"/>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effectLst/>
                    <a:uLnTx/>
                    <a:uFillTx/>
                    <a:latin typeface="+mj-ea"/>
                    <a:ea typeface="+mj-ea"/>
                    <a:cs typeface="思源黑体 CN Normal" panose="020B0400000000000000" pitchFamily="34" charset="-122"/>
                  </a:rPr>
                  <a:t>任务自我学习与适应</a:t>
                </a:r>
                <a:endParaRPr kumimoji="0" lang="en-US" altLang="zh-CN" sz="1800" i="0" u="none" strike="noStrike" kern="1200" cap="none" spc="0" normalizeH="0" baseline="0" noProof="0" dirty="0">
                  <a:ln>
                    <a:noFill/>
                  </a:ln>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en-US" altLang="zh-CN" sz="1200" dirty="0">
                    <a:latin typeface="+mn-ea"/>
                    <a:cs typeface="思源黑体 CN Normal" panose="020B0400000000000000" pitchFamily="34" charset="-122"/>
                  </a:rPr>
                  <a:t>AGI</a:t>
                </a:r>
                <a:r>
                  <a:rPr lang="zh-CN" altLang="en-US" sz="1200" dirty="0">
                    <a:latin typeface="+mn-ea"/>
                    <a:cs typeface="思源黑体 CN Normal" panose="020B0400000000000000" pitchFamily="34" charset="-122"/>
                  </a:rPr>
                  <a:t>系统已初步具备自我学习和适应环境变化的能力，能够根据新数据进行推理和学习，实现任务的自主执行</a:t>
                </a:r>
                <a:endParaRPr lang="zh-CN" altLang="en-US" sz="1200" dirty="0">
                  <a:latin typeface="+mn-ea"/>
                  <a:cs typeface="思源黑体 CN Normal" panose="020B0400000000000000" pitchFamily="34" charset="-122"/>
                </a:endParaRPr>
              </a:p>
            </p:txBody>
          </p:sp>
          <p:sp>
            <p:nvSpPr>
              <p:cNvPr id="46" name="小红书平北职场PPT3-22"/>
              <p:cNvSpPr txBox="1"/>
              <p:nvPr/>
            </p:nvSpPr>
            <p:spPr>
              <a:xfrm>
                <a:off x="5494548" y="3799177"/>
                <a:ext cx="1005403" cy="338554"/>
              </a:xfrm>
              <a:prstGeom prst="rect">
                <a:avLst/>
              </a:prstGeom>
              <a:noFill/>
            </p:spPr>
            <p:txBody>
              <a:bodyPr wrap="none">
                <a:spAutoFit/>
              </a:bodyPr>
              <a:lstStyle/>
              <a:p>
                <a:pPr algn="l" fontAlgn="base"/>
                <a:r>
                  <a:rPr lang="zh-CN" altLang="en-US" sz="1600" b="1" i="0" dirty="0">
                    <a:gradFill>
                      <a:gsLst>
                        <a:gs pos="0">
                          <a:schemeClr val="accent2">
                            <a:lumMod val="60000"/>
                            <a:lumOff val="40000"/>
                          </a:schemeClr>
                        </a:gs>
                        <a:gs pos="100000">
                          <a:schemeClr val="accent2"/>
                        </a:gs>
                      </a:gsLst>
                      <a:lin ang="2700000" scaled="1"/>
                    </a:gradFill>
                    <a:effectLst/>
                    <a:latin typeface="+mj-ea"/>
                    <a:ea typeface="+mj-ea"/>
                    <a:cs typeface="思源黑体 CN Normal" panose="020B0400000000000000" pitchFamily="34" charset="-122"/>
                  </a:rPr>
                  <a:t>学习能力</a:t>
                </a:r>
                <a:endParaRPr lang="zh-CN" altLang="en-US" sz="1600" b="0" i="0" dirty="0">
                  <a:gradFill>
                    <a:gsLst>
                      <a:gs pos="0">
                        <a:schemeClr val="accent2">
                          <a:lumMod val="60000"/>
                          <a:lumOff val="40000"/>
                        </a:schemeClr>
                      </a:gs>
                      <a:gs pos="100000">
                        <a:schemeClr val="accent2"/>
                      </a:gs>
                    </a:gsLst>
                    <a:lin ang="2700000" scaled="1"/>
                  </a:gradFill>
                  <a:effectLst/>
                  <a:latin typeface="+mj-ea"/>
                  <a:ea typeface="+mj-ea"/>
                  <a:cs typeface="思源黑体 CN Normal" panose="020B0400000000000000" pitchFamily="34" charset="-122"/>
                </a:endParaRPr>
              </a:p>
            </p:txBody>
          </p:sp>
          <p:sp>
            <p:nvSpPr>
              <p:cNvPr id="47" name="小红书平北职场PPT3-23"/>
              <p:cNvSpPr/>
              <p:nvPr/>
            </p:nvSpPr>
            <p:spPr>
              <a:xfrm>
                <a:off x="5833804" y="3443061"/>
                <a:ext cx="326890" cy="276222"/>
              </a:xfrm>
              <a:custGeom>
                <a:avLst/>
                <a:gdLst>
                  <a:gd name="connsiteX0" fmla="*/ 159224 w 326890"/>
                  <a:gd name="connsiteY0" fmla="*/ 276222 h 276222"/>
                  <a:gd name="connsiteX1" fmla="*/ 65746 w 326890"/>
                  <a:gd name="connsiteY1" fmla="*/ 242125 h 276222"/>
                  <a:gd name="connsiteX2" fmla="*/ 63562 w 326890"/>
                  <a:gd name="connsiteY2" fmla="*/ 239863 h 276222"/>
                  <a:gd name="connsiteX3" fmla="*/ 63562 w 326890"/>
                  <a:gd name="connsiteY3" fmla="*/ 132055 h 276222"/>
                  <a:gd name="connsiteX4" fmla="*/ 74240 w 326890"/>
                  <a:gd name="connsiteY4" fmla="*/ 136342 h 276222"/>
                  <a:gd name="connsiteX5" fmla="*/ 117784 w 326890"/>
                  <a:gd name="connsiteY5" fmla="*/ 151703 h 276222"/>
                  <a:gd name="connsiteX6" fmla="*/ 136480 w 326890"/>
                  <a:gd name="connsiteY6" fmla="*/ 157935 h 276222"/>
                  <a:gd name="connsiteX7" fmla="*/ 178238 w 326890"/>
                  <a:gd name="connsiteY7" fmla="*/ 158411 h 276222"/>
                  <a:gd name="connsiteX8" fmla="*/ 178913 w 326890"/>
                  <a:gd name="connsiteY8" fmla="*/ 158094 h 276222"/>
                  <a:gd name="connsiteX9" fmla="*/ 205785 w 326890"/>
                  <a:gd name="connsiteY9" fmla="*/ 146106 h 276222"/>
                  <a:gd name="connsiteX10" fmla="*/ 239366 w 326890"/>
                  <a:gd name="connsiteY10" fmla="*/ 131062 h 276222"/>
                  <a:gd name="connsiteX11" fmla="*/ 250163 w 326890"/>
                  <a:gd name="connsiteY11" fmla="*/ 126497 h 276222"/>
                  <a:gd name="connsiteX12" fmla="*/ 250163 w 326890"/>
                  <a:gd name="connsiteY12" fmla="*/ 239783 h 276222"/>
                  <a:gd name="connsiteX13" fmla="*/ 247980 w 326890"/>
                  <a:gd name="connsiteY13" fmla="*/ 242086 h 276222"/>
                  <a:gd name="connsiteX14" fmla="*/ 159224 w 326890"/>
                  <a:gd name="connsiteY14" fmla="*/ 276222 h 276222"/>
                  <a:gd name="connsiteX15" fmla="*/ 79083 w 326890"/>
                  <a:gd name="connsiteY15" fmla="*/ 233313 h 276222"/>
                  <a:gd name="connsiteX16" fmla="*/ 159224 w 326890"/>
                  <a:gd name="connsiteY16" fmla="*/ 260702 h 276222"/>
                  <a:gd name="connsiteX17" fmla="*/ 234603 w 326890"/>
                  <a:gd name="connsiteY17" fmla="*/ 233393 h 276222"/>
                  <a:gd name="connsiteX18" fmla="*/ 234603 w 326890"/>
                  <a:gd name="connsiteY18" fmla="*/ 150115 h 276222"/>
                  <a:gd name="connsiteX19" fmla="*/ 212295 w 326890"/>
                  <a:gd name="connsiteY19" fmla="*/ 160277 h 276222"/>
                  <a:gd name="connsiteX20" fmla="*/ 185105 w 326890"/>
                  <a:gd name="connsiteY20" fmla="*/ 172423 h 276222"/>
                  <a:gd name="connsiteX21" fmla="*/ 131399 w 326890"/>
                  <a:gd name="connsiteY21" fmla="*/ 172701 h 276222"/>
                  <a:gd name="connsiteX22" fmla="*/ 112902 w 326890"/>
                  <a:gd name="connsiteY22" fmla="*/ 166509 h 276222"/>
                  <a:gd name="connsiteX23" fmla="*/ 79122 w 326890"/>
                  <a:gd name="connsiteY23" fmla="*/ 154918 h 276222"/>
                  <a:gd name="connsiteX24" fmla="*/ 79122 w 326890"/>
                  <a:gd name="connsiteY24" fmla="*/ 233313 h 276222"/>
                  <a:gd name="connsiteX25" fmla="*/ 294064 w 326890"/>
                  <a:gd name="connsiteY25" fmla="*/ 169526 h 276222"/>
                  <a:gd name="connsiteX26" fmla="*/ 256514 w 326890"/>
                  <a:gd name="connsiteY26" fmla="*/ 141462 h 276222"/>
                  <a:gd name="connsiteX27" fmla="*/ 272391 w 326890"/>
                  <a:gd name="connsiteY27" fmla="*/ 123759 h 276222"/>
                  <a:gd name="connsiteX28" fmla="*/ 272391 w 326890"/>
                  <a:gd name="connsiteY28" fmla="*/ 98632 h 276222"/>
                  <a:gd name="connsiteX29" fmla="*/ 227061 w 326890"/>
                  <a:gd name="connsiteY29" fmla="*/ 117050 h 276222"/>
                  <a:gd name="connsiteX30" fmla="*/ 181850 w 326890"/>
                  <a:gd name="connsiteY30" fmla="*/ 135746 h 276222"/>
                  <a:gd name="connsiteX31" fmla="*/ 136520 w 326890"/>
                  <a:gd name="connsiteY31" fmla="*/ 137016 h 276222"/>
                  <a:gd name="connsiteX32" fmla="*/ 22003 w 326890"/>
                  <a:gd name="connsiteY32" fmla="*/ 90456 h 276222"/>
                  <a:gd name="connsiteX33" fmla="*/ 13 w 326890"/>
                  <a:gd name="connsiteY33" fmla="*/ 68783 h 276222"/>
                  <a:gd name="connsiteX34" fmla="*/ 23035 w 326890"/>
                  <a:gd name="connsiteY34" fmla="*/ 49412 h 276222"/>
                  <a:gd name="connsiteX35" fmla="*/ 79797 w 326890"/>
                  <a:gd name="connsiteY35" fmla="*/ 27779 h 276222"/>
                  <a:gd name="connsiteX36" fmla="*/ 132987 w 326890"/>
                  <a:gd name="connsiteY36" fmla="*/ 7496 h 276222"/>
                  <a:gd name="connsiteX37" fmla="*/ 133304 w 326890"/>
                  <a:gd name="connsiteY37" fmla="*/ 7377 h 276222"/>
                  <a:gd name="connsiteX38" fmla="*/ 179706 w 326890"/>
                  <a:gd name="connsiteY38" fmla="*/ 4955 h 276222"/>
                  <a:gd name="connsiteX39" fmla="*/ 238731 w 326890"/>
                  <a:gd name="connsiteY39" fmla="*/ 26826 h 276222"/>
                  <a:gd name="connsiteX40" fmla="*/ 305933 w 326890"/>
                  <a:gd name="connsiteY40" fmla="*/ 51794 h 276222"/>
                  <a:gd name="connsiteX41" fmla="*/ 306091 w 326890"/>
                  <a:gd name="connsiteY41" fmla="*/ 51873 h 276222"/>
                  <a:gd name="connsiteX42" fmla="*/ 325065 w 326890"/>
                  <a:gd name="connsiteY42" fmla="*/ 69458 h 276222"/>
                  <a:gd name="connsiteX43" fmla="*/ 312164 w 326890"/>
                  <a:gd name="connsiteY43" fmla="*/ 83827 h 276222"/>
                  <a:gd name="connsiteX44" fmla="*/ 312125 w 326890"/>
                  <a:gd name="connsiteY44" fmla="*/ 83866 h 276222"/>
                  <a:gd name="connsiteX45" fmla="*/ 312125 w 326890"/>
                  <a:gd name="connsiteY45" fmla="*/ 124195 h 276222"/>
                  <a:gd name="connsiteX46" fmla="*/ 326891 w 326890"/>
                  <a:gd name="connsiteY46" fmla="*/ 141105 h 276222"/>
                  <a:gd name="connsiteX47" fmla="*/ 294064 w 326890"/>
                  <a:gd name="connsiteY47" fmla="*/ 169526 h 276222"/>
                  <a:gd name="connsiteX48" fmla="*/ 279417 w 326890"/>
                  <a:gd name="connsiteY48" fmla="*/ 139160 h 276222"/>
                  <a:gd name="connsiteX49" fmla="*/ 293350 w 326890"/>
                  <a:gd name="connsiteY49" fmla="*/ 149560 h 276222"/>
                  <a:gd name="connsiteX50" fmla="*/ 304900 w 326890"/>
                  <a:gd name="connsiteY50" fmla="*/ 139517 h 276222"/>
                  <a:gd name="connsiteX51" fmla="*/ 296565 w 326890"/>
                  <a:gd name="connsiteY51" fmla="*/ 129951 h 276222"/>
                  <a:gd name="connsiteX52" fmla="*/ 296565 w 326890"/>
                  <a:gd name="connsiteY52" fmla="*/ 74777 h 276222"/>
                  <a:gd name="connsiteX53" fmla="*/ 300217 w 326890"/>
                  <a:gd name="connsiteY53" fmla="*/ 72514 h 276222"/>
                  <a:gd name="connsiteX54" fmla="*/ 305337 w 326890"/>
                  <a:gd name="connsiteY54" fmla="*/ 69815 h 276222"/>
                  <a:gd name="connsiteX55" fmla="*/ 306449 w 326890"/>
                  <a:gd name="connsiteY55" fmla="*/ 69259 h 276222"/>
                  <a:gd name="connsiteX56" fmla="*/ 299978 w 326890"/>
                  <a:gd name="connsiteY56" fmla="*/ 66123 h 276222"/>
                  <a:gd name="connsiteX57" fmla="*/ 233452 w 326890"/>
                  <a:gd name="connsiteY57" fmla="*/ 41394 h 276222"/>
                  <a:gd name="connsiteX58" fmla="*/ 173554 w 326890"/>
                  <a:gd name="connsiteY58" fmla="*/ 19166 h 276222"/>
                  <a:gd name="connsiteX59" fmla="*/ 173038 w 326890"/>
                  <a:gd name="connsiteY59" fmla="*/ 18927 h 276222"/>
                  <a:gd name="connsiteX60" fmla="*/ 139060 w 326890"/>
                  <a:gd name="connsiteY60" fmla="*/ 21706 h 276222"/>
                  <a:gd name="connsiteX61" fmla="*/ 138504 w 326890"/>
                  <a:gd name="connsiteY61" fmla="*/ 21944 h 276222"/>
                  <a:gd name="connsiteX62" fmla="*/ 85354 w 326890"/>
                  <a:gd name="connsiteY62" fmla="*/ 42188 h 276222"/>
                  <a:gd name="connsiteX63" fmla="*/ 28473 w 326890"/>
                  <a:gd name="connsiteY63" fmla="*/ 63861 h 276222"/>
                  <a:gd name="connsiteX64" fmla="*/ 16644 w 326890"/>
                  <a:gd name="connsiteY64" fmla="*/ 69378 h 276222"/>
                  <a:gd name="connsiteX65" fmla="*/ 28672 w 326890"/>
                  <a:gd name="connsiteY65" fmla="*/ 76285 h 276222"/>
                  <a:gd name="connsiteX66" fmla="*/ 141958 w 326890"/>
                  <a:gd name="connsiteY66" fmla="*/ 122330 h 276222"/>
                  <a:gd name="connsiteX67" fmla="*/ 175499 w 326890"/>
                  <a:gd name="connsiteY67" fmla="*/ 121417 h 276222"/>
                  <a:gd name="connsiteX68" fmla="*/ 221226 w 326890"/>
                  <a:gd name="connsiteY68" fmla="*/ 102522 h 276222"/>
                  <a:gd name="connsiteX69" fmla="*/ 277234 w 326890"/>
                  <a:gd name="connsiteY69" fmla="*/ 79778 h 276222"/>
                  <a:gd name="connsiteX70" fmla="*/ 287951 w 326890"/>
                  <a:gd name="connsiteY70" fmla="*/ 75412 h 276222"/>
                  <a:gd name="connsiteX71" fmla="*/ 287951 w 326890"/>
                  <a:gd name="connsiteY71" fmla="*/ 129594 h 276222"/>
                  <a:gd name="connsiteX72" fmla="*/ 279417 w 326890"/>
                  <a:gd name="connsiteY72" fmla="*/ 139160 h 27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26890" h="276222">
                    <a:moveTo>
                      <a:pt x="159224" y="276222"/>
                    </a:moveTo>
                    <a:cubicBezTo>
                      <a:pt x="99565" y="276222"/>
                      <a:pt x="67095" y="243515"/>
                      <a:pt x="65746" y="242125"/>
                    </a:cubicBezTo>
                    <a:lnTo>
                      <a:pt x="63562" y="239863"/>
                    </a:lnTo>
                    <a:lnTo>
                      <a:pt x="63562" y="132055"/>
                    </a:lnTo>
                    <a:lnTo>
                      <a:pt x="74240" y="136342"/>
                    </a:lnTo>
                    <a:cubicBezTo>
                      <a:pt x="87220" y="141581"/>
                      <a:pt x="101391" y="146265"/>
                      <a:pt x="117784" y="151703"/>
                    </a:cubicBezTo>
                    <a:cubicBezTo>
                      <a:pt x="123738" y="153688"/>
                      <a:pt x="129970" y="155752"/>
                      <a:pt x="136480" y="157935"/>
                    </a:cubicBezTo>
                    <a:cubicBezTo>
                      <a:pt x="148864" y="162301"/>
                      <a:pt x="166250" y="164683"/>
                      <a:pt x="178238" y="158411"/>
                    </a:cubicBezTo>
                    <a:lnTo>
                      <a:pt x="178913" y="158094"/>
                    </a:lnTo>
                    <a:cubicBezTo>
                      <a:pt x="186613" y="154958"/>
                      <a:pt x="195941" y="150671"/>
                      <a:pt x="205785" y="146106"/>
                    </a:cubicBezTo>
                    <a:cubicBezTo>
                      <a:pt x="215947" y="141422"/>
                      <a:pt x="227498" y="136103"/>
                      <a:pt x="239366" y="131062"/>
                    </a:cubicBezTo>
                    <a:lnTo>
                      <a:pt x="250163" y="126497"/>
                    </a:lnTo>
                    <a:lnTo>
                      <a:pt x="250163" y="239783"/>
                    </a:lnTo>
                    <a:lnTo>
                      <a:pt x="247980" y="242086"/>
                    </a:lnTo>
                    <a:cubicBezTo>
                      <a:pt x="246670" y="243475"/>
                      <a:pt x="214915" y="276222"/>
                      <a:pt x="159224" y="276222"/>
                    </a:cubicBezTo>
                    <a:close/>
                    <a:moveTo>
                      <a:pt x="79083" y="233313"/>
                    </a:moveTo>
                    <a:cubicBezTo>
                      <a:pt x="86783" y="239903"/>
                      <a:pt x="114609" y="260702"/>
                      <a:pt x="159224" y="260702"/>
                    </a:cubicBezTo>
                    <a:cubicBezTo>
                      <a:pt x="200665" y="260702"/>
                      <a:pt x="227180" y="240022"/>
                      <a:pt x="234603" y="233393"/>
                    </a:cubicBezTo>
                    <a:lnTo>
                      <a:pt x="234603" y="150115"/>
                    </a:lnTo>
                    <a:cubicBezTo>
                      <a:pt x="226783" y="153569"/>
                      <a:pt x="219202" y="157062"/>
                      <a:pt x="212295" y="160277"/>
                    </a:cubicBezTo>
                    <a:cubicBezTo>
                      <a:pt x="202411" y="164842"/>
                      <a:pt x="193043" y="169129"/>
                      <a:pt x="185105" y="172423"/>
                    </a:cubicBezTo>
                    <a:cubicBezTo>
                      <a:pt x="171172" y="179528"/>
                      <a:pt x="151127" y="179647"/>
                      <a:pt x="131399" y="172701"/>
                    </a:cubicBezTo>
                    <a:cubicBezTo>
                      <a:pt x="125008" y="170518"/>
                      <a:pt x="118816" y="168493"/>
                      <a:pt x="112902" y="166509"/>
                    </a:cubicBezTo>
                    <a:cubicBezTo>
                      <a:pt x="100557" y="162420"/>
                      <a:pt x="89482" y="158729"/>
                      <a:pt x="79122" y="154918"/>
                    </a:cubicBezTo>
                    <a:lnTo>
                      <a:pt x="79122" y="233313"/>
                    </a:lnTo>
                    <a:close/>
                    <a:moveTo>
                      <a:pt x="294064" y="169526"/>
                    </a:moveTo>
                    <a:lnTo>
                      <a:pt x="256514" y="141462"/>
                    </a:lnTo>
                    <a:lnTo>
                      <a:pt x="272391" y="123759"/>
                    </a:lnTo>
                    <a:lnTo>
                      <a:pt x="272391" y="98632"/>
                    </a:lnTo>
                    <a:cubicBezTo>
                      <a:pt x="253696" y="106254"/>
                      <a:pt x="239128" y="112128"/>
                      <a:pt x="227061" y="117050"/>
                    </a:cubicBezTo>
                    <a:cubicBezTo>
                      <a:pt x="203007" y="126775"/>
                      <a:pt x="190940" y="131658"/>
                      <a:pt x="181850" y="135746"/>
                    </a:cubicBezTo>
                    <a:cubicBezTo>
                      <a:pt x="165893" y="142851"/>
                      <a:pt x="153191" y="143209"/>
                      <a:pt x="136520" y="137016"/>
                    </a:cubicBezTo>
                    <a:cubicBezTo>
                      <a:pt x="135765" y="136738"/>
                      <a:pt x="60109" y="108477"/>
                      <a:pt x="22003" y="90456"/>
                    </a:cubicBezTo>
                    <a:cubicBezTo>
                      <a:pt x="8507" y="84065"/>
                      <a:pt x="-384" y="77952"/>
                      <a:pt x="13" y="68783"/>
                    </a:cubicBezTo>
                    <a:cubicBezTo>
                      <a:pt x="449" y="59097"/>
                      <a:pt x="11325" y="53779"/>
                      <a:pt x="23035" y="49412"/>
                    </a:cubicBezTo>
                    <a:cubicBezTo>
                      <a:pt x="39111" y="43379"/>
                      <a:pt x="59792" y="35440"/>
                      <a:pt x="79797" y="27779"/>
                    </a:cubicBezTo>
                    <a:cubicBezTo>
                      <a:pt x="99922" y="20079"/>
                      <a:pt x="118975" y="12775"/>
                      <a:pt x="132987" y="7496"/>
                    </a:cubicBezTo>
                    <a:lnTo>
                      <a:pt x="133304" y="7377"/>
                    </a:lnTo>
                    <a:cubicBezTo>
                      <a:pt x="150333" y="549"/>
                      <a:pt x="161606" y="-3936"/>
                      <a:pt x="179706" y="4955"/>
                    </a:cubicBezTo>
                    <a:cubicBezTo>
                      <a:pt x="192805" y="10314"/>
                      <a:pt x="215113" y="18332"/>
                      <a:pt x="238731" y="26826"/>
                    </a:cubicBezTo>
                    <a:cubicBezTo>
                      <a:pt x="263857" y="35877"/>
                      <a:pt x="289817" y="45205"/>
                      <a:pt x="305933" y="51794"/>
                    </a:cubicBezTo>
                    <a:lnTo>
                      <a:pt x="306091" y="51873"/>
                    </a:lnTo>
                    <a:cubicBezTo>
                      <a:pt x="315856" y="56081"/>
                      <a:pt x="324866" y="61122"/>
                      <a:pt x="325065" y="69458"/>
                    </a:cubicBezTo>
                    <a:cubicBezTo>
                      <a:pt x="325263" y="77436"/>
                      <a:pt x="317682" y="81128"/>
                      <a:pt x="312164" y="83827"/>
                    </a:cubicBezTo>
                    <a:cubicBezTo>
                      <a:pt x="312164" y="83827"/>
                      <a:pt x="312125" y="83827"/>
                      <a:pt x="312125" y="83866"/>
                    </a:cubicBezTo>
                    <a:lnTo>
                      <a:pt x="312125" y="124195"/>
                    </a:lnTo>
                    <a:lnTo>
                      <a:pt x="326891" y="141105"/>
                    </a:lnTo>
                    <a:lnTo>
                      <a:pt x="294064" y="169526"/>
                    </a:lnTo>
                    <a:close/>
                    <a:moveTo>
                      <a:pt x="279417" y="139160"/>
                    </a:moveTo>
                    <a:lnTo>
                      <a:pt x="293350" y="149560"/>
                    </a:lnTo>
                    <a:lnTo>
                      <a:pt x="304900" y="139517"/>
                    </a:lnTo>
                    <a:lnTo>
                      <a:pt x="296565" y="129951"/>
                    </a:lnTo>
                    <a:lnTo>
                      <a:pt x="296565" y="74777"/>
                    </a:lnTo>
                    <a:lnTo>
                      <a:pt x="300217" y="72514"/>
                    </a:lnTo>
                    <a:cubicBezTo>
                      <a:pt x="301804" y="71522"/>
                      <a:pt x="303591" y="70648"/>
                      <a:pt x="305337" y="69815"/>
                    </a:cubicBezTo>
                    <a:lnTo>
                      <a:pt x="306449" y="69259"/>
                    </a:lnTo>
                    <a:cubicBezTo>
                      <a:pt x="304940" y="68426"/>
                      <a:pt x="302876" y="67354"/>
                      <a:pt x="299978" y="66123"/>
                    </a:cubicBezTo>
                    <a:cubicBezTo>
                      <a:pt x="284141" y="59653"/>
                      <a:pt x="258379" y="50365"/>
                      <a:pt x="233452" y="41394"/>
                    </a:cubicBezTo>
                    <a:cubicBezTo>
                      <a:pt x="209516" y="32781"/>
                      <a:pt x="186931" y="24643"/>
                      <a:pt x="173554" y="19166"/>
                    </a:cubicBezTo>
                    <a:lnTo>
                      <a:pt x="173038" y="18927"/>
                    </a:lnTo>
                    <a:cubicBezTo>
                      <a:pt x="161011" y="12934"/>
                      <a:pt x="155017" y="15315"/>
                      <a:pt x="139060" y="21706"/>
                    </a:cubicBezTo>
                    <a:lnTo>
                      <a:pt x="138504" y="21944"/>
                    </a:lnTo>
                    <a:cubicBezTo>
                      <a:pt x="124532" y="27184"/>
                      <a:pt x="105519" y="34487"/>
                      <a:pt x="85354" y="42188"/>
                    </a:cubicBezTo>
                    <a:cubicBezTo>
                      <a:pt x="65349" y="49849"/>
                      <a:pt x="44629" y="57788"/>
                      <a:pt x="28473" y="63861"/>
                    </a:cubicBezTo>
                    <a:cubicBezTo>
                      <a:pt x="21646" y="66401"/>
                      <a:pt x="18272" y="68267"/>
                      <a:pt x="16644" y="69378"/>
                    </a:cubicBezTo>
                    <a:cubicBezTo>
                      <a:pt x="18232" y="70688"/>
                      <a:pt x="21606" y="72951"/>
                      <a:pt x="28672" y="76285"/>
                    </a:cubicBezTo>
                    <a:cubicBezTo>
                      <a:pt x="66143" y="94028"/>
                      <a:pt x="141203" y="122052"/>
                      <a:pt x="141958" y="122330"/>
                    </a:cubicBezTo>
                    <a:cubicBezTo>
                      <a:pt x="154818" y="127133"/>
                      <a:pt x="163273" y="126894"/>
                      <a:pt x="175499" y="121417"/>
                    </a:cubicBezTo>
                    <a:cubicBezTo>
                      <a:pt x="184827" y="117249"/>
                      <a:pt x="197013" y="112327"/>
                      <a:pt x="221226" y="102522"/>
                    </a:cubicBezTo>
                    <a:cubicBezTo>
                      <a:pt x="235516" y="96727"/>
                      <a:pt x="253259" y="89543"/>
                      <a:pt x="277234" y="79778"/>
                    </a:cubicBezTo>
                    <a:lnTo>
                      <a:pt x="287951" y="75412"/>
                    </a:lnTo>
                    <a:lnTo>
                      <a:pt x="287951" y="129594"/>
                    </a:lnTo>
                    <a:lnTo>
                      <a:pt x="279417" y="139160"/>
                    </a:lnTo>
                    <a:close/>
                  </a:path>
                </a:pathLst>
              </a:custGeom>
              <a:gradFill>
                <a:gsLst>
                  <a:gs pos="0">
                    <a:schemeClr val="accent2">
                      <a:lumMod val="60000"/>
                      <a:lumOff val="40000"/>
                    </a:schemeClr>
                  </a:gs>
                  <a:gs pos="100000">
                    <a:schemeClr val="accent2"/>
                  </a:gs>
                </a:gsLst>
                <a:lin ang="2700000" scaled="1"/>
              </a:gradFill>
              <a:ln w="391" cap="flat">
                <a:noFill/>
                <a:prstDash val="solid"/>
                <a:miter/>
              </a:ln>
            </p:spPr>
            <p:txBody>
              <a:bodyPr rtlCol="0" anchor="ctr"/>
              <a:lstStyle/>
              <a:p>
                <a:endParaRPr lang="zh-CN" altLang="en-US">
                  <a:cs typeface="思源黑体 CN Normal" panose="020B0400000000000000" pitchFamily="34" charset="-122"/>
                </a:endParaRPr>
              </a:p>
            </p:txBody>
          </p:sp>
        </p:grpSp>
        <p:grpSp>
          <p:nvGrpSpPr>
            <p:cNvPr id="27" name="组合 26"/>
            <p:cNvGrpSpPr/>
            <p:nvPr/>
          </p:nvGrpSpPr>
          <p:grpSpPr>
            <a:xfrm>
              <a:off x="0" y="5018415"/>
              <a:ext cx="11290502" cy="1523013"/>
              <a:chOff x="0" y="5018415"/>
              <a:chExt cx="11290502" cy="1523013"/>
            </a:xfrm>
          </p:grpSpPr>
          <p:grpSp>
            <p:nvGrpSpPr>
              <p:cNvPr id="28" name="组合 27"/>
              <p:cNvGrpSpPr/>
              <p:nvPr/>
            </p:nvGrpSpPr>
            <p:grpSpPr>
              <a:xfrm>
                <a:off x="0" y="5018415"/>
                <a:ext cx="11290502" cy="1523013"/>
                <a:chOff x="0" y="4918148"/>
                <a:chExt cx="11290502" cy="1606347"/>
              </a:xfrm>
            </p:grpSpPr>
            <p:sp>
              <p:nvSpPr>
                <p:cNvPr id="35" name="小红书平北职场PPT3-24"/>
                <p:cNvSpPr/>
                <p:nvPr/>
              </p:nvSpPr>
              <p:spPr>
                <a:xfrm rot="10800000" flipH="1" flipV="1">
                  <a:off x="5563627" y="4918148"/>
                  <a:ext cx="5726875" cy="1246811"/>
                </a:xfrm>
                <a:prstGeom prst="roundRect">
                  <a:avLst>
                    <a:gd name="adj" fmla="val 5000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6" name="小红书平北职场PPT3-25"/>
                <p:cNvSpPr/>
                <p:nvPr/>
              </p:nvSpPr>
              <p:spPr>
                <a:xfrm rot="10800000">
                  <a:off x="0" y="5557955"/>
                  <a:ext cx="1350957" cy="9665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sp>
              <p:nvSpPr>
                <p:cNvPr id="37" name="小红书平北职场PPT3-26"/>
                <p:cNvSpPr/>
                <p:nvPr/>
              </p:nvSpPr>
              <p:spPr>
                <a:xfrm rot="10800000" flipH="1" flipV="1">
                  <a:off x="950964" y="4918148"/>
                  <a:ext cx="5151110" cy="1246811"/>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38" name="小红书平北职场PPT3-27"/>
                <p:cNvSpPr/>
                <p:nvPr/>
              </p:nvSpPr>
              <p:spPr>
                <a:xfrm rot="10800000">
                  <a:off x="950961" y="6152470"/>
                  <a:ext cx="388979" cy="372025"/>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grpSp>
              <p:nvGrpSpPr>
                <p:cNvPr id="39" name="组合 38"/>
                <p:cNvGrpSpPr/>
                <p:nvPr/>
              </p:nvGrpSpPr>
              <p:grpSpPr>
                <a:xfrm>
                  <a:off x="165572" y="4922420"/>
                  <a:ext cx="626775" cy="1168622"/>
                  <a:chOff x="4317401" y="1266373"/>
                  <a:chExt cx="626775" cy="1168622"/>
                </a:xfrm>
              </p:grpSpPr>
              <p:sp>
                <p:nvSpPr>
                  <p:cNvPr id="41" name="小红书平北职场PPT3-28"/>
                  <p:cNvSpPr txBox="1"/>
                  <p:nvPr/>
                </p:nvSpPr>
                <p:spPr>
                  <a:xfrm>
                    <a:off x="4317401" y="1266373"/>
                    <a:ext cx="626775" cy="1168622"/>
                  </a:xfrm>
                  <a:prstGeom prst="rect">
                    <a:avLst/>
                  </a:prstGeom>
                  <a:noFill/>
                </p:spPr>
                <p:txBody>
                  <a:bodyPr wrap="none" lIns="0" tIns="0" rIns="0" bIns="0" rtlCol="0">
                    <a:spAutoFit/>
                  </a:bodyPr>
                  <a:lstStyle/>
                  <a:p>
                    <a:pPr algn="l"/>
                    <a:r>
                      <a:rPr lang="en-US" altLang="zh-CN" sz="720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3</a:t>
                    </a:r>
                    <a:endParaRPr lang="zh-CN" altLang="en-US" sz="720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42" name="小红书平北职场PPT3-29"/>
                  <p:cNvSpPr txBox="1"/>
                  <p:nvPr/>
                </p:nvSpPr>
                <p:spPr>
                  <a:xfrm>
                    <a:off x="4317401" y="1266373"/>
                    <a:ext cx="626775" cy="1168622"/>
                  </a:xfrm>
                  <a:prstGeom prst="rect">
                    <a:avLst/>
                  </a:prstGeom>
                  <a:noFill/>
                  <a:effectLst/>
                </p:spPr>
                <p:txBody>
                  <a:bodyPr wrap="none" lIns="0" tIns="0" rIns="0" bIns="0" rtlCol="0">
                    <a:spAutoFit/>
                  </a:bodyPr>
                  <a:lstStyle/>
                  <a:p>
                    <a:pPr algn="l"/>
                    <a:r>
                      <a:rPr lang="en-US" altLang="zh-CN" sz="7200" dirty="0">
                        <a:ln w="22225">
                          <a:noFill/>
                        </a:ln>
                        <a:solidFill>
                          <a:schemeClr val="bg1"/>
                        </a:solidFill>
                        <a:latin typeface="+mj-ea"/>
                        <a:ea typeface="+mj-ea"/>
                        <a:cs typeface="思源黑体 CN Normal" panose="020B0400000000000000" pitchFamily="34" charset="-122"/>
                      </a:rPr>
                      <a:t>3</a:t>
                    </a:r>
                    <a:endParaRPr lang="zh-CN" altLang="en-US" sz="7200" dirty="0">
                      <a:ln w="22225">
                        <a:noFill/>
                      </a:ln>
                      <a:solidFill>
                        <a:schemeClr val="bg1"/>
                      </a:solidFill>
                      <a:latin typeface="+mj-ea"/>
                      <a:ea typeface="+mj-ea"/>
                      <a:cs typeface="思源黑体 CN Normal" panose="020B0400000000000000" pitchFamily="34" charset="-122"/>
                    </a:endParaRPr>
                  </a:p>
                </p:txBody>
              </p:sp>
            </p:grpSp>
            <p:sp>
              <p:nvSpPr>
                <p:cNvPr id="40" name="小红书平北职场PPT3-30"/>
                <p:cNvSpPr/>
                <p:nvPr/>
              </p:nvSpPr>
              <p:spPr>
                <a:xfrm>
                  <a:off x="5413131" y="4918148"/>
                  <a:ext cx="1144800" cy="1270000"/>
                </a:xfrm>
                <a:prstGeom prst="ellipse">
                  <a:avLst/>
                </a:prstGeom>
                <a:solidFill>
                  <a:schemeClr val="bg1"/>
                </a:solidFill>
                <a:ln w="50800" cap="flat" cmpd="sng" algn="ctr">
                  <a:gradFill>
                    <a:gsLst>
                      <a:gs pos="0">
                        <a:schemeClr val="accent1">
                          <a:lumMod val="60000"/>
                          <a:lumOff val="40000"/>
                        </a:schemeClr>
                      </a:gs>
                      <a:gs pos="100000">
                        <a:schemeClr val="accent1"/>
                      </a:gs>
                    </a:gsLst>
                    <a:lin ang="5400000" scaled="1"/>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sp>
            <p:nvSpPr>
              <p:cNvPr id="29" name="小红书平北职场PPT3-31"/>
              <p:cNvSpPr txBox="1"/>
              <p:nvPr/>
            </p:nvSpPr>
            <p:spPr>
              <a:xfrm>
                <a:off x="1217077" y="5142608"/>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真实世界交互</a:t>
                </a:r>
                <a:endParaRPr kumimoji="0" lang="zh-CN" altLang="en-US"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zh-CN" altLang="en-US" sz="1200" dirty="0">
                    <a:solidFill>
                      <a:schemeClr val="bg1"/>
                    </a:solidFill>
                    <a:latin typeface="+mn-ea"/>
                    <a:cs typeface="思源黑体 CN Normal" panose="020B0400000000000000" pitchFamily="34" charset="-122"/>
                  </a:rPr>
                  <a:t>我们的</a:t>
                </a:r>
                <a:r>
                  <a:rPr lang="en-US" altLang="zh-CN" sz="1200" dirty="0">
                    <a:solidFill>
                      <a:schemeClr val="bg1"/>
                    </a:solidFill>
                    <a:latin typeface="+mn-ea"/>
                    <a:cs typeface="思源黑体 CN Normal" panose="020B0400000000000000" pitchFamily="34" charset="-122"/>
                  </a:rPr>
                  <a:t>AGI</a:t>
                </a:r>
                <a:r>
                  <a:rPr lang="zh-CN" altLang="en-US" sz="1200" dirty="0">
                    <a:solidFill>
                      <a:schemeClr val="bg1"/>
                    </a:solidFill>
                    <a:latin typeface="+mn-ea"/>
                    <a:cs typeface="思源黑体 CN Normal" panose="020B0400000000000000" pitchFamily="34" charset="-122"/>
                  </a:rPr>
                  <a:t>系统已经开始理解并模拟真实世界的物理法则，能够与环境进行基本的交互，并从中学习新的概念</a:t>
                </a:r>
                <a:endParaRPr lang="zh-CN" altLang="en-US" sz="1200" dirty="0">
                  <a:solidFill>
                    <a:schemeClr val="bg1"/>
                  </a:solidFill>
                  <a:latin typeface="+mn-ea"/>
                  <a:cs typeface="思源黑体 CN Normal" panose="020B0400000000000000" pitchFamily="34" charset="-122"/>
                </a:endParaRPr>
              </a:p>
            </p:txBody>
          </p:sp>
          <p:sp>
            <p:nvSpPr>
              <p:cNvPr id="30" name="小红书平北职场PPT3-32"/>
              <p:cNvSpPr txBox="1"/>
              <p:nvPr/>
            </p:nvSpPr>
            <p:spPr>
              <a:xfrm>
                <a:off x="6806958" y="5142608"/>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effectLst/>
                    <a:uLnTx/>
                    <a:uFillTx/>
                    <a:latin typeface="+mj-ea"/>
                    <a:ea typeface="+mj-ea"/>
                    <a:cs typeface="思源黑体 CN Normal" panose="020B0400000000000000" pitchFamily="34" charset="-122"/>
                  </a:rPr>
                  <a:t>任务处理局限性</a:t>
                </a:r>
                <a:endParaRPr kumimoji="0" lang="en-US" altLang="zh-CN" sz="1800" i="0" u="none" strike="noStrike" kern="1200" cap="none" spc="0" normalizeH="0" baseline="0" noProof="0" dirty="0">
                  <a:ln>
                    <a:noFill/>
                  </a:ln>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kumimoji="0" lang="zh-CN" altLang="en-US" sz="1200" i="0" u="none" strike="noStrike" kern="1200" cap="none" spc="0" normalizeH="0" baseline="0" noProof="0" dirty="0">
                    <a:ln>
                      <a:noFill/>
                    </a:ln>
                    <a:effectLst/>
                    <a:uLnTx/>
                    <a:uFillTx/>
                    <a:latin typeface="+mn-ea"/>
                    <a:cs typeface="思源黑体 CN Normal" panose="020B0400000000000000" pitchFamily="34" charset="-122"/>
                  </a:rPr>
                  <a:t>我们的系统在多模态交互方面仍然有限，需要更多的数据和更复杂的算法来实现更深层次的理解和更自然的交互。</a:t>
                </a:r>
                <a:endParaRPr kumimoji="0" lang="zh-CN" altLang="en-US" sz="1200" i="0" u="none" strike="noStrike" kern="1200" cap="none" spc="0" normalizeH="0" baseline="0" noProof="0" dirty="0">
                  <a:ln>
                    <a:noFill/>
                  </a:ln>
                  <a:effectLst/>
                  <a:uLnTx/>
                  <a:uFillTx/>
                  <a:latin typeface="+mn-ea"/>
                  <a:cs typeface="思源黑体 CN Normal" panose="020B0400000000000000" pitchFamily="34" charset="-122"/>
                </a:endParaRPr>
              </a:p>
            </p:txBody>
          </p:sp>
          <p:sp>
            <p:nvSpPr>
              <p:cNvPr id="31" name="小红书平北职场PPT3-33"/>
              <p:cNvSpPr txBox="1"/>
              <p:nvPr/>
            </p:nvSpPr>
            <p:spPr>
              <a:xfrm>
                <a:off x="5494548" y="5619637"/>
                <a:ext cx="1005403" cy="338554"/>
              </a:xfrm>
              <a:prstGeom prst="rect">
                <a:avLst/>
              </a:prstGeom>
              <a:noFill/>
            </p:spPr>
            <p:txBody>
              <a:bodyPr wrap="none">
                <a:spAutoFit/>
              </a:bodyPr>
              <a:lstStyle/>
              <a:p>
                <a:pPr algn="l" fontAlgn="base"/>
                <a:r>
                  <a:rPr lang="zh-CN" altLang="en-US" sz="1600" b="1" i="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交互能力</a:t>
                </a:r>
                <a:endParaRPr lang="zh-CN" altLang="en-US" sz="1600" b="0" i="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p:txBody>
          </p:sp>
          <p:grpSp>
            <p:nvGrpSpPr>
              <p:cNvPr id="32" name="组合 31"/>
              <p:cNvGrpSpPr/>
              <p:nvPr/>
            </p:nvGrpSpPr>
            <p:grpSpPr>
              <a:xfrm>
                <a:off x="5842064" y="5237356"/>
                <a:ext cx="310370" cy="310366"/>
                <a:chOff x="5611392" y="5284297"/>
                <a:chExt cx="355660" cy="355656"/>
              </a:xfrm>
              <a:gradFill>
                <a:gsLst>
                  <a:gs pos="0">
                    <a:schemeClr val="accent1">
                      <a:lumMod val="60000"/>
                      <a:lumOff val="40000"/>
                    </a:schemeClr>
                  </a:gs>
                  <a:gs pos="100000">
                    <a:schemeClr val="accent1"/>
                  </a:gs>
                </a:gsLst>
                <a:lin ang="2700000" scaled="1"/>
              </a:gradFill>
            </p:grpSpPr>
            <p:sp>
              <p:nvSpPr>
                <p:cNvPr id="33" name="小红书平北职场PPT3-34"/>
                <p:cNvSpPr/>
                <p:nvPr/>
              </p:nvSpPr>
              <p:spPr>
                <a:xfrm>
                  <a:off x="5676599" y="5360480"/>
                  <a:ext cx="290453" cy="265132"/>
                </a:xfrm>
                <a:custGeom>
                  <a:avLst/>
                  <a:gdLst>
                    <a:gd name="connsiteX0" fmla="*/ 285864 w 290453"/>
                    <a:gd name="connsiteY0" fmla="*/ 110968 h 265132"/>
                    <a:gd name="connsiteX1" fmla="*/ 213513 w 290453"/>
                    <a:gd name="connsiteY1" fmla="*/ 24582 h 265132"/>
                    <a:gd name="connsiteX2" fmla="*/ 190599 w 290453"/>
                    <a:gd name="connsiteY2" fmla="*/ 40230 h 265132"/>
                    <a:gd name="connsiteX3" fmla="*/ 163010 w 290453"/>
                    <a:gd name="connsiteY3" fmla="*/ 39621 h 265132"/>
                    <a:gd name="connsiteX4" fmla="*/ 147031 w 290453"/>
                    <a:gd name="connsiteY4" fmla="*/ 53720 h 265132"/>
                    <a:gd name="connsiteX5" fmla="*/ 111745 w 290453"/>
                    <a:gd name="connsiteY5" fmla="*/ 54457 h 265132"/>
                    <a:gd name="connsiteX6" fmla="*/ 104111 w 290453"/>
                    <a:gd name="connsiteY6" fmla="*/ 59004 h 265132"/>
                    <a:gd name="connsiteX7" fmla="*/ 25231 w 290453"/>
                    <a:gd name="connsiteY7" fmla="*/ 803 h 265132"/>
                    <a:gd name="connsiteX8" fmla="*/ 17458 w 290453"/>
                    <a:gd name="connsiteY8" fmla="*/ 72989 h 265132"/>
                    <a:gd name="connsiteX9" fmla="*/ 64379 w 290453"/>
                    <a:gd name="connsiteY9" fmla="*/ 145543 h 265132"/>
                    <a:gd name="connsiteX10" fmla="*/ 8973 w 290453"/>
                    <a:gd name="connsiteY10" fmla="*/ 159604 h 265132"/>
                    <a:gd name="connsiteX11" fmla="*/ 54382 w 290453"/>
                    <a:gd name="connsiteY11" fmla="*/ 225984 h 265132"/>
                    <a:gd name="connsiteX12" fmla="*/ 140108 w 290453"/>
                    <a:gd name="connsiteY12" fmla="*/ 264116 h 265132"/>
                    <a:gd name="connsiteX13" fmla="*/ 156768 w 290453"/>
                    <a:gd name="connsiteY13" fmla="*/ 257398 h 265132"/>
                    <a:gd name="connsiteX14" fmla="*/ 150435 w 290453"/>
                    <a:gd name="connsiteY14" fmla="*/ 240909 h 265132"/>
                    <a:gd name="connsiteX15" fmla="*/ 64760 w 290453"/>
                    <a:gd name="connsiteY15" fmla="*/ 202803 h 265132"/>
                    <a:gd name="connsiteX16" fmla="*/ 30795 w 290453"/>
                    <a:gd name="connsiteY16" fmla="*/ 181591 h 265132"/>
                    <a:gd name="connsiteX17" fmla="*/ 29321 w 290453"/>
                    <a:gd name="connsiteY17" fmla="*/ 174821 h 265132"/>
                    <a:gd name="connsiteX18" fmla="*/ 89084 w 290453"/>
                    <a:gd name="connsiteY18" fmla="*/ 179114 h 265132"/>
                    <a:gd name="connsiteX19" fmla="*/ 104187 w 290453"/>
                    <a:gd name="connsiteY19" fmla="*/ 160315 h 265132"/>
                    <a:gd name="connsiteX20" fmla="*/ 38708 w 290453"/>
                    <a:gd name="connsiteY20" fmla="*/ 59067 h 265132"/>
                    <a:gd name="connsiteX21" fmla="*/ 30846 w 290453"/>
                    <a:gd name="connsiteY21" fmla="*/ 25585 h 265132"/>
                    <a:gd name="connsiteX22" fmla="*/ 96553 w 290453"/>
                    <a:gd name="connsiteY22" fmla="*/ 93287 h 265132"/>
                    <a:gd name="connsiteX23" fmla="*/ 107426 w 290453"/>
                    <a:gd name="connsiteY23" fmla="*/ 110345 h 265132"/>
                    <a:gd name="connsiteX24" fmla="*/ 127978 w 290453"/>
                    <a:gd name="connsiteY24" fmla="*/ 95535 h 265132"/>
                    <a:gd name="connsiteX25" fmla="*/ 118832 w 290453"/>
                    <a:gd name="connsiteY25" fmla="*/ 80915 h 265132"/>
                    <a:gd name="connsiteX26" fmla="*/ 122529 w 290453"/>
                    <a:gd name="connsiteY26" fmla="*/ 77460 h 265132"/>
                    <a:gd name="connsiteX27" fmla="*/ 143246 w 290453"/>
                    <a:gd name="connsiteY27" fmla="*/ 83684 h 265132"/>
                    <a:gd name="connsiteX28" fmla="*/ 166287 w 290453"/>
                    <a:gd name="connsiteY28" fmla="*/ 77104 h 265132"/>
                    <a:gd name="connsiteX29" fmla="*/ 173248 w 290453"/>
                    <a:gd name="connsiteY29" fmla="*/ 62865 h 265132"/>
                    <a:gd name="connsiteX30" fmla="*/ 188122 w 290453"/>
                    <a:gd name="connsiteY30" fmla="*/ 69216 h 265132"/>
                    <a:gd name="connsiteX31" fmla="*/ 206080 w 290453"/>
                    <a:gd name="connsiteY31" fmla="*/ 68786 h 265132"/>
                    <a:gd name="connsiteX32" fmla="*/ 209537 w 290453"/>
                    <a:gd name="connsiteY32" fmla="*/ 61151 h 265132"/>
                    <a:gd name="connsiteX33" fmla="*/ 220575 w 290453"/>
                    <a:gd name="connsiteY33" fmla="*/ 48969 h 265132"/>
                    <a:gd name="connsiteX34" fmla="*/ 261044 w 290453"/>
                    <a:gd name="connsiteY34" fmla="*/ 116328 h 265132"/>
                    <a:gd name="connsiteX35" fmla="*/ 260917 w 290453"/>
                    <a:gd name="connsiteY35" fmla="*/ 204899 h 265132"/>
                    <a:gd name="connsiteX36" fmla="*/ 271447 w 290453"/>
                    <a:gd name="connsiteY36" fmla="*/ 219456 h 265132"/>
                    <a:gd name="connsiteX37" fmla="*/ 286003 w 290453"/>
                    <a:gd name="connsiteY37" fmla="*/ 208926 h 265132"/>
                    <a:gd name="connsiteX38" fmla="*/ 285864 w 290453"/>
                    <a:gd name="connsiteY38" fmla="*/ 110968 h 265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90453" h="265132">
                      <a:moveTo>
                        <a:pt x="285864" y="110968"/>
                      </a:moveTo>
                      <a:cubicBezTo>
                        <a:pt x="275600" y="63500"/>
                        <a:pt x="241800" y="16401"/>
                        <a:pt x="213513" y="24582"/>
                      </a:cubicBezTo>
                      <a:cubicBezTo>
                        <a:pt x="203389" y="27503"/>
                        <a:pt x="195616" y="32851"/>
                        <a:pt x="190599" y="40230"/>
                      </a:cubicBezTo>
                      <a:cubicBezTo>
                        <a:pt x="181479" y="36001"/>
                        <a:pt x="172143" y="35594"/>
                        <a:pt x="163010" y="39621"/>
                      </a:cubicBezTo>
                      <a:cubicBezTo>
                        <a:pt x="156317" y="42498"/>
                        <a:pt x="150719" y="47438"/>
                        <a:pt x="147031" y="53720"/>
                      </a:cubicBezTo>
                      <a:cubicBezTo>
                        <a:pt x="136513" y="48398"/>
                        <a:pt x="124421" y="48512"/>
                        <a:pt x="111745" y="54457"/>
                      </a:cubicBezTo>
                      <a:cubicBezTo>
                        <a:pt x="109048" y="55702"/>
                        <a:pt x="106490" y="57226"/>
                        <a:pt x="104111" y="59004"/>
                      </a:cubicBezTo>
                      <a:cubicBezTo>
                        <a:pt x="73219" y="15347"/>
                        <a:pt x="47981" y="-4354"/>
                        <a:pt x="25231" y="803"/>
                      </a:cubicBezTo>
                      <a:cubicBezTo>
                        <a:pt x="-6981" y="8094"/>
                        <a:pt x="-6981" y="36191"/>
                        <a:pt x="17458" y="72989"/>
                      </a:cubicBezTo>
                      <a:lnTo>
                        <a:pt x="64379" y="145543"/>
                      </a:lnTo>
                      <a:cubicBezTo>
                        <a:pt x="38632" y="140703"/>
                        <a:pt x="20011" y="144857"/>
                        <a:pt x="8973" y="159604"/>
                      </a:cubicBezTo>
                      <a:cubicBezTo>
                        <a:pt x="-9077" y="183738"/>
                        <a:pt x="10027" y="206030"/>
                        <a:pt x="54382" y="225984"/>
                      </a:cubicBezTo>
                      <a:lnTo>
                        <a:pt x="140108" y="264116"/>
                      </a:lnTo>
                      <a:cubicBezTo>
                        <a:pt x="146564" y="266861"/>
                        <a:pt x="154023" y="263853"/>
                        <a:pt x="156768" y="257398"/>
                      </a:cubicBezTo>
                      <a:cubicBezTo>
                        <a:pt x="159449" y="251093"/>
                        <a:pt x="156647" y="243798"/>
                        <a:pt x="150435" y="240909"/>
                      </a:cubicBezTo>
                      <a:lnTo>
                        <a:pt x="64760" y="202803"/>
                      </a:lnTo>
                      <a:cubicBezTo>
                        <a:pt x="47472" y="195030"/>
                        <a:pt x="36053" y="187739"/>
                        <a:pt x="30795" y="181591"/>
                      </a:cubicBezTo>
                      <a:cubicBezTo>
                        <a:pt x="27746" y="178034"/>
                        <a:pt x="27657" y="177044"/>
                        <a:pt x="29321" y="174821"/>
                      </a:cubicBezTo>
                      <a:cubicBezTo>
                        <a:pt x="35596" y="166438"/>
                        <a:pt x="55094" y="166438"/>
                        <a:pt x="89084" y="179114"/>
                      </a:cubicBezTo>
                      <a:cubicBezTo>
                        <a:pt x="100541" y="183395"/>
                        <a:pt x="110830" y="170591"/>
                        <a:pt x="104187" y="160315"/>
                      </a:cubicBezTo>
                      <a:lnTo>
                        <a:pt x="38708" y="59067"/>
                      </a:lnTo>
                      <a:cubicBezTo>
                        <a:pt x="22437" y="34565"/>
                        <a:pt x="22437" y="27490"/>
                        <a:pt x="30846" y="25585"/>
                      </a:cubicBezTo>
                      <a:cubicBezTo>
                        <a:pt x="41985" y="23070"/>
                        <a:pt x="65420" y="45197"/>
                        <a:pt x="96553" y="93287"/>
                      </a:cubicBezTo>
                      <a:cubicBezTo>
                        <a:pt x="98890" y="98799"/>
                        <a:pt x="102536" y="104541"/>
                        <a:pt x="107426" y="110345"/>
                      </a:cubicBezTo>
                      <a:cubicBezTo>
                        <a:pt x="117537" y="122362"/>
                        <a:pt x="136171" y="108936"/>
                        <a:pt x="127978" y="95535"/>
                      </a:cubicBezTo>
                      <a:cubicBezTo>
                        <a:pt x="124981" y="90629"/>
                        <a:pt x="121933" y="85756"/>
                        <a:pt x="118832" y="80915"/>
                      </a:cubicBezTo>
                      <a:cubicBezTo>
                        <a:pt x="119048" y="79429"/>
                        <a:pt x="120369" y="78476"/>
                        <a:pt x="122529" y="77460"/>
                      </a:cubicBezTo>
                      <a:cubicBezTo>
                        <a:pt x="131445" y="73281"/>
                        <a:pt x="137009" y="74869"/>
                        <a:pt x="143246" y="83684"/>
                      </a:cubicBezTo>
                      <a:cubicBezTo>
                        <a:pt x="150181" y="93465"/>
                        <a:pt x="165563" y="89082"/>
                        <a:pt x="166287" y="77104"/>
                      </a:cubicBezTo>
                      <a:cubicBezTo>
                        <a:pt x="166795" y="68696"/>
                        <a:pt x="169119" y="64682"/>
                        <a:pt x="173248" y="62865"/>
                      </a:cubicBezTo>
                      <a:cubicBezTo>
                        <a:pt x="176804" y="61303"/>
                        <a:pt x="181224" y="62649"/>
                        <a:pt x="188122" y="69216"/>
                      </a:cubicBezTo>
                      <a:cubicBezTo>
                        <a:pt x="193200" y="74057"/>
                        <a:pt x="201240" y="73864"/>
                        <a:pt x="206080" y="68786"/>
                      </a:cubicBezTo>
                      <a:cubicBezTo>
                        <a:pt x="208063" y="66705"/>
                        <a:pt x="209282" y="64014"/>
                        <a:pt x="209537" y="61151"/>
                      </a:cubicBezTo>
                      <a:cubicBezTo>
                        <a:pt x="210122" y="54584"/>
                        <a:pt x="213119" y="51129"/>
                        <a:pt x="220575" y="48969"/>
                      </a:cubicBezTo>
                      <a:cubicBezTo>
                        <a:pt x="228400" y="46708"/>
                        <a:pt x="253575" y="81791"/>
                        <a:pt x="261044" y="116328"/>
                      </a:cubicBezTo>
                      <a:cubicBezTo>
                        <a:pt x="266417" y="141173"/>
                        <a:pt x="266417" y="170705"/>
                        <a:pt x="260917" y="204899"/>
                      </a:cubicBezTo>
                      <a:cubicBezTo>
                        <a:pt x="259805" y="211827"/>
                        <a:pt x="264519" y="218344"/>
                        <a:pt x="271447" y="219456"/>
                      </a:cubicBezTo>
                      <a:cubicBezTo>
                        <a:pt x="278374" y="220568"/>
                        <a:pt x="284891" y="215853"/>
                        <a:pt x="286003" y="208926"/>
                      </a:cubicBezTo>
                      <a:cubicBezTo>
                        <a:pt x="291961" y="171810"/>
                        <a:pt x="291961" y="139154"/>
                        <a:pt x="285864" y="110968"/>
                      </a:cubicBezTo>
                      <a:close/>
                    </a:path>
                  </a:pathLst>
                </a:custGeom>
                <a:grpFill/>
                <a:ln w="391" cap="flat">
                  <a:noFill/>
                  <a:prstDash val="solid"/>
                  <a:miter/>
                </a:ln>
              </p:spPr>
              <p:txBody>
                <a:bodyPr rtlCol="0" anchor="ctr"/>
                <a:lstStyle/>
                <a:p>
                  <a:endParaRPr lang="zh-CN" altLang="en-US">
                    <a:cs typeface="思源黑体 CN Normal" panose="020B0400000000000000" pitchFamily="34" charset="-122"/>
                  </a:endParaRPr>
                </a:p>
              </p:txBody>
            </p:sp>
            <p:sp>
              <p:nvSpPr>
                <p:cNvPr id="34" name="小红书平北职场PPT3-35"/>
                <p:cNvSpPr/>
                <p:nvPr/>
              </p:nvSpPr>
              <p:spPr>
                <a:xfrm>
                  <a:off x="5611392" y="5284297"/>
                  <a:ext cx="228636" cy="355656"/>
                </a:xfrm>
                <a:custGeom>
                  <a:avLst/>
                  <a:gdLst>
                    <a:gd name="connsiteX0" fmla="*/ 93995 w 228636"/>
                    <a:gd name="connsiteY0" fmla="*/ 330252 h 355656"/>
                    <a:gd name="connsiteX1" fmla="*/ 39795 w 228636"/>
                    <a:gd name="connsiteY1" fmla="*/ 330252 h 355656"/>
                    <a:gd name="connsiteX2" fmla="*/ 25404 w 228636"/>
                    <a:gd name="connsiteY2" fmla="*/ 315429 h 355656"/>
                    <a:gd name="connsiteX3" fmla="*/ 25404 w 228636"/>
                    <a:gd name="connsiteY3" fmla="*/ 40227 h 355656"/>
                    <a:gd name="connsiteX4" fmla="*/ 39795 w 228636"/>
                    <a:gd name="connsiteY4" fmla="*/ 25404 h 355656"/>
                    <a:gd name="connsiteX5" fmla="*/ 188828 w 228636"/>
                    <a:gd name="connsiteY5" fmla="*/ 25404 h 355656"/>
                    <a:gd name="connsiteX6" fmla="*/ 203232 w 228636"/>
                    <a:gd name="connsiteY6" fmla="*/ 40227 h 355656"/>
                    <a:gd name="connsiteX7" fmla="*/ 215934 w 228636"/>
                    <a:gd name="connsiteY7" fmla="*/ 52929 h 355656"/>
                    <a:gd name="connsiteX8" fmla="*/ 228636 w 228636"/>
                    <a:gd name="connsiteY8" fmla="*/ 40227 h 355656"/>
                    <a:gd name="connsiteX9" fmla="*/ 188841 w 228636"/>
                    <a:gd name="connsiteY9" fmla="*/ 0 h 355656"/>
                    <a:gd name="connsiteX10" fmla="*/ 39795 w 228636"/>
                    <a:gd name="connsiteY10" fmla="*/ 0 h 355656"/>
                    <a:gd name="connsiteX11" fmla="*/ 0 w 228636"/>
                    <a:gd name="connsiteY11" fmla="*/ 40227 h 355656"/>
                    <a:gd name="connsiteX12" fmla="*/ 0 w 228636"/>
                    <a:gd name="connsiteY12" fmla="*/ 315441 h 355656"/>
                    <a:gd name="connsiteX13" fmla="*/ 39795 w 228636"/>
                    <a:gd name="connsiteY13" fmla="*/ 355656 h 355656"/>
                    <a:gd name="connsiteX14" fmla="*/ 93995 w 228636"/>
                    <a:gd name="connsiteY14" fmla="*/ 355656 h 355656"/>
                    <a:gd name="connsiteX15" fmla="*/ 106697 w 228636"/>
                    <a:gd name="connsiteY15" fmla="*/ 342954 h 355656"/>
                    <a:gd name="connsiteX16" fmla="*/ 93995 w 228636"/>
                    <a:gd name="connsiteY16" fmla="*/ 330252 h 35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8636" h="355656">
                      <a:moveTo>
                        <a:pt x="93995" y="330252"/>
                      </a:moveTo>
                      <a:lnTo>
                        <a:pt x="39795" y="330252"/>
                      </a:lnTo>
                      <a:cubicBezTo>
                        <a:pt x="31895" y="330252"/>
                        <a:pt x="25404" y="323660"/>
                        <a:pt x="25404" y="315429"/>
                      </a:cubicBezTo>
                      <a:lnTo>
                        <a:pt x="25404" y="40227"/>
                      </a:lnTo>
                      <a:cubicBezTo>
                        <a:pt x="25404" y="31996"/>
                        <a:pt x="31895" y="25404"/>
                        <a:pt x="39795" y="25404"/>
                      </a:cubicBezTo>
                      <a:lnTo>
                        <a:pt x="188828" y="25404"/>
                      </a:lnTo>
                      <a:cubicBezTo>
                        <a:pt x="196741" y="25404"/>
                        <a:pt x="203232" y="31996"/>
                        <a:pt x="203232" y="40227"/>
                      </a:cubicBezTo>
                      <a:cubicBezTo>
                        <a:pt x="203232" y="47242"/>
                        <a:pt x="208919" y="52929"/>
                        <a:pt x="215934" y="52929"/>
                      </a:cubicBezTo>
                      <a:cubicBezTo>
                        <a:pt x="222949" y="52929"/>
                        <a:pt x="228636" y="47242"/>
                        <a:pt x="228636" y="40227"/>
                      </a:cubicBezTo>
                      <a:cubicBezTo>
                        <a:pt x="228636" y="18050"/>
                        <a:pt x="210866" y="0"/>
                        <a:pt x="188841" y="0"/>
                      </a:cubicBezTo>
                      <a:lnTo>
                        <a:pt x="39795" y="0"/>
                      </a:lnTo>
                      <a:cubicBezTo>
                        <a:pt x="17770" y="0"/>
                        <a:pt x="0" y="18050"/>
                        <a:pt x="0" y="40227"/>
                      </a:cubicBezTo>
                      <a:lnTo>
                        <a:pt x="0" y="315441"/>
                      </a:lnTo>
                      <a:cubicBezTo>
                        <a:pt x="0" y="337606"/>
                        <a:pt x="17770" y="355656"/>
                        <a:pt x="39795" y="355656"/>
                      </a:cubicBezTo>
                      <a:lnTo>
                        <a:pt x="93995" y="355656"/>
                      </a:lnTo>
                      <a:cubicBezTo>
                        <a:pt x="101010" y="355656"/>
                        <a:pt x="106697" y="349969"/>
                        <a:pt x="106697" y="342954"/>
                      </a:cubicBezTo>
                      <a:cubicBezTo>
                        <a:pt x="106697" y="335939"/>
                        <a:pt x="101010" y="330252"/>
                        <a:pt x="93995" y="330252"/>
                      </a:cubicBezTo>
                      <a:close/>
                    </a:path>
                  </a:pathLst>
                </a:custGeom>
                <a:grpFill/>
                <a:ln w="391" cap="flat">
                  <a:noFill/>
                  <a:prstDash val="solid"/>
                  <a:miter/>
                </a:ln>
              </p:spPr>
              <p:txBody>
                <a:bodyPr rtlCol="0" anchor="ctr"/>
                <a:lstStyle/>
                <a:p>
                  <a:endParaRPr lang="zh-CN" altLang="en-US">
                    <a:cs typeface="思源黑体 CN Normal" panose="020B0400000000000000" pitchFamily="34" charset="-122"/>
                  </a:endParaRPr>
                </a:p>
              </p:txBody>
            </p:sp>
          </p:grpSp>
        </p:grpSp>
      </p:gr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104"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小红书平北职场PPT1-2"/>
            <p:cNvSpPr txBox="1"/>
            <p:nvPr>
              <p:custDataLst>
                <p:tags r:id="rId2"/>
              </p:custDataLst>
            </p:nvPr>
          </p:nvSpPr>
          <p:spPr>
            <a:xfrm>
              <a:off x="334963" y="184318"/>
              <a:ext cx="5668218"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2025</a:t>
              </a:r>
              <a:r>
                <a:rPr lang="zh-CN" altLang="en-US" sz="2800" dirty="0">
                  <a:latin typeface="+mj-ea"/>
                  <a:ea typeface="+mj-ea"/>
                  <a:cs typeface="思源黑体 CN Normal" panose="020B0400000000000000" pitchFamily="34" charset="-122"/>
                  <a:sym typeface="+mj-ea"/>
                </a:rPr>
                <a:t>年度</a:t>
              </a:r>
              <a:r>
                <a:rPr lang="en-US" altLang="zh-CN" sz="2800" dirty="0">
                  <a:latin typeface="+mj-ea"/>
                  <a:ea typeface="+mj-ea"/>
                  <a:cs typeface="思源黑体 CN Normal" panose="020B0400000000000000" pitchFamily="34" charset="-122"/>
                  <a:sym typeface="+mj-ea"/>
                </a:rPr>
                <a:t>"</a:t>
              </a:r>
              <a:r>
                <a:rPr lang="zh-CN" altLang="en-US" sz="2800" dirty="0">
                  <a:latin typeface="+mj-ea"/>
                  <a:ea typeface="+mj-ea"/>
                  <a:cs typeface="思源黑体 CN Normal" panose="020B0400000000000000" pitchFamily="34" charset="-122"/>
                  <a:sym typeface="+mj-ea"/>
                </a:rPr>
                <a:t>智慧零售平台</a:t>
              </a:r>
              <a:r>
                <a:rPr lang="en-US" altLang="zh-CN" sz="2800" dirty="0">
                  <a:latin typeface="+mj-ea"/>
                  <a:ea typeface="+mj-ea"/>
                  <a:cs typeface="思源黑体 CN Normal" panose="020B0400000000000000" pitchFamily="34" charset="-122"/>
                  <a:sym typeface="+mj-ea"/>
                </a:rPr>
                <a:t>"</a:t>
              </a:r>
              <a:r>
                <a:rPr lang="zh-CN" altLang="en-US" sz="2800" dirty="0">
                  <a:latin typeface="+mj-ea"/>
                  <a:ea typeface="+mj-ea"/>
                  <a:cs typeface="思源黑体 CN Normal" panose="020B0400000000000000" pitchFamily="34" charset="-122"/>
                  <a:sym typeface="+mj-ea"/>
                </a:rPr>
                <a:t>攻坚报告</a:t>
              </a:r>
              <a:endParaRPr lang="zh-CN" altLang="en-US" sz="2800" dirty="0">
                <a:latin typeface="+mj-ea"/>
                <a:ea typeface="+mj-ea"/>
                <a:cs typeface="思源黑体 CN Normal" panose="020B0400000000000000" pitchFamily="34" charset="-122"/>
                <a:sym typeface="+mj-ea"/>
              </a:endParaRPr>
            </a:p>
          </p:txBody>
        </p:sp>
      </p:grpSp>
      <p:grpSp>
        <p:nvGrpSpPr>
          <p:cNvPr id="4" name="组合 3"/>
          <p:cNvGrpSpPr/>
          <p:nvPr/>
        </p:nvGrpSpPr>
        <p:grpSpPr>
          <a:xfrm>
            <a:off x="345328" y="961800"/>
            <a:ext cx="11508501" cy="5562825"/>
            <a:chOff x="345328" y="961800"/>
            <a:chExt cx="11508501" cy="5562825"/>
          </a:xfrm>
        </p:grpSpPr>
        <p:grpSp>
          <p:nvGrpSpPr>
            <p:cNvPr id="24" name="小红书平北职场PPT2"/>
            <p:cNvGrpSpPr/>
            <p:nvPr/>
          </p:nvGrpSpPr>
          <p:grpSpPr>
            <a:xfrm>
              <a:off x="345328" y="961800"/>
              <a:ext cx="11383888" cy="361043"/>
              <a:chOff x="345328" y="993801"/>
              <a:chExt cx="11383888" cy="361043"/>
            </a:xfrm>
          </p:grpSpPr>
          <p:sp>
            <p:nvSpPr>
              <p:cNvPr id="100" name="小红书平北职场PPT2-1"/>
              <p:cNvSpPr/>
              <p:nvPr/>
            </p:nvSpPr>
            <p:spPr>
              <a:xfrm>
                <a:off x="423333" y="1261533"/>
                <a:ext cx="3843867" cy="84667"/>
              </a:xfrm>
              <a:custGeom>
                <a:avLst/>
                <a:gdLst>
                  <a:gd name="connsiteX0" fmla="*/ 0 w 3843867"/>
                  <a:gd name="connsiteY0" fmla="*/ 84667 h 84667"/>
                  <a:gd name="connsiteX1" fmla="*/ 3843867 w 3843867"/>
                  <a:gd name="connsiteY1" fmla="*/ 84667 h 84667"/>
                  <a:gd name="connsiteX2" fmla="*/ 3674534 w 3843867"/>
                  <a:gd name="connsiteY2" fmla="*/ 0 h 84667"/>
                </a:gdLst>
                <a:ahLst/>
                <a:cxnLst>
                  <a:cxn ang="0">
                    <a:pos x="connsiteX0" y="connsiteY0"/>
                  </a:cxn>
                  <a:cxn ang="0">
                    <a:pos x="connsiteX1" y="connsiteY1"/>
                  </a:cxn>
                  <a:cxn ang="0">
                    <a:pos x="connsiteX2" y="connsiteY2"/>
                  </a:cxn>
                </a:cxnLst>
                <a:rect l="l" t="t" r="r" b="b"/>
                <a:pathLst>
                  <a:path w="3843867" h="84667">
                    <a:moveTo>
                      <a:pt x="0" y="84667"/>
                    </a:moveTo>
                    <a:lnTo>
                      <a:pt x="3843867" y="84667"/>
                    </a:lnTo>
                    <a:lnTo>
                      <a:pt x="3674534" y="0"/>
                    </a:ln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01" name="小红书平北职场PPT2-2"/>
              <p:cNvSpPr/>
              <p:nvPr/>
            </p:nvSpPr>
            <p:spPr>
              <a:xfrm>
                <a:off x="4567214" y="1259095"/>
                <a:ext cx="7162002" cy="95749"/>
              </a:xfrm>
              <a:custGeom>
                <a:avLst/>
                <a:gdLst>
                  <a:gd name="connsiteX0" fmla="*/ 0 w 7296051"/>
                  <a:gd name="connsiteY0" fmla="*/ 90962 h 90962"/>
                  <a:gd name="connsiteX1" fmla="*/ 7296051 w 7296051"/>
                  <a:gd name="connsiteY1" fmla="*/ 90962 h 90962"/>
                  <a:gd name="connsiteX2" fmla="*/ 7162002 w 7296051"/>
                  <a:gd name="connsiteY2" fmla="*/ 0 h 90962"/>
                  <a:gd name="connsiteX0-1" fmla="*/ 0 w 7162002"/>
                  <a:gd name="connsiteY0-2" fmla="*/ 95749 h 95749"/>
                  <a:gd name="connsiteX1-3" fmla="*/ 7162002 w 7162002"/>
                  <a:gd name="connsiteY1-4" fmla="*/ 90962 h 95749"/>
                  <a:gd name="connsiteX2-5" fmla="*/ 7027953 w 7162002"/>
                  <a:gd name="connsiteY2-6" fmla="*/ 0 h 95749"/>
                </a:gdLst>
                <a:ahLst/>
                <a:cxnLst>
                  <a:cxn ang="0">
                    <a:pos x="connsiteX0-1" y="connsiteY0-2"/>
                  </a:cxn>
                  <a:cxn ang="0">
                    <a:pos x="connsiteX1-3" y="connsiteY1-4"/>
                  </a:cxn>
                  <a:cxn ang="0">
                    <a:pos x="connsiteX2-5" y="connsiteY2-6"/>
                  </a:cxn>
                </a:cxnLst>
                <a:rect l="l" t="t" r="r" b="b"/>
                <a:pathLst>
                  <a:path w="7162002" h="95749">
                    <a:moveTo>
                      <a:pt x="0" y="95749"/>
                    </a:moveTo>
                    <a:lnTo>
                      <a:pt x="7162002" y="90962"/>
                    </a:lnTo>
                    <a:lnTo>
                      <a:pt x="7027953" y="0"/>
                    </a:ln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02" name="小红书平北职场PPT2-3"/>
              <p:cNvSpPr txBox="1"/>
              <p:nvPr/>
            </p:nvSpPr>
            <p:spPr>
              <a:xfrm>
                <a:off x="345328" y="993801"/>
                <a:ext cx="2396810" cy="338554"/>
              </a:xfrm>
              <a:prstGeom prst="rect">
                <a:avLst/>
              </a:prstGeom>
              <a:noFill/>
            </p:spPr>
            <p:txBody>
              <a:bodyPr wrap="square">
                <a:spAutoFit/>
              </a:bodyPr>
              <a:lstStyle/>
              <a:p>
                <a:r>
                  <a:rPr lang="zh-CN" altLang="en-US" sz="1600" dirty="0">
                    <a:solidFill>
                      <a:schemeClr val="accent5"/>
                    </a:solidFill>
                    <a:latin typeface="+mj-ea"/>
                    <a:ea typeface="+mj-ea"/>
                    <a:cs typeface="思源黑体 CN Normal" panose="020B0400000000000000" pitchFamily="34" charset="-122"/>
                  </a:rPr>
                  <a:t>适应环境了解业务阶段</a:t>
                </a:r>
                <a:endParaRPr lang="zh-CN" altLang="en-US" sz="1600" dirty="0">
                  <a:solidFill>
                    <a:schemeClr val="accent5"/>
                  </a:solidFill>
                  <a:latin typeface="+mj-ea"/>
                  <a:ea typeface="+mj-ea"/>
                  <a:cs typeface="思源黑体 CN Normal" panose="020B0400000000000000" pitchFamily="34" charset="-122"/>
                </a:endParaRPr>
              </a:p>
            </p:txBody>
          </p:sp>
          <p:sp>
            <p:nvSpPr>
              <p:cNvPr id="103" name="小红书平北职场PPT2-4"/>
              <p:cNvSpPr txBox="1"/>
              <p:nvPr/>
            </p:nvSpPr>
            <p:spPr>
              <a:xfrm>
                <a:off x="4488828" y="993801"/>
                <a:ext cx="1511952" cy="338554"/>
              </a:xfrm>
              <a:prstGeom prst="rect">
                <a:avLst/>
              </a:prstGeom>
              <a:noFill/>
            </p:spPr>
            <p:txBody>
              <a:bodyPr wrap="square">
                <a:spAutoFit/>
              </a:bodyPr>
              <a:lstStyle/>
              <a:p>
                <a:r>
                  <a:rPr lang="zh-CN" altLang="en-US" sz="1600" dirty="0">
                    <a:solidFill>
                      <a:schemeClr val="accent2"/>
                    </a:solidFill>
                    <a:latin typeface="+mj-ea"/>
                    <a:ea typeface="+mj-ea"/>
                    <a:cs typeface="思源黑体 CN Normal" panose="020B0400000000000000" pitchFamily="34" charset="-122"/>
                  </a:rPr>
                  <a:t>步入正轨阶段</a:t>
                </a:r>
                <a:endParaRPr lang="zh-CN" altLang="en-US" sz="1600" dirty="0">
                  <a:solidFill>
                    <a:schemeClr val="accent2"/>
                  </a:solidFill>
                  <a:latin typeface="+mj-ea"/>
                  <a:ea typeface="+mj-ea"/>
                  <a:cs typeface="思源黑体 CN Normal" panose="020B0400000000000000" pitchFamily="34" charset="-122"/>
                </a:endParaRPr>
              </a:p>
            </p:txBody>
          </p:sp>
        </p:grpSp>
        <p:grpSp>
          <p:nvGrpSpPr>
            <p:cNvPr id="25" name="小红书平北职场PPT3"/>
            <p:cNvGrpSpPr/>
            <p:nvPr/>
          </p:nvGrpSpPr>
          <p:grpSpPr>
            <a:xfrm>
              <a:off x="408096" y="1560903"/>
              <a:ext cx="11445733" cy="1745863"/>
              <a:chOff x="408096" y="1615988"/>
              <a:chExt cx="11445733" cy="1745863"/>
            </a:xfrm>
          </p:grpSpPr>
          <p:sp>
            <p:nvSpPr>
              <p:cNvPr id="82" name="小红书平北职场PPT3-1"/>
              <p:cNvSpPr/>
              <p:nvPr/>
            </p:nvSpPr>
            <p:spPr>
              <a:xfrm rot="10800000">
                <a:off x="408096" y="1824979"/>
                <a:ext cx="2607349" cy="1536872"/>
              </a:xfrm>
              <a:custGeom>
                <a:avLst/>
                <a:gdLst>
                  <a:gd name="connsiteX0" fmla="*/ 1797769 w 1797769"/>
                  <a:gd name="connsiteY0" fmla="*/ 1982579 h 1982579"/>
                  <a:gd name="connsiteX1" fmla="*/ 0 w 1797769"/>
                  <a:gd name="connsiteY1" fmla="*/ 1982579 h 1982579"/>
                  <a:gd name="connsiteX2" fmla="*/ 0 w 1797769"/>
                  <a:gd name="connsiteY2" fmla="*/ 206517 h 1982579"/>
                  <a:gd name="connsiteX3" fmla="*/ 678259 w 1797769"/>
                  <a:gd name="connsiteY3" fmla="*/ 206517 h 1982579"/>
                  <a:gd name="connsiteX4" fmla="*/ 957665 w 1797769"/>
                  <a:gd name="connsiteY4" fmla="*/ 0 h 1982579"/>
                  <a:gd name="connsiteX5" fmla="*/ 1237071 w 1797769"/>
                  <a:gd name="connsiteY5" fmla="*/ 206517 h 1982579"/>
                  <a:gd name="connsiteX6" fmla="*/ 1797769 w 1797769"/>
                  <a:gd name="connsiteY6" fmla="*/ 206517 h 198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7769" h="1982579">
                    <a:moveTo>
                      <a:pt x="1797769" y="1982579"/>
                    </a:moveTo>
                    <a:lnTo>
                      <a:pt x="0" y="1982579"/>
                    </a:lnTo>
                    <a:lnTo>
                      <a:pt x="0" y="206517"/>
                    </a:lnTo>
                    <a:lnTo>
                      <a:pt x="678259" y="206517"/>
                    </a:lnTo>
                    <a:lnTo>
                      <a:pt x="957665" y="0"/>
                    </a:lnTo>
                    <a:lnTo>
                      <a:pt x="1237071" y="206517"/>
                    </a:lnTo>
                    <a:lnTo>
                      <a:pt x="1797769" y="206517"/>
                    </a:lnTo>
                    <a:close/>
                  </a:path>
                </a:pathLst>
              </a:custGeom>
              <a:solidFill>
                <a:schemeClr val="bg1">
                  <a:alpha val="20000"/>
                </a:schemeClr>
              </a:solidFill>
              <a:ln w="12700" cap="flat" cmpd="sng" algn="ctr">
                <a:solidFill>
                  <a:schemeClr val="accent1"/>
                </a:solid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dirty="0">
                  <a:cs typeface="思源黑体 CN Normal" panose="020B0400000000000000" pitchFamily="34" charset="-122"/>
                </a:endParaRPr>
              </a:p>
            </p:txBody>
          </p:sp>
          <p:sp>
            <p:nvSpPr>
              <p:cNvPr id="83" name="小红书平北职场PPT3-2"/>
              <p:cNvSpPr txBox="1"/>
              <p:nvPr/>
            </p:nvSpPr>
            <p:spPr>
              <a:xfrm>
                <a:off x="589903" y="2325322"/>
                <a:ext cx="2223162" cy="704873"/>
              </a:xfrm>
              <a:prstGeom prst="rect">
                <a:avLst/>
              </a:prstGeom>
              <a:noFill/>
            </p:spPr>
            <p:txBody>
              <a:bodyPr wrap="square" lIns="0" tIns="0" rIns="0" bIns="0" rtlCol="0">
                <a:spAutoFit/>
              </a:bodyPr>
              <a:lstStyle/>
              <a:p>
                <a:pPr algn="ctr">
                  <a:lnSpc>
                    <a:spcPct val="130000"/>
                  </a:lnSpc>
                </a:pPr>
                <a:r>
                  <a:rPr lang="zh-CN" altLang="en-US" sz="1200" dirty="0">
                    <a:latin typeface="+mn-ea"/>
                    <a:cs typeface="思源黑体 CN Normal" panose="020B0400000000000000" pitchFamily="34" charset="-122"/>
                  </a:rPr>
                  <a:t>完成行业趋势分析，提升团队能力，开发</a:t>
                </a:r>
                <a:r>
                  <a:rPr lang="en-US" altLang="zh-CN" sz="1200" dirty="0">
                    <a:latin typeface="+mn-ea"/>
                    <a:cs typeface="思源黑体 CN Normal" panose="020B0400000000000000" pitchFamily="34" charset="-122"/>
                  </a:rPr>
                  <a:t>MVP</a:t>
                </a:r>
                <a:r>
                  <a:rPr lang="zh-CN" altLang="en-US" sz="1200" dirty="0">
                    <a:latin typeface="+mn-ea"/>
                    <a:cs typeface="思源黑体 CN Normal" panose="020B0400000000000000" pitchFamily="34" charset="-122"/>
                  </a:rPr>
                  <a:t>版本并招募种子用户，为全年发展奠定基础</a:t>
                </a:r>
                <a:endParaRPr lang="zh-CN" altLang="en-US" sz="1200" dirty="0">
                  <a:latin typeface="+mn-ea"/>
                  <a:cs typeface="思源黑体 CN Normal" panose="020B0400000000000000" pitchFamily="34" charset="-122"/>
                </a:endParaRPr>
              </a:p>
            </p:txBody>
          </p:sp>
          <p:grpSp>
            <p:nvGrpSpPr>
              <p:cNvPr id="84" name="猫爪PPT-48"/>
              <p:cNvGrpSpPr/>
              <p:nvPr/>
            </p:nvGrpSpPr>
            <p:grpSpPr>
              <a:xfrm>
                <a:off x="678040" y="1615988"/>
                <a:ext cx="2067466" cy="445343"/>
                <a:chOff x="1109156" y="1155811"/>
                <a:chExt cx="2367082" cy="445343"/>
              </a:xfrm>
            </p:grpSpPr>
            <p:sp>
              <p:nvSpPr>
                <p:cNvPr id="98" name="小红书平北职场PPT3-3"/>
                <p:cNvSpPr/>
                <p:nvPr/>
              </p:nvSpPr>
              <p:spPr>
                <a:xfrm>
                  <a:off x="1109156" y="1155811"/>
                  <a:ext cx="2367082" cy="445343"/>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99" name="小红书平北职场PPT3-4"/>
                <p:cNvSpPr txBox="1"/>
                <p:nvPr/>
              </p:nvSpPr>
              <p:spPr>
                <a:xfrm>
                  <a:off x="1474278" y="1255372"/>
                  <a:ext cx="1780250" cy="246221"/>
                </a:xfrm>
                <a:prstGeom prst="rect">
                  <a:avLst/>
                </a:prstGeom>
                <a:noFill/>
              </p:spPr>
              <p:txBody>
                <a:bodyPr wrap="none" lIns="0" tIns="0" rIns="0" bIns="0" rtlCol="0">
                  <a:spAutoFit/>
                </a:bodyPr>
                <a:lstStyle/>
                <a:p>
                  <a:pPr algn="ctr"/>
                  <a:r>
                    <a:rPr lang="zh-CN" altLang="en-US" sz="1600" dirty="0">
                      <a:solidFill>
                        <a:schemeClr val="bg1"/>
                      </a:solidFill>
                      <a:latin typeface="+mj-ea"/>
                      <a:ea typeface="+mj-ea"/>
                      <a:cs typeface="思源黑体 CN Normal" panose="020B0400000000000000" pitchFamily="34" charset="-122"/>
                    </a:rPr>
                    <a:t>准备期（</a:t>
                  </a:r>
                  <a:r>
                    <a:rPr lang="en-US" altLang="zh-CN" sz="1600" dirty="0">
                      <a:solidFill>
                        <a:schemeClr val="bg1"/>
                      </a:solidFill>
                      <a:latin typeface="+mj-ea"/>
                      <a:ea typeface="+mj-ea"/>
                      <a:cs typeface="思源黑体 CN Normal" panose="020B0400000000000000" pitchFamily="34" charset="-122"/>
                    </a:rPr>
                    <a:t>1-2</a:t>
                  </a:r>
                  <a:r>
                    <a:rPr lang="zh-CN" altLang="en-US" sz="1600" dirty="0">
                      <a:solidFill>
                        <a:schemeClr val="bg1"/>
                      </a:solidFill>
                      <a:latin typeface="+mj-ea"/>
                      <a:ea typeface="+mj-ea"/>
                      <a:cs typeface="思源黑体 CN Normal" panose="020B0400000000000000" pitchFamily="34" charset="-122"/>
                    </a:rPr>
                    <a:t>月）</a:t>
                  </a:r>
                  <a:endParaRPr lang="zh-CN" altLang="en-US" sz="1600" dirty="0">
                    <a:solidFill>
                      <a:schemeClr val="bg1"/>
                    </a:solidFill>
                    <a:latin typeface="+mj-ea"/>
                    <a:ea typeface="+mj-ea"/>
                    <a:cs typeface="思源黑体 CN Normal" panose="020B0400000000000000" pitchFamily="34" charset="-122"/>
                  </a:endParaRPr>
                </a:p>
              </p:txBody>
            </p:sp>
          </p:grpSp>
          <p:sp>
            <p:nvSpPr>
              <p:cNvPr id="85" name="小红书平北职场PPT3-5"/>
              <p:cNvSpPr/>
              <p:nvPr/>
            </p:nvSpPr>
            <p:spPr>
              <a:xfrm rot="10800000">
                <a:off x="3237712" y="1824979"/>
                <a:ext cx="2607349" cy="1536872"/>
              </a:xfrm>
              <a:custGeom>
                <a:avLst/>
                <a:gdLst>
                  <a:gd name="connsiteX0" fmla="*/ 1797769 w 1797769"/>
                  <a:gd name="connsiteY0" fmla="*/ 1982579 h 1982579"/>
                  <a:gd name="connsiteX1" fmla="*/ 0 w 1797769"/>
                  <a:gd name="connsiteY1" fmla="*/ 1982579 h 1982579"/>
                  <a:gd name="connsiteX2" fmla="*/ 0 w 1797769"/>
                  <a:gd name="connsiteY2" fmla="*/ 206517 h 1982579"/>
                  <a:gd name="connsiteX3" fmla="*/ 678259 w 1797769"/>
                  <a:gd name="connsiteY3" fmla="*/ 206517 h 1982579"/>
                  <a:gd name="connsiteX4" fmla="*/ 957665 w 1797769"/>
                  <a:gd name="connsiteY4" fmla="*/ 0 h 1982579"/>
                  <a:gd name="connsiteX5" fmla="*/ 1237071 w 1797769"/>
                  <a:gd name="connsiteY5" fmla="*/ 206517 h 1982579"/>
                  <a:gd name="connsiteX6" fmla="*/ 1797769 w 1797769"/>
                  <a:gd name="connsiteY6" fmla="*/ 206517 h 198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7769" h="1982579">
                    <a:moveTo>
                      <a:pt x="1797769" y="1982579"/>
                    </a:moveTo>
                    <a:lnTo>
                      <a:pt x="0" y="1982579"/>
                    </a:lnTo>
                    <a:lnTo>
                      <a:pt x="0" y="206517"/>
                    </a:lnTo>
                    <a:lnTo>
                      <a:pt x="678259" y="206517"/>
                    </a:lnTo>
                    <a:lnTo>
                      <a:pt x="957665" y="0"/>
                    </a:lnTo>
                    <a:lnTo>
                      <a:pt x="1237071" y="206517"/>
                    </a:lnTo>
                    <a:lnTo>
                      <a:pt x="1797769" y="206517"/>
                    </a:lnTo>
                    <a:close/>
                  </a:path>
                </a:pathLst>
              </a:custGeom>
              <a:solidFill>
                <a:schemeClr val="bg1">
                  <a:alpha val="20000"/>
                </a:schemeClr>
              </a:solidFill>
              <a:ln w="12700" cap="flat" cmpd="sng" algn="ctr">
                <a:solidFill>
                  <a:schemeClr val="accent1"/>
                </a:solid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dirty="0">
                  <a:cs typeface="思源黑体 CN Normal" panose="020B0400000000000000" pitchFamily="34" charset="-122"/>
                </a:endParaRPr>
              </a:p>
            </p:txBody>
          </p:sp>
          <p:sp>
            <p:nvSpPr>
              <p:cNvPr id="86" name="小红书平北职场PPT3-6"/>
              <p:cNvSpPr txBox="1"/>
              <p:nvPr/>
            </p:nvSpPr>
            <p:spPr>
              <a:xfrm>
                <a:off x="3507654" y="2248203"/>
                <a:ext cx="2223162" cy="704873"/>
              </a:xfrm>
              <a:prstGeom prst="rect">
                <a:avLst/>
              </a:prstGeom>
              <a:noFill/>
            </p:spPr>
            <p:txBody>
              <a:bodyPr wrap="square" lIns="0" tIns="0" rIns="0" bIns="0" rtlCol="0">
                <a:spAutoFit/>
              </a:bodyPr>
              <a:lstStyle/>
              <a:p>
                <a:pPr algn="ctr">
                  <a:lnSpc>
                    <a:spcPct val="130000"/>
                  </a:lnSpc>
                </a:pPr>
                <a:r>
                  <a:rPr lang="zh-CN" altLang="en-US" sz="1200" dirty="0">
                    <a:latin typeface="+mn-ea"/>
                    <a:cs typeface="思源黑体 CN Normal" panose="020B0400000000000000" pitchFamily="34" charset="-122"/>
                  </a:rPr>
                  <a:t>核心功能上线，用户留存率提升，推广活动带来新增用户，流程优化提升审批效率，实现业务突破</a:t>
                </a:r>
                <a:endParaRPr lang="zh-CN" altLang="en-US" sz="1200" dirty="0">
                  <a:latin typeface="+mn-ea"/>
                  <a:cs typeface="思源黑体 CN Normal" panose="020B0400000000000000" pitchFamily="34" charset="-122"/>
                </a:endParaRPr>
              </a:p>
            </p:txBody>
          </p:sp>
          <p:sp>
            <p:nvSpPr>
              <p:cNvPr id="87" name="小红书平北职场PPT3-7"/>
              <p:cNvSpPr/>
              <p:nvPr/>
            </p:nvSpPr>
            <p:spPr>
              <a:xfrm>
                <a:off x="3507655" y="1615988"/>
                <a:ext cx="2067466" cy="445343"/>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88" name="小红书平北职场PPT3-8"/>
              <p:cNvSpPr txBox="1"/>
              <p:nvPr/>
            </p:nvSpPr>
            <p:spPr>
              <a:xfrm>
                <a:off x="3771350" y="1715549"/>
                <a:ext cx="1590179" cy="246221"/>
              </a:xfrm>
              <a:prstGeom prst="rect">
                <a:avLst/>
              </a:prstGeom>
              <a:noFill/>
            </p:spPr>
            <p:txBody>
              <a:bodyPr wrap="none" lIns="0" tIns="0" rIns="0" bIns="0" rtlCol="0">
                <a:spAutoFit/>
              </a:bodyPr>
              <a:lstStyle/>
              <a:p>
                <a:pPr algn="ctr"/>
                <a:r>
                  <a:rPr lang="zh-CN" altLang="en-US" sz="1600" dirty="0">
                    <a:solidFill>
                      <a:schemeClr val="bg1"/>
                    </a:solidFill>
                    <a:latin typeface="+mj-ea"/>
                    <a:ea typeface="+mj-ea"/>
                    <a:cs typeface="思源黑体 CN Normal" panose="020B0400000000000000" pitchFamily="34" charset="-122"/>
                  </a:rPr>
                  <a:t>推进期（</a:t>
                </a:r>
                <a:r>
                  <a:rPr lang="en-US" altLang="zh-CN" sz="1600" dirty="0">
                    <a:solidFill>
                      <a:schemeClr val="bg1"/>
                    </a:solidFill>
                    <a:latin typeface="+mj-ea"/>
                    <a:ea typeface="+mj-ea"/>
                    <a:cs typeface="思源黑体 CN Normal" panose="020B0400000000000000" pitchFamily="34" charset="-122"/>
                  </a:rPr>
                  <a:t>3-4</a:t>
                </a:r>
                <a:r>
                  <a:rPr lang="zh-CN" altLang="en-US" sz="1600" dirty="0">
                    <a:solidFill>
                      <a:schemeClr val="bg1"/>
                    </a:solidFill>
                    <a:latin typeface="+mj-ea"/>
                    <a:ea typeface="+mj-ea"/>
                    <a:cs typeface="思源黑体 CN Normal" panose="020B0400000000000000" pitchFamily="34" charset="-122"/>
                  </a:rPr>
                  <a:t>月）</a:t>
                </a:r>
                <a:endParaRPr lang="zh-CN" altLang="en-US" sz="1600" dirty="0">
                  <a:solidFill>
                    <a:schemeClr val="bg1"/>
                  </a:solidFill>
                  <a:latin typeface="+mj-ea"/>
                  <a:ea typeface="+mj-ea"/>
                  <a:cs typeface="思源黑体 CN Normal" panose="020B0400000000000000" pitchFamily="34" charset="-122"/>
                </a:endParaRPr>
              </a:p>
            </p:txBody>
          </p:sp>
          <p:sp>
            <p:nvSpPr>
              <p:cNvPr id="89" name="小红书平北职场PPT3-9"/>
              <p:cNvSpPr/>
              <p:nvPr/>
            </p:nvSpPr>
            <p:spPr>
              <a:xfrm rot="10800000">
                <a:off x="6053168" y="1824979"/>
                <a:ext cx="2985205" cy="1536872"/>
              </a:xfrm>
              <a:custGeom>
                <a:avLst/>
                <a:gdLst>
                  <a:gd name="connsiteX0" fmla="*/ 1797769 w 1797769"/>
                  <a:gd name="connsiteY0" fmla="*/ 1982579 h 1982579"/>
                  <a:gd name="connsiteX1" fmla="*/ 0 w 1797769"/>
                  <a:gd name="connsiteY1" fmla="*/ 1982579 h 1982579"/>
                  <a:gd name="connsiteX2" fmla="*/ 0 w 1797769"/>
                  <a:gd name="connsiteY2" fmla="*/ 206517 h 1982579"/>
                  <a:gd name="connsiteX3" fmla="*/ 678259 w 1797769"/>
                  <a:gd name="connsiteY3" fmla="*/ 206517 h 1982579"/>
                  <a:gd name="connsiteX4" fmla="*/ 957665 w 1797769"/>
                  <a:gd name="connsiteY4" fmla="*/ 0 h 1982579"/>
                  <a:gd name="connsiteX5" fmla="*/ 1237071 w 1797769"/>
                  <a:gd name="connsiteY5" fmla="*/ 206517 h 1982579"/>
                  <a:gd name="connsiteX6" fmla="*/ 1797769 w 1797769"/>
                  <a:gd name="connsiteY6" fmla="*/ 206517 h 198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7769" h="1982579">
                    <a:moveTo>
                      <a:pt x="1797769" y="1982579"/>
                    </a:moveTo>
                    <a:lnTo>
                      <a:pt x="0" y="1982579"/>
                    </a:lnTo>
                    <a:lnTo>
                      <a:pt x="0" y="206517"/>
                    </a:lnTo>
                    <a:lnTo>
                      <a:pt x="678259" y="206517"/>
                    </a:lnTo>
                    <a:lnTo>
                      <a:pt x="957665" y="0"/>
                    </a:lnTo>
                    <a:lnTo>
                      <a:pt x="1237071" y="206517"/>
                    </a:lnTo>
                    <a:lnTo>
                      <a:pt x="1797769" y="206517"/>
                    </a:lnTo>
                    <a:close/>
                  </a:path>
                </a:pathLst>
              </a:custGeom>
              <a:solidFill>
                <a:schemeClr val="accent2">
                  <a:lumMod val="20000"/>
                  <a:lumOff val="80000"/>
                  <a:alpha val="20000"/>
                </a:schemeClr>
              </a:solidFill>
              <a:ln w="12700" cap="flat" cmpd="sng" algn="ctr">
                <a:solidFill>
                  <a:schemeClr val="accent2"/>
                </a:solid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dirty="0">
                  <a:cs typeface="思源黑体 CN Normal" panose="020B0400000000000000" pitchFamily="34" charset="-122"/>
                </a:endParaRPr>
              </a:p>
            </p:txBody>
          </p:sp>
          <p:sp>
            <p:nvSpPr>
              <p:cNvPr id="90" name="小红书平北职场PPT3-10"/>
              <p:cNvSpPr txBox="1"/>
              <p:nvPr/>
            </p:nvSpPr>
            <p:spPr>
              <a:xfrm>
                <a:off x="6245398" y="2248203"/>
                <a:ext cx="2600745" cy="704873"/>
              </a:xfrm>
              <a:prstGeom prst="rect">
                <a:avLst/>
              </a:prstGeom>
              <a:noFill/>
            </p:spPr>
            <p:txBody>
              <a:bodyPr wrap="square" lIns="0" tIns="0" rIns="0" bIns="0" rtlCol="0">
                <a:spAutoFit/>
              </a:bodyPr>
              <a:lstStyle/>
              <a:p>
                <a:pPr algn="ctr">
                  <a:lnSpc>
                    <a:spcPct val="130000"/>
                  </a:lnSpc>
                </a:pPr>
                <a:r>
                  <a:rPr lang="zh-CN" altLang="en-US" sz="1200" dirty="0">
                    <a:latin typeface="+mn-ea"/>
                    <a:cs typeface="思源黑体 CN Normal" panose="020B0400000000000000" pitchFamily="34" charset="-122"/>
                  </a:rPr>
                  <a:t>建立</a:t>
                </a:r>
                <a:r>
                  <a:rPr lang="en-US" altLang="zh-CN" sz="1200" dirty="0">
                    <a:latin typeface="+mn-ea"/>
                    <a:cs typeface="思源黑体 CN Normal" panose="020B0400000000000000" pitchFamily="34" charset="-122"/>
                  </a:rPr>
                  <a:t>VIP</a:t>
                </a:r>
                <a:r>
                  <a:rPr lang="zh-CN" altLang="en-US" sz="1200" dirty="0">
                    <a:latin typeface="+mn-ea"/>
                    <a:cs typeface="思源黑体 CN Normal" panose="020B0400000000000000" pitchFamily="34" charset="-122"/>
                  </a:rPr>
                  <a:t>客户服务体系，大客户续约率</a:t>
                </a:r>
                <a:r>
                  <a:rPr lang="en-US" altLang="zh-CN" sz="1200" dirty="0">
                    <a:latin typeface="+mn-ea"/>
                    <a:cs typeface="思源黑体 CN Normal" panose="020B0400000000000000" pitchFamily="34" charset="-122"/>
                  </a:rPr>
                  <a:t>90%</a:t>
                </a:r>
                <a:r>
                  <a:rPr lang="zh-CN" altLang="en-US" sz="1200" dirty="0">
                    <a:latin typeface="+mn-ea"/>
                    <a:cs typeface="思源黑体 CN Normal" panose="020B0400000000000000" pitchFamily="34" charset="-122"/>
                  </a:rPr>
                  <a:t>；</a:t>
                </a:r>
                <a:r>
                  <a:rPr lang="en-US" altLang="zh-CN" sz="1200" dirty="0">
                    <a:latin typeface="+mn-ea"/>
                    <a:cs typeface="思源黑体 CN Normal" panose="020B0400000000000000" pitchFamily="34" charset="-122"/>
                  </a:rPr>
                  <a:t>AI</a:t>
                </a:r>
                <a:r>
                  <a:rPr lang="zh-CN" altLang="en-US" sz="1200" dirty="0">
                    <a:latin typeface="+mn-ea"/>
                    <a:cs typeface="思源黑体 CN Normal" panose="020B0400000000000000" pitchFamily="34" charset="-122"/>
                  </a:rPr>
                  <a:t>提升客服效率</a:t>
                </a:r>
                <a:r>
                  <a:rPr lang="en-US" altLang="zh-CN" sz="1200" dirty="0">
                    <a:latin typeface="+mn-ea"/>
                    <a:cs typeface="思源黑体 CN Normal" panose="020B0400000000000000" pitchFamily="34" charset="-122"/>
                  </a:rPr>
                  <a:t>40%</a:t>
                </a:r>
                <a:r>
                  <a:rPr lang="zh-CN" altLang="en-US" sz="1200" dirty="0">
                    <a:latin typeface="+mn-ea"/>
                    <a:cs typeface="思源黑体 CN Normal" panose="020B0400000000000000" pitchFamily="34" charset="-122"/>
                  </a:rPr>
                  <a:t>；供应链改革降低成本</a:t>
                </a:r>
                <a:r>
                  <a:rPr lang="en-US" altLang="zh-CN" sz="1200" dirty="0">
                    <a:latin typeface="+mn-ea"/>
                    <a:cs typeface="思源黑体 CN Normal" panose="020B0400000000000000" pitchFamily="34" charset="-122"/>
                  </a:rPr>
                  <a:t>15%</a:t>
                </a:r>
                <a:r>
                  <a:rPr lang="zh-CN" altLang="en-US" sz="1200" dirty="0">
                    <a:latin typeface="+mn-ea"/>
                    <a:cs typeface="思源黑体 CN Normal" panose="020B0400000000000000" pitchFamily="34" charset="-122"/>
                  </a:rPr>
                  <a:t>，运营质量显著提升。</a:t>
                </a:r>
                <a:endParaRPr lang="zh-CN" altLang="en-US" sz="1200" dirty="0">
                  <a:latin typeface="+mn-ea"/>
                  <a:cs typeface="思源黑体 CN Normal" panose="020B0400000000000000" pitchFamily="34" charset="-122"/>
                </a:endParaRPr>
              </a:p>
            </p:txBody>
          </p:sp>
          <p:sp>
            <p:nvSpPr>
              <p:cNvPr id="91" name="小红书平北职场PPT3-11"/>
              <p:cNvSpPr/>
              <p:nvPr/>
            </p:nvSpPr>
            <p:spPr>
              <a:xfrm>
                <a:off x="6437759" y="1615988"/>
                <a:ext cx="2216026" cy="445343"/>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sp>
            <p:nvSpPr>
              <p:cNvPr id="92" name="小红书平北职场PPT3-12"/>
              <p:cNvSpPr txBox="1"/>
              <p:nvPr/>
            </p:nvSpPr>
            <p:spPr>
              <a:xfrm>
                <a:off x="6750682" y="1715549"/>
                <a:ext cx="1590179" cy="246221"/>
              </a:xfrm>
              <a:prstGeom prst="rect">
                <a:avLst/>
              </a:prstGeom>
              <a:noFill/>
            </p:spPr>
            <p:txBody>
              <a:bodyPr wrap="none" lIns="0" tIns="0" rIns="0" bIns="0" rtlCol="0">
                <a:spAutoFit/>
              </a:bodyPr>
              <a:lstStyle/>
              <a:p>
                <a:pPr algn="ctr"/>
                <a:r>
                  <a:rPr lang="zh-CN" altLang="en-US" sz="1600" dirty="0">
                    <a:solidFill>
                      <a:schemeClr val="bg1"/>
                    </a:solidFill>
                    <a:latin typeface="+mj-ea"/>
                    <a:ea typeface="+mj-ea"/>
                    <a:cs typeface="思源黑体 CN Normal" panose="020B0400000000000000" pitchFamily="34" charset="-122"/>
                  </a:rPr>
                  <a:t>发展期（</a:t>
                </a:r>
                <a:r>
                  <a:rPr lang="en-US" altLang="zh-CN" sz="1600" dirty="0">
                    <a:solidFill>
                      <a:schemeClr val="bg1"/>
                    </a:solidFill>
                    <a:latin typeface="+mj-ea"/>
                    <a:ea typeface="+mj-ea"/>
                    <a:cs typeface="思源黑体 CN Normal" panose="020B0400000000000000" pitchFamily="34" charset="-122"/>
                  </a:rPr>
                  <a:t>5-6</a:t>
                </a:r>
                <a:r>
                  <a:rPr lang="zh-CN" altLang="en-US" sz="1600" dirty="0">
                    <a:solidFill>
                      <a:schemeClr val="bg1"/>
                    </a:solidFill>
                    <a:latin typeface="+mj-ea"/>
                    <a:ea typeface="+mj-ea"/>
                    <a:cs typeface="思源黑体 CN Normal" panose="020B0400000000000000" pitchFamily="34" charset="-122"/>
                  </a:rPr>
                  <a:t>月）</a:t>
                </a:r>
                <a:endParaRPr lang="zh-CN" altLang="en-US" sz="1600" dirty="0">
                  <a:solidFill>
                    <a:schemeClr val="bg1"/>
                  </a:solidFill>
                  <a:latin typeface="+mj-ea"/>
                  <a:ea typeface="+mj-ea"/>
                  <a:cs typeface="思源黑体 CN Normal" panose="020B0400000000000000" pitchFamily="34" charset="-122"/>
                </a:endParaRPr>
              </a:p>
            </p:txBody>
          </p:sp>
          <p:sp>
            <p:nvSpPr>
              <p:cNvPr id="93" name="小红书平北职场PPT3-13"/>
              <p:cNvSpPr/>
              <p:nvPr/>
            </p:nvSpPr>
            <p:spPr>
              <a:xfrm rot="10800000">
                <a:off x="9246480" y="1824979"/>
                <a:ext cx="2607349" cy="1536872"/>
              </a:xfrm>
              <a:custGeom>
                <a:avLst/>
                <a:gdLst>
                  <a:gd name="connsiteX0" fmla="*/ 1797769 w 1797769"/>
                  <a:gd name="connsiteY0" fmla="*/ 1982579 h 1982579"/>
                  <a:gd name="connsiteX1" fmla="*/ 0 w 1797769"/>
                  <a:gd name="connsiteY1" fmla="*/ 1982579 h 1982579"/>
                  <a:gd name="connsiteX2" fmla="*/ 0 w 1797769"/>
                  <a:gd name="connsiteY2" fmla="*/ 206517 h 1982579"/>
                  <a:gd name="connsiteX3" fmla="*/ 678259 w 1797769"/>
                  <a:gd name="connsiteY3" fmla="*/ 206517 h 1982579"/>
                  <a:gd name="connsiteX4" fmla="*/ 957665 w 1797769"/>
                  <a:gd name="connsiteY4" fmla="*/ 0 h 1982579"/>
                  <a:gd name="connsiteX5" fmla="*/ 1237071 w 1797769"/>
                  <a:gd name="connsiteY5" fmla="*/ 206517 h 1982579"/>
                  <a:gd name="connsiteX6" fmla="*/ 1797769 w 1797769"/>
                  <a:gd name="connsiteY6" fmla="*/ 206517 h 198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7769" h="1982579">
                    <a:moveTo>
                      <a:pt x="1797769" y="1982579"/>
                    </a:moveTo>
                    <a:lnTo>
                      <a:pt x="0" y="1982579"/>
                    </a:lnTo>
                    <a:lnTo>
                      <a:pt x="0" y="206517"/>
                    </a:lnTo>
                    <a:lnTo>
                      <a:pt x="678259" y="206517"/>
                    </a:lnTo>
                    <a:lnTo>
                      <a:pt x="957665" y="0"/>
                    </a:lnTo>
                    <a:lnTo>
                      <a:pt x="1237071" y="206517"/>
                    </a:lnTo>
                    <a:lnTo>
                      <a:pt x="1797769" y="206517"/>
                    </a:lnTo>
                    <a:close/>
                  </a:path>
                </a:pathLst>
              </a:custGeom>
              <a:solidFill>
                <a:schemeClr val="bg1">
                  <a:alpha val="20000"/>
                </a:schemeClr>
              </a:solidFill>
              <a:ln w="12700" cap="flat" cmpd="sng" algn="ctr">
                <a:solidFill>
                  <a:schemeClr val="accent1"/>
                </a:solid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dirty="0">
                  <a:cs typeface="思源黑体 CN Normal" panose="020B0400000000000000" pitchFamily="34" charset="-122"/>
                </a:endParaRPr>
              </a:p>
            </p:txBody>
          </p:sp>
          <p:grpSp>
            <p:nvGrpSpPr>
              <p:cNvPr id="94" name="猫爪PPT-52"/>
              <p:cNvGrpSpPr/>
              <p:nvPr/>
            </p:nvGrpSpPr>
            <p:grpSpPr>
              <a:xfrm>
                <a:off x="9516424" y="1615988"/>
                <a:ext cx="2067466" cy="445343"/>
                <a:chOff x="1109156" y="1155811"/>
                <a:chExt cx="2367081" cy="445343"/>
              </a:xfrm>
            </p:grpSpPr>
            <p:sp>
              <p:nvSpPr>
                <p:cNvPr id="96" name="小红书平北职场PPT3-14"/>
                <p:cNvSpPr/>
                <p:nvPr/>
              </p:nvSpPr>
              <p:spPr>
                <a:xfrm>
                  <a:off x="1109156" y="1155811"/>
                  <a:ext cx="2367081" cy="445343"/>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97" name="小红书平北职场PPT3-15"/>
                <p:cNvSpPr txBox="1"/>
                <p:nvPr/>
              </p:nvSpPr>
              <p:spPr>
                <a:xfrm>
                  <a:off x="1439747" y="1255372"/>
                  <a:ext cx="1820626" cy="246221"/>
                </a:xfrm>
                <a:prstGeom prst="rect">
                  <a:avLst/>
                </a:prstGeom>
                <a:noFill/>
              </p:spPr>
              <p:txBody>
                <a:bodyPr wrap="none" lIns="0" tIns="0" rIns="0" bIns="0" rtlCol="0">
                  <a:spAutoFit/>
                </a:bodyPr>
                <a:lstStyle/>
                <a:p>
                  <a:pPr algn="ctr"/>
                  <a:r>
                    <a:rPr lang="zh-CN" altLang="en-US" sz="1600" dirty="0">
                      <a:solidFill>
                        <a:schemeClr val="bg1"/>
                      </a:solidFill>
                      <a:latin typeface="+mj-ea"/>
                      <a:ea typeface="+mj-ea"/>
                      <a:cs typeface="思源黑体 CN Normal" panose="020B0400000000000000" pitchFamily="34" charset="-122"/>
                    </a:rPr>
                    <a:t>收关期（</a:t>
                  </a:r>
                  <a:r>
                    <a:rPr lang="en-US" altLang="zh-CN" sz="1600" dirty="0">
                      <a:solidFill>
                        <a:schemeClr val="bg1"/>
                      </a:solidFill>
                      <a:latin typeface="+mj-ea"/>
                      <a:ea typeface="+mj-ea"/>
                      <a:cs typeface="思源黑体 CN Normal" panose="020B0400000000000000" pitchFamily="34" charset="-122"/>
                    </a:rPr>
                    <a:t>6-7</a:t>
                  </a:r>
                  <a:r>
                    <a:rPr lang="zh-CN" altLang="en-US" sz="1600" dirty="0">
                      <a:solidFill>
                        <a:schemeClr val="bg1"/>
                      </a:solidFill>
                      <a:latin typeface="+mj-ea"/>
                      <a:ea typeface="+mj-ea"/>
                      <a:cs typeface="思源黑体 CN Normal" panose="020B0400000000000000" pitchFamily="34" charset="-122"/>
                    </a:rPr>
                    <a:t>月）</a:t>
                  </a:r>
                  <a:endParaRPr lang="zh-CN" altLang="en-US" sz="1600" dirty="0">
                    <a:solidFill>
                      <a:schemeClr val="bg1"/>
                    </a:solidFill>
                    <a:latin typeface="+mj-ea"/>
                    <a:ea typeface="+mj-ea"/>
                    <a:cs typeface="思源黑体 CN Normal" panose="020B0400000000000000" pitchFamily="34" charset="-122"/>
                  </a:endParaRPr>
                </a:p>
              </p:txBody>
            </p:sp>
          </p:grpSp>
          <p:sp>
            <p:nvSpPr>
              <p:cNvPr id="95" name="小红书平北职场PPT3-16"/>
              <p:cNvSpPr txBox="1"/>
              <p:nvPr/>
            </p:nvSpPr>
            <p:spPr>
              <a:xfrm>
                <a:off x="9516423" y="2248203"/>
                <a:ext cx="2223162" cy="704873"/>
              </a:xfrm>
              <a:prstGeom prst="rect">
                <a:avLst/>
              </a:prstGeom>
              <a:noFill/>
            </p:spPr>
            <p:txBody>
              <a:bodyPr wrap="square" lIns="0" tIns="0" rIns="0" bIns="0" rtlCol="0">
                <a:spAutoFit/>
              </a:bodyPr>
              <a:lstStyle/>
              <a:p>
                <a:pPr algn="ctr">
                  <a:lnSpc>
                    <a:spcPct val="130000"/>
                  </a:lnSpc>
                </a:pPr>
                <a:r>
                  <a:rPr lang="zh-CN" altLang="en-US" sz="1200" dirty="0">
                    <a:latin typeface="+mn-ea"/>
                    <a:cs typeface="思源黑体 CN Normal" panose="020B0400000000000000" pitchFamily="34" charset="-122"/>
                  </a:rPr>
                  <a:t>年度</a:t>
                </a:r>
                <a:r>
                  <a:rPr lang="en-US" altLang="zh-CN" sz="1200" dirty="0">
                    <a:latin typeface="+mn-ea"/>
                    <a:cs typeface="思源黑体 CN Normal" panose="020B0400000000000000" pitchFamily="34" charset="-122"/>
                  </a:rPr>
                  <a:t>KPI</a:t>
                </a:r>
                <a:r>
                  <a:rPr lang="zh-CN" altLang="en-US" sz="1200" dirty="0">
                    <a:latin typeface="+mn-ea"/>
                    <a:cs typeface="思源黑体 CN Normal" panose="020B0400000000000000" pitchFamily="34" charset="-122"/>
                  </a:rPr>
                  <a:t>达标率高，明确未来增长方向，通过激励计划实现核心人才留存，为未来发展做好准备</a:t>
                </a:r>
                <a:endParaRPr lang="zh-CN" altLang="en-US" sz="1200" dirty="0">
                  <a:latin typeface="+mn-ea"/>
                  <a:cs typeface="思源黑体 CN Normal" panose="020B0400000000000000" pitchFamily="34" charset="-122"/>
                </a:endParaRPr>
              </a:p>
            </p:txBody>
          </p:sp>
        </p:grpSp>
        <p:sp>
          <p:nvSpPr>
            <p:cNvPr id="26" name="小红书平北职场PPT4"/>
            <p:cNvSpPr/>
            <p:nvPr/>
          </p:nvSpPr>
          <p:spPr>
            <a:xfrm>
              <a:off x="6053165" y="5934677"/>
              <a:ext cx="2985208" cy="589948"/>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27" name="小红书平北职场PPT5"/>
            <p:cNvSpPr/>
            <p:nvPr/>
          </p:nvSpPr>
          <p:spPr>
            <a:xfrm>
              <a:off x="408095" y="5934677"/>
              <a:ext cx="2607349" cy="589948"/>
            </a:xfrm>
            <a:prstGeom prst="rect">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28" name="小红书平北职场PPT6"/>
            <p:cNvSpPr/>
            <p:nvPr/>
          </p:nvSpPr>
          <p:spPr>
            <a:xfrm>
              <a:off x="3230631" y="5934677"/>
              <a:ext cx="2607349" cy="589948"/>
            </a:xfrm>
            <a:prstGeom prst="rect">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29" name="小红书平北职场PPT7"/>
            <p:cNvSpPr/>
            <p:nvPr/>
          </p:nvSpPr>
          <p:spPr>
            <a:xfrm>
              <a:off x="9246480" y="5934677"/>
              <a:ext cx="2607349" cy="589948"/>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30" name="小红书平北职场PPT8"/>
            <p:cNvSpPr/>
            <p:nvPr/>
          </p:nvSpPr>
          <p:spPr>
            <a:xfrm rot="10800000" flipV="1">
              <a:off x="408095" y="3424822"/>
              <a:ext cx="2607349" cy="242731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1" name="小红书平北职场PPT9"/>
            <p:cNvSpPr/>
            <p:nvPr/>
          </p:nvSpPr>
          <p:spPr>
            <a:xfrm rot="10800000" flipV="1">
              <a:off x="3230631" y="3424822"/>
              <a:ext cx="2607349" cy="242731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2" name="小红书平北职场PPT10"/>
            <p:cNvSpPr/>
            <p:nvPr/>
          </p:nvSpPr>
          <p:spPr>
            <a:xfrm rot="10800000" flipV="1">
              <a:off x="9246480" y="3424821"/>
              <a:ext cx="2607349" cy="242731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3" name="小红书平北职场PPT11"/>
            <p:cNvSpPr/>
            <p:nvPr/>
          </p:nvSpPr>
          <p:spPr>
            <a:xfrm rot="10800000" flipV="1">
              <a:off x="6053165" y="3424822"/>
              <a:ext cx="2985208" cy="242731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34" name="组合 33"/>
            <p:cNvGrpSpPr/>
            <p:nvPr/>
          </p:nvGrpSpPr>
          <p:grpSpPr>
            <a:xfrm>
              <a:off x="557432" y="3805200"/>
              <a:ext cx="2343769" cy="1853997"/>
              <a:chOff x="545075" y="3858976"/>
              <a:chExt cx="2343769" cy="1853997"/>
            </a:xfrm>
          </p:grpSpPr>
          <p:sp>
            <p:nvSpPr>
              <p:cNvPr id="76" name="小红书平北职场PPT12-1"/>
              <p:cNvSpPr txBox="1"/>
              <p:nvPr/>
            </p:nvSpPr>
            <p:spPr>
              <a:xfrm>
                <a:off x="686854" y="3971486"/>
                <a:ext cx="2201990" cy="1722587"/>
              </a:xfrm>
              <a:prstGeom prst="rect">
                <a:avLst/>
              </a:prstGeom>
              <a:noFill/>
            </p:spPr>
            <p:txBody>
              <a:bodyPr wrap="square">
                <a:spAutoFit/>
              </a:bodyPr>
              <a:lstStyle/>
              <a:p>
                <a:pPr>
                  <a:lnSpc>
                    <a:spcPct val="130000"/>
                  </a:lnSpc>
                  <a:spcAft>
                    <a:spcPts val="800"/>
                  </a:spcAft>
                </a:pPr>
                <a:r>
                  <a:rPr lang="zh-CN" altLang="en-US" sz="1200" dirty="0">
                    <a:latin typeface="+mn-ea"/>
                    <a:cs typeface="思源黑体 CN Normal" panose="020B0400000000000000" pitchFamily="34" charset="-122"/>
                  </a:rPr>
                  <a:t>市场洞察： 完成行业趋势报告，明确</a:t>
                </a:r>
                <a:r>
                  <a:rPr lang="en-US" altLang="zh-CN" sz="1200" dirty="0">
                    <a:latin typeface="+mn-ea"/>
                    <a:cs typeface="思源黑体 CN Normal" panose="020B0400000000000000" pitchFamily="34" charset="-122"/>
                  </a:rPr>
                  <a:t>3</a:t>
                </a:r>
                <a:r>
                  <a:rPr lang="zh-CN" altLang="en-US" sz="1200" dirty="0">
                    <a:latin typeface="+mn-ea"/>
                    <a:cs typeface="思源黑体 CN Normal" panose="020B0400000000000000" pitchFamily="34" charset="-122"/>
                  </a:rPr>
                  <a:t>大核心赛道</a:t>
                </a:r>
                <a:endParaRPr lang="zh-CN" altLang="en-US"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团队打造： 组织</a:t>
                </a:r>
                <a:r>
                  <a:rPr lang="en-US" altLang="zh-CN" sz="1200" dirty="0">
                    <a:latin typeface="+mn-ea"/>
                    <a:cs typeface="思源黑体 CN Normal" panose="020B0400000000000000" pitchFamily="34" charset="-122"/>
                  </a:rPr>
                  <a:t>2</a:t>
                </a:r>
                <a:r>
                  <a:rPr lang="zh-CN" altLang="en-US" sz="1200" dirty="0">
                    <a:latin typeface="+mn-ea"/>
                    <a:cs typeface="思源黑体 CN Normal" panose="020B0400000000000000" pitchFamily="34" charset="-122"/>
                  </a:rPr>
                  <a:t>次专业技能培训，团队满意度提升至</a:t>
                </a:r>
                <a:r>
                  <a:rPr lang="en-US" altLang="zh-CN" sz="1200" dirty="0">
                    <a:latin typeface="+mn-ea"/>
                    <a:cs typeface="思源黑体 CN Normal" panose="020B0400000000000000" pitchFamily="34" charset="-122"/>
                  </a:rPr>
                  <a:t>85%</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产品筑基： 完成</a:t>
                </a:r>
                <a:r>
                  <a:rPr lang="en-US" altLang="zh-CN" sz="1200" dirty="0">
                    <a:latin typeface="+mn-ea"/>
                    <a:cs typeface="思源黑体 CN Normal" panose="020B0400000000000000" pitchFamily="34" charset="-122"/>
                  </a:rPr>
                  <a:t>MVP</a:t>
                </a:r>
                <a:r>
                  <a:rPr lang="zh-CN" altLang="en-US" sz="1200" dirty="0">
                    <a:latin typeface="+mn-ea"/>
                    <a:cs typeface="思源黑体 CN Normal" panose="020B0400000000000000" pitchFamily="34" charset="-122"/>
                  </a:rPr>
                  <a:t>版本开发，启动种子用户测试</a:t>
                </a:r>
                <a:endParaRPr lang="zh-CN" altLang="en-US" sz="1200" dirty="0">
                  <a:latin typeface="+mn-ea"/>
                  <a:cs typeface="思源黑体 CN Normal" panose="020B0400000000000000" pitchFamily="34" charset="-122"/>
                </a:endParaRPr>
              </a:p>
            </p:txBody>
          </p:sp>
          <p:grpSp>
            <p:nvGrpSpPr>
              <p:cNvPr id="77" name="组合 76"/>
              <p:cNvGrpSpPr/>
              <p:nvPr/>
            </p:nvGrpSpPr>
            <p:grpSpPr>
              <a:xfrm flipH="1">
                <a:off x="545075" y="3858976"/>
                <a:ext cx="96082" cy="1853997"/>
                <a:chOff x="3515330" y="3745283"/>
                <a:chExt cx="132047" cy="2548002"/>
              </a:xfrm>
            </p:grpSpPr>
            <p:cxnSp>
              <p:nvCxnSpPr>
                <p:cNvPr id="78" name="小红书平北职场PPT12-2"/>
                <p:cNvCxnSpPr/>
                <p:nvPr/>
              </p:nvCxnSpPr>
              <p:spPr>
                <a:xfrm flipH="1">
                  <a:off x="3581358" y="3745283"/>
                  <a:ext cx="0" cy="2548002"/>
                </a:xfrm>
                <a:prstGeom prst="line">
                  <a:avLst/>
                </a:prstGeom>
                <a:ln w="6350">
                  <a:solidFill>
                    <a:schemeClr val="tx1">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79" name="小红书平北职场PPT12-3"/>
                <p:cNvSpPr/>
                <p:nvPr/>
              </p:nvSpPr>
              <p:spPr>
                <a:xfrm>
                  <a:off x="3515342" y="4161103"/>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80" name="小红书平北职场PPT12-4"/>
                <p:cNvSpPr/>
                <p:nvPr/>
              </p:nvSpPr>
              <p:spPr>
                <a:xfrm>
                  <a:off x="3515330" y="4900287"/>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81" name="小红书平北职场PPT12-5"/>
                <p:cNvSpPr/>
                <p:nvPr/>
              </p:nvSpPr>
              <p:spPr>
                <a:xfrm>
                  <a:off x="3515341" y="5676614"/>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35" name="组合 34"/>
            <p:cNvGrpSpPr/>
            <p:nvPr/>
          </p:nvGrpSpPr>
          <p:grpSpPr>
            <a:xfrm>
              <a:off x="3355301" y="3805200"/>
              <a:ext cx="2343769" cy="1853997"/>
              <a:chOff x="545075" y="3858976"/>
              <a:chExt cx="2343769" cy="1853997"/>
            </a:xfrm>
          </p:grpSpPr>
          <p:sp>
            <p:nvSpPr>
              <p:cNvPr id="70" name="小红书平北职场PPT12-6"/>
              <p:cNvSpPr txBox="1"/>
              <p:nvPr/>
            </p:nvSpPr>
            <p:spPr>
              <a:xfrm>
                <a:off x="686854" y="3971486"/>
                <a:ext cx="2201990" cy="1722587"/>
              </a:xfrm>
              <a:prstGeom prst="rect">
                <a:avLst/>
              </a:prstGeom>
              <a:noFill/>
            </p:spPr>
            <p:txBody>
              <a:bodyPr wrap="square">
                <a:spAutoFit/>
              </a:bodyPr>
              <a:lstStyle/>
              <a:p>
                <a:pPr>
                  <a:lnSpc>
                    <a:spcPct val="130000"/>
                  </a:lnSpc>
                  <a:spcAft>
                    <a:spcPts val="800"/>
                  </a:spcAft>
                </a:pPr>
                <a:r>
                  <a:rPr lang="zh-CN" altLang="en-US" sz="1200" dirty="0">
                    <a:latin typeface="+mn-ea"/>
                    <a:cs typeface="思源黑体 CN Normal" panose="020B0400000000000000" pitchFamily="34" charset="-122"/>
                  </a:rPr>
                  <a:t>产品攻坚： 上线核心功能模块，用户留存率提升至</a:t>
                </a:r>
                <a:r>
                  <a:rPr lang="en-US" altLang="zh-CN" sz="1200" dirty="0">
                    <a:latin typeface="+mn-ea"/>
                    <a:cs typeface="思源黑体 CN Normal" panose="020B0400000000000000" pitchFamily="34" charset="-122"/>
                  </a:rPr>
                  <a:t>70%</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市场攻势： 开展</a:t>
                </a:r>
                <a:r>
                  <a:rPr lang="en-US" altLang="zh-CN" sz="1200" dirty="0">
                    <a:latin typeface="+mn-ea"/>
                    <a:cs typeface="思源黑体 CN Normal" panose="020B0400000000000000" pitchFamily="34" charset="-122"/>
                  </a:rPr>
                  <a:t>3</a:t>
                </a:r>
                <a:r>
                  <a:rPr lang="zh-CN" altLang="en-US" sz="1200" dirty="0">
                    <a:latin typeface="+mn-ea"/>
                    <a:cs typeface="思源黑体 CN Normal" panose="020B0400000000000000" pitchFamily="34" charset="-122"/>
                  </a:rPr>
                  <a:t>场大型推广活动，新增用户</a:t>
                </a:r>
                <a:r>
                  <a:rPr lang="en-US" altLang="zh-CN" sz="1200" dirty="0">
                    <a:latin typeface="+mn-ea"/>
                    <a:cs typeface="思源黑体 CN Normal" panose="020B0400000000000000" pitchFamily="34" charset="-122"/>
                  </a:rPr>
                  <a:t>5</a:t>
                </a:r>
                <a:r>
                  <a:rPr lang="zh-CN" altLang="en-US" sz="1200" dirty="0">
                    <a:latin typeface="+mn-ea"/>
                    <a:cs typeface="思源黑体 CN Normal" panose="020B0400000000000000" pitchFamily="34" charset="-122"/>
                  </a:rPr>
                  <a:t>万</a:t>
                </a:r>
                <a:r>
                  <a:rPr lang="en-US" altLang="zh-CN" sz="1200" dirty="0">
                    <a:latin typeface="+mn-ea"/>
                    <a:cs typeface="思源黑体 CN Normal" panose="020B0400000000000000" pitchFamily="34" charset="-122"/>
                  </a:rPr>
                  <a:t>+</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效率革命： 优化</a:t>
                </a:r>
                <a:r>
                  <a:rPr lang="en-US" altLang="zh-CN" sz="1200" dirty="0">
                    <a:latin typeface="+mn-ea"/>
                    <a:cs typeface="思源黑体 CN Normal" panose="020B0400000000000000" pitchFamily="34" charset="-122"/>
                  </a:rPr>
                  <a:t>5</a:t>
                </a:r>
                <a:r>
                  <a:rPr lang="zh-CN" altLang="en-US" sz="1200" dirty="0">
                    <a:latin typeface="+mn-ea"/>
                    <a:cs typeface="思源黑体 CN Normal" panose="020B0400000000000000" pitchFamily="34" charset="-122"/>
                  </a:rPr>
                  <a:t>个关键流程，平均审批时间缩短</a:t>
                </a:r>
                <a:r>
                  <a:rPr lang="en-US" altLang="zh-CN" sz="1200" dirty="0">
                    <a:latin typeface="+mn-ea"/>
                    <a:cs typeface="思源黑体 CN Normal" panose="020B0400000000000000" pitchFamily="34" charset="-122"/>
                  </a:rPr>
                  <a:t>50%</a:t>
                </a:r>
                <a:endParaRPr lang="en-US" altLang="zh-CN" sz="1200" dirty="0">
                  <a:latin typeface="+mn-ea"/>
                  <a:cs typeface="思源黑体 CN Normal" panose="020B0400000000000000" pitchFamily="34" charset="-122"/>
                </a:endParaRPr>
              </a:p>
            </p:txBody>
          </p:sp>
          <p:grpSp>
            <p:nvGrpSpPr>
              <p:cNvPr id="71" name="组合 70"/>
              <p:cNvGrpSpPr/>
              <p:nvPr/>
            </p:nvGrpSpPr>
            <p:grpSpPr>
              <a:xfrm flipH="1">
                <a:off x="545075" y="3858976"/>
                <a:ext cx="96082" cy="1853997"/>
                <a:chOff x="3515330" y="3745283"/>
                <a:chExt cx="132047" cy="2548002"/>
              </a:xfrm>
            </p:grpSpPr>
            <p:cxnSp>
              <p:nvCxnSpPr>
                <p:cNvPr id="72" name="小红书平北职场PPT12-7"/>
                <p:cNvCxnSpPr/>
                <p:nvPr/>
              </p:nvCxnSpPr>
              <p:spPr>
                <a:xfrm flipH="1">
                  <a:off x="3581358" y="3745283"/>
                  <a:ext cx="0" cy="2548002"/>
                </a:xfrm>
                <a:prstGeom prst="line">
                  <a:avLst/>
                </a:prstGeom>
                <a:ln w="6350">
                  <a:solidFill>
                    <a:schemeClr val="tx1">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73" name="小红书平北职场PPT12-8"/>
                <p:cNvSpPr/>
                <p:nvPr/>
              </p:nvSpPr>
              <p:spPr>
                <a:xfrm>
                  <a:off x="3515342" y="4161103"/>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74" name="小红书平北职场PPT12-9"/>
                <p:cNvSpPr/>
                <p:nvPr/>
              </p:nvSpPr>
              <p:spPr>
                <a:xfrm>
                  <a:off x="3515330" y="4900287"/>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75" name="小红书平北职场PPT12-10"/>
                <p:cNvSpPr/>
                <p:nvPr/>
              </p:nvSpPr>
              <p:spPr>
                <a:xfrm>
                  <a:off x="3515341" y="5676614"/>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36" name="组合 35"/>
            <p:cNvGrpSpPr/>
            <p:nvPr/>
          </p:nvGrpSpPr>
          <p:grpSpPr>
            <a:xfrm>
              <a:off x="9435965" y="3805200"/>
              <a:ext cx="2343769" cy="1853997"/>
              <a:chOff x="545075" y="3858976"/>
              <a:chExt cx="2343769" cy="1853997"/>
            </a:xfrm>
          </p:grpSpPr>
          <p:sp>
            <p:nvSpPr>
              <p:cNvPr id="64" name="小红书平北职场PPT12-11"/>
              <p:cNvSpPr txBox="1"/>
              <p:nvPr/>
            </p:nvSpPr>
            <p:spPr>
              <a:xfrm>
                <a:off x="686854" y="3971486"/>
                <a:ext cx="2201990" cy="1722587"/>
              </a:xfrm>
              <a:prstGeom prst="rect">
                <a:avLst/>
              </a:prstGeom>
              <a:noFill/>
            </p:spPr>
            <p:txBody>
              <a:bodyPr wrap="square">
                <a:spAutoFit/>
              </a:bodyPr>
              <a:lstStyle/>
              <a:p>
                <a:pPr>
                  <a:lnSpc>
                    <a:spcPct val="130000"/>
                  </a:lnSpc>
                  <a:spcAft>
                    <a:spcPts val="800"/>
                  </a:spcAft>
                </a:pPr>
                <a:r>
                  <a:rPr lang="zh-CN" altLang="en-US" sz="1200" dirty="0">
                    <a:latin typeface="+mn-ea"/>
                    <a:cs typeface="思源黑体 CN Normal" panose="020B0400000000000000" pitchFamily="34" charset="-122"/>
                  </a:rPr>
                  <a:t>成果验收： 完成</a:t>
                </a:r>
                <a:r>
                  <a:rPr lang="en-US" altLang="zh-CN" sz="1200" dirty="0">
                    <a:latin typeface="+mn-ea"/>
                    <a:cs typeface="思源黑体 CN Normal" panose="020B0400000000000000" pitchFamily="34" charset="-122"/>
                  </a:rPr>
                  <a:t>12</a:t>
                </a:r>
                <a:r>
                  <a:rPr lang="zh-CN" altLang="en-US" sz="1200" dirty="0">
                    <a:latin typeface="+mn-ea"/>
                    <a:cs typeface="思源黑体 CN Normal" panose="020B0400000000000000" pitchFamily="34" charset="-122"/>
                  </a:rPr>
                  <a:t>项</a:t>
                </a:r>
                <a:r>
                  <a:rPr lang="en-US" altLang="zh-CN" sz="1200" dirty="0">
                    <a:latin typeface="+mn-ea"/>
                    <a:cs typeface="思源黑体 CN Normal" panose="020B0400000000000000" pitchFamily="34" charset="-122"/>
                  </a:rPr>
                  <a:t>KPI</a:t>
                </a:r>
                <a:r>
                  <a:rPr lang="zh-CN" altLang="en-US" sz="1200" dirty="0">
                    <a:latin typeface="+mn-ea"/>
                    <a:cs typeface="思源黑体 CN Normal" panose="020B0400000000000000" pitchFamily="34" charset="-122"/>
                  </a:rPr>
                  <a:t>考核，整体达标率</a:t>
                </a:r>
                <a:r>
                  <a:rPr lang="en-US" altLang="zh-CN" sz="1200" dirty="0">
                    <a:latin typeface="+mn-ea"/>
                    <a:cs typeface="思源黑体 CN Normal" panose="020B0400000000000000" pitchFamily="34" charset="-122"/>
                  </a:rPr>
                  <a:t>95%</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战略升级： 制定</a:t>
                </a:r>
                <a:r>
                  <a:rPr lang="en-US" altLang="zh-CN" sz="1200" dirty="0">
                    <a:latin typeface="+mn-ea"/>
                    <a:cs typeface="思源黑体 CN Normal" panose="020B0400000000000000" pitchFamily="34" charset="-122"/>
                  </a:rPr>
                  <a:t>2026</a:t>
                </a:r>
                <a:r>
                  <a:rPr lang="zh-CN" altLang="en-US" sz="1200" dirty="0">
                    <a:latin typeface="+mn-ea"/>
                    <a:cs typeface="思源黑体 CN Normal" panose="020B0400000000000000" pitchFamily="34" charset="-122"/>
                  </a:rPr>
                  <a:t>年三大增长引擎计划</a:t>
                </a:r>
                <a:endParaRPr lang="zh-CN" altLang="en-US"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团队赋能： 实施年终激励计划，关键人才留存率</a:t>
                </a:r>
                <a:r>
                  <a:rPr lang="en-US" altLang="zh-CN" sz="1200" dirty="0">
                    <a:latin typeface="+mn-ea"/>
                    <a:cs typeface="思源黑体 CN Normal" panose="020B0400000000000000" pitchFamily="34" charset="-122"/>
                  </a:rPr>
                  <a:t>100%</a:t>
                </a:r>
                <a:endParaRPr lang="en-US" altLang="zh-CN" sz="1200" dirty="0">
                  <a:latin typeface="+mn-ea"/>
                  <a:cs typeface="思源黑体 CN Normal" panose="020B0400000000000000" pitchFamily="34" charset="-122"/>
                </a:endParaRPr>
              </a:p>
            </p:txBody>
          </p:sp>
          <p:grpSp>
            <p:nvGrpSpPr>
              <p:cNvPr id="65" name="组合 64"/>
              <p:cNvGrpSpPr/>
              <p:nvPr/>
            </p:nvGrpSpPr>
            <p:grpSpPr>
              <a:xfrm flipH="1">
                <a:off x="545075" y="3858976"/>
                <a:ext cx="96082" cy="1853997"/>
                <a:chOff x="3515330" y="3745283"/>
                <a:chExt cx="132047" cy="2548002"/>
              </a:xfrm>
            </p:grpSpPr>
            <p:cxnSp>
              <p:nvCxnSpPr>
                <p:cNvPr id="66" name="小红书平北职场PPT12-12"/>
                <p:cNvCxnSpPr/>
                <p:nvPr/>
              </p:nvCxnSpPr>
              <p:spPr>
                <a:xfrm flipH="1">
                  <a:off x="3581358" y="3745283"/>
                  <a:ext cx="0" cy="2548002"/>
                </a:xfrm>
                <a:prstGeom prst="line">
                  <a:avLst/>
                </a:prstGeom>
                <a:ln w="6350">
                  <a:solidFill>
                    <a:schemeClr val="tx1">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67" name="小红书平北职场PPT12-13"/>
                <p:cNvSpPr/>
                <p:nvPr/>
              </p:nvSpPr>
              <p:spPr>
                <a:xfrm>
                  <a:off x="3515342" y="4161103"/>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68" name="小红书平北职场PPT12-14"/>
                <p:cNvSpPr/>
                <p:nvPr/>
              </p:nvSpPr>
              <p:spPr>
                <a:xfrm>
                  <a:off x="3515330" y="4900287"/>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69" name="小红书平北职场PPT12-15"/>
                <p:cNvSpPr/>
                <p:nvPr/>
              </p:nvSpPr>
              <p:spPr>
                <a:xfrm>
                  <a:off x="3515341" y="5676614"/>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37" name="组合 36"/>
            <p:cNvGrpSpPr/>
            <p:nvPr/>
          </p:nvGrpSpPr>
          <p:grpSpPr>
            <a:xfrm>
              <a:off x="6321245" y="3917710"/>
              <a:ext cx="2343769" cy="1741487"/>
              <a:chOff x="545075" y="3971486"/>
              <a:chExt cx="2343769" cy="1741487"/>
            </a:xfrm>
          </p:grpSpPr>
          <p:sp>
            <p:nvSpPr>
              <p:cNvPr id="58" name="小红书平北职场PPT12-16"/>
              <p:cNvSpPr txBox="1"/>
              <p:nvPr/>
            </p:nvSpPr>
            <p:spPr>
              <a:xfrm>
                <a:off x="686854" y="3971486"/>
                <a:ext cx="2201990" cy="1722587"/>
              </a:xfrm>
              <a:prstGeom prst="rect">
                <a:avLst/>
              </a:prstGeom>
              <a:noFill/>
            </p:spPr>
            <p:txBody>
              <a:bodyPr wrap="square">
                <a:spAutoFit/>
              </a:bodyPr>
              <a:lstStyle/>
              <a:p>
                <a:pPr>
                  <a:lnSpc>
                    <a:spcPct val="130000"/>
                  </a:lnSpc>
                  <a:spcAft>
                    <a:spcPts val="800"/>
                  </a:spcAft>
                </a:pPr>
                <a:r>
                  <a:rPr lang="zh-CN" altLang="en-US" sz="1200" dirty="0">
                    <a:latin typeface="+mn-ea"/>
                    <a:cs typeface="思源黑体 CN Normal" panose="020B0400000000000000" pitchFamily="34" charset="-122"/>
                  </a:rPr>
                  <a:t>客户深耕： 建立</a:t>
                </a:r>
                <a:r>
                  <a:rPr lang="en-US" altLang="zh-CN" sz="1200" dirty="0">
                    <a:latin typeface="+mn-ea"/>
                    <a:cs typeface="思源黑体 CN Normal" panose="020B0400000000000000" pitchFamily="34" charset="-122"/>
                  </a:rPr>
                  <a:t>VIP</a:t>
                </a:r>
                <a:r>
                  <a:rPr lang="zh-CN" altLang="en-US" sz="1200" dirty="0">
                    <a:latin typeface="+mn-ea"/>
                    <a:cs typeface="思源黑体 CN Normal" panose="020B0400000000000000" pitchFamily="34" charset="-122"/>
                  </a:rPr>
                  <a:t>客户服务体系，大客户续约率达</a:t>
                </a:r>
                <a:r>
                  <a:rPr lang="en-US" altLang="zh-CN" sz="1200" dirty="0">
                    <a:latin typeface="+mn-ea"/>
                    <a:cs typeface="思源黑体 CN Normal" panose="020B0400000000000000" pitchFamily="34" charset="-122"/>
                  </a:rPr>
                  <a:t>90%</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技术升级： 完成</a:t>
                </a:r>
                <a:r>
                  <a:rPr lang="en-US" altLang="zh-CN" sz="1200" dirty="0">
                    <a:latin typeface="+mn-ea"/>
                    <a:cs typeface="思源黑体 CN Normal" panose="020B0400000000000000" pitchFamily="34" charset="-122"/>
                  </a:rPr>
                  <a:t>AI</a:t>
                </a:r>
                <a:r>
                  <a:rPr lang="zh-CN" altLang="en-US" sz="1200" dirty="0">
                    <a:latin typeface="+mn-ea"/>
                    <a:cs typeface="思源黑体 CN Normal" panose="020B0400000000000000" pitchFamily="34" charset="-122"/>
                  </a:rPr>
                  <a:t>功能迭代，客服效率提升</a:t>
                </a:r>
                <a:r>
                  <a:rPr lang="en-US" altLang="zh-CN" sz="1200" dirty="0">
                    <a:latin typeface="+mn-ea"/>
                    <a:cs typeface="思源黑体 CN Normal" panose="020B0400000000000000" pitchFamily="34" charset="-122"/>
                  </a:rPr>
                  <a:t>40%</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成本优化： 通过供应链改革降低</a:t>
                </a:r>
                <a:r>
                  <a:rPr lang="en-US" altLang="zh-CN" sz="1200" dirty="0">
                    <a:latin typeface="+mn-ea"/>
                    <a:cs typeface="思源黑体 CN Normal" panose="020B0400000000000000" pitchFamily="34" charset="-122"/>
                  </a:rPr>
                  <a:t>15%</a:t>
                </a:r>
                <a:r>
                  <a:rPr lang="zh-CN" altLang="en-US" sz="1200" dirty="0">
                    <a:latin typeface="+mn-ea"/>
                    <a:cs typeface="思源黑体 CN Normal" panose="020B0400000000000000" pitchFamily="34" charset="-122"/>
                  </a:rPr>
                  <a:t>运营成本</a:t>
                </a:r>
                <a:endParaRPr lang="zh-CN" altLang="en-US" sz="1200" dirty="0">
                  <a:latin typeface="+mn-ea"/>
                  <a:cs typeface="思源黑体 CN Normal" panose="020B0400000000000000" pitchFamily="34" charset="-122"/>
                </a:endParaRPr>
              </a:p>
            </p:txBody>
          </p:sp>
          <p:grpSp>
            <p:nvGrpSpPr>
              <p:cNvPr id="59" name="组合 58"/>
              <p:cNvGrpSpPr/>
              <p:nvPr/>
            </p:nvGrpSpPr>
            <p:grpSpPr>
              <a:xfrm flipH="1">
                <a:off x="545075" y="3971486"/>
                <a:ext cx="96082" cy="1741487"/>
                <a:chOff x="3515330" y="3899909"/>
                <a:chExt cx="132047" cy="2393376"/>
              </a:xfrm>
            </p:grpSpPr>
            <p:cxnSp>
              <p:nvCxnSpPr>
                <p:cNvPr id="60" name="小红书平北职场PPT12-17"/>
                <p:cNvCxnSpPr/>
                <p:nvPr/>
              </p:nvCxnSpPr>
              <p:spPr>
                <a:xfrm flipH="1">
                  <a:off x="3581358" y="3899909"/>
                  <a:ext cx="0" cy="2393376"/>
                </a:xfrm>
                <a:prstGeom prst="line">
                  <a:avLst/>
                </a:prstGeom>
                <a:ln w="6350">
                  <a:solidFill>
                    <a:schemeClr val="tx1">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61" name="小红书平北职场PPT12-18"/>
                <p:cNvSpPr/>
                <p:nvPr/>
              </p:nvSpPr>
              <p:spPr>
                <a:xfrm>
                  <a:off x="3515342" y="4161103"/>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62" name="小红书平北职场PPT12-19"/>
                <p:cNvSpPr/>
                <p:nvPr/>
              </p:nvSpPr>
              <p:spPr>
                <a:xfrm>
                  <a:off x="3515330" y="4900287"/>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63" name="小红书平北职场PPT12-20"/>
                <p:cNvSpPr/>
                <p:nvPr/>
              </p:nvSpPr>
              <p:spPr>
                <a:xfrm>
                  <a:off x="3515341" y="5676614"/>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sp>
          <p:nvSpPr>
            <p:cNvPr id="38" name="小红书平北职场PPT13"/>
            <p:cNvSpPr/>
            <p:nvPr/>
          </p:nvSpPr>
          <p:spPr>
            <a:xfrm>
              <a:off x="863152" y="3736598"/>
              <a:ext cx="1625664" cy="81280"/>
            </a:xfrm>
            <a:prstGeom prst="rect">
              <a:avLst/>
            </a:prstGeom>
            <a:solidFill>
              <a:schemeClr val="accent1">
                <a:alpha val="3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39" name="小红书平北职场PPT14"/>
            <p:cNvSpPr/>
            <p:nvPr/>
          </p:nvSpPr>
          <p:spPr>
            <a:xfrm>
              <a:off x="3771482" y="3736598"/>
              <a:ext cx="1625664" cy="81280"/>
            </a:xfrm>
            <a:prstGeom prst="rect">
              <a:avLst/>
            </a:prstGeom>
            <a:solidFill>
              <a:schemeClr val="accent1">
                <a:alpha val="3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40" name="小红书平北职场PPT15"/>
            <p:cNvSpPr/>
            <p:nvPr/>
          </p:nvSpPr>
          <p:spPr>
            <a:xfrm>
              <a:off x="6933201" y="3736598"/>
              <a:ext cx="1219264" cy="81280"/>
            </a:xfrm>
            <a:prstGeom prst="rect">
              <a:avLst/>
            </a:prstGeom>
            <a:solidFill>
              <a:schemeClr val="accent2">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41" name="小红书平北职场PPT16"/>
            <p:cNvSpPr/>
            <p:nvPr/>
          </p:nvSpPr>
          <p:spPr>
            <a:xfrm>
              <a:off x="9735848" y="3736598"/>
              <a:ext cx="1625665" cy="81280"/>
            </a:xfrm>
            <a:prstGeom prst="rect">
              <a:avLst/>
            </a:prstGeom>
            <a:solidFill>
              <a:schemeClr val="accent2">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42" name="小红书平北职场PPT17"/>
            <p:cNvSpPr txBox="1"/>
            <p:nvPr/>
          </p:nvSpPr>
          <p:spPr>
            <a:xfrm>
              <a:off x="771712" y="3507998"/>
              <a:ext cx="1826141" cy="338554"/>
            </a:xfrm>
            <a:prstGeom prst="rect">
              <a:avLst/>
            </a:prstGeom>
            <a:noFill/>
          </p:spPr>
          <p:txBody>
            <a:bodyPr wrap="none">
              <a:spAutoFit/>
            </a:bodyPr>
            <a:lstStyle/>
            <a:p>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打好全年业务基础</a:t>
              </a:r>
              <a:endPar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p:txBody>
        </p:sp>
        <p:sp>
          <p:nvSpPr>
            <p:cNvPr id="43" name="小红书平北职场PPT18"/>
            <p:cNvSpPr txBox="1"/>
            <p:nvPr/>
          </p:nvSpPr>
          <p:spPr>
            <a:xfrm>
              <a:off x="3680042" y="3507998"/>
              <a:ext cx="1826141" cy="338554"/>
            </a:xfrm>
            <a:prstGeom prst="rect">
              <a:avLst/>
            </a:prstGeom>
            <a:noFill/>
          </p:spPr>
          <p:txBody>
            <a:bodyPr wrap="none">
              <a:spAutoFit/>
            </a:bodyPr>
            <a:lstStyle/>
            <a:p>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实现业务快速突破</a:t>
              </a:r>
              <a:endPar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p:txBody>
        </p:sp>
        <p:sp>
          <p:nvSpPr>
            <p:cNvPr id="44" name="小红书平北职场PPT19"/>
            <p:cNvSpPr txBox="1"/>
            <p:nvPr/>
          </p:nvSpPr>
          <p:spPr>
            <a:xfrm>
              <a:off x="6841761" y="3507998"/>
              <a:ext cx="1415772" cy="338554"/>
            </a:xfrm>
            <a:prstGeom prst="rect">
              <a:avLst/>
            </a:prstGeom>
            <a:noFill/>
          </p:spPr>
          <p:txBody>
            <a:bodyPr wrap="none">
              <a:spAutoFit/>
            </a:bodyPr>
            <a:lstStyle/>
            <a:p>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巩固市场地位</a:t>
              </a:r>
              <a:endPar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p:txBody>
        </p:sp>
        <p:sp>
          <p:nvSpPr>
            <p:cNvPr id="45" name="小红书平北职场PPT20"/>
            <p:cNvSpPr txBox="1"/>
            <p:nvPr/>
          </p:nvSpPr>
          <p:spPr>
            <a:xfrm>
              <a:off x="9644408" y="3507998"/>
              <a:ext cx="1826141" cy="338554"/>
            </a:xfrm>
            <a:prstGeom prst="rect">
              <a:avLst/>
            </a:prstGeom>
            <a:noFill/>
          </p:spPr>
          <p:txBody>
            <a:bodyPr wrap="none">
              <a:spAutoFit/>
            </a:bodyPr>
            <a:lstStyle/>
            <a:p>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确保全年目标达成</a:t>
              </a:r>
              <a:endPar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p:txBody>
        </p:sp>
        <p:sp>
          <p:nvSpPr>
            <p:cNvPr id="46" name="小红书平北职场PPT21"/>
            <p:cNvSpPr txBox="1"/>
            <p:nvPr/>
          </p:nvSpPr>
          <p:spPr>
            <a:xfrm>
              <a:off x="1247098" y="6044985"/>
              <a:ext cx="1569660" cy="369332"/>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完成关键布局</a:t>
              </a:r>
              <a:endParaRPr lang="zh-CN" altLang="en-US" dirty="0">
                <a:solidFill>
                  <a:schemeClr val="bg1"/>
                </a:solidFill>
                <a:latin typeface="+mj-ea"/>
                <a:ea typeface="+mj-ea"/>
                <a:cs typeface="思源黑体 CN Normal" panose="020B0400000000000000" pitchFamily="34" charset="-122"/>
              </a:endParaRPr>
            </a:p>
          </p:txBody>
        </p:sp>
        <p:sp>
          <p:nvSpPr>
            <p:cNvPr id="47" name="小红书平北职场PPT22"/>
            <p:cNvSpPr txBox="1"/>
            <p:nvPr/>
          </p:nvSpPr>
          <p:spPr>
            <a:xfrm>
              <a:off x="500802" y="5943977"/>
              <a:ext cx="620684" cy="523220"/>
            </a:xfrm>
            <a:prstGeom prst="rect">
              <a:avLst/>
            </a:prstGeom>
            <a:noFill/>
          </p:spPr>
          <p:txBody>
            <a:bodyPr wrap="none" rtlCol="0">
              <a:spAutoFit/>
            </a:bodyPr>
            <a:lstStyle/>
            <a:p>
              <a:pPr algn="ctr"/>
              <a:r>
                <a:rPr lang="en-US" altLang="zh-CN" sz="2800" dirty="0">
                  <a:solidFill>
                    <a:schemeClr val="bg1">
                      <a:alpha val="50000"/>
                    </a:schemeClr>
                  </a:solidFill>
                  <a:latin typeface="思源黑体 CN Heavy" panose="020B0A00000000000000" charset="-122"/>
                  <a:cs typeface="思源黑体 CN Normal" panose="020B0400000000000000" pitchFamily="34" charset="-122"/>
                </a:rPr>
                <a:t>01</a:t>
              </a:r>
              <a:endParaRPr lang="zh-CN" altLang="en-US" sz="2800" dirty="0">
                <a:solidFill>
                  <a:schemeClr val="bg1">
                    <a:alpha val="50000"/>
                  </a:schemeClr>
                </a:solidFill>
                <a:latin typeface="思源黑体 CN Heavy" panose="020B0A00000000000000" charset="-122"/>
                <a:cs typeface="思源黑体 CN Normal" panose="020B0400000000000000" pitchFamily="34" charset="-122"/>
              </a:endParaRPr>
            </a:p>
          </p:txBody>
        </p:sp>
        <p:cxnSp>
          <p:nvCxnSpPr>
            <p:cNvPr id="48" name="小红书平北职场PPT23"/>
            <p:cNvCxnSpPr/>
            <p:nvPr/>
          </p:nvCxnSpPr>
          <p:spPr>
            <a:xfrm>
              <a:off x="1162873" y="6044985"/>
              <a:ext cx="0" cy="369332"/>
            </a:xfrm>
            <a:prstGeom prst="line">
              <a:avLst/>
            </a:prstGeom>
            <a:ln w="1270">
              <a:solidFill>
                <a:schemeClr val="bg1"/>
              </a:solidFill>
              <a:prstDash val="solid"/>
            </a:ln>
          </p:spPr>
          <p:style>
            <a:lnRef idx="2">
              <a:schemeClr val="accent1"/>
            </a:lnRef>
            <a:fillRef idx="0">
              <a:schemeClr val="accent1"/>
            </a:fillRef>
            <a:effectRef idx="1">
              <a:schemeClr val="accent1"/>
            </a:effectRef>
            <a:fontRef idx="minor">
              <a:schemeClr val="tx1"/>
            </a:fontRef>
          </p:style>
        </p:cxnSp>
        <p:sp>
          <p:nvSpPr>
            <p:cNvPr id="49" name="小红书平北职场PPT24"/>
            <p:cNvSpPr txBox="1"/>
            <p:nvPr/>
          </p:nvSpPr>
          <p:spPr>
            <a:xfrm>
              <a:off x="4095161" y="6044985"/>
              <a:ext cx="1569660" cy="369332"/>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建立市场优势</a:t>
              </a:r>
              <a:endParaRPr lang="zh-CN" altLang="en-US" dirty="0">
                <a:solidFill>
                  <a:schemeClr val="bg1"/>
                </a:solidFill>
                <a:latin typeface="+mj-ea"/>
                <a:ea typeface="+mj-ea"/>
                <a:cs typeface="思源黑体 CN Normal" panose="020B0400000000000000" pitchFamily="34" charset="-122"/>
              </a:endParaRPr>
            </a:p>
          </p:txBody>
        </p:sp>
        <p:sp>
          <p:nvSpPr>
            <p:cNvPr id="50" name="小红书平北职场PPT25"/>
            <p:cNvSpPr txBox="1"/>
            <p:nvPr/>
          </p:nvSpPr>
          <p:spPr>
            <a:xfrm>
              <a:off x="3354035" y="5943977"/>
              <a:ext cx="620683" cy="523220"/>
            </a:xfrm>
            <a:prstGeom prst="rect">
              <a:avLst/>
            </a:prstGeom>
            <a:noFill/>
          </p:spPr>
          <p:txBody>
            <a:bodyPr wrap="none" rtlCol="0">
              <a:spAutoFit/>
            </a:bodyPr>
            <a:lstStyle/>
            <a:p>
              <a:pPr algn="ctr"/>
              <a:r>
                <a:rPr lang="en-US" altLang="zh-CN" sz="2800" dirty="0">
                  <a:solidFill>
                    <a:schemeClr val="bg1">
                      <a:alpha val="50000"/>
                    </a:schemeClr>
                  </a:solidFill>
                  <a:latin typeface="思源黑体 CN Heavy" panose="020B0A00000000000000" charset="-122"/>
                  <a:cs typeface="思源黑体 CN Normal" panose="020B0400000000000000" pitchFamily="34" charset="-122"/>
                </a:rPr>
                <a:t>02</a:t>
              </a:r>
              <a:endParaRPr lang="zh-CN" altLang="en-US" sz="2800" dirty="0">
                <a:solidFill>
                  <a:schemeClr val="bg1">
                    <a:alpha val="50000"/>
                  </a:schemeClr>
                </a:solidFill>
                <a:latin typeface="思源黑体 CN Heavy" panose="020B0A00000000000000" charset="-122"/>
                <a:cs typeface="思源黑体 CN Normal" panose="020B0400000000000000" pitchFamily="34" charset="-122"/>
              </a:endParaRPr>
            </a:p>
          </p:txBody>
        </p:sp>
        <p:cxnSp>
          <p:nvCxnSpPr>
            <p:cNvPr id="51" name="小红书平北职场PPT26"/>
            <p:cNvCxnSpPr/>
            <p:nvPr/>
          </p:nvCxnSpPr>
          <p:spPr>
            <a:xfrm>
              <a:off x="4021243" y="6044985"/>
              <a:ext cx="0" cy="369332"/>
            </a:xfrm>
            <a:prstGeom prst="line">
              <a:avLst/>
            </a:prstGeom>
            <a:ln w="1270">
              <a:solidFill>
                <a:schemeClr val="bg1"/>
              </a:solidFill>
              <a:prstDash val="solid"/>
            </a:ln>
          </p:spPr>
          <p:style>
            <a:lnRef idx="2">
              <a:schemeClr val="accent1"/>
            </a:lnRef>
            <a:fillRef idx="0">
              <a:schemeClr val="accent1"/>
            </a:fillRef>
            <a:effectRef idx="1">
              <a:schemeClr val="accent1"/>
            </a:effectRef>
            <a:fontRef idx="minor">
              <a:schemeClr val="tx1"/>
            </a:fontRef>
          </p:style>
        </p:cxnSp>
        <p:sp>
          <p:nvSpPr>
            <p:cNvPr id="52" name="小红书平北职场PPT27"/>
            <p:cNvSpPr txBox="1"/>
            <p:nvPr/>
          </p:nvSpPr>
          <p:spPr>
            <a:xfrm>
              <a:off x="7180008" y="6044985"/>
              <a:ext cx="1569660" cy="369332"/>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提升运营质量</a:t>
              </a:r>
              <a:endParaRPr lang="zh-CN" altLang="en-US" dirty="0">
                <a:solidFill>
                  <a:schemeClr val="bg1"/>
                </a:solidFill>
                <a:latin typeface="+mj-ea"/>
                <a:ea typeface="+mj-ea"/>
                <a:cs typeface="思源黑体 CN Normal" panose="020B0400000000000000" pitchFamily="34" charset="-122"/>
              </a:endParaRPr>
            </a:p>
          </p:txBody>
        </p:sp>
        <p:sp>
          <p:nvSpPr>
            <p:cNvPr id="53" name="小红书平北职场PPT28"/>
            <p:cNvSpPr txBox="1"/>
            <p:nvPr/>
          </p:nvSpPr>
          <p:spPr>
            <a:xfrm>
              <a:off x="6437644" y="5943977"/>
              <a:ext cx="620683" cy="523220"/>
            </a:xfrm>
            <a:prstGeom prst="rect">
              <a:avLst/>
            </a:prstGeom>
            <a:noFill/>
          </p:spPr>
          <p:txBody>
            <a:bodyPr wrap="none" rtlCol="0">
              <a:spAutoFit/>
            </a:bodyPr>
            <a:lstStyle/>
            <a:p>
              <a:pPr algn="ctr"/>
              <a:r>
                <a:rPr lang="en-US" altLang="zh-CN" sz="2800" dirty="0">
                  <a:solidFill>
                    <a:schemeClr val="bg1">
                      <a:alpha val="50000"/>
                    </a:schemeClr>
                  </a:solidFill>
                  <a:latin typeface="思源黑体 CN Heavy" panose="020B0A00000000000000" charset="-122"/>
                  <a:cs typeface="思源黑体 CN Normal" panose="020B0400000000000000" pitchFamily="34" charset="-122"/>
                </a:rPr>
                <a:t>03</a:t>
              </a:r>
              <a:endParaRPr lang="zh-CN" altLang="en-US" sz="2800" dirty="0">
                <a:solidFill>
                  <a:schemeClr val="bg1">
                    <a:alpha val="50000"/>
                  </a:schemeClr>
                </a:solidFill>
                <a:latin typeface="思源黑体 CN Heavy" panose="020B0A00000000000000" charset="-122"/>
                <a:cs typeface="思源黑体 CN Normal" panose="020B0400000000000000" pitchFamily="34" charset="-122"/>
              </a:endParaRPr>
            </a:p>
          </p:txBody>
        </p:sp>
        <p:cxnSp>
          <p:nvCxnSpPr>
            <p:cNvPr id="54" name="小红书平北职场PPT29"/>
            <p:cNvCxnSpPr/>
            <p:nvPr/>
          </p:nvCxnSpPr>
          <p:spPr>
            <a:xfrm>
              <a:off x="7118978" y="6044985"/>
              <a:ext cx="0" cy="369332"/>
            </a:xfrm>
            <a:prstGeom prst="line">
              <a:avLst/>
            </a:prstGeom>
            <a:ln w="1270">
              <a:solidFill>
                <a:schemeClr val="bg1"/>
              </a:solidFill>
              <a:prstDash val="solid"/>
            </a:ln>
          </p:spPr>
          <p:style>
            <a:lnRef idx="2">
              <a:schemeClr val="accent1"/>
            </a:lnRef>
            <a:fillRef idx="0">
              <a:schemeClr val="accent1"/>
            </a:fillRef>
            <a:effectRef idx="1">
              <a:schemeClr val="accent1"/>
            </a:effectRef>
            <a:fontRef idx="minor">
              <a:schemeClr val="tx1"/>
            </a:fontRef>
          </p:style>
        </p:cxnSp>
        <p:sp>
          <p:nvSpPr>
            <p:cNvPr id="55" name="小红书平北职场PPT30"/>
            <p:cNvSpPr txBox="1"/>
            <p:nvPr/>
          </p:nvSpPr>
          <p:spPr>
            <a:xfrm>
              <a:off x="10172932" y="6044985"/>
              <a:ext cx="1569660" cy="369332"/>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谋划未来发展</a:t>
              </a:r>
              <a:endParaRPr lang="zh-CN" altLang="en-US" dirty="0">
                <a:solidFill>
                  <a:schemeClr val="bg1"/>
                </a:solidFill>
                <a:latin typeface="+mj-ea"/>
                <a:ea typeface="+mj-ea"/>
                <a:cs typeface="思源黑体 CN Normal" panose="020B0400000000000000" pitchFamily="34" charset="-122"/>
              </a:endParaRPr>
            </a:p>
          </p:txBody>
        </p:sp>
        <p:sp>
          <p:nvSpPr>
            <p:cNvPr id="56" name="小红书平北职场PPT31"/>
            <p:cNvSpPr txBox="1"/>
            <p:nvPr/>
          </p:nvSpPr>
          <p:spPr>
            <a:xfrm>
              <a:off x="9430542" y="5943977"/>
              <a:ext cx="620683" cy="523220"/>
            </a:xfrm>
            <a:prstGeom prst="rect">
              <a:avLst/>
            </a:prstGeom>
            <a:noFill/>
          </p:spPr>
          <p:txBody>
            <a:bodyPr wrap="none" rtlCol="0">
              <a:spAutoFit/>
            </a:bodyPr>
            <a:lstStyle/>
            <a:p>
              <a:pPr algn="ctr"/>
              <a:r>
                <a:rPr lang="en-US" altLang="zh-CN" sz="2800" dirty="0">
                  <a:solidFill>
                    <a:schemeClr val="bg1">
                      <a:alpha val="50000"/>
                    </a:schemeClr>
                  </a:solidFill>
                  <a:latin typeface="思源黑体 CN Heavy" panose="020B0A00000000000000" charset="-122"/>
                  <a:cs typeface="思源黑体 CN Normal" panose="020B0400000000000000" pitchFamily="34" charset="-122"/>
                </a:rPr>
                <a:t>04</a:t>
              </a:r>
              <a:endParaRPr lang="zh-CN" altLang="en-US" sz="2800" dirty="0">
                <a:solidFill>
                  <a:schemeClr val="bg1">
                    <a:alpha val="50000"/>
                  </a:schemeClr>
                </a:solidFill>
                <a:latin typeface="思源黑体 CN Heavy" panose="020B0A00000000000000" charset="-122"/>
                <a:cs typeface="思源黑体 CN Normal" panose="020B0400000000000000" pitchFamily="34" charset="-122"/>
              </a:endParaRPr>
            </a:p>
          </p:txBody>
        </p:sp>
        <p:cxnSp>
          <p:nvCxnSpPr>
            <p:cNvPr id="57" name="小红书平北职场PPT32"/>
            <p:cNvCxnSpPr/>
            <p:nvPr/>
          </p:nvCxnSpPr>
          <p:spPr>
            <a:xfrm>
              <a:off x="10127816" y="6044985"/>
              <a:ext cx="0" cy="369332"/>
            </a:xfrm>
            <a:prstGeom prst="line">
              <a:avLst/>
            </a:prstGeom>
            <a:ln w="1270">
              <a:solidFill>
                <a:schemeClr val="bg1"/>
              </a:solidFill>
              <a:prstDash val="solid"/>
            </a:ln>
          </p:spPr>
          <p:style>
            <a:lnRef idx="2">
              <a:schemeClr val="accent1"/>
            </a:lnRef>
            <a:fillRef idx="0">
              <a:schemeClr val="accent1"/>
            </a:fillRef>
            <a:effectRef idx="1">
              <a:schemeClr val="accent1"/>
            </a:effectRef>
            <a:fontRef idx="minor">
              <a:schemeClr val="tx1"/>
            </a:fontRef>
          </p:style>
        </p:cxnSp>
      </p:grpSp>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 name="组合 129"/>
          <p:cNvGrpSpPr/>
          <p:nvPr/>
        </p:nvGrpSpPr>
        <p:grpSpPr>
          <a:xfrm>
            <a:off x="334963" y="184318"/>
            <a:ext cx="11522075" cy="6308589"/>
            <a:chOff x="334963" y="184318"/>
            <a:chExt cx="11522075" cy="6308589"/>
          </a:xfrm>
        </p:grpSpPr>
        <p:grpSp>
          <p:nvGrpSpPr>
            <p:cNvPr id="3" name="小红书平北职场PPT1"/>
            <p:cNvGrpSpPr/>
            <p:nvPr/>
          </p:nvGrpSpPr>
          <p:grpSpPr>
            <a:xfrm>
              <a:off x="2573042" y="1068013"/>
              <a:ext cx="7045916" cy="5150734"/>
              <a:chOff x="2682530" y="1068013"/>
              <a:chExt cx="7045916" cy="5150734"/>
            </a:xfrm>
          </p:grpSpPr>
          <p:sp>
            <p:nvSpPr>
              <p:cNvPr id="128" name="小红书平北职场PPT1-1"/>
              <p:cNvSpPr/>
              <p:nvPr/>
            </p:nvSpPr>
            <p:spPr>
              <a:xfrm rot="5400000">
                <a:off x="1414666" y="2335877"/>
                <a:ext cx="5150734" cy="2615005"/>
              </a:xfrm>
              <a:prstGeom prst="triangle">
                <a:avLst/>
              </a:prstGeom>
              <a:gradFill flip="none" rotWithShape="1">
                <a:gsLst>
                  <a:gs pos="0">
                    <a:schemeClr val="accent1">
                      <a:lumMod val="5000"/>
                      <a:lumOff val="95000"/>
                      <a:alpha val="0"/>
                    </a:schemeClr>
                  </a:gs>
                  <a:gs pos="97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sp>
            <p:nvSpPr>
              <p:cNvPr id="129" name="小红书平北职场PPT1-2"/>
              <p:cNvSpPr/>
              <p:nvPr/>
            </p:nvSpPr>
            <p:spPr>
              <a:xfrm rot="16200000" flipH="1">
                <a:off x="5905104" y="2276351"/>
                <a:ext cx="5031680" cy="2615005"/>
              </a:xfrm>
              <a:prstGeom prst="triangle">
                <a:avLst/>
              </a:prstGeom>
              <a:gradFill flip="none" rotWithShape="1">
                <a:gsLst>
                  <a:gs pos="0">
                    <a:schemeClr val="accent1">
                      <a:lumMod val="5000"/>
                      <a:lumOff val="95000"/>
                      <a:alpha val="0"/>
                    </a:schemeClr>
                  </a:gs>
                  <a:gs pos="97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grpSp>
        <p:grpSp>
          <p:nvGrpSpPr>
            <p:cNvPr id="4" name="小红书平北职场PPT2"/>
            <p:cNvGrpSpPr/>
            <p:nvPr/>
          </p:nvGrpSpPr>
          <p:grpSpPr>
            <a:xfrm>
              <a:off x="3464004" y="2171967"/>
              <a:ext cx="5263992" cy="2826342"/>
              <a:chOff x="3542202" y="2213952"/>
              <a:chExt cx="5107600" cy="2742371"/>
            </a:xfrm>
          </p:grpSpPr>
          <p:sp>
            <p:nvSpPr>
              <p:cNvPr id="126" name="小红书平北职场PPT2-1"/>
              <p:cNvSpPr/>
              <p:nvPr/>
            </p:nvSpPr>
            <p:spPr>
              <a:xfrm>
                <a:off x="3542202" y="2213952"/>
                <a:ext cx="2742373" cy="2742371"/>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114300">
                <a:noFill/>
              </a:ln>
              <a:effectLst>
                <a:outerShdw blurRad="165100" dist="76200" dir="540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思源黑体 CN Normal" panose="020B0400000000000000" pitchFamily="34" charset="-122"/>
                  <a:ea typeface="思源黑体 CN Normal" panose="020B0400000000000000" pitchFamily="34" charset="-122"/>
                </a:endParaRPr>
              </a:p>
            </p:txBody>
          </p:sp>
          <p:sp>
            <p:nvSpPr>
              <p:cNvPr id="127" name="小红书平北职场PPT2-2"/>
              <p:cNvSpPr/>
              <p:nvPr/>
            </p:nvSpPr>
            <p:spPr>
              <a:xfrm flipH="1">
                <a:off x="5907429" y="2213952"/>
                <a:ext cx="2742373" cy="2742371"/>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114300">
                <a:noFill/>
              </a:ln>
              <a:effectLst>
                <a:outerShdw blurRad="165100" dist="76200" dir="5400000" algn="ctr" rotWithShape="0">
                  <a:schemeClr val="accent2">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思源黑体 CN Normal" panose="020B0400000000000000" pitchFamily="34" charset="-122"/>
                  <a:ea typeface="思源黑体 CN Normal" panose="020B0400000000000000" pitchFamily="34" charset="-122"/>
                </a:endParaRPr>
              </a:p>
            </p:txBody>
          </p:sp>
        </p:grpSp>
        <p:grpSp>
          <p:nvGrpSpPr>
            <p:cNvPr id="5" name="小红书平北职场PPT3"/>
            <p:cNvGrpSpPr/>
            <p:nvPr/>
          </p:nvGrpSpPr>
          <p:grpSpPr>
            <a:xfrm>
              <a:off x="334963" y="184318"/>
              <a:ext cx="11522075" cy="506147"/>
              <a:chOff x="334963" y="184318"/>
              <a:chExt cx="11522075" cy="506147"/>
            </a:xfrm>
          </p:grpSpPr>
          <p:cxnSp>
            <p:nvCxnSpPr>
              <p:cNvPr id="124" name="小红书平北职场PPT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小红书平北职场PPT3-2"/>
              <p:cNvSpPr txBox="1"/>
              <p:nvPr>
                <p:custDataLst>
                  <p:tags r:id="rId2"/>
                </p:custDataLst>
              </p:nvPr>
            </p:nvSpPr>
            <p:spPr>
              <a:xfrm>
                <a:off x="334963" y="184318"/>
                <a:ext cx="5027017"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述职报告：不足之处与改进策略</a:t>
                </a:r>
                <a:endParaRPr lang="zh-CN" altLang="en-US" sz="2800" dirty="0">
                  <a:latin typeface="+mj-ea"/>
                  <a:ea typeface="+mj-ea"/>
                  <a:cs typeface="思源黑体 CN Normal" panose="020B0400000000000000" pitchFamily="34" charset="-122"/>
                  <a:sym typeface="+mj-ea"/>
                </a:endParaRPr>
              </a:p>
            </p:txBody>
          </p:sp>
        </p:grpSp>
        <p:sp>
          <p:nvSpPr>
            <p:cNvPr id="6" name="小红书平北职场PPT4"/>
            <p:cNvSpPr/>
            <p:nvPr/>
          </p:nvSpPr>
          <p:spPr>
            <a:xfrm>
              <a:off x="3484209" y="2677196"/>
              <a:ext cx="2977939" cy="2977938"/>
            </a:xfrm>
            <a:prstGeom prst="ellipse">
              <a:avLst/>
            </a:prstGeom>
            <a:solidFill>
              <a:schemeClr val="accent1">
                <a:alpha val="52000"/>
              </a:schemeClr>
            </a:solidFill>
            <a:ln>
              <a:noFill/>
            </a:ln>
            <a:effectLst>
              <a:softEdge rad="508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sp>
          <p:nvSpPr>
            <p:cNvPr id="7" name="小红书平北职场PPT5"/>
            <p:cNvSpPr/>
            <p:nvPr/>
          </p:nvSpPr>
          <p:spPr>
            <a:xfrm flipH="1">
              <a:off x="5729852" y="2677196"/>
              <a:ext cx="2977939" cy="2977938"/>
            </a:xfrm>
            <a:prstGeom prst="ellipse">
              <a:avLst/>
            </a:prstGeom>
            <a:solidFill>
              <a:schemeClr val="accent2">
                <a:alpha val="52000"/>
              </a:schemeClr>
            </a:solidFill>
            <a:ln>
              <a:noFill/>
            </a:ln>
            <a:effectLst>
              <a:softEdge rad="508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grpSp>
          <p:nvGrpSpPr>
            <p:cNvPr id="8" name="小红书平北职场PPT6"/>
            <p:cNvGrpSpPr/>
            <p:nvPr/>
          </p:nvGrpSpPr>
          <p:grpSpPr>
            <a:xfrm>
              <a:off x="452007" y="1066266"/>
              <a:ext cx="11287986" cy="5426641"/>
              <a:chOff x="452007" y="1066266"/>
              <a:chExt cx="11287986" cy="5426641"/>
            </a:xfrm>
          </p:grpSpPr>
          <p:grpSp>
            <p:nvGrpSpPr>
              <p:cNvPr id="60" name="组合 59"/>
              <p:cNvGrpSpPr/>
              <p:nvPr/>
            </p:nvGrpSpPr>
            <p:grpSpPr>
              <a:xfrm>
                <a:off x="452007" y="2970678"/>
                <a:ext cx="11287986" cy="1588148"/>
                <a:chOff x="452007" y="2970678"/>
                <a:chExt cx="11287986" cy="1588148"/>
              </a:xfrm>
            </p:grpSpPr>
            <p:grpSp>
              <p:nvGrpSpPr>
                <p:cNvPr id="103" name="组合 102"/>
                <p:cNvGrpSpPr/>
                <p:nvPr/>
              </p:nvGrpSpPr>
              <p:grpSpPr>
                <a:xfrm>
                  <a:off x="452007" y="2970678"/>
                  <a:ext cx="2800624" cy="1588148"/>
                  <a:chOff x="590606" y="2970678"/>
                  <a:chExt cx="2800624" cy="1588148"/>
                </a:xfrm>
              </p:grpSpPr>
              <p:sp>
                <p:nvSpPr>
                  <p:cNvPr id="115" name="小红书平北职场PPT6-1"/>
                  <p:cNvSpPr/>
                  <p:nvPr/>
                </p:nvSpPr>
                <p:spPr>
                  <a:xfrm>
                    <a:off x="598876" y="2970678"/>
                    <a:ext cx="2405232" cy="393990"/>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16" name="小红书平北职场PPT6-2"/>
                  <p:cNvSpPr txBox="1"/>
                  <p:nvPr/>
                </p:nvSpPr>
                <p:spPr>
                  <a:xfrm>
                    <a:off x="861266" y="2990855"/>
                    <a:ext cx="1800493" cy="369332"/>
                  </a:xfrm>
                  <a:prstGeom prst="rect">
                    <a:avLst/>
                  </a:prstGeom>
                  <a:noFill/>
                </p:spPr>
                <p:txBody>
                  <a:bodyPr wrap="none">
                    <a:spAutoFit/>
                  </a:bodyPr>
                  <a:lstStyle>
                    <a:defPPr>
                      <a:defRPr lang="zh-CN"/>
                    </a:defPPr>
                    <a:lvl1pPr marR="0" lvl="0" indent="0" fontAlgn="auto">
                      <a:lnSpc>
                        <a:spcPct val="100000"/>
                      </a:lnSpc>
                      <a:spcBef>
                        <a:spcPts val="0"/>
                      </a:spcBef>
                      <a:spcAft>
                        <a:spcPts val="0"/>
                      </a:spcAft>
                      <a:buClrTx/>
                      <a:buSzTx/>
                      <a:buFontTx/>
                      <a:buNone/>
                      <a:defRPr kumimoji="0" sz="1400" i="0" u="none" strike="noStrike" cap="none" spc="0" normalizeH="0" baseline="0">
                        <a:ln>
                          <a:noFill/>
                        </a:ln>
                        <a:solidFill>
                          <a:prstClr val="black"/>
                        </a:solidFill>
                        <a:effectLst/>
                        <a:uLnTx/>
                        <a:uFillTx/>
                        <a:latin typeface="+mj-ea"/>
                        <a:ea typeface="+mj-ea"/>
                        <a:cs typeface="OPPOSans R" panose="00020600040101010101"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rPr>
                      <a:t>差异化市场竞争</a:t>
                    </a:r>
                    <a:endPar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endParaRPr>
                  </a:p>
                </p:txBody>
              </p:sp>
              <p:grpSp>
                <p:nvGrpSpPr>
                  <p:cNvPr id="117" name="组合 116"/>
                  <p:cNvGrpSpPr/>
                  <p:nvPr/>
                </p:nvGrpSpPr>
                <p:grpSpPr>
                  <a:xfrm>
                    <a:off x="590606" y="3679758"/>
                    <a:ext cx="533489" cy="611085"/>
                    <a:chOff x="548118" y="3663177"/>
                    <a:chExt cx="618460" cy="708414"/>
                  </a:xfrm>
                </p:grpSpPr>
                <p:sp>
                  <p:nvSpPr>
                    <p:cNvPr id="119" name="小红书平北职场PPT6-3"/>
                    <p:cNvSpPr/>
                    <p:nvPr/>
                  </p:nvSpPr>
                  <p:spPr>
                    <a:xfrm>
                      <a:off x="615585" y="4259146"/>
                      <a:ext cx="44978" cy="44978"/>
                    </a:xfrm>
                    <a:custGeom>
                      <a:avLst/>
                      <a:gdLst>
                        <a:gd name="connsiteX0" fmla="*/ 26516 w 26515"/>
                        <a:gd name="connsiteY0" fmla="*/ 13258 h 26515"/>
                        <a:gd name="connsiteX1" fmla="*/ 13258 w 26515"/>
                        <a:gd name="connsiteY1" fmla="*/ 26516 h 26515"/>
                        <a:gd name="connsiteX2" fmla="*/ 0 w 26515"/>
                        <a:gd name="connsiteY2" fmla="*/ 13258 h 26515"/>
                        <a:gd name="connsiteX3" fmla="*/ 13258 w 26515"/>
                        <a:gd name="connsiteY3" fmla="*/ 0 h 26515"/>
                        <a:gd name="connsiteX4" fmla="*/ 26516 w 26515"/>
                        <a:gd name="connsiteY4" fmla="*/ 13258 h 26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15" h="26515">
                          <a:moveTo>
                            <a:pt x="26516" y="13258"/>
                          </a:moveTo>
                          <a:cubicBezTo>
                            <a:pt x="26516" y="20580"/>
                            <a:pt x="20580" y="26516"/>
                            <a:pt x="13258" y="26516"/>
                          </a:cubicBezTo>
                          <a:cubicBezTo>
                            <a:pt x="5936" y="26516"/>
                            <a:pt x="0" y="20580"/>
                            <a:pt x="0" y="13258"/>
                          </a:cubicBezTo>
                          <a:cubicBezTo>
                            <a:pt x="0" y="5936"/>
                            <a:pt x="5936" y="0"/>
                            <a:pt x="13258" y="0"/>
                          </a:cubicBezTo>
                          <a:cubicBezTo>
                            <a:pt x="20580" y="0"/>
                            <a:pt x="26516" y="5936"/>
                            <a:pt x="26516" y="13258"/>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20" name="小红书平北职场PPT6-4"/>
                    <p:cNvSpPr/>
                    <p:nvPr/>
                  </p:nvSpPr>
                  <p:spPr>
                    <a:xfrm>
                      <a:off x="683055" y="4259146"/>
                      <a:ext cx="44978" cy="44978"/>
                    </a:xfrm>
                    <a:custGeom>
                      <a:avLst/>
                      <a:gdLst>
                        <a:gd name="connsiteX0" fmla="*/ 26516 w 26515"/>
                        <a:gd name="connsiteY0" fmla="*/ 13258 h 26515"/>
                        <a:gd name="connsiteX1" fmla="*/ 13258 w 26515"/>
                        <a:gd name="connsiteY1" fmla="*/ 26516 h 26515"/>
                        <a:gd name="connsiteX2" fmla="*/ 0 w 26515"/>
                        <a:gd name="connsiteY2" fmla="*/ 13258 h 26515"/>
                        <a:gd name="connsiteX3" fmla="*/ 13258 w 26515"/>
                        <a:gd name="connsiteY3" fmla="*/ 0 h 26515"/>
                        <a:gd name="connsiteX4" fmla="*/ 26516 w 26515"/>
                        <a:gd name="connsiteY4" fmla="*/ 13258 h 26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15" h="26515">
                          <a:moveTo>
                            <a:pt x="26516" y="13258"/>
                          </a:moveTo>
                          <a:cubicBezTo>
                            <a:pt x="26516" y="20580"/>
                            <a:pt x="20580" y="26516"/>
                            <a:pt x="13258" y="26516"/>
                          </a:cubicBezTo>
                          <a:cubicBezTo>
                            <a:pt x="5936" y="26516"/>
                            <a:pt x="0" y="20580"/>
                            <a:pt x="0" y="13258"/>
                          </a:cubicBezTo>
                          <a:cubicBezTo>
                            <a:pt x="0" y="5936"/>
                            <a:pt x="5936" y="0"/>
                            <a:pt x="13258" y="0"/>
                          </a:cubicBezTo>
                          <a:cubicBezTo>
                            <a:pt x="20580" y="0"/>
                            <a:pt x="26516" y="5936"/>
                            <a:pt x="26516" y="13258"/>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21" name="小红书平北职场PPT6-5"/>
                    <p:cNvSpPr/>
                    <p:nvPr/>
                  </p:nvSpPr>
                  <p:spPr>
                    <a:xfrm>
                      <a:off x="750524" y="4259146"/>
                      <a:ext cx="44978" cy="44978"/>
                    </a:xfrm>
                    <a:custGeom>
                      <a:avLst/>
                      <a:gdLst>
                        <a:gd name="connsiteX0" fmla="*/ 26516 w 26515"/>
                        <a:gd name="connsiteY0" fmla="*/ 13258 h 26515"/>
                        <a:gd name="connsiteX1" fmla="*/ 13258 w 26515"/>
                        <a:gd name="connsiteY1" fmla="*/ 26516 h 26515"/>
                        <a:gd name="connsiteX2" fmla="*/ 0 w 26515"/>
                        <a:gd name="connsiteY2" fmla="*/ 13258 h 26515"/>
                        <a:gd name="connsiteX3" fmla="*/ 13258 w 26515"/>
                        <a:gd name="connsiteY3" fmla="*/ 0 h 26515"/>
                        <a:gd name="connsiteX4" fmla="*/ 26516 w 26515"/>
                        <a:gd name="connsiteY4" fmla="*/ 13258 h 26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15" h="26515">
                          <a:moveTo>
                            <a:pt x="26516" y="13258"/>
                          </a:moveTo>
                          <a:cubicBezTo>
                            <a:pt x="26516" y="20580"/>
                            <a:pt x="20580" y="26516"/>
                            <a:pt x="13258" y="26516"/>
                          </a:cubicBezTo>
                          <a:cubicBezTo>
                            <a:pt x="5936" y="26516"/>
                            <a:pt x="0" y="20580"/>
                            <a:pt x="0" y="13258"/>
                          </a:cubicBezTo>
                          <a:cubicBezTo>
                            <a:pt x="0" y="5936"/>
                            <a:pt x="5936" y="0"/>
                            <a:pt x="13258" y="0"/>
                          </a:cubicBezTo>
                          <a:cubicBezTo>
                            <a:pt x="20580" y="0"/>
                            <a:pt x="26516" y="5936"/>
                            <a:pt x="26516" y="13258"/>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22" name="小红书平北职场PPT6-6"/>
                    <p:cNvSpPr/>
                    <p:nvPr/>
                  </p:nvSpPr>
                  <p:spPr>
                    <a:xfrm>
                      <a:off x="548118" y="3876849"/>
                      <a:ext cx="618460" cy="494742"/>
                    </a:xfrm>
                    <a:custGeom>
                      <a:avLst/>
                      <a:gdLst>
                        <a:gd name="connsiteX0" fmla="*/ 362287 w 364591"/>
                        <a:gd name="connsiteY0" fmla="*/ 43337 h 291659"/>
                        <a:gd name="connsiteX1" fmla="*/ 329142 w 364591"/>
                        <a:gd name="connsiteY1" fmla="*/ 3563 h 291659"/>
                        <a:gd name="connsiteX2" fmla="*/ 315134 w 364591"/>
                        <a:gd name="connsiteY2" fmla="*/ 2318 h 291659"/>
                        <a:gd name="connsiteX3" fmla="*/ 313865 w 364591"/>
                        <a:gd name="connsiteY3" fmla="*/ 16297 h 291659"/>
                        <a:gd name="connsiteX4" fmla="*/ 338972 w 364591"/>
                        <a:gd name="connsiteY4" fmla="*/ 46423 h 291659"/>
                        <a:gd name="connsiteX5" fmla="*/ 182296 w 364591"/>
                        <a:gd name="connsiteY5" fmla="*/ 124761 h 291659"/>
                        <a:gd name="connsiteX6" fmla="*/ 25620 w 364591"/>
                        <a:gd name="connsiteY6" fmla="*/ 46423 h 291659"/>
                        <a:gd name="connsiteX7" fmla="*/ 50727 w 364591"/>
                        <a:gd name="connsiteY7" fmla="*/ 16297 h 291659"/>
                        <a:gd name="connsiteX8" fmla="*/ 49428 w 364591"/>
                        <a:gd name="connsiteY8" fmla="*/ 2293 h 291659"/>
                        <a:gd name="connsiteX9" fmla="*/ 35449 w 364591"/>
                        <a:gd name="connsiteY9" fmla="*/ 3563 h 291659"/>
                        <a:gd name="connsiteX10" fmla="*/ 2305 w 364591"/>
                        <a:gd name="connsiteY10" fmla="*/ 43337 h 291659"/>
                        <a:gd name="connsiteX11" fmla="*/ 0 w 364591"/>
                        <a:gd name="connsiteY11" fmla="*/ 49703 h 291659"/>
                        <a:gd name="connsiteX12" fmla="*/ 0 w 364591"/>
                        <a:gd name="connsiteY12" fmla="*/ 268458 h 291659"/>
                        <a:gd name="connsiteX13" fmla="*/ 23201 w 364591"/>
                        <a:gd name="connsiteY13" fmla="*/ 291660 h 291659"/>
                        <a:gd name="connsiteX14" fmla="*/ 341390 w 364591"/>
                        <a:gd name="connsiteY14" fmla="*/ 291660 h 291659"/>
                        <a:gd name="connsiteX15" fmla="*/ 364592 w 364591"/>
                        <a:gd name="connsiteY15" fmla="*/ 268458 h 291659"/>
                        <a:gd name="connsiteX16" fmla="*/ 364592 w 364591"/>
                        <a:gd name="connsiteY16" fmla="*/ 49703 h 291659"/>
                        <a:gd name="connsiteX17" fmla="*/ 362287 w 364591"/>
                        <a:gd name="connsiteY17" fmla="*/ 43337 h 291659"/>
                        <a:gd name="connsiteX18" fmla="*/ 341390 w 364591"/>
                        <a:gd name="connsiteY18" fmla="*/ 271773 h 291659"/>
                        <a:gd name="connsiteX19" fmla="*/ 23201 w 364591"/>
                        <a:gd name="connsiteY19" fmla="*/ 271773 h 291659"/>
                        <a:gd name="connsiteX20" fmla="*/ 19887 w 364591"/>
                        <a:gd name="connsiteY20" fmla="*/ 268458 h 291659"/>
                        <a:gd name="connsiteX21" fmla="*/ 19887 w 364591"/>
                        <a:gd name="connsiteY21" fmla="*/ 65793 h 291659"/>
                        <a:gd name="connsiteX22" fmla="*/ 177700 w 364591"/>
                        <a:gd name="connsiteY22" fmla="*/ 144700 h 291659"/>
                        <a:gd name="connsiteX23" fmla="*/ 237127 w 364591"/>
                        <a:gd name="connsiteY23" fmla="*/ 177715 h 291659"/>
                        <a:gd name="connsiteX24" fmla="*/ 250664 w 364591"/>
                        <a:gd name="connsiteY24" fmla="*/ 173912 h 291659"/>
                        <a:gd name="connsiteX25" fmla="*/ 246860 w 364591"/>
                        <a:gd name="connsiteY25" fmla="*/ 160375 h 291659"/>
                        <a:gd name="connsiteX26" fmla="*/ 246785 w 364591"/>
                        <a:gd name="connsiteY26" fmla="*/ 160333 h 291659"/>
                        <a:gd name="connsiteX27" fmla="*/ 203604 w 364591"/>
                        <a:gd name="connsiteY27" fmla="*/ 136344 h 291659"/>
                        <a:gd name="connsiteX28" fmla="*/ 344705 w 364591"/>
                        <a:gd name="connsiteY28" fmla="*/ 65793 h 291659"/>
                        <a:gd name="connsiteX29" fmla="*/ 344705 w 364591"/>
                        <a:gd name="connsiteY29" fmla="*/ 268458 h 291659"/>
                        <a:gd name="connsiteX30" fmla="*/ 341390 w 364591"/>
                        <a:gd name="connsiteY30" fmla="*/ 271773 h 29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4591" h="291659">
                          <a:moveTo>
                            <a:pt x="362287" y="43337"/>
                          </a:moveTo>
                          <a:lnTo>
                            <a:pt x="329142" y="3563"/>
                          </a:lnTo>
                          <a:cubicBezTo>
                            <a:pt x="325618" y="-649"/>
                            <a:pt x="319346" y="-1206"/>
                            <a:pt x="315134" y="2318"/>
                          </a:cubicBezTo>
                          <a:cubicBezTo>
                            <a:pt x="310934" y="5833"/>
                            <a:pt x="310366" y="12082"/>
                            <a:pt x="313865" y="16297"/>
                          </a:cubicBezTo>
                          <a:lnTo>
                            <a:pt x="338972" y="46423"/>
                          </a:lnTo>
                          <a:lnTo>
                            <a:pt x="182296" y="124761"/>
                          </a:lnTo>
                          <a:lnTo>
                            <a:pt x="25620" y="46423"/>
                          </a:lnTo>
                          <a:lnTo>
                            <a:pt x="50727" y="16297"/>
                          </a:lnTo>
                          <a:cubicBezTo>
                            <a:pt x="54235" y="12071"/>
                            <a:pt x="53653" y="5802"/>
                            <a:pt x="49428" y="2293"/>
                          </a:cubicBezTo>
                          <a:cubicBezTo>
                            <a:pt x="45214" y="-1205"/>
                            <a:pt x="38964" y="-638"/>
                            <a:pt x="35449" y="3563"/>
                          </a:cubicBezTo>
                          <a:lnTo>
                            <a:pt x="2305" y="43337"/>
                          </a:lnTo>
                          <a:cubicBezTo>
                            <a:pt x="815" y="45124"/>
                            <a:pt x="0" y="47377"/>
                            <a:pt x="0" y="49703"/>
                          </a:cubicBezTo>
                          <a:lnTo>
                            <a:pt x="0" y="268458"/>
                          </a:lnTo>
                          <a:cubicBezTo>
                            <a:pt x="15" y="281266"/>
                            <a:pt x="10394" y="291644"/>
                            <a:pt x="23201" y="291660"/>
                          </a:cubicBezTo>
                          <a:lnTo>
                            <a:pt x="341390" y="291660"/>
                          </a:lnTo>
                          <a:cubicBezTo>
                            <a:pt x="354198" y="291644"/>
                            <a:pt x="364576" y="281266"/>
                            <a:pt x="364592" y="268458"/>
                          </a:cubicBezTo>
                          <a:lnTo>
                            <a:pt x="364592" y="49703"/>
                          </a:lnTo>
                          <a:cubicBezTo>
                            <a:pt x="364592" y="47377"/>
                            <a:pt x="363776" y="45124"/>
                            <a:pt x="362287" y="43337"/>
                          </a:cubicBezTo>
                          <a:close/>
                          <a:moveTo>
                            <a:pt x="341390" y="271773"/>
                          </a:moveTo>
                          <a:lnTo>
                            <a:pt x="23201" y="271773"/>
                          </a:lnTo>
                          <a:cubicBezTo>
                            <a:pt x="21372" y="271770"/>
                            <a:pt x="19889" y="270288"/>
                            <a:pt x="19887" y="268458"/>
                          </a:cubicBezTo>
                          <a:lnTo>
                            <a:pt x="19887" y="65793"/>
                          </a:lnTo>
                          <a:lnTo>
                            <a:pt x="177700" y="144700"/>
                          </a:lnTo>
                          <a:lnTo>
                            <a:pt x="237127" y="177715"/>
                          </a:lnTo>
                          <a:cubicBezTo>
                            <a:pt x="241915" y="180403"/>
                            <a:pt x="247976" y="178700"/>
                            <a:pt x="250664" y="173912"/>
                          </a:cubicBezTo>
                          <a:cubicBezTo>
                            <a:pt x="253351" y="169123"/>
                            <a:pt x="251649" y="163063"/>
                            <a:pt x="246860" y="160375"/>
                          </a:cubicBezTo>
                          <a:cubicBezTo>
                            <a:pt x="246835" y="160361"/>
                            <a:pt x="246810" y="160347"/>
                            <a:pt x="246785" y="160333"/>
                          </a:cubicBezTo>
                          <a:lnTo>
                            <a:pt x="203604" y="136344"/>
                          </a:lnTo>
                          <a:lnTo>
                            <a:pt x="344705" y="65793"/>
                          </a:lnTo>
                          <a:lnTo>
                            <a:pt x="344705" y="268458"/>
                          </a:lnTo>
                          <a:cubicBezTo>
                            <a:pt x="344702" y="270288"/>
                            <a:pt x="343220" y="271770"/>
                            <a:pt x="341390" y="271773"/>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23" name="小红书平北职场PPT6-7"/>
                    <p:cNvSpPr/>
                    <p:nvPr/>
                  </p:nvSpPr>
                  <p:spPr>
                    <a:xfrm>
                      <a:off x="671810" y="3663177"/>
                      <a:ext cx="371077" cy="374337"/>
                    </a:xfrm>
                    <a:custGeom>
                      <a:avLst/>
                      <a:gdLst>
                        <a:gd name="connsiteX0" fmla="*/ 155780 w 218755"/>
                        <a:gd name="connsiteY0" fmla="*/ 0 h 220678"/>
                        <a:gd name="connsiteX1" fmla="*/ 23201 w 218755"/>
                        <a:gd name="connsiteY1" fmla="*/ 0 h 220678"/>
                        <a:gd name="connsiteX2" fmla="*/ 0 w 218755"/>
                        <a:gd name="connsiteY2" fmla="*/ 23201 h 220678"/>
                        <a:gd name="connsiteX3" fmla="*/ 0 w 218755"/>
                        <a:gd name="connsiteY3" fmla="*/ 161017 h 220678"/>
                        <a:gd name="connsiteX4" fmla="*/ 5502 w 218755"/>
                        <a:gd name="connsiteY4" fmla="*/ 169900 h 220678"/>
                        <a:gd name="connsiteX5" fmla="*/ 104936 w 218755"/>
                        <a:gd name="connsiteY5" fmla="*/ 219617 h 220678"/>
                        <a:gd name="connsiteX6" fmla="*/ 113819 w 218755"/>
                        <a:gd name="connsiteY6" fmla="*/ 219617 h 220678"/>
                        <a:gd name="connsiteX7" fmla="*/ 213253 w 218755"/>
                        <a:gd name="connsiteY7" fmla="*/ 169900 h 220678"/>
                        <a:gd name="connsiteX8" fmla="*/ 218755 w 218755"/>
                        <a:gd name="connsiteY8" fmla="*/ 161017 h 220678"/>
                        <a:gd name="connsiteX9" fmla="*/ 218755 w 218755"/>
                        <a:gd name="connsiteY9" fmla="*/ 62975 h 220678"/>
                        <a:gd name="connsiteX10" fmla="*/ 155780 w 218755"/>
                        <a:gd name="connsiteY10" fmla="*/ 0 h 220678"/>
                        <a:gd name="connsiteX11" fmla="*/ 36459 w 218755"/>
                        <a:gd name="connsiteY11" fmla="*/ 46403 h 220678"/>
                        <a:gd name="connsiteX12" fmla="*/ 122635 w 218755"/>
                        <a:gd name="connsiteY12" fmla="*/ 46403 h 220678"/>
                        <a:gd name="connsiteX13" fmla="*/ 132579 w 218755"/>
                        <a:gd name="connsiteY13" fmla="*/ 56346 h 220678"/>
                        <a:gd name="connsiteX14" fmla="*/ 122635 w 218755"/>
                        <a:gd name="connsiteY14" fmla="*/ 66289 h 220678"/>
                        <a:gd name="connsiteX15" fmla="*/ 36459 w 218755"/>
                        <a:gd name="connsiteY15" fmla="*/ 66289 h 220678"/>
                        <a:gd name="connsiteX16" fmla="*/ 26516 w 218755"/>
                        <a:gd name="connsiteY16" fmla="*/ 56346 h 220678"/>
                        <a:gd name="connsiteX17" fmla="*/ 36459 w 218755"/>
                        <a:gd name="connsiteY17" fmla="*/ 46403 h 220678"/>
                        <a:gd name="connsiteX18" fmla="*/ 182296 w 218755"/>
                        <a:gd name="connsiteY18" fmla="*/ 132579 h 220678"/>
                        <a:gd name="connsiteX19" fmla="*/ 36459 w 218755"/>
                        <a:gd name="connsiteY19" fmla="*/ 132579 h 220678"/>
                        <a:gd name="connsiteX20" fmla="*/ 26516 w 218755"/>
                        <a:gd name="connsiteY20" fmla="*/ 122635 h 220678"/>
                        <a:gd name="connsiteX21" fmla="*/ 36459 w 218755"/>
                        <a:gd name="connsiteY21" fmla="*/ 112692 h 220678"/>
                        <a:gd name="connsiteX22" fmla="*/ 182296 w 218755"/>
                        <a:gd name="connsiteY22" fmla="*/ 112692 h 220678"/>
                        <a:gd name="connsiteX23" fmla="*/ 192239 w 218755"/>
                        <a:gd name="connsiteY23" fmla="*/ 122635 h 220678"/>
                        <a:gd name="connsiteX24" fmla="*/ 182296 w 218755"/>
                        <a:gd name="connsiteY24" fmla="*/ 132579 h 220678"/>
                        <a:gd name="connsiteX25" fmla="*/ 198868 w 218755"/>
                        <a:gd name="connsiteY25" fmla="*/ 66289 h 220678"/>
                        <a:gd name="connsiteX26" fmla="*/ 159095 w 218755"/>
                        <a:gd name="connsiteY26" fmla="*/ 66289 h 220678"/>
                        <a:gd name="connsiteX27" fmla="*/ 159095 w 218755"/>
                        <a:gd name="connsiteY27" fmla="*/ 20019 h 220678"/>
                        <a:gd name="connsiteX28" fmla="*/ 198868 w 218755"/>
                        <a:gd name="connsiteY28" fmla="*/ 62975 h 22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755" h="220678">
                          <a:moveTo>
                            <a:pt x="155780" y="0"/>
                          </a:moveTo>
                          <a:lnTo>
                            <a:pt x="23201" y="0"/>
                          </a:lnTo>
                          <a:cubicBezTo>
                            <a:pt x="10393" y="14"/>
                            <a:pt x="14" y="10393"/>
                            <a:pt x="0" y="23201"/>
                          </a:cubicBezTo>
                          <a:lnTo>
                            <a:pt x="0" y="161017"/>
                          </a:lnTo>
                          <a:cubicBezTo>
                            <a:pt x="-13" y="164786"/>
                            <a:pt x="2122" y="168233"/>
                            <a:pt x="5502" y="169900"/>
                          </a:cubicBezTo>
                          <a:lnTo>
                            <a:pt x="104936" y="219617"/>
                          </a:lnTo>
                          <a:cubicBezTo>
                            <a:pt x="107728" y="221032"/>
                            <a:pt x="111027" y="221032"/>
                            <a:pt x="113819" y="219617"/>
                          </a:cubicBezTo>
                          <a:lnTo>
                            <a:pt x="213253" y="169900"/>
                          </a:lnTo>
                          <a:cubicBezTo>
                            <a:pt x="216633" y="168233"/>
                            <a:pt x="218768" y="164786"/>
                            <a:pt x="218755" y="161017"/>
                          </a:cubicBezTo>
                          <a:lnTo>
                            <a:pt x="218755" y="62975"/>
                          </a:lnTo>
                          <a:cubicBezTo>
                            <a:pt x="218724" y="28208"/>
                            <a:pt x="190547" y="31"/>
                            <a:pt x="155780" y="0"/>
                          </a:cubicBezTo>
                          <a:close/>
                          <a:moveTo>
                            <a:pt x="36459" y="46403"/>
                          </a:moveTo>
                          <a:lnTo>
                            <a:pt x="122635" y="46403"/>
                          </a:lnTo>
                          <a:cubicBezTo>
                            <a:pt x="128127" y="46403"/>
                            <a:pt x="132579" y="50854"/>
                            <a:pt x="132579" y="56346"/>
                          </a:cubicBezTo>
                          <a:cubicBezTo>
                            <a:pt x="132579" y="61838"/>
                            <a:pt x="128127" y="66289"/>
                            <a:pt x="122635" y="66289"/>
                          </a:cubicBezTo>
                          <a:lnTo>
                            <a:pt x="36459" y="66289"/>
                          </a:lnTo>
                          <a:cubicBezTo>
                            <a:pt x="30968" y="66289"/>
                            <a:pt x="26516" y="61838"/>
                            <a:pt x="26516" y="56346"/>
                          </a:cubicBezTo>
                          <a:cubicBezTo>
                            <a:pt x="26516" y="50854"/>
                            <a:pt x="30968" y="46403"/>
                            <a:pt x="36459" y="46403"/>
                          </a:cubicBezTo>
                          <a:close/>
                          <a:moveTo>
                            <a:pt x="182296" y="132579"/>
                          </a:moveTo>
                          <a:lnTo>
                            <a:pt x="36459" y="132579"/>
                          </a:lnTo>
                          <a:cubicBezTo>
                            <a:pt x="30968" y="132579"/>
                            <a:pt x="26516" y="128127"/>
                            <a:pt x="26516" y="122635"/>
                          </a:cubicBezTo>
                          <a:cubicBezTo>
                            <a:pt x="26516" y="117144"/>
                            <a:pt x="30968" y="112692"/>
                            <a:pt x="36459" y="112692"/>
                          </a:cubicBezTo>
                          <a:lnTo>
                            <a:pt x="182296" y="112692"/>
                          </a:lnTo>
                          <a:cubicBezTo>
                            <a:pt x="187787" y="112692"/>
                            <a:pt x="192239" y="117144"/>
                            <a:pt x="192239" y="122635"/>
                          </a:cubicBezTo>
                          <a:cubicBezTo>
                            <a:pt x="192239" y="128127"/>
                            <a:pt x="187787" y="132579"/>
                            <a:pt x="182296" y="132579"/>
                          </a:cubicBezTo>
                          <a:close/>
                          <a:moveTo>
                            <a:pt x="198868" y="66289"/>
                          </a:moveTo>
                          <a:lnTo>
                            <a:pt x="159095" y="66289"/>
                          </a:lnTo>
                          <a:lnTo>
                            <a:pt x="159095" y="20019"/>
                          </a:lnTo>
                          <a:cubicBezTo>
                            <a:pt x="181514" y="21800"/>
                            <a:pt x="198815" y="40485"/>
                            <a:pt x="198868" y="62975"/>
                          </a:cubicBezTo>
                          <a:close/>
                        </a:path>
                      </a:pathLst>
                    </a:custGeom>
                    <a:gradFill>
                      <a:gsLst>
                        <a:gs pos="0">
                          <a:schemeClr val="accent1">
                            <a:lumMod val="60000"/>
                            <a:lumOff val="40000"/>
                          </a:schemeClr>
                        </a:gs>
                        <a:gs pos="54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grpSp>
              <p:sp>
                <p:nvSpPr>
                  <p:cNvPr id="118" name="小红书平北职场PPT6-8"/>
                  <p:cNvSpPr txBox="1"/>
                  <p:nvPr/>
                </p:nvSpPr>
                <p:spPr>
                  <a:xfrm>
                    <a:off x="1232130" y="3521554"/>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r>
                      <a:rPr lang="zh-CN" altLang="en-US" dirty="0"/>
                      <a:t>聚焦高端客户群体，打造专属服务体系，实现</a:t>
                    </a:r>
                    <a:r>
                      <a:rPr lang="en-US" altLang="zh-CN" dirty="0"/>
                      <a:t>30</a:t>
                    </a:r>
                    <a:r>
                      <a:rPr lang="zh-CN" altLang="en-US" dirty="0"/>
                      <a:t>分钟内快速响应，成功转化</a:t>
                    </a:r>
                    <a:r>
                      <a:rPr lang="en-US" altLang="zh-CN" dirty="0"/>
                      <a:t>15</a:t>
                    </a:r>
                    <a:r>
                      <a:rPr lang="zh-CN" altLang="en-US" dirty="0"/>
                      <a:t>家高价值客户，市场份额提升</a:t>
                    </a:r>
                    <a:r>
                      <a:rPr lang="en-US" altLang="zh-CN" dirty="0"/>
                      <a:t>5%</a:t>
                    </a:r>
                    <a:endParaRPr lang="zh-CN" altLang="en-US" dirty="0"/>
                  </a:p>
                </p:txBody>
              </p:sp>
            </p:grpSp>
            <p:grpSp>
              <p:nvGrpSpPr>
                <p:cNvPr id="104" name="组合 103"/>
                <p:cNvGrpSpPr/>
                <p:nvPr/>
              </p:nvGrpSpPr>
              <p:grpSpPr>
                <a:xfrm>
                  <a:off x="8939369" y="2970678"/>
                  <a:ext cx="2800624" cy="1588148"/>
                  <a:chOff x="8793158" y="2970678"/>
                  <a:chExt cx="2800624" cy="1588148"/>
                </a:xfrm>
              </p:grpSpPr>
              <p:grpSp>
                <p:nvGrpSpPr>
                  <p:cNvPr id="105" name="组合 104"/>
                  <p:cNvGrpSpPr/>
                  <p:nvPr/>
                </p:nvGrpSpPr>
                <p:grpSpPr>
                  <a:xfrm>
                    <a:off x="11025127" y="3650990"/>
                    <a:ext cx="518403" cy="572971"/>
                    <a:chOff x="13820558" y="5977390"/>
                    <a:chExt cx="339304" cy="375020"/>
                  </a:xfrm>
                </p:grpSpPr>
                <p:sp>
                  <p:nvSpPr>
                    <p:cNvPr id="109" name="小红书平北职场PPT6-9"/>
                    <p:cNvSpPr/>
                    <p:nvPr/>
                  </p:nvSpPr>
                  <p:spPr>
                    <a:xfrm>
                      <a:off x="13820558" y="5977390"/>
                      <a:ext cx="267871" cy="119054"/>
                    </a:xfrm>
                    <a:custGeom>
                      <a:avLst/>
                      <a:gdLst>
                        <a:gd name="connsiteX0" fmla="*/ 258943 w 267871"/>
                        <a:gd name="connsiteY0" fmla="*/ 0 h 119054"/>
                        <a:gd name="connsiteX1" fmla="*/ 8929 w 267871"/>
                        <a:gd name="connsiteY1" fmla="*/ 0 h 119054"/>
                        <a:gd name="connsiteX2" fmla="*/ 0 w 267871"/>
                        <a:gd name="connsiteY2" fmla="*/ 8929 h 119054"/>
                        <a:gd name="connsiteX3" fmla="*/ 0 w 267871"/>
                        <a:gd name="connsiteY3" fmla="*/ 110125 h 119054"/>
                        <a:gd name="connsiteX4" fmla="*/ 8929 w 267871"/>
                        <a:gd name="connsiteY4" fmla="*/ 119054 h 119054"/>
                        <a:gd name="connsiteX5" fmla="*/ 258943 w 267871"/>
                        <a:gd name="connsiteY5" fmla="*/ 119054 h 119054"/>
                        <a:gd name="connsiteX6" fmla="*/ 267872 w 267871"/>
                        <a:gd name="connsiteY6" fmla="*/ 110125 h 119054"/>
                        <a:gd name="connsiteX7" fmla="*/ 267872 w 267871"/>
                        <a:gd name="connsiteY7" fmla="*/ 8929 h 119054"/>
                        <a:gd name="connsiteX8" fmla="*/ 258943 w 267871"/>
                        <a:gd name="connsiteY8" fmla="*/ 0 h 119054"/>
                        <a:gd name="connsiteX9" fmla="*/ 50801 w 267871"/>
                        <a:gd name="connsiteY9" fmla="*/ 86878 h 119054"/>
                        <a:gd name="connsiteX10" fmla="*/ 35716 w 267871"/>
                        <a:gd name="connsiteY10" fmla="*/ 65032 h 119054"/>
                        <a:gd name="connsiteX11" fmla="*/ 35716 w 267871"/>
                        <a:gd name="connsiteY11" fmla="*/ 82757 h 119054"/>
                        <a:gd name="connsiteX12" fmla="*/ 26787 w 267871"/>
                        <a:gd name="connsiteY12" fmla="*/ 91686 h 119054"/>
                        <a:gd name="connsiteX13" fmla="*/ 17858 w 267871"/>
                        <a:gd name="connsiteY13" fmla="*/ 82757 h 119054"/>
                        <a:gd name="connsiteX14" fmla="*/ 17858 w 267871"/>
                        <a:gd name="connsiteY14" fmla="*/ 36385 h 119054"/>
                        <a:gd name="connsiteX15" fmla="*/ 26828 w 267871"/>
                        <a:gd name="connsiteY15" fmla="*/ 27476 h 119054"/>
                        <a:gd name="connsiteX16" fmla="*/ 34135 w 267871"/>
                        <a:gd name="connsiteY16" fmla="*/ 31310 h 119054"/>
                        <a:gd name="connsiteX17" fmla="*/ 50150 w 267871"/>
                        <a:gd name="connsiteY17" fmla="*/ 54510 h 119054"/>
                        <a:gd name="connsiteX18" fmla="*/ 49976 w 267871"/>
                        <a:gd name="connsiteY18" fmla="*/ 36385 h 119054"/>
                        <a:gd name="connsiteX19" fmla="*/ 58818 w 267871"/>
                        <a:gd name="connsiteY19" fmla="*/ 27368 h 119054"/>
                        <a:gd name="connsiteX20" fmla="*/ 67834 w 267871"/>
                        <a:gd name="connsiteY20" fmla="*/ 36210 h 119054"/>
                        <a:gd name="connsiteX21" fmla="*/ 68270 w 267871"/>
                        <a:gd name="connsiteY21" fmla="*/ 81106 h 119054"/>
                        <a:gd name="connsiteX22" fmla="*/ 59254 w 267871"/>
                        <a:gd name="connsiteY22" fmla="*/ 91132 h 119054"/>
                        <a:gd name="connsiteX23" fmla="*/ 50801 w 267871"/>
                        <a:gd name="connsiteY23" fmla="*/ 86878 h 119054"/>
                        <a:gd name="connsiteX24" fmla="*/ 105887 w 267871"/>
                        <a:gd name="connsiteY24" fmla="*/ 50598 h 119054"/>
                        <a:gd name="connsiteX25" fmla="*/ 114816 w 267871"/>
                        <a:gd name="connsiteY25" fmla="*/ 59527 h 119054"/>
                        <a:gd name="connsiteX26" fmla="*/ 105887 w 267871"/>
                        <a:gd name="connsiteY26" fmla="*/ 68456 h 119054"/>
                        <a:gd name="connsiteX27" fmla="*/ 96854 w 267871"/>
                        <a:gd name="connsiteY27" fmla="*/ 68456 h 119054"/>
                        <a:gd name="connsiteX28" fmla="*/ 96854 w 267871"/>
                        <a:gd name="connsiteY28" fmla="*/ 73612 h 119054"/>
                        <a:gd name="connsiteX29" fmla="*/ 107317 w 267871"/>
                        <a:gd name="connsiteY29" fmla="*/ 73612 h 119054"/>
                        <a:gd name="connsiteX30" fmla="*/ 116246 w 267871"/>
                        <a:gd name="connsiteY30" fmla="*/ 82541 h 119054"/>
                        <a:gd name="connsiteX31" fmla="*/ 107317 w 267871"/>
                        <a:gd name="connsiteY31" fmla="*/ 91470 h 119054"/>
                        <a:gd name="connsiteX32" fmla="*/ 87924 w 267871"/>
                        <a:gd name="connsiteY32" fmla="*/ 91470 h 119054"/>
                        <a:gd name="connsiteX33" fmla="*/ 78995 w 267871"/>
                        <a:gd name="connsiteY33" fmla="*/ 82541 h 119054"/>
                        <a:gd name="connsiteX34" fmla="*/ 78995 w 267871"/>
                        <a:gd name="connsiteY34" fmla="*/ 36513 h 119054"/>
                        <a:gd name="connsiteX35" fmla="*/ 87924 w 267871"/>
                        <a:gd name="connsiteY35" fmla="*/ 27584 h 119054"/>
                        <a:gd name="connsiteX36" fmla="*/ 107317 w 267871"/>
                        <a:gd name="connsiteY36" fmla="*/ 27584 h 119054"/>
                        <a:gd name="connsiteX37" fmla="*/ 116246 w 267871"/>
                        <a:gd name="connsiteY37" fmla="*/ 36513 h 119054"/>
                        <a:gd name="connsiteX38" fmla="*/ 107317 w 267871"/>
                        <a:gd name="connsiteY38" fmla="*/ 45442 h 119054"/>
                        <a:gd name="connsiteX39" fmla="*/ 96854 w 267871"/>
                        <a:gd name="connsiteY39" fmla="*/ 45442 h 119054"/>
                        <a:gd name="connsiteX40" fmla="*/ 96854 w 267871"/>
                        <a:gd name="connsiteY40" fmla="*/ 50598 h 119054"/>
                        <a:gd name="connsiteX41" fmla="*/ 194690 w 267871"/>
                        <a:gd name="connsiteY41" fmla="*/ 38129 h 119054"/>
                        <a:gd name="connsiteX42" fmla="*/ 185604 w 267871"/>
                        <a:gd name="connsiteY42" fmla="*/ 83791 h 119054"/>
                        <a:gd name="connsiteX43" fmla="*/ 173753 w 267871"/>
                        <a:gd name="connsiteY43" fmla="*/ 91450 h 119054"/>
                        <a:gd name="connsiteX44" fmla="*/ 166449 w 267871"/>
                        <a:gd name="connsiteY44" fmla="*/ 85041 h 119054"/>
                        <a:gd name="connsiteX45" fmla="*/ 160764 w 267871"/>
                        <a:gd name="connsiteY45" fmla="*/ 66596 h 119054"/>
                        <a:gd name="connsiteX46" fmla="*/ 155166 w 267871"/>
                        <a:gd name="connsiteY46" fmla="*/ 84687 h 119054"/>
                        <a:gd name="connsiteX47" fmla="*/ 142668 w 267871"/>
                        <a:gd name="connsiteY47" fmla="*/ 91224 h 119054"/>
                        <a:gd name="connsiteX48" fmla="*/ 135895 w 267871"/>
                        <a:gd name="connsiteY48" fmla="*/ 83792 h 119054"/>
                        <a:gd name="connsiteX49" fmla="*/ 126844 w 267871"/>
                        <a:gd name="connsiteY49" fmla="*/ 38030 h 119054"/>
                        <a:gd name="connsiteX50" fmla="*/ 133901 w 267871"/>
                        <a:gd name="connsiteY50" fmla="*/ 27557 h 119054"/>
                        <a:gd name="connsiteX51" fmla="*/ 144365 w 267871"/>
                        <a:gd name="connsiteY51" fmla="*/ 34566 h 119054"/>
                        <a:gd name="connsiteX52" fmla="*/ 147335 w 267871"/>
                        <a:gd name="connsiteY52" fmla="*/ 49593 h 119054"/>
                        <a:gd name="connsiteX53" fmla="*/ 152165 w 267871"/>
                        <a:gd name="connsiteY53" fmla="*/ 33995 h 119054"/>
                        <a:gd name="connsiteX54" fmla="*/ 163100 w 267871"/>
                        <a:gd name="connsiteY54" fmla="*/ 27698 h 119054"/>
                        <a:gd name="connsiteX55" fmla="*/ 169303 w 267871"/>
                        <a:gd name="connsiteY55" fmla="*/ 33670 h 119054"/>
                        <a:gd name="connsiteX56" fmla="*/ 174204 w 267871"/>
                        <a:gd name="connsiteY56" fmla="*/ 49581 h 119054"/>
                        <a:gd name="connsiteX57" fmla="*/ 177180 w 267871"/>
                        <a:gd name="connsiteY57" fmla="*/ 34641 h 119054"/>
                        <a:gd name="connsiteX58" fmla="*/ 187662 w 267871"/>
                        <a:gd name="connsiteY58" fmla="*/ 27605 h 119054"/>
                        <a:gd name="connsiteX59" fmla="*/ 194698 w 267871"/>
                        <a:gd name="connsiteY59" fmla="*/ 38087 h 119054"/>
                        <a:gd name="connsiteX60" fmla="*/ 194690 w 267871"/>
                        <a:gd name="connsiteY60" fmla="*/ 38129 h 119054"/>
                        <a:gd name="connsiteX61" fmla="*/ 249729 w 267871"/>
                        <a:gd name="connsiteY61" fmla="*/ 74258 h 119054"/>
                        <a:gd name="connsiteX62" fmla="*/ 227104 w 267871"/>
                        <a:gd name="connsiteY62" fmla="*/ 91686 h 119054"/>
                        <a:gd name="connsiteX63" fmla="*/ 204299 w 267871"/>
                        <a:gd name="connsiteY63" fmla="*/ 81867 h 119054"/>
                        <a:gd name="connsiteX64" fmla="*/ 204948 w 267871"/>
                        <a:gd name="connsiteY64" fmla="*/ 69254 h 119054"/>
                        <a:gd name="connsiteX65" fmla="*/ 217530 w 267871"/>
                        <a:gd name="connsiteY65" fmla="*/ 69869 h 119054"/>
                        <a:gd name="connsiteX66" fmla="*/ 227104 w 267871"/>
                        <a:gd name="connsiteY66" fmla="*/ 73827 h 119054"/>
                        <a:gd name="connsiteX67" fmla="*/ 232150 w 267871"/>
                        <a:gd name="connsiteY67" fmla="*/ 71118 h 119054"/>
                        <a:gd name="connsiteX68" fmla="*/ 228046 w 267871"/>
                        <a:gd name="connsiteY68" fmla="*/ 68270 h 119054"/>
                        <a:gd name="connsiteX69" fmla="*/ 212745 w 267871"/>
                        <a:gd name="connsiteY69" fmla="*/ 61893 h 119054"/>
                        <a:gd name="connsiteX70" fmla="*/ 204775 w 267871"/>
                        <a:gd name="connsiteY70" fmla="*/ 44215 h 119054"/>
                        <a:gd name="connsiteX71" fmla="*/ 218814 w 267871"/>
                        <a:gd name="connsiteY71" fmla="*/ 28479 h 119054"/>
                        <a:gd name="connsiteX72" fmla="*/ 245299 w 267871"/>
                        <a:gd name="connsiteY72" fmla="*/ 34240 h 119054"/>
                        <a:gd name="connsiteX73" fmla="*/ 246413 w 267871"/>
                        <a:gd name="connsiteY73" fmla="*/ 46821 h 119054"/>
                        <a:gd name="connsiteX74" fmla="*/ 233876 w 267871"/>
                        <a:gd name="connsiteY74" fmla="*/ 47971 h 119054"/>
                        <a:gd name="connsiteX75" fmla="*/ 223964 w 267871"/>
                        <a:gd name="connsiteY75" fmla="*/ 45582 h 119054"/>
                        <a:gd name="connsiteX76" fmla="*/ 222529 w 267871"/>
                        <a:gd name="connsiteY76" fmla="*/ 46517 h 119054"/>
                        <a:gd name="connsiteX77" fmla="*/ 222383 w 267871"/>
                        <a:gd name="connsiteY77" fmla="*/ 46750 h 119054"/>
                        <a:gd name="connsiteX78" fmla="*/ 234231 w 267871"/>
                        <a:gd name="connsiteY78" fmla="*/ 51517 h 119054"/>
                        <a:gd name="connsiteX79" fmla="*/ 249729 w 267871"/>
                        <a:gd name="connsiteY79" fmla="*/ 74258 h 11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67871" h="119054">
                          <a:moveTo>
                            <a:pt x="258943" y="0"/>
                          </a:moveTo>
                          <a:lnTo>
                            <a:pt x="8929" y="0"/>
                          </a:lnTo>
                          <a:cubicBezTo>
                            <a:pt x="3998" y="1"/>
                            <a:pt x="1" y="3998"/>
                            <a:pt x="0" y="8929"/>
                          </a:cubicBezTo>
                          <a:lnTo>
                            <a:pt x="0" y="110125"/>
                          </a:lnTo>
                          <a:cubicBezTo>
                            <a:pt x="1" y="115056"/>
                            <a:pt x="3998" y="119053"/>
                            <a:pt x="8929" y="119054"/>
                          </a:cubicBezTo>
                          <a:lnTo>
                            <a:pt x="258943" y="119054"/>
                          </a:lnTo>
                          <a:cubicBezTo>
                            <a:pt x="263873" y="119053"/>
                            <a:pt x="267870" y="115056"/>
                            <a:pt x="267872" y="110125"/>
                          </a:cubicBezTo>
                          <a:lnTo>
                            <a:pt x="267872" y="8929"/>
                          </a:lnTo>
                          <a:cubicBezTo>
                            <a:pt x="267870" y="3998"/>
                            <a:pt x="263873" y="1"/>
                            <a:pt x="258943" y="0"/>
                          </a:cubicBezTo>
                          <a:close/>
                          <a:moveTo>
                            <a:pt x="50801" y="86878"/>
                          </a:moveTo>
                          <a:lnTo>
                            <a:pt x="35716" y="65032"/>
                          </a:lnTo>
                          <a:lnTo>
                            <a:pt x="35716" y="82757"/>
                          </a:lnTo>
                          <a:cubicBezTo>
                            <a:pt x="35716" y="87688"/>
                            <a:pt x="31719" y="91686"/>
                            <a:pt x="26787" y="91686"/>
                          </a:cubicBezTo>
                          <a:cubicBezTo>
                            <a:pt x="21856" y="91686"/>
                            <a:pt x="17858" y="87688"/>
                            <a:pt x="17858" y="82757"/>
                          </a:cubicBezTo>
                          <a:lnTo>
                            <a:pt x="17858" y="36385"/>
                          </a:lnTo>
                          <a:cubicBezTo>
                            <a:pt x="17875" y="31448"/>
                            <a:pt x="21891" y="27459"/>
                            <a:pt x="26828" y="27476"/>
                          </a:cubicBezTo>
                          <a:cubicBezTo>
                            <a:pt x="29743" y="27486"/>
                            <a:pt x="32470" y="28917"/>
                            <a:pt x="34135" y="31310"/>
                          </a:cubicBezTo>
                          <a:lnTo>
                            <a:pt x="50150" y="54510"/>
                          </a:lnTo>
                          <a:lnTo>
                            <a:pt x="49976" y="36385"/>
                          </a:lnTo>
                          <a:cubicBezTo>
                            <a:pt x="49928" y="31453"/>
                            <a:pt x="53886" y="27417"/>
                            <a:pt x="58818" y="27368"/>
                          </a:cubicBezTo>
                          <a:cubicBezTo>
                            <a:pt x="63749" y="27320"/>
                            <a:pt x="67786" y="31279"/>
                            <a:pt x="67834" y="36210"/>
                          </a:cubicBezTo>
                          <a:lnTo>
                            <a:pt x="68270" y="81106"/>
                          </a:lnTo>
                          <a:cubicBezTo>
                            <a:pt x="68549" y="86364"/>
                            <a:pt x="64512" y="90853"/>
                            <a:pt x="59254" y="91132"/>
                          </a:cubicBezTo>
                          <a:cubicBezTo>
                            <a:pt x="55882" y="91311"/>
                            <a:pt x="52667" y="89693"/>
                            <a:pt x="50801" y="86878"/>
                          </a:cubicBezTo>
                          <a:close/>
                          <a:moveTo>
                            <a:pt x="105887" y="50598"/>
                          </a:moveTo>
                          <a:cubicBezTo>
                            <a:pt x="110819" y="50598"/>
                            <a:pt x="114816" y="54596"/>
                            <a:pt x="114816" y="59527"/>
                          </a:cubicBezTo>
                          <a:cubicBezTo>
                            <a:pt x="114816" y="64458"/>
                            <a:pt x="110819" y="68456"/>
                            <a:pt x="105887" y="68456"/>
                          </a:cubicBezTo>
                          <a:lnTo>
                            <a:pt x="96854" y="68456"/>
                          </a:lnTo>
                          <a:lnTo>
                            <a:pt x="96854" y="73612"/>
                          </a:lnTo>
                          <a:lnTo>
                            <a:pt x="107317" y="73612"/>
                          </a:lnTo>
                          <a:cubicBezTo>
                            <a:pt x="112249" y="73612"/>
                            <a:pt x="116246" y="77610"/>
                            <a:pt x="116246" y="82541"/>
                          </a:cubicBezTo>
                          <a:cubicBezTo>
                            <a:pt x="116246" y="87473"/>
                            <a:pt x="112249" y="91470"/>
                            <a:pt x="107317" y="91470"/>
                          </a:cubicBezTo>
                          <a:lnTo>
                            <a:pt x="87924" y="91470"/>
                          </a:lnTo>
                          <a:cubicBezTo>
                            <a:pt x="82994" y="91469"/>
                            <a:pt x="78997" y="87472"/>
                            <a:pt x="78995" y="82541"/>
                          </a:cubicBezTo>
                          <a:lnTo>
                            <a:pt x="78995" y="36513"/>
                          </a:lnTo>
                          <a:cubicBezTo>
                            <a:pt x="78997" y="31582"/>
                            <a:pt x="82994" y="27585"/>
                            <a:pt x="87924" y="27584"/>
                          </a:cubicBezTo>
                          <a:lnTo>
                            <a:pt x="107317" y="27584"/>
                          </a:lnTo>
                          <a:cubicBezTo>
                            <a:pt x="112249" y="27584"/>
                            <a:pt x="116246" y="31581"/>
                            <a:pt x="116246" y="36513"/>
                          </a:cubicBezTo>
                          <a:cubicBezTo>
                            <a:pt x="116246" y="41444"/>
                            <a:pt x="112249" y="45442"/>
                            <a:pt x="107317" y="45442"/>
                          </a:cubicBezTo>
                          <a:lnTo>
                            <a:pt x="96854" y="45442"/>
                          </a:lnTo>
                          <a:lnTo>
                            <a:pt x="96854" y="50598"/>
                          </a:lnTo>
                          <a:close/>
                          <a:moveTo>
                            <a:pt x="194690" y="38129"/>
                          </a:moveTo>
                          <a:lnTo>
                            <a:pt x="185604" y="83791"/>
                          </a:lnTo>
                          <a:cubicBezTo>
                            <a:pt x="184446" y="89179"/>
                            <a:pt x="179141" y="92608"/>
                            <a:pt x="173753" y="91450"/>
                          </a:cubicBezTo>
                          <a:cubicBezTo>
                            <a:pt x="170372" y="90724"/>
                            <a:pt x="167609" y="88299"/>
                            <a:pt x="166449" y="85041"/>
                          </a:cubicBezTo>
                          <a:lnTo>
                            <a:pt x="160764" y="66596"/>
                          </a:lnTo>
                          <a:lnTo>
                            <a:pt x="155166" y="84687"/>
                          </a:lnTo>
                          <a:cubicBezTo>
                            <a:pt x="153520" y="89943"/>
                            <a:pt x="147925" y="92870"/>
                            <a:pt x="142668" y="91224"/>
                          </a:cubicBezTo>
                          <a:cubicBezTo>
                            <a:pt x="139235" y="90150"/>
                            <a:pt x="136647" y="87309"/>
                            <a:pt x="135895" y="83792"/>
                          </a:cubicBezTo>
                          <a:lnTo>
                            <a:pt x="126844" y="38030"/>
                          </a:lnTo>
                          <a:cubicBezTo>
                            <a:pt x="125901" y="33189"/>
                            <a:pt x="129060" y="28500"/>
                            <a:pt x="133901" y="27557"/>
                          </a:cubicBezTo>
                          <a:cubicBezTo>
                            <a:pt x="138723" y="26617"/>
                            <a:pt x="143399" y="29749"/>
                            <a:pt x="144365" y="34566"/>
                          </a:cubicBezTo>
                          <a:lnTo>
                            <a:pt x="147335" y="49593"/>
                          </a:lnTo>
                          <a:lnTo>
                            <a:pt x="152165" y="33995"/>
                          </a:lnTo>
                          <a:cubicBezTo>
                            <a:pt x="153446" y="29237"/>
                            <a:pt x="158342" y="26417"/>
                            <a:pt x="163100" y="27698"/>
                          </a:cubicBezTo>
                          <a:cubicBezTo>
                            <a:pt x="166055" y="28494"/>
                            <a:pt x="168397" y="30748"/>
                            <a:pt x="169303" y="33670"/>
                          </a:cubicBezTo>
                          <a:lnTo>
                            <a:pt x="174204" y="49581"/>
                          </a:lnTo>
                          <a:lnTo>
                            <a:pt x="177180" y="34641"/>
                          </a:lnTo>
                          <a:cubicBezTo>
                            <a:pt x="178132" y="29804"/>
                            <a:pt x="182824" y="26654"/>
                            <a:pt x="187662" y="27605"/>
                          </a:cubicBezTo>
                          <a:cubicBezTo>
                            <a:pt x="192499" y="28557"/>
                            <a:pt x="195649" y="33249"/>
                            <a:pt x="194698" y="38087"/>
                          </a:cubicBezTo>
                          <a:cubicBezTo>
                            <a:pt x="194695" y="38101"/>
                            <a:pt x="194692" y="38115"/>
                            <a:pt x="194690" y="38129"/>
                          </a:cubicBezTo>
                          <a:close/>
                          <a:moveTo>
                            <a:pt x="249729" y="74258"/>
                          </a:moveTo>
                          <a:cubicBezTo>
                            <a:pt x="247394" y="84774"/>
                            <a:pt x="237868" y="92111"/>
                            <a:pt x="227104" y="91686"/>
                          </a:cubicBezTo>
                          <a:cubicBezTo>
                            <a:pt x="218460" y="91767"/>
                            <a:pt x="210181" y="88202"/>
                            <a:pt x="204299" y="81867"/>
                          </a:cubicBezTo>
                          <a:cubicBezTo>
                            <a:pt x="200995" y="78205"/>
                            <a:pt x="201286" y="72558"/>
                            <a:pt x="204948" y="69254"/>
                          </a:cubicBezTo>
                          <a:cubicBezTo>
                            <a:pt x="208597" y="65963"/>
                            <a:pt x="214219" y="66237"/>
                            <a:pt x="217530" y="69869"/>
                          </a:cubicBezTo>
                          <a:cubicBezTo>
                            <a:pt x="220028" y="72468"/>
                            <a:pt x="223500" y="73903"/>
                            <a:pt x="227104" y="73827"/>
                          </a:cubicBezTo>
                          <a:cubicBezTo>
                            <a:pt x="229190" y="74083"/>
                            <a:pt x="231211" y="72998"/>
                            <a:pt x="232150" y="71118"/>
                          </a:cubicBezTo>
                          <a:cubicBezTo>
                            <a:pt x="232214" y="70752"/>
                            <a:pt x="231127" y="69409"/>
                            <a:pt x="228046" y="68270"/>
                          </a:cubicBezTo>
                          <a:cubicBezTo>
                            <a:pt x="225828" y="67452"/>
                            <a:pt x="214688" y="63150"/>
                            <a:pt x="212745" y="61893"/>
                          </a:cubicBezTo>
                          <a:cubicBezTo>
                            <a:pt x="206841" y="58082"/>
                            <a:pt x="203722" y="51162"/>
                            <a:pt x="204775" y="44215"/>
                          </a:cubicBezTo>
                          <a:cubicBezTo>
                            <a:pt x="205955" y="36666"/>
                            <a:pt x="211448" y="30508"/>
                            <a:pt x="218814" y="28479"/>
                          </a:cubicBezTo>
                          <a:cubicBezTo>
                            <a:pt x="228056" y="26040"/>
                            <a:pt x="237906" y="28182"/>
                            <a:pt x="245299" y="34240"/>
                          </a:cubicBezTo>
                          <a:cubicBezTo>
                            <a:pt x="249081" y="37406"/>
                            <a:pt x="249579" y="43039"/>
                            <a:pt x="246413" y="46821"/>
                          </a:cubicBezTo>
                          <a:cubicBezTo>
                            <a:pt x="243260" y="50585"/>
                            <a:pt x="237660" y="51099"/>
                            <a:pt x="233876" y="47971"/>
                          </a:cubicBezTo>
                          <a:cubicBezTo>
                            <a:pt x="231071" y="45783"/>
                            <a:pt x="227458" y="44913"/>
                            <a:pt x="223964" y="45582"/>
                          </a:cubicBezTo>
                          <a:cubicBezTo>
                            <a:pt x="223382" y="45695"/>
                            <a:pt x="222867" y="46031"/>
                            <a:pt x="222529" y="46517"/>
                          </a:cubicBezTo>
                          <a:lnTo>
                            <a:pt x="222383" y="46750"/>
                          </a:lnTo>
                          <a:cubicBezTo>
                            <a:pt x="224476" y="47657"/>
                            <a:pt x="229202" y="49662"/>
                            <a:pt x="234231" y="51517"/>
                          </a:cubicBezTo>
                          <a:cubicBezTo>
                            <a:pt x="247775" y="56516"/>
                            <a:pt x="251042" y="66892"/>
                            <a:pt x="249729" y="74258"/>
                          </a:cubicBezTo>
                          <a:close/>
                        </a:path>
                      </a:pathLst>
                    </a:custGeom>
                    <a:gradFill flip="none" rotWithShape="1">
                      <a:gsLst>
                        <a:gs pos="0">
                          <a:schemeClr val="accent2">
                            <a:lumMod val="60000"/>
                            <a:lumOff val="40000"/>
                          </a:schemeClr>
                        </a:gs>
                        <a:gs pos="54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10" name="小红书平北职场PPT6-10"/>
                    <p:cNvSpPr/>
                    <p:nvPr/>
                  </p:nvSpPr>
                  <p:spPr>
                    <a:xfrm>
                      <a:off x="13820558" y="6114302"/>
                      <a:ext cx="339304" cy="238108"/>
                    </a:xfrm>
                    <a:custGeom>
                      <a:avLst/>
                      <a:gdLst>
                        <a:gd name="connsiteX0" fmla="*/ 330375 w 339304"/>
                        <a:gd name="connsiteY0" fmla="*/ 0 h 238108"/>
                        <a:gd name="connsiteX1" fmla="*/ 321446 w 339304"/>
                        <a:gd name="connsiteY1" fmla="*/ 8929 h 238108"/>
                        <a:gd name="connsiteX2" fmla="*/ 321446 w 339304"/>
                        <a:gd name="connsiteY2" fmla="*/ 193463 h 238108"/>
                        <a:gd name="connsiteX3" fmla="*/ 294659 w 339304"/>
                        <a:gd name="connsiteY3" fmla="*/ 220250 h 238108"/>
                        <a:gd name="connsiteX4" fmla="*/ 267872 w 339304"/>
                        <a:gd name="connsiteY4" fmla="*/ 193463 h 238108"/>
                        <a:gd name="connsiteX5" fmla="*/ 267872 w 339304"/>
                        <a:gd name="connsiteY5" fmla="*/ 8929 h 238108"/>
                        <a:gd name="connsiteX6" fmla="*/ 258943 w 339304"/>
                        <a:gd name="connsiteY6" fmla="*/ 0 h 238108"/>
                        <a:gd name="connsiteX7" fmla="*/ 250014 w 339304"/>
                        <a:gd name="connsiteY7" fmla="*/ 8929 h 238108"/>
                        <a:gd name="connsiteX8" fmla="*/ 250014 w 339304"/>
                        <a:gd name="connsiteY8" fmla="*/ 193463 h 238108"/>
                        <a:gd name="connsiteX9" fmla="*/ 259027 w 339304"/>
                        <a:gd name="connsiteY9" fmla="*/ 220250 h 238108"/>
                        <a:gd name="connsiteX10" fmla="*/ 44645 w 339304"/>
                        <a:gd name="connsiteY10" fmla="*/ 220250 h 238108"/>
                        <a:gd name="connsiteX11" fmla="*/ 17858 w 339304"/>
                        <a:gd name="connsiteY11" fmla="*/ 193463 h 238108"/>
                        <a:gd name="connsiteX12" fmla="*/ 17858 w 339304"/>
                        <a:gd name="connsiteY12" fmla="*/ 8929 h 238108"/>
                        <a:gd name="connsiteX13" fmla="*/ 8929 w 339304"/>
                        <a:gd name="connsiteY13" fmla="*/ 0 h 238108"/>
                        <a:gd name="connsiteX14" fmla="*/ 0 w 339304"/>
                        <a:gd name="connsiteY14" fmla="*/ 8929 h 238108"/>
                        <a:gd name="connsiteX15" fmla="*/ 0 w 339304"/>
                        <a:gd name="connsiteY15" fmla="*/ 193463 h 238108"/>
                        <a:gd name="connsiteX16" fmla="*/ 44645 w 339304"/>
                        <a:gd name="connsiteY16" fmla="*/ 238108 h 238108"/>
                        <a:gd name="connsiteX17" fmla="*/ 294659 w 339304"/>
                        <a:gd name="connsiteY17" fmla="*/ 238108 h 238108"/>
                        <a:gd name="connsiteX18" fmla="*/ 339304 w 339304"/>
                        <a:gd name="connsiteY18" fmla="*/ 193463 h 238108"/>
                        <a:gd name="connsiteX19" fmla="*/ 339304 w 339304"/>
                        <a:gd name="connsiteY19" fmla="*/ 8929 h 238108"/>
                        <a:gd name="connsiteX20" fmla="*/ 330375 w 339304"/>
                        <a:gd name="connsiteY20" fmla="*/ 0 h 238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9304" h="238108">
                          <a:moveTo>
                            <a:pt x="330375" y="0"/>
                          </a:moveTo>
                          <a:cubicBezTo>
                            <a:pt x="325444" y="1"/>
                            <a:pt x="321447" y="3998"/>
                            <a:pt x="321446" y="8929"/>
                          </a:cubicBezTo>
                          <a:lnTo>
                            <a:pt x="321446" y="193463"/>
                          </a:lnTo>
                          <a:cubicBezTo>
                            <a:pt x="321446" y="208257"/>
                            <a:pt x="309453" y="220250"/>
                            <a:pt x="294659" y="220250"/>
                          </a:cubicBezTo>
                          <a:cubicBezTo>
                            <a:pt x="279865" y="220250"/>
                            <a:pt x="267872" y="208257"/>
                            <a:pt x="267872" y="193463"/>
                          </a:cubicBezTo>
                          <a:lnTo>
                            <a:pt x="267872" y="8929"/>
                          </a:lnTo>
                          <a:cubicBezTo>
                            <a:pt x="267872" y="3998"/>
                            <a:pt x="263874" y="0"/>
                            <a:pt x="258943" y="0"/>
                          </a:cubicBezTo>
                          <a:cubicBezTo>
                            <a:pt x="254011" y="0"/>
                            <a:pt x="250014" y="3998"/>
                            <a:pt x="250014" y="8929"/>
                          </a:cubicBezTo>
                          <a:lnTo>
                            <a:pt x="250014" y="193463"/>
                          </a:lnTo>
                          <a:cubicBezTo>
                            <a:pt x="250017" y="203136"/>
                            <a:pt x="253182" y="212543"/>
                            <a:pt x="259027" y="220250"/>
                          </a:cubicBezTo>
                          <a:lnTo>
                            <a:pt x="44645" y="220250"/>
                          </a:lnTo>
                          <a:cubicBezTo>
                            <a:pt x="29858" y="220234"/>
                            <a:pt x="17874" y="208250"/>
                            <a:pt x="17858" y="193463"/>
                          </a:cubicBezTo>
                          <a:lnTo>
                            <a:pt x="17858" y="8929"/>
                          </a:lnTo>
                          <a:cubicBezTo>
                            <a:pt x="17858" y="3998"/>
                            <a:pt x="13860" y="0"/>
                            <a:pt x="8929" y="0"/>
                          </a:cubicBezTo>
                          <a:cubicBezTo>
                            <a:pt x="3998" y="0"/>
                            <a:pt x="0" y="3998"/>
                            <a:pt x="0" y="8929"/>
                          </a:cubicBezTo>
                          <a:lnTo>
                            <a:pt x="0" y="193463"/>
                          </a:lnTo>
                          <a:cubicBezTo>
                            <a:pt x="27" y="218109"/>
                            <a:pt x="20000" y="238081"/>
                            <a:pt x="44645" y="238108"/>
                          </a:cubicBezTo>
                          <a:lnTo>
                            <a:pt x="294659" y="238108"/>
                          </a:lnTo>
                          <a:cubicBezTo>
                            <a:pt x="319305" y="238081"/>
                            <a:pt x="339277" y="218109"/>
                            <a:pt x="339304" y="193463"/>
                          </a:cubicBezTo>
                          <a:lnTo>
                            <a:pt x="339304" y="8929"/>
                          </a:lnTo>
                          <a:cubicBezTo>
                            <a:pt x="339303" y="3998"/>
                            <a:pt x="335306" y="1"/>
                            <a:pt x="330375" y="0"/>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11" name="小红书平北职场PPT6-11"/>
                    <p:cNvSpPr/>
                    <p:nvPr/>
                  </p:nvSpPr>
                  <p:spPr>
                    <a:xfrm>
                      <a:off x="13856274" y="6114302"/>
                      <a:ext cx="89290" cy="17858"/>
                    </a:xfrm>
                    <a:custGeom>
                      <a:avLst/>
                      <a:gdLst>
                        <a:gd name="connsiteX0" fmla="*/ 8929 w 89290"/>
                        <a:gd name="connsiteY0" fmla="*/ 17858 h 17858"/>
                        <a:gd name="connsiteX1" fmla="*/ 80361 w 89290"/>
                        <a:gd name="connsiteY1" fmla="*/ 17858 h 17858"/>
                        <a:gd name="connsiteX2" fmla="*/ 89291 w 89290"/>
                        <a:gd name="connsiteY2" fmla="*/ 8929 h 17858"/>
                        <a:gd name="connsiteX3" fmla="*/ 80361 w 89290"/>
                        <a:gd name="connsiteY3" fmla="*/ 0 h 17858"/>
                        <a:gd name="connsiteX4" fmla="*/ 8929 w 89290"/>
                        <a:gd name="connsiteY4" fmla="*/ 0 h 17858"/>
                        <a:gd name="connsiteX5" fmla="*/ 0 w 89290"/>
                        <a:gd name="connsiteY5" fmla="*/ 8929 h 17858"/>
                        <a:gd name="connsiteX6" fmla="*/ 8929 w 89290"/>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90" h="17858">
                          <a:moveTo>
                            <a:pt x="8929" y="17858"/>
                          </a:moveTo>
                          <a:lnTo>
                            <a:pt x="80361" y="17858"/>
                          </a:lnTo>
                          <a:cubicBezTo>
                            <a:pt x="85293" y="17858"/>
                            <a:pt x="89291" y="13860"/>
                            <a:pt x="89291" y="8929"/>
                          </a:cubicBezTo>
                          <a:cubicBezTo>
                            <a:pt x="89291" y="3998"/>
                            <a:pt x="85293" y="0"/>
                            <a:pt x="80361"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12" name="小红书平北职场PPT6-12"/>
                    <p:cNvSpPr/>
                    <p:nvPr/>
                  </p:nvSpPr>
                  <p:spPr>
                    <a:xfrm>
                      <a:off x="13856274" y="6191687"/>
                      <a:ext cx="89290" cy="17858"/>
                    </a:xfrm>
                    <a:custGeom>
                      <a:avLst/>
                      <a:gdLst>
                        <a:gd name="connsiteX0" fmla="*/ 8929 w 89290"/>
                        <a:gd name="connsiteY0" fmla="*/ 17858 h 17858"/>
                        <a:gd name="connsiteX1" fmla="*/ 80361 w 89290"/>
                        <a:gd name="connsiteY1" fmla="*/ 17858 h 17858"/>
                        <a:gd name="connsiteX2" fmla="*/ 89291 w 89290"/>
                        <a:gd name="connsiteY2" fmla="*/ 8929 h 17858"/>
                        <a:gd name="connsiteX3" fmla="*/ 80361 w 89290"/>
                        <a:gd name="connsiteY3" fmla="*/ 0 h 17858"/>
                        <a:gd name="connsiteX4" fmla="*/ 8929 w 89290"/>
                        <a:gd name="connsiteY4" fmla="*/ 0 h 17858"/>
                        <a:gd name="connsiteX5" fmla="*/ 0 w 89290"/>
                        <a:gd name="connsiteY5" fmla="*/ 8929 h 17858"/>
                        <a:gd name="connsiteX6" fmla="*/ 8929 w 89290"/>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90" h="17858">
                          <a:moveTo>
                            <a:pt x="8929" y="17858"/>
                          </a:moveTo>
                          <a:lnTo>
                            <a:pt x="80361" y="17858"/>
                          </a:lnTo>
                          <a:cubicBezTo>
                            <a:pt x="85293" y="17858"/>
                            <a:pt x="89291" y="13860"/>
                            <a:pt x="89291" y="8929"/>
                          </a:cubicBezTo>
                          <a:cubicBezTo>
                            <a:pt x="89291" y="3998"/>
                            <a:pt x="85293" y="0"/>
                            <a:pt x="80361"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13" name="小红书平北职场PPT6-13"/>
                    <p:cNvSpPr/>
                    <p:nvPr/>
                  </p:nvSpPr>
                  <p:spPr>
                    <a:xfrm>
                      <a:off x="13856274" y="6269072"/>
                      <a:ext cx="89290" cy="17858"/>
                    </a:xfrm>
                    <a:custGeom>
                      <a:avLst/>
                      <a:gdLst>
                        <a:gd name="connsiteX0" fmla="*/ 8929 w 89290"/>
                        <a:gd name="connsiteY0" fmla="*/ 17858 h 17858"/>
                        <a:gd name="connsiteX1" fmla="*/ 80361 w 89290"/>
                        <a:gd name="connsiteY1" fmla="*/ 17858 h 17858"/>
                        <a:gd name="connsiteX2" fmla="*/ 89291 w 89290"/>
                        <a:gd name="connsiteY2" fmla="*/ 8929 h 17858"/>
                        <a:gd name="connsiteX3" fmla="*/ 80361 w 89290"/>
                        <a:gd name="connsiteY3" fmla="*/ 0 h 17858"/>
                        <a:gd name="connsiteX4" fmla="*/ 8929 w 89290"/>
                        <a:gd name="connsiteY4" fmla="*/ 0 h 17858"/>
                        <a:gd name="connsiteX5" fmla="*/ 0 w 89290"/>
                        <a:gd name="connsiteY5" fmla="*/ 8929 h 17858"/>
                        <a:gd name="connsiteX6" fmla="*/ 8929 w 89290"/>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90" h="17858">
                          <a:moveTo>
                            <a:pt x="8929" y="17858"/>
                          </a:moveTo>
                          <a:lnTo>
                            <a:pt x="80361" y="17858"/>
                          </a:lnTo>
                          <a:cubicBezTo>
                            <a:pt x="85293" y="17858"/>
                            <a:pt x="89291" y="13860"/>
                            <a:pt x="89291" y="8929"/>
                          </a:cubicBezTo>
                          <a:cubicBezTo>
                            <a:pt x="89291" y="3998"/>
                            <a:pt x="85293" y="0"/>
                            <a:pt x="80361"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14" name="小红书平北职场PPT6-14"/>
                    <p:cNvSpPr/>
                    <p:nvPr/>
                  </p:nvSpPr>
                  <p:spPr>
                    <a:xfrm>
                      <a:off x="13963423" y="6114302"/>
                      <a:ext cx="89290" cy="172628"/>
                    </a:xfrm>
                    <a:custGeom>
                      <a:avLst/>
                      <a:gdLst>
                        <a:gd name="connsiteX0" fmla="*/ 8929 w 89290"/>
                        <a:gd name="connsiteY0" fmla="*/ 172628 h 172628"/>
                        <a:gd name="connsiteX1" fmla="*/ 80361 w 89290"/>
                        <a:gd name="connsiteY1" fmla="*/ 172628 h 172628"/>
                        <a:gd name="connsiteX2" fmla="*/ 89291 w 89290"/>
                        <a:gd name="connsiteY2" fmla="*/ 163699 h 172628"/>
                        <a:gd name="connsiteX3" fmla="*/ 89291 w 89290"/>
                        <a:gd name="connsiteY3" fmla="*/ 8929 h 172628"/>
                        <a:gd name="connsiteX4" fmla="*/ 80361 w 89290"/>
                        <a:gd name="connsiteY4" fmla="*/ 0 h 172628"/>
                        <a:gd name="connsiteX5" fmla="*/ 8929 w 89290"/>
                        <a:gd name="connsiteY5" fmla="*/ 0 h 172628"/>
                        <a:gd name="connsiteX6" fmla="*/ 0 w 89290"/>
                        <a:gd name="connsiteY6" fmla="*/ 8929 h 172628"/>
                        <a:gd name="connsiteX7" fmla="*/ 0 w 89290"/>
                        <a:gd name="connsiteY7" fmla="*/ 163699 h 172628"/>
                        <a:gd name="connsiteX8" fmla="*/ 8929 w 89290"/>
                        <a:gd name="connsiteY8" fmla="*/ 172628 h 172628"/>
                        <a:gd name="connsiteX9" fmla="*/ 17858 w 89290"/>
                        <a:gd name="connsiteY9" fmla="*/ 17858 h 172628"/>
                        <a:gd name="connsiteX10" fmla="*/ 71432 w 89290"/>
                        <a:gd name="connsiteY10" fmla="*/ 17858 h 172628"/>
                        <a:gd name="connsiteX11" fmla="*/ 71432 w 89290"/>
                        <a:gd name="connsiteY11" fmla="*/ 154770 h 172628"/>
                        <a:gd name="connsiteX12" fmla="*/ 17858 w 89290"/>
                        <a:gd name="connsiteY12" fmla="*/ 154770 h 172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290" h="172628">
                          <a:moveTo>
                            <a:pt x="8929" y="172628"/>
                          </a:moveTo>
                          <a:lnTo>
                            <a:pt x="80361" y="172628"/>
                          </a:lnTo>
                          <a:cubicBezTo>
                            <a:pt x="85292" y="172627"/>
                            <a:pt x="89289" y="168630"/>
                            <a:pt x="89291" y="163699"/>
                          </a:cubicBezTo>
                          <a:lnTo>
                            <a:pt x="89291" y="8929"/>
                          </a:lnTo>
                          <a:cubicBezTo>
                            <a:pt x="89289" y="3998"/>
                            <a:pt x="85292" y="1"/>
                            <a:pt x="80361" y="0"/>
                          </a:cubicBezTo>
                          <a:lnTo>
                            <a:pt x="8929" y="0"/>
                          </a:lnTo>
                          <a:cubicBezTo>
                            <a:pt x="3998" y="1"/>
                            <a:pt x="1" y="3998"/>
                            <a:pt x="0" y="8929"/>
                          </a:cubicBezTo>
                          <a:lnTo>
                            <a:pt x="0" y="163699"/>
                          </a:lnTo>
                          <a:cubicBezTo>
                            <a:pt x="1" y="168630"/>
                            <a:pt x="3998" y="172627"/>
                            <a:pt x="8929" y="172628"/>
                          </a:cubicBezTo>
                          <a:close/>
                          <a:moveTo>
                            <a:pt x="17858" y="17858"/>
                          </a:moveTo>
                          <a:lnTo>
                            <a:pt x="71432" y="17858"/>
                          </a:lnTo>
                          <a:lnTo>
                            <a:pt x="71432" y="154770"/>
                          </a:lnTo>
                          <a:lnTo>
                            <a:pt x="17858" y="154770"/>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grpSp>
              <p:sp>
                <p:nvSpPr>
                  <p:cNvPr id="106" name="小红书平北职场PPT6-15"/>
                  <p:cNvSpPr/>
                  <p:nvPr/>
                </p:nvSpPr>
                <p:spPr>
                  <a:xfrm flipH="1">
                    <a:off x="9188550" y="2970678"/>
                    <a:ext cx="2405232" cy="393990"/>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07" name="小红书平北职场PPT6-16"/>
                  <p:cNvSpPr txBox="1"/>
                  <p:nvPr/>
                </p:nvSpPr>
                <p:spPr>
                  <a:xfrm flipH="1">
                    <a:off x="9476456" y="2990855"/>
                    <a:ext cx="1800493" cy="369332"/>
                  </a:xfrm>
                  <a:prstGeom prst="rect">
                    <a:avLst/>
                  </a:prstGeom>
                  <a:noFill/>
                </p:spPr>
                <p:txBody>
                  <a:bodyPr wrap="none">
                    <a:spAutoFit/>
                  </a:bodyPr>
                  <a:lstStyle>
                    <a:defPPr>
                      <a:defRPr lang="zh-CN"/>
                    </a:defPPr>
                    <a:lvl1pPr marR="0" lvl="0" indent="0" fontAlgn="auto">
                      <a:lnSpc>
                        <a:spcPct val="100000"/>
                      </a:lnSpc>
                      <a:spcBef>
                        <a:spcPts val="0"/>
                      </a:spcBef>
                      <a:spcAft>
                        <a:spcPts val="0"/>
                      </a:spcAft>
                      <a:buClrTx/>
                      <a:buSzTx/>
                      <a:buFontTx/>
                      <a:buNone/>
                      <a:defRPr kumimoji="0" sz="1400" i="0" u="none" strike="noStrike" cap="none" spc="0" normalizeH="0" baseline="0">
                        <a:ln>
                          <a:noFill/>
                        </a:ln>
                        <a:solidFill>
                          <a:prstClr val="black"/>
                        </a:solidFill>
                        <a:effectLst/>
                        <a:uLnTx/>
                        <a:uFillTx/>
                        <a:latin typeface="+mj-ea"/>
                        <a:ea typeface="+mj-ea"/>
                        <a:cs typeface="OPPOSans R" panose="00020600040101010101"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rPr>
                      <a:t>流程智能化升级</a:t>
                    </a:r>
                    <a:endPar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endParaRPr>
                  </a:p>
                </p:txBody>
              </p:sp>
              <p:sp>
                <p:nvSpPr>
                  <p:cNvPr id="108" name="小红书平北职场PPT6-17"/>
                  <p:cNvSpPr txBox="1"/>
                  <p:nvPr/>
                </p:nvSpPr>
                <p:spPr>
                  <a:xfrm flipH="1">
                    <a:off x="8793158" y="3521554"/>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t>引入</a:t>
                    </a:r>
                    <a:r>
                      <a:rPr lang="en-US" altLang="zh-CN" dirty="0"/>
                      <a:t>RPA</a:t>
                    </a:r>
                    <a:r>
                      <a:rPr lang="zh-CN" altLang="en-US" dirty="0"/>
                      <a:t>自动化工具，报表生成时间从</a:t>
                    </a:r>
                    <a:r>
                      <a:rPr lang="en-US" altLang="zh-CN" dirty="0"/>
                      <a:t>4</a:t>
                    </a:r>
                    <a:r>
                      <a:rPr lang="zh-CN" altLang="en-US" dirty="0"/>
                      <a:t>小时缩短至</a:t>
                    </a:r>
                    <a:r>
                      <a:rPr lang="en-US" altLang="zh-CN" dirty="0"/>
                      <a:t>30</a:t>
                    </a:r>
                    <a:r>
                      <a:rPr lang="zh-CN" altLang="en-US" dirty="0"/>
                      <a:t>分钟，项目交付周期减少</a:t>
                    </a:r>
                    <a:r>
                      <a:rPr lang="en-US" altLang="zh-CN" dirty="0"/>
                      <a:t>40%</a:t>
                    </a:r>
                    <a:r>
                      <a:rPr lang="zh-CN" altLang="en-US" dirty="0"/>
                      <a:t>，运营成本降低</a:t>
                    </a:r>
                    <a:r>
                      <a:rPr lang="en-US" altLang="zh-CN" dirty="0"/>
                      <a:t>15%</a:t>
                    </a:r>
                    <a:endParaRPr lang="zh-CN" altLang="en-US" dirty="0"/>
                  </a:p>
                </p:txBody>
              </p:sp>
            </p:grpSp>
          </p:grpSp>
          <p:grpSp>
            <p:nvGrpSpPr>
              <p:cNvPr id="61" name="组合 60"/>
              <p:cNvGrpSpPr/>
              <p:nvPr/>
            </p:nvGrpSpPr>
            <p:grpSpPr>
              <a:xfrm>
                <a:off x="766270" y="1066266"/>
                <a:ext cx="2800029" cy="1572794"/>
                <a:chOff x="591797" y="1066266"/>
                <a:chExt cx="2800029" cy="1572794"/>
              </a:xfrm>
            </p:grpSpPr>
            <p:sp>
              <p:nvSpPr>
                <p:cNvPr id="95" name="小红书平北职场PPT6-18"/>
                <p:cNvSpPr/>
                <p:nvPr/>
              </p:nvSpPr>
              <p:spPr>
                <a:xfrm>
                  <a:off x="598876" y="1066266"/>
                  <a:ext cx="2405232" cy="393990"/>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96" name="小红书平北职场PPT6-19"/>
                <p:cNvSpPr txBox="1"/>
                <p:nvPr/>
              </p:nvSpPr>
              <p:spPr>
                <a:xfrm>
                  <a:off x="745850" y="1086586"/>
                  <a:ext cx="2031325"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技术革新驱动发展</a:t>
                  </a:r>
                  <a:endParaRPr kumimoji="0" lang="zh-CN" altLang="en-US"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97" name="组合 96"/>
                <p:cNvGrpSpPr/>
                <p:nvPr/>
              </p:nvGrpSpPr>
              <p:grpSpPr>
                <a:xfrm>
                  <a:off x="591797" y="1762187"/>
                  <a:ext cx="514058" cy="611086"/>
                  <a:chOff x="550858" y="1745606"/>
                  <a:chExt cx="595934" cy="708416"/>
                </a:xfrm>
              </p:grpSpPr>
              <p:sp>
                <p:nvSpPr>
                  <p:cNvPr id="99" name="小红书平北职场PPT6-20"/>
                  <p:cNvSpPr/>
                  <p:nvPr/>
                </p:nvSpPr>
                <p:spPr>
                  <a:xfrm>
                    <a:off x="663281" y="1745606"/>
                    <a:ext cx="371083" cy="348586"/>
                  </a:xfrm>
                  <a:custGeom>
                    <a:avLst/>
                    <a:gdLst>
                      <a:gd name="connsiteX0" fmla="*/ 150568 w 218759"/>
                      <a:gd name="connsiteY0" fmla="*/ 0 h 205497"/>
                      <a:gd name="connsiteX1" fmla="*/ 109380 w 218759"/>
                      <a:gd name="connsiteY1" fmla="*/ 14074 h 205497"/>
                      <a:gd name="connsiteX2" fmla="*/ 68192 w 218759"/>
                      <a:gd name="connsiteY2" fmla="*/ 0 h 205497"/>
                      <a:gd name="connsiteX3" fmla="*/ 2 w 218759"/>
                      <a:gd name="connsiteY3" fmla="*/ 69410 h 205497"/>
                      <a:gd name="connsiteX4" fmla="*/ 104948 w 218759"/>
                      <a:gd name="connsiteY4" fmla="*/ 204455 h 205497"/>
                      <a:gd name="connsiteX5" fmla="*/ 113811 w 218759"/>
                      <a:gd name="connsiteY5" fmla="*/ 204455 h 205497"/>
                      <a:gd name="connsiteX6" fmla="*/ 218757 w 218759"/>
                      <a:gd name="connsiteY6" fmla="*/ 69410 h 205497"/>
                      <a:gd name="connsiteX7" fmla="*/ 150568 w 218759"/>
                      <a:gd name="connsiteY7" fmla="*/ 0 h 205497"/>
                      <a:gd name="connsiteX8" fmla="*/ 182298 w 218759"/>
                      <a:gd name="connsiteY8" fmla="*/ 79353 h 205497"/>
                      <a:gd name="connsiteX9" fmla="*/ 172355 w 218759"/>
                      <a:gd name="connsiteY9" fmla="*/ 69410 h 205497"/>
                      <a:gd name="connsiteX10" fmla="*/ 150568 w 218759"/>
                      <a:gd name="connsiteY10" fmla="*/ 46403 h 205497"/>
                      <a:gd name="connsiteX11" fmla="*/ 140625 w 218759"/>
                      <a:gd name="connsiteY11" fmla="*/ 36459 h 205497"/>
                      <a:gd name="connsiteX12" fmla="*/ 150568 w 218759"/>
                      <a:gd name="connsiteY12" fmla="*/ 26516 h 205497"/>
                      <a:gd name="connsiteX13" fmla="*/ 192242 w 218759"/>
                      <a:gd name="connsiteY13" fmla="*/ 69410 h 205497"/>
                      <a:gd name="connsiteX14" fmla="*/ 182298 w 218759"/>
                      <a:gd name="connsiteY14" fmla="*/ 79353 h 205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8759" h="205497">
                        <a:moveTo>
                          <a:pt x="150568" y="0"/>
                        </a:moveTo>
                        <a:cubicBezTo>
                          <a:pt x="135653" y="-33"/>
                          <a:pt x="121155" y="4920"/>
                          <a:pt x="109380" y="14074"/>
                        </a:cubicBezTo>
                        <a:cubicBezTo>
                          <a:pt x="97602" y="4924"/>
                          <a:pt x="83106" y="-29"/>
                          <a:pt x="68192" y="0"/>
                        </a:cubicBezTo>
                        <a:cubicBezTo>
                          <a:pt x="30214" y="384"/>
                          <a:pt x="-288" y="31432"/>
                          <a:pt x="2" y="69410"/>
                        </a:cubicBezTo>
                        <a:cubicBezTo>
                          <a:pt x="2" y="151275"/>
                          <a:pt x="100663" y="202325"/>
                          <a:pt x="104948" y="204455"/>
                        </a:cubicBezTo>
                        <a:cubicBezTo>
                          <a:pt x="107739" y="205845"/>
                          <a:pt x="111020" y="205845"/>
                          <a:pt x="113811" y="204455"/>
                        </a:cubicBezTo>
                        <a:cubicBezTo>
                          <a:pt x="118096" y="202325"/>
                          <a:pt x="218757" y="151275"/>
                          <a:pt x="218757" y="69410"/>
                        </a:cubicBezTo>
                        <a:cubicBezTo>
                          <a:pt x="219047" y="31432"/>
                          <a:pt x="188545" y="384"/>
                          <a:pt x="150568" y="0"/>
                        </a:cubicBezTo>
                        <a:close/>
                        <a:moveTo>
                          <a:pt x="182298" y="79353"/>
                        </a:moveTo>
                        <a:cubicBezTo>
                          <a:pt x="176807" y="79353"/>
                          <a:pt x="172355" y="74901"/>
                          <a:pt x="172355" y="69410"/>
                        </a:cubicBezTo>
                        <a:cubicBezTo>
                          <a:pt x="172668" y="57049"/>
                          <a:pt x="162927" y="46762"/>
                          <a:pt x="150568" y="46403"/>
                        </a:cubicBezTo>
                        <a:cubicBezTo>
                          <a:pt x="145076" y="46403"/>
                          <a:pt x="140625" y="41951"/>
                          <a:pt x="140625" y="36459"/>
                        </a:cubicBezTo>
                        <a:cubicBezTo>
                          <a:pt x="140625" y="30968"/>
                          <a:pt x="145076" y="26516"/>
                          <a:pt x="150568" y="26516"/>
                        </a:cubicBezTo>
                        <a:cubicBezTo>
                          <a:pt x="173907" y="26883"/>
                          <a:pt x="192548" y="46069"/>
                          <a:pt x="192242" y="69410"/>
                        </a:cubicBezTo>
                        <a:cubicBezTo>
                          <a:pt x="192241" y="74901"/>
                          <a:pt x="187790" y="79353"/>
                          <a:pt x="182298" y="79353"/>
                        </a:cubicBezTo>
                        <a:close/>
                      </a:path>
                    </a:pathLst>
                  </a:custGeom>
                  <a:gradFill>
                    <a:gsLst>
                      <a:gs pos="0">
                        <a:schemeClr val="accent1">
                          <a:lumMod val="60000"/>
                          <a:lumOff val="40000"/>
                        </a:schemeClr>
                      </a:gs>
                      <a:gs pos="54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00" name="小红书平北职场PPT6-21"/>
                  <p:cNvSpPr/>
                  <p:nvPr/>
                </p:nvSpPr>
                <p:spPr>
                  <a:xfrm>
                    <a:off x="607075" y="2037968"/>
                    <a:ext cx="483523" cy="416054"/>
                  </a:xfrm>
                  <a:custGeom>
                    <a:avLst/>
                    <a:gdLst>
                      <a:gd name="connsiteX0" fmla="*/ 275101 w 285044"/>
                      <a:gd name="connsiteY0" fmla="*/ 0 h 245270"/>
                      <a:gd name="connsiteX1" fmla="*/ 222069 w 285044"/>
                      <a:gd name="connsiteY1" fmla="*/ 0 h 245270"/>
                      <a:gd name="connsiteX2" fmla="*/ 212126 w 285044"/>
                      <a:gd name="connsiteY2" fmla="*/ 9943 h 245270"/>
                      <a:gd name="connsiteX3" fmla="*/ 212126 w 285044"/>
                      <a:gd name="connsiteY3" fmla="*/ 102749 h 245270"/>
                      <a:gd name="connsiteX4" fmla="*/ 142522 w 285044"/>
                      <a:gd name="connsiteY4" fmla="*/ 172352 h 245270"/>
                      <a:gd name="connsiteX5" fmla="*/ 72918 w 285044"/>
                      <a:gd name="connsiteY5" fmla="*/ 102749 h 245270"/>
                      <a:gd name="connsiteX6" fmla="*/ 72918 w 285044"/>
                      <a:gd name="connsiteY6" fmla="*/ 9943 h 245270"/>
                      <a:gd name="connsiteX7" fmla="*/ 62975 w 285044"/>
                      <a:gd name="connsiteY7" fmla="*/ 0 h 245270"/>
                      <a:gd name="connsiteX8" fmla="*/ 9943 w 285044"/>
                      <a:gd name="connsiteY8" fmla="*/ 0 h 245270"/>
                      <a:gd name="connsiteX9" fmla="*/ 0 w 285044"/>
                      <a:gd name="connsiteY9" fmla="*/ 9943 h 245270"/>
                      <a:gd name="connsiteX10" fmla="*/ 0 w 285044"/>
                      <a:gd name="connsiteY10" fmla="*/ 102749 h 245270"/>
                      <a:gd name="connsiteX11" fmla="*/ 142522 w 285044"/>
                      <a:gd name="connsiteY11" fmla="*/ 245271 h 245270"/>
                      <a:gd name="connsiteX12" fmla="*/ 285045 w 285044"/>
                      <a:gd name="connsiteY12" fmla="*/ 102749 h 245270"/>
                      <a:gd name="connsiteX13" fmla="*/ 285045 w 285044"/>
                      <a:gd name="connsiteY13" fmla="*/ 9943 h 245270"/>
                      <a:gd name="connsiteX14" fmla="*/ 275101 w 285044"/>
                      <a:gd name="connsiteY14" fmla="*/ 0 h 245270"/>
                      <a:gd name="connsiteX15" fmla="*/ 265158 w 285044"/>
                      <a:gd name="connsiteY15" fmla="*/ 19887 h 245270"/>
                      <a:gd name="connsiteX16" fmla="*/ 265158 w 285044"/>
                      <a:gd name="connsiteY16" fmla="*/ 59660 h 245270"/>
                      <a:gd name="connsiteX17" fmla="*/ 232013 w 285044"/>
                      <a:gd name="connsiteY17" fmla="*/ 59660 h 245270"/>
                      <a:gd name="connsiteX18" fmla="*/ 232013 w 285044"/>
                      <a:gd name="connsiteY18" fmla="*/ 19887 h 245270"/>
                      <a:gd name="connsiteX19" fmla="*/ 53031 w 285044"/>
                      <a:gd name="connsiteY19" fmla="*/ 19887 h 245270"/>
                      <a:gd name="connsiteX20" fmla="*/ 53031 w 285044"/>
                      <a:gd name="connsiteY20" fmla="*/ 59660 h 245270"/>
                      <a:gd name="connsiteX21" fmla="*/ 19887 w 285044"/>
                      <a:gd name="connsiteY21" fmla="*/ 59660 h 245270"/>
                      <a:gd name="connsiteX22" fmla="*/ 19887 w 285044"/>
                      <a:gd name="connsiteY22" fmla="*/ 19887 h 245270"/>
                      <a:gd name="connsiteX23" fmla="*/ 19887 w 285044"/>
                      <a:gd name="connsiteY23" fmla="*/ 102749 h 245270"/>
                      <a:gd name="connsiteX24" fmla="*/ 19887 w 285044"/>
                      <a:gd name="connsiteY24" fmla="*/ 79547 h 245270"/>
                      <a:gd name="connsiteX25" fmla="*/ 53031 w 285044"/>
                      <a:gd name="connsiteY25" fmla="*/ 79547 h 245270"/>
                      <a:gd name="connsiteX26" fmla="*/ 53031 w 285044"/>
                      <a:gd name="connsiteY26" fmla="*/ 102749 h 245270"/>
                      <a:gd name="connsiteX27" fmla="*/ 132579 w 285044"/>
                      <a:gd name="connsiteY27" fmla="*/ 191653 h 245270"/>
                      <a:gd name="connsiteX28" fmla="*/ 132579 w 285044"/>
                      <a:gd name="connsiteY28" fmla="*/ 224880 h 245270"/>
                      <a:gd name="connsiteX29" fmla="*/ 19886 w 285044"/>
                      <a:gd name="connsiteY29" fmla="*/ 102749 h 245270"/>
                      <a:gd name="connsiteX30" fmla="*/ 152466 w 285044"/>
                      <a:gd name="connsiteY30" fmla="*/ 224880 h 245270"/>
                      <a:gd name="connsiteX31" fmla="*/ 152466 w 285044"/>
                      <a:gd name="connsiteY31" fmla="*/ 191653 h 245270"/>
                      <a:gd name="connsiteX32" fmla="*/ 232013 w 285044"/>
                      <a:gd name="connsiteY32" fmla="*/ 102749 h 245270"/>
                      <a:gd name="connsiteX33" fmla="*/ 232013 w 285044"/>
                      <a:gd name="connsiteY33" fmla="*/ 79547 h 245270"/>
                      <a:gd name="connsiteX34" fmla="*/ 265157 w 285044"/>
                      <a:gd name="connsiteY34" fmla="*/ 79547 h 245270"/>
                      <a:gd name="connsiteX35" fmla="*/ 265157 w 285044"/>
                      <a:gd name="connsiteY35" fmla="*/ 102749 h 245270"/>
                      <a:gd name="connsiteX36" fmla="*/ 152465 w 285044"/>
                      <a:gd name="connsiteY36" fmla="*/ 224880 h 24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85044" h="245270">
                        <a:moveTo>
                          <a:pt x="275101" y="0"/>
                        </a:moveTo>
                        <a:lnTo>
                          <a:pt x="222069" y="0"/>
                        </a:lnTo>
                        <a:cubicBezTo>
                          <a:pt x="216578" y="0"/>
                          <a:pt x="212126" y="4452"/>
                          <a:pt x="212126" y="9943"/>
                        </a:cubicBezTo>
                        <a:lnTo>
                          <a:pt x="212126" y="102749"/>
                        </a:lnTo>
                        <a:cubicBezTo>
                          <a:pt x="212126" y="141190"/>
                          <a:pt x="180963" y="172352"/>
                          <a:pt x="142522" y="172352"/>
                        </a:cubicBezTo>
                        <a:cubicBezTo>
                          <a:pt x="104081" y="172352"/>
                          <a:pt x="72918" y="141190"/>
                          <a:pt x="72918" y="102749"/>
                        </a:cubicBezTo>
                        <a:lnTo>
                          <a:pt x="72918" y="9943"/>
                        </a:lnTo>
                        <a:cubicBezTo>
                          <a:pt x="72918" y="4452"/>
                          <a:pt x="68466" y="0"/>
                          <a:pt x="62975" y="0"/>
                        </a:cubicBezTo>
                        <a:lnTo>
                          <a:pt x="9943" y="0"/>
                        </a:lnTo>
                        <a:cubicBezTo>
                          <a:pt x="4452" y="0"/>
                          <a:pt x="0" y="4452"/>
                          <a:pt x="0" y="9943"/>
                        </a:cubicBezTo>
                        <a:lnTo>
                          <a:pt x="0" y="102749"/>
                        </a:lnTo>
                        <a:cubicBezTo>
                          <a:pt x="0" y="181461"/>
                          <a:pt x="63809" y="245271"/>
                          <a:pt x="142522" y="245271"/>
                        </a:cubicBezTo>
                        <a:cubicBezTo>
                          <a:pt x="221235" y="245271"/>
                          <a:pt x="285045" y="181461"/>
                          <a:pt x="285045" y="102749"/>
                        </a:cubicBezTo>
                        <a:lnTo>
                          <a:pt x="285045" y="9943"/>
                        </a:lnTo>
                        <a:cubicBezTo>
                          <a:pt x="285044" y="4452"/>
                          <a:pt x="280593" y="0"/>
                          <a:pt x="275101" y="0"/>
                        </a:cubicBezTo>
                        <a:close/>
                        <a:moveTo>
                          <a:pt x="265158" y="19887"/>
                        </a:moveTo>
                        <a:lnTo>
                          <a:pt x="265158" y="59660"/>
                        </a:lnTo>
                        <a:lnTo>
                          <a:pt x="232013" y="59660"/>
                        </a:lnTo>
                        <a:lnTo>
                          <a:pt x="232013" y="19887"/>
                        </a:lnTo>
                        <a:close/>
                        <a:moveTo>
                          <a:pt x="53031" y="19887"/>
                        </a:moveTo>
                        <a:lnTo>
                          <a:pt x="53031" y="59660"/>
                        </a:lnTo>
                        <a:lnTo>
                          <a:pt x="19887" y="59660"/>
                        </a:lnTo>
                        <a:lnTo>
                          <a:pt x="19887" y="19887"/>
                        </a:lnTo>
                        <a:close/>
                        <a:moveTo>
                          <a:pt x="19887" y="102749"/>
                        </a:moveTo>
                        <a:lnTo>
                          <a:pt x="19887" y="79547"/>
                        </a:lnTo>
                        <a:lnTo>
                          <a:pt x="53031" y="79547"/>
                        </a:lnTo>
                        <a:lnTo>
                          <a:pt x="53031" y="102749"/>
                        </a:lnTo>
                        <a:cubicBezTo>
                          <a:pt x="53095" y="148295"/>
                          <a:pt x="87320" y="186546"/>
                          <a:pt x="132579" y="191653"/>
                        </a:cubicBezTo>
                        <a:lnTo>
                          <a:pt x="132579" y="224880"/>
                        </a:lnTo>
                        <a:cubicBezTo>
                          <a:pt x="68974" y="219662"/>
                          <a:pt x="19982" y="166567"/>
                          <a:pt x="19886" y="102749"/>
                        </a:cubicBezTo>
                        <a:close/>
                        <a:moveTo>
                          <a:pt x="152466" y="224880"/>
                        </a:moveTo>
                        <a:lnTo>
                          <a:pt x="152466" y="191653"/>
                        </a:lnTo>
                        <a:cubicBezTo>
                          <a:pt x="197725" y="186546"/>
                          <a:pt x="231949" y="148295"/>
                          <a:pt x="232013" y="102749"/>
                        </a:cubicBezTo>
                        <a:lnTo>
                          <a:pt x="232013" y="79547"/>
                        </a:lnTo>
                        <a:lnTo>
                          <a:pt x="265157" y="79547"/>
                        </a:lnTo>
                        <a:lnTo>
                          <a:pt x="265157" y="102749"/>
                        </a:lnTo>
                        <a:cubicBezTo>
                          <a:pt x="265062" y="166567"/>
                          <a:pt x="216070" y="219662"/>
                          <a:pt x="152465" y="224880"/>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01" name="小红书平北职场PPT6-22"/>
                  <p:cNvSpPr/>
                  <p:nvPr/>
                </p:nvSpPr>
                <p:spPr>
                  <a:xfrm>
                    <a:off x="1068083" y="1858034"/>
                    <a:ext cx="78709" cy="146218"/>
                  </a:xfrm>
                  <a:custGeom>
                    <a:avLst/>
                    <a:gdLst>
                      <a:gd name="connsiteX0" fmla="*/ 36458 w 46400"/>
                      <a:gd name="connsiteY0" fmla="*/ 33156 h 86198"/>
                      <a:gd name="connsiteX1" fmla="*/ 24627 w 46400"/>
                      <a:gd name="connsiteY1" fmla="*/ 33156 h 86198"/>
                      <a:gd name="connsiteX2" fmla="*/ 32431 w 46400"/>
                      <a:gd name="connsiteY2" fmla="*/ 13645 h 86198"/>
                      <a:gd name="connsiteX3" fmla="*/ 26905 w 46400"/>
                      <a:gd name="connsiteY3" fmla="*/ 717 h 86198"/>
                      <a:gd name="connsiteX4" fmla="*/ 13977 w 46400"/>
                      <a:gd name="connsiteY4" fmla="*/ 6244 h 86198"/>
                      <a:gd name="connsiteX5" fmla="*/ 13969 w 46400"/>
                      <a:gd name="connsiteY5" fmla="*/ 6265 h 86198"/>
                      <a:gd name="connsiteX6" fmla="*/ 711 w 46400"/>
                      <a:gd name="connsiteY6" fmla="*/ 39409 h 86198"/>
                      <a:gd name="connsiteX7" fmla="*/ 6264 w 46400"/>
                      <a:gd name="connsiteY7" fmla="*/ 52335 h 86198"/>
                      <a:gd name="connsiteX8" fmla="*/ 9942 w 46400"/>
                      <a:gd name="connsiteY8" fmla="*/ 53043 h 86198"/>
                      <a:gd name="connsiteX9" fmla="*/ 21773 w 46400"/>
                      <a:gd name="connsiteY9" fmla="*/ 53043 h 86198"/>
                      <a:gd name="connsiteX10" fmla="*/ 13969 w 46400"/>
                      <a:gd name="connsiteY10" fmla="*/ 72554 h 86198"/>
                      <a:gd name="connsiteX11" fmla="*/ 19495 w 46400"/>
                      <a:gd name="connsiteY11" fmla="*/ 85482 h 86198"/>
                      <a:gd name="connsiteX12" fmla="*/ 32423 w 46400"/>
                      <a:gd name="connsiteY12" fmla="*/ 79955 h 86198"/>
                      <a:gd name="connsiteX13" fmla="*/ 32431 w 46400"/>
                      <a:gd name="connsiteY13" fmla="*/ 79934 h 86198"/>
                      <a:gd name="connsiteX14" fmla="*/ 45689 w 46400"/>
                      <a:gd name="connsiteY14" fmla="*/ 46789 h 86198"/>
                      <a:gd name="connsiteX15" fmla="*/ 40136 w 46400"/>
                      <a:gd name="connsiteY15" fmla="*/ 33864 h 86198"/>
                      <a:gd name="connsiteX16" fmla="*/ 36458 w 46400"/>
                      <a:gd name="connsiteY16" fmla="*/ 33156 h 8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400" h="86198">
                        <a:moveTo>
                          <a:pt x="36458" y="33156"/>
                        </a:moveTo>
                        <a:lnTo>
                          <a:pt x="24627" y="33156"/>
                        </a:lnTo>
                        <a:lnTo>
                          <a:pt x="32431" y="13645"/>
                        </a:lnTo>
                        <a:cubicBezTo>
                          <a:pt x="34475" y="8549"/>
                          <a:pt x="32001" y="2761"/>
                          <a:pt x="26905" y="717"/>
                        </a:cubicBezTo>
                        <a:cubicBezTo>
                          <a:pt x="21809" y="-1327"/>
                          <a:pt x="16021" y="1148"/>
                          <a:pt x="13977" y="6244"/>
                        </a:cubicBezTo>
                        <a:cubicBezTo>
                          <a:pt x="13974" y="6251"/>
                          <a:pt x="13972" y="6258"/>
                          <a:pt x="13969" y="6265"/>
                        </a:cubicBezTo>
                        <a:lnTo>
                          <a:pt x="711" y="39409"/>
                        </a:lnTo>
                        <a:cubicBezTo>
                          <a:pt x="-1325" y="44512"/>
                          <a:pt x="1161" y="50299"/>
                          <a:pt x="6264" y="52335"/>
                        </a:cubicBezTo>
                        <a:cubicBezTo>
                          <a:pt x="7434" y="52801"/>
                          <a:pt x="8682" y="53042"/>
                          <a:pt x="9942" y="53043"/>
                        </a:cubicBezTo>
                        <a:lnTo>
                          <a:pt x="21773" y="53043"/>
                        </a:lnTo>
                        <a:lnTo>
                          <a:pt x="13969" y="72554"/>
                        </a:lnTo>
                        <a:cubicBezTo>
                          <a:pt x="11925" y="77650"/>
                          <a:pt x="14399" y="83438"/>
                          <a:pt x="19495" y="85482"/>
                        </a:cubicBezTo>
                        <a:cubicBezTo>
                          <a:pt x="24591" y="87525"/>
                          <a:pt x="30379" y="85051"/>
                          <a:pt x="32423" y="79955"/>
                        </a:cubicBezTo>
                        <a:cubicBezTo>
                          <a:pt x="32426" y="79948"/>
                          <a:pt x="32429" y="79941"/>
                          <a:pt x="32431" y="79934"/>
                        </a:cubicBezTo>
                        <a:lnTo>
                          <a:pt x="45689" y="46789"/>
                        </a:lnTo>
                        <a:cubicBezTo>
                          <a:pt x="47725" y="41687"/>
                          <a:pt x="45239" y="35900"/>
                          <a:pt x="40136" y="33864"/>
                        </a:cubicBezTo>
                        <a:cubicBezTo>
                          <a:pt x="38966" y="33397"/>
                          <a:pt x="37718" y="33157"/>
                          <a:pt x="36458" y="33156"/>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02" name="小红书平北职场PPT6-23"/>
                  <p:cNvSpPr/>
                  <p:nvPr/>
                </p:nvSpPr>
                <p:spPr>
                  <a:xfrm>
                    <a:off x="550858" y="1858034"/>
                    <a:ext cx="78699" cy="146218"/>
                  </a:xfrm>
                  <a:custGeom>
                    <a:avLst/>
                    <a:gdLst>
                      <a:gd name="connsiteX0" fmla="*/ 24625 w 46394"/>
                      <a:gd name="connsiteY0" fmla="*/ 53043 h 86198"/>
                      <a:gd name="connsiteX1" fmla="*/ 36455 w 46394"/>
                      <a:gd name="connsiteY1" fmla="*/ 53043 h 86198"/>
                      <a:gd name="connsiteX2" fmla="*/ 46395 w 46394"/>
                      <a:gd name="connsiteY2" fmla="*/ 43088 h 86198"/>
                      <a:gd name="connsiteX3" fmla="*/ 45687 w 46394"/>
                      <a:gd name="connsiteY3" fmla="*/ 39409 h 86198"/>
                      <a:gd name="connsiteX4" fmla="*/ 32429 w 46394"/>
                      <a:gd name="connsiteY4" fmla="*/ 6265 h 86198"/>
                      <a:gd name="connsiteX5" fmla="*/ 19514 w 46394"/>
                      <a:gd name="connsiteY5" fmla="*/ 709 h 86198"/>
                      <a:gd name="connsiteX6" fmla="*/ 13958 w 46394"/>
                      <a:gd name="connsiteY6" fmla="*/ 13624 h 86198"/>
                      <a:gd name="connsiteX7" fmla="*/ 13966 w 46394"/>
                      <a:gd name="connsiteY7" fmla="*/ 13645 h 86198"/>
                      <a:gd name="connsiteX8" fmla="*/ 21770 w 46394"/>
                      <a:gd name="connsiteY8" fmla="*/ 33156 h 86198"/>
                      <a:gd name="connsiteX9" fmla="*/ 9939 w 46394"/>
                      <a:gd name="connsiteY9" fmla="*/ 33156 h 86198"/>
                      <a:gd name="connsiteX10" fmla="*/ 0 w 46394"/>
                      <a:gd name="connsiteY10" fmla="*/ 43111 h 86198"/>
                      <a:gd name="connsiteX11" fmla="*/ 708 w 46394"/>
                      <a:gd name="connsiteY11" fmla="*/ 46789 h 86198"/>
                      <a:gd name="connsiteX12" fmla="*/ 13966 w 46394"/>
                      <a:gd name="connsiteY12" fmla="*/ 79934 h 86198"/>
                      <a:gd name="connsiteX13" fmla="*/ 26881 w 46394"/>
                      <a:gd name="connsiteY13" fmla="*/ 85490 h 86198"/>
                      <a:gd name="connsiteX14" fmla="*/ 32437 w 46394"/>
                      <a:gd name="connsiteY14" fmla="*/ 72575 h 86198"/>
                      <a:gd name="connsiteX15" fmla="*/ 32429 w 46394"/>
                      <a:gd name="connsiteY15" fmla="*/ 72554 h 8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394" h="86198">
                        <a:moveTo>
                          <a:pt x="24625" y="53043"/>
                        </a:moveTo>
                        <a:lnTo>
                          <a:pt x="36455" y="53043"/>
                        </a:lnTo>
                        <a:cubicBezTo>
                          <a:pt x="41949" y="53038"/>
                          <a:pt x="46399" y="48581"/>
                          <a:pt x="46395" y="43088"/>
                        </a:cubicBezTo>
                        <a:cubicBezTo>
                          <a:pt x="46394" y="41828"/>
                          <a:pt x="46153" y="40580"/>
                          <a:pt x="45687" y="39409"/>
                        </a:cubicBezTo>
                        <a:lnTo>
                          <a:pt x="32429" y="6265"/>
                        </a:lnTo>
                        <a:cubicBezTo>
                          <a:pt x="30397" y="1164"/>
                          <a:pt x="24614" y="-1323"/>
                          <a:pt x="19514" y="709"/>
                        </a:cubicBezTo>
                        <a:cubicBezTo>
                          <a:pt x="14413" y="2741"/>
                          <a:pt x="11926" y="8523"/>
                          <a:pt x="13958" y="13624"/>
                        </a:cubicBezTo>
                        <a:cubicBezTo>
                          <a:pt x="13960" y="13631"/>
                          <a:pt x="13963" y="13638"/>
                          <a:pt x="13966" y="13645"/>
                        </a:cubicBezTo>
                        <a:lnTo>
                          <a:pt x="21770" y="33156"/>
                        </a:lnTo>
                        <a:lnTo>
                          <a:pt x="9939" y="33156"/>
                        </a:lnTo>
                        <a:cubicBezTo>
                          <a:pt x="4446" y="33160"/>
                          <a:pt x="-4" y="37617"/>
                          <a:pt x="0" y="43111"/>
                        </a:cubicBezTo>
                        <a:cubicBezTo>
                          <a:pt x="1" y="44371"/>
                          <a:pt x="241" y="45619"/>
                          <a:pt x="708" y="46789"/>
                        </a:cubicBezTo>
                        <a:lnTo>
                          <a:pt x="13966" y="79934"/>
                        </a:lnTo>
                        <a:cubicBezTo>
                          <a:pt x="15998" y="85035"/>
                          <a:pt x="21780" y="87522"/>
                          <a:pt x="26881" y="85490"/>
                        </a:cubicBezTo>
                        <a:cubicBezTo>
                          <a:pt x="31982" y="83458"/>
                          <a:pt x="34469" y="77676"/>
                          <a:pt x="32437" y="72575"/>
                        </a:cubicBezTo>
                        <a:cubicBezTo>
                          <a:pt x="32434" y="72568"/>
                          <a:pt x="32431" y="72561"/>
                          <a:pt x="32429" y="72554"/>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grpSp>
            <p:sp>
              <p:nvSpPr>
                <p:cNvPr id="98" name="小红书平北职场PPT6-24"/>
                <p:cNvSpPr txBox="1"/>
                <p:nvPr/>
              </p:nvSpPr>
              <p:spPr>
                <a:xfrm>
                  <a:off x="1232726" y="1601788"/>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r>
                    <a:rPr lang="zh-CN" altLang="en-US" dirty="0"/>
                    <a:t>我们引入</a:t>
                  </a:r>
                  <a:r>
                    <a:rPr lang="en-US" altLang="zh-CN" dirty="0"/>
                    <a:t>AI</a:t>
                  </a:r>
                  <a:r>
                    <a:rPr lang="zh-CN" altLang="en-US" dirty="0"/>
                    <a:t>与大数据技术，智能客服系统使服务响应效率提升</a:t>
                  </a:r>
                  <a:r>
                    <a:rPr lang="en-US" altLang="zh-CN" dirty="0"/>
                    <a:t>87.5%</a:t>
                  </a:r>
                  <a:r>
                    <a:rPr lang="zh-CN" altLang="en-US" dirty="0"/>
                    <a:t>，客户满意度达</a:t>
                  </a:r>
                  <a:r>
                    <a:rPr lang="en-US" altLang="zh-CN" dirty="0"/>
                    <a:t>4.8</a:t>
                  </a:r>
                  <a:r>
                    <a:rPr lang="zh-CN" altLang="en-US" dirty="0"/>
                    <a:t>分，显著增强产品竞争力</a:t>
                  </a:r>
                  <a:endParaRPr lang="zh-CN" altLang="en-US" dirty="0"/>
                </a:p>
              </p:txBody>
            </p:sp>
          </p:grpSp>
          <p:grpSp>
            <p:nvGrpSpPr>
              <p:cNvPr id="62" name="组合 61"/>
              <p:cNvGrpSpPr/>
              <p:nvPr/>
            </p:nvGrpSpPr>
            <p:grpSpPr>
              <a:xfrm>
                <a:off x="8625701" y="1066266"/>
                <a:ext cx="2800028" cy="1572794"/>
                <a:chOff x="8793754" y="1066266"/>
                <a:chExt cx="2800028" cy="1572794"/>
              </a:xfrm>
            </p:grpSpPr>
            <p:grpSp>
              <p:nvGrpSpPr>
                <p:cNvPr id="86" name="组合 85"/>
                <p:cNvGrpSpPr/>
                <p:nvPr/>
              </p:nvGrpSpPr>
              <p:grpSpPr>
                <a:xfrm>
                  <a:off x="11045408" y="1764282"/>
                  <a:ext cx="500211" cy="573059"/>
                  <a:chOff x="13828937" y="4456961"/>
                  <a:chExt cx="327398" cy="375080"/>
                </a:xfrm>
              </p:grpSpPr>
              <p:sp>
                <p:nvSpPr>
                  <p:cNvPr id="90" name="小红书平北职场PPT6-25"/>
                  <p:cNvSpPr/>
                  <p:nvPr/>
                </p:nvSpPr>
                <p:spPr>
                  <a:xfrm>
                    <a:off x="14025367" y="4593873"/>
                    <a:ext cx="130968" cy="238168"/>
                  </a:xfrm>
                  <a:custGeom>
                    <a:avLst/>
                    <a:gdLst>
                      <a:gd name="connsiteX0" fmla="*/ 122039 w 130968"/>
                      <a:gd name="connsiteY0" fmla="*/ 29764 h 238168"/>
                      <a:gd name="connsiteX1" fmla="*/ 95252 w 130968"/>
                      <a:gd name="connsiteY1" fmla="*/ 29764 h 238168"/>
                      <a:gd name="connsiteX2" fmla="*/ 95252 w 130968"/>
                      <a:gd name="connsiteY2" fmla="*/ 8929 h 238168"/>
                      <a:gd name="connsiteX3" fmla="*/ 86323 w 130968"/>
                      <a:gd name="connsiteY3" fmla="*/ 0 h 238168"/>
                      <a:gd name="connsiteX4" fmla="*/ 38701 w 130968"/>
                      <a:gd name="connsiteY4" fmla="*/ 0 h 238168"/>
                      <a:gd name="connsiteX5" fmla="*/ 29772 w 130968"/>
                      <a:gd name="connsiteY5" fmla="*/ 8929 h 238168"/>
                      <a:gd name="connsiteX6" fmla="*/ 29772 w 130968"/>
                      <a:gd name="connsiteY6" fmla="*/ 122414 h 238168"/>
                      <a:gd name="connsiteX7" fmla="*/ 9270 w 130968"/>
                      <a:gd name="connsiteY7" fmla="*/ 208397 h 238168"/>
                      <a:gd name="connsiteX8" fmla="*/ 95252 w 130968"/>
                      <a:gd name="connsiteY8" fmla="*/ 228899 h 238168"/>
                      <a:gd name="connsiteX9" fmla="*/ 115755 w 130968"/>
                      <a:gd name="connsiteY9" fmla="*/ 142917 h 238168"/>
                      <a:gd name="connsiteX10" fmla="*/ 95252 w 130968"/>
                      <a:gd name="connsiteY10" fmla="*/ 122414 h 238168"/>
                      <a:gd name="connsiteX11" fmla="*/ 95252 w 130968"/>
                      <a:gd name="connsiteY11" fmla="*/ 80844 h 238168"/>
                      <a:gd name="connsiteX12" fmla="*/ 124864 w 130968"/>
                      <a:gd name="connsiteY12" fmla="*/ 70973 h 238168"/>
                      <a:gd name="connsiteX13" fmla="*/ 130968 w 130968"/>
                      <a:gd name="connsiteY13" fmla="*/ 62503 h 238168"/>
                      <a:gd name="connsiteX14" fmla="*/ 130968 w 130968"/>
                      <a:gd name="connsiteY14" fmla="*/ 38693 h 238168"/>
                      <a:gd name="connsiteX15" fmla="*/ 122039 w 130968"/>
                      <a:gd name="connsiteY15" fmla="*/ 29764 h 238168"/>
                      <a:gd name="connsiteX16" fmla="*/ 62512 w 130968"/>
                      <a:gd name="connsiteY16" fmla="*/ 202392 h 238168"/>
                      <a:gd name="connsiteX17" fmla="*/ 35725 w 130968"/>
                      <a:gd name="connsiteY17" fmla="*/ 175605 h 238168"/>
                      <a:gd name="connsiteX18" fmla="*/ 62512 w 130968"/>
                      <a:gd name="connsiteY18" fmla="*/ 148818 h 238168"/>
                      <a:gd name="connsiteX19" fmla="*/ 89299 w 130968"/>
                      <a:gd name="connsiteY19" fmla="*/ 175605 h 238168"/>
                      <a:gd name="connsiteX20" fmla="*/ 62512 w 130968"/>
                      <a:gd name="connsiteY20" fmla="*/ 202392 h 23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0968" h="238168">
                        <a:moveTo>
                          <a:pt x="122039" y="29764"/>
                        </a:moveTo>
                        <a:lnTo>
                          <a:pt x="95252" y="29764"/>
                        </a:lnTo>
                        <a:lnTo>
                          <a:pt x="95252" y="8929"/>
                        </a:lnTo>
                        <a:cubicBezTo>
                          <a:pt x="95252" y="3998"/>
                          <a:pt x="91254" y="0"/>
                          <a:pt x="86323" y="0"/>
                        </a:cubicBezTo>
                        <a:lnTo>
                          <a:pt x="38701" y="0"/>
                        </a:lnTo>
                        <a:cubicBezTo>
                          <a:pt x="33770" y="0"/>
                          <a:pt x="29773" y="3998"/>
                          <a:pt x="29772" y="8929"/>
                        </a:cubicBezTo>
                        <a:lnTo>
                          <a:pt x="29772" y="122414"/>
                        </a:lnTo>
                        <a:cubicBezTo>
                          <a:pt x="367" y="140496"/>
                          <a:pt x="-8812" y="178991"/>
                          <a:pt x="9270" y="208397"/>
                        </a:cubicBezTo>
                        <a:cubicBezTo>
                          <a:pt x="27351" y="237802"/>
                          <a:pt x="65847" y="246981"/>
                          <a:pt x="95252" y="228899"/>
                        </a:cubicBezTo>
                        <a:cubicBezTo>
                          <a:pt x="124657" y="210818"/>
                          <a:pt x="133837" y="172322"/>
                          <a:pt x="115755" y="142917"/>
                        </a:cubicBezTo>
                        <a:cubicBezTo>
                          <a:pt x="110622" y="134570"/>
                          <a:pt x="103599" y="127547"/>
                          <a:pt x="95252" y="122414"/>
                        </a:cubicBezTo>
                        <a:lnTo>
                          <a:pt x="95252" y="80844"/>
                        </a:lnTo>
                        <a:lnTo>
                          <a:pt x="124864" y="70973"/>
                        </a:lnTo>
                        <a:cubicBezTo>
                          <a:pt x="128510" y="69758"/>
                          <a:pt x="130968" y="66346"/>
                          <a:pt x="130968" y="62503"/>
                        </a:cubicBezTo>
                        <a:lnTo>
                          <a:pt x="130968" y="38693"/>
                        </a:lnTo>
                        <a:cubicBezTo>
                          <a:pt x="130968" y="33761"/>
                          <a:pt x="126971" y="29764"/>
                          <a:pt x="122039" y="29764"/>
                        </a:cubicBezTo>
                        <a:close/>
                        <a:moveTo>
                          <a:pt x="62512" y="202392"/>
                        </a:moveTo>
                        <a:cubicBezTo>
                          <a:pt x="47718" y="202392"/>
                          <a:pt x="35725" y="190399"/>
                          <a:pt x="35725" y="175605"/>
                        </a:cubicBezTo>
                        <a:cubicBezTo>
                          <a:pt x="35725" y="160811"/>
                          <a:pt x="47718" y="148818"/>
                          <a:pt x="62512" y="148818"/>
                        </a:cubicBezTo>
                        <a:cubicBezTo>
                          <a:pt x="77306" y="148818"/>
                          <a:pt x="89299" y="160811"/>
                          <a:pt x="89299" y="175605"/>
                        </a:cubicBezTo>
                        <a:cubicBezTo>
                          <a:pt x="89283" y="190392"/>
                          <a:pt x="77300" y="202376"/>
                          <a:pt x="62512" y="202392"/>
                        </a:cubicBezTo>
                        <a:close/>
                      </a:path>
                    </a:pathLst>
                  </a:custGeom>
                  <a:gradFill flip="none" rotWithShape="1">
                    <a:gsLst>
                      <a:gs pos="0">
                        <a:schemeClr val="accent2">
                          <a:lumMod val="60000"/>
                          <a:lumOff val="40000"/>
                        </a:schemeClr>
                      </a:gs>
                      <a:gs pos="54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91" name="小红书平北职场PPT6-26"/>
                  <p:cNvSpPr/>
                  <p:nvPr/>
                </p:nvSpPr>
                <p:spPr>
                  <a:xfrm>
                    <a:off x="13828937" y="4456961"/>
                    <a:ext cx="267871" cy="375020"/>
                  </a:xfrm>
                  <a:custGeom>
                    <a:avLst/>
                    <a:gdLst>
                      <a:gd name="connsiteX0" fmla="*/ 247037 w 267871"/>
                      <a:gd name="connsiteY0" fmla="*/ 0 h 375020"/>
                      <a:gd name="connsiteX1" fmla="*/ 68456 w 267871"/>
                      <a:gd name="connsiteY1" fmla="*/ 0 h 375020"/>
                      <a:gd name="connsiteX2" fmla="*/ 0 w 267871"/>
                      <a:gd name="connsiteY2" fmla="*/ 68456 h 375020"/>
                      <a:gd name="connsiteX3" fmla="*/ 0 w 267871"/>
                      <a:gd name="connsiteY3" fmla="*/ 354186 h 375020"/>
                      <a:gd name="connsiteX4" fmla="*/ 20834 w 267871"/>
                      <a:gd name="connsiteY4" fmla="*/ 375020 h 375020"/>
                      <a:gd name="connsiteX5" fmla="*/ 193463 w 267871"/>
                      <a:gd name="connsiteY5" fmla="*/ 375020 h 375020"/>
                      <a:gd name="connsiteX6" fmla="*/ 202392 w 267871"/>
                      <a:gd name="connsiteY6" fmla="*/ 366091 h 375020"/>
                      <a:gd name="connsiteX7" fmla="*/ 193463 w 267871"/>
                      <a:gd name="connsiteY7" fmla="*/ 357162 h 375020"/>
                      <a:gd name="connsiteX8" fmla="*/ 20834 w 267871"/>
                      <a:gd name="connsiteY8" fmla="*/ 357162 h 375020"/>
                      <a:gd name="connsiteX9" fmla="*/ 17858 w 267871"/>
                      <a:gd name="connsiteY9" fmla="*/ 354186 h 375020"/>
                      <a:gd name="connsiteX10" fmla="*/ 17858 w 267871"/>
                      <a:gd name="connsiteY10" fmla="*/ 89291 h 375020"/>
                      <a:gd name="connsiteX11" fmla="*/ 62503 w 267871"/>
                      <a:gd name="connsiteY11" fmla="*/ 89291 h 375020"/>
                      <a:gd name="connsiteX12" fmla="*/ 83338 w 267871"/>
                      <a:gd name="connsiteY12" fmla="*/ 68456 h 375020"/>
                      <a:gd name="connsiteX13" fmla="*/ 83338 w 267871"/>
                      <a:gd name="connsiteY13" fmla="*/ 17858 h 375020"/>
                      <a:gd name="connsiteX14" fmla="*/ 247037 w 267871"/>
                      <a:gd name="connsiteY14" fmla="*/ 17858 h 375020"/>
                      <a:gd name="connsiteX15" fmla="*/ 250014 w 267871"/>
                      <a:gd name="connsiteY15" fmla="*/ 20834 h 375020"/>
                      <a:gd name="connsiteX16" fmla="*/ 250014 w 267871"/>
                      <a:gd name="connsiteY16" fmla="*/ 110125 h 375020"/>
                      <a:gd name="connsiteX17" fmla="*/ 258943 w 267871"/>
                      <a:gd name="connsiteY17" fmla="*/ 119054 h 375020"/>
                      <a:gd name="connsiteX18" fmla="*/ 267872 w 267871"/>
                      <a:gd name="connsiteY18" fmla="*/ 110125 h 375020"/>
                      <a:gd name="connsiteX19" fmla="*/ 267872 w 267871"/>
                      <a:gd name="connsiteY19" fmla="*/ 20834 h 375020"/>
                      <a:gd name="connsiteX20" fmla="*/ 247037 w 267871"/>
                      <a:gd name="connsiteY20" fmla="*/ 0 h 375020"/>
                      <a:gd name="connsiteX21" fmla="*/ 62503 w 267871"/>
                      <a:gd name="connsiteY21" fmla="*/ 71432 h 375020"/>
                      <a:gd name="connsiteX22" fmla="*/ 17858 w 267871"/>
                      <a:gd name="connsiteY22" fmla="*/ 71432 h 375020"/>
                      <a:gd name="connsiteX23" fmla="*/ 17858 w 267871"/>
                      <a:gd name="connsiteY23" fmla="*/ 68456 h 375020"/>
                      <a:gd name="connsiteX24" fmla="*/ 65480 w 267871"/>
                      <a:gd name="connsiteY24" fmla="*/ 18009 h 375020"/>
                      <a:gd name="connsiteX25" fmla="*/ 65480 w 267871"/>
                      <a:gd name="connsiteY25" fmla="*/ 68456 h 375020"/>
                      <a:gd name="connsiteX26" fmla="*/ 62503 w 267871"/>
                      <a:gd name="connsiteY26" fmla="*/ 71432 h 37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7871" h="375020">
                        <a:moveTo>
                          <a:pt x="247037" y="0"/>
                        </a:moveTo>
                        <a:lnTo>
                          <a:pt x="68456" y="0"/>
                        </a:lnTo>
                        <a:cubicBezTo>
                          <a:pt x="30667" y="43"/>
                          <a:pt x="43" y="30667"/>
                          <a:pt x="0" y="68456"/>
                        </a:cubicBezTo>
                        <a:lnTo>
                          <a:pt x="0" y="354186"/>
                        </a:lnTo>
                        <a:cubicBezTo>
                          <a:pt x="14" y="365687"/>
                          <a:pt x="9334" y="375006"/>
                          <a:pt x="20834" y="375020"/>
                        </a:cubicBezTo>
                        <a:lnTo>
                          <a:pt x="193463" y="375020"/>
                        </a:lnTo>
                        <a:cubicBezTo>
                          <a:pt x="198394" y="375020"/>
                          <a:pt x="202392" y="371023"/>
                          <a:pt x="202392" y="366091"/>
                        </a:cubicBezTo>
                        <a:cubicBezTo>
                          <a:pt x="202392" y="361160"/>
                          <a:pt x="198394" y="357162"/>
                          <a:pt x="193463" y="357162"/>
                        </a:cubicBezTo>
                        <a:lnTo>
                          <a:pt x="20834" y="357162"/>
                        </a:lnTo>
                        <a:cubicBezTo>
                          <a:pt x="19192" y="357159"/>
                          <a:pt x="17861" y="355828"/>
                          <a:pt x="17858" y="354186"/>
                        </a:cubicBezTo>
                        <a:lnTo>
                          <a:pt x="17858" y="89291"/>
                        </a:lnTo>
                        <a:lnTo>
                          <a:pt x="62503" y="89291"/>
                        </a:lnTo>
                        <a:cubicBezTo>
                          <a:pt x="74004" y="89277"/>
                          <a:pt x="83324" y="79957"/>
                          <a:pt x="83338" y="68456"/>
                        </a:cubicBezTo>
                        <a:lnTo>
                          <a:pt x="83338" y="17858"/>
                        </a:lnTo>
                        <a:lnTo>
                          <a:pt x="247037" y="17858"/>
                        </a:lnTo>
                        <a:cubicBezTo>
                          <a:pt x="248680" y="17860"/>
                          <a:pt x="250011" y="19192"/>
                          <a:pt x="250014" y="20834"/>
                        </a:cubicBezTo>
                        <a:lnTo>
                          <a:pt x="250014" y="110125"/>
                        </a:lnTo>
                        <a:cubicBezTo>
                          <a:pt x="250014" y="115056"/>
                          <a:pt x="254011" y="119054"/>
                          <a:pt x="258943" y="119054"/>
                        </a:cubicBezTo>
                        <a:cubicBezTo>
                          <a:pt x="263874" y="119054"/>
                          <a:pt x="267872" y="115056"/>
                          <a:pt x="267872" y="110125"/>
                        </a:cubicBezTo>
                        <a:lnTo>
                          <a:pt x="267872" y="20834"/>
                        </a:lnTo>
                        <a:cubicBezTo>
                          <a:pt x="267858" y="9334"/>
                          <a:pt x="258538" y="14"/>
                          <a:pt x="247037" y="0"/>
                        </a:cubicBezTo>
                        <a:close/>
                        <a:moveTo>
                          <a:pt x="62503" y="71432"/>
                        </a:moveTo>
                        <a:lnTo>
                          <a:pt x="17858" y="71432"/>
                        </a:lnTo>
                        <a:lnTo>
                          <a:pt x="17858" y="68456"/>
                        </a:lnTo>
                        <a:cubicBezTo>
                          <a:pt x="17902" y="41696"/>
                          <a:pt x="38767" y="19594"/>
                          <a:pt x="65480" y="18009"/>
                        </a:cubicBezTo>
                        <a:lnTo>
                          <a:pt x="65480" y="68456"/>
                        </a:lnTo>
                        <a:cubicBezTo>
                          <a:pt x="65478" y="70099"/>
                          <a:pt x="64146" y="71430"/>
                          <a:pt x="62503" y="71432"/>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92" name="小红书平北职场PPT6-27"/>
                  <p:cNvSpPr/>
                  <p:nvPr/>
                </p:nvSpPr>
                <p:spPr>
                  <a:xfrm>
                    <a:off x="13930133" y="4492677"/>
                    <a:ext cx="130959" cy="53574"/>
                  </a:xfrm>
                  <a:custGeom>
                    <a:avLst/>
                    <a:gdLst>
                      <a:gd name="connsiteX0" fmla="*/ 122030 w 130959"/>
                      <a:gd name="connsiteY0" fmla="*/ 0 h 53574"/>
                      <a:gd name="connsiteX1" fmla="*/ 8929 w 130959"/>
                      <a:gd name="connsiteY1" fmla="*/ 0 h 53574"/>
                      <a:gd name="connsiteX2" fmla="*/ 0 w 130959"/>
                      <a:gd name="connsiteY2" fmla="*/ 8929 h 53574"/>
                      <a:gd name="connsiteX3" fmla="*/ 0 w 130959"/>
                      <a:gd name="connsiteY3" fmla="*/ 44645 h 53574"/>
                      <a:gd name="connsiteX4" fmla="*/ 8929 w 130959"/>
                      <a:gd name="connsiteY4" fmla="*/ 53574 h 53574"/>
                      <a:gd name="connsiteX5" fmla="*/ 122030 w 130959"/>
                      <a:gd name="connsiteY5" fmla="*/ 53574 h 53574"/>
                      <a:gd name="connsiteX6" fmla="*/ 130959 w 130959"/>
                      <a:gd name="connsiteY6" fmla="*/ 44645 h 53574"/>
                      <a:gd name="connsiteX7" fmla="*/ 130959 w 130959"/>
                      <a:gd name="connsiteY7" fmla="*/ 8929 h 53574"/>
                      <a:gd name="connsiteX8" fmla="*/ 122030 w 130959"/>
                      <a:gd name="connsiteY8" fmla="*/ 0 h 53574"/>
                      <a:gd name="connsiteX9" fmla="*/ 17858 w 130959"/>
                      <a:gd name="connsiteY9" fmla="*/ 17858 h 53574"/>
                      <a:gd name="connsiteX10" fmla="*/ 71432 w 130959"/>
                      <a:gd name="connsiteY10" fmla="*/ 17858 h 53574"/>
                      <a:gd name="connsiteX11" fmla="*/ 71432 w 130959"/>
                      <a:gd name="connsiteY11" fmla="*/ 35716 h 53574"/>
                      <a:gd name="connsiteX12" fmla="*/ 17858 w 130959"/>
                      <a:gd name="connsiteY12" fmla="*/ 35716 h 53574"/>
                      <a:gd name="connsiteX13" fmla="*/ 113101 w 130959"/>
                      <a:gd name="connsiteY13" fmla="*/ 35716 h 53574"/>
                      <a:gd name="connsiteX14" fmla="*/ 89291 w 130959"/>
                      <a:gd name="connsiteY14" fmla="*/ 35716 h 53574"/>
                      <a:gd name="connsiteX15" fmla="*/ 89291 w 130959"/>
                      <a:gd name="connsiteY15" fmla="*/ 17858 h 53574"/>
                      <a:gd name="connsiteX16" fmla="*/ 113101 w 130959"/>
                      <a:gd name="connsiteY16" fmla="*/ 17858 h 5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0959" h="53574">
                        <a:moveTo>
                          <a:pt x="122030" y="0"/>
                        </a:moveTo>
                        <a:lnTo>
                          <a:pt x="8929" y="0"/>
                        </a:lnTo>
                        <a:cubicBezTo>
                          <a:pt x="3998" y="0"/>
                          <a:pt x="0" y="3998"/>
                          <a:pt x="0" y="8929"/>
                        </a:cubicBezTo>
                        <a:lnTo>
                          <a:pt x="0" y="44645"/>
                        </a:lnTo>
                        <a:cubicBezTo>
                          <a:pt x="0" y="49577"/>
                          <a:pt x="3998" y="53574"/>
                          <a:pt x="8929" y="53574"/>
                        </a:cubicBezTo>
                        <a:lnTo>
                          <a:pt x="122030" y="53574"/>
                        </a:lnTo>
                        <a:cubicBezTo>
                          <a:pt x="126962" y="53574"/>
                          <a:pt x="130959" y="49577"/>
                          <a:pt x="130959" y="44645"/>
                        </a:cubicBezTo>
                        <a:lnTo>
                          <a:pt x="130959" y="8929"/>
                        </a:lnTo>
                        <a:cubicBezTo>
                          <a:pt x="130959" y="3998"/>
                          <a:pt x="126962" y="0"/>
                          <a:pt x="122030" y="0"/>
                        </a:cubicBezTo>
                        <a:close/>
                        <a:moveTo>
                          <a:pt x="17858" y="17858"/>
                        </a:moveTo>
                        <a:lnTo>
                          <a:pt x="71432" y="17858"/>
                        </a:lnTo>
                        <a:lnTo>
                          <a:pt x="71432" y="35716"/>
                        </a:lnTo>
                        <a:lnTo>
                          <a:pt x="17858" y="35716"/>
                        </a:lnTo>
                        <a:close/>
                        <a:moveTo>
                          <a:pt x="113101" y="35716"/>
                        </a:moveTo>
                        <a:lnTo>
                          <a:pt x="89291" y="35716"/>
                        </a:lnTo>
                        <a:lnTo>
                          <a:pt x="89291" y="17858"/>
                        </a:lnTo>
                        <a:lnTo>
                          <a:pt x="113101" y="17858"/>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93" name="小红书平北职场PPT6-28"/>
                  <p:cNvSpPr/>
                  <p:nvPr/>
                </p:nvSpPr>
                <p:spPr>
                  <a:xfrm>
                    <a:off x="13864653" y="4587920"/>
                    <a:ext cx="172628" cy="77385"/>
                  </a:xfrm>
                  <a:custGeom>
                    <a:avLst/>
                    <a:gdLst>
                      <a:gd name="connsiteX0" fmla="*/ 163699 w 172628"/>
                      <a:gd name="connsiteY0" fmla="*/ 0 h 77385"/>
                      <a:gd name="connsiteX1" fmla="*/ 8929 w 172628"/>
                      <a:gd name="connsiteY1" fmla="*/ 0 h 77385"/>
                      <a:gd name="connsiteX2" fmla="*/ 0 w 172628"/>
                      <a:gd name="connsiteY2" fmla="*/ 8929 h 77385"/>
                      <a:gd name="connsiteX3" fmla="*/ 0 w 172628"/>
                      <a:gd name="connsiteY3" fmla="*/ 68456 h 77385"/>
                      <a:gd name="connsiteX4" fmla="*/ 8929 w 172628"/>
                      <a:gd name="connsiteY4" fmla="*/ 77385 h 77385"/>
                      <a:gd name="connsiteX5" fmla="*/ 163699 w 172628"/>
                      <a:gd name="connsiteY5" fmla="*/ 77385 h 77385"/>
                      <a:gd name="connsiteX6" fmla="*/ 172628 w 172628"/>
                      <a:gd name="connsiteY6" fmla="*/ 68456 h 77385"/>
                      <a:gd name="connsiteX7" fmla="*/ 172628 w 172628"/>
                      <a:gd name="connsiteY7" fmla="*/ 8929 h 77385"/>
                      <a:gd name="connsiteX8" fmla="*/ 163699 w 172628"/>
                      <a:gd name="connsiteY8" fmla="*/ 0 h 77385"/>
                      <a:gd name="connsiteX9" fmla="*/ 67441 w 172628"/>
                      <a:gd name="connsiteY9" fmla="*/ 59527 h 77385"/>
                      <a:gd name="connsiteX10" fmla="*/ 75775 w 172628"/>
                      <a:gd name="connsiteY10" fmla="*/ 17858 h 77385"/>
                      <a:gd name="connsiteX11" fmla="*/ 105187 w 172628"/>
                      <a:gd name="connsiteY11" fmla="*/ 17858 h 77385"/>
                      <a:gd name="connsiteX12" fmla="*/ 96853 w 172628"/>
                      <a:gd name="connsiteY12" fmla="*/ 59527 h 77385"/>
                      <a:gd name="connsiteX13" fmla="*/ 17858 w 172628"/>
                      <a:gd name="connsiteY13" fmla="*/ 17858 h 77385"/>
                      <a:gd name="connsiteX14" fmla="*/ 57566 w 172628"/>
                      <a:gd name="connsiteY14" fmla="*/ 17858 h 77385"/>
                      <a:gd name="connsiteX15" fmla="*/ 49232 w 172628"/>
                      <a:gd name="connsiteY15" fmla="*/ 59527 h 77385"/>
                      <a:gd name="connsiteX16" fmla="*/ 17858 w 172628"/>
                      <a:gd name="connsiteY16" fmla="*/ 59527 h 77385"/>
                      <a:gd name="connsiteX17" fmla="*/ 154770 w 172628"/>
                      <a:gd name="connsiteY17" fmla="*/ 59527 h 77385"/>
                      <a:gd name="connsiteX18" fmla="*/ 115063 w 172628"/>
                      <a:gd name="connsiteY18" fmla="*/ 59527 h 77385"/>
                      <a:gd name="connsiteX19" fmla="*/ 123396 w 172628"/>
                      <a:gd name="connsiteY19" fmla="*/ 17858 h 77385"/>
                      <a:gd name="connsiteX20" fmla="*/ 154770 w 172628"/>
                      <a:gd name="connsiteY20" fmla="*/ 17858 h 7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2628" h="77385">
                        <a:moveTo>
                          <a:pt x="163699" y="0"/>
                        </a:moveTo>
                        <a:lnTo>
                          <a:pt x="8929" y="0"/>
                        </a:lnTo>
                        <a:cubicBezTo>
                          <a:pt x="3998" y="0"/>
                          <a:pt x="0" y="3998"/>
                          <a:pt x="0" y="8929"/>
                        </a:cubicBezTo>
                        <a:lnTo>
                          <a:pt x="0" y="68456"/>
                        </a:lnTo>
                        <a:cubicBezTo>
                          <a:pt x="1" y="73387"/>
                          <a:pt x="3998" y="77384"/>
                          <a:pt x="8929" y="77385"/>
                        </a:cubicBezTo>
                        <a:lnTo>
                          <a:pt x="163699" y="77385"/>
                        </a:lnTo>
                        <a:cubicBezTo>
                          <a:pt x="168630" y="77384"/>
                          <a:pt x="172627" y="73387"/>
                          <a:pt x="172628" y="68456"/>
                        </a:cubicBezTo>
                        <a:lnTo>
                          <a:pt x="172628" y="8929"/>
                        </a:lnTo>
                        <a:cubicBezTo>
                          <a:pt x="172628" y="3998"/>
                          <a:pt x="168631" y="0"/>
                          <a:pt x="163699" y="0"/>
                        </a:cubicBezTo>
                        <a:close/>
                        <a:moveTo>
                          <a:pt x="67441" y="59527"/>
                        </a:moveTo>
                        <a:lnTo>
                          <a:pt x="75775" y="17858"/>
                        </a:lnTo>
                        <a:lnTo>
                          <a:pt x="105187" y="17858"/>
                        </a:lnTo>
                        <a:lnTo>
                          <a:pt x="96853" y="59527"/>
                        </a:lnTo>
                        <a:close/>
                        <a:moveTo>
                          <a:pt x="17858" y="17858"/>
                        </a:moveTo>
                        <a:lnTo>
                          <a:pt x="57566" y="17858"/>
                        </a:lnTo>
                        <a:lnTo>
                          <a:pt x="49232" y="59527"/>
                        </a:lnTo>
                        <a:lnTo>
                          <a:pt x="17858" y="59527"/>
                        </a:lnTo>
                        <a:close/>
                        <a:moveTo>
                          <a:pt x="154770" y="59527"/>
                        </a:moveTo>
                        <a:lnTo>
                          <a:pt x="115063" y="59527"/>
                        </a:lnTo>
                        <a:lnTo>
                          <a:pt x="123396" y="17858"/>
                        </a:lnTo>
                        <a:lnTo>
                          <a:pt x="154770" y="17858"/>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94" name="小红书平北职场PPT6-29"/>
                  <p:cNvSpPr/>
                  <p:nvPr/>
                </p:nvSpPr>
                <p:spPr>
                  <a:xfrm>
                    <a:off x="13864653" y="4701021"/>
                    <a:ext cx="172628" cy="77385"/>
                  </a:xfrm>
                  <a:custGeom>
                    <a:avLst/>
                    <a:gdLst>
                      <a:gd name="connsiteX0" fmla="*/ 163699 w 172628"/>
                      <a:gd name="connsiteY0" fmla="*/ 0 h 77385"/>
                      <a:gd name="connsiteX1" fmla="*/ 110154 w 172628"/>
                      <a:gd name="connsiteY1" fmla="*/ 0 h 77385"/>
                      <a:gd name="connsiteX2" fmla="*/ 110019 w 172628"/>
                      <a:gd name="connsiteY2" fmla="*/ 0 h 77385"/>
                      <a:gd name="connsiteX3" fmla="*/ 62534 w 172628"/>
                      <a:gd name="connsiteY3" fmla="*/ 0 h 77385"/>
                      <a:gd name="connsiteX4" fmla="*/ 62399 w 172628"/>
                      <a:gd name="connsiteY4" fmla="*/ 0 h 77385"/>
                      <a:gd name="connsiteX5" fmla="*/ 8929 w 172628"/>
                      <a:gd name="connsiteY5" fmla="*/ 0 h 77385"/>
                      <a:gd name="connsiteX6" fmla="*/ 0 w 172628"/>
                      <a:gd name="connsiteY6" fmla="*/ 8929 h 77385"/>
                      <a:gd name="connsiteX7" fmla="*/ 0 w 172628"/>
                      <a:gd name="connsiteY7" fmla="*/ 68456 h 77385"/>
                      <a:gd name="connsiteX8" fmla="*/ 8929 w 172628"/>
                      <a:gd name="connsiteY8" fmla="*/ 77386 h 77385"/>
                      <a:gd name="connsiteX9" fmla="*/ 127983 w 172628"/>
                      <a:gd name="connsiteY9" fmla="*/ 77386 h 77385"/>
                      <a:gd name="connsiteX10" fmla="*/ 136912 w 172628"/>
                      <a:gd name="connsiteY10" fmla="*/ 68456 h 77385"/>
                      <a:gd name="connsiteX11" fmla="*/ 127983 w 172628"/>
                      <a:gd name="connsiteY11" fmla="*/ 59527 h 77385"/>
                      <a:gd name="connsiteX12" fmla="*/ 109110 w 172628"/>
                      <a:gd name="connsiteY12" fmla="*/ 59527 h 77385"/>
                      <a:gd name="connsiteX13" fmla="*/ 117444 w 172628"/>
                      <a:gd name="connsiteY13" fmla="*/ 17859 h 77385"/>
                      <a:gd name="connsiteX14" fmla="*/ 163699 w 172628"/>
                      <a:gd name="connsiteY14" fmla="*/ 17859 h 77385"/>
                      <a:gd name="connsiteX15" fmla="*/ 172628 w 172628"/>
                      <a:gd name="connsiteY15" fmla="*/ 8929 h 77385"/>
                      <a:gd name="connsiteX16" fmla="*/ 163699 w 172628"/>
                      <a:gd name="connsiteY16" fmla="*/ 0 h 77385"/>
                      <a:gd name="connsiteX17" fmla="*/ 17858 w 172628"/>
                      <a:gd name="connsiteY17" fmla="*/ 17859 h 77385"/>
                      <a:gd name="connsiteX18" fmla="*/ 51613 w 172628"/>
                      <a:gd name="connsiteY18" fmla="*/ 17859 h 77385"/>
                      <a:gd name="connsiteX19" fmla="*/ 43279 w 172628"/>
                      <a:gd name="connsiteY19" fmla="*/ 59527 h 77385"/>
                      <a:gd name="connsiteX20" fmla="*/ 17858 w 172628"/>
                      <a:gd name="connsiteY20" fmla="*/ 59527 h 77385"/>
                      <a:gd name="connsiteX21" fmla="*/ 90901 w 172628"/>
                      <a:gd name="connsiteY21" fmla="*/ 59527 h 77385"/>
                      <a:gd name="connsiteX22" fmla="*/ 61489 w 172628"/>
                      <a:gd name="connsiteY22" fmla="*/ 59527 h 77385"/>
                      <a:gd name="connsiteX23" fmla="*/ 69822 w 172628"/>
                      <a:gd name="connsiteY23" fmla="*/ 17859 h 77385"/>
                      <a:gd name="connsiteX24" fmla="*/ 99235 w 172628"/>
                      <a:gd name="connsiteY24" fmla="*/ 17859 h 7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2628" h="77385">
                        <a:moveTo>
                          <a:pt x="163699" y="0"/>
                        </a:moveTo>
                        <a:lnTo>
                          <a:pt x="110154" y="0"/>
                        </a:lnTo>
                        <a:cubicBezTo>
                          <a:pt x="110109" y="0"/>
                          <a:pt x="110064" y="0"/>
                          <a:pt x="110019" y="0"/>
                        </a:cubicBezTo>
                        <a:lnTo>
                          <a:pt x="62534" y="0"/>
                        </a:lnTo>
                        <a:cubicBezTo>
                          <a:pt x="62489" y="0"/>
                          <a:pt x="62444" y="0"/>
                          <a:pt x="62399" y="0"/>
                        </a:cubicBezTo>
                        <a:lnTo>
                          <a:pt x="8929" y="0"/>
                        </a:lnTo>
                        <a:cubicBezTo>
                          <a:pt x="3998" y="2"/>
                          <a:pt x="1" y="3999"/>
                          <a:pt x="0" y="8929"/>
                        </a:cubicBezTo>
                        <a:lnTo>
                          <a:pt x="0" y="68456"/>
                        </a:lnTo>
                        <a:cubicBezTo>
                          <a:pt x="1" y="73387"/>
                          <a:pt x="3998" y="77384"/>
                          <a:pt x="8929" y="77386"/>
                        </a:cubicBezTo>
                        <a:lnTo>
                          <a:pt x="127983" y="77386"/>
                        </a:lnTo>
                        <a:cubicBezTo>
                          <a:pt x="132915" y="77386"/>
                          <a:pt x="136912" y="73388"/>
                          <a:pt x="136912" y="68456"/>
                        </a:cubicBezTo>
                        <a:cubicBezTo>
                          <a:pt x="136912" y="63525"/>
                          <a:pt x="132915" y="59527"/>
                          <a:pt x="127983" y="59527"/>
                        </a:cubicBezTo>
                        <a:lnTo>
                          <a:pt x="109110" y="59527"/>
                        </a:lnTo>
                        <a:lnTo>
                          <a:pt x="117444" y="17859"/>
                        </a:lnTo>
                        <a:lnTo>
                          <a:pt x="163699" y="17859"/>
                        </a:lnTo>
                        <a:cubicBezTo>
                          <a:pt x="168631" y="17859"/>
                          <a:pt x="172628" y="13861"/>
                          <a:pt x="172628" y="8929"/>
                        </a:cubicBezTo>
                        <a:cubicBezTo>
                          <a:pt x="172628" y="3998"/>
                          <a:pt x="168631" y="0"/>
                          <a:pt x="163699" y="0"/>
                        </a:cubicBezTo>
                        <a:close/>
                        <a:moveTo>
                          <a:pt x="17858" y="17859"/>
                        </a:moveTo>
                        <a:lnTo>
                          <a:pt x="51613" y="17859"/>
                        </a:lnTo>
                        <a:lnTo>
                          <a:pt x="43279" y="59527"/>
                        </a:lnTo>
                        <a:lnTo>
                          <a:pt x="17858" y="59527"/>
                        </a:lnTo>
                        <a:close/>
                        <a:moveTo>
                          <a:pt x="90901" y="59527"/>
                        </a:moveTo>
                        <a:lnTo>
                          <a:pt x="61489" y="59527"/>
                        </a:lnTo>
                        <a:lnTo>
                          <a:pt x="69822" y="17859"/>
                        </a:lnTo>
                        <a:lnTo>
                          <a:pt x="99235" y="17859"/>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grpSp>
            <p:sp>
              <p:nvSpPr>
                <p:cNvPr id="87" name="小红书平北职场PPT6-30"/>
                <p:cNvSpPr/>
                <p:nvPr/>
              </p:nvSpPr>
              <p:spPr>
                <a:xfrm flipH="1">
                  <a:off x="9188550" y="1066266"/>
                  <a:ext cx="2405232" cy="393990"/>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88" name="小红书平北职场PPT6-31"/>
                <p:cNvSpPr txBox="1"/>
                <p:nvPr/>
              </p:nvSpPr>
              <p:spPr>
                <a:xfrm flipH="1">
                  <a:off x="9595930" y="1086586"/>
                  <a:ext cx="1800493" cy="369332"/>
                </a:xfrm>
                <a:prstGeom prst="rect">
                  <a:avLst/>
                </a:prstGeom>
                <a:noFill/>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新产品精准研发</a:t>
                  </a:r>
                  <a:endParaRPr kumimoji="0" lang="zh-CN" altLang="en-US"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sp>
              <p:nvSpPr>
                <p:cNvPr id="89" name="小红书平北职场PPT6-32"/>
                <p:cNvSpPr txBox="1"/>
                <p:nvPr/>
              </p:nvSpPr>
              <p:spPr>
                <a:xfrm flipH="1">
                  <a:off x="8793754" y="1601788"/>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t>基于用户调研开发智能报表系统，上线首月使用率增长</a:t>
                  </a:r>
                  <a:r>
                    <a:rPr lang="en-US" altLang="zh-CN" dirty="0"/>
                    <a:t>120%</a:t>
                  </a:r>
                  <a:r>
                    <a:rPr lang="zh-CN" altLang="en-US" dirty="0"/>
                    <a:t>，用户留存率提升</a:t>
                  </a:r>
                  <a:r>
                    <a:rPr lang="en-US" altLang="zh-CN" dirty="0"/>
                    <a:t>25%</a:t>
                  </a:r>
                  <a:r>
                    <a:rPr lang="zh-CN" altLang="en-US" dirty="0"/>
                    <a:t>，有效解决数据可视化需求</a:t>
                  </a:r>
                  <a:endParaRPr lang="zh-CN" altLang="en-US" dirty="0"/>
                </a:p>
              </p:txBody>
            </p:sp>
          </p:grpSp>
          <p:grpSp>
            <p:nvGrpSpPr>
              <p:cNvPr id="63" name="组合 62"/>
              <p:cNvGrpSpPr/>
              <p:nvPr/>
            </p:nvGrpSpPr>
            <p:grpSpPr>
              <a:xfrm>
                <a:off x="695232" y="4890443"/>
                <a:ext cx="2796489" cy="1602464"/>
                <a:chOff x="598876" y="4890443"/>
                <a:chExt cx="2796489" cy="1602464"/>
              </a:xfrm>
            </p:grpSpPr>
            <p:sp>
              <p:nvSpPr>
                <p:cNvPr id="78" name="小红书平北职场PPT6-33"/>
                <p:cNvSpPr/>
                <p:nvPr/>
              </p:nvSpPr>
              <p:spPr>
                <a:xfrm>
                  <a:off x="598876" y="4890443"/>
                  <a:ext cx="2405232" cy="393990"/>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79" name="小红书平北职场PPT6-34"/>
                <p:cNvSpPr txBox="1"/>
                <p:nvPr/>
              </p:nvSpPr>
              <p:spPr>
                <a:xfrm>
                  <a:off x="1236265" y="5455635"/>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r>
                    <a:rPr lang="zh-CN" altLang="en-US" dirty="0"/>
                    <a:t>获得风险投资</a:t>
                  </a:r>
                  <a:r>
                    <a:rPr lang="en-US" altLang="zh-CN" dirty="0"/>
                    <a:t>2000</a:t>
                  </a:r>
                  <a:r>
                    <a:rPr lang="zh-CN" altLang="en-US" dirty="0"/>
                    <a:t>万元，政府补贴</a:t>
                  </a:r>
                  <a:r>
                    <a:rPr lang="en-US" altLang="zh-CN" dirty="0"/>
                    <a:t>500</a:t>
                  </a:r>
                  <a:r>
                    <a:rPr lang="zh-CN" altLang="en-US" dirty="0"/>
                    <a:t>万元，重点投入智能化产品研发，预计明年完成</a:t>
                  </a:r>
                  <a:r>
                    <a:rPr lang="en-US" altLang="zh-CN" dirty="0"/>
                    <a:t>80%</a:t>
                  </a:r>
                  <a:r>
                    <a:rPr lang="zh-CN" altLang="en-US" dirty="0"/>
                    <a:t>数字化转型</a:t>
                  </a:r>
                  <a:endParaRPr lang="zh-CN" altLang="en-US" dirty="0"/>
                </a:p>
              </p:txBody>
            </p:sp>
            <p:sp>
              <p:nvSpPr>
                <p:cNvPr id="80" name="小红书平北职场PPT6-35"/>
                <p:cNvSpPr txBox="1"/>
                <p:nvPr/>
              </p:nvSpPr>
              <p:spPr>
                <a:xfrm>
                  <a:off x="976683" y="4909439"/>
                  <a:ext cx="1569660" cy="369332"/>
                </a:xfrm>
                <a:prstGeom prst="rect">
                  <a:avLst/>
                </a:prstGeom>
                <a:noFill/>
              </p:spPr>
              <p:txBody>
                <a:bodyPr wrap="none">
                  <a:spAutoFit/>
                </a:bodyPr>
                <a:lstStyle>
                  <a:defPPr>
                    <a:defRPr lang="zh-CN"/>
                  </a:defPPr>
                  <a:lvl1pPr marR="0" lvl="0" indent="0" fontAlgn="auto">
                    <a:lnSpc>
                      <a:spcPct val="100000"/>
                    </a:lnSpc>
                    <a:spcBef>
                      <a:spcPts val="0"/>
                    </a:spcBef>
                    <a:spcAft>
                      <a:spcPts val="0"/>
                    </a:spcAft>
                    <a:buClrTx/>
                    <a:buSzTx/>
                    <a:buFontTx/>
                    <a:buNone/>
                    <a:defRPr kumimoji="0" sz="1400" i="0" u="none" strike="noStrike" cap="none" spc="0" normalizeH="0" baseline="0">
                      <a:ln>
                        <a:noFill/>
                      </a:ln>
                      <a:solidFill>
                        <a:prstClr val="black"/>
                      </a:solidFill>
                      <a:effectLst/>
                      <a:uLnTx/>
                      <a:uFillTx/>
                      <a:latin typeface="+mj-ea"/>
                      <a:ea typeface="+mj-ea"/>
                      <a:cs typeface="OPPOSans R" panose="00020600040101010101"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rPr>
                    <a:t>资本赋能转型</a:t>
                  </a:r>
                  <a:endPar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endParaRPr>
                </a:p>
              </p:txBody>
            </p:sp>
            <p:grpSp>
              <p:nvGrpSpPr>
                <p:cNvPr id="81" name="组合 80"/>
                <p:cNvGrpSpPr/>
                <p:nvPr/>
              </p:nvGrpSpPr>
              <p:grpSpPr>
                <a:xfrm>
                  <a:off x="619704" y="5585542"/>
                  <a:ext cx="475291" cy="611087"/>
                  <a:chOff x="581852" y="5536876"/>
                  <a:chExt cx="550992" cy="708418"/>
                </a:xfrm>
              </p:grpSpPr>
              <p:sp>
                <p:nvSpPr>
                  <p:cNvPr id="82" name="小红书平北职场PPT6-36"/>
                  <p:cNvSpPr/>
                  <p:nvPr/>
                </p:nvSpPr>
                <p:spPr>
                  <a:xfrm>
                    <a:off x="581852" y="5536876"/>
                    <a:ext cx="550992" cy="292362"/>
                  </a:xfrm>
                  <a:custGeom>
                    <a:avLst/>
                    <a:gdLst>
                      <a:gd name="connsiteX0" fmla="*/ 162409 w 324817"/>
                      <a:gd name="connsiteY0" fmla="*/ 0 h 172352"/>
                      <a:gd name="connsiteX1" fmla="*/ 0 w 324817"/>
                      <a:gd name="connsiteY1" fmla="*/ 162409 h 172352"/>
                      <a:gd name="connsiteX2" fmla="*/ 9943 w 324817"/>
                      <a:gd name="connsiteY2" fmla="*/ 172352 h 172352"/>
                      <a:gd name="connsiteX3" fmla="*/ 19887 w 324817"/>
                      <a:gd name="connsiteY3" fmla="*/ 162409 h 172352"/>
                      <a:gd name="connsiteX4" fmla="*/ 162409 w 324817"/>
                      <a:gd name="connsiteY4" fmla="*/ 19887 h 172352"/>
                      <a:gd name="connsiteX5" fmla="*/ 304931 w 324817"/>
                      <a:gd name="connsiteY5" fmla="*/ 162409 h 172352"/>
                      <a:gd name="connsiteX6" fmla="*/ 314875 w 324817"/>
                      <a:gd name="connsiteY6" fmla="*/ 172352 h 172352"/>
                      <a:gd name="connsiteX7" fmla="*/ 324818 w 324817"/>
                      <a:gd name="connsiteY7" fmla="*/ 162409 h 172352"/>
                      <a:gd name="connsiteX8" fmla="*/ 162409 w 324817"/>
                      <a:gd name="connsiteY8" fmla="*/ 0 h 17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817" h="172352">
                        <a:moveTo>
                          <a:pt x="162409" y="0"/>
                        </a:moveTo>
                        <a:cubicBezTo>
                          <a:pt x="72755" y="101"/>
                          <a:pt x="101" y="72755"/>
                          <a:pt x="0" y="162409"/>
                        </a:cubicBezTo>
                        <a:cubicBezTo>
                          <a:pt x="0" y="167901"/>
                          <a:pt x="4452" y="172352"/>
                          <a:pt x="9943" y="172352"/>
                        </a:cubicBezTo>
                        <a:cubicBezTo>
                          <a:pt x="15435" y="172352"/>
                          <a:pt x="19887" y="167901"/>
                          <a:pt x="19887" y="162409"/>
                        </a:cubicBezTo>
                        <a:cubicBezTo>
                          <a:pt x="19887" y="83696"/>
                          <a:pt x="83696" y="19887"/>
                          <a:pt x="162409" y="19887"/>
                        </a:cubicBezTo>
                        <a:cubicBezTo>
                          <a:pt x="241122" y="19887"/>
                          <a:pt x="304931" y="83696"/>
                          <a:pt x="304931" y="162409"/>
                        </a:cubicBezTo>
                        <a:cubicBezTo>
                          <a:pt x="304931" y="167901"/>
                          <a:pt x="309383" y="172352"/>
                          <a:pt x="314875" y="172352"/>
                        </a:cubicBezTo>
                        <a:cubicBezTo>
                          <a:pt x="320366" y="172352"/>
                          <a:pt x="324818" y="167901"/>
                          <a:pt x="324818" y="162409"/>
                        </a:cubicBezTo>
                        <a:cubicBezTo>
                          <a:pt x="324717" y="72755"/>
                          <a:pt x="252063" y="101"/>
                          <a:pt x="162409" y="0"/>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83" name="小红书平北职场PPT6-37"/>
                  <p:cNvSpPr/>
                  <p:nvPr/>
                </p:nvSpPr>
                <p:spPr>
                  <a:xfrm>
                    <a:off x="649320" y="5604345"/>
                    <a:ext cx="416055" cy="224893"/>
                  </a:xfrm>
                  <a:custGeom>
                    <a:avLst/>
                    <a:gdLst>
                      <a:gd name="connsiteX0" fmla="*/ 19887 w 245270"/>
                      <a:gd name="connsiteY0" fmla="*/ 122635 h 132578"/>
                      <a:gd name="connsiteX1" fmla="*/ 122635 w 245270"/>
                      <a:gd name="connsiteY1" fmla="*/ 19887 h 132578"/>
                      <a:gd name="connsiteX2" fmla="*/ 225384 w 245270"/>
                      <a:gd name="connsiteY2" fmla="*/ 122635 h 132578"/>
                      <a:gd name="connsiteX3" fmla="*/ 235327 w 245270"/>
                      <a:gd name="connsiteY3" fmla="*/ 132579 h 132578"/>
                      <a:gd name="connsiteX4" fmla="*/ 245271 w 245270"/>
                      <a:gd name="connsiteY4" fmla="*/ 122635 h 132578"/>
                      <a:gd name="connsiteX5" fmla="*/ 122635 w 245270"/>
                      <a:gd name="connsiteY5" fmla="*/ 0 h 132578"/>
                      <a:gd name="connsiteX6" fmla="*/ 0 w 245270"/>
                      <a:gd name="connsiteY6" fmla="*/ 122635 h 132578"/>
                      <a:gd name="connsiteX7" fmla="*/ 9943 w 245270"/>
                      <a:gd name="connsiteY7" fmla="*/ 132579 h 132578"/>
                      <a:gd name="connsiteX8" fmla="*/ 19887 w 245270"/>
                      <a:gd name="connsiteY8" fmla="*/ 122635 h 13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270" h="132578">
                        <a:moveTo>
                          <a:pt x="19887" y="122635"/>
                        </a:moveTo>
                        <a:cubicBezTo>
                          <a:pt x="19887" y="65889"/>
                          <a:pt x="65889" y="19887"/>
                          <a:pt x="122635" y="19887"/>
                        </a:cubicBezTo>
                        <a:cubicBezTo>
                          <a:pt x="179382" y="19887"/>
                          <a:pt x="225384" y="65889"/>
                          <a:pt x="225384" y="122635"/>
                        </a:cubicBezTo>
                        <a:cubicBezTo>
                          <a:pt x="225384" y="128127"/>
                          <a:pt x="229836" y="132579"/>
                          <a:pt x="235327" y="132579"/>
                        </a:cubicBezTo>
                        <a:cubicBezTo>
                          <a:pt x="240819" y="132579"/>
                          <a:pt x="245271" y="128127"/>
                          <a:pt x="245271" y="122635"/>
                        </a:cubicBezTo>
                        <a:cubicBezTo>
                          <a:pt x="245271" y="54906"/>
                          <a:pt x="190365" y="0"/>
                          <a:pt x="122635" y="0"/>
                        </a:cubicBezTo>
                        <a:cubicBezTo>
                          <a:pt x="54906" y="0"/>
                          <a:pt x="0" y="54906"/>
                          <a:pt x="0" y="122635"/>
                        </a:cubicBezTo>
                        <a:cubicBezTo>
                          <a:pt x="0" y="128127"/>
                          <a:pt x="4452" y="132579"/>
                          <a:pt x="9943" y="132579"/>
                        </a:cubicBezTo>
                        <a:cubicBezTo>
                          <a:pt x="15435" y="132579"/>
                          <a:pt x="19887" y="128127"/>
                          <a:pt x="19887" y="122635"/>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84" name="小红书平北职场PPT6-38"/>
                  <p:cNvSpPr/>
                  <p:nvPr/>
                </p:nvSpPr>
                <p:spPr>
                  <a:xfrm>
                    <a:off x="604340" y="5930442"/>
                    <a:ext cx="506014" cy="314852"/>
                  </a:xfrm>
                  <a:custGeom>
                    <a:avLst/>
                    <a:gdLst>
                      <a:gd name="connsiteX0" fmla="*/ 288359 w 298302"/>
                      <a:gd name="connsiteY0" fmla="*/ 0 h 185610"/>
                      <a:gd name="connsiteX1" fmla="*/ 261843 w 298302"/>
                      <a:gd name="connsiteY1" fmla="*/ 0 h 185610"/>
                      <a:gd name="connsiteX2" fmla="*/ 251900 w 298302"/>
                      <a:gd name="connsiteY2" fmla="*/ 9943 h 185610"/>
                      <a:gd name="connsiteX3" fmla="*/ 251900 w 298302"/>
                      <a:gd name="connsiteY3" fmla="*/ 16572 h 185610"/>
                      <a:gd name="connsiteX4" fmla="*/ 149151 w 298302"/>
                      <a:gd name="connsiteY4" fmla="*/ 119321 h 185610"/>
                      <a:gd name="connsiteX5" fmla="*/ 46403 w 298302"/>
                      <a:gd name="connsiteY5" fmla="*/ 16572 h 185610"/>
                      <a:gd name="connsiteX6" fmla="*/ 46403 w 298302"/>
                      <a:gd name="connsiteY6" fmla="*/ 9943 h 185610"/>
                      <a:gd name="connsiteX7" fmla="*/ 36459 w 298302"/>
                      <a:gd name="connsiteY7" fmla="*/ 0 h 185610"/>
                      <a:gd name="connsiteX8" fmla="*/ 9943 w 298302"/>
                      <a:gd name="connsiteY8" fmla="*/ 0 h 185610"/>
                      <a:gd name="connsiteX9" fmla="*/ 0 w 298302"/>
                      <a:gd name="connsiteY9" fmla="*/ 9943 h 185610"/>
                      <a:gd name="connsiteX10" fmla="*/ 9943 w 298302"/>
                      <a:gd name="connsiteY10" fmla="*/ 19887 h 185610"/>
                      <a:gd name="connsiteX11" fmla="*/ 26561 w 298302"/>
                      <a:gd name="connsiteY11" fmla="*/ 19887 h 185610"/>
                      <a:gd name="connsiteX12" fmla="*/ 139208 w 298302"/>
                      <a:gd name="connsiteY12" fmla="*/ 138712 h 185610"/>
                      <a:gd name="connsiteX13" fmla="*/ 139208 w 298302"/>
                      <a:gd name="connsiteY13" fmla="*/ 165723 h 185610"/>
                      <a:gd name="connsiteX14" fmla="*/ 129264 w 298302"/>
                      <a:gd name="connsiteY14" fmla="*/ 165723 h 185610"/>
                      <a:gd name="connsiteX15" fmla="*/ 119321 w 298302"/>
                      <a:gd name="connsiteY15" fmla="*/ 175667 h 185610"/>
                      <a:gd name="connsiteX16" fmla="*/ 129264 w 298302"/>
                      <a:gd name="connsiteY16" fmla="*/ 185610 h 185610"/>
                      <a:gd name="connsiteX17" fmla="*/ 169038 w 298302"/>
                      <a:gd name="connsiteY17" fmla="*/ 185610 h 185610"/>
                      <a:gd name="connsiteX18" fmla="*/ 178981 w 298302"/>
                      <a:gd name="connsiteY18" fmla="*/ 175667 h 185610"/>
                      <a:gd name="connsiteX19" fmla="*/ 169038 w 298302"/>
                      <a:gd name="connsiteY19" fmla="*/ 165723 h 185610"/>
                      <a:gd name="connsiteX20" fmla="*/ 159095 w 298302"/>
                      <a:gd name="connsiteY20" fmla="*/ 165723 h 185610"/>
                      <a:gd name="connsiteX21" fmla="*/ 159095 w 298302"/>
                      <a:gd name="connsiteY21" fmla="*/ 138712 h 185610"/>
                      <a:gd name="connsiteX22" fmla="*/ 271741 w 298302"/>
                      <a:gd name="connsiteY22" fmla="*/ 19887 h 185610"/>
                      <a:gd name="connsiteX23" fmla="*/ 288359 w 298302"/>
                      <a:gd name="connsiteY23" fmla="*/ 19887 h 185610"/>
                      <a:gd name="connsiteX24" fmla="*/ 298302 w 298302"/>
                      <a:gd name="connsiteY24" fmla="*/ 9943 h 185610"/>
                      <a:gd name="connsiteX25" fmla="*/ 288359 w 298302"/>
                      <a:gd name="connsiteY25" fmla="*/ 0 h 18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98302" h="185610">
                        <a:moveTo>
                          <a:pt x="288359" y="0"/>
                        </a:moveTo>
                        <a:lnTo>
                          <a:pt x="261843" y="0"/>
                        </a:lnTo>
                        <a:cubicBezTo>
                          <a:pt x="256352" y="0"/>
                          <a:pt x="251900" y="4452"/>
                          <a:pt x="251900" y="9943"/>
                        </a:cubicBezTo>
                        <a:lnTo>
                          <a:pt x="251900" y="16572"/>
                        </a:lnTo>
                        <a:cubicBezTo>
                          <a:pt x="251900" y="73319"/>
                          <a:pt x="205898" y="119321"/>
                          <a:pt x="149151" y="119321"/>
                        </a:cubicBezTo>
                        <a:cubicBezTo>
                          <a:pt x="92405" y="119321"/>
                          <a:pt x="46403" y="73319"/>
                          <a:pt x="46403" y="16572"/>
                        </a:cubicBezTo>
                        <a:lnTo>
                          <a:pt x="46403" y="9943"/>
                        </a:lnTo>
                        <a:cubicBezTo>
                          <a:pt x="46402" y="4452"/>
                          <a:pt x="41951" y="0"/>
                          <a:pt x="36459" y="0"/>
                        </a:cubicBezTo>
                        <a:lnTo>
                          <a:pt x="9943" y="0"/>
                        </a:lnTo>
                        <a:cubicBezTo>
                          <a:pt x="4452" y="0"/>
                          <a:pt x="0" y="4452"/>
                          <a:pt x="0" y="9943"/>
                        </a:cubicBezTo>
                        <a:cubicBezTo>
                          <a:pt x="0" y="15435"/>
                          <a:pt x="4452" y="19887"/>
                          <a:pt x="9943" y="19887"/>
                        </a:cubicBezTo>
                        <a:lnTo>
                          <a:pt x="26561" y="19887"/>
                        </a:lnTo>
                        <a:cubicBezTo>
                          <a:pt x="28350" y="82411"/>
                          <a:pt x="76868" y="133590"/>
                          <a:pt x="139208" y="138712"/>
                        </a:cubicBezTo>
                        <a:lnTo>
                          <a:pt x="139208" y="165723"/>
                        </a:lnTo>
                        <a:lnTo>
                          <a:pt x="129264" y="165723"/>
                        </a:lnTo>
                        <a:cubicBezTo>
                          <a:pt x="123773" y="165723"/>
                          <a:pt x="119321" y="170175"/>
                          <a:pt x="119321" y="175667"/>
                        </a:cubicBezTo>
                        <a:cubicBezTo>
                          <a:pt x="119321" y="181158"/>
                          <a:pt x="123773" y="185610"/>
                          <a:pt x="129264" y="185610"/>
                        </a:cubicBezTo>
                        <a:lnTo>
                          <a:pt x="169038" y="185610"/>
                        </a:lnTo>
                        <a:cubicBezTo>
                          <a:pt x="174530" y="185610"/>
                          <a:pt x="178981" y="181158"/>
                          <a:pt x="178981" y="175667"/>
                        </a:cubicBezTo>
                        <a:cubicBezTo>
                          <a:pt x="178981" y="170175"/>
                          <a:pt x="174530" y="165723"/>
                          <a:pt x="169038" y="165723"/>
                        </a:cubicBezTo>
                        <a:lnTo>
                          <a:pt x="159095" y="165723"/>
                        </a:lnTo>
                        <a:lnTo>
                          <a:pt x="159095" y="138712"/>
                        </a:lnTo>
                        <a:cubicBezTo>
                          <a:pt x="221434" y="133590"/>
                          <a:pt x="269952" y="82411"/>
                          <a:pt x="271741" y="19887"/>
                        </a:cubicBezTo>
                        <a:lnTo>
                          <a:pt x="288359" y="19887"/>
                        </a:lnTo>
                        <a:cubicBezTo>
                          <a:pt x="293850" y="19887"/>
                          <a:pt x="298302" y="15435"/>
                          <a:pt x="298302" y="9943"/>
                        </a:cubicBezTo>
                        <a:cubicBezTo>
                          <a:pt x="298302" y="4452"/>
                          <a:pt x="293850" y="0"/>
                          <a:pt x="288359" y="0"/>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85" name="小红书平北职场PPT6-39"/>
                  <p:cNvSpPr/>
                  <p:nvPr/>
                </p:nvSpPr>
                <p:spPr>
                  <a:xfrm>
                    <a:off x="716789" y="5671812"/>
                    <a:ext cx="281118" cy="427299"/>
                  </a:xfrm>
                  <a:custGeom>
                    <a:avLst/>
                    <a:gdLst>
                      <a:gd name="connsiteX0" fmla="*/ 82862 w 165723"/>
                      <a:gd name="connsiteY0" fmla="*/ 0 h 251899"/>
                      <a:gd name="connsiteX1" fmla="*/ 0 w 165723"/>
                      <a:gd name="connsiteY1" fmla="*/ 82862 h 251899"/>
                      <a:gd name="connsiteX2" fmla="*/ 0 w 165723"/>
                      <a:gd name="connsiteY2" fmla="*/ 169038 h 251899"/>
                      <a:gd name="connsiteX3" fmla="*/ 82862 w 165723"/>
                      <a:gd name="connsiteY3" fmla="*/ 251900 h 251899"/>
                      <a:gd name="connsiteX4" fmla="*/ 165723 w 165723"/>
                      <a:gd name="connsiteY4" fmla="*/ 169038 h 251899"/>
                      <a:gd name="connsiteX5" fmla="*/ 165723 w 165723"/>
                      <a:gd name="connsiteY5" fmla="*/ 82862 h 251899"/>
                      <a:gd name="connsiteX6" fmla="*/ 82862 w 165723"/>
                      <a:gd name="connsiteY6" fmla="*/ 0 h 251899"/>
                      <a:gd name="connsiteX7" fmla="*/ 56346 w 165723"/>
                      <a:gd name="connsiteY7" fmla="*/ 165723 h 251899"/>
                      <a:gd name="connsiteX8" fmla="*/ 29830 w 165723"/>
                      <a:gd name="connsiteY8" fmla="*/ 165723 h 251899"/>
                      <a:gd name="connsiteX9" fmla="*/ 19887 w 165723"/>
                      <a:gd name="connsiteY9" fmla="*/ 155780 h 251899"/>
                      <a:gd name="connsiteX10" fmla="*/ 29830 w 165723"/>
                      <a:gd name="connsiteY10" fmla="*/ 145837 h 251899"/>
                      <a:gd name="connsiteX11" fmla="*/ 56346 w 165723"/>
                      <a:gd name="connsiteY11" fmla="*/ 145837 h 251899"/>
                      <a:gd name="connsiteX12" fmla="*/ 66289 w 165723"/>
                      <a:gd name="connsiteY12" fmla="*/ 155780 h 251899"/>
                      <a:gd name="connsiteX13" fmla="*/ 56346 w 165723"/>
                      <a:gd name="connsiteY13" fmla="*/ 165723 h 251899"/>
                      <a:gd name="connsiteX14" fmla="*/ 56346 w 165723"/>
                      <a:gd name="connsiteY14" fmla="*/ 106063 h 251899"/>
                      <a:gd name="connsiteX15" fmla="*/ 29830 w 165723"/>
                      <a:gd name="connsiteY15" fmla="*/ 106063 h 251899"/>
                      <a:gd name="connsiteX16" fmla="*/ 19887 w 165723"/>
                      <a:gd name="connsiteY16" fmla="*/ 96120 h 251899"/>
                      <a:gd name="connsiteX17" fmla="*/ 29830 w 165723"/>
                      <a:gd name="connsiteY17" fmla="*/ 86176 h 251899"/>
                      <a:gd name="connsiteX18" fmla="*/ 56346 w 165723"/>
                      <a:gd name="connsiteY18" fmla="*/ 86176 h 251899"/>
                      <a:gd name="connsiteX19" fmla="*/ 66289 w 165723"/>
                      <a:gd name="connsiteY19" fmla="*/ 96120 h 251899"/>
                      <a:gd name="connsiteX20" fmla="*/ 56346 w 165723"/>
                      <a:gd name="connsiteY20" fmla="*/ 106063 h 251899"/>
                      <a:gd name="connsiteX21" fmla="*/ 135893 w 165723"/>
                      <a:gd name="connsiteY21" fmla="*/ 165723 h 251899"/>
                      <a:gd name="connsiteX22" fmla="*/ 109377 w 165723"/>
                      <a:gd name="connsiteY22" fmla="*/ 165723 h 251899"/>
                      <a:gd name="connsiteX23" fmla="*/ 99434 w 165723"/>
                      <a:gd name="connsiteY23" fmla="*/ 155780 h 251899"/>
                      <a:gd name="connsiteX24" fmla="*/ 109377 w 165723"/>
                      <a:gd name="connsiteY24" fmla="*/ 145837 h 251899"/>
                      <a:gd name="connsiteX25" fmla="*/ 135893 w 165723"/>
                      <a:gd name="connsiteY25" fmla="*/ 145837 h 251899"/>
                      <a:gd name="connsiteX26" fmla="*/ 145837 w 165723"/>
                      <a:gd name="connsiteY26" fmla="*/ 155780 h 251899"/>
                      <a:gd name="connsiteX27" fmla="*/ 135893 w 165723"/>
                      <a:gd name="connsiteY27" fmla="*/ 165723 h 251899"/>
                      <a:gd name="connsiteX28" fmla="*/ 135893 w 165723"/>
                      <a:gd name="connsiteY28" fmla="*/ 106063 h 251899"/>
                      <a:gd name="connsiteX29" fmla="*/ 109377 w 165723"/>
                      <a:gd name="connsiteY29" fmla="*/ 106063 h 251899"/>
                      <a:gd name="connsiteX30" fmla="*/ 99434 w 165723"/>
                      <a:gd name="connsiteY30" fmla="*/ 96120 h 251899"/>
                      <a:gd name="connsiteX31" fmla="*/ 109377 w 165723"/>
                      <a:gd name="connsiteY31" fmla="*/ 86176 h 251899"/>
                      <a:gd name="connsiteX32" fmla="*/ 135893 w 165723"/>
                      <a:gd name="connsiteY32" fmla="*/ 86176 h 251899"/>
                      <a:gd name="connsiteX33" fmla="*/ 145837 w 165723"/>
                      <a:gd name="connsiteY33" fmla="*/ 96120 h 251899"/>
                      <a:gd name="connsiteX34" fmla="*/ 135893 w 165723"/>
                      <a:gd name="connsiteY34" fmla="*/ 106063 h 2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65723" h="251899">
                        <a:moveTo>
                          <a:pt x="82862" y="0"/>
                        </a:moveTo>
                        <a:cubicBezTo>
                          <a:pt x="37120" y="51"/>
                          <a:pt x="51" y="37120"/>
                          <a:pt x="0" y="82862"/>
                        </a:cubicBezTo>
                        <a:lnTo>
                          <a:pt x="0" y="169038"/>
                        </a:lnTo>
                        <a:cubicBezTo>
                          <a:pt x="0" y="214801"/>
                          <a:pt x="37098" y="251900"/>
                          <a:pt x="82862" y="251900"/>
                        </a:cubicBezTo>
                        <a:cubicBezTo>
                          <a:pt x="128625" y="251900"/>
                          <a:pt x="165723" y="214801"/>
                          <a:pt x="165723" y="169038"/>
                        </a:cubicBezTo>
                        <a:lnTo>
                          <a:pt x="165723" y="82862"/>
                        </a:lnTo>
                        <a:cubicBezTo>
                          <a:pt x="165672" y="37120"/>
                          <a:pt x="128604" y="51"/>
                          <a:pt x="82862" y="0"/>
                        </a:cubicBezTo>
                        <a:close/>
                        <a:moveTo>
                          <a:pt x="56346" y="165723"/>
                        </a:moveTo>
                        <a:lnTo>
                          <a:pt x="29830" y="165723"/>
                        </a:lnTo>
                        <a:cubicBezTo>
                          <a:pt x="24339" y="165723"/>
                          <a:pt x="19887" y="161272"/>
                          <a:pt x="19887" y="155780"/>
                        </a:cubicBezTo>
                        <a:cubicBezTo>
                          <a:pt x="19887" y="150288"/>
                          <a:pt x="24339" y="145837"/>
                          <a:pt x="29830" y="145837"/>
                        </a:cubicBezTo>
                        <a:lnTo>
                          <a:pt x="56346" y="145837"/>
                        </a:lnTo>
                        <a:cubicBezTo>
                          <a:pt x="61838" y="145837"/>
                          <a:pt x="66289" y="150288"/>
                          <a:pt x="66289" y="155780"/>
                        </a:cubicBezTo>
                        <a:cubicBezTo>
                          <a:pt x="66289" y="161272"/>
                          <a:pt x="61838" y="165723"/>
                          <a:pt x="56346" y="165723"/>
                        </a:cubicBezTo>
                        <a:close/>
                        <a:moveTo>
                          <a:pt x="56346" y="106063"/>
                        </a:moveTo>
                        <a:lnTo>
                          <a:pt x="29830" y="106063"/>
                        </a:lnTo>
                        <a:cubicBezTo>
                          <a:pt x="24339" y="106063"/>
                          <a:pt x="19887" y="101611"/>
                          <a:pt x="19887" y="96120"/>
                        </a:cubicBezTo>
                        <a:cubicBezTo>
                          <a:pt x="19887" y="90628"/>
                          <a:pt x="24339" y="86176"/>
                          <a:pt x="29830" y="86176"/>
                        </a:cubicBezTo>
                        <a:lnTo>
                          <a:pt x="56346" y="86176"/>
                        </a:lnTo>
                        <a:cubicBezTo>
                          <a:pt x="61838" y="86176"/>
                          <a:pt x="66289" y="90628"/>
                          <a:pt x="66289" y="96120"/>
                        </a:cubicBezTo>
                        <a:cubicBezTo>
                          <a:pt x="66289" y="101611"/>
                          <a:pt x="61838" y="106063"/>
                          <a:pt x="56346" y="106063"/>
                        </a:cubicBezTo>
                        <a:close/>
                        <a:moveTo>
                          <a:pt x="135893" y="165723"/>
                        </a:moveTo>
                        <a:lnTo>
                          <a:pt x="109377" y="165723"/>
                        </a:lnTo>
                        <a:cubicBezTo>
                          <a:pt x="103886" y="165723"/>
                          <a:pt x="99434" y="161272"/>
                          <a:pt x="99434" y="155780"/>
                        </a:cubicBezTo>
                        <a:cubicBezTo>
                          <a:pt x="99434" y="150288"/>
                          <a:pt x="103886" y="145837"/>
                          <a:pt x="109377" y="145837"/>
                        </a:cubicBezTo>
                        <a:lnTo>
                          <a:pt x="135893" y="145837"/>
                        </a:lnTo>
                        <a:cubicBezTo>
                          <a:pt x="141385" y="145837"/>
                          <a:pt x="145837" y="150288"/>
                          <a:pt x="145837" y="155780"/>
                        </a:cubicBezTo>
                        <a:cubicBezTo>
                          <a:pt x="145837" y="161272"/>
                          <a:pt x="141385" y="165723"/>
                          <a:pt x="135893" y="165723"/>
                        </a:cubicBezTo>
                        <a:close/>
                        <a:moveTo>
                          <a:pt x="135893" y="106063"/>
                        </a:moveTo>
                        <a:lnTo>
                          <a:pt x="109377" y="106063"/>
                        </a:lnTo>
                        <a:cubicBezTo>
                          <a:pt x="103886" y="106063"/>
                          <a:pt x="99434" y="101611"/>
                          <a:pt x="99434" y="96120"/>
                        </a:cubicBezTo>
                        <a:cubicBezTo>
                          <a:pt x="99434" y="90628"/>
                          <a:pt x="103886" y="86176"/>
                          <a:pt x="109377" y="86176"/>
                        </a:cubicBezTo>
                        <a:lnTo>
                          <a:pt x="135893" y="86176"/>
                        </a:lnTo>
                        <a:cubicBezTo>
                          <a:pt x="141385" y="86176"/>
                          <a:pt x="145837" y="90628"/>
                          <a:pt x="145837" y="96120"/>
                        </a:cubicBezTo>
                        <a:cubicBezTo>
                          <a:pt x="145837" y="101611"/>
                          <a:pt x="141385" y="106063"/>
                          <a:pt x="135893" y="106063"/>
                        </a:cubicBezTo>
                        <a:close/>
                      </a:path>
                    </a:pathLst>
                  </a:custGeom>
                  <a:gradFill>
                    <a:gsLst>
                      <a:gs pos="0">
                        <a:schemeClr val="accent1">
                          <a:lumMod val="60000"/>
                          <a:lumOff val="40000"/>
                        </a:schemeClr>
                      </a:gs>
                      <a:gs pos="54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grpSp>
          </p:grpSp>
          <p:grpSp>
            <p:nvGrpSpPr>
              <p:cNvPr id="64" name="组合 63"/>
              <p:cNvGrpSpPr/>
              <p:nvPr/>
            </p:nvGrpSpPr>
            <p:grpSpPr>
              <a:xfrm>
                <a:off x="8700280" y="4890443"/>
                <a:ext cx="2796488" cy="1602464"/>
                <a:chOff x="8797294" y="4890443"/>
                <a:chExt cx="2796488" cy="1602464"/>
              </a:xfrm>
            </p:grpSpPr>
            <p:grpSp>
              <p:nvGrpSpPr>
                <p:cNvPr id="65" name="组合 64"/>
                <p:cNvGrpSpPr/>
                <p:nvPr/>
              </p:nvGrpSpPr>
              <p:grpSpPr>
                <a:xfrm>
                  <a:off x="10964285" y="5550756"/>
                  <a:ext cx="572969" cy="554779"/>
                  <a:chOff x="13817142" y="7463706"/>
                  <a:chExt cx="375019" cy="363114"/>
                </a:xfrm>
              </p:grpSpPr>
              <p:sp>
                <p:nvSpPr>
                  <p:cNvPr id="69" name="小红书平北职场PPT6-40"/>
                  <p:cNvSpPr/>
                  <p:nvPr/>
                </p:nvSpPr>
                <p:spPr>
                  <a:xfrm>
                    <a:off x="13817142" y="7463706"/>
                    <a:ext cx="172628" cy="172628"/>
                  </a:xfrm>
                  <a:custGeom>
                    <a:avLst/>
                    <a:gdLst>
                      <a:gd name="connsiteX0" fmla="*/ 86314 w 172628"/>
                      <a:gd name="connsiteY0" fmla="*/ 0 h 172628"/>
                      <a:gd name="connsiteX1" fmla="*/ 0 w 172628"/>
                      <a:gd name="connsiteY1" fmla="*/ 86314 h 172628"/>
                      <a:gd name="connsiteX2" fmla="*/ 86314 w 172628"/>
                      <a:gd name="connsiteY2" fmla="*/ 172628 h 172628"/>
                      <a:gd name="connsiteX3" fmla="*/ 172628 w 172628"/>
                      <a:gd name="connsiteY3" fmla="*/ 86314 h 172628"/>
                      <a:gd name="connsiteX4" fmla="*/ 86314 w 172628"/>
                      <a:gd name="connsiteY4" fmla="*/ 0 h 172628"/>
                      <a:gd name="connsiteX5" fmla="*/ 129250 w 172628"/>
                      <a:gd name="connsiteY5" fmla="*/ 55847 h 172628"/>
                      <a:gd name="connsiteX6" fmla="*/ 81629 w 172628"/>
                      <a:gd name="connsiteY6" fmla="*/ 121327 h 172628"/>
                      <a:gd name="connsiteX7" fmla="*/ 69158 w 172628"/>
                      <a:gd name="connsiteY7" fmla="*/ 123299 h 172628"/>
                      <a:gd name="connsiteX8" fmla="*/ 68096 w 172628"/>
                      <a:gd name="connsiteY8" fmla="*/ 122391 h 172628"/>
                      <a:gd name="connsiteX9" fmla="*/ 44285 w 172628"/>
                      <a:gd name="connsiteY9" fmla="*/ 98580 h 172628"/>
                      <a:gd name="connsiteX10" fmla="*/ 44285 w 172628"/>
                      <a:gd name="connsiteY10" fmla="*/ 85954 h 172628"/>
                      <a:gd name="connsiteX11" fmla="*/ 56911 w 172628"/>
                      <a:gd name="connsiteY11" fmla="*/ 85954 h 172628"/>
                      <a:gd name="connsiteX12" fmla="*/ 73333 w 172628"/>
                      <a:gd name="connsiteY12" fmla="*/ 102376 h 172628"/>
                      <a:gd name="connsiteX13" fmla="*/ 114810 w 172628"/>
                      <a:gd name="connsiteY13" fmla="*/ 45349 h 172628"/>
                      <a:gd name="connsiteX14" fmla="*/ 127280 w 172628"/>
                      <a:gd name="connsiteY14" fmla="*/ 43378 h 172628"/>
                      <a:gd name="connsiteX15" fmla="*/ 129250 w 172628"/>
                      <a:gd name="connsiteY15" fmla="*/ 55847 h 172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2628" h="172628">
                        <a:moveTo>
                          <a:pt x="86314" y="0"/>
                        </a:moveTo>
                        <a:cubicBezTo>
                          <a:pt x="38644" y="0"/>
                          <a:pt x="0" y="38644"/>
                          <a:pt x="0" y="86314"/>
                        </a:cubicBezTo>
                        <a:cubicBezTo>
                          <a:pt x="0" y="133984"/>
                          <a:pt x="38644" y="172628"/>
                          <a:pt x="86314" y="172628"/>
                        </a:cubicBezTo>
                        <a:cubicBezTo>
                          <a:pt x="133984" y="172628"/>
                          <a:pt x="172628" y="133984"/>
                          <a:pt x="172628" y="86314"/>
                        </a:cubicBezTo>
                        <a:cubicBezTo>
                          <a:pt x="172574" y="38667"/>
                          <a:pt x="133962" y="55"/>
                          <a:pt x="86314" y="0"/>
                        </a:cubicBezTo>
                        <a:close/>
                        <a:moveTo>
                          <a:pt x="129250" y="55847"/>
                        </a:moveTo>
                        <a:lnTo>
                          <a:pt x="81629" y="121327"/>
                        </a:lnTo>
                        <a:cubicBezTo>
                          <a:pt x="78730" y="125315"/>
                          <a:pt x="73146" y="126198"/>
                          <a:pt x="69158" y="123299"/>
                        </a:cubicBezTo>
                        <a:cubicBezTo>
                          <a:pt x="68781" y="123024"/>
                          <a:pt x="68426" y="122721"/>
                          <a:pt x="68096" y="122391"/>
                        </a:cubicBezTo>
                        <a:lnTo>
                          <a:pt x="44285" y="98580"/>
                        </a:lnTo>
                        <a:cubicBezTo>
                          <a:pt x="40798" y="95093"/>
                          <a:pt x="40798" y="89440"/>
                          <a:pt x="44285" y="85954"/>
                        </a:cubicBezTo>
                        <a:cubicBezTo>
                          <a:pt x="47771" y="82467"/>
                          <a:pt x="53424" y="82467"/>
                          <a:pt x="56911" y="85954"/>
                        </a:cubicBezTo>
                        <a:lnTo>
                          <a:pt x="73333" y="102376"/>
                        </a:lnTo>
                        <a:lnTo>
                          <a:pt x="114810" y="45349"/>
                        </a:lnTo>
                        <a:cubicBezTo>
                          <a:pt x="117710" y="41361"/>
                          <a:pt x="123292" y="40479"/>
                          <a:pt x="127280" y="43378"/>
                        </a:cubicBezTo>
                        <a:cubicBezTo>
                          <a:pt x="131267" y="46277"/>
                          <a:pt x="132150" y="51860"/>
                          <a:pt x="129250" y="55847"/>
                        </a:cubicBezTo>
                        <a:close/>
                      </a:path>
                    </a:pathLst>
                  </a:custGeom>
                  <a:gradFill flip="none" rotWithShape="1">
                    <a:gsLst>
                      <a:gs pos="0">
                        <a:schemeClr val="accent2">
                          <a:lumMod val="60000"/>
                          <a:lumOff val="40000"/>
                        </a:schemeClr>
                      </a:gs>
                      <a:gs pos="54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70" name="小红书平北职场PPT6-41"/>
                  <p:cNvSpPr/>
                  <p:nvPr/>
                </p:nvSpPr>
                <p:spPr>
                  <a:xfrm>
                    <a:off x="14007628" y="7481564"/>
                    <a:ext cx="184533" cy="65479"/>
                  </a:xfrm>
                  <a:custGeom>
                    <a:avLst/>
                    <a:gdLst>
                      <a:gd name="connsiteX0" fmla="*/ 175605 w 184533"/>
                      <a:gd name="connsiteY0" fmla="*/ 0 h 65479"/>
                      <a:gd name="connsiteX1" fmla="*/ 8929 w 184533"/>
                      <a:gd name="connsiteY1" fmla="*/ 0 h 65479"/>
                      <a:gd name="connsiteX2" fmla="*/ 0 w 184533"/>
                      <a:gd name="connsiteY2" fmla="*/ 8929 h 65479"/>
                      <a:gd name="connsiteX3" fmla="*/ 0 w 184533"/>
                      <a:gd name="connsiteY3" fmla="*/ 56551 h 65479"/>
                      <a:gd name="connsiteX4" fmla="*/ 8929 w 184533"/>
                      <a:gd name="connsiteY4" fmla="*/ 65480 h 65479"/>
                      <a:gd name="connsiteX5" fmla="*/ 175605 w 184533"/>
                      <a:gd name="connsiteY5" fmla="*/ 65480 h 65479"/>
                      <a:gd name="connsiteX6" fmla="*/ 184534 w 184533"/>
                      <a:gd name="connsiteY6" fmla="*/ 56551 h 65479"/>
                      <a:gd name="connsiteX7" fmla="*/ 184534 w 184533"/>
                      <a:gd name="connsiteY7" fmla="*/ 8929 h 65479"/>
                      <a:gd name="connsiteX8" fmla="*/ 175605 w 184533"/>
                      <a:gd name="connsiteY8" fmla="*/ 0 h 65479"/>
                      <a:gd name="connsiteX9" fmla="*/ 166676 w 184533"/>
                      <a:gd name="connsiteY9" fmla="*/ 47622 h 65479"/>
                      <a:gd name="connsiteX10" fmla="*/ 17858 w 184533"/>
                      <a:gd name="connsiteY10" fmla="*/ 47622 h 65479"/>
                      <a:gd name="connsiteX11" fmla="*/ 17858 w 184533"/>
                      <a:gd name="connsiteY11" fmla="*/ 17858 h 65479"/>
                      <a:gd name="connsiteX12" fmla="*/ 166676 w 184533"/>
                      <a:gd name="connsiteY12" fmla="*/ 17858 h 6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533" h="65479">
                        <a:moveTo>
                          <a:pt x="175605" y="0"/>
                        </a:moveTo>
                        <a:lnTo>
                          <a:pt x="8929" y="0"/>
                        </a:lnTo>
                        <a:cubicBezTo>
                          <a:pt x="3998" y="1"/>
                          <a:pt x="1" y="3998"/>
                          <a:pt x="0" y="8929"/>
                        </a:cubicBezTo>
                        <a:lnTo>
                          <a:pt x="0" y="56551"/>
                        </a:lnTo>
                        <a:cubicBezTo>
                          <a:pt x="1" y="61482"/>
                          <a:pt x="3998" y="65478"/>
                          <a:pt x="8929" y="65480"/>
                        </a:cubicBezTo>
                        <a:lnTo>
                          <a:pt x="175605" y="65480"/>
                        </a:lnTo>
                        <a:cubicBezTo>
                          <a:pt x="180536" y="65478"/>
                          <a:pt x="184533" y="61482"/>
                          <a:pt x="184534" y="56551"/>
                        </a:cubicBezTo>
                        <a:lnTo>
                          <a:pt x="184534" y="8929"/>
                        </a:lnTo>
                        <a:cubicBezTo>
                          <a:pt x="184533" y="3998"/>
                          <a:pt x="180536" y="1"/>
                          <a:pt x="175605" y="0"/>
                        </a:cubicBezTo>
                        <a:close/>
                        <a:moveTo>
                          <a:pt x="166676" y="47622"/>
                        </a:moveTo>
                        <a:lnTo>
                          <a:pt x="17858" y="47622"/>
                        </a:lnTo>
                        <a:lnTo>
                          <a:pt x="17858" y="17858"/>
                        </a:lnTo>
                        <a:lnTo>
                          <a:pt x="166676" y="17858"/>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1" name="小红书平北职场PPT6-42"/>
                  <p:cNvSpPr/>
                  <p:nvPr/>
                </p:nvSpPr>
                <p:spPr>
                  <a:xfrm>
                    <a:off x="14007628" y="7564902"/>
                    <a:ext cx="113101" cy="17858"/>
                  </a:xfrm>
                  <a:custGeom>
                    <a:avLst/>
                    <a:gdLst>
                      <a:gd name="connsiteX0" fmla="*/ 8929 w 113101"/>
                      <a:gd name="connsiteY0" fmla="*/ 17858 h 17858"/>
                      <a:gd name="connsiteX1" fmla="*/ 104172 w 113101"/>
                      <a:gd name="connsiteY1" fmla="*/ 17858 h 17858"/>
                      <a:gd name="connsiteX2" fmla="*/ 113101 w 113101"/>
                      <a:gd name="connsiteY2" fmla="*/ 8929 h 17858"/>
                      <a:gd name="connsiteX3" fmla="*/ 104172 w 113101"/>
                      <a:gd name="connsiteY3" fmla="*/ 0 h 17858"/>
                      <a:gd name="connsiteX4" fmla="*/ 8929 w 113101"/>
                      <a:gd name="connsiteY4" fmla="*/ 0 h 17858"/>
                      <a:gd name="connsiteX5" fmla="*/ 0 w 113101"/>
                      <a:gd name="connsiteY5" fmla="*/ 8929 h 17858"/>
                      <a:gd name="connsiteX6" fmla="*/ 8929 w 113101"/>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01" h="17858">
                        <a:moveTo>
                          <a:pt x="8929" y="17858"/>
                        </a:moveTo>
                        <a:lnTo>
                          <a:pt x="104172" y="17858"/>
                        </a:lnTo>
                        <a:cubicBezTo>
                          <a:pt x="109104" y="17858"/>
                          <a:pt x="113101" y="13860"/>
                          <a:pt x="113101" y="8929"/>
                        </a:cubicBezTo>
                        <a:cubicBezTo>
                          <a:pt x="113101" y="3998"/>
                          <a:pt x="109104" y="0"/>
                          <a:pt x="104172"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2" name="小红书平北职场PPT6-43"/>
                  <p:cNvSpPr/>
                  <p:nvPr/>
                </p:nvSpPr>
                <p:spPr>
                  <a:xfrm>
                    <a:off x="14007628" y="7600618"/>
                    <a:ext cx="113101" cy="17858"/>
                  </a:xfrm>
                  <a:custGeom>
                    <a:avLst/>
                    <a:gdLst>
                      <a:gd name="connsiteX0" fmla="*/ 8929 w 113101"/>
                      <a:gd name="connsiteY0" fmla="*/ 17858 h 17858"/>
                      <a:gd name="connsiteX1" fmla="*/ 104172 w 113101"/>
                      <a:gd name="connsiteY1" fmla="*/ 17858 h 17858"/>
                      <a:gd name="connsiteX2" fmla="*/ 113101 w 113101"/>
                      <a:gd name="connsiteY2" fmla="*/ 8929 h 17858"/>
                      <a:gd name="connsiteX3" fmla="*/ 104172 w 113101"/>
                      <a:gd name="connsiteY3" fmla="*/ 0 h 17858"/>
                      <a:gd name="connsiteX4" fmla="*/ 8929 w 113101"/>
                      <a:gd name="connsiteY4" fmla="*/ 0 h 17858"/>
                      <a:gd name="connsiteX5" fmla="*/ 0 w 113101"/>
                      <a:gd name="connsiteY5" fmla="*/ 8929 h 17858"/>
                      <a:gd name="connsiteX6" fmla="*/ 8929 w 113101"/>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01" h="17858">
                        <a:moveTo>
                          <a:pt x="8929" y="17858"/>
                        </a:moveTo>
                        <a:lnTo>
                          <a:pt x="104172" y="17858"/>
                        </a:lnTo>
                        <a:cubicBezTo>
                          <a:pt x="109104" y="17858"/>
                          <a:pt x="113101" y="13860"/>
                          <a:pt x="113101" y="8929"/>
                        </a:cubicBezTo>
                        <a:cubicBezTo>
                          <a:pt x="113101" y="3998"/>
                          <a:pt x="109104" y="0"/>
                          <a:pt x="104172"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3" name="小红书平北职场PPT6-44"/>
                  <p:cNvSpPr/>
                  <p:nvPr/>
                </p:nvSpPr>
                <p:spPr>
                  <a:xfrm>
                    <a:off x="13817142" y="7654192"/>
                    <a:ext cx="172628" cy="172628"/>
                  </a:xfrm>
                  <a:custGeom>
                    <a:avLst/>
                    <a:gdLst>
                      <a:gd name="connsiteX0" fmla="*/ 86314 w 172628"/>
                      <a:gd name="connsiteY0" fmla="*/ 0 h 172628"/>
                      <a:gd name="connsiteX1" fmla="*/ 0 w 172628"/>
                      <a:gd name="connsiteY1" fmla="*/ 86314 h 172628"/>
                      <a:gd name="connsiteX2" fmla="*/ 86314 w 172628"/>
                      <a:gd name="connsiteY2" fmla="*/ 172628 h 172628"/>
                      <a:gd name="connsiteX3" fmla="*/ 172628 w 172628"/>
                      <a:gd name="connsiteY3" fmla="*/ 86314 h 172628"/>
                      <a:gd name="connsiteX4" fmla="*/ 86314 w 172628"/>
                      <a:gd name="connsiteY4" fmla="*/ 0 h 172628"/>
                      <a:gd name="connsiteX5" fmla="*/ 86314 w 172628"/>
                      <a:gd name="connsiteY5" fmla="*/ 154770 h 172628"/>
                      <a:gd name="connsiteX6" fmla="*/ 17858 w 172628"/>
                      <a:gd name="connsiteY6" fmla="*/ 86314 h 172628"/>
                      <a:gd name="connsiteX7" fmla="*/ 86314 w 172628"/>
                      <a:gd name="connsiteY7" fmla="*/ 17858 h 172628"/>
                      <a:gd name="connsiteX8" fmla="*/ 154770 w 172628"/>
                      <a:gd name="connsiteY8" fmla="*/ 86314 h 172628"/>
                      <a:gd name="connsiteX9" fmla="*/ 86314 w 172628"/>
                      <a:gd name="connsiteY9" fmla="*/ 154770 h 172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628" h="172628">
                        <a:moveTo>
                          <a:pt x="86314" y="0"/>
                        </a:moveTo>
                        <a:cubicBezTo>
                          <a:pt x="38644" y="0"/>
                          <a:pt x="0" y="38644"/>
                          <a:pt x="0" y="86314"/>
                        </a:cubicBezTo>
                        <a:cubicBezTo>
                          <a:pt x="0" y="133984"/>
                          <a:pt x="38644" y="172628"/>
                          <a:pt x="86314" y="172628"/>
                        </a:cubicBezTo>
                        <a:cubicBezTo>
                          <a:pt x="133984" y="172628"/>
                          <a:pt x="172628" y="133984"/>
                          <a:pt x="172628" y="86314"/>
                        </a:cubicBezTo>
                        <a:cubicBezTo>
                          <a:pt x="172574" y="38667"/>
                          <a:pt x="133962" y="55"/>
                          <a:pt x="86314" y="0"/>
                        </a:cubicBezTo>
                        <a:close/>
                        <a:moveTo>
                          <a:pt x="86314" y="154770"/>
                        </a:moveTo>
                        <a:cubicBezTo>
                          <a:pt x="48507" y="154770"/>
                          <a:pt x="17858" y="124121"/>
                          <a:pt x="17858" y="86314"/>
                        </a:cubicBezTo>
                        <a:cubicBezTo>
                          <a:pt x="17858" y="48507"/>
                          <a:pt x="48507" y="17858"/>
                          <a:pt x="86314" y="17858"/>
                        </a:cubicBezTo>
                        <a:cubicBezTo>
                          <a:pt x="124121" y="17858"/>
                          <a:pt x="154770" y="48507"/>
                          <a:pt x="154770" y="86314"/>
                        </a:cubicBezTo>
                        <a:cubicBezTo>
                          <a:pt x="154726" y="124103"/>
                          <a:pt x="124103" y="154726"/>
                          <a:pt x="86314" y="154770"/>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4" name="小红书平北职场PPT6-45"/>
                  <p:cNvSpPr/>
                  <p:nvPr/>
                </p:nvSpPr>
                <p:spPr>
                  <a:xfrm>
                    <a:off x="14007628" y="7672050"/>
                    <a:ext cx="184533" cy="65479"/>
                  </a:xfrm>
                  <a:custGeom>
                    <a:avLst/>
                    <a:gdLst>
                      <a:gd name="connsiteX0" fmla="*/ 175605 w 184533"/>
                      <a:gd name="connsiteY0" fmla="*/ 0 h 65479"/>
                      <a:gd name="connsiteX1" fmla="*/ 8929 w 184533"/>
                      <a:gd name="connsiteY1" fmla="*/ 0 h 65479"/>
                      <a:gd name="connsiteX2" fmla="*/ 0 w 184533"/>
                      <a:gd name="connsiteY2" fmla="*/ 8929 h 65479"/>
                      <a:gd name="connsiteX3" fmla="*/ 0 w 184533"/>
                      <a:gd name="connsiteY3" fmla="*/ 56551 h 65479"/>
                      <a:gd name="connsiteX4" fmla="*/ 8929 w 184533"/>
                      <a:gd name="connsiteY4" fmla="*/ 65480 h 65479"/>
                      <a:gd name="connsiteX5" fmla="*/ 175605 w 184533"/>
                      <a:gd name="connsiteY5" fmla="*/ 65480 h 65479"/>
                      <a:gd name="connsiteX6" fmla="*/ 184534 w 184533"/>
                      <a:gd name="connsiteY6" fmla="*/ 56551 h 65479"/>
                      <a:gd name="connsiteX7" fmla="*/ 184534 w 184533"/>
                      <a:gd name="connsiteY7" fmla="*/ 8929 h 65479"/>
                      <a:gd name="connsiteX8" fmla="*/ 175605 w 184533"/>
                      <a:gd name="connsiteY8" fmla="*/ 0 h 65479"/>
                      <a:gd name="connsiteX9" fmla="*/ 166676 w 184533"/>
                      <a:gd name="connsiteY9" fmla="*/ 47622 h 65479"/>
                      <a:gd name="connsiteX10" fmla="*/ 17858 w 184533"/>
                      <a:gd name="connsiteY10" fmla="*/ 47622 h 65479"/>
                      <a:gd name="connsiteX11" fmla="*/ 17858 w 184533"/>
                      <a:gd name="connsiteY11" fmla="*/ 17858 h 65479"/>
                      <a:gd name="connsiteX12" fmla="*/ 166676 w 184533"/>
                      <a:gd name="connsiteY12" fmla="*/ 17858 h 6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533" h="65479">
                        <a:moveTo>
                          <a:pt x="175605" y="0"/>
                        </a:moveTo>
                        <a:lnTo>
                          <a:pt x="8929" y="0"/>
                        </a:lnTo>
                        <a:cubicBezTo>
                          <a:pt x="3998" y="1"/>
                          <a:pt x="1" y="3998"/>
                          <a:pt x="0" y="8929"/>
                        </a:cubicBezTo>
                        <a:lnTo>
                          <a:pt x="0" y="56551"/>
                        </a:lnTo>
                        <a:cubicBezTo>
                          <a:pt x="1" y="61482"/>
                          <a:pt x="3998" y="65478"/>
                          <a:pt x="8929" y="65480"/>
                        </a:cubicBezTo>
                        <a:lnTo>
                          <a:pt x="175605" y="65480"/>
                        </a:lnTo>
                        <a:cubicBezTo>
                          <a:pt x="180536" y="65478"/>
                          <a:pt x="184533" y="61482"/>
                          <a:pt x="184534" y="56551"/>
                        </a:cubicBezTo>
                        <a:lnTo>
                          <a:pt x="184534" y="8929"/>
                        </a:lnTo>
                        <a:cubicBezTo>
                          <a:pt x="184533" y="3998"/>
                          <a:pt x="180536" y="1"/>
                          <a:pt x="175605" y="0"/>
                        </a:cubicBezTo>
                        <a:close/>
                        <a:moveTo>
                          <a:pt x="166676" y="47622"/>
                        </a:moveTo>
                        <a:lnTo>
                          <a:pt x="17858" y="47622"/>
                        </a:lnTo>
                        <a:lnTo>
                          <a:pt x="17858" y="17858"/>
                        </a:lnTo>
                        <a:lnTo>
                          <a:pt x="166676" y="17858"/>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5" name="小红书平北职场PPT6-46"/>
                  <p:cNvSpPr/>
                  <p:nvPr/>
                </p:nvSpPr>
                <p:spPr>
                  <a:xfrm>
                    <a:off x="14007628" y="7755388"/>
                    <a:ext cx="113101" cy="17858"/>
                  </a:xfrm>
                  <a:custGeom>
                    <a:avLst/>
                    <a:gdLst>
                      <a:gd name="connsiteX0" fmla="*/ 104172 w 113101"/>
                      <a:gd name="connsiteY0" fmla="*/ 0 h 17858"/>
                      <a:gd name="connsiteX1" fmla="*/ 8929 w 113101"/>
                      <a:gd name="connsiteY1" fmla="*/ 0 h 17858"/>
                      <a:gd name="connsiteX2" fmla="*/ 0 w 113101"/>
                      <a:gd name="connsiteY2" fmla="*/ 8929 h 17858"/>
                      <a:gd name="connsiteX3" fmla="*/ 8929 w 113101"/>
                      <a:gd name="connsiteY3" fmla="*/ 17858 h 17858"/>
                      <a:gd name="connsiteX4" fmla="*/ 104172 w 113101"/>
                      <a:gd name="connsiteY4" fmla="*/ 17858 h 17858"/>
                      <a:gd name="connsiteX5" fmla="*/ 113101 w 113101"/>
                      <a:gd name="connsiteY5" fmla="*/ 8929 h 17858"/>
                      <a:gd name="connsiteX6" fmla="*/ 104172 w 113101"/>
                      <a:gd name="connsiteY6" fmla="*/ 0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01" h="17858">
                        <a:moveTo>
                          <a:pt x="104172" y="0"/>
                        </a:moveTo>
                        <a:lnTo>
                          <a:pt x="8929" y="0"/>
                        </a:lnTo>
                        <a:cubicBezTo>
                          <a:pt x="3998" y="0"/>
                          <a:pt x="0" y="3998"/>
                          <a:pt x="0" y="8929"/>
                        </a:cubicBezTo>
                        <a:cubicBezTo>
                          <a:pt x="0" y="13860"/>
                          <a:pt x="3998" y="17858"/>
                          <a:pt x="8929" y="17858"/>
                        </a:cubicBezTo>
                        <a:lnTo>
                          <a:pt x="104172" y="17858"/>
                        </a:lnTo>
                        <a:cubicBezTo>
                          <a:pt x="109104" y="17858"/>
                          <a:pt x="113101" y="13860"/>
                          <a:pt x="113101" y="8929"/>
                        </a:cubicBezTo>
                        <a:cubicBezTo>
                          <a:pt x="113101" y="3998"/>
                          <a:pt x="109104" y="0"/>
                          <a:pt x="104172" y="0"/>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6" name="小红书平北职场PPT6-47"/>
                  <p:cNvSpPr/>
                  <p:nvPr/>
                </p:nvSpPr>
                <p:spPr>
                  <a:xfrm>
                    <a:off x="14007628" y="7791104"/>
                    <a:ext cx="113101" cy="17858"/>
                  </a:xfrm>
                  <a:custGeom>
                    <a:avLst/>
                    <a:gdLst>
                      <a:gd name="connsiteX0" fmla="*/ 104172 w 113101"/>
                      <a:gd name="connsiteY0" fmla="*/ 0 h 17858"/>
                      <a:gd name="connsiteX1" fmla="*/ 8929 w 113101"/>
                      <a:gd name="connsiteY1" fmla="*/ 0 h 17858"/>
                      <a:gd name="connsiteX2" fmla="*/ 0 w 113101"/>
                      <a:gd name="connsiteY2" fmla="*/ 8929 h 17858"/>
                      <a:gd name="connsiteX3" fmla="*/ 8929 w 113101"/>
                      <a:gd name="connsiteY3" fmla="*/ 17858 h 17858"/>
                      <a:gd name="connsiteX4" fmla="*/ 104172 w 113101"/>
                      <a:gd name="connsiteY4" fmla="*/ 17858 h 17858"/>
                      <a:gd name="connsiteX5" fmla="*/ 113101 w 113101"/>
                      <a:gd name="connsiteY5" fmla="*/ 8929 h 17858"/>
                      <a:gd name="connsiteX6" fmla="*/ 104172 w 113101"/>
                      <a:gd name="connsiteY6" fmla="*/ 0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01" h="17858">
                        <a:moveTo>
                          <a:pt x="104172" y="0"/>
                        </a:moveTo>
                        <a:lnTo>
                          <a:pt x="8929" y="0"/>
                        </a:lnTo>
                        <a:cubicBezTo>
                          <a:pt x="3998" y="0"/>
                          <a:pt x="0" y="3998"/>
                          <a:pt x="0" y="8929"/>
                        </a:cubicBezTo>
                        <a:cubicBezTo>
                          <a:pt x="0" y="13860"/>
                          <a:pt x="3998" y="17858"/>
                          <a:pt x="8929" y="17858"/>
                        </a:cubicBezTo>
                        <a:lnTo>
                          <a:pt x="104172" y="17858"/>
                        </a:lnTo>
                        <a:cubicBezTo>
                          <a:pt x="109104" y="17858"/>
                          <a:pt x="113101" y="13860"/>
                          <a:pt x="113101" y="8929"/>
                        </a:cubicBezTo>
                        <a:cubicBezTo>
                          <a:pt x="113101" y="3998"/>
                          <a:pt x="109104" y="0"/>
                          <a:pt x="104172" y="0"/>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7" name="小红书平北职场PPT6-48"/>
                  <p:cNvSpPr/>
                  <p:nvPr/>
                </p:nvSpPr>
                <p:spPr>
                  <a:xfrm>
                    <a:off x="13864764" y="7701814"/>
                    <a:ext cx="77384" cy="77384"/>
                  </a:xfrm>
                  <a:custGeom>
                    <a:avLst/>
                    <a:gdLst>
                      <a:gd name="connsiteX0" fmla="*/ 74768 w 77384"/>
                      <a:gd name="connsiteY0" fmla="*/ 2616 h 77384"/>
                      <a:gd name="connsiteX1" fmla="*/ 62145 w 77384"/>
                      <a:gd name="connsiteY1" fmla="*/ 2613 h 77384"/>
                      <a:gd name="connsiteX2" fmla="*/ 62142 w 77384"/>
                      <a:gd name="connsiteY2" fmla="*/ 2616 h 77384"/>
                      <a:gd name="connsiteX3" fmla="*/ 38692 w 77384"/>
                      <a:gd name="connsiteY3" fmla="*/ 26066 h 77384"/>
                      <a:gd name="connsiteX4" fmla="*/ 15241 w 77384"/>
                      <a:gd name="connsiteY4" fmla="*/ 2616 h 77384"/>
                      <a:gd name="connsiteX5" fmla="*/ 2615 w 77384"/>
                      <a:gd name="connsiteY5" fmla="*/ 2616 h 77384"/>
                      <a:gd name="connsiteX6" fmla="*/ 2615 w 77384"/>
                      <a:gd name="connsiteY6" fmla="*/ 15242 h 77384"/>
                      <a:gd name="connsiteX7" fmla="*/ 26065 w 77384"/>
                      <a:gd name="connsiteY7" fmla="*/ 38693 h 77384"/>
                      <a:gd name="connsiteX8" fmla="*/ 2615 w 77384"/>
                      <a:gd name="connsiteY8" fmla="*/ 62143 h 77384"/>
                      <a:gd name="connsiteX9" fmla="*/ 2615 w 77384"/>
                      <a:gd name="connsiteY9" fmla="*/ 74769 h 77384"/>
                      <a:gd name="connsiteX10" fmla="*/ 15241 w 77384"/>
                      <a:gd name="connsiteY10" fmla="*/ 74769 h 77384"/>
                      <a:gd name="connsiteX11" fmla="*/ 38692 w 77384"/>
                      <a:gd name="connsiteY11" fmla="*/ 51319 h 77384"/>
                      <a:gd name="connsiteX12" fmla="*/ 62142 w 77384"/>
                      <a:gd name="connsiteY12" fmla="*/ 74769 h 77384"/>
                      <a:gd name="connsiteX13" fmla="*/ 74768 w 77384"/>
                      <a:gd name="connsiteY13" fmla="*/ 74769 h 77384"/>
                      <a:gd name="connsiteX14" fmla="*/ 74768 w 77384"/>
                      <a:gd name="connsiteY14" fmla="*/ 62143 h 77384"/>
                      <a:gd name="connsiteX15" fmla="*/ 51318 w 77384"/>
                      <a:gd name="connsiteY15" fmla="*/ 38693 h 77384"/>
                      <a:gd name="connsiteX16" fmla="*/ 74768 w 77384"/>
                      <a:gd name="connsiteY16" fmla="*/ 15242 h 77384"/>
                      <a:gd name="connsiteX17" fmla="*/ 74771 w 77384"/>
                      <a:gd name="connsiteY17" fmla="*/ 2619 h 77384"/>
                      <a:gd name="connsiteX18" fmla="*/ 74768 w 77384"/>
                      <a:gd name="connsiteY18" fmla="*/ 2616 h 7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384" h="77384">
                        <a:moveTo>
                          <a:pt x="74768" y="2616"/>
                        </a:moveTo>
                        <a:cubicBezTo>
                          <a:pt x="71283" y="-871"/>
                          <a:pt x="65632" y="-872"/>
                          <a:pt x="62145" y="2613"/>
                        </a:cubicBezTo>
                        <a:cubicBezTo>
                          <a:pt x="62144" y="2614"/>
                          <a:pt x="62143" y="2615"/>
                          <a:pt x="62142" y="2616"/>
                        </a:cubicBezTo>
                        <a:lnTo>
                          <a:pt x="38692" y="26066"/>
                        </a:lnTo>
                        <a:lnTo>
                          <a:pt x="15241" y="2616"/>
                        </a:lnTo>
                        <a:cubicBezTo>
                          <a:pt x="11755" y="-871"/>
                          <a:pt x="6102" y="-871"/>
                          <a:pt x="2615" y="2616"/>
                        </a:cubicBezTo>
                        <a:cubicBezTo>
                          <a:pt x="-872" y="6103"/>
                          <a:pt x="-872" y="11756"/>
                          <a:pt x="2615" y="15242"/>
                        </a:cubicBezTo>
                        <a:lnTo>
                          <a:pt x="26065" y="38693"/>
                        </a:lnTo>
                        <a:lnTo>
                          <a:pt x="2615" y="62143"/>
                        </a:lnTo>
                        <a:cubicBezTo>
                          <a:pt x="-872" y="65630"/>
                          <a:pt x="-872" y="71283"/>
                          <a:pt x="2615" y="74769"/>
                        </a:cubicBezTo>
                        <a:cubicBezTo>
                          <a:pt x="6102" y="78256"/>
                          <a:pt x="11755" y="78256"/>
                          <a:pt x="15241" y="74769"/>
                        </a:cubicBezTo>
                        <a:lnTo>
                          <a:pt x="38692" y="51319"/>
                        </a:lnTo>
                        <a:lnTo>
                          <a:pt x="62142" y="74769"/>
                        </a:lnTo>
                        <a:cubicBezTo>
                          <a:pt x="65629" y="78256"/>
                          <a:pt x="71282" y="78256"/>
                          <a:pt x="74768" y="74769"/>
                        </a:cubicBezTo>
                        <a:cubicBezTo>
                          <a:pt x="78255" y="71283"/>
                          <a:pt x="78255" y="65630"/>
                          <a:pt x="74768" y="62143"/>
                        </a:cubicBezTo>
                        <a:lnTo>
                          <a:pt x="51318" y="38693"/>
                        </a:lnTo>
                        <a:lnTo>
                          <a:pt x="74768" y="15242"/>
                        </a:lnTo>
                        <a:cubicBezTo>
                          <a:pt x="78255" y="11757"/>
                          <a:pt x="78256" y="6106"/>
                          <a:pt x="74771" y="2619"/>
                        </a:cubicBezTo>
                        <a:cubicBezTo>
                          <a:pt x="74770" y="2618"/>
                          <a:pt x="74769" y="2617"/>
                          <a:pt x="74768" y="2616"/>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grpSp>
            <p:sp>
              <p:nvSpPr>
                <p:cNvPr id="66" name="小红书平北职场PPT6-49"/>
                <p:cNvSpPr/>
                <p:nvPr/>
              </p:nvSpPr>
              <p:spPr>
                <a:xfrm flipH="1">
                  <a:off x="9188550" y="4890443"/>
                  <a:ext cx="2405232" cy="393990"/>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67" name="小红书平北职场PPT6-50"/>
                <p:cNvSpPr txBox="1"/>
                <p:nvPr/>
              </p:nvSpPr>
              <p:spPr>
                <a:xfrm flipH="1">
                  <a:off x="8797294" y="5455635"/>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t>实施</a:t>
                  </a:r>
                  <a:r>
                    <a:rPr lang="en-US" altLang="zh-CN" dirty="0"/>
                    <a:t>"</a:t>
                  </a:r>
                  <a:r>
                    <a:rPr lang="zh-CN" altLang="en-US" dirty="0"/>
                    <a:t>数字精英</a:t>
                  </a:r>
                  <a:r>
                    <a:rPr lang="en-US" altLang="zh-CN" dirty="0"/>
                    <a:t>"</a:t>
                  </a:r>
                  <a:r>
                    <a:rPr lang="zh-CN" altLang="en-US" dirty="0"/>
                    <a:t>计划，培训员工</a:t>
                  </a:r>
                  <a:r>
                    <a:rPr lang="en-US" altLang="zh-CN" dirty="0"/>
                    <a:t>200</a:t>
                  </a:r>
                  <a:r>
                    <a:rPr lang="zh-CN" altLang="en-US" dirty="0"/>
                    <a:t>人次，关键技术岗位认证通过率</a:t>
                  </a:r>
                  <a:r>
                    <a:rPr lang="en-US" altLang="zh-CN" dirty="0"/>
                    <a:t>90%</a:t>
                  </a:r>
                  <a:r>
                    <a:rPr lang="zh-CN" altLang="en-US" dirty="0"/>
                    <a:t>，员工数字化技能掌握度提升</a:t>
                  </a:r>
                  <a:r>
                    <a:rPr lang="en-US" altLang="zh-CN" dirty="0"/>
                    <a:t>60%</a:t>
                  </a:r>
                  <a:endParaRPr lang="zh-CN" altLang="en-US" dirty="0"/>
                </a:p>
              </p:txBody>
            </p:sp>
            <p:sp>
              <p:nvSpPr>
                <p:cNvPr id="68" name="小红书平北职场PPT6-51"/>
                <p:cNvSpPr txBox="1"/>
                <p:nvPr/>
              </p:nvSpPr>
              <p:spPr>
                <a:xfrm flipH="1">
                  <a:off x="9439118" y="4909439"/>
                  <a:ext cx="1800493" cy="369332"/>
                </a:xfrm>
                <a:prstGeom prst="rect">
                  <a:avLst/>
                </a:prstGeom>
                <a:noFill/>
              </p:spPr>
              <p:txBody>
                <a:bodyPr wrap="none">
                  <a:spAutoFit/>
                </a:bodyPr>
                <a:lstStyle>
                  <a:defPPr>
                    <a:defRPr lang="zh-CN"/>
                  </a:defPPr>
                  <a:lvl1pPr marR="0" lvl="0" indent="0" fontAlgn="auto">
                    <a:lnSpc>
                      <a:spcPct val="100000"/>
                    </a:lnSpc>
                    <a:spcBef>
                      <a:spcPts val="0"/>
                    </a:spcBef>
                    <a:spcAft>
                      <a:spcPts val="0"/>
                    </a:spcAft>
                    <a:buClrTx/>
                    <a:buSzTx/>
                    <a:buFontTx/>
                    <a:buNone/>
                    <a:defRPr kumimoji="0" sz="1400" i="0" u="none" strike="noStrike" cap="none" spc="0" normalizeH="0" baseline="0">
                      <a:ln>
                        <a:noFill/>
                      </a:ln>
                      <a:solidFill>
                        <a:prstClr val="black"/>
                      </a:solidFill>
                      <a:effectLst/>
                      <a:uLnTx/>
                      <a:uFillTx/>
                      <a:latin typeface="+mj-ea"/>
                      <a:ea typeface="+mj-ea"/>
                      <a:cs typeface="OPPOSans R" panose="00020600040101010101"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rPr>
                    <a:t>人才数字化培养</a:t>
                  </a:r>
                  <a:endPar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endParaRPr>
                </a:p>
              </p:txBody>
            </p:sp>
          </p:grpSp>
        </p:grpSp>
        <p:grpSp>
          <p:nvGrpSpPr>
            <p:cNvPr id="9" name="小红书平北职场PPT7"/>
            <p:cNvGrpSpPr/>
            <p:nvPr/>
          </p:nvGrpSpPr>
          <p:grpSpPr>
            <a:xfrm>
              <a:off x="3877117" y="1115590"/>
              <a:ext cx="4360537" cy="513629"/>
              <a:chOff x="3703782" y="1115590"/>
              <a:chExt cx="4557686" cy="513629"/>
            </a:xfrm>
          </p:grpSpPr>
          <p:grpSp>
            <p:nvGrpSpPr>
              <p:cNvPr id="56" name="组合 55"/>
              <p:cNvGrpSpPr/>
              <p:nvPr>
                <p:custDataLst>
                  <p:tags r:id="rId3"/>
                </p:custDataLst>
              </p:nvPr>
            </p:nvGrpSpPr>
            <p:grpSpPr>
              <a:xfrm>
                <a:off x="3703782" y="1335027"/>
                <a:ext cx="4557686" cy="294192"/>
                <a:chOff x="3152774" y="1492513"/>
                <a:chExt cx="5886450" cy="538023"/>
              </a:xfrm>
            </p:grpSpPr>
            <p:sp>
              <p:nvSpPr>
                <p:cNvPr id="58" name="小红书平北职场PPT7-1"/>
                <p:cNvSpPr/>
                <p:nvPr>
                  <p:custDataLst>
                    <p:tags r:id="rId4"/>
                  </p:custDataLst>
                </p:nvPr>
              </p:nvSpPr>
              <p:spPr>
                <a:xfrm>
                  <a:off x="5797661" y="1492523"/>
                  <a:ext cx="3241563" cy="538013"/>
                </a:xfrm>
                <a:prstGeom prst="parallelogram">
                  <a:avLst/>
                </a:prstGeom>
                <a:gradFill flip="none" rotWithShape="1">
                  <a:gsLst>
                    <a:gs pos="18000">
                      <a:schemeClr val="accent2">
                        <a:alpha val="0"/>
                      </a:schemeClr>
                    </a:gs>
                    <a:gs pos="100000">
                      <a:schemeClr val="accent2">
                        <a:alpha val="43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Heavy" panose="020B0A00000000000000" charset="-122"/>
                    <a:ea typeface="思源黑体 CN Heavy" panose="020B0A00000000000000" charset="-122"/>
                  </a:endParaRPr>
                </a:p>
              </p:txBody>
            </p:sp>
            <p:sp>
              <p:nvSpPr>
                <p:cNvPr id="59" name="小红书平北职场PPT7-2"/>
                <p:cNvSpPr/>
                <p:nvPr>
                  <p:custDataLst>
                    <p:tags r:id="rId5"/>
                  </p:custDataLst>
                </p:nvPr>
              </p:nvSpPr>
              <p:spPr>
                <a:xfrm flipH="1">
                  <a:off x="3152774" y="1492513"/>
                  <a:ext cx="3605103" cy="538013"/>
                </a:xfrm>
                <a:prstGeom prst="parallelogram">
                  <a:avLst/>
                </a:prstGeom>
                <a:gradFill flip="none" rotWithShape="1">
                  <a:gsLst>
                    <a:gs pos="18000">
                      <a:schemeClr val="accent1">
                        <a:alpha val="0"/>
                      </a:schemeClr>
                    </a:gs>
                    <a:gs pos="100000">
                      <a:schemeClr val="accent1">
                        <a:alpha val="43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grpSp>
          <p:sp>
            <p:nvSpPr>
              <p:cNvPr id="57" name="小红书平北职场PPT7-3"/>
              <p:cNvSpPr txBox="1"/>
              <p:nvPr/>
            </p:nvSpPr>
            <p:spPr>
              <a:xfrm>
                <a:off x="4026429" y="1115590"/>
                <a:ext cx="3877985"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mj-ea"/>
                    <a:ea typeface="+mj-ea"/>
                    <a:cs typeface="思源黑体 CN Normal" panose="020B0400000000000000" pitchFamily="34" charset="-122"/>
                  </a:rPr>
                  <a:t>数字化转型策略与实施效果</a:t>
                </a:r>
                <a:endParaRPr kumimoji="0" lang="zh-CN" altLang="en-US" sz="2400" b="0" i="0" u="none" strike="noStrike" kern="1200" cap="none" spc="0" normalizeH="0" baseline="0" noProof="0" dirty="0">
                  <a:ln>
                    <a:noFill/>
                  </a:ln>
                  <a:effectLst/>
                  <a:uLnTx/>
                  <a:uFillTx/>
                  <a:latin typeface="+mj-ea"/>
                  <a:ea typeface="+mj-ea"/>
                  <a:cs typeface="思源黑体 CN Normal" panose="020B0400000000000000" pitchFamily="34" charset="-122"/>
                </a:endParaRPr>
              </a:p>
            </p:txBody>
          </p:sp>
        </p:grpSp>
        <p:grpSp>
          <p:nvGrpSpPr>
            <p:cNvPr id="10" name="小红书平北职场PPT8"/>
            <p:cNvGrpSpPr/>
            <p:nvPr/>
          </p:nvGrpSpPr>
          <p:grpSpPr>
            <a:xfrm>
              <a:off x="3411091" y="2451809"/>
              <a:ext cx="5235314" cy="1928999"/>
              <a:chOff x="3411091" y="2451809"/>
              <a:chExt cx="5235314" cy="1928999"/>
            </a:xfrm>
          </p:grpSpPr>
          <p:grpSp>
            <p:nvGrpSpPr>
              <p:cNvPr id="46" name="组合 45"/>
              <p:cNvGrpSpPr/>
              <p:nvPr/>
            </p:nvGrpSpPr>
            <p:grpSpPr>
              <a:xfrm>
                <a:off x="3411091" y="2451809"/>
                <a:ext cx="2611106" cy="1928999"/>
                <a:chOff x="3366121" y="2451809"/>
                <a:chExt cx="2611106" cy="1928999"/>
              </a:xfrm>
            </p:grpSpPr>
            <p:sp>
              <p:nvSpPr>
                <p:cNvPr id="52" name="小红书平北职场PPT8-1"/>
                <p:cNvSpPr txBox="1"/>
                <p:nvPr/>
              </p:nvSpPr>
              <p:spPr>
                <a:xfrm>
                  <a:off x="3568234" y="3583602"/>
                  <a:ext cx="2206879" cy="797206"/>
                </a:xfrm>
                <a:prstGeom prst="rect">
                  <a:avLst/>
                </a:prstGeom>
                <a:noFill/>
              </p:spPr>
              <p:txBody>
                <a:bodyPr wrap="square">
                  <a:spAutoFit/>
                </a:bodyPr>
                <a:lstStyle>
                  <a:defPPr>
                    <a:defRPr lang="zh-CN"/>
                  </a:defPPr>
                  <a:lvl1pPr>
                    <a:lnSpc>
                      <a:spcPct val="130000"/>
                    </a:lnSpc>
                    <a:spcAft>
                      <a:spcPts val="800"/>
                    </a:spcAft>
                    <a:defRPr sz="1200">
                      <a:latin typeface="+mn-ea"/>
                    </a:defRPr>
                  </a:lvl1pPr>
                </a:lstStyle>
                <a:p>
                  <a:pPr algn="ctr"/>
                  <a:r>
                    <a:rPr lang="zh-CN" altLang="en-US" dirty="0">
                      <a:solidFill>
                        <a:schemeClr val="bg1"/>
                      </a:solidFill>
                    </a:rPr>
                    <a:t>技术革新驱动转型，资本助力市场突破。以差异化战略提升</a:t>
                  </a:r>
                  <a:r>
                    <a:rPr lang="en-US" altLang="zh-CN" dirty="0">
                      <a:solidFill>
                        <a:schemeClr val="bg1"/>
                      </a:solidFill>
                    </a:rPr>
                    <a:t>5%</a:t>
                  </a:r>
                  <a:r>
                    <a:rPr lang="zh-CN" altLang="en-US" dirty="0">
                      <a:solidFill>
                        <a:schemeClr val="bg1"/>
                      </a:solidFill>
                    </a:rPr>
                    <a:t>市场份额</a:t>
                  </a:r>
                  <a:endParaRPr lang="zh-CN" altLang="en-US" dirty="0">
                    <a:solidFill>
                      <a:schemeClr val="bg1"/>
                    </a:solidFill>
                  </a:endParaRPr>
                </a:p>
              </p:txBody>
            </p:sp>
            <p:sp>
              <p:nvSpPr>
                <p:cNvPr id="53" name="小红书平北职场PPT8-2"/>
                <p:cNvSpPr txBox="1"/>
                <p:nvPr/>
              </p:nvSpPr>
              <p:spPr>
                <a:xfrm>
                  <a:off x="3653215" y="2451809"/>
                  <a:ext cx="2063122" cy="707886"/>
                </a:xfrm>
                <a:prstGeom prst="rect">
                  <a:avLst/>
                </a:prstGeom>
                <a:noFill/>
              </p:spPr>
              <p:txBody>
                <a:bodyPr wrap="square">
                  <a:spAutoFit/>
                </a:bodyPr>
                <a:lstStyle>
                  <a:defPPr>
                    <a:defRPr lang="zh-CN"/>
                  </a:defPPr>
                  <a:lvl1pPr>
                    <a:defRPr sz="1600" b="1">
                      <a:solidFill>
                        <a:schemeClr val="accent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外部</a:t>
                  </a:r>
                  <a:endParaRPr kumimoji="0" lang="en-US" altLang="zh-CN"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环境与支持</a:t>
                  </a:r>
                  <a:endPar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cxnSp>
              <p:nvCxnSpPr>
                <p:cNvPr id="54" name="小红书平北职场PPT8-3"/>
                <p:cNvCxnSpPr/>
                <p:nvPr/>
              </p:nvCxnSpPr>
              <p:spPr>
                <a:xfrm>
                  <a:off x="3680494" y="3497674"/>
                  <a:ext cx="1982359" cy="0"/>
                </a:xfrm>
                <a:prstGeom prst="line">
                  <a:avLst/>
                </a:prstGeom>
                <a:ln w="9525">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55" name="小红书平北职场PPT8-4"/>
                <p:cNvSpPr txBox="1"/>
                <p:nvPr/>
              </p:nvSpPr>
              <p:spPr>
                <a:xfrm>
                  <a:off x="3366121" y="3157376"/>
                  <a:ext cx="2611106" cy="230832"/>
                </a:xfrm>
                <a:prstGeom prst="rect">
                  <a:avLst/>
                </a:prstGeom>
                <a:noFill/>
              </p:spPr>
              <p:txBody>
                <a:bodyPr wrap="square">
                  <a:spAutoFit/>
                </a:bodyPr>
                <a:lstStyle>
                  <a:defPPr>
                    <a:defRPr lang="zh-CN"/>
                  </a:defPPr>
                  <a:lvl1pPr>
                    <a:defRPr sz="1600" b="1">
                      <a:solidFill>
                        <a:schemeClr val="accent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latin typeface="+mn-ea"/>
                      <a:cs typeface="思源黑体 CN Normal" panose="020B0400000000000000" pitchFamily="34" charset="-122"/>
                    </a:rPr>
                    <a:t>External Environment and Support</a:t>
                  </a:r>
                  <a:endParaRPr kumimoji="0" lang="zh-CN" altLang="en-US" sz="900" b="0" i="0" u="none" strike="noStrike" kern="1200" cap="none" spc="0" normalizeH="0" baseline="0" noProof="0" dirty="0">
                    <a:ln>
                      <a:noFill/>
                    </a:ln>
                    <a:solidFill>
                      <a:prstClr val="white"/>
                    </a:solidFill>
                    <a:effectLst/>
                    <a:uLnTx/>
                    <a:uFillTx/>
                    <a:latin typeface="+mn-ea"/>
                    <a:cs typeface="思源黑体 CN Normal" panose="020B0400000000000000" pitchFamily="34" charset="-122"/>
                  </a:endParaRPr>
                </a:p>
              </p:txBody>
            </p:sp>
          </p:grpSp>
          <p:grpSp>
            <p:nvGrpSpPr>
              <p:cNvPr id="47" name="组合 46"/>
              <p:cNvGrpSpPr/>
              <p:nvPr/>
            </p:nvGrpSpPr>
            <p:grpSpPr>
              <a:xfrm>
                <a:off x="6035299" y="2451809"/>
                <a:ext cx="2611106" cy="1928999"/>
                <a:chOff x="6110249" y="2451809"/>
                <a:chExt cx="2611106" cy="1928999"/>
              </a:xfrm>
            </p:grpSpPr>
            <p:sp>
              <p:nvSpPr>
                <p:cNvPr id="48" name="小红书平北职场PPT8-5"/>
                <p:cNvSpPr txBox="1"/>
                <p:nvPr/>
              </p:nvSpPr>
              <p:spPr>
                <a:xfrm>
                  <a:off x="6312362" y="3583602"/>
                  <a:ext cx="2206879" cy="797206"/>
                </a:xfrm>
                <a:prstGeom prst="rect">
                  <a:avLst/>
                </a:prstGeom>
                <a:noFill/>
              </p:spPr>
              <p:txBody>
                <a:bodyPr wrap="square">
                  <a:spAutoFit/>
                </a:bodyPr>
                <a:lstStyle>
                  <a:defPPr>
                    <a:defRPr lang="zh-CN"/>
                  </a:defPPr>
                  <a:lvl1pPr>
                    <a:lnSpc>
                      <a:spcPct val="130000"/>
                    </a:lnSpc>
                    <a:spcAft>
                      <a:spcPts val="800"/>
                    </a:spcAft>
                    <a:defRPr sz="1200">
                      <a:latin typeface="+mn-ea"/>
                    </a:defRPr>
                  </a:lvl1pPr>
                </a:lstStyle>
                <a:p>
                  <a:pPr algn="ctr"/>
                  <a:r>
                    <a:rPr lang="zh-CN" altLang="en-US" dirty="0">
                      <a:solidFill>
                        <a:schemeClr val="bg1"/>
                      </a:solidFill>
                    </a:rPr>
                    <a:t>产品研发精准高效，流程人才双轮驱动。智能化升级推动运营成本降低</a:t>
                  </a:r>
                  <a:r>
                    <a:rPr lang="en-US" altLang="zh-CN" dirty="0">
                      <a:solidFill>
                        <a:schemeClr val="bg1"/>
                      </a:solidFill>
                    </a:rPr>
                    <a:t>15%</a:t>
                  </a:r>
                  <a:endParaRPr lang="zh-CN" altLang="en-US" dirty="0">
                    <a:solidFill>
                      <a:schemeClr val="bg1"/>
                    </a:solidFill>
                  </a:endParaRPr>
                </a:p>
              </p:txBody>
            </p:sp>
            <p:sp>
              <p:nvSpPr>
                <p:cNvPr id="49" name="小红书平北职场PPT8-6"/>
                <p:cNvSpPr txBox="1"/>
                <p:nvPr/>
              </p:nvSpPr>
              <p:spPr>
                <a:xfrm>
                  <a:off x="6384241" y="2451809"/>
                  <a:ext cx="2063122" cy="707886"/>
                </a:xfrm>
                <a:prstGeom prst="rect">
                  <a:avLst/>
                </a:prstGeom>
                <a:noFill/>
              </p:spPr>
              <p:txBody>
                <a:bodyPr wrap="square">
                  <a:spAutoFit/>
                </a:bodyPr>
                <a:lstStyle>
                  <a:defPPr>
                    <a:defRPr lang="zh-CN"/>
                  </a:defPPr>
                  <a:lvl1pPr>
                    <a:defRPr sz="1600" b="1">
                      <a:solidFill>
                        <a:schemeClr val="accent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内部</a:t>
                  </a:r>
                  <a:endParaRPr kumimoji="0" lang="en-US" altLang="zh-CN"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发展与创新</a:t>
                  </a:r>
                  <a:endPar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cxnSp>
              <p:nvCxnSpPr>
                <p:cNvPr id="50" name="小红书平北职场PPT8-7"/>
                <p:cNvCxnSpPr/>
                <p:nvPr/>
              </p:nvCxnSpPr>
              <p:spPr>
                <a:xfrm>
                  <a:off x="6424622" y="3497674"/>
                  <a:ext cx="1982359" cy="0"/>
                </a:xfrm>
                <a:prstGeom prst="line">
                  <a:avLst/>
                </a:prstGeom>
                <a:ln w="9525">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51" name="小红书平北职场PPT8-8"/>
                <p:cNvSpPr txBox="1"/>
                <p:nvPr/>
              </p:nvSpPr>
              <p:spPr>
                <a:xfrm>
                  <a:off x="6110249" y="3157376"/>
                  <a:ext cx="2611106" cy="230832"/>
                </a:xfrm>
                <a:prstGeom prst="rect">
                  <a:avLst/>
                </a:prstGeom>
                <a:noFill/>
              </p:spPr>
              <p:txBody>
                <a:bodyPr wrap="square">
                  <a:spAutoFit/>
                </a:bodyPr>
                <a:lstStyle>
                  <a:defPPr>
                    <a:defRPr lang="zh-CN"/>
                  </a:defPPr>
                  <a:lvl1pPr>
                    <a:defRPr sz="1600" b="1">
                      <a:solidFill>
                        <a:schemeClr val="accent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latin typeface="+mn-ea"/>
                      <a:cs typeface="思源黑体 CN Normal" panose="020B0400000000000000" pitchFamily="34" charset="-122"/>
                    </a:rPr>
                    <a:t> Internal Development and Innovation</a:t>
                  </a:r>
                  <a:endParaRPr kumimoji="0" lang="zh-CN" altLang="en-US" sz="900" b="0" i="0" u="none" strike="noStrike" kern="1200" cap="none" spc="0" normalizeH="0" baseline="0" noProof="0" dirty="0">
                    <a:ln>
                      <a:noFill/>
                    </a:ln>
                    <a:solidFill>
                      <a:prstClr val="white"/>
                    </a:solidFill>
                    <a:effectLst/>
                    <a:uLnTx/>
                    <a:uFillTx/>
                    <a:latin typeface="+mn-ea"/>
                    <a:cs typeface="思源黑体 CN Normal" panose="020B0400000000000000" pitchFamily="34" charset="-122"/>
                  </a:endParaRPr>
                </a:p>
              </p:txBody>
            </p:sp>
          </p:grpSp>
        </p:grpSp>
        <p:grpSp>
          <p:nvGrpSpPr>
            <p:cNvPr id="11" name="小红书平北职场PPT9"/>
            <p:cNvGrpSpPr/>
            <p:nvPr/>
          </p:nvGrpSpPr>
          <p:grpSpPr>
            <a:xfrm>
              <a:off x="4134634" y="5510411"/>
              <a:ext cx="3884904" cy="840413"/>
              <a:chOff x="4134634" y="5528699"/>
              <a:chExt cx="3884904" cy="840413"/>
            </a:xfrm>
          </p:grpSpPr>
          <p:grpSp>
            <p:nvGrpSpPr>
              <p:cNvPr id="31" name="组合 30"/>
              <p:cNvGrpSpPr/>
              <p:nvPr/>
            </p:nvGrpSpPr>
            <p:grpSpPr>
              <a:xfrm>
                <a:off x="4134634" y="5528699"/>
                <a:ext cx="1188717" cy="339129"/>
                <a:chOff x="3850428" y="5516342"/>
                <a:chExt cx="1109956" cy="339129"/>
              </a:xfrm>
            </p:grpSpPr>
            <p:sp>
              <p:nvSpPr>
                <p:cNvPr id="44" name="小红书平北职场PPT9-1"/>
                <p:cNvSpPr/>
                <p:nvPr/>
              </p:nvSpPr>
              <p:spPr>
                <a:xfrm>
                  <a:off x="3850428"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45" name="小红书平北职场PPT9-2"/>
                <p:cNvSpPr txBox="1"/>
                <p:nvPr/>
              </p:nvSpPr>
              <p:spPr>
                <a:xfrm>
                  <a:off x="3928745" y="5547694"/>
                  <a:ext cx="1010635"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数字化转型</a:t>
                  </a:r>
                  <a:endParaRPr lang="zh-CN" altLang="en-US" sz="1400" b="0" i="0" dirty="0">
                    <a:solidFill>
                      <a:srgbClr val="404040"/>
                    </a:solidFill>
                    <a:effectLst/>
                    <a:latin typeface="思源黑体 CN Heavy" panose="020B0A00000000000000" charset="-122"/>
                  </a:endParaRPr>
                </a:p>
              </p:txBody>
            </p:sp>
          </p:grpSp>
          <p:grpSp>
            <p:nvGrpSpPr>
              <p:cNvPr id="32" name="组合 31"/>
              <p:cNvGrpSpPr/>
              <p:nvPr/>
            </p:nvGrpSpPr>
            <p:grpSpPr>
              <a:xfrm>
                <a:off x="5469491" y="5528699"/>
                <a:ext cx="1188717" cy="339129"/>
                <a:chOff x="5430475" y="5516342"/>
                <a:chExt cx="1109956" cy="339129"/>
              </a:xfrm>
            </p:grpSpPr>
            <p:sp>
              <p:nvSpPr>
                <p:cNvPr id="42" name="小红书平北职场PPT9-3"/>
                <p:cNvSpPr/>
                <p:nvPr/>
              </p:nvSpPr>
              <p:spPr>
                <a:xfrm>
                  <a:off x="5430475"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43" name="小红书平北职场PPT9-4"/>
                <p:cNvSpPr txBox="1"/>
                <p:nvPr/>
              </p:nvSpPr>
              <p:spPr>
                <a:xfrm>
                  <a:off x="5578723" y="5547694"/>
                  <a:ext cx="842993"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技术创新</a:t>
                  </a:r>
                  <a:endParaRPr lang="zh-CN" altLang="en-US" sz="1400" b="0" i="0" dirty="0">
                    <a:solidFill>
                      <a:srgbClr val="404040"/>
                    </a:solidFill>
                    <a:effectLst/>
                    <a:latin typeface="思源黑体 CN Heavy" panose="020B0A00000000000000" charset="-122"/>
                  </a:endParaRPr>
                </a:p>
              </p:txBody>
            </p:sp>
          </p:grpSp>
          <p:grpSp>
            <p:nvGrpSpPr>
              <p:cNvPr id="33" name="组合 32"/>
              <p:cNvGrpSpPr/>
              <p:nvPr/>
            </p:nvGrpSpPr>
            <p:grpSpPr>
              <a:xfrm>
                <a:off x="6830820" y="5528699"/>
                <a:ext cx="1188718" cy="339129"/>
                <a:chOff x="7010522" y="5516342"/>
                <a:chExt cx="1109956" cy="339129"/>
              </a:xfrm>
            </p:grpSpPr>
            <p:sp>
              <p:nvSpPr>
                <p:cNvPr id="40" name="小红书平北职场PPT9-5"/>
                <p:cNvSpPr/>
                <p:nvPr/>
              </p:nvSpPr>
              <p:spPr>
                <a:xfrm>
                  <a:off x="7010522"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41" name="小红书平北职场PPT9-6"/>
                <p:cNvSpPr txBox="1"/>
                <p:nvPr/>
              </p:nvSpPr>
              <p:spPr>
                <a:xfrm>
                  <a:off x="7100783" y="5547694"/>
                  <a:ext cx="1010634"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差异化竞争</a:t>
                  </a:r>
                  <a:endParaRPr lang="zh-CN" altLang="en-US" sz="1400" b="0" i="0" dirty="0">
                    <a:solidFill>
                      <a:srgbClr val="404040"/>
                    </a:solidFill>
                    <a:effectLst/>
                    <a:latin typeface="思源黑体 CN Heavy" panose="020B0A00000000000000" charset="-122"/>
                  </a:endParaRPr>
                </a:p>
              </p:txBody>
            </p:sp>
          </p:grpSp>
          <p:grpSp>
            <p:nvGrpSpPr>
              <p:cNvPr id="34" name="组合 33"/>
              <p:cNvGrpSpPr/>
              <p:nvPr/>
            </p:nvGrpSpPr>
            <p:grpSpPr>
              <a:xfrm>
                <a:off x="4874848" y="6012488"/>
                <a:ext cx="1188717" cy="356624"/>
                <a:chOff x="4640451" y="6000131"/>
                <a:chExt cx="1109956" cy="356624"/>
              </a:xfrm>
            </p:grpSpPr>
            <p:sp>
              <p:nvSpPr>
                <p:cNvPr id="38" name="小红书平北职场PPT9-7"/>
                <p:cNvSpPr/>
                <p:nvPr/>
              </p:nvSpPr>
              <p:spPr>
                <a:xfrm>
                  <a:off x="4640451" y="6000131"/>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39" name="小红书平北职场PPT9-8"/>
                <p:cNvSpPr txBox="1"/>
                <p:nvPr/>
              </p:nvSpPr>
              <p:spPr>
                <a:xfrm>
                  <a:off x="4794310" y="6048978"/>
                  <a:ext cx="842993"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运营提效</a:t>
                  </a:r>
                  <a:endParaRPr lang="zh-CN" altLang="en-US" sz="1400" b="0" i="0" dirty="0">
                    <a:solidFill>
                      <a:srgbClr val="404040"/>
                    </a:solidFill>
                    <a:effectLst/>
                    <a:latin typeface="思源黑体 CN Heavy" panose="020B0A00000000000000" charset="-122"/>
                  </a:endParaRPr>
                </a:p>
              </p:txBody>
            </p:sp>
          </p:grpSp>
          <p:grpSp>
            <p:nvGrpSpPr>
              <p:cNvPr id="35" name="组合 34"/>
              <p:cNvGrpSpPr/>
              <p:nvPr/>
            </p:nvGrpSpPr>
            <p:grpSpPr>
              <a:xfrm>
                <a:off x="6229188" y="6012488"/>
                <a:ext cx="1188717" cy="356624"/>
                <a:chOff x="6220498" y="6000131"/>
                <a:chExt cx="1109956" cy="356624"/>
              </a:xfrm>
            </p:grpSpPr>
            <p:sp>
              <p:nvSpPr>
                <p:cNvPr id="36" name="小红书平北职场PPT9-9"/>
                <p:cNvSpPr/>
                <p:nvPr/>
              </p:nvSpPr>
              <p:spPr>
                <a:xfrm>
                  <a:off x="6220498" y="6000131"/>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37" name="小红书平北职场PPT9-10"/>
                <p:cNvSpPr txBox="1"/>
                <p:nvPr/>
              </p:nvSpPr>
              <p:spPr>
                <a:xfrm>
                  <a:off x="6351427" y="6048978"/>
                  <a:ext cx="842993"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人才赋能</a:t>
                  </a:r>
                  <a:endParaRPr lang="zh-CN" altLang="en-US" sz="1400" b="0" i="0" dirty="0">
                    <a:solidFill>
                      <a:srgbClr val="404040"/>
                    </a:solidFill>
                    <a:effectLst/>
                    <a:latin typeface="思源黑体 CN Heavy" panose="020B0A00000000000000" charset="-122"/>
                  </a:endParaRPr>
                </a:p>
              </p:txBody>
            </p:sp>
          </p:grpSp>
        </p:grpSp>
      </p:grpSp>
    </p:spTree>
    <p:custDataLst>
      <p:tags r:id="rId6"/>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8209692" y="3474017"/>
            <a:ext cx="1109597" cy="467052"/>
            <a:chOff x="8209692" y="3474017"/>
            <a:chExt cx="1109597" cy="467052"/>
          </a:xfrm>
        </p:grpSpPr>
        <p:sp>
          <p:nvSpPr>
            <p:cNvPr id="99" name="小红书平北职场PPT1-1"/>
            <p:cNvSpPr/>
            <p:nvPr/>
          </p:nvSpPr>
          <p:spPr>
            <a:xfrm flipH="1">
              <a:off x="8209692" y="3572932"/>
              <a:ext cx="1109597" cy="713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100" name="小红书平北职场PPT1-2"/>
            <p:cNvSpPr/>
            <p:nvPr/>
          </p:nvSpPr>
          <p:spPr>
            <a:xfrm flipH="1">
              <a:off x="8209692" y="3770760"/>
              <a:ext cx="1109597" cy="713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nvGrpSpPr>
            <p:cNvPr id="101" name="组合 100"/>
            <p:cNvGrpSpPr/>
            <p:nvPr/>
          </p:nvGrpSpPr>
          <p:grpSpPr>
            <a:xfrm>
              <a:off x="8209692" y="3474017"/>
              <a:ext cx="1109597" cy="467052"/>
              <a:chOff x="8144376" y="3495305"/>
              <a:chExt cx="1109597" cy="424466"/>
            </a:xfrm>
          </p:grpSpPr>
          <p:sp>
            <p:nvSpPr>
              <p:cNvPr id="102" name="小红书平北职场PPT1-3"/>
              <p:cNvSpPr/>
              <p:nvPr/>
            </p:nvSpPr>
            <p:spPr>
              <a:xfrm flipH="1">
                <a:off x="8144376" y="3495305"/>
                <a:ext cx="1109597" cy="648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103" name="小红书平北职场PPT1-4"/>
              <p:cNvSpPr/>
              <p:nvPr/>
            </p:nvSpPr>
            <p:spPr>
              <a:xfrm flipH="1">
                <a:off x="8144376" y="3675095"/>
                <a:ext cx="1109597" cy="64888"/>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104" name="小红书平北职场PPT1-5"/>
              <p:cNvSpPr/>
              <p:nvPr/>
            </p:nvSpPr>
            <p:spPr>
              <a:xfrm flipH="1">
                <a:off x="8144376" y="3854883"/>
                <a:ext cx="1109597" cy="648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grpSp>
      <p:grpSp>
        <p:nvGrpSpPr>
          <p:cNvPr id="4" name="小红书平北职场PPT2"/>
          <p:cNvGrpSpPr/>
          <p:nvPr/>
        </p:nvGrpSpPr>
        <p:grpSpPr>
          <a:xfrm>
            <a:off x="7189628" y="938877"/>
            <a:ext cx="1031457" cy="5487468"/>
            <a:chOff x="7338252" y="963392"/>
            <a:chExt cx="873308" cy="5487468"/>
          </a:xfrm>
        </p:grpSpPr>
        <p:sp>
          <p:nvSpPr>
            <p:cNvPr id="94" name="小红书平北职场PPT2-1"/>
            <p:cNvSpPr/>
            <p:nvPr/>
          </p:nvSpPr>
          <p:spPr>
            <a:xfrm flipH="1">
              <a:off x="7338254" y="963392"/>
              <a:ext cx="873306" cy="2586401"/>
            </a:xfrm>
            <a:custGeom>
              <a:avLst/>
              <a:gdLst>
                <a:gd name="connsiteX0" fmla="*/ 0 w 1177747"/>
                <a:gd name="connsiteY0" fmla="*/ 1945843 h 1945843"/>
                <a:gd name="connsiteX1" fmla="*/ 1177747 w 1177747"/>
                <a:gd name="connsiteY1" fmla="*/ 0 h 1945843"/>
                <a:gd name="connsiteX2" fmla="*/ 1177747 w 1177747"/>
                <a:gd name="connsiteY2" fmla="*/ 563270 h 1945843"/>
                <a:gd name="connsiteX3" fmla="*/ 0 w 1177747"/>
                <a:gd name="connsiteY3" fmla="*/ 1945843 h 1945843"/>
                <a:gd name="connsiteX0-1" fmla="*/ 0 w 1177747"/>
                <a:gd name="connsiteY0-2" fmla="*/ 1945843 h 2001427"/>
                <a:gd name="connsiteX1-3" fmla="*/ 1177747 w 1177747"/>
                <a:gd name="connsiteY1-4" fmla="*/ 0 h 2001427"/>
                <a:gd name="connsiteX2-5" fmla="*/ 1177747 w 1177747"/>
                <a:gd name="connsiteY2-6" fmla="*/ 563270 h 2001427"/>
                <a:gd name="connsiteX3-7" fmla="*/ 4432 w 1177747"/>
                <a:gd name="connsiteY3-8" fmla="*/ 2001427 h 2001427"/>
                <a:gd name="connsiteX4" fmla="*/ 0 w 1177747"/>
                <a:gd name="connsiteY4" fmla="*/ 1945843 h 2001427"/>
                <a:gd name="connsiteX0-9" fmla="*/ 0 w 1177747"/>
                <a:gd name="connsiteY0-10" fmla="*/ 1905052 h 2001427"/>
                <a:gd name="connsiteX1-11" fmla="*/ 1177747 w 1177747"/>
                <a:gd name="connsiteY1-12" fmla="*/ 0 h 2001427"/>
                <a:gd name="connsiteX2-13" fmla="*/ 1177747 w 1177747"/>
                <a:gd name="connsiteY2-14" fmla="*/ 563270 h 2001427"/>
                <a:gd name="connsiteX3-15" fmla="*/ 4432 w 1177747"/>
                <a:gd name="connsiteY3-16" fmla="*/ 2001427 h 2001427"/>
                <a:gd name="connsiteX4-17" fmla="*/ 0 w 1177747"/>
                <a:gd name="connsiteY4-18" fmla="*/ 1905052 h 2001427"/>
                <a:gd name="connsiteX0-19" fmla="*/ 0 w 1177747"/>
                <a:gd name="connsiteY0-20" fmla="*/ 1905052 h 1967434"/>
                <a:gd name="connsiteX1-21" fmla="*/ 1177747 w 1177747"/>
                <a:gd name="connsiteY1-22" fmla="*/ 0 h 1967434"/>
                <a:gd name="connsiteX2-23" fmla="*/ 1177747 w 1177747"/>
                <a:gd name="connsiteY2-24" fmla="*/ 563270 h 1967434"/>
                <a:gd name="connsiteX3-25" fmla="*/ 4432 w 1177747"/>
                <a:gd name="connsiteY3-26" fmla="*/ 1967434 h 1967434"/>
                <a:gd name="connsiteX4-27" fmla="*/ 0 w 1177747"/>
                <a:gd name="connsiteY4-28" fmla="*/ 1905052 h 1967434"/>
                <a:gd name="connsiteX0-29" fmla="*/ 0 w 1181147"/>
                <a:gd name="connsiteY0-30" fmla="*/ 1905052 h 1967434"/>
                <a:gd name="connsiteX1-31" fmla="*/ 1177747 w 1181147"/>
                <a:gd name="connsiteY1-32" fmla="*/ 0 h 1967434"/>
                <a:gd name="connsiteX2-33" fmla="*/ 1181147 w 1181147"/>
                <a:gd name="connsiteY2-34" fmla="*/ 580267 h 1967434"/>
                <a:gd name="connsiteX3-35" fmla="*/ 4432 w 1181147"/>
                <a:gd name="connsiteY3-36" fmla="*/ 1967434 h 1967434"/>
                <a:gd name="connsiteX4-37" fmla="*/ 0 w 1181147"/>
                <a:gd name="connsiteY4-38" fmla="*/ 1905052 h 1967434"/>
                <a:gd name="connsiteX0-39" fmla="*/ 0 w 1181147"/>
                <a:gd name="connsiteY0-40" fmla="*/ 1891455 h 1953837"/>
                <a:gd name="connsiteX1-41" fmla="*/ 1174347 w 1181147"/>
                <a:gd name="connsiteY1-42" fmla="*/ 0 h 1953837"/>
                <a:gd name="connsiteX2-43" fmla="*/ 1181147 w 1181147"/>
                <a:gd name="connsiteY2-44" fmla="*/ 566670 h 1953837"/>
                <a:gd name="connsiteX3-45" fmla="*/ 4432 w 1181147"/>
                <a:gd name="connsiteY3-46" fmla="*/ 1953837 h 1953837"/>
                <a:gd name="connsiteX4-47" fmla="*/ 0 w 1181147"/>
                <a:gd name="connsiteY4-48" fmla="*/ 1891455 h 1953837"/>
                <a:gd name="connsiteX0-49" fmla="*/ 0 w 1184694"/>
                <a:gd name="connsiteY0-50" fmla="*/ 1891455 h 1953837"/>
                <a:gd name="connsiteX1-51" fmla="*/ 1184544 w 1184694"/>
                <a:gd name="connsiteY1-52" fmla="*/ 0 h 1953837"/>
                <a:gd name="connsiteX2-53" fmla="*/ 1181147 w 1184694"/>
                <a:gd name="connsiteY2-54" fmla="*/ 566670 h 1953837"/>
                <a:gd name="connsiteX3-55" fmla="*/ 4432 w 1184694"/>
                <a:gd name="connsiteY3-56" fmla="*/ 1953837 h 1953837"/>
                <a:gd name="connsiteX4-57" fmla="*/ 0 w 1184694"/>
                <a:gd name="connsiteY4-58" fmla="*/ 1891455 h 1953837"/>
                <a:gd name="connsiteX0-59" fmla="*/ 0 w 1184694"/>
                <a:gd name="connsiteY0-60" fmla="*/ 1891455 h 1953837"/>
                <a:gd name="connsiteX1-61" fmla="*/ 1184544 w 1184694"/>
                <a:gd name="connsiteY1-62" fmla="*/ 0 h 1953837"/>
                <a:gd name="connsiteX2-63" fmla="*/ 1181147 w 1184694"/>
                <a:gd name="connsiteY2-64" fmla="*/ 573468 h 1953837"/>
                <a:gd name="connsiteX3-65" fmla="*/ 4432 w 1184694"/>
                <a:gd name="connsiteY3-66" fmla="*/ 1953837 h 1953837"/>
                <a:gd name="connsiteX4-67" fmla="*/ 0 w 1184694"/>
                <a:gd name="connsiteY4-68" fmla="*/ 1891455 h 1953837"/>
                <a:gd name="connsiteX0-69" fmla="*/ 457 w 1180262"/>
                <a:gd name="connsiteY0-70" fmla="*/ 1903679 h 1953837"/>
                <a:gd name="connsiteX1-71" fmla="*/ 1180112 w 1180262"/>
                <a:gd name="connsiteY1-72" fmla="*/ 0 h 1953837"/>
                <a:gd name="connsiteX2-73" fmla="*/ 1176715 w 1180262"/>
                <a:gd name="connsiteY2-74" fmla="*/ 573468 h 1953837"/>
                <a:gd name="connsiteX3-75" fmla="*/ 0 w 1180262"/>
                <a:gd name="connsiteY3-76" fmla="*/ 1953837 h 1953837"/>
                <a:gd name="connsiteX4-77" fmla="*/ 457 w 1180262"/>
                <a:gd name="connsiteY4-78" fmla="*/ 1903679 h 1953837"/>
                <a:gd name="connsiteX0-79" fmla="*/ 457 w 1183065"/>
                <a:gd name="connsiteY0-80" fmla="*/ 1903679 h 1953837"/>
                <a:gd name="connsiteX1-81" fmla="*/ 1180112 w 1183065"/>
                <a:gd name="connsiteY1-82" fmla="*/ 0 h 1953837"/>
                <a:gd name="connsiteX2-83" fmla="*/ 1183065 w 1183065"/>
                <a:gd name="connsiteY2-84" fmla="*/ 567118 h 1953837"/>
                <a:gd name="connsiteX3-85" fmla="*/ 0 w 1183065"/>
                <a:gd name="connsiteY3-86" fmla="*/ 1953837 h 1953837"/>
                <a:gd name="connsiteX4-87" fmla="*/ 457 w 1183065"/>
                <a:gd name="connsiteY4-88" fmla="*/ 1903679 h 1953837"/>
                <a:gd name="connsiteX0-89" fmla="*/ 457 w 1183065"/>
                <a:gd name="connsiteY0-90" fmla="*/ 1903679 h 1953837"/>
                <a:gd name="connsiteX1-91" fmla="*/ 1180112 w 1183065"/>
                <a:gd name="connsiteY1-92" fmla="*/ 0 h 1953837"/>
                <a:gd name="connsiteX2-93" fmla="*/ 1183065 w 1183065"/>
                <a:gd name="connsiteY2-94" fmla="*/ 569785 h 1953837"/>
                <a:gd name="connsiteX3-95" fmla="*/ 0 w 1183065"/>
                <a:gd name="connsiteY3-96" fmla="*/ 1953837 h 1953837"/>
                <a:gd name="connsiteX4-97" fmla="*/ 457 w 1183065"/>
                <a:gd name="connsiteY4-98" fmla="*/ 1903679 h 1953837"/>
                <a:gd name="connsiteX0-99" fmla="*/ 457 w 1183065"/>
                <a:gd name="connsiteY0-100" fmla="*/ 1903679 h 1953837"/>
                <a:gd name="connsiteX1-101" fmla="*/ 1180112 w 1183065"/>
                <a:gd name="connsiteY1-102" fmla="*/ 0 h 1953837"/>
                <a:gd name="connsiteX2-103" fmla="*/ 1183065 w 1183065"/>
                <a:gd name="connsiteY2-104" fmla="*/ 572452 h 1953837"/>
                <a:gd name="connsiteX3-105" fmla="*/ 0 w 1183065"/>
                <a:gd name="connsiteY3-106" fmla="*/ 1953837 h 1953837"/>
                <a:gd name="connsiteX4-107" fmla="*/ 457 w 1183065"/>
                <a:gd name="connsiteY4-108" fmla="*/ 1903679 h 1953837"/>
                <a:gd name="connsiteX0-109" fmla="*/ 457 w 1183065"/>
                <a:gd name="connsiteY0-110" fmla="*/ 1901373 h 1953837"/>
                <a:gd name="connsiteX1-111" fmla="*/ 1180112 w 1183065"/>
                <a:gd name="connsiteY1-112" fmla="*/ 0 h 1953837"/>
                <a:gd name="connsiteX2-113" fmla="*/ 1183065 w 1183065"/>
                <a:gd name="connsiteY2-114" fmla="*/ 572452 h 1953837"/>
                <a:gd name="connsiteX3-115" fmla="*/ 0 w 1183065"/>
                <a:gd name="connsiteY3-116" fmla="*/ 1953837 h 1953837"/>
                <a:gd name="connsiteX4-117" fmla="*/ 457 w 1183065"/>
                <a:gd name="connsiteY4-118" fmla="*/ 1901373 h 1953837"/>
                <a:gd name="connsiteX0-119" fmla="*/ 457 w 1183065"/>
                <a:gd name="connsiteY0-120" fmla="*/ 1901373 h 1956143"/>
                <a:gd name="connsiteX1-121" fmla="*/ 1180112 w 1183065"/>
                <a:gd name="connsiteY1-122" fmla="*/ 0 h 1956143"/>
                <a:gd name="connsiteX2-123" fmla="*/ 1183065 w 1183065"/>
                <a:gd name="connsiteY2-124" fmla="*/ 572452 h 1956143"/>
                <a:gd name="connsiteX3-125" fmla="*/ 0 w 1183065"/>
                <a:gd name="connsiteY3-126" fmla="*/ 1956143 h 1956143"/>
                <a:gd name="connsiteX4-127" fmla="*/ 457 w 1183065"/>
                <a:gd name="connsiteY4-128" fmla="*/ 1901373 h 1956143"/>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1183065" h="1956143">
                  <a:moveTo>
                    <a:pt x="457" y="1901373"/>
                  </a:moveTo>
                  <a:lnTo>
                    <a:pt x="1180112" y="0"/>
                  </a:lnTo>
                  <a:cubicBezTo>
                    <a:pt x="1181245" y="193422"/>
                    <a:pt x="1181932" y="379030"/>
                    <a:pt x="1183065" y="572452"/>
                  </a:cubicBezTo>
                  <a:lnTo>
                    <a:pt x="0" y="1956143"/>
                  </a:lnTo>
                  <a:cubicBezTo>
                    <a:pt x="152" y="1939424"/>
                    <a:pt x="305" y="1918092"/>
                    <a:pt x="457" y="190137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5" name="小红书平北职场PPT2-2"/>
            <p:cNvSpPr/>
            <p:nvPr/>
          </p:nvSpPr>
          <p:spPr>
            <a:xfrm flipH="1">
              <a:off x="7338252" y="2145016"/>
              <a:ext cx="873237" cy="1500289"/>
            </a:xfrm>
            <a:custGeom>
              <a:avLst/>
              <a:gdLst>
                <a:gd name="connsiteX0" fmla="*/ 3399 w 1186340"/>
                <a:gd name="connsiteY0" fmla="*/ 1104759 h 1159147"/>
                <a:gd name="connsiteX1" fmla="*/ 1182941 w 1186340"/>
                <a:gd name="connsiteY1" fmla="*/ 0 h 1159147"/>
                <a:gd name="connsiteX2" fmla="*/ 1186340 w 1186340"/>
                <a:gd name="connsiteY2" fmla="*/ 554079 h 1159147"/>
                <a:gd name="connsiteX3" fmla="*/ 0 w 1186340"/>
                <a:gd name="connsiteY3" fmla="*/ 1159147 h 1159147"/>
                <a:gd name="connsiteX4" fmla="*/ 3399 w 1186340"/>
                <a:gd name="connsiteY4" fmla="*/ 1104759 h 1159147"/>
                <a:gd name="connsiteX0-1" fmla="*/ 3399 w 1187831"/>
                <a:gd name="connsiteY0-2" fmla="*/ 1104759 h 1159147"/>
                <a:gd name="connsiteX1-3" fmla="*/ 1187831 w 1187831"/>
                <a:gd name="connsiteY1-4" fmla="*/ 0 h 1159147"/>
                <a:gd name="connsiteX2-5" fmla="*/ 1186340 w 1187831"/>
                <a:gd name="connsiteY2-6" fmla="*/ 554079 h 1159147"/>
                <a:gd name="connsiteX3-7" fmla="*/ 0 w 1187831"/>
                <a:gd name="connsiteY3-8" fmla="*/ 1159147 h 1159147"/>
                <a:gd name="connsiteX4-9" fmla="*/ 3399 w 1187831"/>
                <a:gd name="connsiteY4-10" fmla="*/ 1104759 h 1159147"/>
                <a:gd name="connsiteX0-11" fmla="*/ 3399 w 1187831"/>
                <a:gd name="connsiteY0-12" fmla="*/ 1104759 h 1159147"/>
                <a:gd name="connsiteX1-13" fmla="*/ 1187831 w 1187831"/>
                <a:gd name="connsiteY1-14" fmla="*/ 0 h 1159147"/>
                <a:gd name="connsiteX2-15" fmla="*/ 1183895 w 1187831"/>
                <a:gd name="connsiteY2-16" fmla="*/ 566304 h 1159147"/>
                <a:gd name="connsiteX3-17" fmla="*/ 0 w 1187831"/>
                <a:gd name="connsiteY3-18" fmla="*/ 1159147 h 1159147"/>
                <a:gd name="connsiteX4-19" fmla="*/ 3399 w 1187831"/>
                <a:gd name="connsiteY4-20" fmla="*/ 1104759 h 1159147"/>
                <a:gd name="connsiteX0-21" fmla="*/ 13179 w 1187831"/>
                <a:gd name="connsiteY0-22" fmla="*/ 1080310 h 1159147"/>
                <a:gd name="connsiteX1-23" fmla="*/ 1187831 w 1187831"/>
                <a:gd name="connsiteY1-24" fmla="*/ 0 h 1159147"/>
                <a:gd name="connsiteX2-25" fmla="*/ 1183895 w 1187831"/>
                <a:gd name="connsiteY2-26" fmla="*/ 566304 h 1159147"/>
                <a:gd name="connsiteX3-27" fmla="*/ 0 w 1187831"/>
                <a:gd name="connsiteY3-28" fmla="*/ 1159147 h 1159147"/>
                <a:gd name="connsiteX4-29" fmla="*/ 13179 w 1187831"/>
                <a:gd name="connsiteY4-30" fmla="*/ 1080310 h 1159147"/>
                <a:gd name="connsiteX0-31" fmla="*/ 955 w 1175607"/>
                <a:gd name="connsiteY0-32" fmla="*/ 1080310 h 1134698"/>
                <a:gd name="connsiteX1-33" fmla="*/ 1175607 w 1175607"/>
                <a:gd name="connsiteY1-34" fmla="*/ 0 h 1134698"/>
                <a:gd name="connsiteX2-35" fmla="*/ 1171671 w 1175607"/>
                <a:gd name="connsiteY2-36" fmla="*/ 566304 h 1134698"/>
                <a:gd name="connsiteX3-37" fmla="*/ 0 w 1175607"/>
                <a:gd name="connsiteY3-38" fmla="*/ 1134698 h 1134698"/>
                <a:gd name="connsiteX4-39" fmla="*/ 955 w 1175607"/>
                <a:gd name="connsiteY4-40" fmla="*/ 1080310 h 1134698"/>
                <a:gd name="connsiteX0-41" fmla="*/ 10 w 1181997"/>
                <a:gd name="connsiteY0-42" fmla="*/ 1082755 h 1134698"/>
                <a:gd name="connsiteX1-43" fmla="*/ 1181997 w 1181997"/>
                <a:gd name="connsiteY1-44" fmla="*/ 0 h 1134698"/>
                <a:gd name="connsiteX2-45" fmla="*/ 1178061 w 1181997"/>
                <a:gd name="connsiteY2-46" fmla="*/ 566304 h 1134698"/>
                <a:gd name="connsiteX3-47" fmla="*/ 6390 w 1181997"/>
                <a:gd name="connsiteY3-48" fmla="*/ 1134698 h 1134698"/>
                <a:gd name="connsiteX4-49" fmla="*/ 10 w 1181997"/>
                <a:gd name="connsiteY4-50" fmla="*/ 1082755 h 1134698"/>
                <a:gd name="connsiteX0-51" fmla="*/ 32 w 1182019"/>
                <a:gd name="connsiteY0-52" fmla="*/ 1082755 h 1134698"/>
                <a:gd name="connsiteX1-53" fmla="*/ 1182019 w 1182019"/>
                <a:gd name="connsiteY1-54" fmla="*/ 0 h 1134698"/>
                <a:gd name="connsiteX2-55" fmla="*/ 1178083 w 1182019"/>
                <a:gd name="connsiteY2-56" fmla="*/ 566304 h 1134698"/>
                <a:gd name="connsiteX3-57" fmla="*/ 1522 w 1182019"/>
                <a:gd name="connsiteY3-58" fmla="*/ 1134698 h 1134698"/>
                <a:gd name="connsiteX4-59" fmla="*/ 32 w 1182019"/>
                <a:gd name="connsiteY4-60" fmla="*/ 1082755 h 1134698"/>
                <a:gd name="connsiteX0-61" fmla="*/ 32 w 1182019"/>
                <a:gd name="connsiteY0-62" fmla="*/ 1082755 h 1134698"/>
                <a:gd name="connsiteX1-63" fmla="*/ 1182019 w 1182019"/>
                <a:gd name="connsiteY1-64" fmla="*/ 0 h 1134698"/>
                <a:gd name="connsiteX2-65" fmla="*/ 1173193 w 1182019"/>
                <a:gd name="connsiteY2-66" fmla="*/ 573639 h 1134698"/>
                <a:gd name="connsiteX3-67" fmla="*/ 1522 w 1182019"/>
                <a:gd name="connsiteY3-68" fmla="*/ 1134698 h 1134698"/>
                <a:gd name="connsiteX4-69" fmla="*/ 32 w 1182019"/>
                <a:gd name="connsiteY4-70" fmla="*/ 1082755 h 1134698"/>
                <a:gd name="connsiteX0-71" fmla="*/ 32 w 1182019"/>
                <a:gd name="connsiteY0-72" fmla="*/ 1082755 h 1134698"/>
                <a:gd name="connsiteX1-73" fmla="*/ 1182019 w 1182019"/>
                <a:gd name="connsiteY1-74" fmla="*/ 0 h 1134698"/>
                <a:gd name="connsiteX2-75" fmla="*/ 1175638 w 1182019"/>
                <a:gd name="connsiteY2-76" fmla="*/ 573639 h 1134698"/>
                <a:gd name="connsiteX3-77" fmla="*/ 1522 w 1182019"/>
                <a:gd name="connsiteY3-78" fmla="*/ 1134698 h 1134698"/>
                <a:gd name="connsiteX4-79" fmla="*/ 32 w 1182019"/>
                <a:gd name="connsiteY4-80" fmla="*/ 1082755 h 1134698"/>
                <a:gd name="connsiteX0-81" fmla="*/ 32 w 1182972"/>
                <a:gd name="connsiteY0-82" fmla="*/ 1082755 h 1134698"/>
                <a:gd name="connsiteX1-83" fmla="*/ 1182019 w 1182972"/>
                <a:gd name="connsiteY1-84" fmla="*/ 0 h 1134698"/>
                <a:gd name="connsiteX2-85" fmla="*/ 1182972 w 1182972"/>
                <a:gd name="connsiteY2-86" fmla="*/ 573639 h 1134698"/>
                <a:gd name="connsiteX3-87" fmla="*/ 1522 w 1182972"/>
                <a:gd name="connsiteY3-88" fmla="*/ 1134698 h 1134698"/>
                <a:gd name="connsiteX4-89" fmla="*/ 32 w 1182972"/>
                <a:gd name="connsiteY4-90" fmla="*/ 1082755 h 1134698"/>
                <a:gd name="connsiteX0-91" fmla="*/ 32 w 1182972"/>
                <a:gd name="connsiteY0-92" fmla="*/ 1082755 h 1134698"/>
                <a:gd name="connsiteX1-93" fmla="*/ 1182019 w 1182972"/>
                <a:gd name="connsiteY1-94" fmla="*/ 0 h 1134698"/>
                <a:gd name="connsiteX2-95" fmla="*/ 1182972 w 1182972"/>
                <a:gd name="connsiteY2-96" fmla="*/ 578973 h 1134698"/>
                <a:gd name="connsiteX3-97" fmla="*/ 1522 w 1182972"/>
                <a:gd name="connsiteY3-98" fmla="*/ 1134698 h 1134698"/>
                <a:gd name="connsiteX4-99" fmla="*/ 32 w 1182972"/>
                <a:gd name="connsiteY4-100" fmla="*/ 1082755 h 11346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82972" h="1134698">
                  <a:moveTo>
                    <a:pt x="32" y="1082755"/>
                  </a:moveTo>
                  <a:lnTo>
                    <a:pt x="1182019" y="0"/>
                  </a:lnTo>
                  <a:cubicBezTo>
                    <a:pt x="1182337" y="191213"/>
                    <a:pt x="1182654" y="387760"/>
                    <a:pt x="1182972" y="578973"/>
                  </a:cubicBezTo>
                  <a:lnTo>
                    <a:pt x="1522" y="1134698"/>
                  </a:lnTo>
                  <a:cubicBezTo>
                    <a:pt x="1840" y="1116569"/>
                    <a:pt x="-286" y="1100884"/>
                    <a:pt x="32" y="108275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6" name="小红书平北职场PPT2-3"/>
            <p:cNvSpPr/>
            <p:nvPr/>
          </p:nvSpPr>
          <p:spPr>
            <a:xfrm flipH="1">
              <a:off x="7338254" y="3326488"/>
              <a:ext cx="873278" cy="761246"/>
            </a:xfrm>
            <a:custGeom>
              <a:avLst/>
              <a:gdLst>
                <a:gd name="connsiteX0" fmla="*/ 0 w 1182941"/>
                <a:gd name="connsiteY0" fmla="*/ 339925 h 571075"/>
                <a:gd name="connsiteX1" fmla="*/ 1182941 w 1182941"/>
                <a:gd name="connsiteY1" fmla="*/ 571075 h 571075"/>
                <a:gd name="connsiteX2" fmla="*/ 1182941 w 1182941"/>
                <a:gd name="connsiteY2" fmla="*/ 0 h 571075"/>
                <a:gd name="connsiteX3" fmla="*/ 0 w 1182941"/>
                <a:gd name="connsiteY3" fmla="*/ 339925 h 571075"/>
                <a:gd name="connsiteX0-1" fmla="*/ 0 w 1182941"/>
                <a:gd name="connsiteY0-2" fmla="*/ 259242 h 571075"/>
                <a:gd name="connsiteX1-3" fmla="*/ 1182941 w 1182941"/>
                <a:gd name="connsiteY1-4" fmla="*/ 571075 h 571075"/>
                <a:gd name="connsiteX2-5" fmla="*/ 1182941 w 1182941"/>
                <a:gd name="connsiteY2-6" fmla="*/ 0 h 571075"/>
                <a:gd name="connsiteX3-7" fmla="*/ 0 w 1182941"/>
                <a:gd name="connsiteY3-8" fmla="*/ 259242 h 571075"/>
                <a:gd name="connsiteX0-9" fmla="*/ 576 w 1183517"/>
                <a:gd name="connsiteY0-10" fmla="*/ 259242 h 571075"/>
                <a:gd name="connsiteX1-11" fmla="*/ 9283 w 1183517"/>
                <a:gd name="connsiteY1-12" fmla="*/ 305851 h 571075"/>
                <a:gd name="connsiteX2-13" fmla="*/ 1183517 w 1183517"/>
                <a:gd name="connsiteY2-14" fmla="*/ 571075 h 571075"/>
                <a:gd name="connsiteX3-15" fmla="*/ 1183517 w 1183517"/>
                <a:gd name="connsiteY3-16" fmla="*/ 0 h 571075"/>
                <a:gd name="connsiteX4" fmla="*/ 576 w 1183517"/>
                <a:gd name="connsiteY4" fmla="*/ 259242 h 571075"/>
                <a:gd name="connsiteX0-17" fmla="*/ 0 w 1182941"/>
                <a:gd name="connsiteY0-18" fmla="*/ 259242 h 571075"/>
                <a:gd name="connsiteX1-19" fmla="*/ 8707 w 1182941"/>
                <a:gd name="connsiteY1-20" fmla="*/ 305851 h 571075"/>
                <a:gd name="connsiteX2-21" fmla="*/ 1182941 w 1182941"/>
                <a:gd name="connsiteY2-22" fmla="*/ 571075 h 571075"/>
                <a:gd name="connsiteX3-23" fmla="*/ 1182941 w 1182941"/>
                <a:gd name="connsiteY3-24" fmla="*/ 0 h 571075"/>
                <a:gd name="connsiteX4-25" fmla="*/ 0 w 1182941"/>
                <a:gd name="connsiteY4-26" fmla="*/ 259242 h 571075"/>
                <a:gd name="connsiteX0-27" fmla="*/ 0 w 1182941"/>
                <a:gd name="connsiteY0-28" fmla="*/ 259242 h 571075"/>
                <a:gd name="connsiteX1-29" fmla="*/ 8707 w 1182941"/>
                <a:gd name="connsiteY1-30" fmla="*/ 305851 h 571075"/>
                <a:gd name="connsiteX2-31" fmla="*/ 1182941 w 1182941"/>
                <a:gd name="connsiteY2-32" fmla="*/ 571075 h 571075"/>
                <a:gd name="connsiteX3-33" fmla="*/ 1182941 w 1182941"/>
                <a:gd name="connsiteY3-34" fmla="*/ 0 h 571075"/>
                <a:gd name="connsiteX4-35" fmla="*/ 0 w 1182941"/>
                <a:gd name="connsiteY4-36" fmla="*/ 259242 h 571075"/>
                <a:gd name="connsiteX0-37" fmla="*/ 1610 w 1184551"/>
                <a:gd name="connsiteY0-38" fmla="*/ 259242 h 571075"/>
                <a:gd name="connsiteX1-39" fmla="*/ 2982 w 1184551"/>
                <a:gd name="connsiteY1-40" fmla="*/ 303406 h 571075"/>
                <a:gd name="connsiteX2-41" fmla="*/ 1184551 w 1184551"/>
                <a:gd name="connsiteY2-42" fmla="*/ 571075 h 571075"/>
                <a:gd name="connsiteX3-43" fmla="*/ 1184551 w 1184551"/>
                <a:gd name="connsiteY3-44" fmla="*/ 0 h 571075"/>
                <a:gd name="connsiteX4-45" fmla="*/ 1610 w 1184551"/>
                <a:gd name="connsiteY4-46" fmla="*/ 259242 h 571075"/>
                <a:gd name="connsiteX0-47" fmla="*/ 0 w 1182941"/>
                <a:gd name="connsiteY0-48" fmla="*/ 259242 h 571075"/>
                <a:gd name="connsiteX1-49" fmla="*/ 1372 w 1182941"/>
                <a:gd name="connsiteY1-50" fmla="*/ 303406 h 571075"/>
                <a:gd name="connsiteX2-51" fmla="*/ 1182941 w 1182941"/>
                <a:gd name="connsiteY2-52" fmla="*/ 571075 h 571075"/>
                <a:gd name="connsiteX3-53" fmla="*/ 1182941 w 1182941"/>
                <a:gd name="connsiteY3-54" fmla="*/ 0 h 571075"/>
                <a:gd name="connsiteX4-55" fmla="*/ 0 w 1182941"/>
                <a:gd name="connsiteY4-56" fmla="*/ 259242 h 571075"/>
                <a:gd name="connsiteX0-57" fmla="*/ 0 w 1182941"/>
                <a:gd name="connsiteY0-58" fmla="*/ 266577 h 578410"/>
                <a:gd name="connsiteX1-59" fmla="*/ 1372 w 1182941"/>
                <a:gd name="connsiteY1-60" fmla="*/ 310741 h 578410"/>
                <a:gd name="connsiteX2-61" fmla="*/ 1182941 w 1182941"/>
                <a:gd name="connsiteY2-62" fmla="*/ 578410 h 578410"/>
                <a:gd name="connsiteX3-63" fmla="*/ 1180496 w 1182941"/>
                <a:gd name="connsiteY3-64" fmla="*/ 0 h 578410"/>
                <a:gd name="connsiteX4-65" fmla="*/ 0 w 1182941"/>
                <a:gd name="connsiteY4-66" fmla="*/ 266577 h 578410"/>
                <a:gd name="connsiteX0-67" fmla="*/ 0 w 1182941"/>
                <a:gd name="connsiteY0-68" fmla="*/ 266577 h 575743"/>
                <a:gd name="connsiteX1-69" fmla="*/ 1372 w 1182941"/>
                <a:gd name="connsiteY1-70" fmla="*/ 310741 h 575743"/>
                <a:gd name="connsiteX2-71" fmla="*/ 1182941 w 1182941"/>
                <a:gd name="connsiteY2-72" fmla="*/ 575743 h 575743"/>
                <a:gd name="connsiteX3-73" fmla="*/ 1180496 w 1182941"/>
                <a:gd name="connsiteY3-74" fmla="*/ 0 h 575743"/>
                <a:gd name="connsiteX4-75" fmla="*/ 0 w 1182941"/>
                <a:gd name="connsiteY4-76" fmla="*/ 266577 h 575743"/>
                <a:gd name="connsiteX0-77" fmla="*/ 0 w 1182941"/>
                <a:gd name="connsiteY0-78" fmla="*/ 261965 h 575743"/>
                <a:gd name="connsiteX1-79" fmla="*/ 1372 w 1182941"/>
                <a:gd name="connsiteY1-80" fmla="*/ 310741 h 575743"/>
                <a:gd name="connsiteX2-81" fmla="*/ 1182941 w 1182941"/>
                <a:gd name="connsiteY2-82" fmla="*/ 575743 h 575743"/>
                <a:gd name="connsiteX3-83" fmla="*/ 1180496 w 1182941"/>
                <a:gd name="connsiteY3-84" fmla="*/ 0 h 575743"/>
                <a:gd name="connsiteX4-85" fmla="*/ 0 w 1182941"/>
                <a:gd name="connsiteY4-86" fmla="*/ 261965 h 575743"/>
                <a:gd name="connsiteX0-87" fmla="*/ 0 w 1182941"/>
                <a:gd name="connsiteY0-88" fmla="*/ 261965 h 575743"/>
                <a:gd name="connsiteX1-89" fmla="*/ 1372 w 1182941"/>
                <a:gd name="connsiteY1-90" fmla="*/ 317659 h 575743"/>
                <a:gd name="connsiteX2-91" fmla="*/ 1182941 w 1182941"/>
                <a:gd name="connsiteY2-92" fmla="*/ 575743 h 575743"/>
                <a:gd name="connsiteX3-93" fmla="*/ 1180496 w 1182941"/>
                <a:gd name="connsiteY3-94" fmla="*/ 0 h 575743"/>
                <a:gd name="connsiteX4-95" fmla="*/ 0 w 1182941"/>
                <a:gd name="connsiteY4-96" fmla="*/ 261965 h 575743"/>
                <a:gd name="connsiteX0-97" fmla="*/ 966 w 1181569"/>
                <a:gd name="connsiteY0-98" fmla="*/ 261965 h 575743"/>
                <a:gd name="connsiteX1-99" fmla="*/ 0 w 1181569"/>
                <a:gd name="connsiteY1-100" fmla="*/ 317659 h 575743"/>
                <a:gd name="connsiteX2-101" fmla="*/ 1181569 w 1181569"/>
                <a:gd name="connsiteY2-102" fmla="*/ 575743 h 575743"/>
                <a:gd name="connsiteX3-103" fmla="*/ 1179124 w 1181569"/>
                <a:gd name="connsiteY3-104" fmla="*/ 0 h 575743"/>
                <a:gd name="connsiteX4-105" fmla="*/ 966 w 1181569"/>
                <a:gd name="connsiteY4-106" fmla="*/ 261965 h 575743"/>
                <a:gd name="connsiteX0-107" fmla="*/ 966 w 1181569"/>
                <a:gd name="connsiteY0-108" fmla="*/ 261965 h 575743"/>
                <a:gd name="connsiteX1-109" fmla="*/ 0 w 1181569"/>
                <a:gd name="connsiteY1-110" fmla="*/ 317659 h 575743"/>
                <a:gd name="connsiteX2-111" fmla="*/ 1181569 w 1181569"/>
                <a:gd name="connsiteY2-112" fmla="*/ 575743 h 575743"/>
                <a:gd name="connsiteX3-113" fmla="*/ 1179124 w 1181569"/>
                <a:gd name="connsiteY3-114" fmla="*/ 0 h 575743"/>
                <a:gd name="connsiteX4-115" fmla="*/ 966 w 1181569"/>
                <a:gd name="connsiteY4-116" fmla="*/ 261965 h 575743"/>
                <a:gd name="connsiteX0-117" fmla="*/ 1982 w 1182585"/>
                <a:gd name="connsiteY0-118" fmla="*/ 261965 h 575743"/>
                <a:gd name="connsiteX1-119" fmla="*/ 1016 w 1182585"/>
                <a:gd name="connsiteY1-120" fmla="*/ 317659 h 575743"/>
                <a:gd name="connsiteX2-121" fmla="*/ 1182585 w 1182585"/>
                <a:gd name="connsiteY2-122" fmla="*/ 575743 h 575743"/>
                <a:gd name="connsiteX3-123" fmla="*/ 1180140 w 1182585"/>
                <a:gd name="connsiteY3-124" fmla="*/ 0 h 575743"/>
                <a:gd name="connsiteX4-125" fmla="*/ 1982 w 1182585"/>
                <a:gd name="connsiteY4-126" fmla="*/ 261965 h 575743"/>
                <a:gd name="connsiteX0-127" fmla="*/ 2423 w 1183026"/>
                <a:gd name="connsiteY0-128" fmla="*/ 261965 h 575743"/>
                <a:gd name="connsiteX1-129" fmla="*/ 1457 w 1183026"/>
                <a:gd name="connsiteY1-130" fmla="*/ 317659 h 575743"/>
                <a:gd name="connsiteX2-131" fmla="*/ 1183026 w 1183026"/>
                <a:gd name="connsiteY2-132" fmla="*/ 575743 h 575743"/>
                <a:gd name="connsiteX3-133" fmla="*/ 1180581 w 1183026"/>
                <a:gd name="connsiteY3-134" fmla="*/ 0 h 575743"/>
                <a:gd name="connsiteX4-135" fmla="*/ 2423 w 1183026"/>
                <a:gd name="connsiteY4-136" fmla="*/ 261965 h 575743"/>
                <a:gd name="connsiteX0-137" fmla="*/ 1940 w 1182543"/>
                <a:gd name="connsiteY0-138" fmla="*/ 261965 h 575743"/>
                <a:gd name="connsiteX1-139" fmla="*/ 3312 w 1182543"/>
                <a:gd name="connsiteY1-140" fmla="*/ 317659 h 575743"/>
                <a:gd name="connsiteX2-141" fmla="*/ 1182543 w 1182543"/>
                <a:gd name="connsiteY2-142" fmla="*/ 575743 h 575743"/>
                <a:gd name="connsiteX3-143" fmla="*/ 1180098 w 1182543"/>
                <a:gd name="connsiteY3-144" fmla="*/ 0 h 575743"/>
                <a:gd name="connsiteX4-145" fmla="*/ 1940 w 1182543"/>
                <a:gd name="connsiteY4-146" fmla="*/ 261965 h 575743"/>
                <a:gd name="connsiteX0-147" fmla="*/ 2423 w 1183026"/>
                <a:gd name="connsiteY0-148" fmla="*/ 261965 h 575743"/>
                <a:gd name="connsiteX1-149" fmla="*/ 1457 w 1183026"/>
                <a:gd name="connsiteY1-150" fmla="*/ 315354 h 575743"/>
                <a:gd name="connsiteX2-151" fmla="*/ 1183026 w 1183026"/>
                <a:gd name="connsiteY2-152" fmla="*/ 575743 h 575743"/>
                <a:gd name="connsiteX3-153" fmla="*/ 1180581 w 1183026"/>
                <a:gd name="connsiteY3-154" fmla="*/ 0 h 575743"/>
                <a:gd name="connsiteX4-155" fmla="*/ 2423 w 1183026"/>
                <a:gd name="connsiteY4-156" fmla="*/ 261965 h 575743"/>
              </a:gdLst>
              <a:ahLst/>
              <a:cxnLst>
                <a:cxn ang="0">
                  <a:pos x="connsiteX0-1" y="connsiteY0-2"/>
                </a:cxn>
                <a:cxn ang="0">
                  <a:pos x="connsiteX1-3" y="connsiteY1-4"/>
                </a:cxn>
                <a:cxn ang="0">
                  <a:pos x="connsiteX2-5" y="connsiteY2-6"/>
                </a:cxn>
                <a:cxn ang="0">
                  <a:pos x="connsiteX3-7" y="connsiteY3-8"/>
                </a:cxn>
                <a:cxn ang="0">
                  <a:pos x="connsiteX4-25" y="connsiteY4-26"/>
                </a:cxn>
              </a:cxnLst>
              <a:rect l="l" t="t" r="r" b="b"/>
              <a:pathLst>
                <a:path w="1183026" h="575743">
                  <a:moveTo>
                    <a:pt x="2423" y="261965"/>
                  </a:moveTo>
                  <a:cubicBezTo>
                    <a:pt x="-3106" y="295430"/>
                    <a:pt x="2736" y="276999"/>
                    <a:pt x="1457" y="315354"/>
                  </a:cubicBezTo>
                  <a:lnTo>
                    <a:pt x="1183026" y="575743"/>
                  </a:lnTo>
                  <a:lnTo>
                    <a:pt x="1180581" y="0"/>
                  </a:lnTo>
                  <a:lnTo>
                    <a:pt x="2423" y="2619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7" name="小红书平北职场PPT2-4"/>
            <p:cNvSpPr/>
            <p:nvPr/>
          </p:nvSpPr>
          <p:spPr>
            <a:xfrm flipH="1" flipV="1">
              <a:off x="7338253" y="3868580"/>
              <a:ext cx="871725" cy="2582280"/>
            </a:xfrm>
            <a:custGeom>
              <a:avLst/>
              <a:gdLst>
                <a:gd name="connsiteX0" fmla="*/ 0 w 1177747"/>
                <a:gd name="connsiteY0" fmla="*/ 1945843 h 1945843"/>
                <a:gd name="connsiteX1" fmla="*/ 1177747 w 1177747"/>
                <a:gd name="connsiteY1" fmla="*/ 0 h 1945843"/>
                <a:gd name="connsiteX2" fmla="*/ 1177747 w 1177747"/>
                <a:gd name="connsiteY2" fmla="*/ 563270 h 1945843"/>
                <a:gd name="connsiteX3" fmla="*/ 0 w 1177747"/>
                <a:gd name="connsiteY3" fmla="*/ 1945843 h 1945843"/>
                <a:gd name="connsiteX0-1" fmla="*/ 0 w 1177747"/>
                <a:gd name="connsiteY0-2" fmla="*/ 1945843 h 2001427"/>
                <a:gd name="connsiteX1-3" fmla="*/ 1177747 w 1177747"/>
                <a:gd name="connsiteY1-4" fmla="*/ 0 h 2001427"/>
                <a:gd name="connsiteX2-5" fmla="*/ 1177747 w 1177747"/>
                <a:gd name="connsiteY2-6" fmla="*/ 563270 h 2001427"/>
                <a:gd name="connsiteX3-7" fmla="*/ 4432 w 1177747"/>
                <a:gd name="connsiteY3-8" fmla="*/ 2001427 h 2001427"/>
                <a:gd name="connsiteX4" fmla="*/ 0 w 1177747"/>
                <a:gd name="connsiteY4" fmla="*/ 1945843 h 2001427"/>
                <a:gd name="connsiteX0-9" fmla="*/ 0 w 1177747"/>
                <a:gd name="connsiteY0-10" fmla="*/ 1905052 h 2001427"/>
                <a:gd name="connsiteX1-11" fmla="*/ 1177747 w 1177747"/>
                <a:gd name="connsiteY1-12" fmla="*/ 0 h 2001427"/>
                <a:gd name="connsiteX2-13" fmla="*/ 1177747 w 1177747"/>
                <a:gd name="connsiteY2-14" fmla="*/ 563270 h 2001427"/>
                <a:gd name="connsiteX3-15" fmla="*/ 4432 w 1177747"/>
                <a:gd name="connsiteY3-16" fmla="*/ 2001427 h 2001427"/>
                <a:gd name="connsiteX4-17" fmla="*/ 0 w 1177747"/>
                <a:gd name="connsiteY4-18" fmla="*/ 1905052 h 2001427"/>
                <a:gd name="connsiteX0-19" fmla="*/ 0 w 1177747"/>
                <a:gd name="connsiteY0-20" fmla="*/ 1905052 h 1967434"/>
                <a:gd name="connsiteX1-21" fmla="*/ 1177747 w 1177747"/>
                <a:gd name="connsiteY1-22" fmla="*/ 0 h 1967434"/>
                <a:gd name="connsiteX2-23" fmla="*/ 1177747 w 1177747"/>
                <a:gd name="connsiteY2-24" fmla="*/ 563270 h 1967434"/>
                <a:gd name="connsiteX3-25" fmla="*/ 4432 w 1177747"/>
                <a:gd name="connsiteY3-26" fmla="*/ 1967434 h 1967434"/>
                <a:gd name="connsiteX4-27" fmla="*/ 0 w 1177747"/>
                <a:gd name="connsiteY4-28" fmla="*/ 1905052 h 1967434"/>
                <a:gd name="connsiteX0-29" fmla="*/ 0 w 1181147"/>
                <a:gd name="connsiteY0-30" fmla="*/ 1905052 h 1967434"/>
                <a:gd name="connsiteX1-31" fmla="*/ 1177747 w 1181147"/>
                <a:gd name="connsiteY1-32" fmla="*/ 0 h 1967434"/>
                <a:gd name="connsiteX2-33" fmla="*/ 1181147 w 1181147"/>
                <a:gd name="connsiteY2-34" fmla="*/ 580267 h 1967434"/>
                <a:gd name="connsiteX3-35" fmla="*/ 4432 w 1181147"/>
                <a:gd name="connsiteY3-36" fmla="*/ 1967434 h 1967434"/>
                <a:gd name="connsiteX4-37" fmla="*/ 0 w 1181147"/>
                <a:gd name="connsiteY4-38" fmla="*/ 1905052 h 1967434"/>
                <a:gd name="connsiteX0-39" fmla="*/ 0 w 1181147"/>
                <a:gd name="connsiteY0-40" fmla="*/ 1891455 h 1953837"/>
                <a:gd name="connsiteX1-41" fmla="*/ 1174347 w 1181147"/>
                <a:gd name="connsiteY1-42" fmla="*/ 0 h 1953837"/>
                <a:gd name="connsiteX2-43" fmla="*/ 1181147 w 1181147"/>
                <a:gd name="connsiteY2-44" fmla="*/ 566670 h 1953837"/>
                <a:gd name="connsiteX3-45" fmla="*/ 4432 w 1181147"/>
                <a:gd name="connsiteY3-46" fmla="*/ 1953837 h 1953837"/>
                <a:gd name="connsiteX4-47" fmla="*/ 0 w 1181147"/>
                <a:gd name="connsiteY4-48" fmla="*/ 1891455 h 1953837"/>
                <a:gd name="connsiteX0-49" fmla="*/ 0 w 1184694"/>
                <a:gd name="connsiteY0-50" fmla="*/ 1891455 h 1953837"/>
                <a:gd name="connsiteX1-51" fmla="*/ 1184544 w 1184694"/>
                <a:gd name="connsiteY1-52" fmla="*/ 0 h 1953837"/>
                <a:gd name="connsiteX2-53" fmla="*/ 1181147 w 1184694"/>
                <a:gd name="connsiteY2-54" fmla="*/ 566670 h 1953837"/>
                <a:gd name="connsiteX3-55" fmla="*/ 4432 w 1184694"/>
                <a:gd name="connsiteY3-56" fmla="*/ 1953837 h 1953837"/>
                <a:gd name="connsiteX4-57" fmla="*/ 0 w 1184694"/>
                <a:gd name="connsiteY4-58" fmla="*/ 1891455 h 1953837"/>
                <a:gd name="connsiteX0-59" fmla="*/ 0 w 1184694"/>
                <a:gd name="connsiteY0-60" fmla="*/ 1891455 h 1953837"/>
                <a:gd name="connsiteX1-61" fmla="*/ 1184544 w 1184694"/>
                <a:gd name="connsiteY1-62" fmla="*/ 0 h 1953837"/>
                <a:gd name="connsiteX2-63" fmla="*/ 1181147 w 1184694"/>
                <a:gd name="connsiteY2-64" fmla="*/ 573468 h 1953837"/>
                <a:gd name="connsiteX3-65" fmla="*/ 4432 w 1184694"/>
                <a:gd name="connsiteY3-66" fmla="*/ 1953837 h 1953837"/>
                <a:gd name="connsiteX4-67" fmla="*/ 0 w 1184694"/>
                <a:gd name="connsiteY4-68" fmla="*/ 1891455 h 1953837"/>
                <a:gd name="connsiteX0-69" fmla="*/ 457 w 1180262"/>
                <a:gd name="connsiteY0-70" fmla="*/ 1903679 h 1953837"/>
                <a:gd name="connsiteX1-71" fmla="*/ 1180112 w 1180262"/>
                <a:gd name="connsiteY1-72" fmla="*/ 0 h 1953837"/>
                <a:gd name="connsiteX2-73" fmla="*/ 1176715 w 1180262"/>
                <a:gd name="connsiteY2-74" fmla="*/ 573468 h 1953837"/>
                <a:gd name="connsiteX3-75" fmla="*/ 0 w 1180262"/>
                <a:gd name="connsiteY3-76" fmla="*/ 1953837 h 1953837"/>
                <a:gd name="connsiteX4-77" fmla="*/ 457 w 1180262"/>
                <a:gd name="connsiteY4-78" fmla="*/ 1903679 h 1953837"/>
                <a:gd name="connsiteX0-79" fmla="*/ 457 w 1183065"/>
                <a:gd name="connsiteY0-80" fmla="*/ 1903679 h 1953837"/>
                <a:gd name="connsiteX1-81" fmla="*/ 1180112 w 1183065"/>
                <a:gd name="connsiteY1-82" fmla="*/ 0 h 1953837"/>
                <a:gd name="connsiteX2-83" fmla="*/ 1183065 w 1183065"/>
                <a:gd name="connsiteY2-84" fmla="*/ 560768 h 1953837"/>
                <a:gd name="connsiteX3-85" fmla="*/ 0 w 1183065"/>
                <a:gd name="connsiteY3-86" fmla="*/ 1953837 h 1953837"/>
                <a:gd name="connsiteX4-87" fmla="*/ 457 w 1183065"/>
                <a:gd name="connsiteY4-88" fmla="*/ 1903679 h 1953837"/>
                <a:gd name="connsiteX0-89" fmla="*/ 457 w 1186612"/>
                <a:gd name="connsiteY0-90" fmla="*/ 1903679 h 1953837"/>
                <a:gd name="connsiteX1-91" fmla="*/ 1186462 w 1186612"/>
                <a:gd name="connsiteY1-92" fmla="*/ 0 h 1953837"/>
                <a:gd name="connsiteX2-93" fmla="*/ 1183065 w 1186612"/>
                <a:gd name="connsiteY2-94" fmla="*/ 560768 h 1953837"/>
                <a:gd name="connsiteX3-95" fmla="*/ 0 w 1186612"/>
                <a:gd name="connsiteY3-96" fmla="*/ 1953837 h 1953837"/>
                <a:gd name="connsiteX4-97" fmla="*/ 457 w 1186612"/>
                <a:gd name="connsiteY4-98" fmla="*/ 1903679 h 1953837"/>
                <a:gd name="connsiteX0-99" fmla="*/ 457 w 1183065"/>
                <a:gd name="connsiteY0-100" fmla="*/ 1903679 h 1953837"/>
                <a:gd name="connsiteX1-101" fmla="*/ 1180112 w 1183065"/>
                <a:gd name="connsiteY1-102" fmla="*/ 0 h 1953837"/>
                <a:gd name="connsiteX2-103" fmla="*/ 1183065 w 1183065"/>
                <a:gd name="connsiteY2-104" fmla="*/ 560768 h 1953837"/>
                <a:gd name="connsiteX3-105" fmla="*/ 0 w 1183065"/>
                <a:gd name="connsiteY3-106" fmla="*/ 1953837 h 1953837"/>
                <a:gd name="connsiteX4-107" fmla="*/ 457 w 1183065"/>
                <a:gd name="connsiteY4-108" fmla="*/ 1903679 h 1953837"/>
                <a:gd name="connsiteX0-109" fmla="*/ 457 w 1183262"/>
                <a:gd name="connsiteY0-110" fmla="*/ 1912094 h 1962252"/>
                <a:gd name="connsiteX1-111" fmla="*/ 1182917 w 1183262"/>
                <a:gd name="connsiteY1-112" fmla="*/ 0 h 1962252"/>
                <a:gd name="connsiteX2-113" fmla="*/ 1183065 w 1183262"/>
                <a:gd name="connsiteY2-114" fmla="*/ 569183 h 1962252"/>
                <a:gd name="connsiteX3-115" fmla="*/ 0 w 1183262"/>
                <a:gd name="connsiteY3-116" fmla="*/ 1962252 h 1962252"/>
                <a:gd name="connsiteX4-117" fmla="*/ 457 w 1183262"/>
                <a:gd name="connsiteY4-118" fmla="*/ 1912094 h 1962252"/>
                <a:gd name="connsiteX0-119" fmla="*/ 457 w 1183262"/>
                <a:gd name="connsiteY0-120" fmla="*/ 1912094 h 1962252"/>
                <a:gd name="connsiteX1-121" fmla="*/ 1182917 w 1183262"/>
                <a:gd name="connsiteY1-122" fmla="*/ 0 h 1962252"/>
                <a:gd name="connsiteX2-123" fmla="*/ 1183065 w 1183262"/>
                <a:gd name="connsiteY2-124" fmla="*/ 574518 h 1962252"/>
                <a:gd name="connsiteX3-125" fmla="*/ 0 w 1183262"/>
                <a:gd name="connsiteY3-126" fmla="*/ 1962252 h 1962252"/>
                <a:gd name="connsiteX4-127" fmla="*/ 457 w 1183262"/>
                <a:gd name="connsiteY4-128" fmla="*/ 1912094 h 1962252"/>
                <a:gd name="connsiteX0-129" fmla="*/ 3 w 1182808"/>
                <a:gd name="connsiteY0-130" fmla="*/ 1912094 h 1946110"/>
                <a:gd name="connsiteX1-131" fmla="*/ 1182463 w 1182808"/>
                <a:gd name="connsiteY1-132" fmla="*/ 0 h 1946110"/>
                <a:gd name="connsiteX2-133" fmla="*/ 1182611 w 1182808"/>
                <a:gd name="connsiteY2-134" fmla="*/ 574518 h 1946110"/>
                <a:gd name="connsiteX3-135" fmla="*/ 6561 w 1182808"/>
                <a:gd name="connsiteY3-136" fmla="*/ 1946110 h 1946110"/>
                <a:gd name="connsiteX4-137" fmla="*/ 3 w 1182808"/>
                <a:gd name="connsiteY4-138" fmla="*/ 1912094 h 1946110"/>
                <a:gd name="connsiteX0-139" fmla="*/ 8 w 1178136"/>
                <a:gd name="connsiteY0-140" fmla="*/ 1895953 h 1946110"/>
                <a:gd name="connsiteX1-141" fmla="*/ 1177791 w 1178136"/>
                <a:gd name="connsiteY1-142" fmla="*/ 0 h 1946110"/>
                <a:gd name="connsiteX2-143" fmla="*/ 1177939 w 1178136"/>
                <a:gd name="connsiteY2-144" fmla="*/ 574518 h 1946110"/>
                <a:gd name="connsiteX3-145" fmla="*/ 1889 w 1178136"/>
                <a:gd name="connsiteY3-146" fmla="*/ 1946110 h 1946110"/>
                <a:gd name="connsiteX4-147" fmla="*/ 8 w 1178136"/>
                <a:gd name="connsiteY4-148" fmla="*/ 1895953 h 1946110"/>
                <a:gd name="connsiteX0-149" fmla="*/ 457 w 1178585"/>
                <a:gd name="connsiteY0-150" fmla="*/ 1895953 h 1953027"/>
                <a:gd name="connsiteX1-151" fmla="*/ 1178240 w 1178585"/>
                <a:gd name="connsiteY1-152" fmla="*/ 0 h 1953027"/>
                <a:gd name="connsiteX2-153" fmla="*/ 1178388 w 1178585"/>
                <a:gd name="connsiteY2-154" fmla="*/ 574518 h 1953027"/>
                <a:gd name="connsiteX3-155" fmla="*/ 0 w 1178585"/>
                <a:gd name="connsiteY3-156" fmla="*/ 1953027 h 1953027"/>
                <a:gd name="connsiteX4-157" fmla="*/ 457 w 1178585"/>
                <a:gd name="connsiteY4-158" fmla="*/ 1895953 h 1953027"/>
                <a:gd name="connsiteX0-159" fmla="*/ 457 w 1178585"/>
                <a:gd name="connsiteY0-160" fmla="*/ 1895953 h 1953027"/>
                <a:gd name="connsiteX1-161" fmla="*/ 1178240 w 1178585"/>
                <a:gd name="connsiteY1-162" fmla="*/ 0 h 1953027"/>
                <a:gd name="connsiteX2-163" fmla="*/ 1178388 w 1178585"/>
                <a:gd name="connsiteY2-164" fmla="*/ 574518 h 1953027"/>
                <a:gd name="connsiteX3-165" fmla="*/ 0 w 1178585"/>
                <a:gd name="connsiteY3-166" fmla="*/ 1953027 h 1953027"/>
                <a:gd name="connsiteX4-167" fmla="*/ 457 w 1178585"/>
                <a:gd name="connsiteY4-168" fmla="*/ 1895953 h 1953027"/>
                <a:gd name="connsiteX0-169" fmla="*/ 2795 w 1180923"/>
                <a:gd name="connsiteY0-170" fmla="*/ 1895953 h 1948415"/>
                <a:gd name="connsiteX1-171" fmla="*/ 1180578 w 1180923"/>
                <a:gd name="connsiteY1-172" fmla="*/ 0 h 1948415"/>
                <a:gd name="connsiteX2-173" fmla="*/ 1180726 w 1180923"/>
                <a:gd name="connsiteY2-174" fmla="*/ 574518 h 1948415"/>
                <a:gd name="connsiteX3-175" fmla="*/ 0 w 1180923"/>
                <a:gd name="connsiteY3-176" fmla="*/ 1948415 h 1948415"/>
                <a:gd name="connsiteX4-177" fmla="*/ 2795 w 1180923"/>
                <a:gd name="connsiteY4-178" fmla="*/ 1895953 h 1948415"/>
                <a:gd name="connsiteX0-179" fmla="*/ 2795 w 1180923"/>
                <a:gd name="connsiteY0-180" fmla="*/ 1895953 h 1953027"/>
                <a:gd name="connsiteX1-181" fmla="*/ 1180578 w 1180923"/>
                <a:gd name="connsiteY1-182" fmla="*/ 0 h 1953027"/>
                <a:gd name="connsiteX2-183" fmla="*/ 1180726 w 1180923"/>
                <a:gd name="connsiteY2-184" fmla="*/ 574518 h 1953027"/>
                <a:gd name="connsiteX3-185" fmla="*/ 0 w 1180923"/>
                <a:gd name="connsiteY3-186" fmla="*/ 1953027 h 1953027"/>
                <a:gd name="connsiteX4-187" fmla="*/ 2795 w 1180923"/>
                <a:gd name="connsiteY4-188" fmla="*/ 1895953 h 1953027"/>
                <a:gd name="connsiteX0-189" fmla="*/ 456 w 1180923"/>
                <a:gd name="connsiteY0-190" fmla="*/ 1895953 h 1953027"/>
                <a:gd name="connsiteX1-191" fmla="*/ 1180578 w 1180923"/>
                <a:gd name="connsiteY1-192" fmla="*/ 0 h 1953027"/>
                <a:gd name="connsiteX2-193" fmla="*/ 1180726 w 1180923"/>
                <a:gd name="connsiteY2-194" fmla="*/ 574518 h 1953027"/>
                <a:gd name="connsiteX3-195" fmla="*/ 0 w 1180923"/>
                <a:gd name="connsiteY3-196" fmla="*/ 1953027 h 1953027"/>
                <a:gd name="connsiteX4-197" fmla="*/ 456 w 1180923"/>
                <a:gd name="connsiteY4-198" fmla="*/ 1895953 h 1953027"/>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1180923" h="1953027">
                  <a:moveTo>
                    <a:pt x="456" y="1895953"/>
                  </a:moveTo>
                  <a:lnTo>
                    <a:pt x="1180578" y="0"/>
                  </a:lnTo>
                  <a:cubicBezTo>
                    <a:pt x="1181711" y="193422"/>
                    <a:pt x="1179593" y="381096"/>
                    <a:pt x="1180726" y="574518"/>
                  </a:cubicBezTo>
                  <a:lnTo>
                    <a:pt x="0" y="1953027"/>
                  </a:lnTo>
                  <a:cubicBezTo>
                    <a:pt x="152" y="1936308"/>
                    <a:pt x="304" y="1912672"/>
                    <a:pt x="456" y="1895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8" name="小红书平北职场PPT2-5"/>
            <p:cNvSpPr/>
            <p:nvPr/>
          </p:nvSpPr>
          <p:spPr>
            <a:xfrm flipH="1" flipV="1">
              <a:off x="7338252" y="3770760"/>
              <a:ext cx="873237" cy="1503816"/>
            </a:xfrm>
            <a:custGeom>
              <a:avLst/>
              <a:gdLst>
                <a:gd name="connsiteX0" fmla="*/ 3399 w 1186340"/>
                <a:gd name="connsiteY0" fmla="*/ 1104759 h 1159147"/>
                <a:gd name="connsiteX1" fmla="*/ 1182941 w 1186340"/>
                <a:gd name="connsiteY1" fmla="*/ 0 h 1159147"/>
                <a:gd name="connsiteX2" fmla="*/ 1186340 w 1186340"/>
                <a:gd name="connsiteY2" fmla="*/ 554079 h 1159147"/>
                <a:gd name="connsiteX3" fmla="*/ 0 w 1186340"/>
                <a:gd name="connsiteY3" fmla="*/ 1159147 h 1159147"/>
                <a:gd name="connsiteX4" fmla="*/ 3399 w 1186340"/>
                <a:gd name="connsiteY4" fmla="*/ 1104759 h 1159147"/>
                <a:gd name="connsiteX0-1" fmla="*/ 3399 w 1187831"/>
                <a:gd name="connsiteY0-2" fmla="*/ 1104759 h 1159147"/>
                <a:gd name="connsiteX1-3" fmla="*/ 1187831 w 1187831"/>
                <a:gd name="connsiteY1-4" fmla="*/ 0 h 1159147"/>
                <a:gd name="connsiteX2-5" fmla="*/ 1186340 w 1187831"/>
                <a:gd name="connsiteY2-6" fmla="*/ 554079 h 1159147"/>
                <a:gd name="connsiteX3-7" fmla="*/ 0 w 1187831"/>
                <a:gd name="connsiteY3-8" fmla="*/ 1159147 h 1159147"/>
                <a:gd name="connsiteX4-9" fmla="*/ 3399 w 1187831"/>
                <a:gd name="connsiteY4-10" fmla="*/ 1104759 h 1159147"/>
                <a:gd name="connsiteX0-11" fmla="*/ 3399 w 1187831"/>
                <a:gd name="connsiteY0-12" fmla="*/ 1104759 h 1159147"/>
                <a:gd name="connsiteX1-13" fmla="*/ 1187831 w 1187831"/>
                <a:gd name="connsiteY1-14" fmla="*/ 0 h 1159147"/>
                <a:gd name="connsiteX2-15" fmla="*/ 1183895 w 1187831"/>
                <a:gd name="connsiteY2-16" fmla="*/ 566304 h 1159147"/>
                <a:gd name="connsiteX3-17" fmla="*/ 0 w 1187831"/>
                <a:gd name="connsiteY3-18" fmla="*/ 1159147 h 1159147"/>
                <a:gd name="connsiteX4-19" fmla="*/ 3399 w 1187831"/>
                <a:gd name="connsiteY4-20" fmla="*/ 1104759 h 1159147"/>
                <a:gd name="connsiteX0-21" fmla="*/ 13179 w 1187831"/>
                <a:gd name="connsiteY0-22" fmla="*/ 1080310 h 1159147"/>
                <a:gd name="connsiteX1-23" fmla="*/ 1187831 w 1187831"/>
                <a:gd name="connsiteY1-24" fmla="*/ 0 h 1159147"/>
                <a:gd name="connsiteX2-25" fmla="*/ 1183895 w 1187831"/>
                <a:gd name="connsiteY2-26" fmla="*/ 566304 h 1159147"/>
                <a:gd name="connsiteX3-27" fmla="*/ 0 w 1187831"/>
                <a:gd name="connsiteY3-28" fmla="*/ 1159147 h 1159147"/>
                <a:gd name="connsiteX4-29" fmla="*/ 13179 w 1187831"/>
                <a:gd name="connsiteY4-30" fmla="*/ 1080310 h 1159147"/>
                <a:gd name="connsiteX0-31" fmla="*/ 955 w 1175607"/>
                <a:gd name="connsiteY0-32" fmla="*/ 1080310 h 1134698"/>
                <a:gd name="connsiteX1-33" fmla="*/ 1175607 w 1175607"/>
                <a:gd name="connsiteY1-34" fmla="*/ 0 h 1134698"/>
                <a:gd name="connsiteX2-35" fmla="*/ 1171671 w 1175607"/>
                <a:gd name="connsiteY2-36" fmla="*/ 566304 h 1134698"/>
                <a:gd name="connsiteX3-37" fmla="*/ 0 w 1175607"/>
                <a:gd name="connsiteY3-38" fmla="*/ 1134698 h 1134698"/>
                <a:gd name="connsiteX4-39" fmla="*/ 955 w 1175607"/>
                <a:gd name="connsiteY4-40" fmla="*/ 1080310 h 1134698"/>
                <a:gd name="connsiteX0-41" fmla="*/ 10 w 1181997"/>
                <a:gd name="connsiteY0-42" fmla="*/ 1082755 h 1134698"/>
                <a:gd name="connsiteX1-43" fmla="*/ 1181997 w 1181997"/>
                <a:gd name="connsiteY1-44" fmla="*/ 0 h 1134698"/>
                <a:gd name="connsiteX2-45" fmla="*/ 1178061 w 1181997"/>
                <a:gd name="connsiteY2-46" fmla="*/ 566304 h 1134698"/>
                <a:gd name="connsiteX3-47" fmla="*/ 6390 w 1181997"/>
                <a:gd name="connsiteY3-48" fmla="*/ 1134698 h 1134698"/>
                <a:gd name="connsiteX4-49" fmla="*/ 10 w 1181997"/>
                <a:gd name="connsiteY4-50" fmla="*/ 1082755 h 1134698"/>
                <a:gd name="connsiteX0-51" fmla="*/ 32 w 1182019"/>
                <a:gd name="connsiteY0-52" fmla="*/ 1082755 h 1134698"/>
                <a:gd name="connsiteX1-53" fmla="*/ 1182019 w 1182019"/>
                <a:gd name="connsiteY1-54" fmla="*/ 0 h 1134698"/>
                <a:gd name="connsiteX2-55" fmla="*/ 1178083 w 1182019"/>
                <a:gd name="connsiteY2-56" fmla="*/ 566304 h 1134698"/>
                <a:gd name="connsiteX3-57" fmla="*/ 1522 w 1182019"/>
                <a:gd name="connsiteY3-58" fmla="*/ 1134698 h 1134698"/>
                <a:gd name="connsiteX4-59" fmla="*/ 32 w 1182019"/>
                <a:gd name="connsiteY4-60" fmla="*/ 1082755 h 1134698"/>
                <a:gd name="connsiteX0-61" fmla="*/ 32 w 1182019"/>
                <a:gd name="connsiteY0-62" fmla="*/ 1082755 h 1134698"/>
                <a:gd name="connsiteX1-63" fmla="*/ 1182019 w 1182019"/>
                <a:gd name="connsiteY1-64" fmla="*/ 0 h 1134698"/>
                <a:gd name="connsiteX2-65" fmla="*/ 1173193 w 1182019"/>
                <a:gd name="connsiteY2-66" fmla="*/ 573639 h 1134698"/>
                <a:gd name="connsiteX3-67" fmla="*/ 1522 w 1182019"/>
                <a:gd name="connsiteY3-68" fmla="*/ 1134698 h 1134698"/>
                <a:gd name="connsiteX4-69" fmla="*/ 32 w 1182019"/>
                <a:gd name="connsiteY4-70" fmla="*/ 1082755 h 1134698"/>
                <a:gd name="connsiteX0-71" fmla="*/ 32 w 1182019"/>
                <a:gd name="connsiteY0-72" fmla="*/ 1082755 h 1134698"/>
                <a:gd name="connsiteX1-73" fmla="*/ 1182019 w 1182019"/>
                <a:gd name="connsiteY1-74" fmla="*/ 0 h 1134698"/>
                <a:gd name="connsiteX2-75" fmla="*/ 1175638 w 1182019"/>
                <a:gd name="connsiteY2-76" fmla="*/ 573639 h 1134698"/>
                <a:gd name="connsiteX3-77" fmla="*/ 1522 w 1182019"/>
                <a:gd name="connsiteY3-78" fmla="*/ 1134698 h 1134698"/>
                <a:gd name="connsiteX4-79" fmla="*/ 32 w 1182019"/>
                <a:gd name="connsiteY4-80" fmla="*/ 1082755 h 1134698"/>
                <a:gd name="connsiteX0-81" fmla="*/ 32 w 1182972"/>
                <a:gd name="connsiteY0-82" fmla="*/ 1082755 h 1134698"/>
                <a:gd name="connsiteX1-83" fmla="*/ 1182019 w 1182972"/>
                <a:gd name="connsiteY1-84" fmla="*/ 0 h 1134698"/>
                <a:gd name="connsiteX2-85" fmla="*/ 1182972 w 1182972"/>
                <a:gd name="connsiteY2-86" fmla="*/ 573639 h 1134698"/>
                <a:gd name="connsiteX3-87" fmla="*/ 1522 w 1182972"/>
                <a:gd name="connsiteY3-88" fmla="*/ 1134698 h 1134698"/>
                <a:gd name="connsiteX4-89" fmla="*/ 32 w 1182972"/>
                <a:gd name="connsiteY4-90" fmla="*/ 1082755 h 1134698"/>
                <a:gd name="connsiteX0-91" fmla="*/ 32 w 1182972"/>
                <a:gd name="connsiteY0-92" fmla="*/ 1085422 h 1137365"/>
                <a:gd name="connsiteX1-93" fmla="*/ 1182019 w 1182972"/>
                <a:gd name="connsiteY1-94" fmla="*/ 0 h 1137365"/>
                <a:gd name="connsiteX2-95" fmla="*/ 1182972 w 1182972"/>
                <a:gd name="connsiteY2-96" fmla="*/ 576306 h 1137365"/>
                <a:gd name="connsiteX3-97" fmla="*/ 1522 w 1182972"/>
                <a:gd name="connsiteY3-98" fmla="*/ 1137365 h 1137365"/>
                <a:gd name="connsiteX4-99" fmla="*/ 32 w 1182972"/>
                <a:gd name="connsiteY4-100" fmla="*/ 1085422 h 113736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82972" h="1137365">
                  <a:moveTo>
                    <a:pt x="32" y="1085422"/>
                  </a:moveTo>
                  <a:lnTo>
                    <a:pt x="1182019" y="0"/>
                  </a:lnTo>
                  <a:cubicBezTo>
                    <a:pt x="1182337" y="191213"/>
                    <a:pt x="1182654" y="385093"/>
                    <a:pt x="1182972" y="576306"/>
                  </a:cubicBezTo>
                  <a:lnTo>
                    <a:pt x="1522" y="1137365"/>
                  </a:lnTo>
                  <a:cubicBezTo>
                    <a:pt x="1840" y="1119236"/>
                    <a:pt x="-286" y="1103551"/>
                    <a:pt x="32" y="108542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grpSp>
        <p:nvGrpSpPr>
          <p:cNvPr id="5" name="小红书平北职场PPT3"/>
          <p:cNvGrpSpPr/>
          <p:nvPr/>
        </p:nvGrpSpPr>
        <p:grpSpPr>
          <a:xfrm>
            <a:off x="334963" y="184318"/>
            <a:ext cx="11522075" cy="506147"/>
            <a:chOff x="334963" y="184318"/>
            <a:chExt cx="11522075" cy="506147"/>
          </a:xfrm>
        </p:grpSpPr>
        <p:cxnSp>
          <p:nvCxnSpPr>
            <p:cNvPr id="92" name="小红书平北职场PPT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小红书平北职场PPT3-2"/>
            <p:cNvSpPr txBox="1"/>
            <p:nvPr>
              <p:custDataLst>
                <p:tags r:id="rId2"/>
              </p:custDataLst>
            </p:nvPr>
          </p:nvSpPr>
          <p:spPr>
            <a:xfrm>
              <a:off x="334963" y="184318"/>
              <a:ext cx="5386090"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项目深化五大举措及取得两项成果</a:t>
              </a:r>
              <a:endParaRPr lang="zh-CN" altLang="en-US" sz="2800" dirty="0">
                <a:latin typeface="+mj-ea"/>
                <a:ea typeface="+mj-ea"/>
                <a:cs typeface="思源黑体 CN Normal" panose="020B0400000000000000" pitchFamily="34" charset="-122"/>
                <a:sym typeface="+mj-ea"/>
              </a:endParaRPr>
            </a:p>
          </p:txBody>
        </p:sp>
      </p:grpSp>
      <p:grpSp>
        <p:nvGrpSpPr>
          <p:cNvPr id="6" name="小红书平北职场PPT4"/>
          <p:cNvGrpSpPr/>
          <p:nvPr/>
        </p:nvGrpSpPr>
        <p:grpSpPr>
          <a:xfrm>
            <a:off x="8652863" y="2882353"/>
            <a:ext cx="3075014" cy="1537028"/>
            <a:chOff x="7874255" y="2379029"/>
            <a:chExt cx="4885808" cy="2442142"/>
          </a:xfrm>
        </p:grpSpPr>
        <p:grpSp>
          <p:nvGrpSpPr>
            <p:cNvPr id="79" name="Group 17"/>
            <p:cNvGrpSpPr/>
            <p:nvPr/>
          </p:nvGrpSpPr>
          <p:grpSpPr>
            <a:xfrm rot="10800000">
              <a:off x="10317919" y="2379029"/>
              <a:ext cx="2442144" cy="2442142"/>
              <a:chOff x="6876255" y="3063515"/>
              <a:chExt cx="1944216" cy="1944215"/>
            </a:xfrm>
            <a:scene3d>
              <a:camera prst="perspectiveLeft">
                <a:rot lat="0" lon="17700000" rev="0"/>
              </a:camera>
              <a:lightRig rig="threePt" dir="t"/>
            </a:scene3d>
          </p:grpSpPr>
          <p:sp>
            <p:nvSpPr>
              <p:cNvPr id="89" name="小红书平北职场PPT4-1"/>
              <p:cNvSpPr/>
              <p:nvPr/>
            </p:nvSpPr>
            <p:spPr>
              <a:xfrm>
                <a:off x="6876255" y="3063515"/>
                <a:ext cx="1944216" cy="1944215"/>
              </a:xfrm>
              <a:prstGeom prst="ellipse">
                <a:avLst/>
              </a:prstGeom>
              <a:solidFill>
                <a:schemeClr val="bg1"/>
              </a:solidFill>
              <a:ln w="165100">
                <a:solidFill>
                  <a:schemeClr val="tx1">
                    <a:lumMod val="85000"/>
                    <a:lumOff val="15000"/>
                  </a:schemeClr>
                </a:solidFill>
              </a:ln>
              <a:sp3d extrusionH="171450" contourW="12700">
                <a:extrusionClr>
                  <a:schemeClr val="bg1"/>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0" name="小红书平北职场PPT4-2"/>
              <p:cNvSpPr/>
              <p:nvPr/>
            </p:nvSpPr>
            <p:spPr>
              <a:xfrm>
                <a:off x="7165756" y="3353018"/>
                <a:ext cx="1365211" cy="1365210"/>
              </a:xfrm>
              <a:prstGeom prst="ellipse">
                <a:avLst/>
              </a:prstGeom>
              <a:solidFill>
                <a:schemeClr val="bg1"/>
              </a:solidFill>
              <a:ln w="165100">
                <a:solidFill>
                  <a:schemeClr val="tx1">
                    <a:lumMod val="85000"/>
                    <a:lumOff val="15000"/>
                  </a:schemeClr>
                </a:solidFill>
              </a:ln>
              <a:sp3d extrusionH="171450" contourW="12700">
                <a:extrusionClr>
                  <a:schemeClr val="bg1"/>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1" name="小红书平北职场PPT4-3"/>
              <p:cNvSpPr/>
              <p:nvPr/>
            </p:nvSpPr>
            <p:spPr>
              <a:xfrm>
                <a:off x="7487072" y="3674335"/>
                <a:ext cx="722583" cy="722582"/>
              </a:xfrm>
              <a:prstGeom prst="ellipse">
                <a:avLst/>
              </a:prstGeom>
              <a:solidFill>
                <a:schemeClr val="accent4"/>
              </a:solidFill>
              <a:ln w="165100">
                <a:solidFill>
                  <a:schemeClr val="tx1">
                    <a:lumMod val="85000"/>
                    <a:lumOff val="15000"/>
                  </a:schemeClr>
                </a:solidFill>
              </a:ln>
              <a:sp3d extrusionH="171450" contourW="12700">
                <a:extrusionClr>
                  <a:schemeClr val="bg1"/>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grpSp>
          <p:nvGrpSpPr>
            <p:cNvPr id="80" name="Group 37"/>
            <p:cNvGrpSpPr/>
            <p:nvPr/>
          </p:nvGrpSpPr>
          <p:grpSpPr>
            <a:xfrm flipH="1">
              <a:off x="7874255" y="2853902"/>
              <a:ext cx="3664737" cy="1545687"/>
              <a:chOff x="903885" y="3331350"/>
              <a:chExt cx="3091730" cy="1304009"/>
            </a:xfrm>
          </p:grpSpPr>
          <p:sp>
            <p:nvSpPr>
              <p:cNvPr id="81" name="小红书平北职场PPT4-4"/>
              <p:cNvSpPr/>
              <p:nvPr/>
            </p:nvSpPr>
            <p:spPr>
              <a:xfrm>
                <a:off x="903885" y="3968006"/>
                <a:ext cx="704227" cy="36000"/>
              </a:xfrm>
              <a:custGeom>
                <a:avLst/>
                <a:gdLst/>
                <a:ahLst/>
                <a:cxnLst/>
                <a:rect l="l" t="t" r="r" b="b"/>
                <a:pathLst>
                  <a:path w="704227" h="36000">
                    <a:moveTo>
                      <a:pt x="0" y="0"/>
                    </a:moveTo>
                    <a:lnTo>
                      <a:pt x="704227" y="0"/>
                    </a:lnTo>
                    <a:lnTo>
                      <a:pt x="704227" y="36000"/>
                    </a:lnTo>
                    <a:lnTo>
                      <a:pt x="0" y="360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nvGrpSpPr>
              <p:cNvPr id="82" name="Group 39"/>
              <p:cNvGrpSpPr/>
              <p:nvPr/>
            </p:nvGrpSpPr>
            <p:grpSpPr>
              <a:xfrm>
                <a:off x="1475657" y="3331350"/>
                <a:ext cx="2519958" cy="1304009"/>
                <a:chOff x="1475656" y="3331350"/>
                <a:chExt cx="2519959" cy="1304009"/>
              </a:xfrm>
            </p:grpSpPr>
            <p:sp>
              <p:nvSpPr>
                <p:cNvPr id="83" name="小红书平北职场PPT4-5"/>
                <p:cNvSpPr/>
                <p:nvPr/>
              </p:nvSpPr>
              <p:spPr>
                <a:xfrm rot="10680000" flipH="1">
                  <a:off x="2793780" y="4038224"/>
                  <a:ext cx="1201835" cy="597135"/>
                </a:xfrm>
                <a:prstGeom prst="parallelogram">
                  <a:avLst>
                    <a:gd name="adj" fmla="val 62269"/>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84" name="小红书平北职场PPT4-6"/>
                <p:cNvSpPr/>
                <p:nvPr/>
              </p:nvSpPr>
              <p:spPr>
                <a:xfrm rot="10920000">
                  <a:off x="2793780" y="3331350"/>
                  <a:ext cx="1201835" cy="597135"/>
                </a:xfrm>
                <a:prstGeom prst="parallelogram">
                  <a:avLst>
                    <a:gd name="adj" fmla="val 62269"/>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grpSp>
              <p:nvGrpSpPr>
                <p:cNvPr id="85" name="Group 42"/>
                <p:cNvGrpSpPr/>
                <p:nvPr/>
              </p:nvGrpSpPr>
              <p:grpSpPr>
                <a:xfrm>
                  <a:off x="1475656" y="3862961"/>
                  <a:ext cx="2152334" cy="246090"/>
                  <a:chOff x="1688158" y="3440846"/>
                  <a:chExt cx="1659706" cy="379529"/>
                </a:xfrm>
              </p:grpSpPr>
              <p:sp>
                <p:nvSpPr>
                  <p:cNvPr id="86" name="小红书平北职场PPT4-7"/>
                  <p:cNvSpPr/>
                  <p:nvPr/>
                </p:nvSpPr>
                <p:spPr>
                  <a:xfrm rot="5400000" flipH="1">
                    <a:off x="2653493" y="3090551"/>
                    <a:ext cx="308621" cy="1080120"/>
                  </a:xfrm>
                  <a:custGeom>
                    <a:avLst/>
                    <a:gdLst/>
                    <a:ahLst/>
                    <a:cxnLst/>
                    <a:rect l="l" t="t" r="r" b="b"/>
                    <a:pathLst>
                      <a:path w="308621" h="1080120">
                        <a:moveTo>
                          <a:pt x="308621" y="1080120"/>
                        </a:moveTo>
                        <a:lnTo>
                          <a:pt x="232649" y="0"/>
                        </a:lnTo>
                        <a:lnTo>
                          <a:pt x="75972" y="0"/>
                        </a:lnTo>
                        <a:lnTo>
                          <a:pt x="0" y="108012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87" name="小红书平北职场PPT4-8"/>
                  <p:cNvSpPr/>
                  <p:nvPr/>
                </p:nvSpPr>
                <p:spPr>
                  <a:xfrm>
                    <a:off x="1688158" y="3454556"/>
                    <a:ext cx="155575" cy="352111"/>
                  </a:xfrm>
                  <a:prstGeom prst="chord">
                    <a:avLst>
                      <a:gd name="adj1" fmla="val 5391179"/>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88" name="小红书平北职场PPT4-9"/>
                  <p:cNvSpPr/>
                  <p:nvPr/>
                </p:nvSpPr>
                <p:spPr>
                  <a:xfrm rot="5400000" flipH="1">
                    <a:off x="1825951" y="3378583"/>
                    <a:ext cx="379529" cy="504056"/>
                  </a:xfrm>
                  <a:custGeom>
                    <a:avLst/>
                    <a:gdLst/>
                    <a:ahLst/>
                    <a:cxnLst/>
                    <a:rect l="l" t="t" r="r" b="b"/>
                    <a:pathLst>
                      <a:path w="379529" h="504056">
                        <a:moveTo>
                          <a:pt x="379529" y="504056"/>
                        </a:moveTo>
                        <a:lnTo>
                          <a:pt x="344075" y="0"/>
                        </a:lnTo>
                        <a:lnTo>
                          <a:pt x="35454" y="0"/>
                        </a:lnTo>
                        <a:lnTo>
                          <a:pt x="0" y="504056"/>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grpSp>
        </p:grpSp>
      </p:grpSp>
      <p:sp>
        <p:nvSpPr>
          <p:cNvPr id="7" name="小红书平北职场PPT5"/>
          <p:cNvSpPr/>
          <p:nvPr>
            <p:custDataLst>
              <p:tags r:id="rId3"/>
            </p:custDataLst>
          </p:nvPr>
        </p:nvSpPr>
        <p:spPr>
          <a:xfrm>
            <a:off x="400279" y="2008418"/>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 name="小红书平北职场PPT6"/>
          <p:cNvSpPr txBox="1"/>
          <p:nvPr>
            <p:custDataLst>
              <p:tags r:id="rId4"/>
            </p:custDataLst>
          </p:nvPr>
        </p:nvSpPr>
        <p:spPr>
          <a:xfrm>
            <a:off x="1281433" y="2071389"/>
            <a:ext cx="4737712" cy="876266"/>
          </a:xfrm>
          <a:prstGeom prst="rect">
            <a:avLst/>
          </a:prstGeom>
          <a:noFill/>
        </p:spPr>
        <p:txBody>
          <a:bodyPr wrap="square">
            <a:spAutoFit/>
          </a:bodyPr>
          <a:lstStyle/>
          <a:p>
            <a:pPr algn="l">
              <a:lnSpc>
                <a:spcPct val="130000"/>
              </a:lnSpc>
            </a:pPr>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流程精益优化</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effectLst/>
                <a:latin typeface="思源黑体 CN Normal" panose="020B0400000000000000" pitchFamily="34" charset="-122"/>
                <a:cs typeface="思源黑体 CN Normal" panose="020B0400000000000000" pitchFamily="34" charset="-122"/>
              </a:rPr>
              <a:t>系统审视端到端业务流程，精准识别瓶颈与冗余环节，推进标准化与自动化建设，全面提升运营效率与质量，构建敏捷高效体系</a:t>
            </a:r>
            <a:endParaRPr lang="zh-CN" altLang="en-US" sz="1200" b="0" i="0" dirty="0">
              <a:effectLst/>
              <a:latin typeface="思源黑体 CN Normal" panose="020B0400000000000000" pitchFamily="34" charset="-122"/>
              <a:cs typeface="思源黑体 CN Normal" panose="020B0400000000000000" pitchFamily="34" charset="-122"/>
            </a:endParaRPr>
          </a:p>
        </p:txBody>
      </p:sp>
      <p:sp>
        <p:nvSpPr>
          <p:cNvPr id="9" name="小红书平北职场PPT7"/>
          <p:cNvSpPr/>
          <p:nvPr>
            <p:custDataLst>
              <p:tags r:id="rId5"/>
            </p:custDataLst>
          </p:nvPr>
        </p:nvSpPr>
        <p:spPr>
          <a:xfrm>
            <a:off x="400279" y="4371673"/>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 name="小红书平北职场PPT8"/>
          <p:cNvSpPr txBox="1"/>
          <p:nvPr>
            <p:custDataLst>
              <p:tags r:id="rId6"/>
            </p:custDataLst>
          </p:nvPr>
        </p:nvSpPr>
        <p:spPr>
          <a:xfrm>
            <a:off x="1281433" y="4434644"/>
            <a:ext cx="4737712" cy="876266"/>
          </a:xfrm>
          <a:prstGeom prst="rect">
            <a:avLst/>
          </a:prstGeom>
          <a:noFill/>
        </p:spPr>
        <p:txBody>
          <a:bodyPr wrap="square">
            <a:spAutoFit/>
          </a:bodyPr>
          <a:lstStyle/>
          <a:p>
            <a:pPr algn="l">
              <a:lnSpc>
                <a:spcPct val="130000"/>
              </a:lnSpc>
            </a:pPr>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人才赋能发展</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建立系统化人才培养体系，聚焦能力提升与领导力建设，设计多元化激励方案，激发团队潜能与创造力，打造高绩效组织</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11" name="小红书平北职场PPT9"/>
          <p:cNvSpPr/>
          <p:nvPr>
            <p:custDataLst>
              <p:tags r:id="rId7"/>
            </p:custDataLst>
          </p:nvPr>
        </p:nvSpPr>
        <p:spPr>
          <a:xfrm>
            <a:off x="400279" y="3190045"/>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2" name="小红书平北职场PPT10"/>
          <p:cNvSpPr txBox="1"/>
          <p:nvPr>
            <p:custDataLst>
              <p:tags r:id="rId8"/>
            </p:custDataLst>
          </p:nvPr>
        </p:nvSpPr>
        <p:spPr>
          <a:xfrm>
            <a:off x="1281433" y="3253016"/>
            <a:ext cx="4737712" cy="876266"/>
          </a:xfrm>
          <a:prstGeom prst="rect">
            <a:avLst/>
          </a:prstGeom>
          <a:noFill/>
        </p:spPr>
        <p:txBody>
          <a:bodyPr wrap="square">
            <a:spAutoFit/>
          </a:bodyPr>
          <a:lstStyle/>
          <a:p>
            <a:pPr algn="l">
              <a:lnSpc>
                <a:spcPct val="130000"/>
              </a:lnSpc>
            </a:pPr>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数据驱动决策</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构建完善的数据治理与分析体系，从海量数据中提炼有价值洞察，通过数据看板与预警机制支撑精准决策，推动业务迈向数据驱动</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13" name="小红书平北职场PPT11"/>
          <p:cNvSpPr/>
          <p:nvPr>
            <p:custDataLst>
              <p:tags r:id="rId9"/>
            </p:custDataLst>
          </p:nvPr>
        </p:nvSpPr>
        <p:spPr>
          <a:xfrm>
            <a:off x="400279" y="826789"/>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4" name="小红书平北职场PPT12"/>
          <p:cNvSpPr txBox="1"/>
          <p:nvPr>
            <p:custDataLst>
              <p:tags r:id="rId10"/>
            </p:custDataLst>
          </p:nvPr>
        </p:nvSpPr>
        <p:spPr>
          <a:xfrm>
            <a:off x="1281433" y="889760"/>
            <a:ext cx="4737712" cy="876266"/>
          </a:xfrm>
          <a:prstGeom prst="rect">
            <a:avLst/>
          </a:prstGeom>
          <a:noFill/>
        </p:spPr>
        <p:txBody>
          <a:bodyPr wrap="square">
            <a:spAutoFit/>
          </a:bodyPr>
          <a:lstStyle/>
          <a:p>
            <a:pPr algn="l">
              <a:lnSpc>
                <a:spcPct val="130000"/>
              </a:lnSpc>
            </a:pPr>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战略精准落地</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将宏观战略分解为可执行、可衡量的关键目标，</a:t>
            </a:r>
            <a:r>
              <a:rPr lang="zh-CN" altLang="en-US" sz="1200" b="0" i="0" dirty="0">
                <a:effectLst/>
                <a:latin typeface="思源黑体 CN Normal" panose="020B0400000000000000" pitchFamily="34" charset="-122"/>
                <a:cs typeface="思源黑体 CN Normal" panose="020B0400000000000000" pitchFamily="34" charset="-122"/>
              </a:rPr>
              <a:t>通过</a:t>
            </a: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战略地图与绩效指标对齐，确保组织上下目标一致、行动协同</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grpSp>
        <p:nvGrpSpPr>
          <p:cNvPr id="15" name="小红书平北职场PPT13"/>
          <p:cNvGrpSpPr/>
          <p:nvPr/>
        </p:nvGrpSpPr>
        <p:grpSpPr>
          <a:xfrm>
            <a:off x="6436288" y="937327"/>
            <a:ext cx="763200" cy="5488184"/>
            <a:chOff x="6574989" y="961573"/>
            <a:chExt cx="763200" cy="5488184"/>
          </a:xfrm>
        </p:grpSpPr>
        <p:sp>
          <p:nvSpPr>
            <p:cNvPr id="69" name="小红书平北职场PPT13-1"/>
            <p:cNvSpPr/>
            <p:nvPr/>
          </p:nvSpPr>
          <p:spPr>
            <a:xfrm>
              <a:off x="6574989" y="2143202"/>
              <a:ext cx="763200" cy="761668"/>
            </a:xfrm>
            <a:prstGeom prst="rect">
              <a:avLst/>
            </a:prstGeom>
            <a:gradFill>
              <a:gsLst>
                <a:gs pos="0">
                  <a:schemeClr val="accent2">
                    <a:lumMod val="60000"/>
                    <a:lumOff val="40000"/>
                  </a:schemeClr>
                </a:gs>
                <a:gs pos="100000">
                  <a:schemeClr val="accent2"/>
                </a:gs>
              </a:gsLst>
              <a:lin ang="0" scaled="1"/>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ko-KR" altLang="en-US" sz="1600" b="1" dirty="0">
                <a:solidFill>
                  <a:schemeClr val="bg1"/>
                </a:solidFill>
                <a:latin typeface="+mj-ea"/>
                <a:ea typeface="+mj-ea"/>
                <a:cs typeface="思源黑体 CN Normal" panose="020B0400000000000000" pitchFamily="34" charset="-122"/>
              </a:endParaRPr>
            </a:p>
          </p:txBody>
        </p:sp>
        <p:sp>
          <p:nvSpPr>
            <p:cNvPr id="70" name="小红书平北职场PPT13-2"/>
            <p:cNvSpPr>
              <a:spLocks noChangeAspect="1"/>
            </p:cNvSpPr>
            <p:nvPr/>
          </p:nvSpPr>
          <p:spPr>
            <a:xfrm rot="13020000" flipH="1">
              <a:off x="6731930" y="2297911"/>
              <a:ext cx="436353" cy="423221"/>
            </a:xfrm>
            <a:custGeom>
              <a:avLst/>
              <a:gdLst/>
              <a:ahLst/>
              <a:cxnLst/>
              <a:rect l="l" t="t" r="r" b="b"/>
              <a:pathLst>
                <a:path w="3872365" h="386204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71" name="小红书平北职场PPT13-3"/>
            <p:cNvSpPr/>
            <p:nvPr/>
          </p:nvSpPr>
          <p:spPr>
            <a:xfrm>
              <a:off x="6574989" y="4506457"/>
              <a:ext cx="763200" cy="761668"/>
            </a:xfrm>
            <a:prstGeom prst="rect">
              <a:avLst/>
            </a:prstGeom>
            <a:gradFill>
              <a:gsLst>
                <a:gs pos="0">
                  <a:schemeClr val="accent2">
                    <a:lumMod val="60000"/>
                    <a:lumOff val="40000"/>
                  </a:schemeClr>
                </a:gs>
                <a:gs pos="100000">
                  <a:schemeClr val="accent2"/>
                </a:gs>
              </a:gsLst>
              <a:lin ang="0" scaled="1"/>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72" name="小红书平北职场PPT13-4"/>
            <p:cNvSpPr>
              <a:spLocks noChangeAspect="1"/>
            </p:cNvSpPr>
            <p:nvPr/>
          </p:nvSpPr>
          <p:spPr>
            <a:xfrm flipH="1">
              <a:off x="6709030" y="4647632"/>
              <a:ext cx="463918" cy="450290"/>
            </a:xfrm>
            <a:custGeom>
              <a:avLst/>
              <a:gdLst/>
              <a:ahLst/>
              <a:cxnLst/>
              <a:rect l="l" t="t" r="r" b="b"/>
              <a:pathLst>
                <a:path w="4020621" h="4012920">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73" name="小红书平北职场PPT13-5"/>
            <p:cNvSpPr/>
            <p:nvPr/>
          </p:nvSpPr>
          <p:spPr>
            <a:xfrm>
              <a:off x="6574989" y="3324829"/>
              <a:ext cx="763200" cy="761668"/>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74" name="小红书平北职场PPT13-6"/>
            <p:cNvSpPr>
              <a:spLocks noChangeAspect="1"/>
            </p:cNvSpPr>
            <p:nvPr/>
          </p:nvSpPr>
          <p:spPr>
            <a:xfrm flipH="1">
              <a:off x="6723611" y="3524084"/>
              <a:ext cx="444048" cy="334131"/>
            </a:xfrm>
            <a:custGeom>
              <a:avLst/>
              <a:gdLst/>
              <a:ahLst/>
              <a:cxnLst/>
              <a:rect l="l" t="t" r="r" b="b"/>
              <a:pathLst>
                <a:path w="3960000" h="3064028">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75" name="小红书平北职场PPT13-7"/>
            <p:cNvSpPr/>
            <p:nvPr/>
          </p:nvSpPr>
          <p:spPr>
            <a:xfrm>
              <a:off x="6574989" y="961573"/>
              <a:ext cx="763200" cy="761668"/>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76" name="小红书平北职场PPT13-8"/>
            <p:cNvSpPr/>
            <p:nvPr/>
          </p:nvSpPr>
          <p:spPr>
            <a:xfrm flipH="1">
              <a:off x="6723609" y="1106266"/>
              <a:ext cx="453882" cy="443254"/>
            </a:xfrm>
            <a:custGeom>
              <a:avLst/>
              <a:gdLst/>
              <a:ahLst/>
              <a:cxnLst/>
              <a:rect l="l" t="t" r="r" b="b"/>
              <a:pathLst>
                <a:path w="3821708" h="3795110">
                  <a:moveTo>
                    <a:pt x="1910854" y="903842"/>
                  </a:moveTo>
                  <a:lnTo>
                    <a:pt x="1793831" y="1129420"/>
                  </a:lnTo>
                  <a:lnTo>
                    <a:pt x="1791613" y="1129420"/>
                  </a:lnTo>
                  <a:lnTo>
                    <a:pt x="1791892" y="1133157"/>
                  </a:lnTo>
                  <a:lnTo>
                    <a:pt x="1791613" y="1133695"/>
                  </a:lnTo>
                  <a:lnTo>
                    <a:pt x="1791933" y="1133695"/>
                  </a:lnTo>
                  <a:lnTo>
                    <a:pt x="1833002" y="1683464"/>
                  </a:lnTo>
                  <a:cubicBezTo>
                    <a:pt x="1744939" y="1714584"/>
                    <a:pt x="1682254" y="1798749"/>
                    <a:pt x="1682254" y="1897555"/>
                  </a:cubicBezTo>
                  <a:cubicBezTo>
                    <a:pt x="1682254" y="2023808"/>
                    <a:pt x="1784602" y="2126156"/>
                    <a:pt x="1910855" y="2126156"/>
                  </a:cubicBezTo>
                  <a:cubicBezTo>
                    <a:pt x="1975561" y="2126156"/>
                    <a:pt x="2033988" y="2099273"/>
                    <a:pt x="2075304" y="2055803"/>
                  </a:cubicBezTo>
                  <a:lnTo>
                    <a:pt x="2443125" y="2288080"/>
                  </a:lnTo>
                  <a:lnTo>
                    <a:pt x="2443003" y="2288309"/>
                  </a:lnTo>
                  <a:lnTo>
                    <a:pt x="2443494" y="2288314"/>
                  </a:lnTo>
                  <a:lnTo>
                    <a:pt x="2446061" y="2289935"/>
                  </a:lnTo>
                  <a:lnTo>
                    <a:pt x="2446904" y="2288348"/>
                  </a:lnTo>
                  <a:lnTo>
                    <a:pt x="2652725" y="2290436"/>
                  </a:lnTo>
                  <a:lnTo>
                    <a:pt x="2535900" y="2120971"/>
                  </a:lnTo>
                  <a:lnTo>
                    <a:pt x="2536744" y="2119385"/>
                  </a:lnTo>
                  <a:lnTo>
                    <a:pt x="2533964" y="2118163"/>
                  </a:lnTo>
                  <a:lnTo>
                    <a:pt x="2533686" y="2117759"/>
                  </a:lnTo>
                  <a:lnTo>
                    <a:pt x="2533565" y="2117988"/>
                  </a:lnTo>
                  <a:lnTo>
                    <a:pt x="2134900" y="1942755"/>
                  </a:lnTo>
                  <a:cubicBezTo>
                    <a:pt x="2137918" y="1928156"/>
                    <a:pt x="2139456" y="1913035"/>
                    <a:pt x="2139456" y="1897555"/>
                  </a:cubicBezTo>
                  <a:cubicBezTo>
                    <a:pt x="2139456" y="1798748"/>
                    <a:pt x="2076770" y="1714583"/>
                    <a:pt x="1988706" y="1683463"/>
                  </a:cubicBezTo>
                  <a:lnTo>
                    <a:pt x="2029775" y="1133695"/>
                  </a:lnTo>
                  <a:lnTo>
                    <a:pt x="2030094" y="1133695"/>
                  </a:lnTo>
                  <a:lnTo>
                    <a:pt x="2029815" y="1133157"/>
                  </a:lnTo>
                  <a:lnTo>
                    <a:pt x="2030094" y="1129420"/>
                  </a:lnTo>
                  <a:lnTo>
                    <a:pt x="2027877" y="1129420"/>
                  </a:lnTo>
                  <a:close/>
                  <a:moveTo>
                    <a:pt x="1910854" y="565406"/>
                  </a:moveTo>
                  <a:cubicBezTo>
                    <a:pt x="2646579" y="565406"/>
                    <a:pt x="3243002" y="1161829"/>
                    <a:pt x="3243002" y="1897554"/>
                  </a:cubicBezTo>
                  <a:cubicBezTo>
                    <a:pt x="3243002" y="2633279"/>
                    <a:pt x="2646579" y="3229702"/>
                    <a:pt x="1910854" y="3229702"/>
                  </a:cubicBezTo>
                  <a:cubicBezTo>
                    <a:pt x="1175129" y="3229702"/>
                    <a:pt x="578706" y="2633279"/>
                    <a:pt x="578706" y="1897554"/>
                  </a:cubicBezTo>
                  <a:cubicBezTo>
                    <a:pt x="578706" y="1161829"/>
                    <a:pt x="1175129" y="565406"/>
                    <a:pt x="1910854" y="565406"/>
                  </a:cubicBezTo>
                  <a:close/>
                  <a:moveTo>
                    <a:pt x="1766837" y="367010"/>
                  </a:moveTo>
                  <a:cubicBezTo>
                    <a:pt x="1050362" y="432397"/>
                    <a:pt x="475174" y="981146"/>
                    <a:pt x="377476" y="1681610"/>
                  </a:cubicBezTo>
                  <a:lnTo>
                    <a:pt x="426306" y="1681610"/>
                  </a:lnTo>
                  <a:cubicBezTo>
                    <a:pt x="510474" y="1681610"/>
                    <a:pt x="578706" y="1746088"/>
                    <a:pt x="578706" y="1825626"/>
                  </a:cubicBezTo>
                  <a:cubicBezTo>
                    <a:pt x="578706" y="1905164"/>
                    <a:pt x="510474" y="1969642"/>
                    <a:pt x="426306" y="1969642"/>
                  </a:cubicBezTo>
                  <a:lnTo>
                    <a:pt x="364094" y="1969642"/>
                  </a:lnTo>
                  <a:cubicBezTo>
                    <a:pt x="398055" y="2738400"/>
                    <a:pt x="1003246" y="3359660"/>
                    <a:pt x="1769417" y="3427809"/>
                  </a:cubicBezTo>
                  <a:lnTo>
                    <a:pt x="1769417" y="3382101"/>
                  </a:lnTo>
                  <a:cubicBezTo>
                    <a:pt x="1769417" y="3297933"/>
                    <a:pt x="1833895" y="3229701"/>
                    <a:pt x="1913433" y="3229701"/>
                  </a:cubicBezTo>
                  <a:cubicBezTo>
                    <a:pt x="1992971" y="3229701"/>
                    <a:pt x="2057449" y="3297933"/>
                    <a:pt x="2057449" y="3382101"/>
                  </a:cubicBezTo>
                  <a:lnTo>
                    <a:pt x="2057449" y="3427707"/>
                  </a:lnTo>
                  <a:cubicBezTo>
                    <a:pt x="2804164" y="3358467"/>
                    <a:pt x="3396856" y="2764020"/>
                    <a:pt x="3455018" y="2020616"/>
                  </a:cubicBezTo>
                  <a:lnTo>
                    <a:pt x="3395402" y="2020616"/>
                  </a:lnTo>
                  <a:cubicBezTo>
                    <a:pt x="3311234" y="2020616"/>
                    <a:pt x="3243002" y="1956138"/>
                    <a:pt x="3243002" y="1876600"/>
                  </a:cubicBezTo>
                  <a:cubicBezTo>
                    <a:pt x="3243002" y="1797062"/>
                    <a:pt x="3311234" y="1732584"/>
                    <a:pt x="3395402" y="1732584"/>
                  </a:cubicBezTo>
                  <a:lnTo>
                    <a:pt x="3451747" y="1732584"/>
                  </a:lnTo>
                  <a:cubicBezTo>
                    <a:pt x="3374444" y="1008025"/>
                    <a:pt x="2788738" y="434055"/>
                    <a:pt x="2054869" y="367632"/>
                  </a:cubicBezTo>
                  <a:lnTo>
                    <a:pt x="2054869" y="407296"/>
                  </a:lnTo>
                  <a:cubicBezTo>
                    <a:pt x="2054869" y="491464"/>
                    <a:pt x="1990391" y="559696"/>
                    <a:pt x="1910853" y="559696"/>
                  </a:cubicBezTo>
                  <a:cubicBezTo>
                    <a:pt x="1831315" y="559696"/>
                    <a:pt x="1766837" y="491464"/>
                    <a:pt x="1766837" y="407296"/>
                  </a:cubicBezTo>
                  <a:close/>
                  <a:moveTo>
                    <a:pt x="1910854" y="0"/>
                  </a:moveTo>
                  <a:cubicBezTo>
                    <a:pt x="2966190" y="0"/>
                    <a:pt x="3821708" y="849564"/>
                    <a:pt x="3821708" y="1897555"/>
                  </a:cubicBezTo>
                  <a:cubicBezTo>
                    <a:pt x="3821708" y="2945546"/>
                    <a:pt x="2966190" y="3795110"/>
                    <a:pt x="1910854" y="3795110"/>
                  </a:cubicBezTo>
                  <a:cubicBezTo>
                    <a:pt x="855518" y="3795110"/>
                    <a:pt x="0" y="2945546"/>
                    <a:pt x="0" y="1897555"/>
                  </a:cubicBezTo>
                  <a:cubicBezTo>
                    <a:pt x="0" y="849564"/>
                    <a:pt x="855518" y="0"/>
                    <a:pt x="1910854" y="0"/>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77" name="小红书平北职场PPT13-9"/>
            <p:cNvSpPr/>
            <p:nvPr/>
          </p:nvSpPr>
          <p:spPr>
            <a:xfrm>
              <a:off x="6574989" y="5688089"/>
              <a:ext cx="763200" cy="761668"/>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78" name="小红书平北职场PPT13-10"/>
            <p:cNvSpPr/>
            <p:nvPr/>
          </p:nvSpPr>
          <p:spPr>
            <a:xfrm rot="10800000">
              <a:off x="6704363" y="5785549"/>
              <a:ext cx="492367" cy="537721"/>
            </a:xfrm>
            <a:custGeom>
              <a:avLst/>
              <a:gdLst/>
              <a:ahLst/>
              <a:cxnLst/>
              <a:rect l="l" t="t" r="r" b="b"/>
              <a:pathLst>
                <a:path w="3496146" h="3926159">
                  <a:moveTo>
                    <a:pt x="1476067" y="1782198"/>
                  </a:moveTo>
                  <a:lnTo>
                    <a:pt x="2085005" y="1782198"/>
                  </a:lnTo>
                  <a:lnTo>
                    <a:pt x="2085005" y="560436"/>
                  </a:lnTo>
                  <a:lnTo>
                    <a:pt x="2389473" y="560436"/>
                  </a:lnTo>
                  <a:lnTo>
                    <a:pt x="1780536" y="0"/>
                  </a:lnTo>
                  <a:lnTo>
                    <a:pt x="1171598" y="560436"/>
                  </a:lnTo>
                  <a:lnTo>
                    <a:pt x="1476067" y="560436"/>
                  </a:lnTo>
                  <a:close/>
                  <a:moveTo>
                    <a:pt x="2794909" y="2376264"/>
                  </a:moveTo>
                  <a:lnTo>
                    <a:pt x="3403846" y="1815828"/>
                  </a:lnTo>
                  <a:lnTo>
                    <a:pt x="3099377" y="1815828"/>
                  </a:lnTo>
                  <a:lnTo>
                    <a:pt x="3099377" y="594066"/>
                  </a:lnTo>
                  <a:lnTo>
                    <a:pt x="2490440" y="594066"/>
                  </a:lnTo>
                  <a:lnTo>
                    <a:pt x="2490440" y="1815828"/>
                  </a:lnTo>
                  <a:lnTo>
                    <a:pt x="2185971" y="1815828"/>
                  </a:lnTo>
                  <a:close/>
                  <a:moveTo>
                    <a:pt x="1738539" y="2704452"/>
                  </a:moveTo>
                  <a:cubicBezTo>
                    <a:pt x="2025742" y="2708651"/>
                    <a:pt x="2249289" y="2617027"/>
                    <a:pt x="2474392" y="2519294"/>
                  </a:cubicBezTo>
                  <a:cubicBezTo>
                    <a:pt x="2631335" y="2431624"/>
                    <a:pt x="2641220" y="2356014"/>
                    <a:pt x="2614641" y="2282563"/>
                  </a:cubicBezTo>
                  <a:cubicBezTo>
                    <a:pt x="2582745" y="2203226"/>
                    <a:pt x="2511446" y="2141129"/>
                    <a:pt x="2374721" y="2203680"/>
                  </a:cubicBezTo>
                  <a:cubicBezTo>
                    <a:pt x="2195292" y="2350932"/>
                    <a:pt x="1621166" y="2470817"/>
                    <a:pt x="1266317" y="2262320"/>
                  </a:cubicBezTo>
                  <a:cubicBezTo>
                    <a:pt x="1169173" y="2191011"/>
                    <a:pt x="970584" y="2135007"/>
                    <a:pt x="918755" y="2260582"/>
                  </a:cubicBezTo>
                  <a:cubicBezTo>
                    <a:pt x="905798" y="2301917"/>
                    <a:pt x="901034" y="2336556"/>
                    <a:pt x="904186" y="2366667"/>
                  </a:cubicBezTo>
                  <a:cubicBezTo>
                    <a:pt x="913642" y="2457000"/>
                    <a:pt x="994333" y="2506589"/>
                    <a:pt x="1138739" y="2574025"/>
                  </a:cubicBezTo>
                  <a:cubicBezTo>
                    <a:pt x="1370979" y="2664916"/>
                    <a:pt x="1566218" y="2701932"/>
                    <a:pt x="1738539" y="2704452"/>
                  </a:cubicBezTo>
                  <a:close/>
                  <a:moveTo>
                    <a:pt x="1709810" y="3318171"/>
                  </a:moveTo>
                  <a:cubicBezTo>
                    <a:pt x="2287461" y="3321186"/>
                    <a:pt x="2747532" y="3089987"/>
                    <a:pt x="2907033" y="2982480"/>
                  </a:cubicBezTo>
                  <a:cubicBezTo>
                    <a:pt x="3019837" y="2919930"/>
                    <a:pt x="3127019" y="2830470"/>
                    <a:pt x="3047283" y="2692494"/>
                  </a:cubicBezTo>
                  <a:cubicBezTo>
                    <a:pt x="2931427" y="2583612"/>
                    <a:pt x="2859428" y="2623285"/>
                    <a:pt x="2747560" y="2705958"/>
                  </a:cubicBezTo>
                  <a:cubicBezTo>
                    <a:pt x="2476410" y="2811508"/>
                    <a:pt x="1878339" y="3347087"/>
                    <a:pt x="714142" y="2686413"/>
                  </a:cubicBezTo>
                  <a:cubicBezTo>
                    <a:pt x="581403" y="2592588"/>
                    <a:pt x="478211" y="2639047"/>
                    <a:pt x="434354" y="2730111"/>
                  </a:cubicBezTo>
                  <a:cubicBezTo>
                    <a:pt x="423118" y="2754726"/>
                    <a:pt x="419107" y="2778362"/>
                    <a:pt x="421326" y="2801084"/>
                  </a:cubicBezTo>
                  <a:cubicBezTo>
                    <a:pt x="427982" y="2869247"/>
                    <a:pt x="490703" y="2929162"/>
                    <a:pt x="582577" y="2982481"/>
                  </a:cubicBezTo>
                  <a:cubicBezTo>
                    <a:pt x="974299" y="3230234"/>
                    <a:pt x="1363219" y="3316361"/>
                    <a:pt x="1709810" y="3318171"/>
                  </a:cubicBezTo>
                  <a:close/>
                  <a:moveTo>
                    <a:pt x="1650124" y="3925606"/>
                  </a:moveTo>
                  <a:cubicBezTo>
                    <a:pt x="2273556" y="3938577"/>
                    <a:pt x="2858828" y="3722251"/>
                    <a:pt x="3329308" y="3414392"/>
                  </a:cubicBezTo>
                  <a:cubicBezTo>
                    <a:pt x="3434138" y="3367480"/>
                    <a:pt x="3549293" y="3215474"/>
                    <a:pt x="3469556" y="3100952"/>
                  </a:cubicBezTo>
                  <a:cubicBezTo>
                    <a:pt x="3361675" y="3005103"/>
                    <a:pt x="3225886" y="3077348"/>
                    <a:pt x="3149901" y="3145689"/>
                  </a:cubicBezTo>
                  <a:cubicBezTo>
                    <a:pt x="2987266" y="3247333"/>
                    <a:pt x="1796029" y="4146474"/>
                    <a:pt x="297808" y="3098777"/>
                  </a:cubicBezTo>
                  <a:cubicBezTo>
                    <a:pt x="177029" y="2997135"/>
                    <a:pt x="65861" y="3063139"/>
                    <a:pt x="18020" y="3134657"/>
                  </a:cubicBezTo>
                  <a:cubicBezTo>
                    <a:pt x="4124" y="3161552"/>
                    <a:pt x="-1298" y="3188690"/>
                    <a:pt x="257" y="3215218"/>
                  </a:cubicBezTo>
                  <a:cubicBezTo>
                    <a:pt x="4919" y="3294803"/>
                    <a:pt x="72375" y="3368892"/>
                    <a:pt x="162256" y="3414392"/>
                  </a:cubicBezTo>
                  <a:cubicBezTo>
                    <a:pt x="657258" y="3766720"/>
                    <a:pt x="1165233" y="3915518"/>
                    <a:pt x="1650124" y="3925606"/>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16" name="小红书平北职场PPT14"/>
          <p:cNvSpPr/>
          <p:nvPr>
            <p:custDataLst>
              <p:tags r:id="rId11"/>
            </p:custDataLst>
          </p:nvPr>
        </p:nvSpPr>
        <p:spPr>
          <a:xfrm>
            <a:off x="400279" y="5553305"/>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 name="小红书平北职场PPT15"/>
          <p:cNvSpPr txBox="1"/>
          <p:nvPr>
            <p:custDataLst>
              <p:tags r:id="rId12"/>
            </p:custDataLst>
          </p:nvPr>
        </p:nvSpPr>
        <p:spPr>
          <a:xfrm>
            <a:off x="1281433" y="5616276"/>
            <a:ext cx="4737712" cy="876266"/>
          </a:xfrm>
          <a:prstGeom prst="rect">
            <a:avLst/>
          </a:prstGeom>
          <a:noFill/>
        </p:spPr>
        <p:txBody>
          <a:bodyPr wrap="square">
            <a:spAutoFit/>
          </a:bodyPr>
          <a:lstStyle/>
          <a:p>
            <a:pPr algn="l">
              <a:lnSpc>
                <a:spcPct val="130000"/>
              </a:lnSpc>
            </a:pPr>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客户价值深耕</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深度洞察客户需求与使用场景，持续优化产品服务体验，建立客户成功管理与长效沟通机制，提升客户忠诚度与市场竞争力</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grpSp>
        <p:nvGrpSpPr>
          <p:cNvPr id="18" name="小红书平北职场PPT16"/>
          <p:cNvGrpSpPr/>
          <p:nvPr>
            <p:custDataLst>
              <p:tags r:id="rId13"/>
            </p:custDataLst>
          </p:nvPr>
        </p:nvGrpSpPr>
        <p:grpSpPr>
          <a:xfrm>
            <a:off x="572396" y="912395"/>
            <a:ext cx="609600" cy="5557512"/>
            <a:chOff x="572396" y="912395"/>
            <a:chExt cx="609600" cy="5557512"/>
          </a:xfrm>
        </p:grpSpPr>
        <p:grpSp>
          <p:nvGrpSpPr>
            <p:cNvPr id="52" name="组合 51"/>
            <p:cNvGrpSpPr/>
            <p:nvPr/>
          </p:nvGrpSpPr>
          <p:grpSpPr>
            <a:xfrm>
              <a:off x="572396" y="2094024"/>
              <a:ext cx="609600" cy="3194251"/>
              <a:chOff x="572396" y="2094024"/>
              <a:chExt cx="609600" cy="3194251"/>
            </a:xfrm>
          </p:grpSpPr>
          <p:grpSp>
            <p:nvGrpSpPr>
              <p:cNvPr id="63" name="组合 62"/>
              <p:cNvGrpSpPr/>
              <p:nvPr/>
            </p:nvGrpSpPr>
            <p:grpSpPr>
              <a:xfrm>
                <a:off x="572396" y="2094024"/>
                <a:ext cx="609600" cy="830997"/>
                <a:chOff x="1663568" y="859585"/>
                <a:chExt cx="609600" cy="830997"/>
              </a:xfrm>
            </p:grpSpPr>
            <p:sp>
              <p:nvSpPr>
                <p:cNvPr id="67" name="小红书平北职场PPT16-1"/>
                <p:cNvSpPr txBox="1"/>
                <p:nvPr>
                  <p:custDataLst>
                    <p:tags r:id="rId14"/>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2">
                              <a:lumMod val="60000"/>
                              <a:lumOff val="40000"/>
                            </a:schemeClr>
                          </a:gs>
                          <a:gs pos="100000">
                            <a:schemeClr val="accent2"/>
                          </a:gs>
                        </a:gsLst>
                        <a:lin ang="5400000" scaled="1"/>
                      </a:gradFill>
                      <a:effectLst>
                        <a:outerShdw blurRad="165100" dist="76200" sx="102000" sy="102000" algn="ctr" rotWithShape="0">
                          <a:schemeClr val="accent2">
                            <a:alpha val="18000"/>
                          </a:schemeClr>
                        </a:outerShdw>
                      </a:effectLst>
                      <a:latin typeface="+mj-ea"/>
                      <a:ea typeface="+mj-ea"/>
                      <a:cs typeface="思源黑体 CN Normal" panose="020B0400000000000000" pitchFamily="34" charset="-122"/>
                    </a:rPr>
                    <a:t>2</a:t>
                  </a:r>
                  <a:endParaRPr lang="zh-CN" altLang="en-US" sz="4800" b="1" dirty="0">
                    <a:ln w="50800">
                      <a:solidFill>
                        <a:schemeClr val="bg1"/>
                      </a:solidFill>
                    </a:ln>
                    <a:gradFill>
                      <a:gsLst>
                        <a:gs pos="0">
                          <a:schemeClr val="accent2">
                            <a:lumMod val="60000"/>
                            <a:lumOff val="40000"/>
                          </a:schemeClr>
                        </a:gs>
                        <a:gs pos="100000">
                          <a:schemeClr val="accent2"/>
                        </a:gs>
                      </a:gsLst>
                      <a:lin ang="5400000" scaled="1"/>
                    </a:gradFill>
                    <a:effectLst>
                      <a:outerShdw blurRad="165100" dist="76200" sx="102000" sy="102000" algn="ctr" rotWithShape="0">
                        <a:schemeClr val="accent2">
                          <a:alpha val="18000"/>
                        </a:schemeClr>
                      </a:outerShdw>
                    </a:effectLst>
                    <a:latin typeface="+mj-ea"/>
                    <a:ea typeface="+mj-ea"/>
                    <a:cs typeface="思源黑体 CN Normal" panose="020B0400000000000000" pitchFamily="34" charset="-122"/>
                  </a:endParaRPr>
                </a:p>
              </p:txBody>
            </p:sp>
            <p:sp>
              <p:nvSpPr>
                <p:cNvPr id="68" name="小红书平北职场PPT16-2"/>
                <p:cNvSpPr txBox="1"/>
                <p:nvPr>
                  <p:custDataLst>
                    <p:tags r:id="rId15"/>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2">
                              <a:lumMod val="60000"/>
                              <a:lumOff val="40000"/>
                            </a:schemeClr>
                          </a:gs>
                          <a:gs pos="100000">
                            <a:schemeClr val="accent2"/>
                          </a:gs>
                        </a:gsLst>
                        <a:lin ang="5400000" scaled="1"/>
                      </a:gradFill>
                      <a:latin typeface="+mj-ea"/>
                      <a:ea typeface="+mj-ea"/>
                      <a:cs typeface="思源黑体 CN Normal" panose="020B0400000000000000" pitchFamily="34" charset="-122"/>
                    </a:rPr>
                    <a:t>2</a:t>
                  </a:r>
                  <a:endParaRPr lang="zh-CN" altLang="en-US" sz="4800" b="1" dirty="0">
                    <a:ln w="38100">
                      <a:noFill/>
                    </a:ln>
                    <a:gradFill>
                      <a:gsLst>
                        <a:gs pos="0">
                          <a:schemeClr val="accent2">
                            <a:lumMod val="60000"/>
                            <a:lumOff val="40000"/>
                          </a:schemeClr>
                        </a:gs>
                        <a:gs pos="100000">
                          <a:schemeClr val="accent2"/>
                        </a:gs>
                      </a:gsLst>
                      <a:lin ang="5400000" scaled="1"/>
                    </a:gradFill>
                    <a:latin typeface="+mj-ea"/>
                    <a:ea typeface="+mj-ea"/>
                    <a:cs typeface="思源黑体 CN Normal" panose="020B0400000000000000" pitchFamily="34" charset="-122"/>
                  </a:endParaRPr>
                </a:p>
              </p:txBody>
            </p:sp>
          </p:grpSp>
          <p:grpSp>
            <p:nvGrpSpPr>
              <p:cNvPr id="64" name="组合 63"/>
              <p:cNvGrpSpPr/>
              <p:nvPr/>
            </p:nvGrpSpPr>
            <p:grpSpPr>
              <a:xfrm>
                <a:off x="572396" y="4457278"/>
                <a:ext cx="609600" cy="830997"/>
                <a:chOff x="1663568" y="859585"/>
                <a:chExt cx="609600" cy="830997"/>
              </a:xfrm>
            </p:grpSpPr>
            <p:sp>
              <p:nvSpPr>
                <p:cNvPr id="65" name="小红书平北职场PPT16-3"/>
                <p:cNvSpPr txBox="1"/>
                <p:nvPr>
                  <p:custDataLst>
                    <p:tags r:id="rId16"/>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2">
                              <a:lumMod val="60000"/>
                              <a:lumOff val="40000"/>
                            </a:schemeClr>
                          </a:gs>
                          <a:gs pos="100000">
                            <a:schemeClr val="accent2"/>
                          </a:gs>
                        </a:gsLst>
                        <a:lin ang="5400000" scaled="1"/>
                      </a:gradFill>
                      <a:effectLst>
                        <a:outerShdw blurRad="165100" dist="76200" sx="102000" sy="102000" algn="ctr" rotWithShape="0">
                          <a:schemeClr val="accent2">
                            <a:alpha val="18000"/>
                          </a:schemeClr>
                        </a:outerShdw>
                      </a:effectLst>
                      <a:latin typeface="+mj-ea"/>
                      <a:ea typeface="+mj-ea"/>
                      <a:cs typeface="思源黑体 CN Normal" panose="020B0400000000000000" pitchFamily="34" charset="-122"/>
                    </a:rPr>
                    <a:t>4</a:t>
                  </a:r>
                  <a:endParaRPr lang="zh-CN" altLang="en-US" sz="4800" b="1" dirty="0">
                    <a:ln w="50800">
                      <a:solidFill>
                        <a:schemeClr val="bg1"/>
                      </a:solidFill>
                    </a:ln>
                    <a:gradFill>
                      <a:gsLst>
                        <a:gs pos="0">
                          <a:schemeClr val="accent2">
                            <a:lumMod val="60000"/>
                            <a:lumOff val="40000"/>
                          </a:schemeClr>
                        </a:gs>
                        <a:gs pos="100000">
                          <a:schemeClr val="accent2"/>
                        </a:gs>
                      </a:gsLst>
                      <a:lin ang="5400000" scaled="1"/>
                    </a:gradFill>
                    <a:effectLst>
                      <a:outerShdw blurRad="165100" dist="76200" sx="102000" sy="102000" algn="ctr" rotWithShape="0">
                        <a:schemeClr val="accent2">
                          <a:alpha val="18000"/>
                        </a:schemeClr>
                      </a:outerShdw>
                    </a:effectLst>
                    <a:latin typeface="+mj-ea"/>
                    <a:ea typeface="+mj-ea"/>
                    <a:cs typeface="思源黑体 CN Normal" panose="020B0400000000000000" pitchFamily="34" charset="-122"/>
                  </a:endParaRPr>
                </a:p>
              </p:txBody>
            </p:sp>
            <p:sp>
              <p:nvSpPr>
                <p:cNvPr id="66" name="小红书平北职场PPT16-4"/>
                <p:cNvSpPr txBox="1"/>
                <p:nvPr>
                  <p:custDataLst>
                    <p:tags r:id="rId17"/>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2">
                              <a:lumMod val="60000"/>
                              <a:lumOff val="40000"/>
                            </a:schemeClr>
                          </a:gs>
                          <a:gs pos="100000">
                            <a:schemeClr val="accent2"/>
                          </a:gs>
                        </a:gsLst>
                        <a:lin ang="5400000" scaled="1"/>
                      </a:gradFill>
                      <a:latin typeface="+mj-ea"/>
                      <a:ea typeface="+mj-ea"/>
                      <a:cs typeface="思源黑体 CN Normal" panose="020B0400000000000000" pitchFamily="34" charset="-122"/>
                    </a:rPr>
                    <a:t>4</a:t>
                  </a:r>
                  <a:endParaRPr lang="zh-CN" altLang="en-US" sz="4800" b="1" dirty="0">
                    <a:ln w="38100">
                      <a:noFill/>
                    </a:ln>
                    <a:gradFill>
                      <a:gsLst>
                        <a:gs pos="0">
                          <a:schemeClr val="accent2">
                            <a:lumMod val="60000"/>
                            <a:lumOff val="40000"/>
                          </a:schemeClr>
                        </a:gs>
                        <a:gs pos="100000">
                          <a:schemeClr val="accent2"/>
                        </a:gs>
                      </a:gsLst>
                      <a:lin ang="5400000" scaled="1"/>
                    </a:gradFill>
                    <a:latin typeface="+mj-ea"/>
                    <a:ea typeface="+mj-ea"/>
                    <a:cs typeface="思源黑体 CN Normal" panose="020B0400000000000000" pitchFamily="34" charset="-122"/>
                  </a:endParaRPr>
                </a:p>
              </p:txBody>
            </p:sp>
          </p:grpSp>
        </p:grpSp>
        <p:grpSp>
          <p:nvGrpSpPr>
            <p:cNvPr id="53" name="组合 52"/>
            <p:cNvGrpSpPr/>
            <p:nvPr/>
          </p:nvGrpSpPr>
          <p:grpSpPr>
            <a:xfrm>
              <a:off x="572396" y="912395"/>
              <a:ext cx="609600" cy="5557512"/>
              <a:chOff x="572396" y="912395"/>
              <a:chExt cx="609600" cy="5557512"/>
            </a:xfrm>
          </p:grpSpPr>
          <p:grpSp>
            <p:nvGrpSpPr>
              <p:cNvPr id="54" name="组合 53"/>
              <p:cNvGrpSpPr/>
              <p:nvPr/>
            </p:nvGrpSpPr>
            <p:grpSpPr>
              <a:xfrm>
                <a:off x="572396" y="3275650"/>
                <a:ext cx="609600" cy="830997"/>
                <a:chOff x="1663568" y="859585"/>
                <a:chExt cx="609600" cy="830997"/>
              </a:xfrm>
            </p:grpSpPr>
            <p:sp>
              <p:nvSpPr>
                <p:cNvPr id="61" name="小红书平北职场PPT16-5"/>
                <p:cNvSpPr txBox="1"/>
                <p:nvPr>
                  <p:custDataLst>
                    <p:tags r:id="rId18"/>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rPr>
                    <a:t>3</a:t>
                  </a:r>
                  <a:endParaRPr lang="zh-CN" altLang="en-US"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endParaRPr>
                </a:p>
              </p:txBody>
            </p:sp>
            <p:sp>
              <p:nvSpPr>
                <p:cNvPr id="62" name="小红书平北职场PPT16-6"/>
                <p:cNvSpPr txBox="1"/>
                <p:nvPr>
                  <p:custDataLst>
                    <p:tags r:id="rId19"/>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rPr>
                    <a:t>3</a:t>
                  </a:r>
                  <a:endParaRPr lang="zh-CN" altLang="en-US"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endParaRPr>
                </a:p>
              </p:txBody>
            </p:sp>
          </p:grpSp>
          <p:grpSp>
            <p:nvGrpSpPr>
              <p:cNvPr id="55" name="组合 54"/>
              <p:cNvGrpSpPr/>
              <p:nvPr/>
            </p:nvGrpSpPr>
            <p:grpSpPr>
              <a:xfrm>
                <a:off x="572396" y="912395"/>
                <a:ext cx="609600" cy="830997"/>
                <a:chOff x="1663568" y="859585"/>
                <a:chExt cx="609600" cy="830997"/>
              </a:xfrm>
            </p:grpSpPr>
            <p:sp>
              <p:nvSpPr>
                <p:cNvPr id="59" name="小红书平北职场PPT16-7"/>
                <p:cNvSpPr txBox="1"/>
                <p:nvPr>
                  <p:custDataLst>
                    <p:tags r:id="rId20"/>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rPr>
                    <a:t>1</a:t>
                  </a:r>
                  <a:endParaRPr lang="zh-CN" altLang="en-US"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endParaRPr>
                </a:p>
              </p:txBody>
            </p:sp>
            <p:sp>
              <p:nvSpPr>
                <p:cNvPr id="60" name="小红书平北职场PPT16-8"/>
                <p:cNvSpPr txBox="1"/>
                <p:nvPr>
                  <p:custDataLst>
                    <p:tags r:id="rId21"/>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rPr>
                    <a:t>1</a:t>
                  </a:r>
                  <a:endParaRPr lang="zh-CN" altLang="en-US"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endParaRPr>
                </a:p>
              </p:txBody>
            </p:sp>
          </p:grpSp>
          <p:grpSp>
            <p:nvGrpSpPr>
              <p:cNvPr id="56" name="组合 55"/>
              <p:cNvGrpSpPr/>
              <p:nvPr/>
            </p:nvGrpSpPr>
            <p:grpSpPr>
              <a:xfrm>
                <a:off x="572396" y="5638910"/>
                <a:ext cx="609600" cy="830997"/>
                <a:chOff x="1663568" y="859585"/>
                <a:chExt cx="609600" cy="830997"/>
              </a:xfrm>
            </p:grpSpPr>
            <p:sp>
              <p:nvSpPr>
                <p:cNvPr id="57" name="小红书平北职场PPT16-9"/>
                <p:cNvSpPr txBox="1"/>
                <p:nvPr>
                  <p:custDataLst>
                    <p:tags r:id="rId22"/>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rPr>
                    <a:t>5</a:t>
                  </a:r>
                  <a:endParaRPr lang="zh-CN" altLang="en-US"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endParaRPr>
                </a:p>
              </p:txBody>
            </p:sp>
            <p:sp>
              <p:nvSpPr>
                <p:cNvPr id="58" name="小红书平北职场PPT16-10"/>
                <p:cNvSpPr txBox="1"/>
                <p:nvPr>
                  <p:custDataLst>
                    <p:tags r:id="rId23"/>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rPr>
                    <a:t>5</a:t>
                  </a:r>
                  <a:endParaRPr lang="zh-CN" altLang="en-US"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endParaRPr>
                </a:p>
              </p:txBody>
            </p:sp>
          </p:grpSp>
        </p:grpSp>
      </p:grpSp>
      <p:grpSp>
        <p:nvGrpSpPr>
          <p:cNvPr id="19" name="小红书平北职场PPT17"/>
          <p:cNvGrpSpPr/>
          <p:nvPr/>
        </p:nvGrpSpPr>
        <p:grpSpPr>
          <a:xfrm>
            <a:off x="8049495" y="845325"/>
            <a:ext cx="3653240" cy="5611085"/>
            <a:chOff x="7966365" y="886451"/>
            <a:chExt cx="3653240" cy="5611085"/>
          </a:xfrm>
        </p:grpSpPr>
        <p:grpSp>
          <p:nvGrpSpPr>
            <p:cNvPr id="46" name="组合 45"/>
            <p:cNvGrpSpPr/>
            <p:nvPr/>
          </p:nvGrpSpPr>
          <p:grpSpPr>
            <a:xfrm>
              <a:off x="7966365" y="886451"/>
              <a:ext cx="3653240" cy="1689776"/>
              <a:chOff x="7966365" y="886451"/>
              <a:chExt cx="3653240" cy="1689776"/>
            </a:xfrm>
          </p:grpSpPr>
          <p:sp>
            <p:nvSpPr>
              <p:cNvPr id="50" name="小红书平北职场PPT17-1"/>
              <p:cNvSpPr/>
              <p:nvPr/>
            </p:nvSpPr>
            <p:spPr>
              <a:xfrm flipV="1">
                <a:off x="7966365" y="886451"/>
                <a:ext cx="3653240" cy="1689776"/>
              </a:xfrm>
              <a:custGeom>
                <a:avLst/>
                <a:gdLst>
                  <a:gd name="connsiteX0" fmla="*/ 0 w 3832134"/>
                  <a:gd name="connsiteY0" fmla="*/ 2016573 h 2016573"/>
                  <a:gd name="connsiteX1" fmla="*/ 3832134 w 3832134"/>
                  <a:gd name="connsiteY1" fmla="*/ 2016573 h 2016573"/>
                  <a:gd name="connsiteX2" fmla="*/ 3832134 w 3832134"/>
                  <a:gd name="connsiteY2" fmla="*/ 0 h 2016573"/>
                  <a:gd name="connsiteX3" fmla="*/ 596865 w 3832134"/>
                  <a:gd name="connsiteY3" fmla="*/ 0 h 2016573"/>
                </a:gdLst>
                <a:ahLst/>
                <a:cxnLst>
                  <a:cxn ang="0">
                    <a:pos x="connsiteX0" y="connsiteY0"/>
                  </a:cxn>
                  <a:cxn ang="0">
                    <a:pos x="connsiteX1" y="connsiteY1"/>
                  </a:cxn>
                  <a:cxn ang="0">
                    <a:pos x="connsiteX2" y="connsiteY2"/>
                  </a:cxn>
                  <a:cxn ang="0">
                    <a:pos x="connsiteX3" y="connsiteY3"/>
                  </a:cxn>
                </a:cxnLst>
                <a:rect l="l" t="t" r="r" b="b"/>
                <a:pathLst>
                  <a:path w="3832134" h="2016573">
                    <a:moveTo>
                      <a:pt x="0" y="2016573"/>
                    </a:moveTo>
                    <a:lnTo>
                      <a:pt x="3832134" y="2016573"/>
                    </a:lnTo>
                    <a:lnTo>
                      <a:pt x="3832134" y="0"/>
                    </a:lnTo>
                    <a:lnTo>
                      <a:pt x="596865" y="0"/>
                    </a:lnTo>
                    <a:close/>
                  </a:path>
                </a:pathLst>
              </a:cu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1" name="小红书平北职场PPT17-2"/>
              <p:cNvSpPr/>
              <p:nvPr/>
            </p:nvSpPr>
            <p:spPr>
              <a:xfrm>
                <a:off x="7966366" y="886452"/>
                <a:ext cx="3653239" cy="472337"/>
              </a:xfrm>
              <a:custGeom>
                <a:avLst/>
                <a:gdLst>
                  <a:gd name="connsiteX0" fmla="*/ 0 w 3653239"/>
                  <a:gd name="connsiteY0" fmla="*/ 0 h 472337"/>
                  <a:gd name="connsiteX1" fmla="*/ 3653239 w 3653239"/>
                  <a:gd name="connsiteY1" fmla="*/ 0 h 472337"/>
                  <a:gd name="connsiteX2" fmla="*/ 3653239 w 3653239"/>
                  <a:gd name="connsiteY2" fmla="*/ 472337 h 472337"/>
                  <a:gd name="connsiteX3" fmla="*/ 159051 w 3653239"/>
                  <a:gd name="connsiteY3" fmla="*/ 472337 h 472337"/>
                </a:gdLst>
                <a:ahLst/>
                <a:cxnLst>
                  <a:cxn ang="0">
                    <a:pos x="connsiteX0" y="connsiteY0"/>
                  </a:cxn>
                  <a:cxn ang="0">
                    <a:pos x="connsiteX1" y="connsiteY1"/>
                  </a:cxn>
                  <a:cxn ang="0">
                    <a:pos x="connsiteX2" y="connsiteY2"/>
                  </a:cxn>
                  <a:cxn ang="0">
                    <a:pos x="connsiteX3" y="connsiteY3"/>
                  </a:cxn>
                </a:cxnLst>
                <a:rect l="l" t="t" r="r" b="b"/>
                <a:pathLst>
                  <a:path w="3653239" h="472337">
                    <a:moveTo>
                      <a:pt x="0" y="0"/>
                    </a:moveTo>
                    <a:lnTo>
                      <a:pt x="3653239" y="0"/>
                    </a:lnTo>
                    <a:lnTo>
                      <a:pt x="3653239" y="472337"/>
                    </a:lnTo>
                    <a:lnTo>
                      <a:pt x="159051" y="472337"/>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nvGrpSpPr>
            <p:cNvPr id="47" name="组合 46"/>
            <p:cNvGrpSpPr/>
            <p:nvPr/>
          </p:nvGrpSpPr>
          <p:grpSpPr>
            <a:xfrm flipV="1">
              <a:off x="7966365" y="4807760"/>
              <a:ext cx="3653240" cy="1689776"/>
              <a:chOff x="7966365" y="886451"/>
              <a:chExt cx="3653240" cy="1689776"/>
            </a:xfrm>
          </p:grpSpPr>
          <p:sp>
            <p:nvSpPr>
              <p:cNvPr id="48" name="小红书平北职场PPT17-3"/>
              <p:cNvSpPr/>
              <p:nvPr/>
            </p:nvSpPr>
            <p:spPr>
              <a:xfrm flipV="1">
                <a:off x="7966365" y="886451"/>
                <a:ext cx="3653240" cy="1689776"/>
              </a:xfrm>
              <a:custGeom>
                <a:avLst/>
                <a:gdLst>
                  <a:gd name="connsiteX0" fmla="*/ 0 w 3832134"/>
                  <a:gd name="connsiteY0" fmla="*/ 2016573 h 2016573"/>
                  <a:gd name="connsiteX1" fmla="*/ 3832134 w 3832134"/>
                  <a:gd name="connsiteY1" fmla="*/ 2016573 h 2016573"/>
                  <a:gd name="connsiteX2" fmla="*/ 3832134 w 3832134"/>
                  <a:gd name="connsiteY2" fmla="*/ 0 h 2016573"/>
                  <a:gd name="connsiteX3" fmla="*/ 596865 w 3832134"/>
                  <a:gd name="connsiteY3" fmla="*/ 0 h 2016573"/>
                </a:gdLst>
                <a:ahLst/>
                <a:cxnLst>
                  <a:cxn ang="0">
                    <a:pos x="connsiteX0" y="connsiteY0"/>
                  </a:cxn>
                  <a:cxn ang="0">
                    <a:pos x="connsiteX1" y="connsiteY1"/>
                  </a:cxn>
                  <a:cxn ang="0">
                    <a:pos x="connsiteX2" y="connsiteY2"/>
                  </a:cxn>
                  <a:cxn ang="0">
                    <a:pos x="connsiteX3" y="connsiteY3"/>
                  </a:cxn>
                </a:cxnLst>
                <a:rect l="l" t="t" r="r" b="b"/>
                <a:pathLst>
                  <a:path w="3832134" h="2016573">
                    <a:moveTo>
                      <a:pt x="0" y="2016573"/>
                    </a:moveTo>
                    <a:lnTo>
                      <a:pt x="3832134" y="2016573"/>
                    </a:lnTo>
                    <a:lnTo>
                      <a:pt x="3832134" y="0"/>
                    </a:lnTo>
                    <a:lnTo>
                      <a:pt x="596865" y="0"/>
                    </a:lnTo>
                    <a:close/>
                  </a:path>
                </a:pathLst>
              </a:cu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9" name="小红书平北职场PPT17-4"/>
              <p:cNvSpPr/>
              <p:nvPr/>
            </p:nvSpPr>
            <p:spPr>
              <a:xfrm>
                <a:off x="7966366" y="886452"/>
                <a:ext cx="3653239" cy="472337"/>
              </a:xfrm>
              <a:custGeom>
                <a:avLst/>
                <a:gdLst>
                  <a:gd name="connsiteX0" fmla="*/ 0 w 3653239"/>
                  <a:gd name="connsiteY0" fmla="*/ 0 h 472337"/>
                  <a:gd name="connsiteX1" fmla="*/ 3653239 w 3653239"/>
                  <a:gd name="connsiteY1" fmla="*/ 0 h 472337"/>
                  <a:gd name="connsiteX2" fmla="*/ 3653239 w 3653239"/>
                  <a:gd name="connsiteY2" fmla="*/ 472337 h 472337"/>
                  <a:gd name="connsiteX3" fmla="*/ 159051 w 3653239"/>
                  <a:gd name="connsiteY3" fmla="*/ 472337 h 472337"/>
                </a:gdLst>
                <a:ahLst/>
                <a:cxnLst>
                  <a:cxn ang="0">
                    <a:pos x="connsiteX0" y="connsiteY0"/>
                  </a:cxn>
                  <a:cxn ang="0">
                    <a:pos x="connsiteX1" y="connsiteY1"/>
                  </a:cxn>
                  <a:cxn ang="0">
                    <a:pos x="connsiteX2" y="connsiteY2"/>
                  </a:cxn>
                  <a:cxn ang="0">
                    <a:pos x="connsiteX3" y="connsiteY3"/>
                  </a:cxn>
                </a:cxnLst>
                <a:rect l="l" t="t" r="r" b="b"/>
                <a:pathLst>
                  <a:path w="3653239" h="472337">
                    <a:moveTo>
                      <a:pt x="0" y="0"/>
                    </a:moveTo>
                    <a:lnTo>
                      <a:pt x="3653239" y="0"/>
                    </a:lnTo>
                    <a:lnTo>
                      <a:pt x="3653239" y="472337"/>
                    </a:lnTo>
                    <a:lnTo>
                      <a:pt x="159051" y="472337"/>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grpSp>
        <p:nvGrpSpPr>
          <p:cNvPr id="20" name="小红书平北职场PPT18"/>
          <p:cNvGrpSpPr/>
          <p:nvPr/>
        </p:nvGrpSpPr>
        <p:grpSpPr>
          <a:xfrm>
            <a:off x="8321534" y="927912"/>
            <a:ext cx="3177473" cy="5465183"/>
            <a:chOff x="8210697" y="927912"/>
            <a:chExt cx="3177473" cy="5465183"/>
          </a:xfrm>
        </p:grpSpPr>
        <p:grpSp>
          <p:nvGrpSpPr>
            <p:cNvPr id="40" name="组合 39"/>
            <p:cNvGrpSpPr/>
            <p:nvPr/>
          </p:nvGrpSpPr>
          <p:grpSpPr>
            <a:xfrm>
              <a:off x="8330922" y="927912"/>
              <a:ext cx="3057247" cy="1503435"/>
              <a:chOff x="8330922" y="927912"/>
              <a:chExt cx="3057247" cy="1503435"/>
            </a:xfrm>
          </p:grpSpPr>
          <p:sp>
            <p:nvSpPr>
              <p:cNvPr id="44" name="小红书平北职场PPT18-1"/>
              <p:cNvSpPr txBox="1"/>
              <p:nvPr/>
            </p:nvSpPr>
            <p:spPr>
              <a:xfrm>
                <a:off x="8534524" y="1399205"/>
                <a:ext cx="2853645" cy="1032142"/>
              </a:xfrm>
              <a:prstGeom prst="rect">
                <a:avLst/>
              </a:prstGeom>
              <a:noFill/>
            </p:spPr>
            <p:txBody>
              <a:bodyPr wrap="square">
                <a:spAutoFit/>
              </a:bodyPr>
              <a:lstStyle/>
              <a:p>
                <a:pPr algn="r">
                  <a:lnSpc>
                    <a:spcPct val="130000"/>
                  </a:lnSpc>
                </a:pPr>
                <a:r>
                  <a:rPr lang="zh-CN" altLang="en-US" sz="1200" dirty="0">
                    <a:cs typeface="思源黑体 CN Normal" panose="020B0400000000000000" pitchFamily="34" charset="-122"/>
                  </a:rPr>
                  <a:t>通过上述体系的协同运作，实现了运营成本优化与工作效率跨越式增长</a:t>
                </a:r>
                <a:endParaRPr lang="en-US" altLang="zh-CN" sz="1200" dirty="0">
                  <a:cs typeface="思源黑体 CN Normal" panose="020B0400000000000000" pitchFamily="34" charset="-122"/>
                </a:endParaRPr>
              </a:p>
              <a:p>
                <a:pPr algn="r">
                  <a:lnSpc>
                    <a:spcPct val="130000"/>
                  </a:lnSpc>
                </a:pPr>
                <a:r>
                  <a:rPr lang="zh-CN" altLang="en-US" sz="1200" dirty="0">
                    <a:cs typeface="思源黑体 CN Normal" panose="020B0400000000000000" pitchFamily="34" charset="-122"/>
                  </a:rPr>
                  <a:t>关键业务指标持续改善，市场占有率稳步提升，为企业带来了经济效益</a:t>
                </a:r>
                <a:endParaRPr lang="zh-CN" altLang="en-US" sz="1200" dirty="0">
                  <a:cs typeface="思源黑体 CN Normal" panose="020B0400000000000000" pitchFamily="34" charset="-122"/>
                </a:endParaRPr>
              </a:p>
            </p:txBody>
          </p:sp>
          <p:sp>
            <p:nvSpPr>
              <p:cNvPr id="45" name="小红书平北职场PPT18-2"/>
              <p:cNvSpPr txBox="1"/>
              <p:nvPr/>
            </p:nvSpPr>
            <p:spPr>
              <a:xfrm>
                <a:off x="8330922" y="927912"/>
                <a:ext cx="3057247" cy="338554"/>
              </a:xfrm>
              <a:prstGeom prst="rect">
                <a:avLst/>
              </a:prstGeom>
              <a:noFill/>
            </p:spPr>
            <p:txBody>
              <a:bodyPr wrap="none">
                <a:spAutoFit/>
              </a:bodyPr>
              <a:lstStyle/>
              <a:p>
                <a:pPr algn="r"/>
                <a:r>
                  <a:rPr kumimoji="0" lang="zh-CN" altLang="en-US" sz="1600"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成果一：运营效能与业绩的提升</a:t>
                </a:r>
                <a:endParaRPr lang="zh-CN" altLang="en-US" sz="2400" dirty="0">
                  <a:solidFill>
                    <a:schemeClr val="bg1"/>
                  </a:solidFill>
                  <a:latin typeface="+mj-ea"/>
                  <a:ea typeface="+mj-ea"/>
                  <a:cs typeface="思源黑体 CN Normal" panose="020B0400000000000000" pitchFamily="34" charset="-122"/>
                </a:endParaRPr>
              </a:p>
            </p:txBody>
          </p:sp>
        </p:grpSp>
        <p:grpSp>
          <p:nvGrpSpPr>
            <p:cNvPr id="41" name="组合 40"/>
            <p:cNvGrpSpPr/>
            <p:nvPr/>
          </p:nvGrpSpPr>
          <p:grpSpPr>
            <a:xfrm>
              <a:off x="8210697" y="4863289"/>
              <a:ext cx="3177473" cy="1529806"/>
              <a:chOff x="8210697" y="1426915"/>
              <a:chExt cx="3177473" cy="1529806"/>
            </a:xfrm>
          </p:grpSpPr>
          <p:sp>
            <p:nvSpPr>
              <p:cNvPr id="42" name="小红书平北职场PPT18-3"/>
              <p:cNvSpPr txBox="1"/>
              <p:nvPr/>
            </p:nvSpPr>
            <p:spPr>
              <a:xfrm>
                <a:off x="8534524" y="1426915"/>
                <a:ext cx="2853645" cy="1032142"/>
              </a:xfrm>
              <a:prstGeom prst="rect">
                <a:avLst/>
              </a:prstGeom>
              <a:noFill/>
            </p:spPr>
            <p:txBody>
              <a:bodyPr wrap="square">
                <a:spAutoFit/>
              </a:bodyPr>
              <a:lstStyle/>
              <a:p>
                <a:pPr algn="r">
                  <a:lnSpc>
                    <a:spcPct val="130000"/>
                  </a:lnSpc>
                </a:pPr>
                <a:r>
                  <a:rPr lang="zh-CN" altLang="en-US" sz="1200" dirty="0">
                    <a:cs typeface="思源黑体 CN Normal" panose="020B0400000000000000" pitchFamily="34" charset="-122"/>
                  </a:rPr>
                  <a:t>超越了短期业绩波动，成功锻造了组织的长期核心竞争力</a:t>
                </a:r>
                <a:endParaRPr lang="en-US" altLang="zh-CN" sz="1200" dirty="0">
                  <a:cs typeface="思源黑体 CN Normal" panose="020B0400000000000000" pitchFamily="34" charset="-122"/>
                </a:endParaRPr>
              </a:p>
              <a:p>
                <a:pPr algn="r">
                  <a:lnSpc>
                    <a:spcPct val="130000"/>
                  </a:lnSpc>
                </a:pPr>
                <a:r>
                  <a:rPr lang="zh-CN" altLang="en-US" sz="1200" dirty="0">
                    <a:cs typeface="思源黑体 CN Normal" panose="020B0400000000000000" pitchFamily="34" charset="-122"/>
                  </a:rPr>
                  <a:t>形成了数据驱动、持续改进的文化基因，建立了高度自驱、能力复合人才梯队</a:t>
                </a:r>
                <a:endParaRPr lang="zh-CN" altLang="en-US" sz="1200" dirty="0">
                  <a:cs typeface="思源黑体 CN Normal" panose="020B0400000000000000" pitchFamily="34" charset="-122"/>
                </a:endParaRPr>
              </a:p>
            </p:txBody>
          </p:sp>
          <p:sp>
            <p:nvSpPr>
              <p:cNvPr id="43" name="小红书平北职场PPT18-4"/>
              <p:cNvSpPr txBox="1"/>
              <p:nvPr/>
            </p:nvSpPr>
            <p:spPr>
              <a:xfrm>
                <a:off x="8210697" y="2618167"/>
                <a:ext cx="3177473" cy="338554"/>
              </a:xfrm>
              <a:prstGeom prst="rect">
                <a:avLst/>
              </a:prstGeom>
              <a:noFill/>
            </p:spPr>
            <p:txBody>
              <a:bodyPr wrap="none">
                <a:spAutoFit/>
              </a:bodyPr>
              <a:lstStyle/>
              <a:p>
                <a:pPr algn="r"/>
                <a:r>
                  <a:rPr kumimoji="0" lang="zh-CN" altLang="en-US" sz="1600"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成果二：</a:t>
                </a:r>
                <a:r>
                  <a:rPr lang="zh-CN" altLang="en-US" sz="1600" dirty="0">
                    <a:solidFill>
                      <a:schemeClr val="bg1"/>
                    </a:solidFill>
                    <a:latin typeface="+mj-ea"/>
                    <a:ea typeface="+mj-ea"/>
                    <a:cs typeface="思源黑体 CN Normal" panose="020B0400000000000000" pitchFamily="34" charset="-122"/>
                  </a:rPr>
                  <a:t>可持续</a:t>
                </a:r>
                <a:r>
                  <a:rPr kumimoji="0" lang="zh-CN" altLang="en-US" sz="1600"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组织韧性的构建</a:t>
                </a:r>
                <a:endParaRPr lang="zh-CN" altLang="en-US" sz="2400" dirty="0">
                  <a:solidFill>
                    <a:schemeClr val="bg1"/>
                  </a:solidFill>
                  <a:latin typeface="+mj-ea"/>
                  <a:ea typeface="+mj-ea"/>
                  <a:cs typeface="思源黑体 CN Normal" panose="020B0400000000000000" pitchFamily="34" charset="-122"/>
                </a:endParaRPr>
              </a:p>
            </p:txBody>
          </p:sp>
        </p:grpSp>
      </p:grpSp>
    </p:spTree>
    <p:custDataLst>
      <p:tags r:id="rId24"/>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350594" y="954079"/>
            <a:ext cx="8872501" cy="5683456"/>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endParaRPr>
          </a:p>
        </p:txBody>
      </p:sp>
      <p:sp>
        <p:nvSpPr>
          <p:cNvPr id="3" name="小红书平北职场PPT2"/>
          <p:cNvSpPr/>
          <p:nvPr/>
        </p:nvSpPr>
        <p:spPr>
          <a:xfrm>
            <a:off x="649659" y="1145282"/>
            <a:ext cx="8277670" cy="517507"/>
          </a:xfrm>
          <a:prstGeom prst="roundRect">
            <a:avLst>
              <a:gd name="adj" fmla="val 7554"/>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4" name="小红书平北职场PPT3"/>
          <p:cNvSpPr/>
          <p:nvPr/>
        </p:nvSpPr>
        <p:spPr>
          <a:xfrm>
            <a:off x="499888" y="4964469"/>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5" name="小红书平北职场PPT4"/>
          <p:cNvSpPr/>
          <p:nvPr/>
        </p:nvSpPr>
        <p:spPr>
          <a:xfrm>
            <a:off x="635591" y="5105514"/>
            <a:ext cx="1195730" cy="405746"/>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产品五</a:t>
            </a:r>
            <a:endParaRPr lang="zh-CN" altLang="en-US" sz="1600" b="1" dirty="0">
              <a:solidFill>
                <a:schemeClr val="bg1"/>
              </a:solidFill>
              <a:latin typeface="+mj-ea"/>
              <a:ea typeface="+mj-ea"/>
            </a:endParaRPr>
          </a:p>
        </p:txBody>
      </p:sp>
      <p:sp>
        <p:nvSpPr>
          <p:cNvPr id="6" name="小红书平北职场PPT5"/>
          <p:cNvSpPr/>
          <p:nvPr/>
        </p:nvSpPr>
        <p:spPr>
          <a:xfrm>
            <a:off x="499888" y="5749566"/>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7" name="小红书平北职场PPT6"/>
          <p:cNvSpPr/>
          <p:nvPr/>
        </p:nvSpPr>
        <p:spPr>
          <a:xfrm>
            <a:off x="635591" y="5890613"/>
            <a:ext cx="1195730" cy="405746"/>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产品六</a:t>
            </a:r>
            <a:endParaRPr lang="zh-CN" altLang="en-US" sz="1600" b="1" dirty="0">
              <a:solidFill>
                <a:schemeClr val="bg1"/>
              </a:solidFill>
              <a:latin typeface="+mj-ea"/>
              <a:ea typeface="+mj-ea"/>
            </a:endParaRPr>
          </a:p>
        </p:txBody>
      </p:sp>
      <p:sp>
        <p:nvSpPr>
          <p:cNvPr id="8" name="小红书平北职场PPT7"/>
          <p:cNvSpPr/>
          <p:nvPr/>
        </p:nvSpPr>
        <p:spPr>
          <a:xfrm>
            <a:off x="499888" y="3394273"/>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9" name="小红书平北职场PPT8"/>
          <p:cNvSpPr/>
          <p:nvPr/>
        </p:nvSpPr>
        <p:spPr>
          <a:xfrm>
            <a:off x="635591" y="3535318"/>
            <a:ext cx="1195730" cy="405746"/>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产品三</a:t>
            </a:r>
            <a:endParaRPr lang="zh-CN" altLang="en-US" sz="1600" b="1" dirty="0">
              <a:solidFill>
                <a:schemeClr val="bg1"/>
              </a:solidFill>
              <a:latin typeface="+mj-ea"/>
              <a:ea typeface="+mj-ea"/>
            </a:endParaRPr>
          </a:p>
        </p:txBody>
      </p:sp>
      <p:sp>
        <p:nvSpPr>
          <p:cNvPr id="10" name="小红书平北职场PPT9"/>
          <p:cNvSpPr/>
          <p:nvPr/>
        </p:nvSpPr>
        <p:spPr>
          <a:xfrm>
            <a:off x="499888" y="4179371"/>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11" name="小红书平北职场PPT10"/>
          <p:cNvSpPr/>
          <p:nvPr/>
        </p:nvSpPr>
        <p:spPr>
          <a:xfrm>
            <a:off x="635591" y="4320418"/>
            <a:ext cx="1195730" cy="405746"/>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产品四</a:t>
            </a:r>
            <a:endParaRPr lang="zh-CN" altLang="en-US" sz="1600" b="1" dirty="0">
              <a:solidFill>
                <a:schemeClr val="bg1"/>
              </a:solidFill>
              <a:latin typeface="+mj-ea"/>
              <a:ea typeface="+mj-ea"/>
            </a:endParaRPr>
          </a:p>
        </p:txBody>
      </p:sp>
      <p:sp>
        <p:nvSpPr>
          <p:cNvPr id="12" name="小红书平北职场PPT11"/>
          <p:cNvSpPr/>
          <p:nvPr/>
        </p:nvSpPr>
        <p:spPr>
          <a:xfrm>
            <a:off x="499888" y="1824077"/>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13" name="小红书平北职场PPT12"/>
          <p:cNvSpPr/>
          <p:nvPr/>
        </p:nvSpPr>
        <p:spPr>
          <a:xfrm>
            <a:off x="635591" y="1965124"/>
            <a:ext cx="1195730" cy="405746"/>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产品一</a:t>
            </a:r>
            <a:endParaRPr lang="zh-CN" altLang="en-US" sz="1600" b="1" dirty="0">
              <a:solidFill>
                <a:schemeClr val="bg1"/>
              </a:solidFill>
              <a:latin typeface="+mj-ea"/>
              <a:ea typeface="+mj-ea"/>
            </a:endParaRPr>
          </a:p>
        </p:txBody>
      </p:sp>
      <p:sp>
        <p:nvSpPr>
          <p:cNvPr id="14" name="小红书平北职场PPT13"/>
          <p:cNvSpPr/>
          <p:nvPr/>
        </p:nvSpPr>
        <p:spPr>
          <a:xfrm>
            <a:off x="499888" y="2609175"/>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15" name="小红书平北职场PPT14"/>
          <p:cNvSpPr/>
          <p:nvPr/>
        </p:nvSpPr>
        <p:spPr>
          <a:xfrm>
            <a:off x="635591" y="2750220"/>
            <a:ext cx="1195730" cy="405746"/>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产品二</a:t>
            </a:r>
            <a:endParaRPr lang="zh-CN" altLang="en-US" sz="1600" b="1" dirty="0">
              <a:solidFill>
                <a:schemeClr val="bg1"/>
              </a:solidFill>
              <a:latin typeface="+mj-ea"/>
              <a:ea typeface="+mj-ea"/>
            </a:endParaRPr>
          </a:p>
        </p:txBody>
      </p:sp>
      <p:grpSp>
        <p:nvGrpSpPr>
          <p:cNvPr id="16" name="小红书平北职场PPT15"/>
          <p:cNvGrpSpPr/>
          <p:nvPr/>
        </p:nvGrpSpPr>
        <p:grpSpPr>
          <a:xfrm>
            <a:off x="8450760" y="1914488"/>
            <a:ext cx="501044" cy="4426533"/>
            <a:chOff x="8450760" y="1914488"/>
            <a:chExt cx="501044" cy="4426533"/>
          </a:xfrm>
        </p:grpSpPr>
        <p:sp>
          <p:nvSpPr>
            <p:cNvPr id="17" name="小红书平北职场PPT15-1"/>
            <p:cNvSpPr/>
            <p:nvPr/>
          </p:nvSpPr>
          <p:spPr>
            <a:xfrm>
              <a:off x="8450760" y="5054880"/>
              <a:ext cx="501044" cy="501044"/>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8" name="小红书平北职场PPT15-2"/>
            <p:cNvSpPr/>
            <p:nvPr/>
          </p:nvSpPr>
          <p:spPr>
            <a:xfrm>
              <a:off x="8450760" y="5839977"/>
              <a:ext cx="501044" cy="501044"/>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9" name="小红书平北职场PPT15-3"/>
            <p:cNvSpPr/>
            <p:nvPr/>
          </p:nvSpPr>
          <p:spPr>
            <a:xfrm>
              <a:off x="8450760" y="3484684"/>
              <a:ext cx="501044" cy="501044"/>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20" name="小红书平北职场PPT15-4"/>
            <p:cNvSpPr/>
            <p:nvPr/>
          </p:nvSpPr>
          <p:spPr>
            <a:xfrm>
              <a:off x="8450760" y="4269782"/>
              <a:ext cx="501044" cy="501044"/>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21" name="小红书平北职场PPT15-5"/>
            <p:cNvSpPr/>
            <p:nvPr/>
          </p:nvSpPr>
          <p:spPr>
            <a:xfrm>
              <a:off x="8450760" y="1914488"/>
              <a:ext cx="501044" cy="501044"/>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22" name="小红书平北职场PPT15-6"/>
            <p:cNvSpPr/>
            <p:nvPr/>
          </p:nvSpPr>
          <p:spPr>
            <a:xfrm>
              <a:off x="8450760" y="2699586"/>
              <a:ext cx="501044" cy="501044"/>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23" name="小红书平北职场PPT15-7"/>
            <p:cNvSpPr/>
            <p:nvPr/>
          </p:nvSpPr>
          <p:spPr>
            <a:xfrm rot="20700000" flipV="1">
              <a:off x="8631302" y="5147108"/>
              <a:ext cx="175080" cy="322636"/>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小红书平北职场PPT15-8"/>
            <p:cNvSpPr/>
            <p:nvPr/>
          </p:nvSpPr>
          <p:spPr>
            <a:xfrm rot="20700000" flipV="1">
              <a:off x="8631302" y="5916149"/>
              <a:ext cx="175080" cy="322636"/>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小红书平北职场PPT15-9"/>
            <p:cNvSpPr/>
            <p:nvPr/>
          </p:nvSpPr>
          <p:spPr>
            <a:xfrm rot="900000">
              <a:off x="8631302" y="3552897"/>
              <a:ext cx="175080" cy="322634"/>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小红书平北职场PPT15-10"/>
            <p:cNvSpPr/>
            <p:nvPr/>
          </p:nvSpPr>
          <p:spPr>
            <a:xfrm rot="900000">
              <a:off x="8631302" y="4335972"/>
              <a:ext cx="175080" cy="322634"/>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小红书平北职场PPT15-11"/>
            <p:cNvSpPr/>
            <p:nvPr/>
          </p:nvSpPr>
          <p:spPr>
            <a:xfrm rot="900000">
              <a:off x="8631302" y="1986749"/>
              <a:ext cx="175080" cy="322634"/>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小红书平北职场PPT15-12"/>
            <p:cNvSpPr/>
            <p:nvPr/>
          </p:nvSpPr>
          <p:spPr>
            <a:xfrm rot="900000">
              <a:off x="8631302" y="2769824"/>
              <a:ext cx="175080" cy="322634"/>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0" name="小红书平北职场PPT16-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小红书平北职场PPT16-2"/>
          <p:cNvSpPr txBox="1"/>
          <p:nvPr>
            <p:custDataLst>
              <p:tags r:id="rId2"/>
            </p:custDataLst>
          </p:nvPr>
        </p:nvSpPr>
        <p:spPr>
          <a:xfrm>
            <a:off x="334963" y="184318"/>
            <a:ext cx="4206280"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2025</a:t>
            </a:r>
            <a:r>
              <a:rPr lang="zh-CN" altLang="en-US" sz="2800" dirty="0">
                <a:latin typeface="+mj-ea"/>
                <a:ea typeface="+mj-ea"/>
                <a:cs typeface="思源黑体 CN Normal" panose="020B0400000000000000" pitchFamily="34" charset="-122"/>
                <a:sym typeface="+mj-ea"/>
              </a:rPr>
              <a:t>年产品销售情况分析</a:t>
            </a:r>
            <a:endParaRPr lang="zh-CN" altLang="en-US" sz="2800" dirty="0">
              <a:latin typeface="+mj-ea"/>
              <a:ea typeface="+mj-ea"/>
              <a:cs typeface="思源黑体 CN Normal" panose="020B0400000000000000" pitchFamily="34" charset="-122"/>
              <a:sym typeface="+mj-ea"/>
            </a:endParaRPr>
          </a:p>
        </p:txBody>
      </p:sp>
      <p:graphicFrame>
        <p:nvGraphicFramePr>
          <p:cNvPr id="32" name="小红书平北职场PPT17"/>
          <p:cNvGraphicFramePr>
            <a:graphicFrameLocks noGrp="1"/>
          </p:cNvGraphicFramePr>
          <p:nvPr/>
        </p:nvGraphicFramePr>
        <p:xfrm>
          <a:off x="1235524" y="1748274"/>
          <a:ext cx="6926196" cy="4735218"/>
        </p:xfrm>
        <a:graphic>
          <a:graphicData uri="http://schemas.openxmlformats.org/drawingml/2006/table">
            <a:tbl>
              <a:tblPr firstRow="1" bandRow="1">
                <a:tableStyleId>{5C22544A-7EE6-4342-B048-85BDC9FD1C3A}</a:tableStyleId>
              </a:tblPr>
              <a:tblGrid>
                <a:gridCol w="1731549"/>
                <a:gridCol w="1731549"/>
                <a:gridCol w="1731549"/>
                <a:gridCol w="1731549"/>
              </a:tblGrid>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7.3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946.6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836.4</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2000" b="0" i="0" u="none" strike="noStrike"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rPr>
                        <a:t>13.2%</a:t>
                      </a:r>
                      <a:endParaRPr lang="en-US" altLang="zh-CN" sz="2000" b="0" i="0" u="none" strike="noStrike"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14.0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1,814.5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1408.5</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r" defTabSz="914400" rtl="0" eaLnBrk="1" fontAlgn="ctr" latinLnBrk="0" hangingPunct="1"/>
                      <a:r>
                        <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rPr>
                        <a:t>28.8%</a:t>
                      </a:r>
                      <a:endPar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11.5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1,486.4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1035.4</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r" defTabSz="914400" rtl="0" eaLnBrk="1" fontAlgn="ctr" latinLnBrk="0" hangingPunct="1"/>
                      <a:r>
                        <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rPr>
                        <a:t>43.6%</a:t>
                      </a:r>
                      <a:endPar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9.5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1,234.2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907.2</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r" defTabSz="914400" rtl="0" eaLnBrk="1" fontAlgn="ctr" latinLnBrk="0" hangingPunct="1"/>
                      <a:r>
                        <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rPr>
                        <a:t>36.0%</a:t>
                      </a:r>
                      <a:endPar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7.6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979.2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1234.7</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2000" b="0" i="0" u="none" strike="noStrike" baseline="0" dirty="0">
                          <a:gradFill>
                            <a:gsLst>
                              <a:gs pos="0">
                                <a:schemeClr val="accent1">
                                  <a:lumMod val="60000"/>
                                  <a:lumOff val="40000"/>
                                </a:schemeClr>
                              </a:gs>
                              <a:gs pos="100000">
                                <a:schemeClr val="accent1"/>
                              </a:gs>
                            </a:gsLst>
                            <a:lin ang="0" scaled="1"/>
                          </a:gradFill>
                          <a:effectLst/>
                          <a:latin typeface="+mj-ea"/>
                          <a:ea typeface="+mj-ea"/>
                          <a:cs typeface="思源黑体 CN Heavy" panose="020B0A00000000000000" charset="-122"/>
                        </a:rPr>
                        <a:t>-20.7%</a:t>
                      </a:r>
                      <a:endParaRPr lang="en-US" altLang="zh-CN" sz="2000" b="0" i="0" u="none" strike="noStrike" baseline="0" dirty="0">
                        <a:gradFill>
                          <a:gsLst>
                            <a:gs pos="0">
                              <a:schemeClr val="accent1">
                                <a:lumMod val="60000"/>
                                <a:lumOff val="40000"/>
                              </a:schemeClr>
                            </a:gs>
                            <a:gs pos="100000">
                              <a:schemeClr val="accent1"/>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6.1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784.9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931.2</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2000" b="0" i="0" u="none" strike="noStrike" baseline="0" dirty="0">
                          <a:gradFill>
                            <a:gsLst>
                              <a:gs pos="0">
                                <a:schemeClr val="accent1">
                                  <a:lumMod val="60000"/>
                                  <a:lumOff val="40000"/>
                                </a:schemeClr>
                              </a:gs>
                              <a:gs pos="100000">
                                <a:schemeClr val="accent1"/>
                              </a:gs>
                            </a:gsLst>
                            <a:lin ang="0" scaled="1"/>
                          </a:gradFill>
                          <a:effectLst/>
                          <a:latin typeface="+mj-ea"/>
                          <a:ea typeface="+mj-ea"/>
                          <a:cs typeface="思源黑体 CN Heavy" panose="020B0A00000000000000" charset="-122"/>
                        </a:rPr>
                        <a:t>-15.7%</a:t>
                      </a:r>
                      <a:endParaRPr lang="en-US" altLang="zh-CN" sz="2000" b="0" i="0" u="none" strike="noStrike" baseline="0" dirty="0">
                        <a:gradFill>
                          <a:gsLst>
                            <a:gs pos="0">
                              <a:schemeClr val="accent1">
                                <a:lumMod val="60000"/>
                                <a:lumOff val="40000"/>
                              </a:schemeClr>
                            </a:gs>
                            <a:gs pos="100000">
                              <a:schemeClr val="accent1"/>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grpSp>
        <p:nvGrpSpPr>
          <p:cNvPr id="33" name="小红书平北职场PPT18"/>
          <p:cNvGrpSpPr/>
          <p:nvPr/>
        </p:nvGrpSpPr>
        <p:grpSpPr>
          <a:xfrm>
            <a:off x="9539333" y="1090252"/>
            <a:ext cx="2338387" cy="5507020"/>
            <a:chOff x="609601" y="1460505"/>
            <a:chExt cx="2338387" cy="4705581"/>
          </a:xfrm>
        </p:grpSpPr>
        <p:sp>
          <p:nvSpPr>
            <p:cNvPr id="34" name="小红书平北职场PPT18-1"/>
            <p:cNvSpPr/>
            <p:nvPr/>
          </p:nvSpPr>
          <p:spPr>
            <a:xfrm>
              <a:off x="609601" y="1460505"/>
              <a:ext cx="2338387" cy="1354621"/>
            </a:xfrm>
            <a:prstGeom prst="round2SameRect">
              <a:avLst>
                <a:gd name="adj1" fmla="val 17210"/>
                <a:gd name="adj2"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35" name="小红书平北职场PPT18-2"/>
            <p:cNvSpPr/>
            <p:nvPr/>
          </p:nvSpPr>
          <p:spPr>
            <a:xfrm>
              <a:off x="609601" y="1460507"/>
              <a:ext cx="2338387" cy="394501"/>
            </a:xfrm>
            <a:prstGeom prst="round2DiagRect">
              <a:avLst>
                <a:gd name="adj1" fmla="val 50000"/>
                <a:gd name="adj2" fmla="val 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36" name="小红书平北职场PPT18-3"/>
            <p:cNvSpPr txBox="1"/>
            <p:nvPr>
              <p:custDataLst>
                <p:tags r:id="rId3"/>
              </p:custDataLst>
            </p:nvPr>
          </p:nvSpPr>
          <p:spPr>
            <a:xfrm>
              <a:off x="875780" y="2063495"/>
              <a:ext cx="996298" cy="465905"/>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3600" i="0" u="none" strike="noStrike" kern="1200" cap="none" spc="0" normalizeH="0" noProof="0" dirty="0">
                  <a:ln>
                    <a:noFill/>
                  </a:ln>
                  <a:gradFill>
                    <a:gsLst>
                      <a:gs pos="0">
                        <a:schemeClr val="accent2">
                          <a:lumMod val="60000"/>
                          <a:lumOff val="40000"/>
                        </a:schemeClr>
                      </a:gs>
                      <a:gs pos="100000">
                        <a:schemeClr val="accent2"/>
                      </a:gs>
                    </a:gsLst>
                    <a:lin ang="0" scaled="1"/>
                  </a:gradFill>
                  <a:effectLst/>
                  <a:uLnTx/>
                  <a:uFillTx/>
                  <a:ea typeface="+mj-ea"/>
                  <a:cs typeface="思源黑体 CN Heavy" panose="020B0A00000000000000" charset="-122"/>
                </a:rPr>
                <a:t>439.1</a:t>
              </a:r>
              <a:endParaRPr lang="zh-CN" altLang="en-US" sz="3600" dirty="0">
                <a:gradFill>
                  <a:gsLst>
                    <a:gs pos="0">
                      <a:schemeClr val="accent2">
                        <a:lumMod val="60000"/>
                        <a:lumOff val="40000"/>
                      </a:schemeClr>
                    </a:gs>
                    <a:gs pos="100000">
                      <a:schemeClr val="accent2"/>
                    </a:gs>
                  </a:gsLst>
                  <a:lin ang="0" scaled="1"/>
                </a:gradFill>
                <a:effectLst/>
                <a:ea typeface="+mj-ea"/>
                <a:cs typeface="思源黑体 CN Heavy" panose="020B0A00000000000000" charset="-122"/>
              </a:endParaRPr>
            </a:p>
          </p:txBody>
        </p:sp>
        <p:sp>
          <p:nvSpPr>
            <p:cNvPr id="37" name="小红书平北职场PPT18-4"/>
            <p:cNvSpPr txBox="1"/>
            <p:nvPr>
              <p:custDataLst>
                <p:tags r:id="rId4"/>
              </p:custDataLst>
            </p:nvPr>
          </p:nvSpPr>
          <p:spPr>
            <a:xfrm>
              <a:off x="833576" y="1558309"/>
              <a:ext cx="1097161" cy="246221"/>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normalizeH="0" noProof="0" dirty="0">
                  <a:ln>
                    <a:noFill/>
                  </a:ln>
                  <a:effectLst/>
                  <a:uLnTx/>
                  <a:uFillTx/>
                  <a:cs typeface="思源黑体 CN Heavy" panose="020B0A00000000000000" charset="-122"/>
                </a:rPr>
                <a:t>全年</a:t>
              </a:r>
              <a:r>
                <a:rPr lang="zh-CN" altLang="en-US" sz="1600" dirty="0">
                  <a:cs typeface="思源黑体 CN Heavy" panose="020B0A00000000000000" charset="-122"/>
                </a:rPr>
                <a:t>总</a:t>
              </a:r>
              <a:r>
                <a:rPr kumimoji="0" lang="zh-CN" altLang="en-US" sz="1600" i="0" u="none" strike="noStrike" kern="1200" cap="none" normalizeH="0" noProof="0" dirty="0">
                  <a:ln>
                    <a:noFill/>
                  </a:ln>
                  <a:effectLst/>
                  <a:uLnTx/>
                  <a:uFillTx/>
                  <a:cs typeface="思源黑体 CN Heavy" panose="020B0A00000000000000" charset="-122"/>
                </a:rPr>
                <a:t>收入</a:t>
              </a:r>
              <a:endParaRPr kumimoji="0" lang="zh-CN" altLang="en-US" sz="1600" i="0" u="none" strike="noStrike" kern="1200" cap="none" normalizeH="0" noProof="0" dirty="0">
                <a:ln>
                  <a:noFill/>
                </a:ln>
                <a:effectLst/>
                <a:uLnTx/>
                <a:uFillTx/>
                <a:cs typeface="思源黑体 CN Heavy" panose="020B0A00000000000000" charset="-122"/>
              </a:endParaRPr>
            </a:p>
          </p:txBody>
        </p:sp>
        <p:sp>
          <p:nvSpPr>
            <p:cNvPr id="38" name="小红书平北职场PPT18-5"/>
            <p:cNvSpPr/>
            <p:nvPr/>
          </p:nvSpPr>
          <p:spPr>
            <a:xfrm>
              <a:off x="1992479" y="1660575"/>
              <a:ext cx="96956" cy="83583"/>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9" name="小红书平北职场PPT18-6"/>
            <p:cNvSpPr txBox="1"/>
            <p:nvPr>
              <p:custDataLst>
                <p:tags r:id="rId5"/>
              </p:custDataLst>
            </p:nvPr>
          </p:nvSpPr>
          <p:spPr>
            <a:xfrm>
              <a:off x="2279738" y="1568730"/>
              <a:ext cx="497212" cy="184090"/>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normalizeH="0" noProof="0" dirty="0">
                  <a:ln>
                    <a:noFill/>
                  </a:ln>
                  <a:effectLst/>
                  <a:uLnTx/>
                  <a:uFillTx/>
                  <a:latin typeface="+mn-lt"/>
                  <a:ea typeface="+mn-ea"/>
                  <a:cs typeface="思源黑体 CN Heavy" panose="020B0A00000000000000" charset="-122"/>
                </a:rPr>
                <a:t>13.5%</a:t>
              </a:r>
              <a:endParaRPr kumimoji="0" lang="zh-CN" altLang="en-US" i="0" u="none" strike="noStrike" kern="1200" cap="none" normalizeH="0" noProof="0" dirty="0">
                <a:ln>
                  <a:noFill/>
                </a:ln>
                <a:effectLst/>
                <a:uLnTx/>
                <a:uFillTx/>
                <a:latin typeface="+mn-lt"/>
                <a:ea typeface="+mn-ea"/>
                <a:cs typeface="思源黑体 CN Heavy" panose="020B0A00000000000000" charset="-122"/>
              </a:endParaRPr>
            </a:p>
          </p:txBody>
        </p:sp>
        <p:sp>
          <p:nvSpPr>
            <p:cNvPr id="40" name="小红书平北职场PPT18-7"/>
            <p:cNvSpPr txBox="1"/>
            <p:nvPr>
              <p:custDataLst>
                <p:tags r:id="rId6"/>
              </p:custDataLst>
            </p:nvPr>
          </p:nvSpPr>
          <p:spPr>
            <a:xfrm>
              <a:off x="2216401" y="2304249"/>
              <a:ext cx="425432" cy="207069"/>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lumMod val="75000"/>
                      <a:lumOff val="25000"/>
                    </a:schemeClr>
                  </a:solidFill>
                  <a:latin typeface="+mn-ea"/>
                  <a:ea typeface="+mn-ea"/>
                  <a:cs typeface="思源黑体 CN Heavy" panose="020B0A00000000000000" charset="-122"/>
                </a:rPr>
                <a:t>万元</a:t>
              </a:r>
              <a:endParaRPr kumimoji="0" lang="zh-CN" altLang="en-US" sz="1600" i="0" u="none" strike="noStrike" kern="1200" cap="none" normalizeH="0" noProof="0" dirty="0">
                <a:ln>
                  <a:noFill/>
                </a:ln>
                <a:solidFill>
                  <a:schemeClr val="tx1">
                    <a:lumMod val="75000"/>
                    <a:lumOff val="25000"/>
                  </a:schemeClr>
                </a:solidFill>
                <a:effectLst/>
                <a:uLnTx/>
                <a:uFillTx/>
                <a:latin typeface="+mn-ea"/>
                <a:ea typeface="+mn-ea"/>
                <a:cs typeface="思源黑体 CN Heavy" panose="020B0A00000000000000" charset="-122"/>
              </a:endParaRPr>
            </a:p>
          </p:txBody>
        </p:sp>
        <p:sp>
          <p:nvSpPr>
            <p:cNvPr id="41" name="小红书平北职场PPT18-8"/>
            <p:cNvSpPr/>
            <p:nvPr/>
          </p:nvSpPr>
          <p:spPr>
            <a:xfrm>
              <a:off x="609601" y="3131195"/>
              <a:ext cx="2338387" cy="1354621"/>
            </a:xfrm>
            <a:prstGeom prst="round2SameRect">
              <a:avLst>
                <a:gd name="adj1" fmla="val 17210"/>
                <a:gd name="adj2"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42" name="小红书平北职场PPT18-9"/>
            <p:cNvSpPr/>
            <p:nvPr/>
          </p:nvSpPr>
          <p:spPr>
            <a:xfrm>
              <a:off x="609601" y="3131197"/>
              <a:ext cx="2338387" cy="394501"/>
            </a:xfrm>
            <a:prstGeom prst="round2DiagRect">
              <a:avLst>
                <a:gd name="adj1" fmla="val 50000"/>
                <a:gd name="adj2" fmla="val 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43" name="小红书平北职场PPT18-10"/>
            <p:cNvSpPr txBox="1"/>
            <p:nvPr>
              <p:custDataLst>
                <p:tags r:id="rId7"/>
              </p:custDataLst>
            </p:nvPr>
          </p:nvSpPr>
          <p:spPr>
            <a:xfrm>
              <a:off x="875780" y="3734185"/>
              <a:ext cx="825547" cy="473374"/>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3600" i="0" u="none" strike="noStrike" kern="1200" cap="none" spc="0" normalizeH="0" noProof="0" dirty="0">
                  <a:ln>
                    <a:noFill/>
                  </a:ln>
                  <a:gradFill>
                    <a:gsLst>
                      <a:gs pos="0">
                        <a:schemeClr val="accent1">
                          <a:lumMod val="60000"/>
                          <a:lumOff val="40000"/>
                        </a:schemeClr>
                      </a:gs>
                      <a:gs pos="100000">
                        <a:schemeClr val="accent1"/>
                      </a:gs>
                    </a:gsLst>
                    <a:lin ang="0" scaled="1"/>
                  </a:gradFill>
                  <a:effectLst/>
                  <a:uLnTx/>
                  <a:uFillTx/>
                  <a:ea typeface="+mj-ea"/>
                  <a:cs typeface="思源黑体 CN Heavy" panose="020B0A00000000000000" charset="-122"/>
                </a:rPr>
                <a:t>83.5</a:t>
              </a:r>
              <a:endParaRPr lang="zh-CN" altLang="en-US" sz="3600" dirty="0">
                <a:gradFill>
                  <a:gsLst>
                    <a:gs pos="0">
                      <a:schemeClr val="accent1">
                        <a:lumMod val="60000"/>
                        <a:lumOff val="40000"/>
                      </a:schemeClr>
                    </a:gs>
                    <a:gs pos="100000">
                      <a:schemeClr val="accent1"/>
                    </a:gs>
                  </a:gsLst>
                  <a:lin ang="0" scaled="1"/>
                </a:gradFill>
                <a:effectLst/>
                <a:ea typeface="+mj-ea"/>
                <a:cs typeface="思源黑体 CN Heavy" panose="020B0A00000000000000" charset="-122"/>
              </a:endParaRPr>
            </a:p>
          </p:txBody>
        </p:sp>
        <p:sp>
          <p:nvSpPr>
            <p:cNvPr id="44" name="小红书平北职场PPT18-11"/>
            <p:cNvSpPr txBox="1"/>
            <p:nvPr>
              <p:custDataLst>
                <p:tags r:id="rId8"/>
              </p:custDataLst>
            </p:nvPr>
          </p:nvSpPr>
          <p:spPr>
            <a:xfrm>
              <a:off x="833576" y="3228999"/>
              <a:ext cx="1097161" cy="246221"/>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normalizeH="0" noProof="0" dirty="0">
                  <a:ln>
                    <a:noFill/>
                  </a:ln>
                  <a:effectLst/>
                  <a:uLnTx/>
                  <a:uFillTx/>
                  <a:cs typeface="思源黑体 CN Heavy" panose="020B0A00000000000000" charset="-122"/>
                </a:rPr>
                <a:t>全年</a:t>
              </a:r>
              <a:r>
                <a:rPr lang="zh-CN" altLang="en-US" sz="1600" dirty="0">
                  <a:cs typeface="思源黑体 CN Heavy" panose="020B0A00000000000000" charset="-122"/>
                </a:rPr>
                <a:t>总利润</a:t>
              </a:r>
              <a:endParaRPr kumimoji="0" lang="zh-CN" altLang="en-US" sz="1600" i="0" u="none" strike="noStrike" kern="1200" cap="none" normalizeH="0" noProof="0" dirty="0">
                <a:ln>
                  <a:noFill/>
                </a:ln>
                <a:effectLst/>
                <a:uLnTx/>
                <a:uFillTx/>
                <a:cs typeface="思源黑体 CN Heavy" panose="020B0A00000000000000" charset="-122"/>
              </a:endParaRPr>
            </a:p>
          </p:txBody>
        </p:sp>
        <p:sp>
          <p:nvSpPr>
            <p:cNvPr id="45" name="小红书平北职场PPT18-12"/>
            <p:cNvSpPr/>
            <p:nvPr/>
          </p:nvSpPr>
          <p:spPr>
            <a:xfrm>
              <a:off x="1992479" y="3331265"/>
              <a:ext cx="96956" cy="83583"/>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6" name="小红书平北职场PPT18-13"/>
            <p:cNvSpPr txBox="1"/>
            <p:nvPr>
              <p:custDataLst>
                <p:tags r:id="rId9"/>
              </p:custDataLst>
            </p:nvPr>
          </p:nvSpPr>
          <p:spPr>
            <a:xfrm>
              <a:off x="2279738" y="3239420"/>
              <a:ext cx="497212" cy="184090"/>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normalizeH="0" noProof="0" dirty="0">
                  <a:ln>
                    <a:noFill/>
                  </a:ln>
                  <a:effectLst/>
                  <a:uLnTx/>
                  <a:uFillTx/>
                  <a:latin typeface="+mn-lt"/>
                  <a:ea typeface="+mn-ea"/>
                  <a:cs typeface="思源黑体 CN Heavy" panose="020B0A00000000000000" charset="-122"/>
                </a:rPr>
                <a:t>11.4%</a:t>
              </a:r>
              <a:endParaRPr kumimoji="0" lang="zh-CN" altLang="en-US" i="0" u="none" strike="noStrike" kern="1200" cap="none" normalizeH="0" noProof="0" dirty="0">
                <a:ln>
                  <a:noFill/>
                </a:ln>
                <a:effectLst/>
                <a:uLnTx/>
                <a:uFillTx/>
                <a:latin typeface="+mn-lt"/>
                <a:ea typeface="+mn-ea"/>
                <a:cs typeface="思源黑体 CN Heavy" panose="020B0A00000000000000" charset="-122"/>
              </a:endParaRPr>
            </a:p>
          </p:txBody>
        </p:sp>
        <p:sp>
          <p:nvSpPr>
            <p:cNvPr id="47" name="小红书平北职场PPT18-14"/>
            <p:cNvSpPr txBox="1"/>
            <p:nvPr>
              <p:custDataLst>
                <p:tags r:id="rId10"/>
              </p:custDataLst>
            </p:nvPr>
          </p:nvSpPr>
          <p:spPr>
            <a:xfrm>
              <a:off x="1998482" y="3974939"/>
              <a:ext cx="425432" cy="207069"/>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lumMod val="75000"/>
                      <a:lumOff val="25000"/>
                    </a:schemeClr>
                  </a:solidFill>
                  <a:latin typeface="+mn-ea"/>
                  <a:ea typeface="+mn-ea"/>
                  <a:cs typeface="思源黑体 CN Heavy" panose="020B0A00000000000000" charset="-122"/>
                </a:rPr>
                <a:t>万元</a:t>
              </a:r>
              <a:endParaRPr kumimoji="0" lang="zh-CN" altLang="en-US" sz="1600" i="0" u="none" strike="noStrike" kern="1200" cap="none" normalizeH="0" noProof="0" dirty="0">
                <a:ln>
                  <a:noFill/>
                </a:ln>
                <a:solidFill>
                  <a:schemeClr val="tx1">
                    <a:lumMod val="75000"/>
                    <a:lumOff val="25000"/>
                  </a:schemeClr>
                </a:solidFill>
                <a:effectLst/>
                <a:uLnTx/>
                <a:uFillTx/>
                <a:latin typeface="+mn-ea"/>
                <a:ea typeface="+mn-ea"/>
                <a:cs typeface="思源黑体 CN Heavy" panose="020B0A00000000000000" charset="-122"/>
              </a:endParaRPr>
            </a:p>
          </p:txBody>
        </p:sp>
        <p:sp>
          <p:nvSpPr>
            <p:cNvPr id="48" name="小红书平北职场PPT18-15"/>
            <p:cNvSpPr/>
            <p:nvPr/>
          </p:nvSpPr>
          <p:spPr>
            <a:xfrm>
              <a:off x="609601" y="4801884"/>
              <a:ext cx="2338387" cy="1354621"/>
            </a:xfrm>
            <a:prstGeom prst="round2SameRect">
              <a:avLst>
                <a:gd name="adj1" fmla="val 17210"/>
                <a:gd name="adj2"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49" name="小红书平北职场PPT18-16"/>
            <p:cNvSpPr/>
            <p:nvPr/>
          </p:nvSpPr>
          <p:spPr>
            <a:xfrm>
              <a:off x="609601" y="4801886"/>
              <a:ext cx="2338387" cy="394501"/>
            </a:xfrm>
            <a:prstGeom prst="round2DiagRect">
              <a:avLst>
                <a:gd name="adj1" fmla="val 50000"/>
                <a:gd name="adj2" fmla="val 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50" name="小红书平北职场PPT18-17"/>
            <p:cNvSpPr txBox="1"/>
            <p:nvPr>
              <p:custDataLst>
                <p:tags r:id="rId11"/>
              </p:custDataLst>
            </p:nvPr>
          </p:nvSpPr>
          <p:spPr>
            <a:xfrm>
              <a:off x="875780" y="5404874"/>
              <a:ext cx="739883" cy="473374"/>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3600" i="0" u="none" strike="noStrike" kern="1200" cap="none" spc="0" normalizeH="0" noProof="0" dirty="0">
                  <a:ln>
                    <a:noFill/>
                  </a:ln>
                  <a:gradFill>
                    <a:gsLst>
                      <a:gs pos="0">
                        <a:schemeClr val="accent1">
                          <a:lumMod val="60000"/>
                          <a:lumOff val="40000"/>
                        </a:schemeClr>
                      </a:gs>
                      <a:gs pos="100000">
                        <a:schemeClr val="accent1"/>
                      </a:gs>
                    </a:gsLst>
                    <a:lin ang="0" scaled="1"/>
                  </a:gradFill>
                  <a:effectLst/>
                  <a:uLnTx/>
                  <a:uFillTx/>
                  <a:ea typeface="+mj-ea"/>
                  <a:cs typeface="思源黑体 CN Heavy" panose="020B0A00000000000000" charset="-122"/>
                </a:rPr>
                <a:t>19.0</a:t>
              </a:r>
              <a:endParaRPr lang="zh-CN" altLang="en-US" sz="3600" dirty="0">
                <a:gradFill>
                  <a:gsLst>
                    <a:gs pos="0">
                      <a:schemeClr val="accent1">
                        <a:lumMod val="60000"/>
                        <a:lumOff val="40000"/>
                      </a:schemeClr>
                    </a:gs>
                    <a:gs pos="100000">
                      <a:schemeClr val="accent1"/>
                    </a:gs>
                  </a:gsLst>
                  <a:lin ang="0" scaled="1"/>
                </a:gradFill>
                <a:effectLst/>
                <a:ea typeface="+mj-ea"/>
                <a:cs typeface="思源黑体 CN Heavy" panose="020B0A00000000000000" charset="-122"/>
              </a:endParaRPr>
            </a:p>
          </p:txBody>
        </p:sp>
        <p:sp>
          <p:nvSpPr>
            <p:cNvPr id="51" name="小红书平北职场PPT18-18"/>
            <p:cNvSpPr txBox="1"/>
            <p:nvPr>
              <p:custDataLst>
                <p:tags r:id="rId12"/>
              </p:custDataLst>
            </p:nvPr>
          </p:nvSpPr>
          <p:spPr>
            <a:xfrm>
              <a:off x="833576" y="4899688"/>
              <a:ext cx="1097161" cy="246221"/>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normalizeH="0" noProof="0" dirty="0">
                  <a:ln>
                    <a:noFill/>
                  </a:ln>
                  <a:effectLst/>
                  <a:uLnTx/>
                  <a:uFillTx/>
                  <a:cs typeface="思源黑体 CN Heavy" panose="020B0A00000000000000" charset="-122"/>
                </a:rPr>
                <a:t>全年</a:t>
              </a:r>
              <a:r>
                <a:rPr lang="zh-CN" altLang="en-US" sz="1600" dirty="0">
                  <a:cs typeface="思源黑体 CN Heavy" panose="020B0A00000000000000" charset="-122"/>
                </a:rPr>
                <a:t>总</a:t>
              </a:r>
              <a:r>
                <a:rPr kumimoji="0" lang="zh-CN" altLang="en-US" sz="1600" i="0" u="none" strike="noStrike" kern="1200" cap="none" normalizeH="0" noProof="0" dirty="0">
                  <a:ln>
                    <a:noFill/>
                  </a:ln>
                  <a:effectLst/>
                  <a:uLnTx/>
                  <a:uFillTx/>
                  <a:cs typeface="思源黑体 CN Heavy" panose="020B0A00000000000000" charset="-122"/>
                </a:rPr>
                <a:t>收入</a:t>
              </a:r>
              <a:endParaRPr kumimoji="0" lang="zh-CN" altLang="en-US" sz="1600" i="0" u="none" strike="noStrike" kern="1200" cap="none" normalizeH="0" noProof="0" dirty="0">
                <a:ln>
                  <a:noFill/>
                </a:ln>
                <a:effectLst/>
                <a:uLnTx/>
                <a:uFillTx/>
                <a:cs typeface="思源黑体 CN Heavy" panose="020B0A00000000000000" charset="-122"/>
              </a:endParaRPr>
            </a:p>
          </p:txBody>
        </p:sp>
        <p:sp>
          <p:nvSpPr>
            <p:cNvPr id="52" name="小红书平北职场PPT18-19"/>
            <p:cNvSpPr/>
            <p:nvPr/>
          </p:nvSpPr>
          <p:spPr>
            <a:xfrm>
              <a:off x="1992479" y="5001954"/>
              <a:ext cx="96956" cy="83583"/>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小红书平北职场PPT18-20"/>
            <p:cNvSpPr txBox="1"/>
            <p:nvPr>
              <p:custDataLst>
                <p:tags r:id="rId13"/>
              </p:custDataLst>
            </p:nvPr>
          </p:nvSpPr>
          <p:spPr>
            <a:xfrm>
              <a:off x="2279738" y="4910109"/>
              <a:ext cx="497212" cy="184090"/>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normalizeH="0" noProof="0" dirty="0">
                  <a:ln>
                    <a:noFill/>
                  </a:ln>
                  <a:effectLst/>
                  <a:uLnTx/>
                  <a:uFillTx/>
                  <a:latin typeface="+mn-lt"/>
                  <a:ea typeface="+mn-ea"/>
                  <a:cs typeface="思源黑体 CN Heavy" panose="020B0A00000000000000" charset="-122"/>
                </a:rPr>
                <a:t>10.8%</a:t>
              </a:r>
              <a:endParaRPr kumimoji="0" lang="zh-CN" altLang="en-US" i="0" u="none" strike="noStrike" kern="1200" cap="none" normalizeH="0" noProof="0" dirty="0">
                <a:ln>
                  <a:noFill/>
                </a:ln>
                <a:effectLst/>
                <a:uLnTx/>
                <a:uFillTx/>
                <a:latin typeface="+mn-lt"/>
                <a:ea typeface="+mn-ea"/>
                <a:cs typeface="思源黑体 CN Heavy" panose="020B0A00000000000000" charset="-122"/>
              </a:endParaRPr>
            </a:p>
          </p:txBody>
        </p:sp>
        <p:sp>
          <p:nvSpPr>
            <p:cNvPr id="54" name="小红书平北职场PPT18-21"/>
            <p:cNvSpPr txBox="1"/>
            <p:nvPr>
              <p:custDataLst>
                <p:tags r:id="rId14"/>
              </p:custDataLst>
            </p:nvPr>
          </p:nvSpPr>
          <p:spPr>
            <a:xfrm>
              <a:off x="1940000" y="5645628"/>
              <a:ext cx="425432" cy="207069"/>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lumMod val="75000"/>
                      <a:lumOff val="25000"/>
                    </a:schemeClr>
                  </a:solidFill>
                  <a:latin typeface="+mn-ea"/>
                  <a:ea typeface="+mn-ea"/>
                  <a:cs typeface="思源黑体 CN Heavy" panose="020B0A00000000000000" charset="-122"/>
                </a:rPr>
                <a:t>%</a:t>
              </a:r>
              <a:endParaRPr kumimoji="0" lang="zh-CN" altLang="en-US" sz="1600" i="0" u="none" strike="noStrike" kern="1200" cap="none" normalizeH="0" noProof="0" dirty="0">
                <a:ln>
                  <a:noFill/>
                </a:ln>
                <a:solidFill>
                  <a:schemeClr val="tx1">
                    <a:lumMod val="75000"/>
                    <a:lumOff val="25000"/>
                  </a:schemeClr>
                </a:solidFill>
                <a:effectLst/>
                <a:uLnTx/>
                <a:uFillTx/>
                <a:latin typeface="+mn-ea"/>
                <a:ea typeface="+mn-ea"/>
                <a:cs typeface="思源黑体 CN Heavy" panose="020B0A00000000000000" charset="-122"/>
              </a:endParaRPr>
            </a:p>
          </p:txBody>
        </p:sp>
        <p:sp>
          <p:nvSpPr>
            <p:cNvPr id="55" name="小红书平北职场PPT18-22"/>
            <p:cNvSpPr/>
            <p:nvPr/>
          </p:nvSpPr>
          <p:spPr>
            <a:xfrm>
              <a:off x="609601" y="2799507"/>
              <a:ext cx="2338387" cy="25200"/>
            </a:xfrm>
            <a:prstGeom prst="round1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56" name="小红书平北职场PPT18-23"/>
            <p:cNvSpPr/>
            <p:nvPr/>
          </p:nvSpPr>
          <p:spPr>
            <a:xfrm>
              <a:off x="609601" y="4470197"/>
              <a:ext cx="2338387" cy="25200"/>
            </a:xfrm>
            <a:prstGeom prst="round1Rect">
              <a:avLst>
                <a:gd name="adj" fmla="val 50000"/>
              </a:avLst>
            </a:prstGeom>
            <a:gradFill flip="none" rotWithShape="1">
              <a:gsLst>
                <a:gs pos="0">
                  <a:schemeClr val="accent1">
                    <a:lumMod val="60000"/>
                    <a:lumOff val="40000"/>
                  </a:schemeClr>
                </a:gs>
                <a:gs pos="100000">
                  <a:schemeClr val="accent1"/>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57" name="小红书平北职场PPT18-24"/>
            <p:cNvSpPr/>
            <p:nvPr/>
          </p:nvSpPr>
          <p:spPr>
            <a:xfrm>
              <a:off x="609601" y="6140886"/>
              <a:ext cx="2338387" cy="25200"/>
            </a:xfrm>
            <a:prstGeom prst="round1Rect">
              <a:avLst>
                <a:gd name="adj" fmla="val 50000"/>
              </a:avLst>
            </a:prstGeom>
            <a:gradFill flip="none" rotWithShape="1">
              <a:gsLst>
                <a:gs pos="0">
                  <a:schemeClr val="accent1">
                    <a:lumMod val="60000"/>
                    <a:lumOff val="40000"/>
                  </a:schemeClr>
                </a:gs>
                <a:gs pos="100000">
                  <a:schemeClr val="accent1"/>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grpSp>
      <p:graphicFrame>
        <p:nvGraphicFramePr>
          <p:cNvPr id="58" name="小红书平北职场PPT19"/>
          <p:cNvGraphicFramePr>
            <a:graphicFrameLocks noGrp="1"/>
          </p:cNvGraphicFramePr>
          <p:nvPr/>
        </p:nvGraphicFramePr>
        <p:xfrm>
          <a:off x="1259968" y="868594"/>
          <a:ext cx="6895024" cy="1082508"/>
        </p:xfrm>
        <a:graphic>
          <a:graphicData uri="http://schemas.openxmlformats.org/drawingml/2006/table">
            <a:tbl>
              <a:tblPr firstRow="1" bandRow="1">
                <a:tableStyleId>{5C22544A-7EE6-4342-B048-85BDC9FD1C3A}</a:tableStyleId>
              </a:tblPr>
              <a:tblGrid>
                <a:gridCol w="1723756"/>
                <a:gridCol w="1723756"/>
                <a:gridCol w="1723756"/>
                <a:gridCol w="1723756"/>
              </a:tblGrid>
              <a:tr h="1082508">
                <a:tc>
                  <a:txBody>
                    <a:bodyPr/>
                    <a:lstStyle/>
                    <a:p>
                      <a:pPr algn="r"/>
                      <a:r>
                        <a:rPr lang="zh-CN" altLang="en-US" sz="1800" b="0" baseline="0" dirty="0">
                          <a:solidFill>
                            <a:schemeClr val="bg1"/>
                          </a:solidFill>
                          <a:latin typeface="+mn-ea"/>
                          <a:ea typeface="+mn-ea"/>
                          <a:cs typeface="思源黑体 CN Heavy" panose="020B0A00000000000000" charset="-122"/>
                        </a:rPr>
                        <a:t>销量</a:t>
                      </a:r>
                      <a:endParaRPr lang="zh-CN" altLang="en-US" sz="1800" b="0" baseline="0" dirty="0">
                        <a:solidFill>
                          <a:schemeClr val="bg1"/>
                        </a:solidFill>
                        <a:latin typeface="+mn-ea"/>
                        <a:ea typeface="+mn-ea"/>
                        <a:cs typeface="思源黑体 CN Heavy" panose="020B0A00000000000000" charset="-122"/>
                      </a:endParaRPr>
                    </a:p>
                  </a:txBody>
                  <a:tcPr marL="0" marR="144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zh-CN" altLang="en-US" sz="1800" b="0" baseline="0" dirty="0">
                          <a:solidFill>
                            <a:schemeClr val="bg1"/>
                          </a:solidFill>
                          <a:latin typeface="+mn-ea"/>
                          <a:ea typeface="+mn-ea"/>
                          <a:cs typeface="思源黑体 CN Heavy" panose="020B0A00000000000000" charset="-122"/>
                        </a:rPr>
                        <a:t>金额</a:t>
                      </a:r>
                      <a:endParaRPr lang="zh-CN" altLang="en-US" sz="1800" b="0" baseline="0" dirty="0">
                        <a:solidFill>
                          <a:schemeClr val="bg1"/>
                        </a:solidFill>
                        <a:latin typeface="+mn-ea"/>
                        <a:ea typeface="+mn-ea"/>
                        <a:cs typeface="思源黑体 CN Heavy" panose="020B0A00000000000000" charset="-122"/>
                      </a:endParaRPr>
                    </a:p>
                  </a:txBody>
                  <a:tcPr marL="0" marR="144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zh-CN" altLang="en-US" sz="1800" b="0" baseline="0" dirty="0">
                          <a:solidFill>
                            <a:schemeClr val="bg1"/>
                          </a:solidFill>
                          <a:latin typeface="+mn-ea"/>
                          <a:ea typeface="+mn-ea"/>
                          <a:cs typeface="思源黑体 CN Heavy" panose="020B0A00000000000000" charset="-122"/>
                        </a:rPr>
                        <a:t>去年同期</a:t>
                      </a:r>
                      <a:endParaRPr lang="zh-CN" altLang="en-US" sz="1800" b="0" baseline="0" dirty="0">
                        <a:solidFill>
                          <a:schemeClr val="bg1"/>
                        </a:solidFill>
                        <a:latin typeface="+mn-ea"/>
                        <a:ea typeface="+mn-ea"/>
                        <a:cs typeface="思源黑体 CN Heavy" panose="020B0A00000000000000" charset="-122"/>
                      </a:endParaRPr>
                    </a:p>
                  </a:txBody>
                  <a:tcPr marL="0" marR="144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zh-CN" altLang="en-US" sz="1800" b="0" baseline="0" dirty="0">
                          <a:solidFill>
                            <a:schemeClr val="bg1"/>
                          </a:solidFill>
                          <a:latin typeface="+mn-ea"/>
                          <a:ea typeface="+mn-ea"/>
                          <a:cs typeface="思源黑体 CN Heavy" panose="020B0A00000000000000" charset="-122"/>
                        </a:rPr>
                        <a:t>涨</a:t>
                      </a:r>
                      <a:r>
                        <a:rPr lang="en-US" altLang="zh-CN" sz="1800" b="0" baseline="0" dirty="0">
                          <a:solidFill>
                            <a:schemeClr val="bg1"/>
                          </a:solidFill>
                          <a:latin typeface="+mn-ea"/>
                          <a:ea typeface="+mn-ea"/>
                          <a:cs typeface="思源黑体 CN Heavy" panose="020B0A00000000000000" charset="-122"/>
                        </a:rPr>
                        <a:t>/</a:t>
                      </a:r>
                      <a:r>
                        <a:rPr lang="zh-CN" altLang="en-US" sz="1800" b="0" baseline="0" dirty="0">
                          <a:solidFill>
                            <a:schemeClr val="bg1"/>
                          </a:solidFill>
                          <a:latin typeface="+mn-ea"/>
                          <a:ea typeface="+mn-ea"/>
                          <a:cs typeface="思源黑体 CN Heavy" panose="020B0A00000000000000" charset="-122"/>
                        </a:rPr>
                        <a:t>跌幅</a:t>
                      </a:r>
                      <a:endParaRPr lang="zh-CN" altLang="en-US" sz="1800" b="0" baseline="0" dirty="0">
                        <a:solidFill>
                          <a:schemeClr val="bg1"/>
                        </a:solidFill>
                        <a:latin typeface="+mn-ea"/>
                        <a:ea typeface="+mn-ea"/>
                        <a:cs typeface="思源黑体 CN Heavy" panose="020B0A00000000000000" charset="-122"/>
                      </a:endParaRPr>
                    </a:p>
                  </a:txBody>
                  <a:tcPr marL="0" marR="252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spTree>
    <p:custDataLst>
      <p:tags r:id="rId15"/>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156"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小红书平北职场PPT1-2"/>
            <p:cNvSpPr txBox="1"/>
            <p:nvPr>
              <p:custDataLst>
                <p:tags r:id="rId2"/>
              </p:custDataLst>
            </p:nvPr>
          </p:nvSpPr>
          <p:spPr>
            <a:xfrm>
              <a:off x="334963" y="184318"/>
              <a:ext cx="3590727"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构建可复用的工作闭环</a:t>
              </a:r>
              <a:endParaRPr lang="zh-CN" altLang="en-US" sz="2800" dirty="0">
                <a:latin typeface="+mj-ea"/>
                <a:ea typeface="+mj-ea"/>
                <a:cs typeface="思源黑体 CN Normal" panose="020B0400000000000000" pitchFamily="34" charset="-122"/>
                <a:sym typeface="+mj-ea"/>
              </a:endParaRPr>
            </a:p>
          </p:txBody>
        </p:sp>
      </p:grpSp>
      <p:sp>
        <p:nvSpPr>
          <p:cNvPr id="4" name="小红书平北职场PPT2"/>
          <p:cNvSpPr/>
          <p:nvPr/>
        </p:nvSpPr>
        <p:spPr>
          <a:xfrm flipH="1">
            <a:off x="6685915" y="2046975"/>
            <a:ext cx="470291" cy="269349"/>
          </a:xfrm>
          <a:prstGeom prst="parallelogram">
            <a:avLst>
              <a:gd name="adj" fmla="val 55395"/>
            </a:avLst>
          </a:prstGeom>
          <a:gradFill flip="none" rotWithShape="1">
            <a:gsLst>
              <a:gs pos="0">
                <a:schemeClr val="bg1"/>
              </a:gs>
              <a:gs pos="100000">
                <a:schemeClr val="bg1">
                  <a:lumMod val="8500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 name="小红书平北职场PPT3"/>
          <p:cNvSpPr/>
          <p:nvPr/>
        </p:nvSpPr>
        <p:spPr>
          <a:xfrm flipH="1">
            <a:off x="6361697" y="1917283"/>
            <a:ext cx="476467"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6" name="小红书平北职场PPT4"/>
          <p:cNvSpPr/>
          <p:nvPr/>
        </p:nvSpPr>
        <p:spPr>
          <a:xfrm flipH="1">
            <a:off x="6037718" y="1789739"/>
            <a:ext cx="476465"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7" name="小红书平北职场PPT5"/>
          <p:cNvSpPr/>
          <p:nvPr/>
        </p:nvSpPr>
        <p:spPr>
          <a:xfrm flipH="1">
            <a:off x="5717772" y="1661473"/>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8" name="小红书平北职场PPT6"/>
          <p:cNvSpPr/>
          <p:nvPr/>
        </p:nvSpPr>
        <p:spPr>
          <a:xfrm flipH="1">
            <a:off x="5395690" y="1531066"/>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9" name="小红书平北职场PPT7"/>
          <p:cNvSpPr/>
          <p:nvPr/>
        </p:nvSpPr>
        <p:spPr>
          <a:xfrm flipH="1">
            <a:off x="5072658" y="1400671"/>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10" name="小红书平北职场PPT8"/>
          <p:cNvSpPr/>
          <p:nvPr/>
        </p:nvSpPr>
        <p:spPr>
          <a:xfrm flipH="1">
            <a:off x="4747015" y="1274908"/>
            <a:ext cx="475288"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11" name="小红书平北职场PPT9"/>
          <p:cNvSpPr/>
          <p:nvPr/>
        </p:nvSpPr>
        <p:spPr>
          <a:xfrm flipH="1">
            <a:off x="4425873" y="1144670"/>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12" name="小红书平北职场PPT10"/>
          <p:cNvSpPr/>
          <p:nvPr/>
        </p:nvSpPr>
        <p:spPr>
          <a:xfrm>
            <a:off x="4572918" y="1412079"/>
            <a:ext cx="2585432" cy="2310936"/>
          </a:xfrm>
          <a:custGeom>
            <a:avLst/>
            <a:gdLst>
              <a:gd name="connsiteX0" fmla="*/ 5745 w 2309807"/>
              <a:gd name="connsiteY0" fmla="*/ 1734172 h 2064573"/>
              <a:gd name="connsiteX1" fmla="*/ 139045 w 2309807"/>
              <a:gd name="connsiteY1" fmla="*/ 1974807 h 2064573"/>
              <a:gd name="connsiteX2" fmla="*/ 425892 w 2309807"/>
              <a:gd name="connsiteY2" fmla="*/ 1974807 h 2064573"/>
              <a:gd name="connsiteX3" fmla="*/ 292592 w 2309807"/>
              <a:gd name="connsiteY3" fmla="*/ 1734172 h 2064573"/>
              <a:gd name="connsiteX4" fmla="*/ 579879 w 2309807"/>
              <a:gd name="connsiteY4" fmla="*/ 1505363 h 2064573"/>
              <a:gd name="connsiteX5" fmla="*/ 712622 w 2309807"/>
              <a:gd name="connsiteY5" fmla="*/ 1744994 h 2064573"/>
              <a:gd name="connsiteX6" fmla="*/ 714974 w 2309807"/>
              <a:gd name="connsiteY6" fmla="*/ 1744994 h 2064573"/>
              <a:gd name="connsiteX7" fmla="*/ 714974 w 2309807"/>
              <a:gd name="connsiteY7" fmla="*/ 1857899 h 2064573"/>
              <a:gd name="connsiteX8" fmla="*/ 713646 w 2309807"/>
              <a:gd name="connsiteY8" fmla="*/ 1855502 h 2064573"/>
              <a:gd name="connsiteX9" fmla="*/ 713646 w 2309807"/>
              <a:gd name="connsiteY9" fmla="*/ 1748198 h 2064573"/>
              <a:gd name="connsiteX10" fmla="*/ 1508256 w 2309807"/>
              <a:gd name="connsiteY10" fmla="*/ 1386948 h 2064573"/>
              <a:gd name="connsiteX11" fmla="*/ 1580691 w 2309807"/>
              <a:gd name="connsiteY11" fmla="*/ 1513434 h 2064573"/>
              <a:gd name="connsiteX12" fmla="*/ 1578323 w 2309807"/>
              <a:gd name="connsiteY12" fmla="*/ 1513434 h 2064573"/>
              <a:gd name="connsiteX13" fmla="*/ 1867143 w 2309807"/>
              <a:gd name="connsiteY13" fmla="*/ 1285048 h 2064573"/>
              <a:gd name="connsiteX14" fmla="*/ 1869877 w 2309807"/>
              <a:gd name="connsiteY14" fmla="*/ 1285048 h 2064573"/>
              <a:gd name="connsiteX15" fmla="*/ 1869877 w 2309807"/>
              <a:gd name="connsiteY15" fmla="*/ 1397943 h 2064573"/>
              <a:gd name="connsiteX16" fmla="*/ 1869080 w 2309807"/>
              <a:gd name="connsiteY16" fmla="*/ 1397943 h 2064573"/>
              <a:gd name="connsiteX17" fmla="*/ 1869080 w 2309807"/>
              <a:gd name="connsiteY17" fmla="*/ 1288565 h 2064573"/>
              <a:gd name="connsiteX18" fmla="*/ 0 w 2309807"/>
              <a:gd name="connsiteY18" fmla="*/ 0 h 2064573"/>
              <a:gd name="connsiteX19" fmla="*/ 288726 w 2309807"/>
              <a:gd name="connsiteY19" fmla="*/ 0 h 2064573"/>
              <a:gd name="connsiteX20" fmla="*/ 288726 w 2309807"/>
              <a:gd name="connsiteY20" fmla="*/ 115490 h 2064573"/>
              <a:gd name="connsiteX21" fmla="*/ 577452 w 2309807"/>
              <a:gd name="connsiteY21" fmla="*/ 115490 h 2064573"/>
              <a:gd name="connsiteX22" fmla="*/ 577452 w 2309807"/>
              <a:gd name="connsiteY22" fmla="*/ 230981 h 2064573"/>
              <a:gd name="connsiteX23" fmla="*/ 866178 w 2309807"/>
              <a:gd name="connsiteY23" fmla="*/ 230981 h 2064573"/>
              <a:gd name="connsiteX24" fmla="*/ 866178 w 2309807"/>
              <a:gd name="connsiteY24" fmla="*/ 346471 h 2064573"/>
              <a:gd name="connsiteX25" fmla="*/ 1154904 w 2309807"/>
              <a:gd name="connsiteY25" fmla="*/ 346471 h 2064573"/>
              <a:gd name="connsiteX26" fmla="*/ 1154904 w 2309807"/>
              <a:gd name="connsiteY26" fmla="*/ 461962 h 2064573"/>
              <a:gd name="connsiteX27" fmla="*/ 1443630 w 2309807"/>
              <a:gd name="connsiteY27" fmla="*/ 461962 h 2064573"/>
              <a:gd name="connsiteX28" fmla="*/ 1443630 w 2309807"/>
              <a:gd name="connsiteY28" fmla="*/ 577452 h 2064573"/>
              <a:gd name="connsiteX29" fmla="*/ 1732355 w 2309807"/>
              <a:gd name="connsiteY29" fmla="*/ 577452 h 2064573"/>
              <a:gd name="connsiteX30" fmla="*/ 1732355 w 2309807"/>
              <a:gd name="connsiteY30" fmla="*/ 692942 h 2064573"/>
              <a:gd name="connsiteX31" fmla="*/ 2021081 w 2309807"/>
              <a:gd name="connsiteY31" fmla="*/ 692942 h 2064573"/>
              <a:gd name="connsiteX32" fmla="*/ 2021081 w 2309807"/>
              <a:gd name="connsiteY32" fmla="*/ 809075 h 2064573"/>
              <a:gd name="connsiteX33" fmla="*/ 2309807 w 2309807"/>
              <a:gd name="connsiteY33" fmla="*/ 809075 h 2064573"/>
              <a:gd name="connsiteX34" fmla="*/ 2309807 w 2309807"/>
              <a:gd name="connsiteY34" fmla="*/ 928060 h 2064573"/>
              <a:gd name="connsiteX35" fmla="*/ 2024849 w 2309807"/>
              <a:gd name="connsiteY35" fmla="*/ 928060 h 2064573"/>
              <a:gd name="connsiteX36" fmla="*/ 2158149 w 2309807"/>
              <a:gd name="connsiteY36" fmla="*/ 1168695 h 2064573"/>
              <a:gd name="connsiteX37" fmla="*/ 2158603 w 2309807"/>
              <a:gd name="connsiteY37" fmla="*/ 1168695 h 2064573"/>
              <a:gd name="connsiteX38" fmla="*/ 2158603 w 2309807"/>
              <a:gd name="connsiteY38" fmla="*/ 1282453 h 2064573"/>
              <a:gd name="connsiteX39" fmla="*/ 2158098 w 2309807"/>
              <a:gd name="connsiteY39" fmla="*/ 1282453 h 2064573"/>
              <a:gd name="connsiteX40" fmla="*/ 2158098 w 2309807"/>
              <a:gd name="connsiteY40" fmla="*/ 1171896 h 2064573"/>
              <a:gd name="connsiteX41" fmla="*/ 2023780 w 2309807"/>
              <a:gd name="connsiteY41" fmla="*/ 928060 h 2064573"/>
              <a:gd name="connsiteX42" fmla="*/ 2023780 w 2309807"/>
              <a:gd name="connsiteY42" fmla="*/ 1041212 h 2064573"/>
              <a:gd name="connsiteX43" fmla="*/ 2156669 w 2309807"/>
              <a:gd name="connsiteY43" fmla="*/ 1282453 h 2064573"/>
              <a:gd name="connsiteX44" fmla="*/ 2156654 w 2309807"/>
              <a:gd name="connsiteY44" fmla="*/ 1282453 h 2064573"/>
              <a:gd name="connsiteX45" fmla="*/ 2024791 w 2309807"/>
              <a:gd name="connsiteY45" fmla="*/ 1044413 h 2064573"/>
              <a:gd name="connsiteX46" fmla="*/ 1733479 w 2309807"/>
              <a:gd name="connsiteY46" fmla="*/ 1044413 h 2064573"/>
              <a:gd name="connsiteX47" fmla="*/ 1734761 w 2309807"/>
              <a:gd name="connsiteY47" fmla="*/ 1046727 h 2064573"/>
              <a:gd name="connsiteX48" fmla="*/ 1734761 w 2309807"/>
              <a:gd name="connsiteY48" fmla="*/ 1155478 h 2064573"/>
              <a:gd name="connsiteX49" fmla="*/ 1868325 w 2309807"/>
              <a:gd name="connsiteY49" fmla="*/ 1397943 h 2064573"/>
              <a:gd name="connsiteX50" fmla="*/ 1581151 w 2309807"/>
              <a:gd name="connsiteY50" fmla="*/ 1397943 h 2064573"/>
              <a:gd name="connsiteX51" fmla="*/ 1581151 w 2309807"/>
              <a:gd name="connsiteY51" fmla="*/ 1513434 h 2064573"/>
              <a:gd name="connsiteX52" fmla="*/ 1580958 w 2309807"/>
              <a:gd name="connsiteY52" fmla="*/ 1513434 h 2064573"/>
              <a:gd name="connsiteX53" fmla="*/ 1580958 w 2309807"/>
              <a:gd name="connsiteY53" fmla="*/ 1397403 h 2064573"/>
              <a:gd name="connsiteX54" fmla="*/ 1867165 w 2309807"/>
              <a:gd name="connsiteY54" fmla="*/ 1397403 h 2064573"/>
              <a:gd name="connsiteX55" fmla="*/ 1733865 w 2309807"/>
              <a:gd name="connsiteY55" fmla="*/ 1156768 h 2064573"/>
              <a:gd name="connsiteX56" fmla="*/ 1447016 w 2309807"/>
              <a:gd name="connsiteY56" fmla="*/ 1156768 h 2064573"/>
              <a:gd name="connsiteX57" fmla="*/ 1514070 w 2309807"/>
              <a:gd name="connsiteY57" fmla="*/ 1277814 h 2064573"/>
              <a:gd name="connsiteX58" fmla="*/ 1443292 w 2309807"/>
              <a:gd name="connsiteY58" fmla="*/ 1154223 h 2064573"/>
              <a:gd name="connsiteX59" fmla="*/ 1443292 w 2309807"/>
              <a:gd name="connsiteY59" fmla="*/ 1273263 h 2064573"/>
              <a:gd name="connsiteX60" fmla="*/ 1158422 w 2309807"/>
              <a:gd name="connsiteY60" fmla="*/ 1273263 h 2064573"/>
              <a:gd name="connsiteX61" fmla="*/ 1291721 w 2309807"/>
              <a:gd name="connsiteY61" fmla="*/ 1513897 h 2064573"/>
              <a:gd name="connsiteX62" fmla="*/ 1292426 w 2309807"/>
              <a:gd name="connsiteY62" fmla="*/ 1513897 h 2064573"/>
              <a:gd name="connsiteX63" fmla="*/ 1292426 w 2309807"/>
              <a:gd name="connsiteY63" fmla="*/ 1516528 h 2064573"/>
              <a:gd name="connsiteX64" fmla="*/ 1158421 w 2309807"/>
              <a:gd name="connsiteY64" fmla="*/ 1273262 h 2064573"/>
              <a:gd name="connsiteX65" fmla="*/ 1158421 w 2309807"/>
              <a:gd name="connsiteY65" fmla="*/ 1386570 h 2064573"/>
              <a:gd name="connsiteX66" fmla="*/ 1291924 w 2309807"/>
              <a:gd name="connsiteY66" fmla="*/ 1628924 h 2064573"/>
              <a:gd name="connsiteX67" fmla="*/ 1290004 w 2309807"/>
              <a:gd name="connsiteY67" fmla="*/ 1628924 h 2064573"/>
              <a:gd name="connsiteX68" fmla="*/ 1157523 w 2309807"/>
              <a:gd name="connsiteY68" fmla="*/ 1389768 h 2064573"/>
              <a:gd name="connsiteX69" fmla="*/ 870676 w 2309807"/>
              <a:gd name="connsiteY69" fmla="*/ 1389768 h 2064573"/>
              <a:gd name="connsiteX70" fmla="*/ 1003700 w 2309807"/>
              <a:gd name="connsiteY70" fmla="*/ 1629905 h 2064573"/>
              <a:gd name="connsiteX71" fmla="*/ 1003700 w 2309807"/>
              <a:gd name="connsiteY71" fmla="*/ 1742658 h 2064573"/>
              <a:gd name="connsiteX72" fmla="*/ 1001384 w 2309807"/>
              <a:gd name="connsiteY72" fmla="*/ 1738477 h 2064573"/>
              <a:gd name="connsiteX73" fmla="*/ 1001384 w 2309807"/>
              <a:gd name="connsiteY73" fmla="*/ 1627054 h 2064573"/>
              <a:gd name="connsiteX74" fmla="*/ 870674 w 2309807"/>
              <a:gd name="connsiteY74" fmla="*/ 1389768 h 2064573"/>
              <a:gd name="connsiteX75" fmla="*/ 870674 w 2309807"/>
              <a:gd name="connsiteY75" fmla="*/ 1504360 h 2064573"/>
              <a:gd name="connsiteX76" fmla="*/ 579326 w 2309807"/>
              <a:gd name="connsiteY76" fmla="*/ 1504360 h 2064573"/>
              <a:gd name="connsiteX77" fmla="*/ 579325 w 2309807"/>
              <a:gd name="connsiteY77" fmla="*/ 1504358 h 2064573"/>
              <a:gd name="connsiteX78" fmla="*/ 579325 w 2309807"/>
              <a:gd name="connsiteY78" fmla="*/ 1504360 h 2064573"/>
              <a:gd name="connsiteX79" fmla="*/ 579323 w 2309807"/>
              <a:gd name="connsiteY79" fmla="*/ 1504360 h 2064573"/>
              <a:gd name="connsiteX80" fmla="*/ 579325 w 2309807"/>
              <a:gd name="connsiteY80" fmla="*/ 1504363 h 2064573"/>
              <a:gd name="connsiteX81" fmla="*/ 579325 w 2309807"/>
              <a:gd name="connsiteY81" fmla="*/ 1615103 h 2064573"/>
              <a:gd name="connsiteX82" fmla="*/ 581090 w 2309807"/>
              <a:gd name="connsiteY82" fmla="*/ 1618307 h 2064573"/>
              <a:gd name="connsiteX83" fmla="*/ 289880 w 2309807"/>
              <a:gd name="connsiteY83" fmla="*/ 1618307 h 2064573"/>
              <a:gd name="connsiteX84" fmla="*/ 291582 w 2309807"/>
              <a:gd name="connsiteY84" fmla="*/ 1621378 h 2064573"/>
              <a:gd name="connsiteX85" fmla="*/ 291582 w 2309807"/>
              <a:gd name="connsiteY85" fmla="*/ 1730973 h 2064573"/>
              <a:gd name="connsiteX86" fmla="*/ 425900 w 2309807"/>
              <a:gd name="connsiteY86" fmla="*/ 1974808 h 2064573"/>
              <a:gd name="connsiteX87" fmla="*/ 425900 w 2309807"/>
              <a:gd name="connsiteY87" fmla="*/ 1864057 h 2064573"/>
              <a:gd name="connsiteX88" fmla="*/ 405651 w 2309807"/>
              <a:gd name="connsiteY88" fmla="*/ 1827298 h 2064573"/>
              <a:gd name="connsiteX89" fmla="*/ 423180 w 2309807"/>
              <a:gd name="connsiteY89" fmla="*/ 1858942 h 2064573"/>
              <a:gd name="connsiteX90" fmla="*/ 713645 w 2309807"/>
              <a:gd name="connsiteY90" fmla="*/ 1858942 h 2064573"/>
              <a:gd name="connsiteX91" fmla="*/ 713646 w 2309807"/>
              <a:gd name="connsiteY91" fmla="*/ 1858943 h 2064573"/>
              <a:gd name="connsiteX92" fmla="*/ 713646 w 2309807"/>
              <a:gd name="connsiteY92" fmla="*/ 1858942 h 2064573"/>
              <a:gd name="connsiteX93" fmla="*/ 714974 w 2309807"/>
              <a:gd name="connsiteY93" fmla="*/ 1858942 h 2064573"/>
              <a:gd name="connsiteX94" fmla="*/ 714974 w 2309807"/>
              <a:gd name="connsiteY94" fmla="*/ 1859905 h 2064573"/>
              <a:gd name="connsiteX95" fmla="*/ 426248 w 2309807"/>
              <a:gd name="connsiteY95" fmla="*/ 1859905 h 2064573"/>
              <a:gd name="connsiteX96" fmla="*/ 426248 w 2309807"/>
              <a:gd name="connsiteY96" fmla="*/ 1976038 h 2064573"/>
              <a:gd name="connsiteX97" fmla="*/ 137522 w 2309807"/>
              <a:gd name="connsiteY97" fmla="*/ 1976038 h 2064573"/>
              <a:gd name="connsiteX98" fmla="*/ 137522 w 2309807"/>
              <a:gd name="connsiteY98" fmla="*/ 1976590 h 2064573"/>
              <a:gd name="connsiteX99" fmla="*/ 5732 w 2309807"/>
              <a:gd name="connsiteY99" fmla="*/ 1734174 h 2064573"/>
              <a:gd name="connsiteX100" fmla="*/ 5732 w 2309807"/>
              <a:gd name="connsiteY100" fmla="*/ 2064573 h 2064573"/>
              <a:gd name="connsiteX101" fmla="*/ 0 w 2309807"/>
              <a:gd name="connsiteY101" fmla="*/ 2064573 h 2064573"/>
              <a:gd name="connsiteX102" fmla="*/ 0 w 2309807"/>
              <a:gd name="connsiteY102" fmla="*/ 1149129 h 2064573"/>
              <a:gd name="connsiteX103" fmla="*/ 0 w 2309807"/>
              <a:gd name="connsiteY103" fmla="*/ 1149128 h 2064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309807" h="2064573">
                <a:moveTo>
                  <a:pt x="5745" y="1734172"/>
                </a:moveTo>
                <a:lnTo>
                  <a:pt x="139045" y="1974807"/>
                </a:lnTo>
                <a:lnTo>
                  <a:pt x="425892" y="1974807"/>
                </a:lnTo>
                <a:lnTo>
                  <a:pt x="292592" y="1734172"/>
                </a:lnTo>
                <a:close/>
                <a:moveTo>
                  <a:pt x="579879" y="1505363"/>
                </a:moveTo>
                <a:lnTo>
                  <a:pt x="712622" y="1744994"/>
                </a:lnTo>
                <a:lnTo>
                  <a:pt x="714974" y="1744994"/>
                </a:lnTo>
                <a:lnTo>
                  <a:pt x="714974" y="1857899"/>
                </a:lnTo>
                <a:lnTo>
                  <a:pt x="713646" y="1855502"/>
                </a:lnTo>
                <a:lnTo>
                  <a:pt x="713646" y="1748198"/>
                </a:lnTo>
                <a:close/>
                <a:moveTo>
                  <a:pt x="1508256" y="1386948"/>
                </a:moveTo>
                <a:lnTo>
                  <a:pt x="1580691" y="1513434"/>
                </a:lnTo>
                <a:lnTo>
                  <a:pt x="1578323" y="1513434"/>
                </a:lnTo>
                <a:close/>
                <a:moveTo>
                  <a:pt x="1867143" y="1285048"/>
                </a:moveTo>
                <a:lnTo>
                  <a:pt x="1869877" y="1285048"/>
                </a:lnTo>
                <a:lnTo>
                  <a:pt x="1869877" y="1397943"/>
                </a:lnTo>
                <a:lnTo>
                  <a:pt x="1869080" y="1397943"/>
                </a:lnTo>
                <a:lnTo>
                  <a:pt x="1869080" y="1288565"/>
                </a:lnTo>
                <a:close/>
                <a:moveTo>
                  <a:pt x="0" y="0"/>
                </a:moveTo>
                <a:lnTo>
                  <a:pt x="288726" y="0"/>
                </a:lnTo>
                <a:lnTo>
                  <a:pt x="288726" y="115490"/>
                </a:lnTo>
                <a:lnTo>
                  <a:pt x="577452" y="115490"/>
                </a:lnTo>
                <a:lnTo>
                  <a:pt x="577452" y="230981"/>
                </a:lnTo>
                <a:lnTo>
                  <a:pt x="866178" y="230981"/>
                </a:lnTo>
                <a:lnTo>
                  <a:pt x="866178" y="346471"/>
                </a:lnTo>
                <a:lnTo>
                  <a:pt x="1154904" y="346471"/>
                </a:lnTo>
                <a:lnTo>
                  <a:pt x="1154904" y="461962"/>
                </a:lnTo>
                <a:lnTo>
                  <a:pt x="1443630" y="461962"/>
                </a:lnTo>
                <a:lnTo>
                  <a:pt x="1443630" y="577452"/>
                </a:lnTo>
                <a:lnTo>
                  <a:pt x="1732355" y="577452"/>
                </a:lnTo>
                <a:lnTo>
                  <a:pt x="1732355" y="692942"/>
                </a:lnTo>
                <a:lnTo>
                  <a:pt x="2021081" y="692942"/>
                </a:lnTo>
                <a:lnTo>
                  <a:pt x="2021081" y="809075"/>
                </a:lnTo>
                <a:lnTo>
                  <a:pt x="2309807" y="809075"/>
                </a:lnTo>
                <a:lnTo>
                  <a:pt x="2309807" y="928060"/>
                </a:lnTo>
                <a:lnTo>
                  <a:pt x="2024849" y="928060"/>
                </a:lnTo>
                <a:lnTo>
                  <a:pt x="2158149" y="1168695"/>
                </a:lnTo>
                <a:lnTo>
                  <a:pt x="2158603" y="1168695"/>
                </a:lnTo>
                <a:lnTo>
                  <a:pt x="2158603" y="1282453"/>
                </a:lnTo>
                <a:lnTo>
                  <a:pt x="2158098" y="1282453"/>
                </a:lnTo>
                <a:lnTo>
                  <a:pt x="2158098" y="1171896"/>
                </a:lnTo>
                <a:lnTo>
                  <a:pt x="2023780" y="928060"/>
                </a:lnTo>
                <a:lnTo>
                  <a:pt x="2023780" y="1041212"/>
                </a:lnTo>
                <a:lnTo>
                  <a:pt x="2156669" y="1282453"/>
                </a:lnTo>
                <a:lnTo>
                  <a:pt x="2156654" y="1282453"/>
                </a:lnTo>
                <a:lnTo>
                  <a:pt x="2024791" y="1044413"/>
                </a:lnTo>
                <a:lnTo>
                  <a:pt x="1733479" y="1044413"/>
                </a:lnTo>
                <a:lnTo>
                  <a:pt x="1734761" y="1046727"/>
                </a:lnTo>
                <a:lnTo>
                  <a:pt x="1734761" y="1155478"/>
                </a:lnTo>
                <a:lnTo>
                  <a:pt x="1868325" y="1397943"/>
                </a:lnTo>
                <a:lnTo>
                  <a:pt x="1581151" y="1397943"/>
                </a:lnTo>
                <a:lnTo>
                  <a:pt x="1581151" y="1513434"/>
                </a:lnTo>
                <a:lnTo>
                  <a:pt x="1580958" y="1513434"/>
                </a:lnTo>
                <a:lnTo>
                  <a:pt x="1580958" y="1397403"/>
                </a:lnTo>
                <a:lnTo>
                  <a:pt x="1867165" y="1397403"/>
                </a:lnTo>
                <a:lnTo>
                  <a:pt x="1733865" y="1156768"/>
                </a:lnTo>
                <a:lnTo>
                  <a:pt x="1447016" y="1156768"/>
                </a:lnTo>
                <a:lnTo>
                  <a:pt x="1514070" y="1277814"/>
                </a:lnTo>
                <a:lnTo>
                  <a:pt x="1443292" y="1154223"/>
                </a:lnTo>
                <a:lnTo>
                  <a:pt x="1443292" y="1273263"/>
                </a:lnTo>
                <a:lnTo>
                  <a:pt x="1158422" y="1273263"/>
                </a:lnTo>
                <a:lnTo>
                  <a:pt x="1291721" y="1513897"/>
                </a:lnTo>
                <a:lnTo>
                  <a:pt x="1292426" y="1513897"/>
                </a:lnTo>
                <a:lnTo>
                  <a:pt x="1292426" y="1516528"/>
                </a:lnTo>
                <a:lnTo>
                  <a:pt x="1158421" y="1273262"/>
                </a:lnTo>
                <a:lnTo>
                  <a:pt x="1158421" y="1386570"/>
                </a:lnTo>
                <a:lnTo>
                  <a:pt x="1291924" y="1628924"/>
                </a:lnTo>
                <a:lnTo>
                  <a:pt x="1290004" y="1628924"/>
                </a:lnTo>
                <a:lnTo>
                  <a:pt x="1157523" y="1389768"/>
                </a:lnTo>
                <a:lnTo>
                  <a:pt x="870676" y="1389768"/>
                </a:lnTo>
                <a:lnTo>
                  <a:pt x="1003700" y="1629905"/>
                </a:lnTo>
                <a:lnTo>
                  <a:pt x="1003700" y="1742658"/>
                </a:lnTo>
                <a:lnTo>
                  <a:pt x="1001384" y="1738477"/>
                </a:lnTo>
                <a:lnTo>
                  <a:pt x="1001384" y="1627054"/>
                </a:lnTo>
                <a:lnTo>
                  <a:pt x="870674" y="1389768"/>
                </a:lnTo>
                <a:lnTo>
                  <a:pt x="870674" y="1504360"/>
                </a:lnTo>
                <a:lnTo>
                  <a:pt x="579326" y="1504360"/>
                </a:lnTo>
                <a:lnTo>
                  <a:pt x="579325" y="1504358"/>
                </a:lnTo>
                <a:lnTo>
                  <a:pt x="579325" y="1504360"/>
                </a:lnTo>
                <a:lnTo>
                  <a:pt x="579323" y="1504360"/>
                </a:lnTo>
                <a:lnTo>
                  <a:pt x="579325" y="1504363"/>
                </a:lnTo>
                <a:lnTo>
                  <a:pt x="579325" y="1615103"/>
                </a:lnTo>
                <a:lnTo>
                  <a:pt x="581090" y="1618307"/>
                </a:lnTo>
                <a:lnTo>
                  <a:pt x="289880" y="1618307"/>
                </a:lnTo>
                <a:lnTo>
                  <a:pt x="291582" y="1621378"/>
                </a:lnTo>
                <a:lnTo>
                  <a:pt x="291582" y="1730973"/>
                </a:lnTo>
                <a:lnTo>
                  <a:pt x="425900" y="1974808"/>
                </a:lnTo>
                <a:lnTo>
                  <a:pt x="425900" y="1864057"/>
                </a:lnTo>
                <a:lnTo>
                  <a:pt x="405651" y="1827298"/>
                </a:lnTo>
                <a:lnTo>
                  <a:pt x="423180" y="1858942"/>
                </a:lnTo>
                <a:lnTo>
                  <a:pt x="713645" y="1858942"/>
                </a:lnTo>
                <a:lnTo>
                  <a:pt x="713646" y="1858943"/>
                </a:lnTo>
                <a:lnTo>
                  <a:pt x="713646" y="1858942"/>
                </a:lnTo>
                <a:lnTo>
                  <a:pt x="714974" y="1858942"/>
                </a:lnTo>
                <a:lnTo>
                  <a:pt x="714974" y="1859905"/>
                </a:lnTo>
                <a:lnTo>
                  <a:pt x="426248" y="1859905"/>
                </a:lnTo>
                <a:lnTo>
                  <a:pt x="426248" y="1976038"/>
                </a:lnTo>
                <a:lnTo>
                  <a:pt x="137522" y="1976038"/>
                </a:lnTo>
                <a:lnTo>
                  <a:pt x="137522" y="1976590"/>
                </a:lnTo>
                <a:lnTo>
                  <a:pt x="5732" y="1734174"/>
                </a:lnTo>
                <a:lnTo>
                  <a:pt x="5732" y="2064573"/>
                </a:lnTo>
                <a:lnTo>
                  <a:pt x="0" y="2064573"/>
                </a:lnTo>
                <a:lnTo>
                  <a:pt x="0" y="1149129"/>
                </a:lnTo>
                <a:lnTo>
                  <a:pt x="0" y="1149128"/>
                </a:lnTo>
                <a:close/>
              </a:path>
            </a:pathLst>
          </a:custGeom>
          <a:gradFill>
            <a:gsLst>
              <a:gs pos="0">
                <a:schemeClr val="accent1">
                  <a:lumMod val="60000"/>
                  <a:lumOff val="40000"/>
                </a:schemeClr>
              </a:gs>
              <a:gs pos="100000">
                <a:schemeClr val="accent1"/>
              </a:gs>
            </a:gsLst>
            <a:lin ang="0" scaled="1"/>
          </a:gradFill>
          <a:ln w="9525">
            <a:noFill/>
            <a:round/>
          </a:ln>
          <a:effectLst>
            <a:outerShdw blurRad="175155" dist="80841"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3" name="小红书平北职场PPT11"/>
          <p:cNvSpPr/>
          <p:nvPr/>
        </p:nvSpPr>
        <p:spPr>
          <a:xfrm rot="16200000" flipH="1" flipV="1">
            <a:off x="2211085" y="3407376"/>
            <a:ext cx="4579366" cy="127688"/>
          </a:xfrm>
          <a:prstGeom prst="parallelogram">
            <a:avLst>
              <a:gd name="adj" fmla="val 18394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14" name="小红书平北职场PPT12"/>
          <p:cNvSpPr/>
          <p:nvPr/>
        </p:nvSpPr>
        <p:spPr>
          <a:xfrm flipH="1">
            <a:off x="4572197" y="3354801"/>
            <a:ext cx="470291" cy="269349"/>
          </a:xfrm>
          <a:prstGeom prst="parallelogram">
            <a:avLst>
              <a:gd name="adj" fmla="val 55395"/>
            </a:avLst>
          </a:prstGeom>
          <a:gradFill flip="none" rotWithShape="1">
            <a:gsLst>
              <a:gs pos="0">
                <a:schemeClr val="bg1"/>
              </a:gs>
              <a:gs pos="100000">
                <a:schemeClr val="bg1">
                  <a:lumMod val="85000"/>
                </a:schemeClr>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5" name="小红书平北职场PPT13"/>
          <p:cNvSpPr/>
          <p:nvPr/>
        </p:nvSpPr>
        <p:spPr>
          <a:xfrm rot="5400000">
            <a:off x="4768863" y="3350528"/>
            <a:ext cx="396897" cy="150350"/>
          </a:xfrm>
          <a:prstGeom prst="parallelogram">
            <a:avLst>
              <a:gd name="adj" fmla="val 181535"/>
            </a:avLst>
          </a:prstGeom>
          <a:gradFill flip="none" rotWithShape="1">
            <a:gsLst>
              <a:gs pos="0">
                <a:schemeClr val="bg1">
                  <a:lumMod val="50000"/>
                  <a:alpha val="82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6" name="小红书平北职场PPT14"/>
          <p:cNvSpPr/>
          <p:nvPr/>
        </p:nvSpPr>
        <p:spPr>
          <a:xfrm flipH="1">
            <a:off x="4890236" y="3225111"/>
            <a:ext cx="476467"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7" name="小红书平北职场PPT15"/>
          <p:cNvSpPr/>
          <p:nvPr/>
        </p:nvSpPr>
        <p:spPr>
          <a:xfrm rot="5400000">
            <a:off x="5090945" y="3220838"/>
            <a:ext cx="396897"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8" name="小红书平北职场PPT16"/>
          <p:cNvSpPr/>
          <p:nvPr/>
        </p:nvSpPr>
        <p:spPr>
          <a:xfrm flipH="1">
            <a:off x="5214219" y="3097566"/>
            <a:ext cx="476465"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9" name="小红书平北职场PPT17"/>
          <p:cNvSpPr/>
          <p:nvPr/>
        </p:nvSpPr>
        <p:spPr>
          <a:xfrm rot="5400000">
            <a:off x="5414683" y="3094955"/>
            <a:ext cx="397617" cy="146308"/>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0" name="小红书平北职场PPT18"/>
          <p:cNvSpPr/>
          <p:nvPr/>
        </p:nvSpPr>
        <p:spPr>
          <a:xfrm flipH="1">
            <a:off x="5540339" y="2969300"/>
            <a:ext cx="470291"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1" name="小红书平北职场PPT19"/>
          <p:cNvSpPr/>
          <p:nvPr/>
        </p:nvSpPr>
        <p:spPr>
          <a:xfrm rot="5400000">
            <a:off x="5737711" y="2963597"/>
            <a:ext cx="399760"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2" name="小红书平北职场PPT20"/>
          <p:cNvSpPr/>
          <p:nvPr/>
        </p:nvSpPr>
        <p:spPr>
          <a:xfrm flipH="1">
            <a:off x="5862422" y="2838892"/>
            <a:ext cx="470291"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3" name="小红书平北职场PPT21"/>
          <p:cNvSpPr/>
          <p:nvPr/>
        </p:nvSpPr>
        <p:spPr>
          <a:xfrm rot="5400000">
            <a:off x="6057664" y="2833195"/>
            <a:ext cx="399745"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4" name="小红书平北职场PPT22"/>
          <p:cNvSpPr/>
          <p:nvPr/>
        </p:nvSpPr>
        <p:spPr>
          <a:xfrm flipH="1">
            <a:off x="6185452" y="2708496"/>
            <a:ext cx="470291"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5" name="小红书平北职场PPT23"/>
          <p:cNvSpPr/>
          <p:nvPr/>
        </p:nvSpPr>
        <p:spPr>
          <a:xfrm rot="5400000">
            <a:off x="6384257" y="2706362"/>
            <a:ext cx="396897"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6" name="小红书平北职场PPT24"/>
          <p:cNvSpPr/>
          <p:nvPr/>
        </p:nvSpPr>
        <p:spPr>
          <a:xfrm flipH="1">
            <a:off x="6506098" y="2582734"/>
            <a:ext cx="475288"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7" name="小红书平北职场PPT25"/>
          <p:cNvSpPr/>
          <p:nvPr/>
        </p:nvSpPr>
        <p:spPr>
          <a:xfrm rot="5400000">
            <a:off x="6706418" y="2577115"/>
            <a:ext cx="399587"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8" name="小红书平北职场PPT26"/>
          <p:cNvSpPr/>
          <p:nvPr/>
        </p:nvSpPr>
        <p:spPr>
          <a:xfrm flipH="1">
            <a:off x="6832238" y="2452497"/>
            <a:ext cx="470291"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9" name="小红书平北职场PPT27"/>
          <p:cNvSpPr/>
          <p:nvPr/>
        </p:nvSpPr>
        <p:spPr>
          <a:xfrm flipH="1">
            <a:off x="4719699" y="2719906"/>
            <a:ext cx="2585432" cy="2085148"/>
          </a:xfrm>
          <a:custGeom>
            <a:avLst/>
            <a:gdLst>
              <a:gd name="connsiteX0" fmla="*/ 440516 w 2309807"/>
              <a:gd name="connsiteY0" fmla="*/ 1861894 h 1862856"/>
              <a:gd name="connsiteX1" fmla="*/ 216019 w 2309807"/>
              <a:gd name="connsiteY1" fmla="*/ 1861894 h 1862856"/>
              <a:gd name="connsiteX2" fmla="*/ 215486 w 2309807"/>
              <a:gd name="connsiteY2" fmla="*/ 1862856 h 1862856"/>
              <a:gd name="connsiteX3" fmla="*/ 440516 w 2309807"/>
              <a:gd name="connsiteY3" fmla="*/ 1862856 h 1862856"/>
              <a:gd name="connsiteX4" fmla="*/ 1017967 w 2309807"/>
              <a:gd name="connsiteY4" fmla="*/ 1631189 h 1862856"/>
              <a:gd name="connsiteX5" fmla="*/ 1017586 w 2309807"/>
              <a:gd name="connsiteY5" fmla="*/ 1631876 h 1862856"/>
              <a:gd name="connsiteX6" fmla="*/ 1017967 w 2309807"/>
              <a:gd name="connsiteY6" fmla="*/ 1631876 h 1862856"/>
              <a:gd name="connsiteX7" fmla="*/ 1306693 w 2309807"/>
              <a:gd name="connsiteY7" fmla="*/ 1512912 h 1862856"/>
              <a:gd name="connsiteX8" fmla="*/ 1304769 w 2309807"/>
              <a:gd name="connsiteY8" fmla="*/ 1516385 h 1862856"/>
              <a:gd name="connsiteX9" fmla="*/ 1306693 w 2309807"/>
              <a:gd name="connsiteY9" fmla="*/ 1516385 h 1862856"/>
              <a:gd name="connsiteX10" fmla="*/ 1595419 w 2309807"/>
              <a:gd name="connsiteY10" fmla="*/ 1396182 h 1862856"/>
              <a:gd name="connsiteX11" fmla="*/ 1593107 w 2309807"/>
              <a:gd name="connsiteY11" fmla="*/ 1400356 h 1862856"/>
              <a:gd name="connsiteX12" fmla="*/ 1369044 w 2309807"/>
              <a:gd name="connsiteY12" fmla="*/ 1400356 h 1862856"/>
              <a:gd name="connsiteX13" fmla="*/ 1368745 w 2309807"/>
              <a:gd name="connsiteY13" fmla="*/ 1400895 h 1862856"/>
              <a:gd name="connsiteX14" fmla="*/ 1595419 w 2309807"/>
              <a:gd name="connsiteY14" fmla="*/ 1400895 h 1862856"/>
              <a:gd name="connsiteX15" fmla="*/ 288726 w 2309807"/>
              <a:gd name="connsiteY15" fmla="*/ 0 h 1862856"/>
              <a:gd name="connsiteX16" fmla="*/ 0 w 2309807"/>
              <a:gd name="connsiteY16" fmla="*/ 0 h 1862856"/>
              <a:gd name="connsiteX17" fmla="*/ 0 w 2309807"/>
              <a:gd name="connsiteY17" fmla="*/ 1149129 h 1862856"/>
              <a:gd name="connsiteX18" fmla="*/ 2325 w 2309807"/>
              <a:gd name="connsiteY18" fmla="*/ 1149129 h 1862856"/>
              <a:gd name="connsiteX19" fmla="*/ 2325 w 2309807"/>
              <a:gd name="connsiteY19" fmla="*/ 1737124 h 1862856"/>
              <a:gd name="connsiteX20" fmla="*/ 218232 w 2309807"/>
              <a:gd name="connsiteY20" fmla="*/ 1737124 h 1862856"/>
              <a:gd name="connsiteX21" fmla="*/ 282415 w 2309807"/>
              <a:gd name="connsiteY21" fmla="*/ 1621259 h 1862856"/>
              <a:gd name="connsiteX22" fmla="*/ 508738 w 2309807"/>
              <a:gd name="connsiteY22" fmla="*/ 1621259 h 1862856"/>
              <a:gd name="connsiteX23" fmla="*/ 571859 w 2309807"/>
              <a:gd name="connsiteY23" fmla="*/ 1507312 h 1862856"/>
              <a:gd name="connsiteX24" fmla="*/ 799734 w 2309807"/>
              <a:gd name="connsiteY24" fmla="*/ 1507312 h 1862856"/>
              <a:gd name="connsiteX25" fmla="*/ 863212 w 2309807"/>
              <a:gd name="connsiteY25" fmla="*/ 1392720 h 1862856"/>
              <a:gd name="connsiteX26" fmla="*/ 1086418 w 2309807"/>
              <a:gd name="connsiteY26" fmla="*/ 1392720 h 1862856"/>
              <a:gd name="connsiteX27" fmla="*/ 1150957 w 2309807"/>
              <a:gd name="connsiteY27" fmla="*/ 1276214 h 1862856"/>
              <a:gd name="connsiteX28" fmla="*/ 1375021 w 2309807"/>
              <a:gd name="connsiteY28" fmla="*/ 1276214 h 1862856"/>
              <a:gd name="connsiteX29" fmla="*/ 1439552 w 2309807"/>
              <a:gd name="connsiteY29" fmla="*/ 1159721 h 1862856"/>
              <a:gd name="connsiteX30" fmla="*/ 1663775 w 2309807"/>
              <a:gd name="connsiteY30" fmla="*/ 1159721 h 1862856"/>
              <a:gd name="connsiteX31" fmla="*/ 1726015 w 2309807"/>
              <a:gd name="connsiteY31" fmla="*/ 1047365 h 1862856"/>
              <a:gd name="connsiteX32" fmla="*/ 1952931 w 2309807"/>
              <a:gd name="connsiteY32" fmla="*/ 1047365 h 1862856"/>
              <a:gd name="connsiteX33" fmla="*/ 2017385 w 2309807"/>
              <a:gd name="connsiteY33" fmla="*/ 931012 h 1862856"/>
              <a:gd name="connsiteX34" fmla="*/ 2304240 w 2309807"/>
              <a:gd name="connsiteY34" fmla="*/ 931012 h 1862856"/>
              <a:gd name="connsiteX35" fmla="*/ 2299103 w 2309807"/>
              <a:gd name="connsiteY35" fmla="*/ 940286 h 1862856"/>
              <a:gd name="connsiteX36" fmla="*/ 2309807 w 2309807"/>
              <a:gd name="connsiteY36" fmla="*/ 940286 h 1862856"/>
              <a:gd name="connsiteX37" fmla="*/ 2309807 w 2309807"/>
              <a:gd name="connsiteY37" fmla="*/ 809075 h 1862856"/>
              <a:gd name="connsiteX38" fmla="*/ 2021081 w 2309807"/>
              <a:gd name="connsiteY38" fmla="*/ 809075 h 1862856"/>
              <a:gd name="connsiteX39" fmla="*/ 2021081 w 2309807"/>
              <a:gd name="connsiteY39" fmla="*/ 692942 h 1862856"/>
              <a:gd name="connsiteX40" fmla="*/ 1732355 w 2309807"/>
              <a:gd name="connsiteY40" fmla="*/ 692942 h 1862856"/>
              <a:gd name="connsiteX41" fmla="*/ 1732355 w 2309807"/>
              <a:gd name="connsiteY41" fmla="*/ 577452 h 1862856"/>
              <a:gd name="connsiteX42" fmla="*/ 1443630 w 2309807"/>
              <a:gd name="connsiteY42" fmla="*/ 577452 h 1862856"/>
              <a:gd name="connsiteX43" fmla="*/ 1443630 w 2309807"/>
              <a:gd name="connsiteY43" fmla="*/ 461961 h 1862856"/>
              <a:gd name="connsiteX44" fmla="*/ 1154904 w 2309807"/>
              <a:gd name="connsiteY44" fmla="*/ 461961 h 1862856"/>
              <a:gd name="connsiteX45" fmla="*/ 1154904 w 2309807"/>
              <a:gd name="connsiteY45" fmla="*/ 346471 h 1862856"/>
              <a:gd name="connsiteX46" fmla="*/ 866178 w 2309807"/>
              <a:gd name="connsiteY46" fmla="*/ 346471 h 1862856"/>
              <a:gd name="connsiteX47" fmla="*/ 866178 w 2309807"/>
              <a:gd name="connsiteY47" fmla="*/ 230981 h 1862856"/>
              <a:gd name="connsiteX48" fmla="*/ 577452 w 2309807"/>
              <a:gd name="connsiteY48" fmla="*/ 230981 h 1862856"/>
              <a:gd name="connsiteX49" fmla="*/ 577452 w 2309807"/>
              <a:gd name="connsiteY49" fmla="*/ 115490 h 1862856"/>
              <a:gd name="connsiteX50" fmla="*/ 288726 w 2309807"/>
              <a:gd name="connsiteY50" fmla="*/ 115490 h 1862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309807" h="1862856">
                <a:moveTo>
                  <a:pt x="440516" y="1861894"/>
                </a:moveTo>
                <a:lnTo>
                  <a:pt x="216019" y="1861894"/>
                </a:lnTo>
                <a:lnTo>
                  <a:pt x="215486" y="1862856"/>
                </a:lnTo>
                <a:lnTo>
                  <a:pt x="440516" y="1862856"/>
                </a:lnTo>
                <a:close/>
                <a:moveTo>
                  <a:pt x="1017967" y="1631189"/>
                </a:moveTo>
                <a:lnTo>
                  <a:pt x="1017586" y="1631876"/>
                </a:lnTo>
                <a:lnTo>
                  <a:pt x="1017967" y="1631876"/>
                </a:lnTo>
                <a:close/>
                <a:moveTo>
                  <a:pt x="1306693" y="1512912"/>
                </a:moveTo>
                <a:lnTo>
                  <a:pt x="1304769" y="1516385"/>
                </a:lnTo>
                <a:lnTo>
                  <a:pt x="1306693" y="1516385"/>
                </a:lnTo>
                <a:close/>
                <a:moveTo>
                  <a:pt x="1595419" y="1396182"/>
                </a:moveTo>
                <a:lnTo>
                  <a:pt x="1593107" y="1400356"/>
                </a:lnTo>
                <a:lnTo>
                  <a:pt x="1369044" y="1400356"/>
                </a:lnTo>
                <a:lnTo>
                  <a:pt x="1368745" y="1400895"/>
                </a:lnTo>
                <a:lnTo>
                  <a:pt x="1595419" y="1400895"/>
                </a:lnTo>
                <a:close/>
                <a:moveTo>
                  <a:pt x="288726" y="0"/>
                </a:moveTo>
                <a:lnTo>
                  <a:pt x="0" y="0"/>
                </a:lnTo>
                <a:lnTo>
                  <a:pt x="0" y="1149129"/>
                </a:lnTo>
                <a:lnTo>
                  <a:pt x="2325" y="1149129"/>
                </a:lnTo>
                <a:lnTo>
                  <a:pt x="2325" y="1737124"/>
                </a:lnTo>
                <a:lnTo>
                  <a:pt x="218232" y="1737124"/>
                </a:lnTo>
                <a:lnTo>
                  <a:pt x="282415" y="1621259"/>
                </a:lnTo>
                <a:lnTo>
                  <a:pt x="508738" y="1621259"/>
                </a:lnTo>
                <a:lnTo>
                  <a:pt x="571859" y="1507312"/>
                </a:lnTo>
                <a:lnTo>
                  <a:pt x="799734" y="1507312"/>
                </a:lnTo>
                <a:lnTo>
                  <a:pt x="863212" y="1392720"/>
                </a:lnTo>
                <a:lnTo>
                  <a:pt x="1086418" y="1392720"/>
                </a:lnTo>
                <a:lnTo>
                  <a:pt x="1150957" y="1276214"/>
                </a:lnTo>
                <a:lnTo>
                  <a:pt x="1375021" y="1276214"/>
                </a:lnTo>
                <a:lnTo>
                  <a:pt x="1439552" y="1159721"/>
                </a:lnTo>
                <a:lnTo>
                  <a:pt x="1663775" y="1159721"/>
                </a:lnTo>
                <a:lnTo>
                  <a:pt x="1726015" y="1047365"/>
                </a:lnTo>
                <a:lnTo>
                  <a:pt x="1952931" y="1047365"/>
                </a:lnTo>
                <a:lnTo>
                  <a:pt x="2017385" y="931012"/>
                </a:lnTo>
                <a:lnTo>
                  <a:pt x="2304240" y="931012"/>
                </a:lnTo>
                <a:lnTo>
                  <a:pt x="2299103" y="940286"/>
                </a:lnTo>
                <a:lnTo>
                  <a:pt x="2309807" y="940286"/>
                </a:lnTo>
                <a:lnTo>
                  <a:pt x="2309807" y="809075"/>
                </a:lnTo>
                <a:lnTo>
                  <a:pt x="2021081" y="809075"/>
                </a:lnTo>
                <a:lnTo>
                  <a:pt x="2021081" y="692942"/>
                </a:lnTo>
                <a:lnTo>
                  <a:pt x="1732355" y="692942"/>
                </a:lnTo>
                <a:lnTo>
                  <a:pt x="1732355" y="577452"/>
                </a:lnTo>
                <a:lnTo>
                  <a:pt x="1443630" y="577452"/>
                </a:lnTo>
                <a:lnTo>
                  <a:pt x="1443630" y="461961"/>
                </a:lnTo>
                <a:lnTo>
                  <a:pt x="1154904" y="461961"/>
                </a:lnTo>
                <a:lnTo>
                  <a:pt x="1154904" y="346471"/>
                </a:lnTo>
                <a:lnTo>
                  <a:pt x="866178" y="346471"/>
                </a:lnTo>
                <a:lnTo>
                  <a:pt x="866178" y="230981"/>
                </a:lnTo>
                <a:lnTo>
                  <a:pt x="577452" y="230981"/>
                </a:lnTo>
                <a:lnTo>
                  <a:pt x="577452" y="115490"/>
                </a:lnTo>
                <a:lnTo>
                  <a:pt x="288726" y="115490"/>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30" name="小红书平北职场PPT28"/>
          <p:cNvSpPr/>
          <p:nvPr/>
        </p:nvSpPr>
        <p:spPr>
          <a:xfrm rot="16200000" flipH="1" flipV="1">
            <a:off x="3306300" y="4650469"/>
            <a:ext cx="2681456" cy="127688"/>
          </a:xfrm>
          <a:prstGeom prst="parallelogram">
            <a:avLst>
              <a:gd name="adj" fmla="val 183941"/>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1" name="小红书平北职场PPT29"/>
          <p:cNvSpPr/>
          <p:nvPr/>
        </p:nvSpPr>
        <p:spPr>
          <a:xfrm rot="5400000">
            <a:off x="4829311" y="3412875"/>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2" name="小红书平北职场PPT30"/>
          <p:cNvSpPr/>
          <p:nvPr/>
        </p:nvSpPr>
        <p:spPr>
          <a:xfrm rot="5400000">
            <a:off x="5154957" y="3283185"/>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3" name="小红书平北职场PPT31"/>
          <p:cNvSpPr/>
          <p:nvPr/>
        </p:nvSpPr>
        <p:spPr>
          <a:xfrm rot="5400000">
            <a:off x="5478940" y="3155639"/>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4" name="小红书平北职场PPT32"/>
          <p:cNvSpPr/>
          <p:nvPr/>
        </p:nvSpPr>
        <p:spPr>
          <a:xfrm rot="5400000">
            <a:off x="5798996" y="3025233"/>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5" name="小红书平北职场PPT33"/>
          <p:cNvSpPr/>
          <p:nvPr/>
        </p:nvSpPr>
        <p:spPr>
          <a:xfrm rot="5400000">
            <a:off x="6121434" y="2896967"/>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6" name="小红书平北职场PPT34"/>
          <p:cNvSpPr/>
          <p:nvPr/>
        </p:nvSpPr>
        <p:spPr>
          <a:xfrm rot="5400000">
            <a:off x="6444468" y="2766571"/>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7" name="小红书平北职场PPT35"/>
          <p:cNvSpPr/>
          <p:nvPr/>
        </p:nvSpPr>
        <p:spPr>
          <a:xfrm rot="5400000">
            <a:off x="6770112" y="2640810"/>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8" name="小红书平北职场PPT36"/>
          <p:cNvSpPr/>
          <p:nvPr/>
        </p:nvSpPr>
        <p:spPr>
          <a:xfrm flipH="1">
            <a:off x="6982341" y="4664318"/>
            <a:ext cx="470291" cy="269349"/>
          </a:xfrm>
          <a:prstGeom prst="parallelogram">
            <a:avLst>
              <a:gd name="adj" fmla="val 55395"/>
            </a:avLst>
          </a:prstGeom>
          <a:gradFill flip="none" rotWithShape="1">
            <a:gsLst>
              <a:gs pos="0">
                <a:schemeClr val="bg1"/>
              </a:gs>
              <a:gs pos="100000">
                <a:schemeClr val="bg1">
                  <a:lumMod val="8500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9" name="小红书平北职场PPT37"/>
          <p:cNvSpPr/>
          <p:nvPr/>
        </p:nvSpPr>
        <p:spPr>
          <a:xfrm flipH="1">
            <a:off x="6658125" y="4534627"/>
            <a:ext cx="476467"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0" name="小红书平北职场PPT38"/>
          <p:cNvSpPr/>
          <p:nvPr/>
        </p:nvSpPr>
        <p:spPr>
          <a:xfrm flipH="1">
            <a:off x="6334144" y="4407083"/>
            <a:ext cx="476465"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1" name="小红书平北职场PPT39"/>
          <p:cNvSpPr/>
          <p:nvPr/>
        </p:nvSpPr>
        <p:spPr>
          <a:xfrm flipH="1">
            <a:off x="6014198" y="4278817"/>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2" name="小红书平北职场PPT40"/>
          <p:cNvSpPr/>
          <p:nvPr/>
        </p:nvSpPr>
        <p:spPr>
          <a:xfrm flipH="1">
            <a:off x="5692118" y="4148409"/>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3" name="小红书平北职场PPT41"/>
          <p:cNvSpPr/>
          <p:nvPr/>
        </p:nvSpPr>
        <p:spPr>
          <a:xfrm flipH="1">
            <a:off x="5369084" y="4018015"/>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4" name="小红书平北职场PPT42"/>
          <p:cNvSpPr/>
          <p:nvPr/>
        </p:nvSpPr>
        <p:spPr>
          <a:xfrm flipH="1">
            <a:off x="5043442" y="3892252"/>
            <a:ext cx="475288"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5" name="小红书平北职场PPT43"/>
          <p:cNvSpPr/>
          <p:nvPr/>
        </p:nvSpPr>
        <p:spPr>
          <a:xfrm flipH="1">
            <a:off x="4722301" y="3762014"/>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6" name="小红书平北职场PPT44"/>
          <p:cNvSpPr/>
          <p:nvPr/>
        </p:nvSpPr>
        <p:spPr>
          <a:xfrm>
            <a:off x="4869345" y="4029423"/>
            <a:ext cx="2585432" cy="1942466"/>
          </a:xfrm>
          <a:custGeom>
            <a:avLst/>
            <a:gdLst>
              <a:gd name="connsiteX0" fmla="*/ 575875 w 2309807"/>
              <a:gd name="connsiteY0" fmla="*/ 1500534 h 1735385"/>
              <a:gd name="connsiteX1" fmla="*/ 705971 w 2309807"/>
              <a:gd name="connsiteY1" fmla="*/ 1735385 h 1735385"/>
              <a:gd name="connsiteX2" fmla="*/ 705245 w 2309807"/>
              <a:gd name="connsiteY2" fmla="*/ 1735385 h 1735385"/>
              <a:gd name="connsiteX3" fmla="*/ 1504249 w 2309807"/>
              <a:gd name="connsiteY3" fmla="*/ 1382113 h 1735385"/>
              <a:gd name="connsiteX4" fmla="*/ 1576684 w 2309807"/>
              <a:gd name="connsiteY4" fmla="*/ 1508598 h 1735385"/>
              <a:gd name="connsiteX5" fmla="*/ 1574315 w 2309807"/>
              <a:gd name="connsiteY5" fmla="*/ 1508598 h 1735385"/>
              <a:gd name="connsiteX6" fmla="*/ 1863136 w 2309807"/>
              <a:gd name="connsiteY6" fmla="*/ 1280213 h 1735385"/>
              <a:gd name="connsiteX7" fmla="*/ 1865870 w 2309807"/>
              <a:gd name="connsiteY7" fmla="*/ 1280213 h 1735385"/>
              <a:gd name="connsiteX8" fmla="*/ 1865870 w 2309807"/>
              <a:gd name="connsiteY8" fmla="*/ 1393108 h 1735385"/>
              <a:gd name="connsiteX9" fmla="*/ 1865073 w 2309807"/>
              <a:gd name="connsiteY9" fmla="*/ 1393108 h 1735385"/>
              <a:gd name="connsiteX10" fmla="*/ 1865073 w 2309807"/>
              <a:gd name="connsiteY10" fmla="*/ 1283730 h 1735385"/>
              <a:gd name="connsiteX11" fmla="*/ 0 w 2309807"/>
              <a:gd name="connsiteY11" fmla="*/ 0 h 1735385"/>
              <a:gd name="connsiteX12" fmla="*/ 288726 w 2309807"/>
              <a:gd name="connsiteY12" fmla="*/ 0 h 1735385"/>
              <a:gd name="connsiteX13" fmla="*/ 288726 w 2309807"/>
              <a:gd name="connsiteY13" fmla="*/ 115490 h 1735385"/>
              <a:gd name="connsiteX14" fmla="*/ 577452 w 2309807"/>
              <a:gd name="connsiteY14" fmla="*/ 115490 h 1735385"/>
              <a:gd name="connsiteX15" fmla="*/ 577452 w 2309807"/>
              <a:gd name="connsiteY15" fmla="*/ 230981 h 1735385"/>
              <a:gd name="connsiteX16" fmla="*/ 866178 w 2309807"/>
              <a:gd name="connsiteY16" fmla="*/ 230981 h 1735385"/>
              <a:gd name="connsiteX17" fmla="*/ 866178 w 2309807"/>
              <a:gd name="connsiteY17" fmla="*/ 346471 h 1735385"/>
              <a:gd name="connsiteX18" fmla="*/ 1154904 w 2309807"/>
              <a:gd name="connsiteY18" fmla="*/ 346471 h 1735385"/>
              <a:gd name="connsiteX19" fmla="*/ 1154904 w 2309807"/>
              <a:gd name="connsiteY19" fmla="*/ 461962 h 1735385"/>
              <a:gd name="connsiteX20" fmla="*/ 1443630 w 2309807"/>
              <a:gd name="connsiteY20" fmla="*/ 461962 h 1735385"/>
              <a:gd name="connsiteX21" fmla="*/ 1443630 w 2309807"/>
              <a:gd name="connsiteY21" fmla="*/ 577452 h 1735385"/>
              <a:gd name="connsiteX22" fmla="*/ 1732355 w 2309807"/>
              <a:gd name="connsiteY22" fmla="*/ 577452 h 1735385"/>
              <a:gd name="connsiteX23" fmla="*/ 1732355 w 2309807"/>
              <a:gd name="connsiteY23" fmla="*/ 692942 h 1735385"/>
              <a:gd name="connsiteX24" fmla="*/ 2021081 w 2309807"/>
              <a:gd name="connsiteY24" fmla="*/ 692942 h 1735385"/>
              <a:gd name="connsiteX25" fmla="*/ 2021081 w 2309807"/>
              <a:gd name="connsiteY25" fmla="*/ 809075 h 1735385"/>
              <a:gd name="connsiteX26" fmla="*/ 2309807 w 2309807"/>
              <a:gd name="connsiteY26" fmla="*/ 809075 h 1735385"/>
              <a:gd name="connsiteX27" fmla="*/ 2309807 w 2309807"/>
              <a:gd name="connsiteY27" fmla="*/ 927033 h 1735385"/>
              <a:gd name="connsiteX28" fmla="*/ 2307697 w 2309807"/>
              <a:gd name="connsiteY28" fmla="*/ 923224 h 1735385"/>
              <a:gd name="connsiteX29" fmla="*/ 2020842 w 2309807"/>
              <a:gd name="connsiteY29" fmla="*/ 923224 h 1735385"/>
              <a:gd name="connsiteX30" fmla="*/ 2154142 w 2309807"/>
              <a:gd name="connsiteY30" fmla="*/ 1163859 h 1735385"/>
              <a:gd name="connsiteX31" fmla="*/ 2154596 w 2309807"/>
              <a:gd name="connsiteY31" fmla="*/ 1163859 h 1735385"/>
              <a:gd name="connsiteX32" fmla="*/ 2154596 w 2309807"/>
              <a:gd name="connsiteY32" fmla="*/ 1277618 h 1735385"/>
              <a:gd name="connsiteX33" fmla="*/ 2154091 w 2309807"/>
              <a:gd name="connsiteY33" fmla="*/ 1277618 h 1735385"/>
              <a:gd name="connsiteX34" fmla="*/ 2154091 w 2309807"/>
              <a:gd name="connsiteY34" fmla="*/ 1167061 h 1735385"/>
              <a:gd name="connsiteX35" fmla="*/ 2019773 w 2309807"/>
              <a:gd name="connsiteY35" fmla="*/ 923225 h 1735385"/>
              <a:gd name="connsiteX36" fmla="*/ 2019773 w 2309807"/>
              <a:gd name="connsiteY36" fmla="*/ 1036377 h 1735385"/>
              <a:gd name="connsiteX37" fmla="*/ 2152662 w 2309807"/>
              <a:gd name="connsiteY37" fmla="*/ 1277618 h 1735385"/>
              <a:gd name="connsiteX38" fmla="*/ 2152646 w 2309807"/>
              <a:gd name="connsiteY38" fmla="*/ 1277618 h 1735385"/>
              <a:gd name="connsiteX39" fmla="*/ 2020784 w 2309807"/>
              <a:gd name="connsiteY39" fmla="*/ 1039578 h 1735385"/>
              <a:gd name="connsiteX40" fmla="*/ 1729472 w 2309807"/>
              <a:gd name="connsiteY40" fmla="*/ 1039578 h 1735385"/>
              <a:gd name="connsiteX41" fmla="*/ 1730754 w 2309807"/>
              <a:gd name="connsiteY41" fmla="*/ 1041892 h 1735385"/>
              <a:gd name="connsiteX42" fmla="*/ 1730754 w 2309807"/>
              <a:gd name="connsiteY42" fmla="*/ 1150643 h 1735385"/>
              <a:gd name="connsiteX43" fmla="*/ 1864318 w 2309807"/>
              <a:gd name="connsiteY43" fmla="*/ 1393108 h 1735385"/>
              <a:gd name="connsiteX44" fmla="*/ 1577144 w 2309807"/>
              <a:gd name="connsiteY44" fmla="*/ 1393108 h 1735385"/>
              <a:gd name="connsiteX45" fmla="*/ 1577144 w 2309807"/>
              <a:gd name="connsiteY45" fmla="*/ 1508598 h 1735385"/>
              <a:gd name="connsiteX46" fmla="*/ 1576951 w 2309807"/>
              <a:gd name="connsiteY46" fmla="*/ 1508598 h 1735385"/>
              <a:gd name="connsiteX47" fmla="*/ 1576951 w 2309807"/>
              <a:gd name="connsiteY47" fmla="*/ 1392568 h 1735385"/>
              <a:gd name="connsiteX48" fmla="*/ 1863158 w 2309807"/>
              <a:gd name="connsiteY48" fmla="*/ 1392568 h 1735385"/>
              <a:gd name="connsiteX49" fmla="*/ 1729858 w 2309807"/>
              <a:gd name="connsiteY49" fmla="*/ 1151933 h 1735385"/>
              <a:gd name="connsiteX50" fmla="*/ 1443009 w 2309807"/>
              <a:gd name="connsiteY50" fmla="*/ 1151933 h 1735385"/>
              <a:gd name="connsiteX51" fmla="*/ 1510063 w 2309807"/>
              <a:gd name="connsiteY51" fmla="*/ 1272980 h 1735385"/>
              <a:gd name="connsiteX52" fmla="*/ 1439285 w 2309807"/>
              <a:gd name="connsiteY52" fmla="*/ 1149388 h 1735385"/>
              <a:gd name="connsiteX53" fmla="*/ 1439285 w 2309807"/>
              <a:gd name="connsiteY53" fmla="*/ 1268428 h 1735385"/>
              <a:gd name="connsiteX54" fmla="*/ 1154415 w 2309807"/>
              <a:gd name="connsiteY54" fmla="*/ 1268428 h 1735385"/>
              <a:gd name="connsiteX55" fmla="*/ 1287714 w 2309807"/>
              <a:gd name="connsiteY55" fmla="*/ 1509062 h 1735385"/>
              <a:gd name="connsiteX56" fmla="*/ 1288419 w 2309807"/>
              <a:gd name="connsiteY56" fmla="*/ 1509062 h 1735385"/>
              <a:gd name="connsiteX57" fmla="*/ 1288419 w 2309807"/>
              <a:gd name="connsiteY57" fmla="*/ 1511693 h 1735385"/>
              <a:gd name="connsiteX58" fmla="*/ 1154414 w 2309807"/>
              <a:gd name="connsiteY58" fmla="*/ 1268427 h 1735385"/>
              <a:gd name="connsiteX59" fmla="*/ 1154414 w 2309807"/>
              <a:gd name="connsiteY59" fmla="*/ 1381735 h 1735385"/>
              <a:gd name="connsiteX60" fmla="*/ 1287917 w 2309807"/>
              <a:gd name="connsiteY60" fmla="*/ 1624089 h 1735385"/>
              <a:gd name="connsiteX61" fmla="*/ 1285997 w 2309807"/>
              <a:gd name="connsiteY61" fmla="*/ 1624089 h 1735385"/>
              <a:gd name="connsiteX62" fmla="*/ 1153516 w 2309807"/>
              <a:gd name="connsiteY62" fmla="*/ 1384933 h 1735385"/>
              <a:gd name="connsiteX63" fmla="*/ 866669 w 2309807"/>
              <a:gd name="connsiteY63" fmla="*/ 1384933 h 1735385"/>
              <a:gd name="connsiteX64" fmla="*/ 999693 w 2309807"/>
              <a:gd name="connsiteY64" fmla="*/ 1625070 h 1735385"/>
              <a:gd name="connsiteX65" fmla="*/ 999693 w 2309807"/>
              <a:gd name="connsiteY65" fmla="*/ 1735385 h 1735385"/>
              <a:gd name="connsiteX66" fmla="*/ 998343 w 2309807"/>
              <a:gd name="connsiteY66" fmla="*/ 1735385 h 1735385"/>
              <a:gd name="connsiteX67" fmla="*/ 997377 w 2309807"/>
              <a:gd name="connsiteY67" fmla="*/ 1733642 h 1735385"/>
              <a:gd name="connsiteX68" fmla="*/ 997377 w 2309807"/>
              <a:gd name="connsiteY68" fmla="*/ 1622219 h 1735385"/>
              <a:gd name="connsiteX69" fmla="*/ 866667 w 2309807"/>
              <a:gd name="connsiteY69" fmla="*/ 1384933 h 1735385"/>
              <a:gd name="connsiteX70" fmla="*/ 866667 w 2309807"/>
              <a:gd name="connsiteY70" fmla="*/ 1499525 h 1735385"/>
              <a:gd name="connsiteX71" fmla="*/ 575319 w 2309807"/>
              <a:gd name="connsiteY71" fmla="*/ 1499525 h 1735385"/>
              <a:gd name="connsiteX72" fmla="*/ 575318 w 2309807"/>
              <a:gd name="connsiteY72" fmla="*/ 1499523 h 1735385"/>
              <a:gd name="connsiteX73" fmla="*/ 575318 w 2309807"/>
              <a:gd name="connsiteY73" fmla="*/ 1499525 h 1735385"/>
              <a:gd name="connsiteX74" fmla="*/ 575316 w 2309807"/>
              <a:gd name="connsiteY74" fmla="*/ 1499525 h 1735385"/>
              <a:gd name="connsiteX75" fmla="*/ 575318 w 2309807"/>
              <a:gd name="connsiteY75" fmla="*/ 1499528 h 1735385"/>
              <a:gd name="connsiteX76" fmla="*/ 575318 w 2309807"/>
              <a:gd name="connsiteY76" fmla="*/ 1610268 h 1735385"/>
              <a:gd name="connsiteX77" fmla="*/ 577083 w 2309807"/>
              <a:gd name="connsiteY77" fmla="*/ 1613472 h 1735385"/>
              <a:gd name="connsiteX78" fmla="*/ 285873 w 2309807"/>
              <a:gd name="connsiteY78" fmla="*/ 1613472 h 1735385"/>
              <a:gd name="connsiteX79" fmla="*/ 287575 w 2309807"/>
              <a:gd name="connsiteY79" fmla="*/ 1616543 h 1735385"/>
              <a:gd name="connsiteX80" fmla="*/ 287575 w 2309807"/>
              <a:gd name="connsiteY80" fmla="*/ 1726138 h 1735385"/>
              <a:gd name="connsiteX81" fmla="*/ 292669 w 2309807"/>
              <a:gd name="connsiteY81" fmla="*/ 1735385 h 1735385"/>
              <a:gd name="connsiteX82" fmla="*/ 291936 w 2309807"/>
              <a:gd name="connsiteY82" fmla="*/ 1735385 h 1735385"/>
              <a:gd name="connsiteX83" fmla="*/ 288585 w 2309807"/>
              <a:gd name="connsiteY83" fmla="*/ 1729337 h 1735385"/>
              <a:gd name="connsiteX84" fmla="*/ 1738 w 2309807"/>
              <a:gd name="connsiteY84" fmla="*/ 1729337 h 1735385"/>
              <a:gd name="connsiteX85" fmla="*/ 5089 w 2309807"/>
              <a:gd name="connsiteY85" fmla="*/ 1735385 h 1735385"/>
              <a:gd name="connsiteX86" fmla="*/ 0 w 2309807"/>
              <a:gd name="connsiteY86" fmla="*/ 1735385 h 1735385"/>
              <a:gd name="connsiteX87" fmla="*/ 0 w 2309807"/>
              <a:gd name="connsiteY87" fmla="*/ 1149129 h 1735385"/>
              <a:gd name="connsiteX88" fmla="*/ 0 w 2309807"/>
              <a:gd name="connsiteY88" fmla="*/ 1149128 h 1735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309807" h="1735385">
                <a:moveTo>
                  <a:pt x="575875" y="1500534"/>
                </a:moveTo>
                <a:lnTo>
                  <a:pt x="705971" y="1735385"/>
                </a:lnTo>
                <a:lnTo>
                  <a:pt x="705245" y="1735385"/>
                </a:lnTo>
                <a:close/>
                <a:moveTo>
                  <a:pt x="1504249" y="1382113"/>
                </a:moveTo>
                <a:lnTo>
                  <a:pt x="1576684" y="1508598"/>
                </a:lnTo>
                <a:lnTo>
                  <a:pt x="1574315" y="1508598"/>
                </a:lnTo>
                <a:close/>
                <a:moveTo>
                  <a:pt x="1863136" y="1280213"/>
                </a:moveTo>
                <a:lnTo>
                  <a:pt x="1865870" y="1280213"/>
                </a:lnTo>
                <a:lnTo>
                  <a:pt x="1865870" y="1393108"/>
                </a:lnTo>
                <a:lnTo>
                  <a:pt x="1865073" y="1393108"/>
                </a:lnTo>
                <a:lnTo>
                  <a:pt x="1865073" y="1283730"/>
                </a:lnTo>
                <a:close/>
                <a:moveTo>
                  <a:pt x="0" y="0"/>
                </a:moveTo>
                <a:lnTo>
                  <a:pt x="288726" y="0"/>
                </a:lnTo>
                <a:lnTo>
                  <a:pt x="288726" y="115490"/>
                </a:lnTo>
                <a:lnTo>
                  <a:pt x="577452" y="115490"/>
                </a:lnTo>
                <a:lnTo>
                  <a:pt x="577452" y="230981"/>
                </a:lnTo>
                <a:lnTo>
                  <a:pt x="866178" y="230981"/>
                </a:lnTo>
                <a:lnTo>
                  <a:pt x="866178" y="346471"/>
                </a:lnTo>
                <a:lnTo>
                  <a:pt x="1154904" y="346471"/>
                </a:lnTo>
                <a:lnTo>
                  <a:pt x="1154904" y="461962"/>
                </a:lnTo>
                <a:lnTo>
                  <a:pt x="1443630" y="461962"/>
                </a:lnTo>
                <a:lnTo>
                  <a:pt x="1443630" y="577452"/>
                </a:lnTo>
                <a:lnTo>
                  <a:pt x="1732355" y="577452"/>
                </a:lnTo>
                <a:lnTo>
                  <a:pt x="1732355" y="692942"/>
                </a:lnTo>
                <a:lnTo>
                  <a:pt x="2021081" y="692942"/>
                </a:lnTo>
                <a:lnTo>
                  <a:pt x="2021081" y="809075"/>
                </a:lnTo>
                <a:lnTo>
                  <a:pt x="2309807" y="809075"/>
                </a:lnTo>
                <a:lnTo>
                  <a:pt x="2309807" y="927033"/>
                </a:lnTo>
                <a:lnTo>
                  <a:pt x="2307697" y="923224"/>
                </a:lnTo>
                <a:lnTo>
                  <a:pt x="2020842" y="923224"/>
                </a:lnTo>
                <a:lnTo>
                  <a:pt x="2154142" y="1163859"/>
                </a:lnTo>
                <a:lnTo>
                  <a:pt x="2154596" y="1163859"/>
                </a:lnTo>
                <a:lnTo>
                  <a:pt x="2154596" y="1277618"/>
                </a:lnTo>
                <a:lnTo>
                  <a:pt x="2154091" y="1277618"/>
                </a:lnTo>
                <a:lnTo>
                  <a:pt x="2154091" y="1167061"/>
                </a:lnTo>
                <a:lnTo>
                  <a:pt x="2019773" y="923225"/>
                </a:lnTo>
                <a:lnTo>
                  <a:pt x="2019773" y="1036377"/>
                </a:lnTo>
                <a:lnTo>
                  <a:pt x="2152662" y="1277618"/>
                </a:lnTo>
                <a:lnTo>
                  <a:pt x="2152646" y="1277618"/>
                </a:lnTo>
                <a:lnTo>
                  <a:pt x="2020784" y="1039578"/>
                </a:lnTo>
                <a:lnTo>
                  <a:pt x="1729472" y="1039578"/>
                </a:lnTo>
                <a:lnTo>
                  <a:pt x="1730754" y="1041892"/>
                </a:lnTo>
                <a:lnTo>
                  <a:pt x="1730754" y="1150643"/>
                </a:lnTo>
                <a:lnTo>
                  <a:pt x="1864318" y="1393108"/>
                </a:lnTo>
                <a:lnTo>
                  <a:pt x="1577144" y="1393108"/>
                </a:lnTo>
                <a:lnTo>
                  <a:pt x="1577144" y="1508598"/>
                </a:lnTo>
                <a:lnTo>
                  <a:pt x="1576951" y="1508598"/>
                </a:lnTo>
                <a:lnTo>
                  <a:pt x="1576951" y="1392568"/>
                </a:lnTo>
                <a:lnTo>
                  <a:pt x="1863158" y="1392568"/>
                </a:lnTo>
                <a:lnTo>
                  <a:pt x="1729858" y="1151933"/>
                </a:lnTo>
                <a:lnTo>
                  <a:pt x="1443009" y="1151933"/>
                </a:lnTo>
                <a:lnTo>
                  <a:pt x="1510063" y="1272980"/>
                </a:lnTo>
                <a:lnTo>
                  <a:pt x="1439285" y="1149388"/>
                </a:lnTo>
                <a:lnTo>
                  <a:pt x="1439285" y="1268428"/>
                </a:lnTo>
                <a:lnTo>
                  <a:pt x="1154415" y="1268428"/>
                </a:lnTo>
                <a:lnTo>
                  <a:pt x="1287714" y="1509062"/>
                </a:lnTo>
                <a:lnTo>
                  <a:pt x="1288419" y="1509062"/>
                </a:lnTo>
                <a:lnTo>
                  <a:pt x="1288419" y="1511693"/>
                </a:lnTo>
                <a:lnTo>
                  <a:pt x="1154414" y="1268427"/>
                </a:lnTo>
                <a:lnTo>
                  <a:pt x="1154414" y="1381735"/>
                </a:lnTo>
                <a:lnTo>
                  <a:pt x="1287917" y="1624089"/>
                </a:lnTo>
                <a:lnTo>
                  <a:pt x="1285997" y="1624089"/>
                </a:lnTo>
                <a:lnTo>
                  <a:pt x="1153516" y="1384933"/>
                </a:lnTo>
                <a:lnTo>
                  <a:pt x="866669" y="1384933"/>
                </a:lnTo>
                <a:lnTo>
                  <a:pt x="999693" y="1625070"/>
                </a:lnTo>
                <a:lnTo>
                  <a:pt x="999693" y="1735385"/>
                </a:lnTo>
                <a:lnTo>
                  <a:pt x="998343" y="1735385"/>
                </a:lnTo>
                <a:lnTo>
                  <a:pt x="997377" y="1733642"/>
                </a:lnTo>
                <a:lnTo>
                  <a:pt x="997377" y="1622219"/>
                </a:lnTo>
                <a:lnTo>
                  <a:pt x="866667" y="1384933"/>
                </a:lnTo>
                <a:lnTo>
                  <a:pt x="866667" y="1499525"/>
                </a:lnTo>
                <a:lnTo>
                  <a:pt x="575319" y="1499525"/>
                </a:lnTo>
                <a:lnTo>
                  <a:pt x="575318" y="1499523"/>
                </a:lnTo>
                <a:lnTo>
                  <a:pt x="575318" y="1499525"/>
                </a:lnTo>
                <a:lnTo>
                  <a:pt x="575316" y="1499525"/>
                </a:lnTo>
                <a:lnTo>
                  <a:pt x="575318" y="1499528"/>
                </a:lnTo>
                <a:lnTo>
                  <a:pt x="575318" y="1610268"/>
                </a:lnTo>
                <a:lnTo>
                  <a:pt x="577083" y="1613472"/>
                </a:lnTo>
                <a:lnTo>
                  <a:pt x="285873" y="1613472"/>
                </a:lnTo>
                <a:lnTo>
                  <a:pt x="287575" y="1616543"/>
                </a:lnTo>
                <a:lnTo>
                  <a:pt x="287575" y="1726138"/>
                </a:lnTo>
                <a:lnTo>
                  <a:pt x="292669" y="1735385"/>
                </a:lnTo>
                <a:lnTo>
                  <a:pt x="291936" y="1735385"/>
                </a:lnTo>
                <a:lnTo>
                  <a:pt x="288585" y="1729337"/>
                </a:lnTo>
                <a:lnTo>
                  <a:pt x="1738" y="1729337"/>
                </a:lnTo>
                <a:lnTo>
                  <a:pt x="5089" y="1735385"/>
                </a:lnTo>
                <a:lnTo>
                  <a:pt x="0" y="1735385"/>
                </a:lnTo>
                <a:lnTo>
                  <a:pt x="0" y="1149129"/>
                </a:lnTo>
                <a:lnTo>
                  <a:pt x="0" y="1149128"/>
                </a:lnTo>
                <a:close/>
              </a:path>
            </a:pathLst>
          </a:custGeom>
          <a:gradFill>
            <a:gsLst>
              <a:gs pos="0">
                <a:schemeClr val="accent1">
                  <a:lumMod val="60000"/>
                  <a:lumOff val="40000"/>
                </a:schemeClr>
              </a:gs>
              <a:gs pos="100000">
                <a:schemeClr val="accent1"/>
              </a:gs>
            </a:gsLst>
            <a:lin ang="0" scaled="1"/>
          </a:gradFill>
          <a:ln w="9525">
            <a:noFill/>
            <a:round/>
          </a:ln>
          <a:effectLst>
            <a:outerShdw blurRad="175155" dist="80841"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47" name="小红书平北职场PPT45"/>
          <p:cNvSpPr/>
          <p:nvPr/>
        </p:nvSpPr>
        <p:spPr>
          <a:xfrm rot="16200000" flipH="1" flipV="1">
            <a:off x="3528194" y="4989738"/>
            <a:ext cx="2538004" cy="127688"/>
          </a:xfrm>
          <a:prstGeom prst="parallelogram">
            <a:avLst>
              <a:gd name="adj" fmla="val 18394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grpSp>
        <p:nvGrpSpPr>
          <p:cNvPr id="48" name="小红书平北职场PPT46"/>
          <p:cNvGrpSpPr/>
          <p:nvPr/>
        </p:nvGrpSpPr>
        <p:grpSpPr>
          <a:xfrm>
            <a:off x="4875396" y="5064600"/>
            <a:ext cx="2732945" cy="1553664"/>
            <a:chOff x="4815705" y="4823399"/>
            <a:chExt cx="3044341" cy="1730678"/>
          </a:xfrm>
        </p:grpSpPr>
        <p:grpSp>
          <p:nvGrpSpPr>
            <p:cNvPr id="132" name="组合 49"/>
            <p:cNvGrpSpPr/>
            <p:nvPr/>
          </p:nvGrpSpPr>
          <p:grpSpPr>
            <a:xfrm>
              <a:off x="4815714" y="5686428"/>
              <a:ext cx="523877" cy="442117"/>
              <a:chOff x="4815657" y="5686426"/>
              <a:chExt cx="523896" cy="442117"/>
            </a:xfrm>
          </p:grpSpPr>
          <p:sp>
            <p:nvSpPr>
              <p:cNvPr id="154" name="小红书平北职场PPT46-1"/>
              <p:cNvSpPr/>
              <p:nvPr/>
            </p:nvSpPr>
            <p:spPr>
              <a:xfrm flipH="1">
                <a:off x="4815657" y="5828505"/>
                <a:ext cx="523872" cy="300038"/>
              </a:xfrm>
              <a:prstGeom prst="parallelogram">
                <a:avLst>
                  <a:gd name="adj" fmla="val 55395"/>
                </a:avLst>
              </a:prstGeom>
              <a:gradFill flip="none" rotWithShape="1">
                <a:gsLst>
                  <a:gs pos="0">
                    <a:schemeClr val="bg1"/>
                  </a:gs>
                  <a:gs pos="100000">
                    <a:schemeClr val="bg1">
                      <a:lumMod val="85000"/>
                    </a:schemeClr>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55" name="小红书平北职场PPT46-2"/>
              <p:cNvSpPr/>
              <p:nvPr/>
            </p:nvSpPr>
            <p:spPr>
              <a:xfrm rot="5400000">
                <a:off x="5034755" y="5823746"/>
                <a:ext cx="442117" cy="167478"/>
              </a:xfrm>
              <a:prstGeom prst="parallelogram">
                <a:avLst>
                  <a:gd name="adj" fmla="val 181535"/>
                </a:avLst>
              </a:prstGeom>
              <a:gradFill flip="none" rotWithShape="1">
                <a:gsLst>
                  <a:gs pos="0">
                    <a:schemeClr val="bg1">
                      <a:lumMod val="50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3" name="组合 50"/>
            <p:cNvGrpSpPr/>
            <p:nvPr/>
          </p:nvGrpSpPr>
          <p:grpSpPr>
            <a:xfrm>
              <a:off x="5169992" y="5541960"/>
              <a:ext cx="530756" cy="442117"/>
              <a:chOff x="4811176" y="5686427"/>
              <a:chExt cx="530752" cy="442117"/>
            </a:xfrm>
          </p:grpSpPr>
          <p:sp>
            <p:nvSpPr>
              <p:cNvPr id="152" name="小红书平北职场PPT46-3"/>
              <p:cNvSpPr/>
              <p:nvPr/>
            </p:nvSpPr>
            <p:spPr>
              <a:xfrm flipH="1">
                <a:off x="4811176" y="5828505"/>
                <a:ext cx="530752" cy="300038"/>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53" name="小红书平北职场PPT46-4"/>
              <p:cNvSpPr/>
              <p:nvPr/>
            </p:nvSpPr>
            <p:spPr>
              <a:xfrm rot="5400000">
                <a:off x="5034755" y="5823746"/>
                <a:ext cx="442117" cy="167479"/>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4" name="组合 51"/>
            <p:cNvGrpSpPr/>
            <p:nvPr/>
          </p:nvGrpSpPr>
          <p:grpSpPr>
            <a:xfrm>
              <a:off x="5530889" y="5399083"/>
              <a:ext cx="530755" cy="442919"/>
              <a:chOff x="4813300" y="5685625"/>
              <a:chExt cx="530751" cy="442919"/>
            </a:xfrm>
          </p:grpSpPr>
          <p:sp>
            <p:nvSpPr>
              <p:cNvPr id="150" name="小红书平北职场PPT46-5"/>
              <p:cNvSpPr/>
              <p:nvPr/>
            </p:nvSpPr>
            <p:spPr>
              <a:xfrm flipH="1">
                <a:off x="4813300" y="5828505"/>
                <a:ext cx="530751" cy="300037"/>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51" name="小红书平北职场PPT46-6"/>
              <p:cNvSpPr/>
              <p:nvPr/>
            </p:nvSpPr>
            <p:spPr>
              <a:xfrm rot="5400000">
                <a:off x="5036601" y="5825596"/>
                <a:ext cx="442919" cy="162978"/>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5" name="组合 52"/>
            <p:cNvGrpSpPr/>
            <p:nvPr/>
          </p:nvGrpSpPr>
          <p:grpSpPr>
            <a:xfrm>
              <a:off x="5894168" y="5253817"/>
              <a:ext cx="526256" cy="445305"/>
              <a:chOff x="4813276" y="5683238"/>
              <a:chExt cx="526276" cy="445305"/>
            </a:xfrm>
          </p:grpSpPr>
          <p:sp>
            <p:nvSpPr>
              <p:cNvPr id="148" name="小红书平北职场PPT46-7"/>
              <p:cNvSpPr/>
              <p:nvPr/>
            </p:nvSpPr>
            <p:spPr>
              <a:xfrm flipH="1">
                <a:off x="4813276" y="5828506"/>
                <a:ext cx="523872" cy="300037"/>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9" name="小红书平北职场PPT46-8"/>
              <p:cNvSpPr/>
              <p:nvPr/>
            </p:nvSpPr>
            <p:spPr>
              <a:xfrm rot="5400000">
                <a:off x="5033160" y="5822152"/>
                <a:ext cx="445305" cy="167478"/>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6" name="组合 53"/>
            <p:cNvGrpSpPr/>
            <p:nvPr/>
          </p:nvGrpSpPr>
          <p:grpSpPr>
            <a:xfrm>
              <a:off x="6252948" y="5105393"/>
              <a:ext cx="526847" cy="448465"/>
              <a:chOff x="4815689" y="5680080"/>
              <a:chExt cx="526833" cy="448465"/>
            </a:xfrm>
          </p:grpSpPr>
          <p:sp>
            <p:nvSpPr>
              <p:cNvPr id="146" name="小红书平北职场PPT46-9"/>
              <p:cNvSpPr/>
              <p:nvPr/>
            </p:nvSpPr>
            <p:spPr>
              <a:xfrm flipH="1">
                <a:off x="4815689" y="5828505"/>
                <a:ext cx="523876" cy="300036"/>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7" name="小红书平北职场PPT46-10"/>
              <p:cNvSpPr/>
              <p:nvPr/>
            </p:nvSpPr>
            <p:spPr>
              <a:xfrm rot="5400000">
                <a:off x="5032464" y="5818487"/>
                <a:ext cx="448465" cy="171651"/>
              </a:xfrm>
              <a:prstGeom prst="parallelogram">
                <a:avLst>
                  <a:gd name="adj" fmla="val 174617"/>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7" name="组合 54"/>
            <p:cNvGrpSpPr/>
            <p:nvPr/>
          </p:nvGrpSpPr>
          <p:grpSpPr>
            <a:xfrm>
              <a:off x="6612787" y="4968869"/>
              <a:ext cx="526258" cy="442117"/>
              <a:chOff x="4815673" y="5686427"/>
              <a:chExt cx="526261" cy="442117"/>
            </a:xfrm>
          </p:grpSpPr>
          <p:sp>
            <p:nvSpPr>
              <p:cNvPr id="144" name="小红书平北职场PPT46-11"/>
              <p:cNvSpPr/>
              <p:nvPr/>
            </p:nvSpPr>
            <p:spPr>
              <a:xfrm flipH="1">
                <a:off x="4815673" y="5826124"/>
                <a:ext cx="523873" cy="300038"/>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5" name="小红书平北职场PPT46-12"/>
              <p:cNvSpPr/>
              <p:nvPr/>
            </p:nvSpPr>
            <p:spPr>
              <a:xfrm rot="5400000">
                <a:off x="5037136" y="5823746"/>
                <a:ext cx="442117" cy="167479"/>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8" name="组合 55"/>
            <p:cNvGrpSpPr/>
            <p:nvPr/>
          </p:nvGrpSpPr>
          <p:grpSpPr>
            <a:xfrm>
              <a:off x="6969968" y="4823399"/>
              <a:ext cx="529443" cy="445113"/>
              <a:chOff x="4810093" y="5683431"/>
              <a:chExt cx="529459" cy="445113"/>
            </a:xfrm>
          </p:grpSpPr>
          <p:sp>
            <p:nvSpPr>
              <p:cNvPr id="142" name="小红书平北职场PPT46-13"/>
              <p:cNvSpPr/>
              <p:nvPr/>
            </p:nvSpPr>
            <p:spPr>
              <a:xfrm flipH="1">
                <a:off x="4810093" y="5828507"/>
                <a:ext cx="529438" cy="300037"/>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3" name="小红书平北职场PPT46-14"/>
              <p:cNvSpPr/>
              <p:nvPr/>
            </p:nvSpPr>
            <p:spPr>
              <a:xfrm rot="5400000">
                <a:off x="5033256" y="5822248"/>
                <a:ext cx="445113" cy="167479"/>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sp>
          <p:nvSpPr>
            <p:cNvPr id="139" name="小红书平北职场PPT46-15"/>
            <p:cNvSpPr/>
            <p:nvPr/>
          </p:nvSpPr>
          <p:spPr>
            <a:xfrm flipH="1">
              <a:off x="7333267" y="4823399"/>
              <a:ext cx="523877" cy="300038"/>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0" name="小红书平北职场PPT46-16"/>
            <p:cNvSpPr/>
            <p:nvPr/>
          </p:nvSpPr>
          <p:spPr>
            <a:xfrm flipH="1">
              <a:off x="4980024" y="5121277"/>
              <a:ext cx="2880022" cy="1432800"/>
            </a:xfrm>
            <a:custGeom>
              <a:avLst/>
              <a:gdLst>
                <a:gd name="connsiteX0" fmla="*/ 360000 w 2880000"/>
                <a:gd name="connsiteY0" fmla="*/ 0 h 1432800"/>
                <a:gd name="connsiteX1" fmla="*/ 0 w 2880000"/>
                <a:gd name="connsiteY1" fmla="*/ 0 h 1432800"/>
                <a:gd name="connsiteX2" fmla="*/ 0 w 2880000"/>
                <a:gd name="connsiteY2" fmla="*/ 1432800 h 1432800"/>
                <a:gd name="connsiteX3" fmla="*/ 2880000 w 2880000"/>
                <a:gd name="connsiteY3" fmla="*/ 1432800 h 1432800"/>
                <a:gd name="connsiteX4" fmla="*/ 2880000 w 2880000"/>
                <a:gd name="connsiteY4" fmla="*/ 1008801 h 1432800"/>
                <a:gd name="connsiteX5" fmla="*/ 2520000 w 2880000"/>
                <a:gd name="connsiteY5" fmla="*/ 1008801 h 1432800"/>
                <a:gd name="connsiteX6" fmla="*/ 2520000 w 2880000"/>
                <a:gd name="connsiteY6" fmla="*/ 864000 h 1432800"/>
                <a:gd name="connsiteX7" fmla="*/ 2160000 w 2880000"/>
                <a:gd name="connsiteY7" fmla="*/ 864000 h 1432800"/>
                <a:gd name="connsiteX8" fmla="*/ 2160000 w 2880000"/>
                <a:gd name="connsiteY8" fmla="*/ 720000 h 1432800"/>
                <a:gd name="connsiteX9" fmla="*/ 1800000 w 2880000"/>
                <a:gd name="connsiteY9" fmla="*/ 720000 h 1432800"/>
                <a:gd name="connsiteX10" fmla="*/ 1800000 w 2880000"/>
                <a:gd name="connsiteY10" fmla="*/ 576000 h 1432800"/>
                <a:gd name="connsiteX11" fmla="*/ 1440000 w 2880000"/>
                <a:gd name="connsiteY11" fmla="*/ 576000 h 1432800"/>
                <a:gd name="connsiteX12" fmla="*/ 1440000 w 2880000"/>
                <a:gd name="connsiteY12" fmla="*/ 432000 h 1432800"/>
                <a:gd name="connsiteX13" fmla="*/ 1080000 w 2880000"/>
                <a:gd name="connsiteY13" fmla="*/ 432000 h 1432800"/>
                <a:gd name="connsiteX14" fmla="*/ 1080000 w 2880000"/>
                <a:gd name="connsiteY14" fmla="*/ 288000 h 1432800"/>
                <a:gd name="connsiteX15" fmla="*/ 720000 w 2880000"/>
                <a:gd name="connsiteY15" fmla="*/ 288000 h 1432800"/>
                <a:gd name="connsiteX16" fmla="*/ 720000 w 2880000"/>
                <a:gd name="connsiteY16" fmla="*/ 144000 h 1432800"/>
                <a:gd name="connsiteX17" fmla="*/ 360000 w 2880000"/>
                <a:gd name="connsiteY17" fmla="*/ 144000 h 143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0000" h="1432800">
                  <a:moveTo>
                    <a:pt x="360000" y="0"/>
                  </a:moveTo>
                  <a:lnTo>
                    <a:pt x="0" y="0"/>
                  </a:lnTo>
                  <a:lnTo>
                    <a:pt x="0" y="1432800"/>
                  </a:lnTo>
                  <a:lnTo>
                    <a:pt x="2880000" y="1432800"/>
                  </a:lnTo>
                  <a:lnTo>
                    <a:pt x="2880000" y="1008801"/>
                  </a:lnTo>
                  <a:lnTo>
                    <a:pt x="2520000" y="1008801"/>
                  </a:lnTo>
                  <a:lnTo>
                    <a:pt x="2520000" y="864000"/>
                  </a:lnTo>
                  <a:lnTo>
                    <a:pt x="2160000" y="864000"/>
                  </a:lnTo>
                  <a:lnTo>
                    <a:pt x="2160000" y="720000"/>
                  </a:lnTo>
                  <a:lnTo>
                    <a:pt x="1800000" y="720000"/>
                  </a:lnTo>
                  <a:lnTo>
                    <a:pt x="1800000" y="576000"/>
                  </a:lnTo>
                  <a:lnTo>
                    <a:pt x="1440000" y="576000"/>
                  </a:lnTo>
                  <a:lnTo>
                    <a:pt x="1440000" y="432000"/>
                  </a:lnTo>
                  <a:lnTo>
                    <a:pt x="1080000" y="432000"/>
                  </a:lnTo>
                  <a:lnTo>
                    <a:pt x="1080000" y="288000"/>
                  </a:lnTo>
                  <a:lnTo>
                    <a:pt x="720000" y="288000"/>
                  </a:lnTo>
                  <a:lnTo>
                    <a:pt x="720000" y="144000"/>
                  </a:lnTo>
                  <a:lnTo>
                    <a:pt x="360000" y="144000"/>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41" name="小红书平北职场PPT46-17"/>
            <p:cNvSpPr/>
            <p:nvPr/>
          </p:nvSpPr>
          <p:spPr>
            <a:xfrm rot="16200000" flipH="1" flipV="1">
              <a:off x="4536280" y="6107932"/>
              <a:ext cx="725570" cy="166720"/>
            </a:xfrm>
            <a:prstGeom prst="parallelogram">
              <a:avLst>
                <a:gd name="adj" fmla="val 183941"/>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sp>
        <p:nvSpPr>
          <p:cNvPr id="49" name="小红书平北职场PPT47"/>
          <p:cNvSpPr/>
          <p:nvPr/>
        </p:nvSpPr>
        <p:spPr>
          <a:xfrm rot="5400000">
            <a:off x="5132521" y="6024980"/>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0" name="小红书平北职场PPT48"/>
          <p:cNvSpPr/>
          <p:nvPr/>
        </p:nvSpPr>
        <p:spPr>
          <a:xfrm rot="5400000">
            <a:off x="5458167" y="5895290"/>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1" name="小红书平北职场PPT49"/>
          <p:cNvSpPr/>
          <p:nvPr/>
        </p:nvSpPr>
        <p:spPr>
          <a:xfrm rot="5400000">
            <a:off x="5782149" y="5767745"/>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2" name="小红书平北职场PPT50"/>
          <p:cNvSpPr/>
          <p:nvPr/>
        </p:nvSpPr>
        <p:spPr>
          <a:xfrm rot="5400000">
            <a:off x="6102204" y="5637338"/>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3" name="小红书平北职场PPT51"/>
          <p:cNvSpPr/>
          <p:nvPr/>
        </p:nvSpPr>
        <p:spPr>
          <a:xfrm rot="5400000">
            <a:off x="6424644" y="5509072"/>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4" name="小红书平北职场PPT52"/>
          <p:cNvSpPr/>
          <p:nvPr/>
        </p:nvSpPr>
        <p:spPr>
          <a:xfrm rot="5400000">
            <a:off x="6747678" y="5378676"/>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5" name="小红书平北职场PPT53"/>
          <p:cNvSpPr/>
          <p:nvPr/>
        </p:nvSpPr>
        <p:spPr>
          <a:xfrm rot="5400000">
            <a:off x="7073320" y="5252915"/>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6" name="小红书平北职场PPT54"/>
          <p:cNvSpPr>
            <a:spLocks noChangeAspect="1" noChangeArrowheads="1" noTextEdit="1"/>
          </p:cNvSpPr>
          <p:nvPr/>
        </p:nvSpPr>
        <p:spPr bwMode="auto">
          <a:xfrm>
            <a:off x="5890574" y="3712487"/>
            <a:ext cx="252325"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2400">
              <a:solidFill>
                <a:prstClr val="black"/>
              </a:solidFill>
              <a:cs typeface="思源黑体 CN Normal" panose="020B0400000000000000" pitchFamily="34" charset="-122"/>
            </a:endParaRPr>
          </a:p>
        </p:txBody>
      </p:sp>
      <p:grpSp>
        <p:nvGrpSpPr>
          <p:cNvPr id="57" name="小红书平北职场PPT55"/>
          <p:cNvGrpSpPr/>
          <p:nvPr/>
        </p:nvGrpSpPr>
        <p:grpSpPr>
          <a:xfrm>
            <a:off x="4794078" y="2071024"/>
            <a:ext cx="2632947" cy="4429784"/>
            <a:chOff x="4794078" y="2071024"/>
            <a:chExt cx="2632947" cy="4429784"/>
          </a:xfrm>
        </p:grpSpPr>
        <p:grpSp>
          <p:nvGrpSpPr>
            <p:cNvPr id="120" name="组合 85"/>
            <p:cNvGrpSpPr/>
            <p:nvPr/>
          </p:nvGrpSpPr>
          <p:grpSpPr>
            <a:xfrm>
              <a:off x="6261394" y="5783757"/>
              <a:ext cx="1165631" cy="717051"/>
              <a:chOff x="6057397" y="5173110"/>
              <a:chExt cx="1041366" cy="640610"/>
            </a:xfrm>
          </p:grpSpPr>
          <p:sp>
            <p:nvSpPr>
              <p:cNvPr id="130" name="小红书平北职场PPT55-1"/>
              <p:cNvSpPr txBox="1"/>
              <p:nvPr/>
            </p:nvSpPr>
            <p:spPr>
              <a:xfrm>
                <a:off x="6127310" y="5173110"/>
                <a:ext cx="901541" cy="412450"/>
              </a:xfrm>
              <a:prstGeom prst="rect">
                <a:avLst/>
              </a:prstGeom>
              <a:noFill/>
            </p:spPr>
            <p:txBody>
              <a:bodyPr wrap="square" rtlCol="0">
                <a:spAutoFit/>
              </a:bodyPr>
              <a:lstStyle/>
              <a:p>
                <a:pPr algn="ctr"/>
                <a:r>
                  <a:rPr lang="en-US" altLang="zh-CN" sz="2400" dirty="0">
                    <a:solidFill>
                      <a:prstClr val="white"/>
                    </a:solidFill>
                    <a:cs typeface="思源黑体 CN Normal" panose="020B0400000000000000" pitchFamily="34" charset="-122"/>
                  </a:rPr>
                  <a:t>01</a:t>
                </a:r>
                <a:endParaRPr lang="zh-CN" altLang="en-US" sz="2400" dirty="0">
                  <a:solidFill>
                    <a:prstClr val="white"/>
                  </a:solidFill>
                  <a:cs typeface="思源黑体 CN Normal" panose="020B0400000000000000" pitchFamily="34" charset="-122"/>
                </a:endParaRPr>
              </a:p>
            </p:txBody>
          </p:sp>
          <p:sp>
            <p:nvSpPr>
              <p:cNvPr id="131" name="小红书平北职场PPT55-2"/>
              <p:cNvSpPr txBox="1"/>
              <p:nvPr/>
            </p:nvSpPr>
            <p:spPr>
              <a:xfrm>
                <a:off x="6057397" y="5566250"/>
                <a:ext cx="1041366" cy="247470"/>
              </a:xfrm>
              <a:prstGeom prst="rect">
                <a:avLst/>
              </a:prstGeom>
              <a:noFill/>
            </p:spPr>
            <p:txBody>
              <a:bodyPr wrap="square" rtlCol="0">
                <a:spAutoFit/>
              </a:bodyPr>
              <a:lstStyle/>
              <a:p>
                <a:pPr algn="ctr"/>
                <a:r>
                  <a:rPr lang="en-US" altLang="zh-CN" sz="1200" dirty="0">
                    <a:solidFill>
                      <a:prstClr val="white"/>
                    </a:solidFill>
                    <a:latin typeface="+mn-ea"/>
                    <a:cs typeface="思源黑体 CN Normal" panose="020B0400000000000000" pitchFamily="34" charset="-122"/>
                  </a:rPr>
                  <a:t>STEP</a:t>
                </a:r>
                <a:endParaRPr lang="zh-CN" altLang="en-US" sz="1200" dirty="0">
                  <a:solidFill>
                    <a:prstClr val="white"/>
                  </a:solidFill>
                  <a:latin typeface="+mn-ea"/>
                  <a:cs typeface="思源黑体 CN Normal" panose="020B0400000000000000" pitchFamily="34" charset="-122"/>
                </a:endParaRPr>
              </a:p>
            </p:txBody>
          </p:sp>
        </p:grpSp>
        <p:grpSp>
          <p:nvGrpSpPr>
            <p:cNvPr id="121" name="组合 88"/>
            <p:cNvGrpSpPr/>
            <p:nvPr/>
          </p:nvGrpSpPr>
          <p:grpSpPr>
            <a:xfrm>
              <a:off x="5035090" y="4677303"/>
              <a:ext cx="1009121" cy="750906"/>
              <a:chOff x="6036542" y="5218495"/>
              <a:chExt cx="901541" cy="670855"/>
            </a:xfrm>
          </p:grpSpPr>
          <p:sp>
            <p:nvSpPr>
              <p:cNvPr id="128" name="小红书平北职场PPT55-3"/>
              <p:cNvSpPr txBox="1"/>
              <p:nvPr/>
            </p:nvSpPr>
            <p:spPr>
              <a:xfrm>
                <a:off x="6036542" y="5218495"/>
                <a:ext cx="901541" cy="412449"/>
              </a:xfrm>
              <a:prstGeom prst="rect">
                <a:avLst/>
              </a:prstGeom>
              <a:noFill/>
            </p:spPr>
            <p:txBody>
              <a:bodyPr wrap="square" rtlCol="0">
                <a:spAutoFit/>
              </a:bodyPr>
              <a:lstStyle/>
              <a:p>
                <a:pPr algn="ctr"/>
                <a:r>
                  <a:rPr lang="en-US" altLang="zh-CN" sz="2400" dirty="0">
                    <a:solidFill>
                      <a:prstClr val="white"/>
                    </a:solidFill>
                    <a:cs typeface="思源黑体 CN Normal" panose="020B0400000000000000" pitchFamily="34" charset="-122"/>
                  </a:rPr>
                  <a:t>02</a:t>
                </a:r>
                <a:endParaRPr lang="zh-CN" altLang="en-US" sz="2400" dirty="0">
                  <a:solidFill>
                    <a:prstClr val="white"/>
                  </a:solidFill>
                  <a:cs typeface="思源黑体 CN Normal" panose="020B0400000000000000" pitchFamily="34" charset="-122"/>
                </a:endParaRPr>
              </a:p>
            </p:txBody>
          </p:sp>
          <p:sp>
            <p:nvSpPr>
              <p:cNvPr id="129" name="小红书平北职场PPT55-4"/>
              <p:cNvSpPr txBox="1"/>
              <p:nvPr/>
            </p:nvSpPr>
            <p:spPr>
              <a:xfrm>
                <a:off x="6082295" y="5641881"/>
                <a:ext cx="795605" cy="247469"/>
              </a:xfrm>
              <a:prstGeom prst="rect">
                <a:avLst/>
              </a:prstGeom>
              <a:noFill/>
            </p:spPr>
            <p:txBody>
              <a:bodyPr wrap="square" rtlCol="0">
                <a:spAutoFit/>
              </a:bodyPr>
              <a:lstStyle/>
              <a:p>
                <a:pPr algn="ctr"/>
                <a:r>
                  <a:rPr lang="en-US" altLang="zh-CN" sz="1200" dirty="0">
                    <a:solidFill>
                      <a:prstClr val="white"/>
                    </a:solidFill>
                    <a:latin typeface="+mn-ea"/>
                    <a:cs typeface="思源黑体 CN Normal" panose="020B0400000000000000" pitchFamily="34" charset="-122"/>
                  </a:rPr>
                  <a:t>STEP</a:t>
                </a:r>
                <a:endParaRPr lang="zh-CN" altLang="en-US" sz="1200" dirty="0">
                  <a:solidFill>
                    <a:prstClr val="white"/>
                  </a:solidFill>
                  <a:latin typeface="+mn-ea"/>
                  <a:cs typeface="思源黑体 CN Normal" panose="020B0400000000000000" pitchFamily="34" charset="-122"/>
                </a:endParaRPr>
              </a:p>
            </p:txBody>
          </p:sp>
        </p:grpSp>
        <p:grpSp>
          <p:nvGrpSpPr>
            <p:cNvPr id="122" name="组合 91"/>
            <p:cNvGrpSpPr/>
            <p:nvPr/>
          </p:nvGrpSpPr>
          <p:grpSpPr>
            <a:xfrm>
              <a:off x="4794078" y="2071024"/>
              <a:ext cx="1009121" cy="717041"/>
              <a:chOff x="6127310" y="5263879"/>
              <a:chExt cx="901541" cy="640600"/>
            </a:xfrm>
          </p:grpSpPr>
          <p:sp>
            <p:nvSpPr>
              <p:cNvPr id="126" name="小红书平北职场PPT55-5"/>
              <p:cNvSpPr txBox="1"/>
              <p:nvPr/>
            </p:nvSpPr>
            <p:spPr>
              <a:xfrm>
                <a:off x="6127310" y="5263879"/>
                <a:ext cx="901541" cy="412449"/>
              </a:xfrm>
              <a:prstGeom prst="rect">
                <a:avLst/>
              </a:prstGeom>
              <a:noFill/>
            </p:spPr>
            <p:txBody>
              <a:bodyPr wrap="square" rtlCol="0">
                <a:spAutoFit/>
              </a:bodyPr>
              <a:lstStyle/>
              <a:p>
                <a:pPr algn="ctr"/>
                <a:r>
                  <a:rPr lang="en-US" altLang="zh-CN" sz="2400" dirty="0">
                    <a:solidFill>
                      <a:prstClr val="white"/>
                    </a:solidFill>
                    <a:cs typeface="思源黑体 CN Normal" panose="020B0400000000000000" pitchFamily="34" charset="-122"/>
                  </a:rPr>
                  <a:t>04</a:t>
                </a:r>
                <a:endParaRPr lang="zh-CN" altLang="en-US" sz="2400" dirty="0">
                  <a:solidFill>
                    <a:prstClr val="white"/>
                  </a:solidFill>
                  <a:cs typeface="思源黑体 CN Normal" panose="020B0400000000000000" pitchFamily="34" charset="-122"/>
                </a:endParaRPr>
              </a:p>
            </p:txBody>
          </p:sp>
          <p:sp>
            <p:nvSpPr>
              <p:cNvPr id="127" name="小红书平北职场PPT55-6"/>
              <p:cNvSpPr txBox="1"/>
              <p:nvPr/>
            </p:nvSpPr>
            <p:spPr>
              <a:xfrm>
                <a:off x="6284770" y="5657010"/>
                <a:ext cx="578002" cy="247469"/>
              </a:xfrm>
              <a:prstGeom prst="rect">
                <a:avLst/>
              </a:prstGeom>
              <a:noFill/>
            </p:spPr>
            <p:txBody>
              <a:bodyPr wrap="square" rtlCol="0">
                <a:spAutoFit/>
              </a:bodyPr>
              <a:lstStyle/>
              <a:p>
                <a:pPr algn="ctr"/>
                <a:r>
                  <a:rPr lang="en-US" altLang="zh-CN" sz="1200" dirty="0">
                    <a:solidFill>
                      <a:prstClr val="white"/>
                    </a:solidFill>
                    <a:latin typeface="+mn-ea"/>
                    <a:cs typeface="思源黑体 CN Normal" panose="020B0400000000000000" pitchFamily="34" charset="-122"/>
                  </a:rPr>
                  <a:t>STEP</a:t>
                </a:r>
                <a:endParaRPr lang="zh-CN" altLang="en-US" sz="1200" dirty="0">
                  <a:solidFill>
                    <a:prstClr val="white"/>
                  </a:solidFill>
                  <a:latin typeface="+mn-ea"/>
                  <a:cs typeface="思源黑体 CN Normal" panose="020B0400000000000000" pitchFamily="34" charset="-122"/>
                </a:endParaRPr>
              </a:p>
            </p:txBody>
          </p:sp>
        </p:grpSp>
        <p:grpSp>
          <p:nvGrpSpPr>
            <p:cNvPr id="123" name="组合 94"/>
            <p:cNvGrpSpPr/>
            <p:nvPr/>
          </p:nvGrpSpPr>
          <p:grpSpPr>
            <a:xfrm>
              <a:off x="5978733" y="3366129"/>
              <a:ext cx="1009121" cy="750901"/>
              <a:chOff x="6218079" y="5279007"/>
              <a:chExt cx="901541" cy="670850"/>
            </a:xfrm>
          </p:grpSpPr>
          <p:sp>
            <p:nvSpPr>
              <p:cNvPr id="124" name="小红书平北职场PPT55-7"/>
              <p:cNvSpPr txBox="1"/>
              <p:nvPr/>
            </p:nvSpPr>
            <p:spPr>
              <a:xfrm>
                <a:off x="6218079" y="5279007"/>
                <a:ext cx="901541" cy="412449"/>
              </a:xfrm>
              <a:prstGeom prst="rect">
                <a:avLst/>
              </a:prstGeom>
              <a:noFill/>
            </p:spPr>
            <p:txBody>
              <a:bodyPr wrap="square" rtlCol="0">
                <a:spAutoFit/>
              </a:bodyPr>
              <a:lstStyle/>
              <a:p>
                <a:pPr algn="ctr"/>
                <a:r>
                  <a:rPr lang="en-US" altLang="zh-CN" sz="2400" dirty="0">
                    <a:solidFill>
                      <a:prstClr val="white"/>
                    </a:solidFill>
                    <a:cs typeface="思源黑体 CN Normal" panose="020B0400000000000000" pitchFamily="34" charset="-122"/>
                  </a:rPr>
                  <a:t>03</a:t>
                </a:r>
                <a:endParaRPr lang="zh-CN" altLang="en-US" sz="2400" dirty="0">
                  <a:solidFill>
                    <a:prstClr val="white"/>
                  </a:solidFill>
                  <a:cs typeface="思源黑体 CN Normal" panose="020B0400000000000000" pitchFamily="34" charset="-122"/>
                </a:endParaRPr>
              </a:p>
            </p:txBody>
          </p:sp>
          <p:sp>
            <p:nvSpPr>
              <p:cNvPr id="125" name="小红书平北职场PPT55-8"/>
              <p:cNvSpPr txBox="1"/>
              <p:nvPr/>
            </p:nvSpPr>
            <p:spPr>
              <a:xfrm>
                <a:off x="6390666" y="5702388"/>
                <a:ext cx="578002" cy="247469"/>
              </a:xfrm>
              <a:prstGeom prst="rect">
                <a:avLst/>
              </a:prstGeom>
              <a:noFill/>
            </p:spPr>
            <p:txBody>
              <a:bodyPr wrap="square" rtlCol="0">
                <a:spAutoFit/>
              </a:bodyPr>
              <a:lstStyle/>
              <a:p>
                <a:pPr algn="ctr"/>
                <a:r>
                  <a:rPr lang="en-US" altLang="zh-CN" sz="1200" dirty="0">
                    <a:solidFill>
                      <a:prstClr val="white"/>
                    </a:solidFill>
                    <a:latin typeface="+mn-ea"/>
                    <a:cs typeface="思源黑体 CN Normal" panose="020B0400000000000000" pitchFamily="34" charset="-122"/>
                  </a:rPr>
                  <a:t>STEP</a:t>
                </a:r>
                <a:endParaRPr lang="zh-CN" altLang="en-US" sz="1200" dirty="0">
                  <a:solidFill>
                    <a:prstClr val="white"/>
                  </a:solidFill>
                  <a:latin typeface="+mn-ea"/>
                  <a:cs typeface="思源黑体 CN Normal" panose="020B0400000000000000" pitchFamily="34" charset="-122"/>
                </a:endParaRPr>
              </a:p>
            </p:txBody>
          </p:sp>
        </p:grpSp>
      </p:grpSp>
      <p:sp>
        <p:nvSpPr>
          <p:cNvPr id="58" name="小红书平北职场PPT56"/>
          <p:cNvSpPr/>
          <p:nvPr/>
        </p:nvSpPr>
        <p:spPr>
          <a:xfrm flipV="1">
            <a:off x="4537437" y="1059494"/>
            <a:ext cx="209577" cy="236351"/>
          </a:xfrm>
          <a:custGeom>
            <a:avLst/>
            <a:gdLst>
              <a:gd name="connsiteX0" fmla="*/ 0 w 187235"/>
              <a:gd name="connsiteY0" fmla="*/ 211154 h 211154"/>
              <a:gd name="connsiteX1" fmla="*/ 4007 w 187235"/>
              <a:gd name="connsiteY1" fmla="*/ 211154 h 211154"/>
              <a:gd name="connsiteX2" fmla="*/ 93617 w 187235"/>
              <a:gd name="connsiteY2" fmla="*/ 167392 h 211154"/>
              <a:gd name="connsiteX3" fmla="*/ 183227 w 187235"/>
              <a:gd name="connsiteY3" fmla="*/ 211154 h 211154"/>
              <a:gd name="connsiteX4" fmla="*/ 187235 w 187235"/>
              <a:gd name="connsiteY4" fmla="*/ 211154 h 211154"/>
              <a:gd name="connsiteX5" fmla="*/ 93618 w 187235"/>
              <a:gd name="connsiteY5" fmla="*/ 0 h 21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235" h="211154">
                <a:moveTo>
                  <a:pt x="0" y="211154"/>
                </a:moveTo>
                <a:lnTo>
                  <a:pt x="4007" y="211154"/>
                </a:lnTo>
                <a:lnTo>
                  <a:pt x="93617" y="167392"/>
                </a:lnTo>
                <a:lnTo>
                  <a:pt x="183227" y="211154"/>
                </a:lnTo>
                <a:lnTo>
                  <a:pt x="187235" y="211154"/>
                </a:lnTo>
                <a:lnTo>
                  <a:pt x="93618" y="0"/>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grpSp>
        <p:nvGrpSpPr>
          <p:cNvPr id="59" name="小红书平北职场PPT57"/>
          <p:cNvGrpSpPr/>
          <p:nvPr/>
        </p:nvGrpSpPr>
        <p:grpSpPr>
          <a:xfrm>
            <a:off x="5735420" y="1032031"/>
            <a:ext cx="464909" cy="653127"/>
            <a:chOff x="5735420" y="1032031"/>
            <a:chExt cx="464909" cy="653127"/>
          </a:xfrm>
          <a:gradFill>
            <a:gsLst>
              <a:gs pos="0">
                <a:schemeClr val="accent1">
                  <a:lumMod val="60000"/>
                  <a:lumOff val="40000"/>
                </a:schemeClr>
              </a:gs>
              <a:gs pos="100000">
                <a:schemeClr val="accent1"/>
              </a:gs>
            </a:gsLst>
            <a:lin ang="0" scaled="1"/>
          </a:gradFill>
        </p:grpSpPr>
        <p:sp>
          <p:nvSpPr>
            <p:cNvPr id="116" name="小红书平北职场PPT57-1"/>
            <p:cNvSpPr/>
            <p:nvPr/>
          </p:nvSpPr>
          <p:spPr bwMode="auto">
            <a:xfrm flipH="1">
              <a:off x="5873769" y="1032031"/>
              <a:ext cx="121770" cy="149448"/>
            </a:xfrm>
            <a:custGeom>
              <a:avLst/>
              <a:gdLst>
                <a:gd name="T0" fmla="*/ 5 w 9"/>
                <a:gd name="T1" fmla="*/ 10 h 11"/>
                <a:gd name="T2" fmla="*/ 8 w 9"/>
                <a:gd name="T3" fmla="*/ 4 h 11"/>
                <a:gd name="T4" fmla="*/ 5 w 9"/>
                <a:gd name="T5" fmla="*/ 0 h 11"/>
                <a:gd name="T6" fmla="*/ 0 w 9"/>
                <a:gd name="T7" fmla="*/ 4 h 11"/>
                <a:gd name="T8" fmla="*/ 5 w 9"/>
                <a:gd name="T9" fmla="*/ 10 h 11"/>
              </a:gdLst>
              <a:ahLst/>
              <a:cxnLst>
                <a:cxn ang="0">
                  <a:pos x="T0" y="T1"/>
                </a:cxn>
                <a:cxn ang="0">
                  <a:pos x="T2" y="T3"/>
                </a:cxn>
                <a:cxn ang="0">
                  <a:pos x="T4" y="T5"/>
                </a:cxn>
                <a:cxn ang="0">
                  <a:pos x="T6" y="T7"/>
                </a:cxn>
                <a:cxn ang="0">
                  <a:pos x="T8" y="T9"/>
                </a:cxn>
              </a:cxnLst>
              <a:rect l="0" t="0" r="r" b="b"/>
              <a:pathLst>
                <a:path w="9" h="11">
                  <a:moveTo>
                    <a:pt x="5" y="10"/>
                  </a:moveTo>
                  <a:cubicBezTo>
                    <a:pt x="8" y="10"/>
                    <a:pt x="8" y="7"/>
                    <a:pt x="8" y="4"/>
                  </a:cubicBezTo>
                  <a:cubicBezTo>
                    <a:pt x="9" y="2"/>
                    <a:pt x="7" y="0"/>
                    <a:pt x="5" y="0"/>
                  </a:cubicBezTo>
                  <a:cubicBezTo>
                    <a:pt x="2" y="0"/>
                    <a:pt x="0" y="2"/>
                    <a:pt x="0" y="4"/>
                  </a:cubicBezTo>
                  <a:cubicBezTo>
                    <a:pt x="1" y="8"/>
                    <a:pt x="4" y="11"/>
                    <a:pt x="5" y="10"/>
                  </a:cubicBezTo>
                  <a:close/>
                </a:path>
              </a:pathLst>
            </a:custGeom>
            <a:grpFill/>
            <a:ln w="9525">
              <a:noFill/>
              <a:round/>
            </a:ln>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17" name="小红书平北职场PPT57-2"/>
            <p:cNvSpPr/>
            <p:nvPr/>
          </p:nvSpPr>
          <p:spPr bwMode="auto">
            <a:xfrm flipH="1">
              <a:off x="5995536" y="1441617"/>
              <a:ext cx="193727" cy="243541"/>
            </a:xfrm>
            <a:custGeom>
              <a:avLst/>
              <a:gdLst>
                <a:gd name="T0" fmla="*/ 12 w 14"/>
                <a:gd name="T1" fmla="*/ 1 h 18"/>
                <a:gd name="T2" fmla="*/ 10 w 14"/>
                <a:gd name="T3" fmla="*/ 0 h 18"/>
                <a:gd name="T4" fmla="*/ 8 w 14"/>
                <a:gd name="T5" fmla="*/ 6 h 18"/>
                <a:gd name="T6" fmla="*/ 1 w 14"/>
                <a:gd name="T7" fmla="*/ 14 h 18"/>
                <a:gd name="T8" fmla="*/ 1 w 14"/>
                <a:gd name="T9" fmla="*/ 17 h 18"/>
                <a:gd name="T10" fmla="*/ 4 w 14"/>
                <a:gd name="T11" fmla="*/ 17 h 18"/>
                <a:gd name="T12" fmla="*/ 12 w 14"/>
                <a:gd name="T13" fmla="*/ 9 h 18"/>
                <a:gd name="T14" fmla="*/ 13 w 14"/>
                <a:gd name="T15" fmla="*/ 8 h 18"/>
                <a:gd name="T16" fmla="*/ 14 w 14"/>
                <a:gd name="T17" fmla="*/ 3 h 18"/>
                <a:gd name="T18" fmla="*/ 12 w 14"/>
                <a:gd name="T19"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8">
                  <a:moveTo>
                    <a:pt x="12" y="1"/>
                  </a:moveTo>
                  <a:cubicBezTo>
                    <a:pt x="11" y="1"/>
                    <a:pt x="10" y="0"/>
                    <a:pt x="10" y="0"/>
                  </a:cubicBezTo>
                  <a:cubicBezTo>
                    <a:pt x="8" y="6"/>
                    <a:pt x="8" y="6"/>
                    <a:pt x="8" y="6"/>
                  </a:cubicBezTo>
                  <a:cubicBezTo>
                    <a:pt x="1" y="14"/>
                    <a:pt x="1" y="14"/>
                    <a:pt x="1" y="14"/>
                  </a:cubicBezTo>
                  <a:cubicBezTo>
                    <a:pt x="0" y="15"/>
                    <a:pt x="0" y="16"/>
                    <a:pt x="1" y="17"/>
                  </a:cubicBezTo>
                  <a:cubicBezTo>
                    <a:pt x="2" y="18"/>
                    <a:pt x="4" y="18"/>
                    <a:pt x="4" y="17"/>
                  </a:cubicBezTo>
                  <a:cubicBezTo>
                    <a:pt x="12" y="9"/>
                    <a:pt x="12" y="9"/>
                    <a:pt x="12" y="9"/>
                  </a:cubicBezTo>
                  <a:cubicBezTo>
                    <a:pt x="12" y="9"/>
                    <a:pt x="13" y="8"/>
                    <a:pt x="13" y="8"/>
                  </a:cubicBezTo>
                  <a:cubicBezTo>
                    <a:pt x="14" y="3"/>
                    <a:pt x="14" y="3"/>
                    <a:pt x="14" y="3"/>
                  </a:cubicBezTo>
                  <a:cubicBezTo>
                    <a:pt x="13" y="2"/>
                    <a:pt x="13" y="2"/>
                    <a:pt x="12" y="1"/>
                  </a:cubicBezTo>
                  <a:close/>
                </a:path>
              </a:pathLst>
            </a:custGeom>
            <a:grpFill/>
            <a:ln w="9525">
              <a:noFill/>
              <a:round/>
            </a:ln>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18" name="小红书平北职场PPT57-3"/>
            <p:cNvSpPr/>
            <p:nvPr/>
          </p:nvSpPr>
          <p:spPr bwMode="auto">
            <a:xfrm flipH="1">
              <a:off x="5735420" y="1181475"/>
              <a:ext cx="177120" cy="110701"/>
            </a:xfrm>
            <a:custGeom>
              <a:avLst/>
              <a:gdLst>
                <a:gd name="T0" fmla="*/ 6 w 13"/>
                <a:gd name="T1" fmla="*/ 8 h 8"/>
                <a:gd name="T2" fmla="*/ 12 w 13"/>
                <a:gd name="T3" fmla="*/ 4 h 8"/>
                <a:gd name="T4" fmla="*/ 12 w 13"/>
                <a:gd name="T5" fmla="*/ 1 h 8"/>
                <a:gd name="T6" fmla="*/ 10 w 13"/>
                <a:gd name="T7" fmla="*/ 1 h 8"/>
                <a:gd name="T8" fmla="*/ 5 w 13"/>
                <a:gd name="T9" fmla="*/ 4 h 8"/>
                <a:gd name="T10" fmla="*/ 1 w 13"/>
                <a:gd name="T11" fmla="*/ 3 h 8"/>
                <a:gd name="T12" fmla="*/ 1 w 13"/>
                <a:gd name="T13" fmla="*/ 5 h 8"/>
                <a:gd name="T14" fmla="*/ 0 w 13"/>
                <a:gd name="T15" fmla="*/ 7 h 8"/>
                <a:gd name="T16" fmla="*/ 5 w 13"/>
                <a:gd name="T17" fmla="*/ 8 h 8"/>
                <a:gd name="T18" fmla="*/ 6 w 13"/>
                <a:gd name="T19"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8">
                  <a:moveTo>
                    <a:pt x="6" y="8"/>
                  </a:moveTo>
                  <a:cubicBezTo>
                    <a:pt x="12" y="4"/>
                    <a:pt x="12" y="4"/>
                    <a:pt x="12" y="4"/>
                  </a:cubicBezTo>
                  <a:cubicBezTo>
                    <a:pt x="13" y="3"/>
                    <a:pt x="13" y="2"/>
                    <a:pt x="12" y="1"/>
                  </a:cubicBezTo>
                  <a:cubicBezTo>
                    <a:pt x="12" y="1"/>
                    <a:pt x="11" y="0"/>
                    <a:pt x="10" y="1"/>
                  </a:cubicBezTo>
                  <a:cubicBezTo>
                    <a:pt x="5" y="4"/>
                    <a:pt x="5" y="4"/>
                    <a:pt x="5" y="4"/>
                  </a:cubicBezTo>
                  <a:cubicBezTo>
                    <a:pt x="1" y="3"/>
                    <a:pt x="1" y="3"/>
                    <a:pt x="1" y="3"/>
                  </a:cubicBezTo>
                  <a:cubicBezTo>
                    <a:pt x="1" y="3"/>
                    <a:pt x="1" y="4"/>
                    <a:pt x="1" y="5"/>
                  </a:cubicBezTo>
                  <a:cubicBezTo>
                    <a:pt x="1" y="6"/>
                    <a:pt x="0" y="7"/>
                    <a:pt x="0" y="7"/>
                  </a:cubicBezTo>
                  <a:cubicBezTo>
                    <a:pt x="5" y="8"/>
                    <a:pt x="5" y="8"/>
                    <a:pt x="5" y="8"/>
                  </a:cubicBezTo>
                  <a:cubicBezTo>
                    <a:pt x="5" y="8"/>
                    <a:pt x="6" y="8"/>
                    <a:pt x="6" y="8"/>
                  </a:cubicBezTo>
                  <a:close/>
                </a:path>
              </a:pathLst>
            </a:custGeom>
            <a:grpFill/>
            <a:ln w="9525">
              <a:noFill/>
              <a:round/>
            </a:ln>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19" name="小红书平北职场PPT57-4"/>
            <p:cNvSpPr/>
            <p:nvPr/>
          </p:nvSpPr>
          <p:spPr bwMode="auto">
            <a:xfrm flipH="1">
              <a:off x="5890369" y="1181472"/>
              <a:ext cx="309960" cy="476013"/>
            </a:xfrm>
            <a:custGeom>
              <a:avLst/>
              <a:gdLst>
                <a:gd name="T0" fmla="*/ 18 w 23"/>
                <a:gd name="T1" fmla="*/ 17 h 35"/>
                <a:gd name="T2" fmla="*/ 21 w 23"/>
                <a:gd name="T3" fmla="*/ 5 h 35"/>
                <a:gd name="T4" fmla="*/ 21 w 23"/>
                <a:gd name="T5" fmla="*/ 2 h 35"/>
                <a:gd name="T6" fmla="*/ 20 w 23"/>
                <a:gd name="T7" fmla="*/ 2 h 35"/>
                <a:gd name="T8" fmla="*/ 19 w 23"/>
                <a:gd name="T9" fmla="*/ 7 h 35"/>
                <a:gd name="T10" fmla="*/ 20 w 23"/>
                <a:gd name="T11" fmla="*/ 3 h 35"/>
                <a:gd name="T12" fmla="*/ 20 w 23"/>
                <a:gd name="T13" fmla="*/ 2 h 35"/>
                <a:gd name="T14" fmla="*/ 20 w 23"/>
                <a:gd name="T15" fmla="*/ 1 h 35"/>
                <a:gd name="T16" fmla="*/ 19 w 23"/>
                <a:gd name="T17" fmla="*/ 1 h 35"/>
                <a:gd name="T18" fmla="*/ 18 w 23"/>
                <a:gd name="T19" fmla="*/ 2 h 35"/>
                <a:gd name="T20" fmla="*/ 19 w 23"/>
                <a:gd name="T21" fmla="*/ 3 h 35"/>
                <a:gd name="T22" fmla="*/ 18 w 23"/>
                <a:gd name="T23" fmla="*/ 6 h 35"/>
                <a:gd name="T24" fmla="*/ 17 w 23"/>
                <a:gd name="T25" fmla="*/ 0 h 35"/>
                <a:gd name="T26" fmla="*/ 17 w 23"/>
                <a:gd name="T27" fmla="*/ 0 h 35"/>
                <a:gd name="T28" fmla="*/ 17 w 23"/>
                <a:gd name="T29" fmla="*/ 0 h 35"/>
                <a:gd name="T30" fmla="*/ 15 w 23"/>
                <a:gd name="T31" fmla="*/ 0 h 35"/>
                <a:gd name="T32" fmla="*/ 8 w 23"/>
                <a:gd name="T33" fmla="*/ 0 h 35"/>
                <a:gd name="T34" fmla="*/ 1 w 23"/>
                <a:gd name="T35" fmla="*/ 5 h 35"/>
                <a:gd name="T36" fmla="*/ 1 w 23"/>
                <a:gd name="T37" fmla="*/ 8 h 35"/>
                <a:gd name="T38" fmla="*/ 4 w 23"/>
                <a:gd name="T39" fmla="*/ 8 h 35"/>
                <a:gd name="T40" fmla="*/ 4 w 23"/>
                <a:gd name="T41" fmla="*/ 8 h 35"/>
                <a:gd name="T42" fmla="*/ 9 w 23"/>
                <a:gd name="T43" fmla="*/ 4 h 35"/>
                <a:gd name="T44" fmla="*/ 13 w 23"/>
                <a:gd name="T45" fmla="*/ 4 h 35"/>
                <a:gd name="T46" fmla="*/ 12 w 23"/>
                <a:gd name="T47" fmla="*/ 4 h 35"/>
                <a:gd name="T48" fmla="*/ 9 w 23"/>
                <a:gd name="T49" fmla="*/ 15 h 35"/>
                <a:gd name="T50" fmla="*/ 10 w 23"/>
                <a:gd name="T51" fmla="*/ 16 h 35"/>
                <a:gd name="T52" fmla="*/ 14 w 23"/>
                <a:gd name="T53" fmla="*/ 20 h 35"/>
                <a:gd name="T54" fmla="*/ 18 w 23"/>
                <a:gd name="T55" fmla="*/ 24 h 35"/>
                <a:gd name="T56" fmla="*/ 17 w 23"/>
                <a:gd name="T57" fmla="*/ 32 h 35"/>
                <a:gd name="T58" fmla="*/ 19 w 23"/>
                <a:gd name="T59" fmla="*/ 35 h 35"/>
                <a:gd name="T60" fmla="*/ 22 w 23"/>
                <a:gd name="T61" fmla="*/ 33 h 35"/>
                <a:gd name="T62" fmla="*/ 23 w 23"/>
                <a:gd name="T63" fmla="*/ 24 h 35"/>
                <a:gd name="T64" fmla="*/ 23 w 23"/>
                <a:gd name="T65" fmla="*/ 22 h 35"/>
                <a:gd name="T66" fmla="*/ 18 w 23"/>
                <a:gd name="T67"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 h="35">
                  <a:moveTo>
                    <a:pt x="18" y="17"/>
                  </a:moveTo>
                  <a:cubicBezTo>
                    <a:pt x="19" y="10"/>
                    <a:pt x="21" y="6"/>
                    <a:pt x="21" y="5"/>
                  </a:cubicBezTo>
                  <a:cubicBezTo>
                    <a:pt x="21" y="3"/>
                    <a:pt x="21" y="2"/>
                    <a:pt x="21" y="2"/>
                  </a:cubicBezTo>
                  <a:cubicBezTo>
                    <a:pt x="20" y="2"/>
                    <a:pt x="20" y="2"/>
                    <a:pt x="20" y="2"/>
                  </a:cubicBezTo>
                  <a:cubicBezTo>
                    <a:pt x="20" y="5"/>
                    <a:pt x="19" y="7"/>
                    <a:pt x="19" y="7"/>
                  </a:cubicBezTo>
                  <a:cubicBezTo>
                    <a:pt x="19" y="7"/>
                    <a:pt x="20" y="4"/>
                    <a:pt x="20" y="3"/>
                  </a:cubicBezTo>
                  <a:cubicBezTo>
                    <a:pt x="20" y="2"/>
                    <a:pt x="20" y="2"/>
                    <a:pt x="20" y="2"/>
                  </a:cubicBezTo>
                  <a:cubicBezTo>
                    <a:pt x="20" y="1"/>
                    <a:pt x="20" y="1"/>
                    <a:pt x="20" y="1"/>
                  </a:cubicBezTo>
                  <a:cubicBezTo>
                    <a:pt x="19" y="1"/>
                    <a:pt x="19" y="1"/>
                    <a:pt x="19" y="1"/>
                  </a:cubicBezTo>
                  <a:cubicBezTo>
                    <a:pt x="18" y="2"/>
                    <a:pt x="18" y="2"/>
                    <a:pt x="18" y="2"/>
                  </a:cubicBezTo>
                  <a:cubicBezTo>
                    <a:pt x="18" y="2"/>
                    <a:pt x="18" y="2"/>
                    <a:pt x="19" y="3"/>
                  </a:cubicBezTo>
                  <a:cubicBezTo>
                    <a:pt x="19" y="3"/>
                    <a:pt x="18" y="4"/>
                    <a:pt x="18" y="6"/>
                  </a:cubicBezTo>
                  <a:cubicBezTo>
                    <a:pt x="18" y="1"/>
                    <a:pt x="17" y="0"/>
                    <a:pt x="17" y="0"/>
                  </a:cubicBezTo>
                  <a:cubicBezTo>
                    <a:pt x="17" y="0"/>
                    <a:pt x="17" y="0"/>
                    <a:pt x="17" y="0"/>
                  </a:cubicBezTo>
                  <a:cubicBezTo>
                    <a:pt x="17" y="0"/>
                    <a:pt x="17" y="0"/>
                    <a:pt x="17" y="0"/>
                  </a:cubicBezTo>
                  <a:cubicBezTo>
                    <a:pt x="16" y="0"/>
                    <a:pt x="15" y="0"/>
                    <a:pt x="15" y="0"/>
                  </a:cubicBezTo>
                  <a:cubicBezTo>
                    <a:pt x="13" y="0"/>
                    <a:pt x="11" y="0"/>
                    <a:pt x="8" y="0"/>
                  </a:cubicBezTo>
                  <a:cubicBezTo>
                    <a:pt x="1" y="5"/>
                    <a:pt x="1" y="5"/>
                    <a:pt x="1" y="5"/>
                  </a:cubicBezTo>
                  <a:cubicBezTo>
                    <a:pt x="0" y="6"/>
                    <a:pt x="0" y="7"/>
                    <a:pt x="1" y="8"/>
                  </a:cubicBezTo>
                  <a:cubicBezTo>
                    <a:pt x="2" y="8"/>
                    <a:pt x="3" y="9"/>
                    <a:pt x="4" y="8"/>
                  </a:cubicBezTo>
                  <a:cubicBezTo>
                    <a:pt x="4" y="8"/>
                    <a:pt x="4" y="8"/>
                    <a:pt x="4" y="8"/>
                  </a:cubicBezTo>
                  <a:cubicBezTo>
                    <a:pt x="9" y="4"/>
                    <a:pt x="9" y="4"/>
                    <a:pt x="9" y="4"/>
                  </a:cubicBezTo>
                  <a:cubicBezTo>
                    <a:pt x="13" y="4"/>
                    <a:pt x="13" y="4"/>
                    <a:pt x="13" y="4"/>
                  </a:cubicBezTo>
                  <a:cubicBezTo>
                    <a:pt x="12" y="4"/>
                    <a:pt x="12" y="4"/>
                    <a:pt x="12" y="4"/>
                  </a:cubicBezTo>
                  <a:cubicBezTo>
                    <a:pt x="11" y="7"/>
                    <a:pt x="9" y="13"/>
                    <a:pt x="9" y="15"/>
                  </a:cubicBezTo>
                  <a:cubicBezTo>
                    <a:pt x="10" y="16"/>
                    <a:pt x="10" y="16"/>
                    <a:pt x="10" y="16"/>
                  </a:cubicBezTo>
                  <a:cubicBezTo>
                    <a:pt x="10" y="16"/>
                    <a:pt x="11" y="18"/>
                    <a:pt x="14" y="20"/>
                  </a:cubicBezTo>
                  <a:cubicBezTo>
                    <a:pt x="14" y="20"/>
                    <a:pt x="18" y="24"/>
                    <a:pt x="18" y="24"/>
                  </a:cubicBezTo>
                  <a:cubicBezTo>
                    <a:pt x="17" y="32"/>
                    <a:pt x="17" y="32"/>
                    <a:pt x="17" y="32"/>
                  </a:cubicBezTo>
                  <a:cubicBezTo>
                    <a:pt x="17" y="34"/>
                    <a:pt x="18" y="35"/>
                    <a:pt x="19" y="35"/>
                  </a:cubicBezTo>
                  <a:cubicBezTo>
                    <a:pt x="20" y="35"/>
                    <a:pt x="21" y="35"/>
                    <a:pt x="22" y="33"/>
                  </a:cubicBezTo>
                  <a:cubicBezTo>
                    <a:pt x="23" y="24"/>
                    <a:pt x="23" y="24"/>
                    <a:pt x="23" y="24"/>
                  </a:cubicBezTo>
                  <a:cubicBezTo>
                    <a:pt x="23" y="23"/>
                    <a:pt x="23" y="22"/>
                    <a:pt x="23" y="22"/>
                  </a:cubicBezTo>
                  <a:cubicBezTo>
                    <a:pt x="22" y="21"/>
                    <a:pt x="18" y="17"/>
                    <a:pt x="18" y="17"/>
                  </a:cubicBezTo>
                  <a:close/>
                </a:path>
              </a:pathLst>
            </a:custGeom>
            <a:grpFill/>
            <a:ln w="9525">
              <a:noFill/>
              <a:round/>
            </a:ln>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grpSp>
      <p:grpSp>
        <p:nvGrpSpPr>
          <p:cNvPr id="60" name="小红书平北职场PPT58"/>
          <p:cNvGrpSpPr/>
          <p:nvPr/>
        </p:nvGrpSpPr>
        <p:grpSpPr>
          <a:xfrm>
            <a:off x="3203222" y="4418061"/>
            <a:ext cx="1130238" cy="138550"/>
            <a:chOff x="3166157" y="1945699"/>
            <a:chExt cx="1009746" cy="123780"/>
          </a:xfrm>
          <a:solidFill>
            <a:schemeClr val="tx1"/>
          </a:solidFill>
        </p:grpSpPr>
        <p:cxnSp>
          <p:nvCxnSpPr>
            <p:cNvPr id="114" name="小红书平北职场PPT58-1"/>
            <p:cNvCxnSpPr/>
            <p:nvPr/>
          </p:nvCxnSpPr>
          <p:spPr>
            <a:xfrm flipH="1">
              <a:off x="3233470" y="2012479"/>
              <a:ext cx="942433"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小红书平北职场PPT58-2"/>
            <p:cNvSpPr/>
            <p:nvPr/>
          </p:nvSpPr>
          <p:spPr>
            <a:xfrm>
              <a:off x="3166157" y="1945699"/>
              <a:ext cx="123780" cy="12378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61" name="小红书平北职场PPT59"/>
          <p:cNvGrpSpPr/>
          <p:nvPr/>
        </p:nvGrpSpPr>
        <p:grpSpPr>
          <a:xfrm flipH="1">
            <a:off x="7750051" y="5518642"/>
            <a:ext cx="1082079" cy="138550"/>
            <a:chOff x="3166157" y="1945699"/>
            <a:chExt cx="966721" cy="123780"/>
          </a:xfrm>
          <a:solidFill>
            <a:srgbClr val="C00000"/>
          </a:solidFill>
        </p:grpSpPr>
        <p:cxnSp>
          <p:nvCxnSpPr>
            <p:cNvPr id="112" name="小红书平北职场PPT59-1"/>
            <p:cNvCxnSpPr/>
            <p:nvPr/>
          </p:nvCxnSpPr>
          <p:spPr>
            <a:xfrm flipH="1">
              <a:off x="3233469" y="2012479"/>
              <a:ext cx="899409"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小红书平北职场PPT59-2"/>
            <p:cNvSpPr/>
            <p:nvPr/>
          </p:nvSpPr>
          <p:spPr>
            <a:xfrm>
              <a:off x="3166157" y="1945699"/>
              <a:ext cx="123780" cy="1237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62" name="小红书平北职场PPT60"/>
          <p:cNvGrpSpPr/>
          <p:nvPr/>
        </p:nvGrpSpPr>
        <p:grpSpPr>
          <a:xfrm flipH="1">
            <a:off x="7415730" y="2890724"/>
            <a:ext cx="1419137" cy="138550"/>
            <a:chOff x="3166157" y="1945699"/>
            <a:chExt cx="1267846" cy="123780"/>
          </a:xfrm>
          <a:solidFill>
            <a:srgbClr val="C00000"/>
          </a:solidFill>
        </p:grpSpPr>
        <p:cxnSp>
          <p:nvCxnSpPr>
            <p:cNvPr id="110" name="小红书平北职场PPT60-1"/>
            <p:cNvCxnSpPr/>
            <p:nvPr/>
          </p:nvCxnSpPr>
          <p:spPr>
            <a:xfrm flipH="1">
              <a:off x="3233469" y="2012479"/>
              <a:ext cx="120053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小红书平北职场PPT60-2"/>
            <p:cNvSpPr/>
            <p:nvPr/>
          </p:nvSpPr>
          <p:spPr>
            <a:xfrm>
              <a:off x="3166157" y="1945699"/>
              <a:ext cx="123780" cy="1237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sp>
        <p:nvSpPr>
          <p:cNvPr id="63" name="小红书平北职场PPT62"/>
          <p:cNvSpPr txBox="1"/>
          <p:nvPr/>
        </p:nvSpPr>
        <p:spPr>
          <a:xfrm>
            <a:off x="443412" y="4087774"/>
            <a:ext cx="2518684" cy="1945213"/>
          </a:xfrm>
          <a:prstGeom prst="rect">
            <a:avLst/>
          </a:prstGeom>
          <a:noFill/>
        </p:spPr>
        <p:txBody>
          <a:bodyPr wrap="square" lIns="0" tIns="0" rIns="0" bIns="0" rtlCol="0">
            <a:spAutoFit/>
          </a:bodyPr>
          <a:lstStyle>
            <a:defPPr>
              <a:defRPr lang="zh-CN"/>
            </a:defPPr>
            <a:lvl1pPr algn="r">
              <a:lnSpc>
                <a:spcPct val="130000"/>
              </a:lnSpc>
              <a:defRPr sz="1200">
                <a:solidFill>
                  <a:schemeClr val="tx1">
                    <a:lumMod val="75000"/>
                    <a:lumOff val="25000"/>
                  </a:schemeClr>
                </a:solidFill>
                <a:latin typeface="+mn-ea"/>
              </a:defRPr>
            </a:lvl1pPr>
          </a:lstStyle>
          <a:p>
            <a:r>
              <a:rPr lang="zh-CN"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执行层</a:t>
            </a:r>
            <a:r>
              <a:rPr lang="en-US"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a:t>
            </a:r>
            <a:r>
              <a:rPr lang="zh-CN" altLang="en-US"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计划落地 </a:t>
            </a:r>
            <a:endParaRPr lang="en-US"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a:p>
            <a:r>
              <a:rPr lang="zh-CN" altLang="en-US" sz="1800" dirty="0">
                <a:solidFill>
                  <a:schemeClr val="tx1"/>
                </a:solidFill>
                <a:latin typeface="+mj-ea"/>
                <a:ea typeface="+mj-ea"/>
                <a:cs typeface="思源黑体 CN Normal" panose="020B0400000000000000" pitchFamily="34" charset="-122"/>
              </a:rPr>
              <a:t>任务拆解，责任到人</a:t>
            </a:r>
            <a:endParaRPr lang="en-US" altLang="zh-CN" sz="1800" dirty="0">
              <a:solidFill>
                <a:schemeClr val="tx1"/>
              </a:solidFill>
              <a:latin typeface="+mj-ea"/>
              <a:ea typeface="+mj-ea"/>
              <a:cs typeface="思源黑体 CN Normal" panose="020B0400000000000000" pitchFamily="34" charset="-122"/>
            </a:endParaRPr>
          </a:p>
          <a:p>
            <a:r>
              <a:rPr lang="zh-CN" altLang="en-US" dirty="0">
                <a:solidFill>
                  <a:schemeClr val="tx1"/>
                </a:solidFill>
                <a:cs typeface="思源黑体 CN Normal" panose="020B0400000000000000" pitchFamily="34" charset="-122"/>
              </a:rPr>
              <a:t>将目标转化为可执行工单，进行工作分解（</a:t>
            </a:r>
            <a:r>
              <a:rPr lang="en-US" altLang="zh-CN" dirty="0">
                <a:solidFill>
                  <a:schemeClr val="tx1"/>
                </a:solidFill>
                <a:cs typeface="思源黑体 CN Normal" panose="020B0400000000000000" pitchFamily="34" charset="-122"/>
              </a:rPr>
              <a:t>WBS</a:t>
            </a:r>
            <a:r>
              <a:rPr lang="zh-CN" altLang="en-US" dirty="0">
                <a:solidFill>
                  <a:schemeClr val="tx1"/>
                </a:solidFill>
                <a:cs typeface="思源黑体 CN Normal" panose="020B0400000000000000" pitchFamily="34" charset="-122"/>
              </a:rPr>
              <a:t>）。落实责任人（</a:t>
            </a:r>
            <a:r>
              <a:rPr lang="en-US" altLang="zh-CN" dirty="0">
                <a:solidFill>
                  <a:schemeClr val="tx1"/>
                </a:solidFill>
                <a:cs typeface="思源黑体 CN Normal" panose="020B0400000000000000" pitchFamily="34" charset="-122"/>
              </a:rPr>
              <a:t>RACI</a:t>
            </a:r>
            <a:r>
              <a:rPr lang="zh-CN" altLang="en-US" dirty="0">
                <a:solidFill>
                  <a:schemeClr val="tx1"/>
                </a:solidFill>
                <a:cs typeface="思源黑体 CN Normal" panose="020B0400000000000000" pitchFamily="34" charset="-122"/>
              </a:rPr>
              <a:t>）、时间表（</a:t>
            </a:r>
            <a:r>
              <a:rPr lang="en-US" altLang="zh-CN" dirty="0">
                <a:solidFill>
                  <a:schemeClr val="tx1"/>
                </a:solidFill>
                <a:cs typeface="思源黑体 CN Normal" panose="020B0400000000000000" pitchFamily="34" charset="-122"/>
              </a:rPr>
              <a:t>Timeline</a:t>
            </a:r>
            <a:r>
              <a:rPr lang="zh-CN" altLang="en-US" dirty="0">
                <a:solidFill>
                  <a:schemeClr val="tx1"/>
                </a:solidFill>
                <a:cs typeface="思源黑体 CN Normal" panose="020B0400000000000000" pitchFamily="34" charset="-122"/>
              </a:rPr>
              <a:t>） 与交付标准。强化过程管控与节点检查，确保计划高效落地实施</a:t>
            </a:r>
            <a:endParaRPr lang="zh-CN" altLang="en-US" dirty="0">
              <a:solidFill>
                <a:schemeClr val="tx1"/>
              </a:solidFill>
              <a:cs typeface="思源黑体 CN Normal" panose="020B0400000000000000" pitchFamily="34" charset="-122"/>
            </a:endParaRPr>
          </a:p>
        </p:txBody>
      </p:sp>
      <p:grpSp>
        <p:nvGrpSpPr>
          <p:cNvPr id="64" name="小红书平北职场PPT63"/>
          <p:cNvGrpSpPr/>
          <p:nvPr/>
        </p:nvGrpSpPr>
        <p:grpSpPr>
          <a:xfrm>
            <a:off x="9211607" y="4238767"/>
            <a:ext cx="2635492" cy="2287106"/>
            <a:chOff x="9211607" y="4291019"/>
            <a:chExt cx="2635492" cy="2287106"/>
          </a:xfrm>
        </p:grpSpPr>
        <p:sp>
          <p:nvSpPr>
            <p:cNvPr id="104" name="小红书平北职场PPT63-1"/>
            <p:cNvSpPr txBox="1"/>
            <p:nvPr/>
          </p:nvSpPr>
          <p:spPr>
            <a:xfrm>
              <a:off x="9221546" y="4291019"/>
              <a:ext cx="2518684" cy="1945213"/>
            </a:xfrm>
            <a:prstGeom prst="rect">
              <a:avLst/>
            </a:prstGeom>
            <a:noFill/>
          </p:spPr>
          <p:txBody>
            <a:bodyPr wrap="square" lIns="0" tIns="0" rIns="0" bIns="0" rtlCol="0">
              <a:spAutoFit/>
            </a:bodyPr>
            <a:lstStyle>
              <a:defPPr>
                <a:defRPr lang="zh-CN"/>
              </a:defPPr>
              <a:lvl1pPr algn="r">
                <a:lnSpc>
                  <a:spcPct val="130000"/>
                </a:lnSpc>
                <a:defRPr sz="1200">
                  <a:solidFill>
                    <a:schemeClr val="tx1">
                      <a:lumMod val="75000"/>
                      <a:lumOff val="25000"/>
                    </a:schemeClr>
                  </a:solidFill>
                  <a:latin typeface="+mn-ea"/>
                </a:defRPr>
              </a:lvl1pPr>
            </a:lstStyle>
            <a:p>
              <a:pPr algn="l"/>
              <a:r>
                <a:rPr lang="zh-CN"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目标层</a:t>
              </a:r>
              <a:r>
                <a:rPr lang="en-US"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a:t>
              </a:r>
              <a:r>
                <a:rPr lang="zh-CN"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目标聚焦 </a:t>
              </a:r>
              <a:endParaRPr lang="en-US"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gn="l"/>
              <a:r>
                <a:rPr lang="zh-CN" altLang="zh-CN" sz="1800" dirty="0">
                  <a:solidFill>
                    <a:schemeClr val="tx1"/>
                  </a:solidFill>
                  <a:latin typeface="+mj-ea"/>
                  <a:ea typeface="+mj-ea"/>
                  <a:cs typeface="思源黑体 CN Normal" panose="020B0400000000000000" pitchFamily="34" charset="-122"/>
                </a:rPr>
                <a:t>战略解码，路径规划</a:t>
              </a:r>
              <a:br>
                <a:rPr lang="zh-CN" altLang="zh-CN" dirty="0">
                  <a:cs typeface="思源黑体 CN Normal" panose="020B0400000000000000" pitchFamily="34" charset="-122"/>
                </a:rPr>
              </a:br>
              <a:r>
                <a:rPr lang="zh-CN" altLang="zh-CN" dirty="0">
                  <a:solidFill>
                    <a:schemeClr val="tx1"/>
                  </a:solidFill>
                  <a:cs typeface="思源黑体 CN Normal" panose="020B0400000000000000" pitchFamily="34" charset="-122"/>
                </a:rPr>
                <a:t>聚焦核心目标，进行战略解码。明确关键结果（KR）、优先级排序与任务基线。输出清晰的执行路线图，确保团队目标对齐，为行动提供精准的方向锚点</a:t>
              </a:r>
              <a:endParaRPr lang="zh-CN" altLang="en-US" dirty="0">
                <a:solidFill>
                  <a:schemeClr val="tx1"/>
                </a:solidFill>
                <a:cs typeface="思源黑体 CN Normal" panose="020B0400000000000000" pitchFamily="34" charset="-122"/>
              </a:endParaRPr>
            </a:p>
          </p:txBody>
        </p:sp>
        <p:grpSp>
          <p:nvGrpSpPr>
            <p:cNvPr id="105" name="组合 104"/>
            <p:cNvGrpSpPr/>
            <p:nvPr/>
          </p:nvGrpSpPr>
          <p:grpSpPr>
            <a:xfrm>
              <a:off x="9211607" y="6278051"/>
              <a:ext cx="2635492" cy="300074"/>
              <a:chOff x="8946864" y="6618265"/>
              <a:chExt cx="2860992" cy="300074"/>
            </a:xfrm>
          </p:grpSpPr>
          <p:sp>
            <p:nvSpPr>
              <p:cNvPr id="106" name="小红书平北职场PPT63-2"/>
              <p:cNvSpPr>
                <a:spLocks noChangeArrowheads="1"/>
              </p:cNvSpPr>
              <p:nvPr/>
            </p:nvSpPr>
            <p:spPr bwMode="auto">
              <a:xfrm>
                <a:off x="11129996"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zh-CN" sz="900" dirty="0">
                    <a:solidFill>
                      <a:schemeClr val="tx1">
                        <a:lumMod val="85000"/>
                        <a:lumOff val="15000"/>
                      </a:schemeClr>
                    </a:solidFill>
                    <a:cs typeface="思源黑体 CN Normal" panose="020B0400000000000000" pitchFamily="34" charset="-122"/>
                  </a:rPr>
                  <a:t>战略解码</a:t>
                </a:r>
                <a:endParaRPr lang="zh-CN" altLang="zh-CN" sz="900" dirty="0">
                  <a:solidFill>
                    <a:schemeClr val="tx1">
                      <a:lumMod val="85000"/>
                      <a:lumOff val="15000"/>
                    </a:schemeClr>
                  </a:solidFill>
                  <a:cs typeface="思源黑体 CN Normal" panose="020B0400000000000000" pitchFamily="34" charset="-122"/>
                </a:endParaRPr>
              </a:p>
            </p:txBody>
          </p:sp>
          <p:sp>
            <p:nvSpPr>
              <p:cNvPr id="107" name="小红书平北职场PPT63-3"/>
              <p:cNvSpPr>
                <a:spLocks noChangeArrowheads="1"/>
              </p:cNvSpPr>
              <p:nvPr/>
            </p:nvSpPr>
            <p:spPr bwMode="auto">
              <a:xfrm>
                <a:off x="10369956"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zh-CN" sz="900">
                    <a:solidFill>
                      <a:schemeClr val="tx1">
                        <a:lumMod val="85000"/>
                        <a:lumOff val="15000"/>
                      </a:schemeClr>
                    </a:solidFill>
                    <a:cs typeface="思源黑体 CN Normal" panose="020B0400000000000000" pitchFamily="34" charset="-122"/>
                  </a:rPr>
                  <a:t>关键结果</a:t>
                </a:r>
                <a:endParaRPr lang="zh-CN" altLang="zh-CN" sz="900" dirty="0">
                  <a:solidFill>
                    <a:schemeClr val="tx1">
                      <a:lumMod val="85000"/>
                      <a:lumOff val="15000"/>
                    </a:schemeClr>
                  </a:solidFill>
                  <a:cs typeface="思源黑体 CN Normal" panose="020B0400000000000000" pitchFamily="34" charset="-122"/>
                </a:endParaRPr>
              </a:p>
            </p:txBody>
          </p:sp>
          <p:sp>
            <p:nvSpPr>
              <p:cNvPr id="108" name="小红书平北职场PPT63-4"/>
              <p:cNvSpPr>
                <a:spLocks noChangeArrowheads="1"/>
              </p:cNvSpPr>
              <p:nvPr/>
            </p:nvSpPr>
            <p:spPr bwMode="auto">
              <a:xfrm>
                <a:off x="9706905" y="6618265"/>
                <a:ext cx="580868"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zh-CN" sz="900">
                    <a:solidFill>
                      <a:schemeClr val="tx1">
                        <a:lumMod val="85000"/>
                        <a:lumOff val="15000"/>
                      </a:schemeClr>
                    </a:solidFill>
                    <a:cs typeface="思源黑体 CN Normal" panose="020B0400000000000000" pitchFamily="34" charset="-122"/>
                  </a:rPr>
                  <a:t>优先级</a:t>
                </a:r>
                <a:endParaRPr lang="zh-CN" altLang="zh-CN" sz="900" dirty="0">
                  <a:solidFill>
                    <a:schemeClr val="tx1">
                      <a:lumMod val="85000"/>
                      <a:lumOff val="15000"/>
                    </a:schemeClr>
                  </a:solidFill>
                  <a:cs typeface="思源黑体 CN Normal" panose="020B0400000000000000" pitchFamily="34" charset="-122"/>
                </a:endParaRPr>
              </a:p>
            </p:txBody>
          </p:sp>
          <p:sp>
            <p:nvSpPr>
              <p:cNvPr id="109" name="小红书平北职场PPT63-5"/>
              <p:cNvSpPr>
                <a:spLocks noChangeArrowheads="1"/>
              </p:cNvSpPr>
              <p:nvPr/>
            </p:nvSpPr>
            <p:spPr bwMode="auto">
              <a:xfrm>
                <a:off x="8946864"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zh-CN" sz="900" dirty="0">
                    <a:solidFill>
                      <a:schemeClr val="tx1">
                        <a:lumMod val="85000"/>
                        <a:lumOff val="15000"/>
                      </a:schemeClr>
                    </a:solidFill>
                    <a:cs typeface="思源黑体 CN Normal" panose="020B0400000000000000" pitchFamily="34" charset="-122"/>
                  </a:rPr>
                  <a:t>路线图标</a:t>
                </a:r>
                <a:endParaRPr lang="zh-CN" altLang="zh-CN" sz="900" dirty="0">
                  <a:solidFill>
                    <a:schemeClr val="tx1">
                      <a:lumMod val="85000"/>
                      <a:lumOff val="15000"/>
                    </a:schemeClr>
                  </a:solidFill>
                  <a:cs typeface="思源黑体 CN Normal" panose="020B0400000000000000" pitchFamily="34" charset="-122"/>
                </a:endParaRPr>
              </a:p>
            </p:txBody>
          </p:sp>
        </p:grpSp>
      </p:grpSp>
      <p:grpSp>
        <p:nvGrpSpPr>
          <p:cNvPr id="65" name="小红书平北职场PPT64"/>
          <p:cNvGrpSpPr/>
          <p:nvPr/>
        </p:nvGrpSpPr>
        <p:grpSpPr>
          <a:xfrm>
            <a:off x="9211605" y="1318445"/>
            <a:ext cx="2528625" cy="2300836"/>
            <a:chOff x="9211605" y="1613449"/>
            <a:chExt cx="2528625" cy="2300836"/>
          </a:xfrm>
        </p:grpSpPr>
        <p:sp>
          <p:nvSpPr>
            <p:cNvPr id="99" name="小红书平北职场PPT64-1"/>
            <p:cNvSpPr txBox="1"/>
            <p:nvPr/>
          </p:nvSpPr>
          <p:spPr>
            <a:xfrm>
              <a:off x="9221546" y="1613449"/>
              <a:ext cx="2518684" cy="1945213"/>
            </a:xfrm>
            <a:prstGeom prst="rect">
              <a:avLst/>
            </a:prstGeom>
            <a:noFill/>
          </p:spPr>
          <p:txBody>
            <a:bodyPr wrap="square" lIns="0" tIns="0" rIns="0" bIns="0" rtlCol="0">
              <a:spAutoFit/>
            </a:bodyPr>
            <a:lstStyle>
              <a:defPPr>
                <a:defRPr lang="zh-CN"/>
              </a:defPPr>
              <a:lvl1pPr algn="r">
                <a:lnSpc>
                  <a:spcPct val="130000"/>
                </a:lnSpc>
                <a:defRPr sz="1200">
                  <a:solidFill>
                    <a:schemeClr val="tx1">
                      <a:lumMod val="75000"/>
                      <a:lumOff val="25000"/>
                    </a:schemeClr>
                  </a:solidFill>
                  <a:latin typeface="+mn-ea"/>
                </a:defRPr>
              </a:lvl1pPr>
            </a:lstStyle>
            <a:p>
              <a:pPr algn="l"/>
              <a:r>
                <a:rPr lang="zh-CN"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协同层</a:t>
              </a:r>
              <a:r>
                <a:rPr lang="en-US"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a:t>
              </a:r>
              <a:r>
                <a:rPr lang="zh-CN" altLang="en-US"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协同攻坚</a:t>
              </a:r>
              <a:endParaRPr lang="en-US"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gn="l"/>
              <a:r>
                <a:rPr lang="zh-CN" altLang="en-US" sz="1800" dirty="0">
                  <a:solidFill>
                    <a:schemeClr val="tx1"/>
                  </a:solidFill>
                  <a:latin typeface="+mj-ea"/>
                  <a:ea typeface="+mj-ea"/>
                  <a:cs typeface="思源黑体 CN Normal" panose="020B0400000000000000" pitchFamily="34" charset="-122"/>
                </a:rPr>
                <a:t>资源整合，破壁增效</a:t>
              </a:r>
              <a:br>
                <a:rPr lang="zh-CN" altLang="zh-CN" dirty="0">
                  <a:cs typeface="思源黑体 CN Normal" panose="020B0400000000000000" pitchFamily="34" charset="-122"/>
                </a:rPr>
              </a:br>
              <a:r>
                <a:rPr lang="zh-CN" altLang="en-US" dirty="0">
                  <a:solidFill>
                    <a:schemeClr val="tx1"/>
                  </a:solidFill>
                  <a:cs typeface="思源黑体 CN Normal" panose="020B0400000000000000" pitchFamily="34" charset="-122"/>
                </a:rPr>
                <a:t>激活跨职能协作，打通信息孤岛。建立定期同步机制，促进知识共享与风险共担。整合互补型技能，实现资源最优配置，旨在突破瓶颈，达成协同效应</a:t>
              </a:r>
              <a:endParaRPr lang="zh-CN" altLang="en-US" dirty="0">
                <a:solidFill>
                  <a:schemeClr val="tx1"/>
                </a:solidFill>
                <a:cs typeface="思源黑体 CN Normal" panose="020B0400000000000000" pitchFamily="34" charset="-122"/>
              </a:endParaRPr>
            </a:p>
          </p:txBody>
        </p:sp>
        <p:grpSp>
          <p:nvGrpSpPr>
            <p:cNvPr id="100" name="组合 99"/>
            <p:cNvGrpSpPr/>
            <p:nvPr/>
          </p:nvGrpSpPr>
          <p:grpSpPr>
            <a:xfrm>
              <a:off x="9211605" y="3614211"/>
              <a:ext cx="2264046" cy="300074"/>
              <a:chOff x="8946863" y="6618265"/>
              <a:chExt cx="2457766" cy="300074"/>
            </a:xfrm>
          </p:grpSpPr>
          <p:sp>
            <p:nvSpPr>
              <p:cNvPr id="101" name="小红书平北职场PPT64-2"/>
              <p:cNvSpPr>
                <a:spLocks noChangeArrowheads="1"/>
              </p:cNvSpPr>
              <p:nvPr/>
            </p:nvSpPr>
            <p:spPr bwMode="auto">
              <a:xfrm>
                <a:off x="10726769"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资源整合</a:t>
                </a:r>
                <a:endParaRPr lang="zh-CN" altLang="zh-CN" sz="900" dirty="0">
                  <a:solidFill>
                    <a:schemeClr val="tx1">
                      <a:lumMod val="85000"/>
                      <a:lumOff val="15000"/>
                    </a:schemeClr>
                  </a:solidFill>
                  <a:cs typeface="思源黑体 CN Normal" panose="020B0400000000000000" pitchFamily="34" charset="-122"/>
                </a:endParaRPr>
              </a:p>
            </p:txBody>
          </p:sp>
          <p:sp>
            <p:nvSpPr>
              <p:cNvPr id="102" name="小红书平北职场PPT64-3"/>
              <p:cNvSpPr>
                <a:spLocks noChangeArrowheads="1"/>
              </p:cNvSpPr>
              <p:nvPr/>
            </p:nvSpPr>
            <p:spPr bwMode="auto">
              <a:xfrm>
                <a:off x="9976689"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信息同步</a:t>
                </a:r>
                <a:endParaRPr lang="zh-CN" altLang="zh-CN" sz="900" dirty="0">
                  <a:solidFill>
                    <a:schemeClr val="tx1">
                      <a:lumMod val="85000"/>
                      <a:lumOff val="15000"/>
                    </a:schemeClr>
                  </a:solidFill>
                  <a:cs typeface="思源黑体 CN Normal" panose="020B0400000000000000" pitchFamily="34" charset="-122"/>
                </a:endParaRPr>
              </a:p>
            </p:txBody>
          </p:sp>
          <p:sp>
            <p:nvSpPr>
              <p:cNvPr id="103" name="小红书平北职场PPT64-4"/>
              <p:cNvSpPr>
                <a:spLocks noChangeArrowheads="1"/>
              </p:cNvSpPr>
              <p:nvPr/>
            </p:nvSpPr>
            <p:spPr bwMode="auto">
              <a:xfrm>
                <a:off x="8946863" y="6618265"/>
                <a:ext cx="957604"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跨职能协作</a:t>
                </a:r>
                <a:endParaRPr lang="zh-CN" altLang="zh-CN" sz="900" dirty="0">
                  <a:solidFill>
                    <a:schemeClr val="tx1">
                      <a:lumMod val="85000"/>
                      <a:lumOff val="15000"/>
                    </a:schemeClr>
                  </a:solidFill>
                  <a:cs typeface="思源黑体 CN Normal" panose="020B0400000000000000" pitchFamily="34" charset="-122"/>
                </a:endParaRPr>
              </a:p>
            </p:txBody>
          </p:sp>
        </p:grpSp>
      </p:grpSp>
      <p:grpSp>
        <p:nvGrpSpPr>
          <p:cNvPr id="66" name="小红书平北职场PPT65"/>
          <p:cNvGrpSpPr/>
          <p:nvPr/>
        </p:nvGrpSpPr>
        <p:grpSpPr>
          <a:xfrm>
            <a:off x="326604" y="6131714"/>
            <a:ext cx="2635492" cy="300074"/>
            <a:chOff x="8946864" y="6618265"/>
            <a:chExt cx="2860992" cy="300074"/>
          </a:xfrm>
        </p:grpSpPr>
        <p:sp>
          <p:nvSpPr>
            <p:cNvPr id="95" name="小红书平北职场PPT65-1"/>
            <p:cNvSpPr>
              <a:spLocks noChangeArrowheads="1"/>
            </p:cNvSpPr>
            <p:nvPr/>
          </p:nvSpPr>
          <p:spPr bwMode="auto">
            <a:xfrm>
              <a:off x="11129996"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工作分解</a:t>
              </a:r>
              <a:endParaRPr lang="zh-CN" altLang="zh-CN" sz="900" dirty="0">
                <a:solidFill>
                  <a:schemeClr val="tx1">
                    <a:lumMod val="85000"/>
                    <a:lumOff val="15000"/>
                  </a:schemeClr>
                </a:solidFill>
                <a:cs typeface="思源黑体 CN Normal" panose="020B0400000000000000" pitchFamily="34" charset="-122"/>
              </a:endParaRPr>
            </a:p>
          </p:txBody>
        </p:sp>
        <p:sp>
          <p:nvSpPr>
            <p:cNvPr id="96" name="小红书平北职场PPT65-2"/>
            <p:cNvSpPr>
              <a:spLocks noChangeArrowheads="1"/>
            </p:cNvSpPr>
            <p:nvPr/>
          </p:nvSpPr>
          <p:spPr bwMode="auto">
            <a:xfrm>
              <a:off x="10369956"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过程管控</a:t>
              </a:r>
              <a:endParaRPr lang="zh-CN" altLang="zh-CN" sz="900" dirty="0">
                <a:solidFill>
                  <a:schemeClr val="tx1">
                    <a:lumMod val="85000"/>
                    <a:lumOff val="15000"/>
                  </a:schemeClr>
                </a:solidFill>
                <a:cs typeface="思源黑体 CN Normal" panose="020B0400000000000000" pitchFamily="34" charset="-122"/>
              </a:endParaRPr>
            </a:p>
          </p:txBody>
        </p:sp>
        <p:sp>
          <p:nvSpPr>
            <p:cNvPr id="97" name="小红书平北职场PPT65-3"/>
            <p:cNvSpPr>
              <a:spLocks noChangeArrowheads="1"/>
            </p:cNvSpPr>
            <p:nvPr/>
          </p:nvSpPr>
          <p:spPr bwMode="auto">
            <a:xfrm>
              <a:off x="9706905" y="6618265"/>
              <a:ext cx="580868"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责任人</a:t>
              </a:r>
              <a:endParaRPr lang="zh-CN" altLang="zh-CN" sz="900" dirty="0">
                <a:solidFill>
                  <a:schemeClr val="tx1">
                    <a:lumMod val="85000"/>
                    <a:lumOff val="15000"/>
                  </a:schemeClr>
                </a:solidFill>
                <a:cs typeface="思源黑体 CN Normal" panose="020B0400000000000000" pitchFamily="34" charset="-122"/>
              </a:endParaRPr>
            </a:p>
          </p:txBody>
        </p:sp>
        <p:sp>
          <p:nvSpPr>
            <p:cNvPr id="98" name="小红书平北职场PPT65-4"/>
            <p:cNvSpPr>
              <a:spLocks noChangeArrowheads="1"/>
            </p:cNvSpPr>
            <p:nvPr/>
          </p:nvSpPr>
          <p:spPr bwMode="auto">
            <a:xfrm>
              <a:off x="8946864"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节点检查</a:t>
              </a:r>
              <a:endParaRPr lang="zh-CN" altLang="zh-CN" sz="900" dirty="0">
                <a:solidFill>
                  <a:schemeClr val="tx1">
                    <a:lumMod val="85000"/>
                    <a:lumOff val="15000"/>
                  </a:schemeClr>
                </a:solidFill>
                <a:cs typeface="思源黑体 CN Normal" panose="020B0400000000000000" pitchFamily="34" charset="-122"/>
              </a:endParaRPr>
            </a:p>
          </p:txBody>
        </p:sp>
      </p:grpSp>
      <p:grpSp>
        <p:nvGrpSpPr>
          <p:cNvPr id="67" name="小红书平北职场PPT66"/>
          <p:cNvGrpSpPr/>
          <p:nvPr/>
        </p:nvGrpSpPr>
        <p:grpSpPr>
          <a:xfrm>
            <a:off x="374364" y="1137779"/>
            <a:ext cx="2587732" cy="2299433"/>
            <a:chOff x="161940" y="1366376"/>
            <a:chExt cx="2587732" cy="2299433"/>
          </a:xfrm>
        </p:grpSpPr>
        <p:sp>
          <p:nvSpPr>
            <p:cNvPr id="90" name="小红书平北职场PPT66-1"/>
            <p:cNvSpPr txBox="1"/>
            <p:nvPr/>
          </p:nvSpPr>
          <p:spPr>
            <a:xfrm>
              <a:off x="161940" y="1366376"/>
              <a:ext cx="2518684" cy="1945213"/>
            </a:xfrm>
            <a:prstGeom prst="rect">
              <a:avLst/>
            </a:prstGeom>
            <a:noFill/>
          </p:spPr>
          <p:txBody>
            <a:bodyPr wrap="square" lIns="0" tIns="0" rIns="0" bIns="0" rtlCol="0">
              <a:spAutoFit/>
            </a:bodyPr>
            <a:lstStyle>
              <a:defPPr>
                <a:defRPr lang="zh-CN"/>
              </a:defPPr>
              <a:lvl1pPr algn="r">
                <a:lnSpc>
                  <a:spcPct val="130000"/>
                </a:lnSpc>
                <a:defRPr sz="1200">
                  <a:solidFill>
                    <a:schemeClr val="tx1">
                      <a:lumMod val="75000"/>
                      <a:lumOff val="25000"/>
                    </a:schemeClr>
                  </a:solidFill>
                  <a:latin typeface="+mn-ea"/>
                </a:defRPr>
              </a:lvl1pPr>
            </a:lstStyle>
            <a:p>
              <a:r>
                <a:rPr lang="zh-CN"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进化层</a:t>
              </a:r>
              <a:r>
                <a:rPr lang="en-US"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a:t>
              </a:r>
              <a:r>
                <a:rPr lang="zh-CN" altLang="en-US"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复盘赋能</a:t>
              </a:r>
              <a:endParaRPr lang="en-US"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a:p>
              <a:r>
                <a:rPr lang="zh-CN" altLang="en-US" sz="1800" dirty="0">
                  <a:solidFill>
                    <a:schemeClr val="tx1"/>
                  </a:solidFill>
                  <a:latin typeface="+mj-ea"/>
                  <a:ea typeface="+mj-ea"/>
                  <a:cs typeface="思源黑体 CN Normal" panose="020B0400000000000000" pitchFamily="34" charset="-122"/>
                </a:rPr>
                <a:t>迭代优化，沉淀复用</a:t>
              </a:r>
              <a:endParaRPr lang="en-US" altLang="zh-CN" sz="1800" dirty="0">
                <a:solidFill>
                  <a:schemeClr val="tx1"/>
                </a:solidFill>
                <a:latin typeface="+mj-ea"/>
                <a:ea typeface="+mj-ea"/>
                <a:cs typeface="思源黑体 CN Normal" panose="020B0400000000000000" pitchFamily="34" charset="-122"/>
              </a:endParaRPr>
            </a:p>
            <a:p>
              <a:r>
                <a:rPr lang="zh-CN" altLang="zh-CN" dirty="0">
                  <a:solidFill>
                    <a:schemeClr val="tx1"/>
                  </a:solidFill>
                  <a:cs typeface="思源黑体 CN Normal" panose="020B0400000000000000" pitchFamily="34" charset="-122"/>
                </a:rPr>
                <a:t>聚焦核心目标，进行战略解码。明确关键结果（KR）、优先级排序与任务基线。输出清晰的执行路线图，确保团队目标对齐，为行动提供精准的方向锚点</a:t>
              </a:r>
              <a:endParaRPr lang="zh-CN" altLang="en-US" dirty="0">
                <a:solidFill>
                  <a:schemeClr val="tx1"/>
                </a:solidFill>
                <a:cs typeface="思源黑体 CN Normal" panose="020B0400000000000000" pitchFamily="34" charset="-122"/>
              </a:endParaRPr>
            </a:p>
          </p:txBody>
        </p:sp>
        <p:grpSp>
          <p:nvGrpSpPr>
            <p:cNvPr id="91" name="组合 90"/>
            <p:cNvGrpSpPr/>
            <p:nvPr/>
          </p:nvGrpSpPr>
          <p:grpSpPr>
            <a:xfrm>
              <a:off x="485626" y="3365735"/>
              <a:ext cx="2264046" cy="300074"/>
              <a:chOff x="8946863" y="6618265"/>
              <a:chExt cx="2457766" cy="300074"/>
            </a:xfrm>
          </p:grpSpPr>
          <p:sp>
            <p:nvSpPr>
              <p:cNvPr id="92" name="小红书平北职场PPT66-2"/>
              <p:cNvSpPr>
                <a:spLocks noChangeArrowheads="1"/>
              </p:cNvSpPr>
              <p:nvPr/>
            </p:nvSpPr>
            <p:spPr bwMode="auto">
              <a:xfrm>
                <a:off x="10726769"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标准程序</a:t>
                </a:r>
                <a:endParaRPr lang="zh-CN" altLang="zh-CN" sz="900" dirty="0">
                  <a:solidFill>
                    <a:schemeClr val="tx1">
                      <a:lumMod val="85000"/>
                      <a:lumOff val="15000"/>
                    </a:schemeClr>
                  </a:solidFill>
                  <a:cs typeface="思源黑体 CN Normal" panose="020B0400000000000000" pitchFamily="34" charset="-122"/>
                </a:endParaRPr>
              </a:p>
            </p:txBody>
          </p:sp>
          <p:sp>
            <p:nvSpPr>
              <p:cNvPr id="93" name="小红书平北职场PPT66-3"/>
              <p:cNvSpPr>
                <a:spLocks noChangeArrowheads="1"/>
              </p:cNvSpPr>
              <p:nvPr/>
            </p:nvSpPr>
            <p:spPr bwMode="auto">
              <a:xfrm>
                <a:off x="9976689"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流程优化</a:t>
                </a:r>
                <a:endParaRPr lang="zh-CN" altLang="zh-CN" sz="900" dirty="0">
                  <a:solidFill>
                    <a:schemeClr val="tx1">
                      <a:lumMod val="85000"/>
                      <a:lumOff val="15000"/>
                    </a:schemeClr>
                  </a:solidFill>
                  <a:cs typeface="思源黑体 CN Normal" panose="020B0400000000000000" pitchFamily="34" charset="-122"/>
                </a:endParaRPr>
              </a:p>
            </p:txBody>
          </p:sp>
          <p:sp>
            <p:nvSpPr>
              <p:cNvPr id="94" name="小红书平北职场PPT66-4"/>
              <p:cNvSpPr>
                <a:spLocks noChangeArrowheads="1"/>
              </p:cNvSpPr>
              <p:nvPr/>
            </p:nvSpPr>
            <p:spPr bwMode="auto">
              <a:xfrm>
                <a:off x="8946863" y="6618265"/>
                <a:ext cx="957604"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结构化复盘</a:t>
                </a:r>
                <a:endParaRPr lang="zh-CN" altLang="zh-CN" sz="900" dirty="0">
                  <a:solidFill>
                    <a:schemeClr val="tx1">
                      <a:lumMod val="85000"/>
                      <a:lumOff val="15000"/>
                    </a:schemeClr>
                  </a:solidFill>
                  <a:cs typeface="思源黑体 CN Normal" panose="020B0400000000000000" pitchFamily="34" charset="-122"/>
                </a:endParaRPr>
              </a:p>
            </p:txBody>
          </p:sp>
        </p:grpSp>
      </p:grpSp>
      <p:grpSp>
        <p:nvGrpSpPr>
          <p:cNvPr id="68" name="小红书平北职场PPT67"/>
          <p:cNvGrpSpPr/>
          <p:nvPr/>
        </p:nvGrpSpPr>
        <p:grpSpPr>
          <a:xfrm>
            <a:off x="3203222" y="1805445"/>
            <a:ext cx="1130238" cy="138550"/>
            <a:chOff x="3166157" y="1945699"/>
            <a:chExt cx="1009746" cy="123780"/>
          </a:xfrm>
          <a:solidFill>
            <a:schemeClr val="tx1"/>
          </a:solidFill>
        </p:grpSpPr>
        <p:cxnSp>
          <p:nvCxnSpPr>
            <p:cNvPr id="88" name="小红书平北职场PPT67-1"/>
            <p:cNvCxnSpPr/>
            <p:nvPr/>
          </p:nvCxnSpPr>
          <p:spPr>
            <a:xfrm flipH="1">
              <a:off x="3233470" y="2012479"/>
              <a:ext cx="942433"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小红书平北职场PPT67-2"/>
            <p:cNvSpPr/>
            <p:nvPr/>
          </p:nvSpPr>
          <p:spPr>
            <a:xfrm>
              <a:off x="3166157" y="1945699"/>
              <a:ext cx="123780" cy="12378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2"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小红书平北职场PPT2"/>
          <p:cNvSpPr>
            <a:spLocks noChangeArrowheads="1"/>
          </p:cNvSpPr>
          <p:nvPr/>
        </p:nvSpPr>
        <p:spPr bwMode="auto">
          <a:xfrm>
            <a:off x="0" y="218673"/>
            <a:ext cx="410304" cy="4770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03136" tIns="45720" rIns="203136"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000" b="0" i="0" u="none" strike="noStrike" cap="none" normalizeH="0" baseline="0" dirty="0">
                <a:ln>
                  <a:noFill/>
                </a:ln>
                <a:solidFill>
                  <a:srgbClr val="800080"/>
                </a:solidFill>
                <a:effectLst/>
                <a:latin typeface="思源黑体 CN Heavy" panose="020B0A00000000000000" charset="-122"/>
                <a:ea typeface="思源黑体 CN Heavy" panose="020B0A00000000000000" charset="-122"/>
                <a:cs typeface="思源黑体 CN Normal" panose="020B0400000000000000" pitchFamily="34" charset="-122"/>
              </a:rPr>
            </a:br>
            <a:endParaRPr kumimoji="0" lang="zh-CN" altLang="zh-CN" sz="1800" b="0" i="0" u="none" strike="noStrike" cap="none" normalizeH="0" baseline="0" dirty="0">
              <a:ln>
                <a:noFill/>
              </a:ln>
              <a:solidFill>
                <a:schemeClr val="tx1"/>
              </a:solidFill>
              <a:effectLst/>
              <a:latin typeface="思源黑体 CN Heavy" panose="020B0A00000000000000" charset="-122"/>
              <a:cs typeface="思源黑体 CN Normal" panose="020B0400000000000000" pitchFamily="34" charset="-122"/>
            </a:endParaRPr>
          </a:p>
        </p:txBody>
      </p:sp>
      <p:grpSp>
        <p:nvGrpSpPr>
          <p:cNvPr id="26" name="Group 10"/>
          <p:cNvGrpSpPr/>
          <p:nvPr/>
        </p:nvGrpSpPr>
        <p:grpSpPr>
          <a:xfrm>
            <a:off x="633451" y="2700651"/>
            <a:ext cx="2621577" cy="445534"/>
            <a:chOff x="1175171" y="2499174"/>
            <a:chExt cx="2621577" cy="445534"/>
          </a:xfrm>
        </p:grpSpPr>
        <p:sp>
          <p:nvSpPr>
            <p:cNvPr id="70" name="小红书平北职场PPT3-1"/>
            <p:cNvSpPr/>
            <p:nvPr/>
          </p:nvSpPr>
          <p:spPr>
            <a:xfrm>
              <a:off x="1175172" y="2499174"/>
              <a:ext cx="2621576" cy="445534"/>
            </a:xfrm>
            <a:prstGeom prst="parallelogram">
              <a:avLst>
                <a:gd name="adj" fmla="val 10481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71" name="小红书平北职场PPT3-2"/>
            <p:cNvSpPr/>
            <p:nvPr/>
          </p:nvSpPr>
          <p:spPr bwMode="auto">
            <a:xfrm>
              <a:off x="1175171" y="2499174"/>
              <a:ext cx="2621576" cy="445534"/>
            </a:xfrm>
            <a:custGeom>
              <a:avLst/>
              <a:gdLst>
                <a:gd name="connsiteX0" fmla="*/ 466982 w 2621576"/>
                <a:gd name="connsiteY0" fmla="*/ 0 h 445534"/>
                <a:gd name="connsiteX1" fmla="*/ 2621576 w 2621576"/>
                <a:gd name="connsiteY1" fmla="*/ 0 h 445534"/>
                <a:gd name="connsiteX2" fmla="*/ 2154594 w 2621576"/>
                <a:gd name="connsiteY2" fmla="*/ 445534 h 445534"/>
                <a:gd name="connsiteX3" fmla="*/ 0 w 2621576"/>
                <a:gd name="connsiteY3" fmla="*/ 445534 h 445534"/>
                <a:gd name="connsiteX4" fmla="*/ 466982 w 2621576"/>
                <a:gd name="connsiteY4" fmla="*/ 0 h 44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1576" h="445534">
                  <a:moveTo>
                    <a:pt x="466982" y="0"/>
                  </a:moveTo>
                  <a:lnTo>
                    <a:pt x="2621576" y="0"/>
                  </a:lnTo>
                  <a:lnTo>
                    <a:pt x="2154594" y="445534"/>
                  </a:lnTo>
                  <a:lnTo>
                    <a:pt x="0" y="445534"/>
                  </a:lnTo>
                  <a:lnTo>
                    <a:pt x="466982" y="0"/>
                  </a:lnTo>
                  <a:close/>
                </a:path>
              </a:pathLst>
            </a:custGeom>
            <a:gradFill flip="none" rotWithShape="1">
              <a:gsLst>
                <a:gs pos="0">
                  <a:schemeClr val="tx1">
                    <a:alpha val="0"/>
                  </a:schemeClr>
                </a:gs>
                <a:gs pos="50000">
                  <a:schemeClr val="tx1">
                    <a:alpha val="15000"/>
                  </a:schemeClr>
                </a:gs>
                <a:gs pos="100000">
                  <a:schemeClr val="tx1">
                    <a:alpha val="40000"/>
                  </a:schemeClr>
                </a:gs>
              </a:gsLst>
              <a:lin ang="16200000" scaled="1"/>
              <a:tileRect/>
            </a:gradFill>
            <a:ln>
              <a:noFill/>
            </a:ln>
          </p:spPr>
          <p:txBody>
            <a:bodyPr vert="horz" wrap="square" lIns="91440" tIns="45720" rIns="91440" bIns="45720" numCol="1" anchor="t" anchorCtr="0" compatLnSpc="1">
              <a:noAutofit/>
            </a:bodyPr>
            <a:lstStyle/>
            <a:p>
              <a:endParaRPr lang="en-US" dirty="0">
                <a:cs typeface="思源黑体 CN Normal" panose="020B0400000000000000" pitchFamily="34" charset="-122"/>
              </a:endParaRPr>
            </a:p>
          </p:txBody>
        </p:sp>
      </p:grpSp>
      <p:grpSp>
        <p:nvGrpSpPr>
          <p:cNvPr id="27" name="Group 9"/>
          <p:cNvGrpSpPr/>
          <p:nvPr/>
        </p:nvGrpSpPr>
        <p:grpSpPr>
          <a:xfrm>
            <a:off x="1332994" y="3965574"/>
            <a:ext cx="2621577" cy="445534"/>
            <a:chOff x="2350345" y="3764097"/>
            <a:chExt cx="2621577" cy="445534"/>
          </a:xfrm>
        </p:grpSpPr>
        <p:sp>
          <p:nvSpPr>
            <p:cNvPr id="68" name="小红书平北职场PPT3-3"/>
            <p:cNvSpPr/>
            <p:nvPr/>
          </p:nvSpPr>
          <p:spPr>
            <a:xfrm>
              <a:off x="2350346" y="3764097"/>
              <a:ext cx="2621576" cy="445534"/>
            </a:xfrm>
            <a:prstGeom prst="parallelogram">
              <a:avLst>
                <a:gd name="adj" fmla="val 10481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69" name="小红书平北职场PPT3-4"/>
            <p:cNvSpPr/>
            <p:nvPr/>
          </p:nvSpPr>
          <p:spPr bwMode="auto">
            <a:xfrm>
              <a:off x="2350345" y="3764097"/>
              <a:ext cx="2621576" cy="445534"/>
            </a:xfrm>
            <a:custGeom>
              <a:avLst/>
              <a:gdLst>
                <a:gd name="connsiteX0" fmla="*/ 466982 w 2621576"/>
                <a:gd name="connsiteY0" fmla="*/ 0 h 445534"/>
                <a:gd name="connsiteX1" fmla="*/ 2621576 w 2621576"/>
                <a:gd name="connsiteY1" fmla="*/ 0 h 445534"/>
                <a:gd name="connsiteX2" fmla="*/ 2154594 w 2621576"/>
                <a:gd name="connsiteY2" fmla="*/ 445534 h 445534"/>
                <a:gd name="connsiteX3" fmla="*/ 0 w 2621576"/>
                <a:gd name="connsiteY3" fmla="*/ 445534 h 445534"/>
                <a:gd name="connsiteX4" fmla="*/ 466982 w 2621576"/>
                <a:gd name="connsiteY4" fmla="*/ 0 h 44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1576" h="445534">
                  <a:moveTo>
                    <a:pt x="466982" y="0"/>
                  </a:moveTo>
                  <a:lnTo>
                    <a:pt x="2621576" y="0"/>
                  </a:lnTo>
                  <a:lnTo>
                    <a:pt x="2154594" y="445534"/>
                  </a:lnTo>
                  <a:lnTo>
                    <a:pt x="0" y="445534"/>
                  </a:lnTo>
                  <a:lnTo>
                    <a:pt x="466982" y="0"/>
                  </a:lnTo>
                  <a:close/>
                </a:path>
              </a:pathLst>
            </a:custGeom>
            <a:gradFill flip="none" rotWithShape="1">
              <a:gsLst>
                <a:gs pos="0">
                  <a:schemeClr val="tx1">
                    <a:alpha val="0"/>
                  </a:schemeClr>
                </a:gs>
                <a:gs pos="50000">
                  <a:schemeClr val="tx1">
                    <a:alpha val="15000"/>
                  </a:schemeClr>
                </a:gs>
                <a:gs pos="100000">
                  <a:schemeClr val="tx1">
                    <a:alpha val="40000"/>
                  </a:schemeClr>
                </a:gs>
              </a:gsLst>
              <a:lin ang="16200000" scaled="1"/>
              <a:tileRect/>
            </a:gradFill>
            <a:ln>
              <a:noFill/>
            </a:ln>
          </p:spPr>
          <p:txBody>
            <a:bodyPr vert="horz" wrap="square" lIns="91440" tIns="45720" rIns="91440" bIns="45720" numCol="1" anchor="t" anchorCtr="0" compatLnSpc="1">
              <a:noAutofit/>
            </a:bodyPr>
            <a:lstStyle/>
            <a:p>
              <a:endParaRPr lang="en-US" dirty="0">
                <a:cs typeface="思源黑体 CN Normal" panose="020B0400000000000000" pitchFamily="34" charset="-122"/>
              </a:endParaRPr>
            </a:p>
          </p:txBody>
        </p:sp>
      </p:grpSp>
      <p:grpSp>
        <p:nvGrpSpPr>
          <p:cNvPr id="28" name="Group 8"/>
          <p:cNvGrpSpPr/>
          <p:nvPr/>
        </p:nvGrpSpPr>
        <p:grpSpPr>
          <a:xfrm>
            <a:off x="1899213" y="5227105"/>
            <a:ext cx="2621577" cy="445534"/>
            <a:chOff x="3525519" y="5025628"/>
            <a:chExt cx="2621577" cy="445534"/>
          </a:xfrm>
        </p:grpSpPr>
        <p:sp>
          <p:nvSpPr>
            <p:cNvPr id="66" name="小红书平北职场PPT3-5"/>
            <p:cNvSpPr/>
            <p:nvPr/>
          </p:nvSpPr>
          <p:spPr>
            <a:xfrm>
              <a:off x="3525520" y="5025628"/>
              <a:ext cx="2621576" cy="445534"/>
            </a:xfrm>
            <a:prstGeom prst="parallelogram">
              <a:avLst>
                <a:gd name="adj" fmla="val 10481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67" name="小红书平北职场PPT3-6"/>
            <p:cNvSpPr/>
            <p:nvPr/>
          </p:nvSpPr>
          <p:spPr bwMode="auto">
            <a:xfrm>
              <a:off x="3525519" y="5025628"/>
              <a:ext cx="2621576" cy="445534"/>
            </a:xfrm>
            <a:custGeom>
              <a:avLst/>
              <a:gdLst>
                <a:gd name="connsiteX0" fmla="*/ 466982 w 2621576"/>
                <a:gd name="connsiteY0" fmla="*/ 0 h 445534"/>
                <a:gd name="connsiteX1" fmla="*/ 2621576 w 2621576"/>
                <a:gd name="connsiteY1" fmla="*/ 0 h 445534"/>
                <a:gd name="connsiteX2" fmla="*/ 2154594 w 2621576"/>
                <a:gd name="connsiteY2" fmla="*/ 445534 h 445534"/>
                <a:gd name="connsiteX3" fmla="*/ 0 w 2621576"/>
                <a:gd name="connsiteY3" fmla="*/ 445534 h 445534"/>
                <a:gd name="connsiteX4" fmla="*/ 466982 w 2621576"/>
                <a:gd name="connsiteY4" fmla="*/ 0 h 44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1576" h="445534">
                  <a:moveTo>
                    <a:pt x="466982" y="0"/>
                  </a:moveTo>
                  <a:lnTo>
                    <a:pt x="2621576" y="0"/>
                  </a:lnTo>
                  <a:lnTo>
                    <a:pt x="2154594" y="445534"/>
                  </a:lnTo>
                  <a:lnTo>
                    <a:pt x="0" y="445534"/>
                  </a:lnTo>
                  <a:lnTo>
                    <a:pt x="466982" y="0"/>
                  </a:lnTo>
                  <a:close/>
                </a:path>
              </a:pathLst>
            </a:custGeom>
            <a:gradFill flip="none" rotWithShape="1">
              <a:gsLst>
                <a:gs pos="0">
                  <a:schemeClr val="tx1">
                    <a:alpha val="0"/>
                  </a:schemeClr>
                </a:gs>
                <a:gs pos="50000">
                  <a:schemeClr val="tx1">
                    <a:alpha val="15000"/>
                  </a:schemeClr>
                </a:gs>
                <a:gs pos="100000">
                  <a:schemeClr val="tx1">
                    <a:alpha val="40000"/>
                  </a:schemeClr>
                </a:gs>
              </a:gsLst>
              <a:lin ang="16200000" scaled="1"/>
              <a:tileRect/>
            </a:gradFill>
            <a:ln>
              <a:noFill/>
            </a:ln>
          </p:spPr>
          <p:txBody>
            <a:bodyPr vert="horz" wrap="square" lIns="91440" tIns="45720" rIns="91440" bIns="45720" numCol="1" anchor="t" anchorCtr="0" compatLnSpc="1">
              <a:noAutofit/>
            </a:bodyPr>
            <a:lstStyle/>
            <a:p>
              <a:endParaRPr lang="en-US" dirty="0">
                <a:cs typeface="思源黑体 CN Normal" panose="020B0400000000000000" pitchFamily="34" charset="-122"/>
              </a:endParaRPr>
            </a:p>
          </p:txBody>
        </p:sp>
      </p:grpSp>
      <p:cxnSp>
        <p:nvCxnSpPr>
          <p:cNvPr id="29" name="小红书平北职场PPT3-7"/>
          <p:cNvCxnSpPr/>
          <p:nvPr/>
        </p:nvCxnSpPr>
        <p:spPr>
          <a:xfrm>
            <a:off x="3919642" y="2294605"/>
            <a:ext cx="52677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9" name="小红书平北职场PPT3-8"/>
          <p:cNvSpPr/>
          <p:nvPr/>
        </p:nvSpPr>
        <p:spPr>
          <a:xfrm>
            <a:off x="4728688" y="1809698"/>
            <a:ext cx="7139326" cy="9642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8" name="任意多边形: 形状 77"/>
          <p:cNvSpPr/>
          <p:nvPr/>
        </p:nvSpPr>
        <p:spPr>
          <a:xfrm>
            <a:off x="0" y="1882959"/>
            <a:ext cx="3682447" cy="817692"/>
          </a:xfrm>
          <a:custGeom>
            <a:avLst/>
            <a:gdLst>
              <a:gd name="connsiteX0" fmla="*/ 0 w 3682447"/>
              <a:gd name="connsiteY0" fmla="*/ 0 h 817692"/>
              <a:gd name="connsiteX1" fmla="*/ 3259569 w 3682447"/>
              <a:gd name="connsiteY1" fmla="*/ 0 h 817692"/>
              <a:gd name="connsiteX2" fmla="*/ 3682447 w 3682447"/>
              <a:gd name="connsiteY2" fmla="*/ 408846 h 817692"/>
              <a:gd name="connsiteX3" fmla="*/ 3259569 w 3682447"/>
              <a:gd name="connsiteY3" fmla="*/ 817692 h 817692"/>
              <a:gd name="connsiteX4" fmla="*/ 0 w 3682447"/>
              <a:gd name="connsiteY4" fmla="*/ 817692 h 817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2447" h="817692">
                <a:moveTo>
                  <a:pt x="0" y="0"/>
                </a:moveTo>
                <a:lnTo>
                  <a:pt x="3259569" y="0"/>
                </a:lnTo>
                <a:lnTo>
                  <a:pt x="3682447" y="408846"/>
                </a:lnTo>
                <a:lnTo>
                  <a:pt x="3259569" y="817692"/>
                </a:lnTo>
                <a:lnTo>
                  <a:pt x="0" y="817692"/>
                </a:lnTo>
                <a:close/>
              </a:path>
            </a:pathLst>
          </a:custGeom>
          <a:gradFill flip="none" rotWithShape="1">
            <a:gsLst>
              <a:gs pos="0">
                <a:schemeClr val="accent1">
                  <a:lumMod val="60000"/>
                  <a:lumOff val="40000"/>
                </a:schemeClr>
              </a:gs>
              <a:gs pos="100000">
                <a:schemeClr val="accent1"/>
              </a:gs>
            </a:gsLst>
            <a:lin ang="108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dirty="0">
              <a:solidFill>
                <a:schemeClr val="bg1"/>
              </a:solidFill>
              <a:latin typeface="+mj-ea"/>
              <a:ea typeface="+mj-ea"/>
              <a:cs typeface="思源黑体 CN Normal" panose="020B0400000000000000" pitchFamily="34" charset="-122"/>
            </a:endParaRPr>
          </a:p>
        </p:txBody>
      </p:sp>
      <p:sp>
        <p:nvSpPr>
          <p:cNvPr id="63" name="小红书平北职场PPT3-10"/>
          <p:cNvSpPr/>
          <p:nvPr/>
        </p:nvSpPr>
        <p:spPr>
          <a:xfrm>
            <a:off x="524218" y="2029882"/>
            <a:ext cx="523847" cy="523845"/>
          </a:xfrm>
          <a:prstGeom prst="ellipse">
            <a:avLst/>
          </a:prstGeom>
          <a:solidFill>
            <a:sysClr val="window" lastClr="FFFFFF"/>
          </a:solidFill>
          <a:ln w="902" cap="flat">
            <a:noFill/>
            <a:prstDash val="solid"/>
            <a:miter/>
          </a:ln>
          <a:effectLst>
            <a:outerShdw blurRad="43883" dist="32912"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kern="0" dirty="0">
              <a:solidFill>
                <a:prstClr val="black"/>
              </a:solidFill>
              <a:latin typeface="思源黑体 CN Heavy" panose="020B0A00000000000000" charset="-122"/>
              <a:cs typeface="思源黑体 CN Normal" panose="020B0400000000000000" pitchFamily="34" charset="-122"/>
            </a:endParaRPr>
          </a:p>
        </p:txBody>
      </p:sp>
      <p:sp>
        <p:nvSpPr>
          <p:cNvPr id="64" name="小红书平北职场PPT3-11"/>
          <p:cNvSpPr txBox="1"/>
          <p:nvPr/>
        </p:nvSpPr>
        <p:spPr>
          <a:xfrm>
            <a:off x="1393070" y="2153415"/>
            <a:ext cx="2403804" cy="307777"/>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0"/>
              </a:spcAft>
              <a:buNone/>
            </a:pPr>
            <a:r>
              <a:rPr lang="zh-CN" altLang="en-US" sz="2000" b="1" dirty="0">
                <a:latin typeface="+mj-ea"/>
                <a:ea typeface="+mj-ea"/>
                <a:cs typeface="思源黑体 CN Normal" panose="020B0400000000000000" pitchFamily="34" charset="-122"/>
              </a:rPr>
              <a:t>合格执行 </a:t>
            </a:r>
            <a:r>
              <a:rPr lang="en-US" altLang="zh-CN" sz="2000" b="1" dirty="0">
                <a:latin typeface="+mj-ea"/>
                <a:ea typeface="+mj-ea"/>
                <a:cs typeface="思源黑体 CN Normal" panose="020B0400000000000000" pitchFamily="34" charset="-122"/>
              </a:rPr>
              <a:t>- 01</a:t>
            </a:r>
            <a:endParaRPr lang="en-US" sz="1600" dirty="0">
              <a:latin typeface="+mj-ea"/>
              <a:ea typeface="+mj-ea"/>
              <a:cs typeface="思源黑体 CN Normal" panose="020B0400000000000000" pitchFamily="34" charset="-122"/>
            </a:endParaRPr>
          </a:p>
        </p:txBody>
      </p:sp>
      <p:sp>
        <p:nvSpPr>
          <p:cNvPr id="65" name="小红书平北职场PPT3-12"/>
          <p:cNvSpPr>
            <a:spLocks noEditPoints="1"/>
          </p:cNvSpPr>
          <p:nvPr/>
        </p:nvSpPr>
        <p:spPr bwMode="auto">
          <a:xfrm>
            <a:off x="639764" y="2145999"/>
            <a:ext cx="292754" cy="291610"/>
          </a:xfrm>
          <a:custGeom>
            <a:avLst/>
            <a:gdLst>
              <a:gd name="T0" fmla="*/ 57 w 433"/>
              <a:gd name="T1" fmla="*/ 331 h 430"/>
              <a:gd name="T2" fmla="*/ 11 w 433"/>
              <a:gd name="T3" fmla="*/ 331 h 430"/>
              <a:gd name="T4" fmla="*/ 4 w 433"/>
              <a:gd name="T5" fmla="*/ 338 h 430"/>
              <a:gd name="T6" fmla="*/ 4 w 433"/>
              <a:gd name="T7" fmla="*/ 430 h 430"/>
              <a:gd name="T8" fmla="*/ 65 w 433"/>
              <a:gd name="T9" fmla="*/ 430 h 430"/>
              <a:gd name="T10" fmla="*/ 65 w 433"/>
              <a:gd name="T11" fmla="*/ 338 h 430"/>
              <a:gd name="T12" fmla="*/ 57 w 433"/>
              <a:gd name="T13" fmla="*/ 331 h 430"/>
              <a:gd name="T14" fmla="*/ 179 w 433"/>
              <a:gd name="T15" fmla="*/ 224 h 430"/>
              <a:gd name="T16" fmla="*/ 133 w 433"/>
              <a:gd name="T17" fmla="*/ 224 h 430"/>
              <a:gd name="T18" fmla="*/ 126 w 433"/>
              <a:gd name="T19" fmla="*/ 231 h 430"/>
              <a:gd name="T20" fmla="*/ 126 w 433"/>
              <a:gd name="T21" fmla="*/ 430 h 430"/>
              <a:gd name="T22" fmla="*/ 186 w 433"/>
              <a:gd name="T23" fmla="*/ 430 h 430"/>
              <a:gd name="T24" fmla="*/ 186 w 433"/>
              <a:gd name="T25" fmla="*/ 231 h 430"/>
              <a:gd name="T26" fmla="*/ 179 w 433"/>
              <a:gd name="T27" fmla="*/ 224 h 430"/>
              <a:gd name="T28" fmla="*/ 301 w 433"/>
              <a:gd name="T29" fmla="*/ 270 h 430"/>
              <a:gd name="T30" fmla="*/ 255 w 433"/>
              <a:gd name="T31" fmla="*/ 270 h 430"/>
              <a:gd name="T32" fmla="*/ 247 w 433"/>
              <a:gd name="T33" fmla="*/ 277 h 430"/>
              <a:gd name="T34" fmla="*/ 247 w 433"/>
              <a:gd name="T35" fmla="*/ 430 h 430"/>
              <a:gd name="T36" fmla="*/ 308 w 433"/>
              <a:gd name="T37" fmla="*/ 430 h 430"/>
              <a:gd name="T38" fmla="*/ 308 w 433"/>
              <a:gd name="T39" fmla="*/ 277 h 430"/>
              <a:gd name="T40" fmla="*/ 301 w 433"/>
              <a:gd name="T41" fmla="*/ 270 h 430"/>
              <a:gd name="T42" fmla="*/ 423 w 433"/>
              <a:gd name="T43" fmla="*/ 209 h 430"/>
              <a:gd name="T44" fmla="*/ 377 w 433"/>
              <a:gd name="T45" fmla="*/ 209 h 430"/>
              <a:gd name="T46" fmla="*/ 369 w 433"/>
              <a:gd name="T47" fmla="*/ 216 h 430"/>
              <a:gd name="T48" fmla="*/ 369 w 433"/>
              <a:gd name="T49" fmla="*/ 430 h 430"/>
              <a:gd name="T50" fmla="*/ 430 w 433"/>
              <a:gd name="T51" fmla="*/ 430 h 430"/>
              <a:gd name="T52" fmla="*/ 430 w 433"/>
              <a:gd name="T53" fmla="*/ 216 h 430"/>
              <a:gd name="T54" fmla="*/ 423 w 433"/>
              <a:gd name="T55" fmla="*/ 209 h 430"/>
              <a:gd name="T56" fmla="*/ 379 w 433"/>
              <a:gd name="T57" fmla="*/ 71 h 430"/>
              <a:gd name="T58" fmla="*/ 416 w 433"/>
              <a:gd name="T59" fmla="*/ 75 h 430"/>
              <a:gd name="T60" fmla="*/ 429 w 433"/>
              <a:gd name="T61" fmla="*/ 40 h 430"/>
              <a:gd name="T62" fmla="*/ 400 w 433"/>
              <a:gd name="T63" fmla="*/ 18 h 430"/>
              <a:gd name="T64" fmla="*/ 375 w 433"/>
              <a:gd name="T65" fmla="*/ 30 h 430"/>
              <a:gd name="T66" fmla="*/ 371 w 433"/>
              <a:gd name="T67" fmla="*/ 58 h 430"/>
              <a:gd name="T68" fmla="*/ 299 w 433"/>
              <a:gd name="T69" fmla="*/ 103 h 430"/>
              <a:gd name="T70" fmla="*/ 260 w 433"/>
              <a:gd name="T71" fmla="*/ 100 h 430"/>
              <a:gd name="T72" fmla="*/ 184 w 433"/>
              <a:gd name="T73" fmla="*/ 46 h 430"/>
              <a:gd name="T74" fmla="*/ 173 w 433"/>
              <a:gd name="T75" fmla="*/ 8 h 430"/>
              <a:gd name="T76" fmla="*/ 134 w 433"/>
              <a:gd name="T77" fmla="*/ 12 h 430"/>
              <a:gd name="T78" fmla="*/ 131 w 433"/>
              <a:gd name="T79" fmla="*/ 51 h 430"/>
              <a:gd name="T80" fmla="*/ 47 w 433"/>
              <a:gd name="T81" fmla="*/ 151 h 430"/>
              <a:gd name="T82" fmla="*/ 9 w 433"/>
              <a:gd name="T83" fmla="*/ 162 h 430"/>
              <a:gd name="T84" fmla="*/ 15 w 433"/>
              <a:gd name="T85" fmla="*/ 202 h 430"/>
              <a:gd name="T86" fmla="*/ 55 w 433"/>
              <a:gd name="T87" fmla="*/ 201 h 430"/>
              <a:gd name="T88" fmla="*/ 59 w 433"/>
              <a:gd name="T89" fmla="*/ 161 h 430"/>
              <a:gd name="T90" fmla="*/ 143 w 433"/>
              <a:gd name="T91" fmla="*/ 61 h 430"/>
              <a:gd name="T92" fmla="*/ 174 w 433"/>
              <a:gd name="T93" fmla="*/ 58 h 430"/>
              <a:gd name="T94" fmla="*/ 250 w 433"/>
              <a:gd name="T95" fmla="*/ 112 h 430"/>
              <a:gd name="T96" fmla="*/ 258 w 433"/>
              <a:gd name="T97" fmla="*/ 148 h 430"/>
              <a:gd name="T98" fmla="*/ 295 w 433"/>
              <a:gd name="T99" fmla="*/ 151 h 430"/>
              <a:gd name="T100" fmla="*/ 307 w 433"/>
              <a:gd name="T101" fmla="*/ 116 h 430"/>
              <a:gd name="T102" fmla="*/ 379 w 433"/>
              <a:gd name="T103" fmla="*/ 71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3" h="430">
                <a:moveTo>
                  <a:pt x="57" y="331"/>
                </a:moveTo>
                <a:cubicBezTo>
                  <a:pt x="11" y="331"/>
                  <a:pt x="11" y="331"/>
                  <a:pt x="11" y="331"/>
                </a:cubicBezTo>
                <a:cubicBezTo>
                  <a:pt x="7" y="331"/>
                  <a:pt x="4" y="334"/>
                  <a:pt x="4" y="338"/>
                </a:cubicBezTo>
                <a:cubicBezTo>
                  <a:pt x="4" y="430"/>
                  <a:pt x="4" y="430"/>
                  <a:pt x="4" y="430"/>
                </a:cubicBezTo>
                <a:cubicBezTo>
                  <a:pt x="65" y="430"/>
                  <a:pt x="65" y="430"/>
                  <a:pt x="65" y="430"/>
                </a:cubicBezTo>
                <a:cubicBezTo>
                  <a:pt x="65" y="338"/>
                  <a:pt x="65" y="338"/>
                  <a:pt x="65" y="338"/>
                </a:cubicBezTo>
                <a:cubicBezTo>
                  <a:pt x="65" y="334"/>
                  <a:pt x="61" y="331"/>
                  <a:pt x="57" y="331"/>
                </a:cubicBezTo>
                <a:close/>
                <a:moveTo>
                  <a:pt x="179" y="224"/>
                </a:moveTo>
                <a:cubicBezTo>
                  <a:pt x="133" y="224"/>
                  <a:pt x="133" y="224"/>
                  <a:pt x="133" y="224"/>
                </a:cubicBezTo>
                <a:cubicBezTo>
                  <a:pt x="129" y="224"/>
                  <a:pt x="126" y="227"/>
                  <a:pt x="126" y="231"/>
                </a:cubicBezTo>
                <a:cubicBezTo>
                  <a:pt x="126" y="430"/>
                  <a:pt x="126" y="430"/>
                  <a:pt x="126" y="430"/>
                </a:cubicBezTo>
                <a:cubicBezTo>
                  <a:pt x="186" y="430"/>
                  <a:pt x="186" y="430"/>
                  <a:pt x="186" y="430"/>
                </a:cubicBezTo>
                <a:cubicBezTo>
                  <a:pt x="186" y="231"/>
                  <a:pt x="186" y="231"/>
                  <a:pt x="186" y="231"/>
                </a:cubicBezTo>
                <a:cubicBezTo>
                  <a:pt x="186" y="227"/>
                  <a:pt x="183" y="224"/>
                  <a:pt x="179" y="224"/>
                </a:cubicBezTo>
                <a:close/>
                <a:moveTo>
                  <a:pt x="301" y="270"/>
                </a:moveTo>
                <a:cubicBezTo>
                  <a:pt x="255" y="270"/>
                  <a:pt x="255" y="270"/>
                  <a:pt x="255" y="270"/>
                </a:cubicBezTo>
                <a:cubicBezTo>
                  <a:pt x="251" y="270"/>
                  <a:pt x="247" y="273"/>
                  <a:pt x="247" y="277"/>
                </a:cubicBezTo>
                <a:cubicBezTo>
                  <a:pt x="247" y="430"/>
                  <a:pt x="247" y="430"/>
                  <a:pt x="247" y="430"/>
                </a:cubicBezTo>
                <a:cubicBezTo>
                  <a:pt x="308" y="430"/>
                  <a:pt x="308" y="430"/>
                  <a:pt x="308" y="430"/>
                </a:cubicBezTo>
                <a:cubicBezTo>
                  <a:pt x="308" y="277"/>
                  <a:pt x="308" y="277"/>
                  <a:pt x="308" y="277"/>
                </a:cubicBezTo>
                <a:cubicBezTo>
                  <a:pt x="308" y="273"/>
                  <a:pt x="305" y="270"/>
                  <a:pt x="301" y="270"/>
                </a:cubicBezTo>
                <a:close/>
                <a:moveTo>
                  <a:pt x="423" y="209"/>
                </a:moveTo>
                <a:cubicBezTo>
                  <a:pt x="377" y="209"/>
                  <a:pt x="377" y="209"/>
                  <a:pt x="377" y="209"/>
                </a:cubicBezTo>
                <a:cubicBezTo>
                  <a:pt x="373" y="209"/>
                  <a:pt x="369" y="212"/>
                  <a:pt x="369" y="216"/>
                </a:cubicBezTo>
                <a:cubicBezTo>
                  <a:pt x="369" y="430"/>
                  <a:pt x="369" y="430"/>
                  <a:pt x="369" y="430"/>
                </a:cubicBezTo>
                <a:cubicBezTo>
                  <a:pt x="430" y="430"/>
                  <a:pt x="430" y="430"/>
                  <a:pt x="430" y="430"/>
                </a:cubicBezTo>
                <a:cubicBezTo>
                  <a:pt x="430" y="216"/>
                  <a:pt x="430" y="216"/>
                  <a:pt x="430" y="216"/>
                </a:cubicBezTo>
                <a:cubicBezTo>
                  <a:pt x="430" y="212"/>
                  <a:pt x="427" y="209"/>
                  <a:pt x="423" y="209"/>
                </a:cubicBezTo>
                <a:close/>
                <a:moveTo>
                  <a:pt x="379" y="71"/>
                </a:moveTo>
                <a:cubicBezTo>
                  <a:pt x="389" y="80"/>
                  <a:pt x="404" y="82"/>
                  <a:pt x="416" y="75"/>
                </a:cubicBezTo>
                <a:cubicBezTo>
                  <a:pt x="427" y="68"/>
                  <a:pt x="433" y="54"/>
                  <a:pt x="429" y="40"/>
                </a:cubicBezTo>
                <a:cubicBezTo>
                  <a:pt x="426" y="27"/>
                  <a:pt x="414" y="18"/>
                  <a:pt x="400" y="18"/>
                </a:cubicBezTo>
                <a:cubicBezTo>
                  <a:pt x="390" y="18"/>
                  <a:pt x="381" y="23"/>
                  <a:pt x="375" y="30"/>
                </a:cubicBezTo>
                <a:cubicBezTo>
                  <a:pt x="369" y="38"/>
                  <a:pt x="368" y="48"/>
                  <a:pt x="371" y="58"/>
                </a:cubicBezTo>
                <a:cubicBezTo>
                  <a:pt x="299" y="103"/>
                  <a:pt x="299" y="103"/>
                  <a:pt x="299" y="103"/>
                </a:cubicBezTo>
                <a:cubicBezTo>
                  <a:pt x="288" y="93"/>
                  <a:pt x="272" y="92"/>
                  <a:pt x="260" y="100"/>
                </a:cubicBezTo>
                <a:cubicBezTo>
                  <a:pt x="184" y="46"/>
                  <a:pt x="184" y="46"/>
                  <a:pt x="184" y="46"/>
                </a:cubicBezTo>
                <a:cubicBezTo>
                  <a:pt x="190" y="33"/>
                  <a:pt x="185" y="17"/>
                  <a:pt x="173" y="8"/>
                </a:cubicBezTo>
                <a:cubicBezTo>
                  <a:pt x="161" y="0"/>
                  <a:pt x="145" y="1"/>
                  <a:pt x="134" y="12"/>
                </a:cubicBezTo>
                <a:cubicBezTo>
                  <a:pt x="124" y="22"/>
                  <a:pt x="123" y="39"/>
                  <a:pt x="131" y="51"/>
                </a:cubicBezTo>
                <a:cubicBezTo>
                  <a:pt x="47" y="151"/>
                  <a:pt x="47" y="151"/>
                  <a:pt x="47" y="151"/>
                </a:cubicBezTo>
                <a:cubicBezTo>
                  <a:pt x="33" y="144"/>
                  <a:pt x="17" y="149"/>
                  <a:pt x="9" y="162"/>
                </a:cubicBezTo>
                <a:cubicBezTo>
                  <a:pt x="0" y="175"/>
                  <a:pt x="3" y="192"/>
                  <a:pt x="15" y="202"/>
                </a:cubicBezTo>
                <a:cubicBezTo>
                  <a:pt x="26" y="211"/>
                  <a:pt x="44" y="211"/>
                  <a:pt x="55" y="201"/>
                </a:cubicBezTo>
                <a:cubicBezTo>
                  <a:pt x="66" y="190"/>
                  <a:pt x="68" y="173"/>
                  <a:pt x="59" y="161"/>
                </a:cubicBezTo>
                <a:cubicBezTo>
                  <a:pt x="143" y="61"/>
                  <a:pt x="143" y="61"/>
                  <a:pt x="143" y="61"/>
                </a:cubicBezTo>
                <a:cubicBezTo>
                  <a:pt x="153" y="66"/>
                  <a:pt x="165" y="65"/>
                  <a:pt x="174" y="58"/>
                </a:cubicBezTo>
                <a:cubicBezTo>
                  <a:pt x="250" y="112"/>
                  <a:pt x="250" y="112"/>
                  <a:pt x="250" y="112"/>
                </a:cubicBezTo>
                <a:cubicBezTo>
                  <a:pt x="244" y="125"/>
                  <a:pt x="247" y="139"/>
                  <a:pt x="258" y="148"/>
                </a:cubicBezTo>
                <a:cubicBezTo>
                  <a:pt x="268" y="157"/>
                  <a:pt x="283" y="158"/>
                  <a:pt x="295" y="151"/>
                </a:cubicBezTo>
                <a:cubicBezTo>
                  <a:pt x="306" y="143"/>
                  <a:pt x="311" y="129"/>
                  <a:pt x="307" y="116"/>
                </a:cubicBezTo>
                <a:lnTo>
                  <a:pt x="379" y="71"/>
                </a:lnTo>
                <a:close/>
              </a:path>
            </a:pathLst>
          </a:custGeom>
          <a:gradFill flip="none" rotWithShape="1">
            <a:gsLst>
              <a:gs pos="0">
                <a:schemeClr val="accent1">
                  <a:lumMod val="60000"/>
                  <a:lumOff val="40000"/>
                </a:schemeClr>
              </a:gs>
              <a:gs pos="100000">
                <a:schemeClr val="accent1"/>
              </a:gs>
            </a:gsLst>
            <a:lin ang="0" scaled="1"/>
            <a:tileRect/>
          </a:gradFill>
          <a:ln>
            <a:noFill/>
          </a:ln>
        </p:spPr>
        <p:txBody>
          <a:bodyPr vert="horz" wrap="square" lIns="91440" tIns="45720" rIns="91440" bIns="45720" numCol="1" anchor="t" anchorCtr="0" compatLnSpc="1"/>
          <a:lstStyle/>
          <a:p>
            <a:endParaRPr lang="en-US" dirty="0">
              <a:gradFill>
                <a:gsLst>
                  <a:gs pos="0">
                    <a:schemeClr val="accent1">
                      <a:lumMod val="60000"/>
                      <a:lumOff val="40000"/>
                    </a:schemeClr>
                  </a:gs>
                  <a:gs pos="100000">
                    <a:schemeClr val="accent1"/>
                  </a:gs>
                </a:gsLst>
                <a:lin ang="10800000" scaled="1"/>
              </a:gradFill>
              <a:cs typeface="思源黑体 CN Normal" panose="020B0400000000000000" pitchFamily="34" charset="-122"/>
            </a:endParaRPr>
          </a:p>
        </p:txBody>
      </p:sp>
      <p:sp>
        <p:nvSpPr>
          <p:cNvPr id="61" name="小红书平北职场PPT3-13"/>
          <p:cNvSpPr>
            <a:spLocks noChangeArrowheads="1"/>
          </p:cNvSpPr>
          <p:nvPr/>
        </p:nvSpPr>
        <p:spPr bwMode="auto">
          <a:xfrm>
            <a:off x="4949027" y="1853191"/>
            <a:ext cx="6816987" cy="877228"/>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30000"/>
              </a:lnSpc>
              <a:spcBef>
                <a:spcPct val="0"/>
              </a:spcBef>
              <a:spcAft>
                <a:spcPct val="0"/>
              </a:spcAft>
              <a:buClrTx/>
              <a:buSzTx/>
              <a:buFontTx/>
              <a:buNone/>
            </a:pPr>
            <a:r>
              <a:rPr kumimoji="0" lang="zh-CN" altLang="en-US" sz="1600" i="0" u="none" strike="noStrike" cap="none" normalizeH="0" baseline="0" dirty="0">
                <a:ln>
                  <a:noFill/>
                </a:ln>
                <a:gradFill flip="none" rotWithShape="1">
                  <a:gsLst>
                    <a:gs pos="0">
                      <a:schemeClr val="accent1">
                        <a:lumMod val="60000"/>
                        <a:lumOff val="40000"/>
                      </a:schemeClr>
                    </a:gs>
                    <a:gs pos="100000">
                      <a:schemeClr val="accent1"/>
                    </a:gs>
                  </a:gsLst>
                  <a:lin ang="0" scaled="1"/>
                  <a:tileRect/>
                </a:gradFill>
                <a:effectLst/>
                <a:latin typeface="+mj-ea"/>
                <a:ea typeface="+mj-ea"/>
                <a:cs typeface="思源黑体 CN Normal" panose="020B0400000000000000" pitchFamily="34" charset="-122"/>
              </a:rPr>
              <a:t>奠定专业基石，确保可靠交付</a:t>
            </a:r>
            <a:br>
              <a:rPr kumimoji="0" lang="zh-CN" altLang="zh-CN" sz="1200" b="0" i="0" u="none" strike="noStrike" cap="none" normalizeH="0" baseline="0" dirty="0">
                <a:ln>
                  <a:noFill/>
                </a:ln>
                <a:effectLst/>
                <a:latin typeface="+mn-ea"/>
                <a:cs typeface="思源黑体 CN Normal" panose="020B0400000000000000" pitchFamily="34" charset="-122"/>
              </a:rPr>
            </a:br>
            <a:r>
              <a:rPr kumimoji="0" lang="zh-CN" altLang="en-US" sz="1200" b="0" i="0" u="none" strike="noStrike" cap="none" normalizeH="0" baseline="0" dirty="0">
                <a:ln>
                  <a:noFill/>
                </a:ln>
                <a:effectLst/>
                <a:latin typeface="+mn-ea"/>
                <a:cs typeface="思源黑体 CN Normal" panose="020B0400000000000000" pitchFamily="34" charset="-122"/>
              </a:rPr>
              <a:t>深刻理解目标，娴熟运用专业技能，严格遵循流程规范，确保工作成果高标准按时交付，构建可靠职业信誉，成为组织稳定运行的基石</a:t>
            </a:r>
            <a:endParaRPr kumimoji="0" lang="zh-CN" altLang="zh-CN" sz="1200" b="0" i="0" u="none" strike="noStrike" cap="none" normalizeH="0" baseline="0" dirty="0">
              <a:ln>
                <a:noFill/>
              </a:ln>
              <a:effectLst/>
              <a:latin typeface="+mn-ea"/>
              <a:cs typeface="思源黑体 CN Normal" panose="020B0400000000000000" pitchFamily="34" charset="-122"/>
            </a:endParaRPr>
          </a:p>
        </p:txBody>
      </p:sp>
      <p:grpSp>
        <p:nvGrpSpPr>
          <p:cNvPr id="31" name="组合 30"/>
          <p:cNvGrpSpPr/>
          <p:nvPr/>
        </p:nvGrpSpPr>
        <p:grpSpPr>
          <a:xfrm>
            <a:off x="582549" y="3072925"/>
            <a:ext cx="11285465" cy="964214"/>
            <a:chOff x="582549" y="3072925"/>
            <a:chExt cx="11285465" cy="964214"/>
          </a:xfrm>
        </p:grpSpPr>
        <p:sp>
          <p:nvSpPr>
            <p:cNvPr id="51" name="小红书平北职场PPT3-14"/>
            <p:cNvSpPr/>
            <p:nvPr/>
          </p:nvSpPr>
          <p:spPr>
            <a:xfrm>
              <a:off x="5409103" y="3072925"/>
              <a:ext cx="6458911" cy="9642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cxnSp>
          <p:nvCxnSpPr>
            <p:cNvPr id="52" name="小红书平北职场PPT3-15"/>
            <p:cNvCxnSpPr/>
            <p:nvPr/>
          </p:nvCxnSpPr>
          <p:spPr>
            <a:xfrm>
              <a:off x="4527673" y="3555032"/>
              <a:ext cx="52677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53" name="组合 52"/>
            <p:cNvGrpSpPr/>
            <p:nvPr/>
          </p:nvGrpSpPr>
          <p:grpSpPr>
            <a:xfrm>
              <a:off x="582549" y="3146186"/>
              <a:ext cx="3914929" cy="817692"/>
              <a:chOff x="1175173" y="3146186"/>
              <a:chExt cx="3914929" cy="817692"/>
            </a:xfrm>
          </p:grpSpPr>
          <p:sp>
            <p:nvSpPr>
              <p:cNvPr id="55" name="小红书平北职场PPT3-16"/>
              <p:cNvSpPr/>
              <p:nvPr/>
            </p:nvSpPr>
            <p:spPr>
              <a:xfrm>
                <a:off x="1175173" y="3146186"/>
                <a:ext cx="3796747" cy="817692"/>
              </a:xfrm>
              <a:prstGeom prst="homePlate">
                <a:avLst>
                  <a:gd name="adj" fmla="val 51716"/>
                </a:avLst>
              </a:prstGeom>
              <a:gradFill flip="none" rotWithShape="1">
                <a:gsLst>
                  <a:gs pos="0">
                    <a:schemeClr val="accent2">
                      <a:lumMod val="60000"/>
                      <a:lumOff val="40000"/>
                    </a:schemeClr>
                  </a:gs>
                  <a:gs pos="100000">
                    <a:schemeClr val="accent2"/>
                  </a:gs>
                </a:gsLst>
                <a:lin ang="10800000" scaled="1"/>
                <a:tileRect/>
              </a:gradFill>
              <a:ln w="9525">
                <a:noFill/>
                <a:round/>
              </a:ln>
            </p:spPr>
            <p:txBody>
              <a:bodyPr vert="horz" wrap="square" lIns="121920" tIns="60960" rIns="121920" bIns="60960" numCol="1" rtlCol="0" anchor="ctr" anchorCtr="0" compatLnSpc="1">
                <a:noAutofit/>
              </a:bodyPr>
              <a:lstStyle/>
              <a:p>
                <a:pPr algn="ctr"/>
                <a:endParaRPr lang="en-US" sz="3200" b="1" dirty="0">
                  <a:solidFill>
                    <a:schemeClr val="bg1"/>
                  </a:solidFill>
                  <a:latin typeface="+mj-ea"/>
                  <a:ea typeface="+mj-ea"/>
                  <a:cs typeface="思源黑体 CN Normal" panose="020B0400000000000000" pitchFamily="34" charset="-122"/>
                </a:endParaRPr>
              </a:p>
            </p:txBody>
          </p:sp>
          <p:sp>
            <p:nvSpPr>
              <p:cNvPr id="56" name="小红书平北职场PPT3-17"/>
              <p:cNvSpPr/>
              <p:nvPr/>
            </p:nvSpPr>
            <p:spPr>
              <a:xfrm>
                <a:off x="1699390" y="3293109"/>
                <a:ext cx="523847" cy="523845"/>
              </a:xfrm>
              <a:prstGeom prst="ellipse">
                <a:avLst/>
              </a:prstGeom>
              <a:solidFill>
                <a:sysClr val="window" lastClr="FFFFFF"/>
              </a:solidFill>
              <a:ln w="902" cap="flat">
                <a:noFill/>
                <a:prstDash val="solid"/>
                <a:miter/>
              </a:ln>
              <a:effectLst>
                <a:outerShdw blurRad="43883" dist="32912"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kern="0" dirty="0">
                  <a:solidFill>
                    <a:prstClr val="black"/>
                  </a:solidFill>
                  <a:latin typeface="思源黑体 CN Heavy" panose="020B0A00000000000000" charset="-122"/>
                  <a:cs typeface="思源黑体 CN Normal" panose="020B0400000000000000" pitchFamily="34" charset="-122"/>
                </a:endParaRPr>
              </a:p>
            </p:txBody>
          </p:sp>
          <p:sp>
            <p:nvSpPr>
              <p:cNvPr id="57" name="小红书平北职场PPT3-18"/>
              <p:cNvSpPr>
                <a:spLocks noEditPoints="1"/>
              </p:cNvSpPr>
              <p:nvPr/>
            </p:nvSpPr>
            <p:spPr bwMode="auto">
              <a:xfrm>
                <a:off x="1817548" y="3411416"/>
                <a:ext cx="287531" cy="287231"/>
              </a:xfrm>
              <a:custGeom>
                <a:avLst/>
                <a:gdLst>
                  <a:gd name="T0" fmla="*/ 348 w 407"/>
                  <a:gd name="T1" fmla="*/ 158 h 406"/>
                  <a:gd name="T2" fmla="*/ 338 w 407"/>
                  <a:gd name="T3" fmla="*/ 133 h 406"/>
                  <a:gd name="T4" fmla="*/ 371 w 407"/>
                  <a:gd name="T5" fmla="*/ 91 h 406"/>
                  <a:gd name="T6" fmla="*/ 330 w 407"/>
                  <a:gd name="T7" fmla="*/ 42 h 406"/>
                  <a:gd name="T8" fmla="*/ 274 w 407"/>
                  <a:gd name="T9" fmla="*/ 69 h 406"/>
                  <a:gd name="T10" fmla="*/ 253 w 407"/>
                  <a:gd name="T11" fmla="*/ 69 h 406"/>
                  <a:gd name="T12" fmla="*/ 249 w 407"/>
                  <a:gd name="T13" fmla="*/ 20 h 406"/>
                  <a:gd name="T14" fmla="*/ 179 w 407"/>
                  <a:gd name="T15" fmla="*/ 0 h 406"/>
                  <a:gd name="T16" fmla="*/ 158 w 407"/>
                  <a:gd name="T17" fmla="*/ 59 h 406"/>
                  <a:gd name="T18" fmla="*/ 133 w 407"/>
                  <a:gd name="T19" fmla="*/ 69 h 406"/>
                  <a:gd name="T20" fmla="*/ 77 w 407"/>
                  <a:gd name="T21" fmla="*/ 42 h 406"/>
                  <a:gd name="T22" fmla="*/ 37 w 407"/>
                  <a:gd name="T23" fmla="*/ 91 h 406"/>
                  <a:gd name="T24" fmla="*/ 70 w 407"/>
                  <a:gd name="T25" fmla="*/ 133 h 406"/>
                  <a:gd name="T26" fmla="*/ 59 w 407"/>
                  <a:gd name="T27" fmla="*/ 158 h 406"/>
                  <a:gd name="T28" fmla="*/ 0 w 407"/>
                  <a:gd name="T29" fmla="*/ 179 h 406"/>
                  <a:gd name="T30" fmla="*/ 21 w 407"/>
                  <a:gd name="T31" fmla="*/ 248 h 406"/>
                  <a:gd name="T32" fmla="*/ 73 w 407"/>
                  <a:gd name="T33" fmla="*/ 257 h 406"/>
                  <a:gd name="T34" fmla="*/ 43 w 407"/>
                  <a:gd name="T35" fmla="*/ 300 h 406"/>
                  <a:gd name="T36" fmla="*/ 43 w 407"/>
                  <a:gd name="T37" fmla="*/ 330 h 406"/>
                  <a:gd name="T38" fmla="*/ 107 w 407"/>
                  <a:gd name="T39" fmla="*/ 364 h 406"/>
                  <a:gd name="T40" fmla="*/ 144 w 407"/>
                  <a:gd name="T41" fmla="*/ 333 h 406"/>
                  <a:gd name="T42" fmla="*/ 158 w 407"/>
                  <a:gd name="T43" fmla="*/ 385 h 406"/>
                  <a:gd name="T44" fmla="*/ 228 w 407"/>
                  <a:gd name="T45" fmla="*/ 406 h 406"/>
                  <a:gd name="T46" fmla="*/ 249 w 407"/>
                  <a:gd name="T47" fmla="*/ 347 h 406"/>
                  <a:gd name="T48" fmla="*/ 274 w 407"/>
                  <a:gd name="T49" fmla="*/ 337 h 406"/>
                  <a:gd name="T50" fmla="*/ 330 w 407"/>
                  <a:gd name="T51" fmla="*/ 364 h 406"/>
                  <a:gd name="T52" fmla="*/ 371 w 407"/>
                  <a:gd name="T53" fmla="*/ 315 h 406"/>
                  <a:gd name="T54" fmla="*/ 338 w 407"/>
                  <a:gd name="T55" fmla="*/ 273 h 406"/>
                  <a:gd name="T56" fmla="*/ 348 w 407"/>
                  <a:gd name="T57" fmla="*/ 248 h 406"/>
                  <a:gd name="T58" fmla="*/ 407 w 407"/>
                  <a:gd name="T59" fmla="*/ 227 h 406"/>
                  <a:gd name="T60" fmla="*/ 386 w 407"/>
                  <a:gd name="T61" fmla="*/ 158 h 406"/>
                  <a:gd name="T62" fmla="*/ 204 w 407"/>
                  <a:gd name="T63" fmla="*/ 256 h 406"/>
                  <a:gd name="T64" fmla="*/ 204 w 407"/>
                  <a:gd name="T65" fmla="*/ 150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7" h="406">
                    <a:moveTo>
                      <a:pt x="386" y="158"/>
                    </a:moveTo>
                    <a:cubicBezTo>
                      <a:pt x="348" y="158"/>
                      <a:pt x="348" y="158"/>
                      <a:pt x="348" y="158"/>
                    </a:cubicBezTo>
                    <a:cubicBezTo>
                      <a:pt x="342" y="158"/>
                      <a:pt x="337" y="154"/>
                      <a:pt x="335" y="149"/>
                    </a:cubicBezTo>
                    <a:cubicBezTo>
                      <a:pt x="332" y="143"/>
                      <a:pt x="333" y="137"/>
                      <a:pt x="338" y="133"/>
                    </a:cubicBezTo>
                    <a:cubicBezTo>
                      <a:pt x="365" y="106"/>
                      <a:pt x="365" y="106"/>
                      <a:pt x="365" y="106"/>
                    </a:cubicBezTo>
                    <a:cubicBezTo>
                      <a:pt x="369" y="102"/>
                      <a:pt x="371" y="97"/>
                      <a:pt x="371" y="91"/>
                    </a:cubicBezTo>
                    <a:cubicBezTo>
                      <a:pt x="371" y="85"/>
                      <a:pt x="369" y="80"/>
                      <a:pt x="365" y="76"/>
                    </a:cubicBezTo>
                    <a:cubicBezTo>
                      <a:pt x="330" y="42"/>
                      <a:pt x="330" y="42"/>
                      <a:pt x="330" y="42"/>
                    </a:cubicBezTo>
                    <a:cubicBezTo>
                      <a:pt x="322" y="34"/>
                      <a:pt x="309" y="34"/>
                      <a:pt x="301" y="42"/>
                    </a:cubicBezTo>
                    <a:cubicBezTo>
                      <a:pt x="274" y="69"/>
                      <a:pt x="274" y="69"/>
                      <a:pt x="274" y="69"/>
                    </a:cubicBezTo>
                    <a:cubicBezTo>
                      <a:pt x="270" y="72"/>
                      <a:pt x="266" y="73"/>
                      <a:pt x="264" y="73"/>
                    </a:cubicBezTo>
                    <a:cubicBezTo>
                      <a:pt x="260" y="73"/>
                      <a:pt x="256" y="72"/>
                      <a:pt x="253" y="69"/>
                    </a:cubicBezTo>
                    <a:cubicBezTo>
                      <a:pt x="251" y="67"/>
                      <a:pt x="249" y="64"/>
                      <a:pt x="249" y="59"/>
                    </a:cubicBezTo>
                    <a:cubicBezTo>
                      <a:pt x="249" y="20"/>
                      <a:pt x="249" y="20"/>
                      <a:pt x="249" y="20"/>
                    </a:cubicBezTo>
                    <a:cubicBezTo>
                      <a:pt x="249" y="9"/>
                      <a:pt x="239" y="0"/>
                      <a:pt x="228" y="0"/>
                    </a:cubicBezTo>
                    <a:cubicBezTo>
                      <a:pt x="179" y="0"/>
                      <a:pt x="179" y="0"/>
                      <a:pt x="179" y="0"/>
                    </a:cubicBezTo>
                    <a:cubicBezTo>
                      <a:pt x="168" y="0"/>
                      <a:pt x="158" y="9"/>
                      <a:pt x="158" y="20"/>
                    </a:cubicBezTo>
                    <a:cubicBezTo>
                      <a:pt x="158" y="59"/>
                      <a:pt x="158" y="59"/>
                      <a:pt x="158" y="59"/>
                    </a:cubicBezTo>
                    <a:cubicBezTo>
                      <a:pt x="158" y="68"/>
                      <a:pt x="151" y="73"/>
                      <a:pt x="144" y="73"/>
                    </a:cubicBezTo>
                    <a:cubicBezTo>
                      <a:pt x="141" y="73"/>
                      <a:pt x="137" y="72"/>
                      <a:pt x="133" y="69"/>
                    </a:cubicBezTo>
                    <a:cubicBezTo>
                      <a:pt x="107" y="42"/>
                      <a:pt x="107" y="42"/>
                      <a:pt x="107" y="42"/>
                    </a:cubicBezTo>
                    <a:cubicBezTo>
                      <a:pt x="99" y="34"/>
                      <a:pt x="85" y="34"/>
                      <a:pt x="77" y="42"/>
                    </a:cubicBezTo>
                    <a:cubicBezTo>
                      <a:pt x="43" y="76"/>
                      <a:pt x="43" y="76"/>
                      <a:pt x="43" y="76"/>
                    </a:cubicBezTo>
                    <a:cubicBezTo>
                      <a:pt x="39" y="80"/>
                      <a:pt x="37" y="85"/>
                      <a:pt x="37" y="91"/>
                    </a:cubicBezTo>
                    <a:cubicBezTo>
                      <a:pt x="37" y="97"/>
                      <a:pt x="39" y="102"/>
                      <a:pt x="43" y="106"/>
                    </a:cubicBezTo>
                    <a:cubicBezTo>
                      <a:pt x="70" y="133"/>
                      <a:pt x="70" y="133"/>
                      <a:pt x="70" y="133"/>
                    </a:cubicBezTo>
                    <a:cubicBezTo>
                      <a:pt x="74" y="137"/>
                      <a:pt x="75" y="143"/>
                      <a:pt x="73" y="149"/>
                    </a:cubicBezTo>
                    <a:cubicBezTo>
                      <a:pt x="70" y="154"/>
                      <a:pt x="65" y="158"/>
                      <a:pt x="59" y="158"/>
                    </a:cubicBezTo>
                    <a:cubicBezTo>
                      <a:pt x="21" y="158"/>
                      <a:pt x="21" y="158"/>
                      <a:pt x="21" y="158"/>
                    </a:cubicBezTo>
                    <a:cubicBezTo>
                      <a:pt x="10" y="158"/>
                      <a:pt x="0" y="167"/>
                      <a:pt x="0" y="179"/>
                    </a:cubicBezTo>
                    <a:cubicBezTo>
                      <a:pt x="0" y="227"/>
                      <a:pt x="0" y="227"/>
                      <a:pt x="0" y="227"/>
                    </a:cubicBezTo>
                    <a:cubicBezTo>
                      <a:pt x="0" y="239"/>
                      <a:pt x="10" y="248"/>
                      <a:pt x="21" y="248"/>
                    </a:cubicBezTo>
                    <a:cubicBezTo>
                      <a:pt x="59" y="248"/>
                      <a:pt x="59" y="248"/>
                      <a:pt x="59" y="248"/>
                    </a:cubicBezTo>
                    <a:cubicBezTo>
                      <a:pt x="65" y="248"/>
                      <a:pt x="70" y="251"/>
                      <a:pt x="73" y="257"/>
                    </a:cubicBezTo>
                    <a:cubicBezTo>
                      <a:pt x="75" y="263"/>
                      <a:pt x="74" y="269"/>
                      <a:pt x="70" y="273"/>
                    </a:cubicBezTo>
                    <a:cubicBezTo>
                      <a:pt x="43" y="300"/>
                      <a:pt x="43" y="300"/>
                      <a:pt x="43" y="300"/>
                    </a:cubicBezTo>
                    <a:cubicBezTo>
                      <a:pt x="39" y="304"/>
                      <a:pt x="37" y="309"/>
                      <a:pt x="37" y="315"/>
                    </a:cubicBezTo>
                    <a:cubicBezTo>
                      <a:pt x="37" y="320"/>
                      <a:pt x="39" y="326"/>
                      <a:pt x="43" y="330"/>
                    </a:cubicBezTo>
                    <a:cubicBezTo>
                      <a:pt x="77" y="364"/>
                      <a:pt x="77" y="364"/>
                      <a:pt x="77" y="364"/>
                    </a:cubicBezTo>
                    <a:cubicBezTo>
                      <a:pt x="85" y="372"/>
                      <a:pt x="99" y="372"/>
                      <a:pt x="107" y="364"/>
                    </a:cubicBezTo>
                    <a:cubicBezTo>
                      <a:pt x="133" y="337"/>
                      <a:pt x="133" y="337"/>
                      <a:pt x="133" y="337"/>
                    </a:cubicBezTo>
                    <a:cubicBezTo>
                      <a:pt x="137" y="333"/>
                      <a:pt x="141" y="333"/>
                      <a:pt x="144" y="333"/>
                    </a:cubicBezTo>
                    <a:cubicBezTo>
                      <a:pt x="151" y="333"/>
                      <a:pt x="158" y="338"/>
                      <a:pt x="158" y="347"/>
                    </a:cubicBezTo>
                    <a:cubicBezTo>
                      <a:pt x="158" y="385"/>
                      <a:pt x="158" y="385"/>
                      <a:pt x="158" y="385"/>
                    </a:cubicBezTo>
                    <a:cubicBezTo>
                      <a:pt x="158" y="397"/>
                      <a:pt x="168" y="406"/>
                      <a:pt x="179" y="406"/>
                    </a:cubicBezTo>
                    <a:cubicBezTo>
                      <a:pt x="228" y="406"/>
                      <a:pt x="228" y="406"/>
                      <a:pt x="228" y="406"/>
                    </a:cubicBezTo>
                    <a:cubicBezTo>
                      <a:pt x="239" y="406"/>
                      <a:pt x="249" y="397"/>
                      <a:pt x="249" y="385"/>
                    </a:cubicBezTo>
                    <a:cubicBezTo>
                      <a:pt x="249" y="347"/>
                      <a:pt x="249" y="347"/>
                      <a:pt x="249" y="347"/>
                    </a:cubicBezTo>
                    <a:cubicBezTo>
                      <a:pt x="249" y="338"/>
                      <a:pt x="256" y="333"/>
                      <a:pt x="264" y="333"/>
                    </a:cubicBezTo>
                    <a:cubicBezTo>
                      <a:pt x="266" y="333"/>
                      <a:pt x="270" y="333"/>
                      <a:pt x="274" y="337"/>
                    </a:cubicBezTo>
                    <a:cubicBezTo>
                      <a:pt x="301" y="364"/>
                      <a:pt x="301" y="364"/>
                      <a:pt x="301" y="364"/>
                    </a:cubicBezTo>
                    <a:cubicBezTo>
                      <a:pt x="309" y="372"/>
                      <a:pt x="322" y="372"/>
                      <a:pt x="330" y="364"/>
                    </a:cubicBezTo>
                    <a:cubicBezTo>
                      <a:pt x="365" y="330"/>
                      <a:pt x="365" y="330"/>
                      <a:pt x="365" y="330"/>
                    </a:cubicBezTo>
                    <a:cubicBezTo>
                      <a:pt x="369" y="326"/>
                      <a:pt x="371" y="320"/>
                      <a:pt x="371" y="315"/>
                    </a:cubicBezTo>
                    <a:cubicBezTo>
                      <a:pt x="371" y="309"/>
                      <a:pt x="369" y="304"/>
                      <a:pt x="365" y="300"/>
                    </a:cubicBezTo>
                    <a:cubicBezTo>
                      <a:pt x="338" y="273"/>
                      <a:pt x="338" y="273"/>
                      <a:pt x="338" y="273"/>
                    </a:cubicBezTo>
                    <a:cubicBezTo>
                      <a:pt x="333" y="269"/>
                      <a:pt x="332" y="263"/>
                      <a:pt x="335" y="257"/>
                    </a:cubicBezTo>
                    <a:cubicBezTo>
                      <a:pt x="337" y="251"/>
                      <a:pt x="342" y="248"/>
                      <a:pt x="348" y="248"/>
                    </a:cubicBezTo>
                    <a:cubicBezTo>
                      <a:pt x="386" y="248"/>
                      <a:pt x="386" y="248"/>
                      <a:pt x="386" y="248"/>
                    </a:cubicBezTo>
                    <a:cubicBezTo>
                      <a:pt x="398" y="248"/>
                      <a:pt x="407" y="239"/>
                      <a:pt x="407" y="227"/>
                    </a:cubicBezTo>
                    <a:cubicBezTo>
                      <a:pt x="407" y="179"/>
                      <a:pt x="407" y="179"/>
                      <a:pt x="407" y="179"/>
                    </a:cubicBezTo>
                    <a:cubicBezTo>
                      <a:pt x="407" y="167"/>
                      <a:pt x="398" y="158"/>
                      <a:pt x="386" y="158"/>
                    </a:cubicBezTo>
                    <a:close/>
                    <a:moveTo>
                      <a:pt x="256" y="203"/>
                    </a:moveTo>
                    <a:cubicBezTo>
                      <a:pt x="256" y="232"/>
                      <a:pt x="233" y="256"/>
                      <a:pt x="204" y="256"/>
                    </a:cubicBezTo>
                    <a:cubicBezTo>
                      <a:pt x="175" y="256"/>
                      <a:pt x="151" y="232"/>
                      <a:pt x="151" y="203"/>
                    </a:cubicBezTo>
                    <a:cubicBezTo>
                      <a:pt x="151" y="174"/>
                      <a:pt x="175" y="150"/>
                      <a:pt x="204" y="150"/>
                    </a:cubicBezTo>
                    <a:cubicBezTo>
                      <a:pt x="233" y="150"/>
                      <a:pt x="256" y="174"/>
                      <a:pt x="256" y="203"/>
                    </a:cubicBezTo>
                    <a:close/>
                  </a:path>
                </a:pathLst>
              </a:custGeom>
              <a:gradFill flip="none" rotWithShape="1">
                <a:gsLst>
                  <a:gs pos="0">
                    <a:schemeClr val="accent2">
                      <a:lumMod val="60000"/>
                      <a:lumOff val="40000"/>
                    </a:schemeClr>
                  </a:gs>
                  <a:gs pos="100000">
                    <a:schemeClr val="accent2"/>
                  </a:gs>
                </a:gsLst>
                <a:lin ang="0" scaled="1"/>
                <a:tileRect/>
              </a:gradFill>
              <a:ln>
                <a:noFill/>
              </a:ln>
            </p:spPr>
            <p:txBody>
              <a:bodyPr vert="horz" wrap="square" lIns="91440" tIns="45720" rIns="91440" bIns="45720" numCol="1" anchor="t" anchorCtr="0" compatLnSpc="1"/>
              <a:lstStyle/>
              <a:p>
                <a:endParaRPr lang="en-US" dirty="0">
                  <a:gradFill>
                    <a:gsLst>
                      <a:gs pos="0">
                        <a:schemeClr val="accent1">
                          <a:lumMod val="60000"/>
                          <a:lumOff val="40000"/>
                        </a:schemeClr>
                      </a:gs>
                      <a:gs pos="100000">
                        <a:schemeClr val="accent1"/>
                      </a:gs>
                    </a:gsLst>
                    <a:lin ang="10800000" scaled="1"/>
                  </a:gradFill>
                  <a:cs typeface="思源黑体 CN Normal" panose="020B0400000000000000" pitchFamily="34" charset="-122"/>
                </a:endParaRPr>
              </a:p>
            </p:txBody>
          </p:sp>
          <p:sp>
            <p:nvSpPr>
              <p:cNvPr id="58" name="小红书平北职场PPT3-19"/>
              <p:cNvSpPr txBox="1"/>
              <p:nvPr/>
            </p:nvSpPr>
            <p:spPr>
              <a:xfrm>
                <a:off x="2686298" y="3407629"/>
                <a:ext cx="2403804" cy="307777"/>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0"/>
                  </a:spcAft>
                  <a:buNone/>
                </a:pPr>
                <a:r>
                  <a:rPr lang="zh-CN" altLang="en-US" sz="2000" b="1" dirty="0">
                    <a:latin typeface="+mj-ea"/>
                    <a:ea typeface="+mj-ea"/>
                    <a:cs typeface="思源黑体 CN Normal" panose="020B0400000000000000" pitchFamily="34" charset="-122"/>
                  </a:rPr>
                  <a:t>主动优化 </a:t>
                </a:r>
                <a:r>
                  <a:rPr lang="en-US" altLang="zh-CN" sz="2000" b="1" dirty="0">
                    <a:latin typeface="+mj-ea"/>
                    <a:ea typeface="+mj-ea"/>
                    <a:cs typeface="思源黑体 CN Normal" panose="020B0400000000000000" pitchFamily="34" charset="-122"/>
                  </a:rPr>
                  <a:t>- 02</a:t>
                </a:r>
                <a:endParaRPr lang="en-US" sz="1600" dirty="0">
                  <a:latin typeface="+mj-ea"/>
                  <a:ea typeface="+mj-ea"/>
                  <a:cs typeface="思源黑体 CN Normal" panose="020B0400000000000000" pitchFamily="34" charset="-122"/>
                </a:endParaRPr>
              </a:p>
            </p:txBody>
          </p:sp>
        </p:grpSp>
        <p:sp>
          <p:nvSpPr>
            <p:cNvPr id="54" name="小红书平北职场PPT3-20"/>
            <p:cNvSpPr>
              <a:spLocks noChangeArrowheads="1"/>
            </p:cNvSpPr>
            <p:nvPr/>
          </p:nvSpPr>
          <p:spPr bwMode="auto">
            <a:xfrm>
              <a:off x="5629442" y="3116418"/>
              <a:ext cx="6038339" cy="877228"/>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30000"/>
                </a:lnSpc>
                <a:spcBef>
                  <a:spcPct val="0"/>
                </a:spcBef>
                <a:spcAft>
                  <a:spcPct val="0"/>
                </a:spcAft>
                <a:buClrTx/>
                <a:buSzTx/>
                <a:buFontTx/>
                <a:buNone/>
              </a:pPr>
              <a:r>
                <a:rPr kumimoji="0" lang="zh-CN" altLang="en-US" sz="1600" i="0" u="none" strike="noStrike" cap="none" normalizeH="0" baseline="0" dirty="0">
                  <a:ln>
                    <a:noFill/>
                  </a:ln>
                  <a:gradFill>
                    <a:gsLst>
                      <a:gs pos="0">
                        <a:schemeClr val="accent2">
                          <a:lumMod val="60000"/>
                          <a:lumOff val="40000"/>
                        </a:schemeClr>
                      </a:gs>
                      <a:gs pos="100000">
                        <a:schemeClr val="accent2"/>
                      </a:gs>
                    </a:gsLst>
                    <a:lin ang="0" scaled="1"/>
                  </a:gradFill>
                  <a:effectLst/>
                  <a:latin typeface="+mj-ea"/>
                  <a:ea typeface="+mj-ea"/>
                  <a:cs typeface="思源黑体 CN Normal" panose="020B0400000000000000" pitchFamily="34" charset="-122"/>
                </a:rPr>
                <a:t>驱动流程改进，创造增值价值</a:t>
              </a:r>
              <a:br>
                <a:rPr kumimoji="0" lang="zh-CN" altLang="zh-CN" sz="1200" b="0" i="0" u="none" strike="noStrike" cap="none" normalizeH="0" baseline="0" dirty="0">
                  <a:ln>
                    <a:noFill/>
                  </a:ln>
                  <a:effectLst/>
                  <a:latin typeface="+mn-ea"/>
                  <a:cs typeface="思源黑体 CN Normal" panose="020B0400000000000000" pitchFamily="34" charset="-122"/>
                </a:rPr>
              </a:br>
              <a:r>
                <a:rPr kumimoji="0" lang="zh-CN" altLang="en-US" sz="1200" b="0" i="0" u="none" strike="noStrike" cap="none" normalizeH="0" baseline="0" dirty="0">
                  <a:ln>
                    <a:noFill/>
                  </a:ln>
                  <a:effectLst/>
                  <a:latin typeface="+mn-ea"/>
                  <a:cs typeface="思源黑体 CN Normal" panose="020B0400000000000000" pitchFamily="34" charset="-122"/>
                </a:rPr>
                <a:t>基于前瞻视野，主动识别流程瓶颈与效能短板，提出建设性方案，通过方法创新与资源优化，实现降本增效，为团队创造超越期望的附加价值</a:t>
              </a:r>
              <a:endParaRPr kumimoji="0" lang="zh-CN" altLang="zh-CN" sz="1200" b="0" i="0" u="none" strike="noStrike" cap="none" normalizeH="0" baseline="0" dirty="0">
                <a:ln>
                  <a:noFill/>
                </a:ln>
                <a:effectLst/>
                <a:latin typeface="+mn-ea"/>
                <a:cs typeface="思源黑体 CN Normal" panose="020B0400000000000000" pitchFamily="34" charset="-122"/>
              </a:endParaRPr>
            </a:p>
          </p:txBody>
        </p:sp>
      </p:grpSp>
      <p:grpSp>
        <p:nvGrpSpPr>
          <p:cNvPr id="32" name="组合 31"/>
          <p:cNvGrpSpPr/>
          <p:nvPr/>
        </p:nvGrpSpPr>
        <p:grpSpPr>
          <a:xfrm>
            <a:off x="1899215" y="5599378"/>
            <a:ext cx="9968799" cy="964214"/>
            <a:chOff x="1899215" y="5599378"/>
            <a:chExt cx="9968799" cy="964214"/>
          </a:xfrm>
        </p:grpSpPr>
        <p:sp>
          <p:nvSpPr>
            <p:cNvPr id="42" name="小红书平北职场PPT3-21"/>
            <p:cNvSpPr/>
            <p:nvPr/>
          </p:nvSpPr>
          <p:spPr>
            <a:xfrm>
              <a:off x="6769933" y="5599378"/>
              <a:ext cx="5098081" cy="9642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cxnSp>
          <p:nvCxnSpPr>
            <p:cNvPr id="43" name="小红书平北职场PPT3-22"/>
            <p:cNvCxnSpPr/>
            <p:nvPr/>
          </p:nvCxnSpPr>
          <p:spPr>
            <a:xfrm>
              <a:off x="5880263" y="6081485"/>
              <a:ext cx="52677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1899215" y="5672639"/>
              <a:ext cx="3929467" cy="817692"/>
              <a:chOff x="3525520" y="5672639"/>
              <a:chExt cx="3929467" cy="817692"/>
            </a:xfrm>
          </p:grpSpPr>
          <p:grpSp>
            <p:nvGrpSpPr>
              <p:cNvPr id="46" name="组合 45"/>
              <p:cNvGrpSpPr/>
              <p:nvPr/>
            </p:nvGrpSpPr>
            <p:grpSpPr>
              <a:xfrm>
                <a:off x="3525520" y="5672639"/>
                <a:ext cx="3796747" cy="817692"/>
                <a:chOff x="3525520" y="5672639"/>
                <a:chExt cx="3796747" cy="817692"/>
              </a:xfrm>
            </p:grpSpPr>
            <p:sp>
              <p:nvSpPr>
                <p:cNvPr id="48" name="小红书平北职场PPT3-23"/>
                <p:cNvSpPr/>
                <p:nvPr/>
              </p:nvSpPr>
              <p:spPr>
                <a:xfrm>
                  <a:off x="3525520" y="5672639"/>
                  <a:ext cx="3796747" cy="817692"/>
                </a:xfrm>
                <a:prstGeom prst="homePlate">
                  <a:avLst>
                    <a:gd name="adj" fmla="val 51716"/>
                  </a:avLst>
                </a:prstGeom>
                <a:gradFill flip="none" rotWithShape="1">
                  <a:gsLst>
                    <a:gs pos="0">
                      <a:schemeClr val="accent2">
                        <a:lumMod val="60000"/>
                        <a:lumOff val="40000"/>
                      </a:schemeClr>
                    </a:gs>
                    <a:gs pos="100000">
                      <a:schemeClr val="accent2"/>
                    </a:gs>
                  </a:gsLst>
                  <a:lin ang="10800000" scaled="1"/>
                  <a:tileRect/>
                </a:gradFill>
                <a:ln w="9525">
                  <a:noFill/>
                  <a:round/>
                </a:ln>
              </p:spPr>
              <p:txBody>
                <a:bodyPr vert="horz" wrap="square" lIns="121920" tIns="60960" rIns="121920" bIns="60960" numCol="1" rtlCol="0" anchor="ctr" anchorCtr="0" compatLnSpc="1">
                  <a:noAutofit/>
                </a:bodyPr>
                <a:lstStyle/>
                <a:p>
                  <a:pPr algn="ctr"/>
                  <a:endParaRPr lang="en-US" sz="3200" b="1" dirty="0">
                    <a:solidFill>
                      <a:schemeClr val="bg1"/>
                    </a:solidFill>
                    <a:latin typeface="+mj-ea"/>
                    <a:ea typeface="+mj-ea"/>
                    <a:cs typeface="思源黑体 CN Normal" panose="020B0400000000000000" pitchFamily="34" charset="-122"/>
                  </a:endParaRPr>
                </a:p>
              </p:txBody>
            </p:sp>
            <p:sp>
              <p:nvSpPr>
                <p:cNvPr id="49" name="小红书平北职场PPT3-24"/>
                <p:cNvSpPr/>
                <p:nvPr/>
              </p:nvSpPr>
              <p:spPr>
                <a:xfrm>
                  <a:off x="4049737" y="5819562"/>
                  <a:ext cx="523847" cy="523845"/>
                </a:xfrm>
                <a:prstGeom prst="ellipse">
                  <a:avLst/>
                </a:prstGeom>
                <a:solidFill>
                  <a:sysClr val="window" lastClr="FFFFFF"/>
                </a:solidFill>
                <a:ln w="902" cap="flat">
                  <a:noFill/>
                  <a:prstDash val="solid"/>
                  <a:miter/>
                </a:ln>
                <a:effectLst>
                  <a:outerShdw blurRad="43883" dist="32912"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kern="0" dirty="0">
                    <a:solidFill>
                      <a:prstClr val="black"/>
                    </a:solidFill>
                    <a:latin typeface="思源黑体 CN Heavy" panose="020B0A00000000000000" charset="-122"/>
                    <a:cs typeface="思源黑体 CN Normal" panose="020B0400000000000000" pitchFamily="34" charset="-122"/>
                  </a:endParaRPr>
                </a:p>
              </p:txBody>
            </p:sp>
            <p:sp>
              <p:nvSpPr>
                <p:cNvPr id="50" name="小红书平北职场PPT3-25"/>
                <p:cNvSpPr>
                  <a:spLocks noEditPoints="1"/>
                </p:cNvSpPr>
                <p:nvPr/>
              </p:nvSpPr>
              <p:spPr bwMode="auto">
                <a:xfrm>
                  <a:off x="4159731" y="5929314"/>
                  <a:ext cx="303860" cy="304340"/>
                </a:xfrm>
                <a:custGeom>
                  <a:avLst/>
                  <a:gdLst>
                    <a:gd name="T0" fmla="*/ 278 w 534"/>
                    <a:gd name="T1" fmla="*/ 0 h 534"/>
                    <a:gd name="T2" fmla="*/ 267 w 534"/>
                    <a:gd name="T3" fmla="*/ 11 h 534"/>
                    <a:gd name="T4" fmla="*/ 267 w 534"/>
                    <a:gd name="T5" fmla="*/ 256 h 534"/>
                    <a:gd name="T6" fmla="*/ 278 w 534"/>
                    <a:gd name="T7" fmla="*/ 267 h 534"/>
                    <a:gd name="T8" fmla="*/ 523 w 534"/>
                    <a:gd name="T9" fmla="*/ 267 h 534"/>
                    <a:gd name="T10" fmla="*/ 534 w 534"/>
                    <a:gd name="T11" fmla="*/ 256 h 534"/>
                    <a:gd name="T12" fmla="*/ 278 w 534"/>
                    <a:gd name="T13" fmla="*/ 0 h 534"/>
                    <a:gd name="T14" fmla="*/ 398 w 534"/>
                    <a:gd name="T15" fmla="*/ 472 h 534"/>
                    <a:gd name="T16" fmla="*/ 244 w 534"/>
                    <a:gd name="T17" fmla="*/ 275 h 534"/>
                    <a:gd name="T18" fmla="*/ 244 w 534"/>
                    <a:gd name="T19" fmla="*/ 34 h 534"/>
                    <a:gd name="T20" fmla="*/ 233 w 534"/>
                    <a:gd name="T21" fmla="*/ 22 h 534"/>
                    <a:gd name="T22" fmla="*/ 0 w 534"/>
                    <a:gd name="T23" fmla="*/ 278 h 534"/>
                    <a:gd name="T24" fmla="*/ 256 w 534"/>
                    <a:gd name="T25" fmla="*/ 534 h 534"/>
                    <a:gd name="T26" fmla="*/ 396 w 534"/>
                    <a:gd name="T27" fmla="*/ 487 h 534"/>
                    <a:gd name="T28" fmla="*/ 398 w 534"/>
                    <a:gd name="T29" fmla="*/ 472 h 534"/>
                    <a:gd name="T30" fmla="*/ 523 w 534"/>
                    <a:gd name="T31" fmla="*/ 289 h 534"/>
                    <a:gd name="T32" fmla="*/ 300 w 534"/>
                    <a:gd name="T33" fmla="*/ 289 h 534"/>
                    <a:gd name="T34" fmla="*/ 290 w 534"/>
                    <a:gd name="T35" fmla="*/ 296 h 534"/>
                    <a:gd name="T36" fmla="*/ 291 w 534"/>
                    <a:gd name="T37" fmla="*/ 308 h 534"/>
                    <a:gd name="T38" fmla="*/ 436 w 534"/>
                    <a:gd name="T39" fmla="*/ 487 h 534"/>
                    <a:gd name="T40" fmla="*/ 444 w 534"/>
                    <a:gd name="T41" fmla="*/ 491 h 534"/>
                    <a:gd name="T42" fmla="*/ 445 w 534"/>
                    <a:gd name="T43" fmla="*/ 491 h 534"/>
                    <a:gd name="T44" fmla="*/ 452 w 534"/>
                    <a:gd name="T45" fmla="*/ 488 h 534"/>
                    <a:gd name="T46" fmla="*/ 534 w 534"/>
                    <a:gd name="T47" fmla="*/ 301 h 534"/>
                    <a:gd name="T48" fmla="*/ 523 w 534"/>
                    <a:gd name="T49" fmla="*/ 289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34" h="534">
                      <a:moveTo>
                        <a:pt x="278" y="0"/>
                      </a:moveTo>
                      <a:cubicBezTo>
                        <a:pt x="272" y="0"/>
                        <a:pt x="267" y="5"/>
                        <a:pt x="267" y="11"/>
                      </a:cubicBezTo>
                      <a:cubicBezTo>
                        <a:pt x="267" y="256"/>
                        <a:pt x="267" y="256"/>
                        <a:pt x="267" y="256"/>
                      </a:cubicBezTo>
                      <a:cubicBezTo>
                        <a:pt x="267" y="262"/>
                        <a:pt x="272" y="267"/>
                        <a:pt x="278" y="267"/>
                      </a:cubicBezTo>
                      <a:cubicBezTo>
                        <a:pt x="523" y="267"/>
                        <a:pt x="523" y="267"/>
                        <a:pt x="523" y="267"/>
                      </a:cubicBezTo>
                      <a:cubicBezTo>
                        <a:pt x="529" y="267"/>
                        <a:pt x="534" y="262"/>
                        <a:pt x="534" y="256"/>
                      </a:cubicBezTo>
                      <a:cubicBezTo>
                        <a:pt x="534" y="115"/>
                        <a:pt x="419" y="0"/>
                        <a:pt x="278" y="0"/>
                      </a:cubicBezTo>
                      <a:close/>
                      <a:moveTo>
                        <a:pt x="398" y="472"/>
                      </a:moveTo>
                      <a:cubicBezTo>
                        <a:pt x="244" y="275"/>
                        <a:pt x="244" y="275"/>
                        <a:pt x="244" y="275"/>
                      </a:cubicBezTo>
                      <a:cubicBezTo>
                        <a:pt x="244" y="34"/>
                        <a:pt x="244" y="34"/>
                        <a:pt x="244" y="34"/>
                      </a:cubicBezTo>
                      <a:cubicBezTo>
                        <a:pt x="244" y="27"/>
                        <a:pt x="240" y="22"/>
                        <a:pt x="233" y="22"/>
                      </a:cubicBezTo>
                      <a:cubicBezTo>
                        <a:pt x="105" y="22"/>
                        <a:pt x="0" y="137"/>
                        <a:pt x="0" y="278"/>
                      </a:cubicBezTo>
                      <a:cubicBezTo>
                        <a:pt x="0" y="419"/>
                        <a:pt x="115" y="534"/>
                        <a:pt x="256" y="534"/>
                      </a:cubicBezTo>
                      <a:cubicBezTo>
                        <a:pt x="319" y="534"/>
                        <a:pt x="353" y="523"/>
                        <a:pt x="396" y="487"/>
                      </a:cubicBezTo>
                      <a:cubicBezTo>
                        <a:pt x="401" y="483"/>
                        <a:pt x="402" y="477"/>
                        <a:pt x="398" y="472"/>
                      </a:cubicBezTo>
                      <a:close/>
                      <a:moveTo>
                        <a:pt x="523" y="289"/>
                      </a:moveTo>
                      <a:cubicBezTo>
                        <a:pt x="300" y="289"/>
                        <a:pt x="300" y="289"/>
                        <a:pt x="300" y="289"/>
                      </a:cubicBezTo>
                      <a:cubicBezTo>
                        <a:pt x="296" y="289"/>
                        <a:pt x="292" y="292"/>
                        <a:pt x="290" y="296"/>
                      </a:cubicBezTo>
                      <a:cubicBezTo>
                        <a:pt x="288" y="300"/>
                        <a:pt x="289" y="304"/>
                        <a:pt x="291" y="308"/>
                      </a:cubicBezTo>
                      <a:cubicBezTo>
                        <a:pt x="436" y="487"/>
                        <a:pt x="436" y="487"/>
                        <a:pt x="436" y="487"/>
                      </a:cubicBezTo>
                      <a:cubicBezTo>
                        <a:pt x="438" y="489"/>
                        <a:pt x="441" y="490"/>
                        <a:pt x="444" y="491"/>
                      </a:cubicBezTo>
                      <a:cubicBezTo>
                        <a:pt x="444" y="491"/>
                        <a:pt x="444" y="491"/>
                        <a:pt x="445" y="491"/>
                      </a:cubicBezTo>
                      <a:cubicBezTo>
                        <a:pt x="448" y="491"/>
                        <a:pt x="450" y="490"/>
                        <a:pt x="452" y="488"/>
                      </a:cubicBezTo>
                      <a:cubicBezTo>
                        <a:pt x="504" y="440"/>
                        <a:pt x="534" y="371"/>
                        <a:pt x="534" y="301"/>
                      </a:cubicBezTo>
                      <a:cubicBezTo>
                        <a:pt x="534" y="294"/>
                        <a:pt x="529" y="289"/>
                        <a:pt x="523" y="289"/>
                      </a:cubicBezTo>
                      <a:close/>
                    </a:path>
                  </a:pathLst>
                </a:custGeom>
                <a:gradFill flip="none" rotWithShape="1">
                  <a:gsLst>
                    <a:gs pos="0">
                      <a:schemeClr val="accent2">
                        <a:lumMod val="60000"/>
                        <a:lumOff val="40000"/>
                      </a:schemeClr>
                    </a:gs>
                    <a:gs pos="100000">
                      <a:schemeClr val="accent2"/>
                    </a:gs>
                  </a:gsLst>
                  <a:lin ang="0" scaled="1"/>
                  <a:tileRect/>
                </a:gradFill>
                <a:ln>
                  <a:noFill/>
                </a:ln>
              </p:spPr>
              <p:txBody>
                <a:bodyPr vert="horz" wrap="square" lIns="91440" tIns="45720" rIns="91440" bIns="45720" numCol="1" anchor="t" anchorCtr="0" compatLnSpc="1"/>
                <a:lstStyle/>
                <a:p>
                  <a:endParaRPr lang="en-US" dirty="0">
                    <a:gradFill>
                      <a:gsLst>
                        <a:gs pos="0">
                          <a:schemeClr val="accent1">
                            <a:lumMod val="60000"/>
                            <a:lumOff val="40000"/>
                          </a:schemeClr>
                        </a:gs>
                        <a:gs pos="100000">
                          <a:schemeClr val="accent1"/>
                        </a:gs>
                      </a:gsLst>
                      <a:lin ang="10800000" scaled="1"/>
                    </a:gradFill>
                    <a:cs typeface="思源黑体 CN Normal" panose="020B0400000000000000" pitchFamily="34" charset="-122"/>
                  </a:endParaRPr>
                </a:p>
              </p:txBody>
            </p:sp>
          </p:grpSp>
          <p:sp>
            <p:nvSpPr>
              <p:cNvPr id="47" name="小红书平北职场PPT3-26"/>
              <p:cNvSpPr txBox="1"/>
              <p:nvPr/>
            </p:nvSpPr>
            <p:spPr>
              <a:xfrm>
                <a:off x="5051183" y="5926696"/>
                <a:ext cx="2403804" cy="307777"/>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0"/>
                  </a:spcAft>
                  <a:buNone/>
                </a:pPr>
                <a:r>
                  <a:rPr lang="zh-CN" altLang="en-US" sz="2000" b="1" dirty="0">
                    <a:latin typeface="+mj-ea"/>
                    <a:ea typeface="+mj-ea"/>
                    <a:cs typeface="思源黑体 CN Normal" panose="020B0400000000000000" pitchFamily="34" charset="-122"/>
                  </a:rPr>
                  <a:t>引领创新 </a:t>
                </a:r>
                <a:r>
                  <a:rPr lang="en-US" altLang="zh-CN" sz="2000" b="1" dirty="0">
                    <a:latin typeface="+mj-ea"/>
                    <a:ea typeface="+mj-ea"/>
                    <a:cs typeface="思源黑体 CN Normal" panose="020B0400000000000000" pitchFamily="34" charset="-122"/>
                  </a:rPr>
                  <a:t>- 04</a:t>
                </a:r>
                <a:endParaRPr lang="en-US" sz="1600" dirty="0">
                  <a:latin typeface="+mj-ea"/>
                  <a:ea typeface="+mj-ea"/>
                  <a:cs typeface="思源黑体 CN Normal" panose="020B0400000000000000" pitchFamily="34" charset="-122"/>
                </a:endParaRPr>
              </a:p>
            </p:txBody>
          </p:sp>
        </p:grpSp>
        <p:sp>
          <p:nvSpPr>
            <p:cNvPr id="45" name="小红书平北职场PPT3-27"/>
            <p:cNvSpPr>
              <a:spLocks noChangeArrowheads="1"/>
            </p:cNvSpPr>
            <p:nvPr/>
          </p:nvSpPr>
          <p:spPr bwMode="auto">
            <a:xfrm>
              <a:off x="6990272" y="5642871"/>
              <a:ext cx="4677509" cy="877228"/>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30000"/>
                </a:lnSpc>
                <a:spcBef>
                  <a:spcPct val="0"/>
                </a:spcBef>
                <a:spcAft>
                  <a:spcPct val="0"/>
                </a:spcAft>
                <a:buClrTx/>
                <a:buSzTx/>
                <a:buFontTx/>
                <a:buNone/>
              </a:pPr>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引领组织变革，开创未来格局</a:t>
              </a:r>
              <a:br>
                <a:rPr kumimoji="0" lang="zh-CN" altLang="zh-CN" sz="1200" b="0" i="0" u="none" strike="noStrike" cap="none" normalizeH="0" baseline="0" dirty="0">
                  <a:ln>
                    <a:noFill/>
                  </a:ln>
                  <a:effectLst/>
                  <a:latin typeface="+mn-ea"/>
                  <a:cs typeface="思源黑体 CN Normal" panose="020B0400000000000000" pitchFamily="34" charset="-122"/>
                </a:rPr>
              </a:br>
              <a:r>
                <a:rPr kumimoji="0" lang="zh-CN" altLang="en-US" sz="1200" b="0" i="0" u="none" strike="noStrike" cap="none" normalizeH="0" baseline="0" dirty="0">
                  <a:ln>
                    <a:noFill/>
                  </a:ln>
                  <a:effectLst/>
                  <a:latin typeface="+mn-ea"/>
                  <a:cs typeface="思源黑体 CN Normal" panose="020B0400000000000000" pitchFamily="34" charset="-122"/>
                </a:rPr>
                <a:t>凭借行业洞见与战略眼光，规划组织发展蓝图，通过团队建设</a:t>
              </a:r>
              <a:r>
                <a:rPr lang="zh-CN" altLang="en-US" sz="1200" dirty="0">
                  <a:latin typeface="+mn-ea"/>
                  <a:cs typeface="思源黑体 CN Normal" panose="020B0400000000000000" pitchFamily="34" charset="-122"/>
                </a:rPr>
                <a:t>等方式</a:t>
              </a:r>
              <a:r>
                <a:rPr kumimoji="0" lang="zh-CN" altLang="en-US" sz="1200" b="0" i="0" u="none" strike="noStrike" cap="none" normalizeH="0" baseline="0" dirty="0">
                  <a:ln>
                    <a:noFill/>
                  </a:ln>
                  <a:effectLst/>
                  <a:latin typeface="+mn-ea"/>
                  <a:cs typeface="思源黑体 CN Normal" panose="020B0400000000000000" pitchFamily="34" charset="-122"/>
                </a:rPr>
                <a:t>，为组织注入持续发展动能，引领企业在变革中开拓新局面</a:t>
              </a:r>
              <a:endParaRPr kumimoji="0" lang="zh-CN" altLang="zh-CN" sz="1200" b="0" i="0" u="none" strike="noStrike" cap="none" normalizeH="0" baseline="0" dirty="0">
                <a:ln>
                  <a:noFill/>
                </a:ln>
                <a:effectLst/>
                <a:latin typeface="+mn-ea"/>
                <a:cs typeface="思源黑体 CN Normal" panose="020B0400000000000000" pitchFamily="34" charset="-122"/>
              </a:endParaRPr>
            </a:p>
          </p:txBody>
        </p:sp>
      </p:grpSp>
      <p:grpSp>
        <p:nvGrpSpPr>
          <p:cNvPr id="33" name="组合 32"/>
          <p:cNvGrpSpPr/>
          <p:nvPr/>
        </p:nvGrpSpPr>
        <p:grpSpPr>
          <a:xfrm>
            <a:off x="1137054" y="4333822"/>
            <a:ext cx="10730960" cy="964214"/>
            <a:chOff x="1137054" y="4333822"/>
            <a:chExt cx="10730960" cy="964214"/>
          </a:xfrm>
        </p:grpSpPr>
        <p:sp>
          <p:nvSpPr>
            <p:cNvPr id="34" name="小红书平北职场PPT3-28"/>
            <p:cNvSpPr/>
            <p:nvPr/>
          </p:nvSpPr>
          <p:spPr>
            <a:xfrm>
              <a:off x="6089518" y="4333822"/>
              <a:ext cx="5778496" cy="9642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cxnSp>
          <p:nvCxnSpPr>
            <p:cNvPr id="35" name="小红书平北职场PPT3-29"/>
            <p:cNvCxnSpPr/>
            <p:nvPr/>
          </p:nvCxnSpPr>
          <p:spPr>
            <a:xfrm>
              <a:off x="5191422" y="4815929"/>
              <a:ext cx="52677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1137054" y="4407083"/>
              <a:ext cx="3942266" cy="817692"/>
              <a:chOff x="2350346" y="4409413"/>
              <a:chExt cx="3942266" cy="817692"/>
            </a:xfrm>
          </p:grpSpPr>
          <p:sp>
            <p:nvSpPr>
              <p:cNvPr id="38" name="小红书平北职场PPT3-30"/>
              <p:cNvSpPr/>
              <p:nvPr/>
            </p:nvSpPr>
            <p:spPr>
              <a:xfrm>
                <a:off x="2350346" y="4409413"/>
                <a:ext cx="3796747" cy="817692"/>
              </a:xfrm>
              <a:prstGeom prst="homePlate">
                <a:avLst>
                  <a:gd name="adj" fmla="val 51716"/>
                </a:avLst>
              </a:prstGeom>
              <a:gradFill flip="none" rotWithShape="1">
                <a:gsLst>
                  <a:gs pos="0">
                    <a:schemeClr val="accent1">
                      <a:lumMod val="60000"/>
                      <a:lumOff val="40000"/>
                    </a:schemeClr>
                  </a:gs>
                  <a:gs pos="100000">
                    <a:schemeClr val="accent1"/>
                  </a:gs>
                </a:gsLst>
                <a:lin ang="108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dirty="0">
                  <a:solidFill>
                    <a:schemeClr val="bg1"/>
                  </a:solidFill>
                  <a:latin typeface="+mj-ea"/>
                  <a:ea typeface="+mj-ea"/>
                  <a:cs typeface="思源黑体 CN Normal" panose="020B0400000000000000" pitchFamily="34" charset="-122"/>
                </a:endParaRPr>
              </a:p>
            </p:txBody>
          </p:sp>
          <p:sp>
            <p:nvSpPr>
              <p:cNvPr id="39" name="小红书平北职场PPT3-31"/>
              <p:cNvSpPr/>
              <p:nvPr/>
            </p:nvSpPr>
            <p:spPr>
              <a:xfrm>
                <a:off x="2874563" y="4556336"/>
                <a:ext cx="523847" cy="523845"/>
              </a:xfrm>
              <a:prstGeom prst="ellipse">
                <a:avLst/>
              </a:prstGeom>
              <a:solidFill>
                <a:sysClr val="window" lastClr="FFFFFF"/>
              </a:solidFill>
              <a:ln w="902" cap="flat">
                <a:noFill/>
                <a:prstDash val="solid"/>
                <a:miter/>
              </a:ln>
              <a:effectLst>
                <a:outerShdw blurRad="43883" dist="32912"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kern="0" dirty="0">
                  <a:solidFill>
                    <a:prstClr val="black"/>
                  </a:solidFill>
                  <a:latin typeface="思源黑体 CN Heavy" panose="020B0A00000000000000" charset="-122"/>
                  <a:cs typeface="思源黑体 CN Normal" panose="020B0400000000000000" pitchFamily="34" charset="-122"/>
                </a:endParaRPr>
              </a:p>
            </p:txBody>
          </p:sp>
          <p:sp>
            <p:nvSpPr>
              <p:cNvPr id="40" name="小红书平北职场PPT3-32"/>
              <p:cNvSpPr>
                <a:spLocks noEditPoints="1"/>
              </p:cNvSpPr>
              <p:nvPr/>
            </p:nvSpPr>
            <p:spPr bwMode="auto">
              <a:xfrm>
                <a:off x="3001372" y="4655804"/>
                <a:ext cx="270230" cy="324910"/>
              </a:xfrm>
              <a:custGeom>
                <a:avLst/>
                <a:gdLst>
                  <a:gd name="T0" fmla="*/ 166 w 251"/>
                  <a:gd name="T1" fmla="*/ 74 h 301"/>
                  <a:gd name="T2" fmla="*/ 195 w 251"/>
                  <a:gd name="T3" fmla="*/ 74 h 301"/>
                  <a:gd name="T4" fmla="*/ 195 w 251"/>
                  <a:gd name="T5" fmla="*/ 56 h 301"/>
                  <a:gd name="T6" fmla="*/ 170 w 251"/>
                  <a:gd name="T7" fmla="*/ 56 h 301"/>
                  <a:gd name="T8" fmla="*/ 193 w 251"/>
                  <a:gd name="T9" fmla="*/ 7 h 301"/>
                  <a:gd name="T10" fmla="*/ 167 w 251"/>
                  <a:gd name="T11" fmla="*/ 5 h 301"/>
                  <a:gd name="T12" fmla="*/ 143 w 251"/>
                  <a:gd name="T13" fmla="*/ 23 h 301"/>
                  <a:gd name="T14" fmla="*/ 151 w 251"/>
                  <a:gd name="T15" fmla="*/ 3 h 301"/>
                  <a:gd name="T16" fmla="*/ 124 w 251"/>
                  <a:gd name="T17" fmla="*/ 0 h 301"/>
                  <a:gd name="T18" fmla="*/ 115 w 251"/>
                  <a:gd name="T19" fmla="*/ 25 h 301"/>
                  <a:gd name="T20" fmla="*/ 100 w 251"/>
                  <a:gd name="T21" fmla="*/ 5 h 301"/>
                  <a:gd name="T22" fmla="*/ 60 w 251"/>
                  <a:gd name="T23" fmla="*/ 4 h 301"/>
                  <a:gd name="T24" fmla="*/ 87 w 251"/>
                  <a:gd name="T25" fmla="*/ 56 h 301"/>
                  <a:gd name="T26" fmla="*/ 62 w 251"/>
                  <a:gd name="T27" fmla="*/ 55 h 301"/>
                  <a:gd name="T28" fmla="*/ 62 w 251"/>
                  <a:gd name="T29" fmla="*/ 74 h 301"/>
                  <a:gd name="T30" fmla="*/ 86 w 251"/>
                  <a:gd name="T31" fmla="*/ 74 h 301"/>
                  <a:gd name="T32" fmla="*/ 0 w 251"/>
                  <a:gd name="T33" fmla="*/ 220 h 301"/>
                  <a:gd name="T34" fmla="*/ 126 w 251"/>
                  <a:gd name="T35" fmla="*/ 301 h 301"/>
                  <a:gd name="T36" fmla="*/ 251 w 251"/>
                  <a:gd name="T37" fmla="*/ 220 h 301"/>
                  <a:gd name="T38" fmla="*/ 166 w 251"/>
                  <a:gd name="T39" fmla="*/ 74 h 301"/>
                  <a:gd name="T40" fmla="*/ 136 w 251"/>
                  <a:gd name="T41" fmla="*/ 245 h 301"/>
                  <a:gd name="T42" fmla="*/ 136 w 251"/>
                  <a:gd name="T43" fmla="*/ 263 h 301"/>
                  <a:gd name="T44" fmla="*/ 119 w 251"/>
                  <a:gd name="T45" fmla="*/ 263 h 301"/>
                  <a:gd name="T46" fmla="*/ 119 w 251"/>
                  <a:gd name="T47" fmla="*/ 246 h 301"/>
                  <a:gd name="T48" fmla="*/ 89 w 251"/>
                  <a:gd name="T49" fmla="*/ 239 h 301"/>
                  <a:gd name="T50" fmla="*/ 95 w 251"/>
                  <a:gd name="T51" fmla="*/ 218 h 301"/>
                  <a:gd name="T52" fmla="*/ 124 w 251"/>
                  <a:gd name="T53" fmla="*/ 226 h 301"/>
                  <a:gd name="T54" fmla="*/ 140 w 251"/>
                  <a:gd name="T55" fmla="*/ 215 h 301"/>
                  <a:gd name="T56" fmla="*/ 122 w 251"/>
                  <a:gd name="T57" fmla="*/ 200 h 301"/>
                  <a:gd name="T58" fmla="*/ 90 w 251"/>
                  <a:gd name="T59" fmla="*/ 168 h 301"/>
                  <a:gd name="T60" fmla="*/ 120 w 251"/>
                  <a:gd name="T61" fmla="*/ 137 h 301"/>
                  <a:gd name="T62" fmla="*/ 120 w 251"/>
                  <a:gd name="T63" fmla="*/ 120 h 301"/>
                  <a:gd name="T64" fmla="*/ 137 w 251"/>
                  <a:gd name="T65" fmla="*/ 120 h 301"/>
                  <a:gd name="T66" fmla="*/ 137 w 251"/>
                  <a:gd name="T67" fmla="*/ 136 h 301"/>
                  <a:gd name="T68" fmla="*/ 162 w 251"/>
                  <a:gd name="T69" fmla="*/ 141 h 301"/>
                  <a:gd name="T70" fmla="*/ 157 w 251"/>
                  <a:gd name="T71" fmla="*/ 161 h 301"/>
                  <a:gd name="T72" fmla="*/ 132 w 251"/>
                  <a:gd name="T73" fmla="*/ 155 h 301"/>
                  <a:gd name="T74" fmla="*/ 117 w 251"/>
                  <a:gd name="T75" fmla="*/ 165 h 301"/>
                  <a:gd name="T76" fmla="*/ 138 w 251"/>
                  <a:gd name="T77" fmla="*/ 180 h 301"/>
                  <a:gd name="T78" fmla="*/ 167 w 251"/>
                  <a:gd name="T79" fmla="*/ 213 h 301"/>
                  <a:gd name="T80" fmla="*/ 136 w 251"/>
                  <a:gd name="T81" fmla="*/ 245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1" h="301">
                    <a:moveTo>
                      <a:pt x="166" y="74"/>
                    </a:moveTo>
                    <a:cubicBezTo>
                      <a:pt x="195" y="74"/>
                      <a:pt x="195" y="74"/>
                      <a:pt x="195" y="74"/>
                    </a:cubicBezTo>
                    <a:cubicBezTo>
                      <a:pt x="195" y="56"/>
                      <a:pt x="195" y="56"/>
                      <a:pt x="195" y="56"/>
                    </a:cubicBezTo>
                    <a:cubicBezTo>
                      <a:pt x="170" y="56"/>
                      <a:pt x="170" y="56"/>
                      <a:pt x="170" y="56"/>
                    </a:cubicBezTo>
                    <a:cubicBezTo>
                      <a:pt x="193" y="7"/>
                      <a:pt x="193" y="7"/>
                      <a:pt x="193" y="7"/>
                    </a:cubicBezTo>
                    <a:cubicBezTo>
                      <a:pt x="167" y="5"/>
                      <a:pt x="167" y="5"/>
                      <a:pt x="167" y="5"/>
                    </a:cubicBezTo>
                    <a:cubicBezTo>
                      <a:pt x="143" y="23"/>
                      <a:pt x="143" y="23"/>
                      <a:pt x="143" y="23"/>
                    </a:cubicBezTo>
                    <a:cubicBezTo>
                      <a:pt x="151" y="3"/>
                      <a:pt x="151" y="3"/>
                      <a:pt x="151" y="3"/>
                    </a:cubicBezTo>
                    <a:cubicBezTo>
                      <a:pt x="124" y="0"/>
                      <a:pt x="124" y="0"/>
                      <a:pt x="124" y="0"/>
                    </a:cubicBezTo>
                    <a:cubicBezTo>
                      <a:pt x="115" y="25"/>
                      <a:pt x="115" y="25"/>
                      <a:pt x="115" y="25"/>
                    </a:cubicBezTo>
                    <a:cubicBezTo>
                      <a:pt x="100" y="5"/>
                      <a:pt x="100" y="5"/>
                      <a:pt x="100" y="5"/>
                    </a:cubicBezTo>
                    <a:cubicBezTo>
                      <a:pt x="60" y="4"/>
                      <a:pt x="60" y="4"/>
                      <a:pt x="60" y="4"/>
                    </a:cubicBezTo>
                    <a:cubicBezTo>
                      <a:pt x="87" y="56"/>
                      <a:pt x="87" y="56"/>
                      <a:pt x="87" y="56"/>
                    </a:cubicBezTo>
                    <a:cubicBezTo>
                      <a:pt x="62" y="55"/>
                      <a:pt x="62" y="55"/>
                      <a:pt x="62" y="55"/>
                    </a:cubicBezTo>
                    <a:cubicBezTo>
                      <a:pt x="62" y="74"/>
                      <a:pt x="62" y="74"/>
                      <a:pt x="62" y="74"/>
                    </a:cubicBezTo>
                    <a:cubicBezTo>
                      <a:pt x="86" y="74"/>
                      <a:pt x="86" y="74"/>
                      <a:pt x="86" y="74"/>
                    </a:cubicBezTo>
                    <a:cubicBezTo>
                      <a:pt x="36" y="103"/>
                      <a:pt x="0" y="179"/>
                      <a:pt x="0" y="220"/>
                    </a:cubicBezTo>
                    <a:cubicBezTo>
                      <a:pt x="0" y="272"/>
                      <a:pt x="56" y="301"/>
                      <a:pt x="126" y="301"/>
                    </a:cubicBezTo>
                    <a:cubicBezTo>
                      <a:pt x="195" y="301"/>
                      <a:pt x="251" y="272"/>
                      <a:pt x="251" y="220"/>
                    </a:cubicBezTo>
                    <a:cubicBezTo>
                      <a:pt x="251" y="179"/>
                      <a:pt x="215" y="103"/>
                      <a:pt x="166" y="74"/>
                    </a:cubicBezTo>
                    <a:close/>
                    <a:moveTo>
                      <a:pt x="136" y="245"/>
                    </a:moveTo>
                    <a:cubicBezTo>
                      <a:pt x="136" y="263"/>
                      <a:pt x="136" y="263"/>
                      <a:pt x="136" y="263"/>
                    </a:cubicBezTo>
                    <a:cubicBezTo>
                      <a:pt x="119" y="263"/>
                      <a:pt x="119" y="263"/>
                      <a:pt x="119" y="263"/>
                    </a:cubicBezTo>
                    <a:cubicBezTo>
                      <a:pt x="119" y="246"/>
                      <a:pt x="119" y="246"/>
                      <a:pt x="119" y="246"/>
                    </a:cubicBezTo>
                    <a:cubicBezTo>
                      <a:pt x="107" y="246"/>
                      <a:pt x="96" y="243"/>
                      <a:pt x="89" y="239"/>
                    </a:cubicBezTo>
                    <a:cubicBezTo>
                      <a:pt x="95" y="218"/>
                      <a:pt x="95" y="218"/>
                      <a:pt x="95" y="218"/>
                    </a:cubicBezTo>
                    <a:cubicBezTo>
                      <a:pt x="102" y="222"/>
                      <a:pt x="112" y="226"/>
                      <a:pt x="124" y="226"/>
                    </a:cubicBezTo>
                    <a:cubicBezTo>
                      <a:pt x="134" y="226"/>
                      <a:pt x="140" y="222"/>
                      <a:pt x="140" y="215"/>
                    </a:cubicBezTo>
                    <a:cubicBezTo>
                      <a:pt x="140" y="208"/>
                      <a:pt x="135" y="204"/>
                      <a:pt x="122" y="200"/>
                    </a:cubicBezTo>
                    <a:cubicBezTo>
                      <a:pt x="103" y="194"/>
                      <a:pt x="90" y="185"/>
                      <a:pt x="90" y="168"/>
                    </a:cubicBezTo>
                    <a:cubicBezTo>
                      <a:pt x="90" y="153"/>
                      <a:pt x="101" y="140"/>
                      <a:pt x="120" y="137"/>
                    </a:cubicBezTo>
                    <a:cubicBezTo>
                      <a:pt x="120" y="120"/>
                      <a:pt x="120" y="120"/>
                      <a:pt x="120" y="120"/>
                    </a:cubicBezTo>
                    <a:cubicBezTo>
                      <a:pt x="137" y="120"/>
                      <a:pt x="137" y="120"/>
                      <a:pt x="137" y="120"/>
                    </a:cubicBezTo>
                    <a:cubicBezTo>
                      <a:pt x="137" y="136"/>
                      <a:pt x="137" y="136"/>
                      <a:pt x="137" y="136"/>
                    </a:cubicBezTo>
                    <a:cubicBezTo>
                      <a:pt x="149" y="136"/>
                      <a:pt x="157" y="139"/>
                      <a:pt x="162" y="141"/>
                    </a:cubicBezTo>
                    <a:cubicBezTo>
                      <a:pt x="157" y="161"/>
                      <a:pt x="157" y="161"/>
                      <a:pt x="157" y="161"/>
                    </a:cubicBezTo>
                    <a:cubicBezTo>
                      <a:pt x="153" y="159"/>
                      <a:pt x="145" y="155"/>
                      <a:pt x="132" y="155"/>
                    </a:cubicBezTo>
                    <a:cubicBezTo>
                      <a:pt x="121" y="155"/>
                      <a:pt x="117" y="160"/>
                      <a:pt x="117" y="165"/>
                    </a:cubicBezTo>
                    <a:cubicBezTo>
                      <a:pt x="117" y="171"/>
                      <a:pt x="123" y="174"/>
                      <a:pt x="138" y="180"/>
                    </a:cubicBezTo>
                    <a:cubicBezTo>
                      <a:pt x="159" y="187"/>
                      <a:pt x="167" y="197"/>
                      <a:pt x="167" y="213"/>
                    </a:cubicBezTo>
                    <a:cubicBezTo>
                      <a:pt x="167" y="228"/>
                      <a:pt x="156" y="241"/>
                      <a:pt x="136" y="245"/>
                    </a:cubicBezTo>
                    <a:close/>
                  </a:path>
                </a:pathLst>
              </a:custGeom>
              <a:gradFill flip="none" rotWithShape="1">
                <a:gsLst>
                  <a:gs pos="0">
                    <a:schemeClr val="accent1">
                      <a:lumMod val="60000"/>
                      <a:lumOff val="40000"/>
                    </a:schemeClr>
                  </a:gs>
                  <a:gs pos="100000">
                    <a:schemeClr val="accent1"/>
                  </a:gs>
                </a:gsLst>
                <a:lin ang="0" scaled="1"/>
                <a:tileRect/>
              </a:gradFill>
              <a:ln>
                <a:noFill/>
              </a:ln>
            </p:spPr>
            <p:txBody>
              <a:bodyPr vert="horz" wrap="square" lIns="91440" tIns="45720" rIns="91440" bIns="45720" numCol="1" anchor="t" anchorCtr="0" compatLnSpc="1"/>
              <a:lstStyle/>
              <a:p>
                <a:endParaRPr lang="en-US" dirty="0">
                  <a:gradFill>
                    <a:gsLst>
                      <a:gs pos="0">
                        <a:schemeClr val="accent1">
                          <a:lumMod val="60000"/>
                          <a:lumOff val="40000"/>
                        </a:schemeClr>
                      </a:gs>
                      <a:gs pos="100000">
                        <a:schemeClr val="accent1"/>
                      </a:gs>
                    </a:gsLst>
                    <a:lin ang="10800000" scaled="1"/>
                  </a:gradFill>
                  <a:cs typeface="思源黑体 CN Normal" panose="020B0400000000000000" pitchFamily="34" charset="-122"/>
                </a:endParaRPr>
              </a:p>
            </p:txBody>
          </p:sp>
          <p:sp>
            <p:nvSpPr>
              <p:cNvPr id="41" name="小红书平北职场PPT3-33"/>
              <p:cNvSpPr txBox="1"/>
              <p:nvPr/>
            </p:nvSpPr>
            <p:spPr>
              <a:xfrm>
                <a:off x="3888808" y="4666261"/>
                <a:ext cx="2403804" cy="307777"/>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0"/>
                  </a:spcAft>
                  <a:buNone/>
                </a:pPr>
                <a:r>
                  <a:rPr lang="zh-CN" altLang="en-US" sz="2000" b="1" dirty="0">
                    <a:latin typeface="+mj-ea"/>
                    <a:ea typeface="+mj-ea"/>
                    <a:cs typeface="思源黑体 CN Normal" panose="020B0400000000000000" pitchFamily="34" charset="-122"/>
                  </a:rPr>
                  <a:t>系统解决 </a:t>
                </a:r>
                <a:r>
                  <a:rPr lang="en-US" altLang="zh-CN" sz="2000" b="1" dirty="0">
                    <a:latin typeface="+mj-ea"/>
                    <a:ea typeface="+mj-ea"/>
                    <a:cs typeface="思源黑体 CN Normal" panose="020B0400000000000000" pitchFamily="34" charset="-122"/>
                  </a:rPr>
                  <a:t>- 03</a:t>
                </a:r>
                <a:endParaRPr lang="en-US" sz="1600" dirty="0">
                  <a:latin typeface="+mj-ea"/>
                  <a:ea typeface="+mj-ea"/>
                  <a:cs typeface="思源黑体 CN Normal" panose="020B0400000000000000" pitchFamily="34" charset="-122"/>
                </a:endParaRPr>
              </a:p>
            </p:txBody>
          </p:sp>
        </p:grpSp>
        <p:sp>
          <p:nvSpPr>
            <p:cNvPr id="37" name="小红书平北职场PPT3-34"/>
            <p:cNvSpPr>
              <a:spLocks noChangeArrowheads="1"/>
            </p:cNvSpPr>
            <p:nvPr/>
          </p:nvSpPr>
          <p:spPr bwMode="auto">
            <a:xfrm>
              <a:off x="6309857" y="4377315"/>
              <a:ext cx="5456157" cy="877228"/>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30000"/>
                </a:lnSpc>
                <a:spcBef>
                  <a:spcPct val="0"/>
                </a:spcBef>
                <a:spcAft>
                  <a:spcPct val="0"/>
                </a:spcAft>
                <a:buClrTx/>
                <a:buSzTx/>
                <a:buFontTx/>
                <a:buNone/>
              </a:pPr>
              <a:r>
                <a:rPr kumimoji="0" lang="zh-CN" altLang="en-US" sz="1600" i="0" u="none" strike="noStrike" cap="none" normalizeH="0" baseline="0" dirty="0">
                  <a:ln>
                    <a:noFill/>
                  </a:ln>
                  <a:gradFill flip="none" rotWithShape="1">
                    <a:gsLst>
                      <a:gs pos="0">
                        <a:schemeClr val="accent1">
                          <a:lumMod val="60000"/>
                          <a:lumOff val="40000"/>
                        </a:schemeClr>
                      </a:gs>
                      <a:gs pos="100000">
                        <a:schemeClr val="accent1"/>
                      </a:gs>
                    </a:gsLst>
                    <a:lin ang="0" scaled="1"/>
                    <a:tileRect/>
                  </a:gradFill>
                  <a:effectLst/>
                  <a:latin typeface="+mj-ea"/>
                  <a:ea typeface="+mj-ea"/>
                  <a:cs typeface="思源黑体 CN Normal" panose="020B0400000000000000" pitchFamily="34" charset="-122"/>
                </a:rPr>
                <a:t>破解复杂难题，构建核心优势</a:t>
              </a:r>
              <a:br>
                <a:rPr kumimoji="0" lang="zh-CN" altLang="zh-CN" sz="1200" b="0" i="0" u="none" strike="noStrike" cap="none" normalizeH="0" baseline="0" dirty="0">
                  <a:ln>
                    <a:noFill/>
                  </a:ln>
                  <a:effectLst/>
                  <a:latin typeface="+mn-ea"/>
                  <a:cs typeface="思源黑体 CN Normal" panose="020B0400000000000000" pitchFamily="34" charset="-122"/>
                </a:rPr>
              </a:br>
              <a:r>
                <a:rPr kumimoji="0" lang="zh-CN" altLang="en-US" sz="1200" b="0" i="0" u="none" strike="noStrike" cap="none" normalizeH="0" baseline="0" dirty="0">
                  <a:ln>
                    <a:noFill/>
                  </a:ln>
                  <a:effectLst/>
                  <a:latin typeface="+mn-ea"/>
                  <a:cs typeface="思源黑体 CN Normal" panose="020B0400000000000000" pitchFamily="34" charset="-122"/>
                </a:rPr>
                <a:t>超越局部视角，建立系统思维，洞察问题本质与内在关联，整合跨部门资源，制定战略性解决方案，攻克关键业务难题，为组织奠定持续竞争优势</a:t>
              </a:r>
              <a:endParaRPr kumimoji="0" lang="zh-CN" altLang="en-US" sz="1200" b="0" i="0" u="none" strike="noStrike" cap="none" normalizeH="0" baseline="0" dirty="0">
                <a:ln>
                  <a:noFill/>
                </a:ln>
                <a:effectLst/>
                <a:latin typeface="+mn-ea"/>
                <a:cs typeface="思源黑体 CN Normal" panose="020B0400000000000000" pitchFamily="34" charset="-122"/>
              </a:endParaRPr>
            </a:p>
          </p:txBody>
        </p:sp>
      </p:grpSp>
      <p:sp>
        <p:nvSpPr>
          <p:cNvPr id="6" name="小红书平北职场PPT4"/>
          <p:cNvSpPr txBox="1"/>
          <p:nvPr/>
        </p:nvSpPr>
        <p:spPr>
          <a:xfrm>
            <a:off x="311982" y="871954"/>
            <a:ext cx="11556031" cy="712054"/>
          </a:xfrm>
          <a:prstGeom prst="rect">
            <a:avLst/>
          </a:prstGeom>
          <a:noFill/>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zh-CN" sz="1600" i="0" u="none" strike="noStrike" kern="1200" cap="none" spc="0" normalizeH="0" baseline="0" noProof="0" dirty="0">
                <a:ln>
                  <a:noFill/>
                </a:ln>
                <a:effectLst/>
                <a:uLnTx/>
                <a:uFillTx/>
                <a:latin typeface="+mj-ea"/>
                <a:ea typeface="+mj-ea"/>
                <a:cs typeface="思源黑体 CN Normal" panose="020B0400000000000000" pitchFamily="34" charset="-122"/>
              </a:rPr>
              <a:t>职业发展是价值创造能力的持续升华：从奠定基石的精准执行，到驱动效能的主动优化，再到突破困局的系统破局，最终实现引领未来的生态赋能</a:t>
            </a:r>
            <a:r>
              <a:rPr lang="zh-CN" altLang="en-US" sz="1600" noProof="0" dirty="0">
                <a:latin typeface="+mj-ea"/>
                <a:ea typeface="+mj-ea"/>
                <a:cs typeface="思源黑体 CN Normal" panose="020B0400000000000000" pitchFamily="34" charset="-122"/>
              </a:rPr>
              <a:t>。</a:t>
            </a:r>
            <a:r>
              <a:rPr kumimoji="0" lang="zh-CN" altLang="zh-CN" sz="1600" i="0" u="none" strike="noStrike" kern="1200" cap="none" spc="0" normalizeH="0" baseline="0" noProof="0" dirty="0">
                <a:ln>
                  <a:noFill/>
                </a:ln>
                <a:effectLst/>
                <a:uLnTx/>
                <a:uFillTx/>
                <a:latin typeface="+mj-ea"/>
                <a:ea typeface="+mj-ea"/>
                <a:cs typeface="思源黑体 CN Normal" panose="020B0400000000000000" pitchFamily="34" charset="-122"/>
              </a:rPr>
              <a:t>这一路径完整呈现了从业者到领导者的价值蜕变历程。</a:t>
            </a:r>
            <a:endParaRPr kumimoji="0" lang="zh-CN" altLang="zh-CN" sz="1600" i="0" u="none" strike="noStrike" kern="1200" cap="none" spc="0" normalizeH="0" baseline="0" noProof="0" dirty="0">
              <a:ln>
                <a:noFill/>
              </a:ln>
              <a:effectLst/>
              <a:uLnTx/>
              <a:uFillTx/>
              <a:latin typeface="+mj-ea"/>
              <a:ea typeface="+mj-ea"/>
              <a:cs typeface="思源黑体 CN Normal" panose="020B0400000000000000" pitchFamily="34" charset="-122"/>
            </a:endParaRPr>
          </a:p>
        </p:txBody>
      </p:sp>
      <p:sp>
        <p:nvSpPr>
          <p:cNvPr id="75" name="小红书平北职场PPT3-2"/>
          <p:cNvSpPr txBox="1"/>
          <p:nvPr>
            <p:custDataLst>
              <p:tags r:id="rId2"/>
            </p:custDataLst>
          </p:nvPr>
        </p:nvSpPr>
        <p:spPr>
          <a:xfrm>
            <a:off x="334963" y="184318"/>
            <a:ext cx="4308872"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职场核心竞争力的进阶蓝图</a:t>
            </a:r>
            <a:endParaRPr lang="zh-CN" altLang="en-US" sz="2800" dirty="0">
              <a:latin typeface="+mj-ea"/>
              <a:ea typeface="+mj-ea"/>
              <a:cs typeface="思源黑体 CN Normal" panose="020B0400000000000000" pitchFamily="34" charset="-122"/>
              <a:sym typeface="+mj-ea"/>
            </a:endParaRPr>
          </a:p>
        </p:txBody>
      </p:sp>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小红书平北职场PPT1"/>
          <p:cNvSpPr/>
          <p:nvPr/>
        </p:nvSpPr>
        <p:spPr>
          <a:xfrm rot="10800000" flipH="1">
            <a:off x="3200776" y="5146057"/>
            <a:ext cx="572947" cy="1031304"/>
          </a:xfrm>
          <a:custGeom>
            <a:avLst/>
            <a:gdLst>
              <a:gd name="connsiteX0" fmla="*/ 0 w 520861"/>
              <a:gd name="connsiteY0" fmla="*/ 937549 h 937549"/>
              <a:gd name="connsiteX1" fmla="*/ 0 w 520861"/>
              <a:gd name="connsiteY1" fmla="*/ 0 h 937549"/>
              <a:gd name="connsiteX2" fmla="*/ 520861 w 520861"/>
              <a:gd name="connsiteY2" fmla="*/ 0 h 937549"/>
            </a:gdLst>
            <a:ahLst/>
            <a:cxnLst>
              <a:cxn ang="0">
                <a:pos x="connsiteX0" y="connsiteY0"/>
              </a:cxn>
              <a:cxn ang="0">
                <a:pos x="connsiteX1" y="connsiteY1"/>
              </a:cxn>
              <a:cxn ang="0">
                <a:pos x="connsiteX2" y="connsiteY2"/>
              </a:cxn>
            </a:cxnLst>
            <a:rect l="l" t="t" r="r" b="b"/>
            <a:pathLst>
              <a:path w="520861" h="937549">
                <a:moveTo>
                  <a:pt x="0" y="937549"/>
                </a:moveTo>
                <a:lnTo>
                  <a:pt x="0" y="0"/>
                </a:lnTo>
                <a:lnTo>
                  <a:pt x="520861" y="0"/>
                </a:lnTo>
              </a:path>
            </a:pathLst>
          </a:custGeom>
          <a:noFill/>
          <a:ln w="1397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76" name="小红书平北职场PPT2"/>
          <p:cNvSpPr/>
          <p:nvPr/>
        </p:nvSpPr>
        <p:spPr>
          <a:xfrm rot="10800000" flipH="1">
            <a:off x="7440582" y="5146057"/>
            <a:ext cx="572947" cy="1031304"/>
          </a:xfrm>
          <a:custGeom>
            <a:avLst/>
            <a:gdLst>
              <a:gd name="connsiteX0" fmla="*/ 0 w 520861"/>
              <a:gd name="connsiteY0" fmla="*/ 937549 h 937549"/>
              <a:gd name="connsiteX1" fmla="*/ 0 w 520861"/>
              <a:gd name="connsiteY1" fmla="*/ 0 h 937549"/>
              <a:gd name="connsiteX2" fmla="*/ 520861 w 520861"/>
              <a:gd name="connsiteY2" fmla="*/ 0 h 937549"/>
            </a:gdLst>
            <a:ahLst/>
            <a:cxnLst>
              <a:cxn ang="0">
                <a:pos x="connsiteX0" y="connsiteY0"/>
              </a:cxn>
              <a:cxn ang="0">
                <a:pos x="connsiteX1" y="connsiteY1"/>
              </a:cxn>
              <a:cxn ang="0">
                <a:pos x="connsiteX2" y="connsiteY2"/>
              </a:cxn>
            </a:cxnLst>
            <a:rect l="l" t="t" r="r" b="b"/>
            <a:pathLst>
              <a:path w="520861" h="937549">
                <a:moveTo>
                  <a:pt x="0" y="937549"/>
                </a:moveTo>
                <a:lnTo>
                  <a:pt x="0" y="0"/>
                </a:lnTo>
                <a:lnTo>
                  <a:pt x="520861" y="0"/>
                </a:lnTo>
              </a:path>
            </a:pathLst>
          </a:custGeom>
          <a:noFill/>
          <a:ln w="1397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117" name="小红书平北职场PPT3-1"/>
          <p:cNvSpPr/>
          <p:nvPr/>
        </p:nvSpPr>
        <p:spPr bwMode="auto">
          <a:xfrm>
            <a:off x="4277353" y="2556656"/>
            <a:ext cx="1038001" cy="2425141"/>
          </a:xfrm>
          <a:custGeom>
            <a:avLst/>
            <a:gdLst>
              <a:gd name="T0" fmla="*/ 422 w 636"/>
              <a:gd name="T1" fmla="*/ 0 h 1678"/>
              <a:gd name="T2" fmla="*/ 636 w 636"/>
              <a:gd name="T3" fmla="*/ 802 h 1678"/>
              <a:gd name="T4" fmla="*/ 249 w 636"/>
              <a:gd name="T5" fmla="*/ 1678 h 1678"/>
              <a:gd name="T6" fmla="*/ 0 w 636"/>
              <a:gd name="T7" fmla="*/ 957 h 1678"/>
              <a:gd name="T8" fmla="*/ 422 w 636"/>
              <a:gd name="T9" fmla="*/ 0 h 1678"/>
              <a:gd name="T10" fmla="*/ 422 w 636"/>
              <a:gd name="T11" fmla="*/ 0 h 1678"/>
              <a:gd name="T12" fmla="*/ 422 w 636"/>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6" h="1678">
                <a:moveTo>
                  <a:pt x="422" y="0"/>
                </a:moveTo>
                <a:lnTo>
                  <a:pt x="636" y="802"/>
                </a:lnTo>
                <a:lnTo>
                  <a:pt x="249" y="1678"/>
                </a:lnTo>
                <a:lnTo>
                  <a:pt x="0" y="957"/>
                </a:lnTo>
                <a:lnTo>
                  <a:pt x="422" y="0"/>
                </a:lnTo>
                <a:lnTo>
                  <a:pt x="422" y="0"/>
                </a:lnTo>
                <a:lnTo>
                  <a:pt x="422" y="0"/>
                </a:lnTo>
                <a:close/>
              </a:path>
            </a:pathLst>
          </a:custGeom>
          <a:solidFill>
            <a:schemeClr val="accent2"/>
          </a:soli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18" name="小红书平北职场PPT3-2"/>
          <p:cNvSpPr/>
          <p:nvPr/>
        </p:nvSpPr>
        <p:spPr bwMode="auto">
          <a:xfrm>
            <a:off x="2160551" y="2556656"/>
            <a:ext cx="1041264" cy="2425141"/>
          </a:xfrm>
          <a:custGeom>
            <a:avLst/>
            <a:gdLst>
              <a:gd name="T0" fmla="*/ 423 w 638"/>
              <a:gd name="T1" fmla="*/ 0 h 1678"/>
              <a:gd name="T2" fmla="*/ 638 w 638"/>
              <a:gd name="T3" fmla="*/ 802 h 1678"/>
              <a:gd name="T4" fmla="*/ 250 w 638"/>
              <a:gd name="T5" fmla="*/ 1678 h 1678"/>
              <a:gd name="T6" fmla="*/ 0 w 638"/>
              <a:gd name="T7" fmla="*/ 957 h 1678"/>
              <a:gd name="T8" fmla="*/ 423 w 638"/>
              <a:gd name="T9" fmla="*/ 0 h 1678"/>
              <a:gd name="T10" fmla="*/ 423 w 638"/>
              <a:gd name="T11" fmla="*/ 0 h 1678"/>
              <a:gd name="T12" fmla="*/ 423 w 638"/>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8" h="1678">
                <a:moveTo>
                  <a:pt x="423" y="0"/>
                </a:moveTo>
                <a:lnTo>
                  <a:pt x="638" y="802"/>
                </a:lnTo>
                <a:lnTo>
                  <a:pt x="250" y="1678"/>
                </a:lnTo>
                <a:lnTo>
                  <a:pt x="0" y="957"/>
                </a:lnTo>
                <a:lnTo>
                  <a:pt x="423" y="0"/>
                </a:lnTo>
                <a:lnTo>
                  <a:pt x="423" y="0"/>
                </a:lnTo>
                <a:lnTo>
                  <a:pt x="423" y="0"/>
                </a:lnTo>
                <a:close/>
              </a:path>
            </a:pathLst>
          </a:custGeom>
          <a:solidFill>
            <a:schemeClr val="accent1"/>
          </a:soli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19" name="小红书平北职场PPT3-3"/>
          <p:cNvSpPr/>
          <p:nvPr/>
        </p:nvSpPr>
        <p:spPr bwMode="auto">
          <a:xfrm>
            <a:off x="6390892" y="2556656"/>
            <a:ext cx="1039633" cy="2425141"/>
          </a:xfrm>
          <a:custGeom>
            <a:avLst/>
            <a:gdLst>
              <a:gd name="T0" fmla="*/ 424 w 637"/>
              <a:gd name="T1" fmla="*/ 0 h 1678"/>
              <a:gd name="T2" fmla="*/ 637 w 637"/>
              <a:gd name="T3" fmla="*/ 802 h 1678"/>
              <a:gd name="T4" fmla="*/ 251 w 637"/>
              <a:gd name="T5" fmla="*/ 1678 h 1678"/>
              <a:gd name="T6" fmla="*/ 0 w 637"/>
              <a:gd name="T7" fmla="*/ 957 h 1678"/>
              <a:gd name="T8" fmla="*/ 424 w 637"/>
              <a:gd name="T9" fmla="*/ 0 h 1678"/>
              <a:gd name="T10" fmla="*/ 424 w 637"/>
              <a:gd name="T11" fmla="*/ 0 h 1678"/>
              <a:gd name="T12" fmla="*/ 424 w 637"/>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7" h="1678">
                <a:moveTo>
                  <a:pt x="424" y="0"/>
                </a:moveTo>
                <a:lnTo>
                  <a:pt x="637" y="802"/>
                </a:lnTo>
                <a:lnTo>
                  <a:pt x="251" y="1678"/>
                </a:lnTo>
                <a:lnTo>
                  <a:pt x="0" y="957"/>
                </a:lnTo>
                <a:lnTo>
                  <a:pt x="424" y="0"/>
                </a:lnTo>
                <a:lnTo>
                  <a:pt x="424" y="0"/>
                </a:lnTo>
                <a:lnTo>
                  <a:pt x="424" y="0"/>
                </a:lnTo>
                <a:close/>
              </a:path>
            </a:pathLst>
          </a:custGeom>
          <a:solidFill>
            <a:schemeClr val="accent3"/>
          </a:soli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0" name="小红书平北职场PPT3-4"/>
          <p:cNvSpPr/>
          <p:nvPr/>
        </p:nvSpPr>
        <p:spPr bwMode="auto">
          <a:xfrm>
            <a:off x="8506062" y="2556656"/>
            <a:ext cx="1041264" cy="2425141"/>
          </a:xfrm>
          <a:custGeom>
            <a:avLst/>
            <a:gdLst>
              <a:gd name="T0" fmla="*/ 424 w 638"/>
              <a:gd name="T1" fmla="*/ 0 h 1678"/>
              <a:gd name="T2" fmla="*/ 638 w 638"/>
              <a:gd name="T3" fmla="*/ 802 h 1678"/>
              <a:gd name="T4" fmla="*/ 251 w 638"/>
              <a:gd name="T5" fmla="*/ 1678 h 1678"/>
              <a:gd name="T6" fmla="*/ 0 w 638"/>
              <a:gd name="T7" fmla="*/ 957 h 1678"/>
              <a:gd name="T8" fmla="*/ 424 w 638"/>
              <a:gd name="T9" fmla="*/ 0 h 1678"/>
              <a:gd name="T10" fmla="*/ 424 w 638"/>
              <a:gd name="T11" fmla="*/ 0 h 1678"/>
              <a:gd name="T12" fmla="*/ 424 w 638"/>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8" h="1678">
                <a:moveTo>
                  <a:pt x="424" y="0"/>
                </a:moveTo>
                <a:lnTo>
                  <a:pt x="638" y="802"/>
                </a:lnTo>
                <a:lnTo>
                  <a:pt x="251" y="1678"/>
                </a:lnTo>
                <a:lnTo>
                  <a:pt x="0" y="957"/>
                </a:lnTo>
                <a:lnTo>
                  <a:pt x="424" y="0"/>
                </a:lnTo>
                <a:lnTo>
                  <a:pt x="424" y="0"/>
                </a:lnTo>
                <a:lnTo>
                  <a:pt x="424" y="0"/>
                </a:lnTo>
                <a:close/>
              </a:path>
            </a:pathLst>
          </a:custGeom>
          <a:solidFill>
            <a:schemeClr val="accent5"/>
          </a:soli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1" name="小红书平北职场PPT3-5"/>
          <p:cNvSpPr/>
          <p:nvPr/>
        </p:nvSpPr>
        <p:spPr bwMode="auto">
          <a:xfrm>
            <a:off x="4277353" y="2556656"/>
            <a:ext cx="1038001" cy="2425141"/>
          </a:xfrm>
          <a:custGeom>
            <a:avLst/>
            <a:gdLst>
              <a:gd name="T0" fmla="*/ 422 w 636"/>
              <a:gd name="T1" fmla="*/ 0 h 1678"/>
              <a:gd name="T2" fmla="*/ 636 w 636"/>
              <a:gd name="T3" fmla="*/ 802 h 1678"/>
              <a:gd name="T4" fmla="*/ 249 w 636"/>
              <a:gd name="T5" fmla="*/ 1678 h 1678"/>
              <a:gd name="T6" fmla="*/ 0 w 636"/>
              <a:gd name="T7" fmla="*/ 957 h 1678"/>
              <a:gd name="T8" fmla="*/ 422 w 636"/>
              <a:gd name="T9" fmla="*/ 0 h 1678"/>
              <a:gd name="T10" fmla="*/ 422 w 636"/>
              <a:gd name="T11" fmla="*/ 0 h 1678"/>
              <a:gd name="T12" fmla="*/ 422 w 636"/>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6" h="1678">
                <a:moveTo>
                  <a:pt x="422" y="0"/>
                </a:moveTo>
                <a:lnTo>
                  <a:pt x="636" y="802"/>
                </a:lnTo>
                <a:lnTo>
                  <a:pt x="249" y="1678"/>
                </a:lnTo>
                <a:lnTo>
                  <a:pt x="0" y="957"/>
                </a:lnTo>
                <a:lnTo>
                  <a:pt x="422" y="0"/>
                </a:lnTo>
                <a:lnTo>
                  <a:pt x="422" y="0"/>
                </a:lnTo>
                <a:lnTo>
                  <a:pt x="422" y="0"/>
                </a:lnTo>
                <a:close/>
              </a:path>
            </a:pathLst>
          </a:custGeom>
          <a:gradFill flip="none" rotWithShape="1">
            <a:gsLst>
              <a:gs pos="0">
                <a:schemeClr val="tx1">
                  <a:alpha val="60000"/>
                </a:schemeClr>
              </a:gs>
              <a:gs pos="64000">
                <a:schemeClr val="tx1">
                  <a:alpha val="10000"/>
                </a:schemeClr>
              </a:gs>
              <a:gs pos="100000">
                <a:schemeClr val="bg1">
                  <a:alpha val="10000"/>
                </a:schemeClr>
              </a:gs>
            </a:gsLst>
            <a:lin ang="2700000" scaled="1"/>
            <a:tileRect/>
          </a:gra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2" name="小红书平北职场PPT3-6"/>
          <p:cNvSpPr/>
          <p:nvPr/>
        </p:nvSpPr>
        <p:spPr bwMode="auto">
          <a:xfrm>
            <a:off x="2160551" y="2556656"/>
            <a:ext cx="1041264" cy="2425141"/>
          </a:xfrm>
          <a:custGeom>
            <a:avLst/>
            <a:gdLst>
              <a:gd name="T0" fmla="*/ 423 w 638"/>
              <a:gd name="T1" fmla="*/ 0 h 1678"/>
              <a:gd name="T2" fmla="*/ 638 w 638"/>
              <a:gd name="T3" fmla="*/ 802 h 1678"/>
              <a:gd name="T4" fmla="*/ 250 w 638"/>
              <a:gd name="T5" fmla="*/ 1678 h 1678"/>
              <a:gd name="T6" fmla="*/ 0 w 638"/>
              <a:gd name="T7" fmla="*/ 957 h 1678"/>
              <a:gd name="T8" fmla="*/ 423 w 638"/>
              <a:gd name="T9" fmla="*/ 0 h 1678"/>
              <a:gd name="T10" fmla="*/ 423 w 638"/>
              <a:gd name="T11" fmla="*/ 0 h 1678"/>
              <a:gd name="T12" fmla="*/ 423 w 638"/>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8" h="1678">
                <a:moveTo>
                  <a:pt x="423" y="0"/>
                </a:moveTo>
                <a:lnTo>
                  <a:pt x="638" y="802"/>
                </a:lnTo>
                <a:lnTo>
                  <a:pt x="250" y="1678"/>
                </a:lnTo>
                <a:lnTo>
                  <a:pt x="0" y="957"/>
                </a:lnTo>
                <a:lnTo>
                  <a:pt x="423" y="0"/>
                </a:lnTo>
                <a:lnTo>
                  <a:pt x="423" y="0"/>
                </a:lnTo>
                <a:lnTo>
                  <a:pt x="423" y="0"/>
                </a:lnTo>
                <a:close/>
              </a:path>
            </a:pathLst>
          </a:custGeom>
          <a:gradFill flip="none" rotWithShape="1">
            <a:gsLst>
              <a:gs pos="0">
                <a:schemeClr val="tx1">
                  <a:alpha val="60000"/>
                </a:schemeClr>
              </a:gs>
              <a:gs pos="64000">
                <a:schemeClr val="tx1">
                  <a:alpha val="10000"/>
                </a:schemeClr>
              </a:gs>
              <a:gs pos="100000">
                <a:schemeClr val="bg1">
                  <a:alpha val="10000"/>
                </a:schemeClr>
              </a:gs>
            </a:gsLst>
            <a:lin ang="2700000" scaled="1"/>
            <a:tileRect/>
          </a:gra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3" name="小红书平北职场PPT3-7"/>
          <p:cNvSpPr/>
          <p:nvPr/>
        </p:nvSpPr>
        <p:spPr bwMode="auto">
          <a:xfrm>
            <a:off x="6390892" y="2556656"/>
            <a:ext cx="1039633" cy="2425141"/>
          </a:xfrm>
          <a:custGeom>
            <a:avLst/>
            <a:gdLst>
              <a:gd name="T0" fmla="*/ 424 w 637"/>
              <a:gd name="T1" fmla="*/ 0 h 1678"/>
              <a:gd name="T2" fmla="*/ 637 w 637"/>
              <a:gd name="T3" fmla="*/ 802 h 1678"/>
              <a:gd name="T4" fmla="*/ 251 w 637"/>
              <a:gd name="T5" fmla="*/ 1678 h 1678"/>
              <a:gd name="T6" fmla="*/ 0 w 637"/>
              <a:gd name="T7" fmla="*/ 957 h 1678"/>
              <a:gd name="T8" fmla="*/ 424 w 637"/>
              <a:gd name="T9" fmla="*/ 0 h 1678"/>
              <a:gd name="T10" fmla="*/ 424 w 637"/>
              <a:gd name="T11" fmla="*/ 0 h 1678"/>
              <a:gd name="T12" fmla="*/ 424 w 637"/>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7" h="1678">
                <a:moveTo>
                  <a:pt x="424" y="0"/>
                </a:moveTo>
                <a:lnTo>
                  <a:pt x="637" y="802"/>
                </a:lnTo>
                <a:lnTo>
                  <a:pt x="251" y="1678"/>
                </a:lnTo>
                <a:lnTo>
                  <a:pt x="0" y="957"/>
                </a:lnTo>
                <a:lnTo>
                  <a:pt x="424" y="0"/>
                </a:lnTo>
                <a:lnTo>
                  <a:pt x="424" y="0"/>
                </a:lnTo>
                <a:lnTo>
                  <a:pt x="424" y="0"/>
                </a:lnTo>
                <a:close/>
              </a:path>
            </a:pathLst>
          </a:custGeom>
          <a:gradFill flip="none" rotWithShape="1">
            <a:gsLst>
              <a:gs pos="0">
                <a:schemeClr val="tx1">
                  <a:alpha val="60000"/>
                </a:schemeClr>
              </a:gs>
              <a:gs pos="64000">
                <a:schemeClr val="tx1">
                  <a:alpha val="10000"/>
                </a:schemeClr>
              </a:gs>
              <a:gs pos="100000">
                <a:schemeClr val="bg1">
                  <a:alpha val="10000"/>
                </a:schemeClr>
              </a:gs>
            </a:gsLst>
            <a:lin ang="2700000" scaled="1"/>
            <a:tileRect/>
          </a:gra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4" name="小红书平北职场PPT3-8"/>
          <p:cNvSpPr/>
          <p:nvPr/>
        </p:nvSpPr>
        <p:spPr bwMode="auto">
          <a:xfrm>
            <a:off x="8506062" y="2556656"/>
            <a:ext cx="1041264" cy="2425141"/>
          </a:xfrm>
          <a:custGeom>
            <a:avLst/>
            <a:gdLst>
              <a:gd name="T0" fmla="*/ 424 w 638"/>
              <a:gd name="T1" fmla="*/ 0 h 1678"/>
              <a:gd name="T2" fmla="*/ 638 w 638"/>
              <a:gd name="T3" fmla="*/ 802 h 1678"/>
              <a:gd name="T4" fmla="*/ 251 w 638"/>
              <a:gd name="T5" fmla="*/ 1678 h 1678"/>
              <a:gd name="T6" fmla="*/ 0 w 638"/>
              <a:gd name="T7" fmla="*/ 957 h 1678"/>
              <a:gd name="T8" fmla="*/ 424 w 638"/>
              <a:gd name="T9" fmla="*/ 0 h 1678"/>
              <a:gd name="T10" fmla="*/ 424 w 638"/>
              <a:gd name="T11" fmla="*/ 0 h 1678"/>
              <a:gd name="T12" fmla="*/ 424 w 638"/>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8" h="1678">
                <a:moveTo>
                  <a:pt x="424" y="0"/>
                </a:moveTo>
                <a:lnTo>
                  <a:pt x="638" y="802"/>
                </a:lnTo>
                <a:lnTo>
                  <a:pt x="251" y="1678"/>
                </a:lnTo>
                <a:lnTo>
                  <a:pt x="0" y="957"/>
                </a:lnTo>
                <a:lnTo>
                  <a:pt x="424" y="0"/>
                </a:lnTo>
                <a:lnTo>
                  <a:pt x="424" y="0"/>
                </a:lnTo>
                <a:lnTo>
                  <a:pt x="424" y="0"/>
                </a:lnTo>
                <a:close/>
              </a:path>
            </a:pathLst>
          </a:custGeom>
          <a:gradFill flip="none" rotWithShape="1">
            <a:gsLst>
              <a:gs pos="0">
                <a:schemeClr val="tx1">
                  <a:alpha val="60000"/>
                </a:schemeClr>
              </a:gs>
              <a:gs pos="64000">
                <a:schemeClr val="tx1">
                  <a:alpha val="10000"/>
                </a:schemeClr>
              </a:gs>
              <a:gs pos="100000">
                <a:schemeClr val="bg1">
                  <a:alpha val="10000"/>
                </a:schemeClr>
              </a:gs>
            </a:gsLst>
            <a:lin ang="2700000" scaled="1"/>
            <a:tileRect/>
          </a:gra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31" name="任意多边形: 形状 130"/>
          <p:cNvSpPr/>
          <p:nvPr/>
        </p:nvSpPr>
        <p:spPr bwMode="auto">
          <a:xfrm>
            <a:off x="0" y="2556655"/>
            <a:ext cx="2850920" cy="4301345"/>
          </a:xfrm>
          <a:custGeom>
            <a:avLst/>
            <a:gdLst>
              <a:gd name="connsiteX0" fmla="*/ 1610542 w 2850920"/>
              <a:gd name="connsiteY0" fmla="*/ 0 h 4301345"/>
              <a:gd name="connsiteX1" fmla="*/ 1688882 w 2850920"/>
              <a:gd name="connsiteY1" fmla="*/ 0 h 4301345"/>
              <a:gd name="connsiteX2" fmla="*/ 1796599 w 2850920"/>
              <a:gd name="connsiteY2" fmla="*/ 0 h 4301345"/>
              <a:gd name="connsiteX3" fmla="*/ 2594684 w 2850920"/>
              <a:gd name="connsiteY3" fmla="*/ 0 h 4301345"/>
              <a:gd name="connsiteX4" fmla="*/ 2627326 w 2850920"/>
              <a:gd name="connsiteY4" fmla="*/ 0 h 4301345"/>
              <a:gd name="connsiteX5" fmla="*/ 2850920 w 2850920"/>
              <a:gd name="connsiteY5" fmla="*/ 0 h 4301345"/>
              <a:gd name="connsiteX6" fmla="*/ 970434 w 2850920"/>
              <a:gd name="connsiteY6" fmla="*/ 4301345 h 4301345"/>
              <a:gd name="connsiteX7" fmla="*/ 0 w 2850920"/>
              <a:gd name="connsiteY7" fmla="*/ 4301345 h 4301345"/>
              <a:gd name="connsiteX8" fmla="*/ 0 w 2850920"/>
              <a:gd name="connsiteY8" fmla="*/ 3566981 h 430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0920" h="4301345">
                <a:moveTo>
                  <a:pt x="1610542" y="0"/>
                </a:moveTo>
                <a:lnTo>
                  <a:pt x="1688882" y="0"/>
                </a:lnTo>
                <a:lnTo>
                  <a:pt x="1796599" y="0"/>
                </a:lnTo>
                <a:lnTo>
                  <a:pt x="2594684" y="0"/>
                </a:lnTo>
                <a:lnTo>
                  <a:pt x="2627326" y="0"/>
                </a:lnTo>
                <a:lnTo>
                  <a:pt x="2850920" y="0"/>
                </a:lnTo>
                <a:lnTo>
                  <a:pt x="970434" y="4301345"/>
                </a:lnTo>
                <a:lnTo>
                  <a:pt x="0" y="4301345"/>
                </a:lnTo>
                <a:lnTo>
                  <a:pt x="0" y="3566981"/>
                </a:lnTo>
                <a:close/>
              </a:path>
            </a:pathLst>
          </a:custGeom>
          <a:gradFill flip="none" rotWithShape="1">
            <a:gsLst>
              <a:gs pos="0">
                <a:schemeClr val="accent1">
                  <a:lumMod val="60000"/>
                  <a:lumOff val="40000"/>
                </a:schemeClr>
              </a:gs>
              <a:gs pos="100000">
                <a:schemeClr val="accent1"/>
              </a:gs>
            </a:gsLst>
            <a:lin ang="54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a:solidFill>
                <a:schemeClr val="bg1"/>
              </a:solidFill>
              <a:latin typeface="+mj-ea"/>
              <a:ea typeface="+mj-ea"/>
              <a:cs typeface="思源黑体 CN Normal" panose="020B0400000000000000" pitchFamily="34" charset="-122"/>
            </a:endParaRPr>
          </a:p>
        </p:txBody>
      </p:sp>
      <p:sp>
        <p:nvSpPr>
          <p:cNvPr id="126" name="小红书平北职场PPT3-10"/>
          <p:cNvSpPr/>
          <p:nvPr/>
        </p:nvSpPr>
        <p:spPr bwMode="auto">
          <a:xfrm>
            <a:off x="8915714" y="1335414"/>
            <a:ext cx="3017709" cy="3646382"/>
          </a:xfrm>
          <a:custGeom>
            <a:avLst/>
            <a:gdLst>
              <a:gd name="T0" fmla="*/ 1849 w 1849"/>
              <a:gd name="T1" fmla="*/ 907 h 2523"/>
              <a:gd name="T2" fmla="*/ 1440 w 1849"/>
              <a:gd name="T3" fmla="*/ 0 h 2523"/>
              <a:gd name="T4" fmla="*/ 538 w 1849"/>
              <a:gd name="T5" fmla="*/ 421 h 2523"/>
              <a:gd name="T6" fmla="*/ 856 w 1849"/>
              <a:gd name="T7" fmla="*/ 539 h 2523"/>
              <a:gd name="T8" fmla="*/ 0 w 1849"/>
              <a:gd name="T9" fmla="*/ 2523 h 2523"/>
              <a:gd name="T10" fmla="*/ 78 w 1849"/>
              <a:gd name="T11" fmla="*/ 2523 h 2523"/>
              <a:gd name="T12" fmla="*/ 114 w 1849"/>
              <a:gd name="T13" fmla="*/ 2523 h 2523"/>
              <a:gd name="T14" fmla="*/ 646 w 1849"/>
              <a:gd name="T15" fmla="*/ 2523 h 2523"/>
              <a:gd name="T16" fmla="*/ 653 w 1849"/>
              <a:gd name="T17" fmla="*/ 2523 h 2523"/>
              <a:gd name="T18" fmla="*/ 804 w 1849"/>
              <a:gd name="T19" fmla="*/ 2523 h 2523"/>
              <a:gd name="T20" fmla="*/ 1529 w 1849"/>
              <a:gd name="T21" fmla="*/ 788 h 2523"/>
              <a:gd name="T22" fmla="*/ 1849 w 1849"/>
              <a:gd name="T23" fmla="*/ 907 h 2523"/>
              <a:gd name="T24" fmla="*/ 1849 w 1849"/>
              <a:gd name="T25" fmla="*/ 907 h 2523"/>
              <a:gd name="T26" fmla="*/ 1849 w 1849"/>
              <a:gd name="T27" fmla="*/ 907 h 2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49" h="2523">
                <a:moveTo>
                  <a:pt x="1849" y="907"/>
                </a:moveTo>
                <a:lnTo>
                  <a:pt x="1440" y="0"/>
                </a:lnTo>
                <a:lnTo>
                  <a:pt x="538" y="421"/>
                </a:lnTo>
                <a:lnTo>
                  <a:pt x="856" y="539"/>
                </a:lnTo>
                <a:lnTo>
                  <a:pt x="0" y="2523"/>
                </a:lnTo>
                <a:lnTo>
                  <a:pt x="78" y="2523"/>
                </a:lnTo>
                <a:lnTo>
                  <a:pt x="114" y="2523"/>
                </a:lnTo>
                <a:lnTo>
                  <a:pt x="646" y="2523"/>
                </a:lnTo>
                <a:lnTo>
                  <a:pt x="653" y="2523"/>
                </a:lnTo>
                <a:lnTo>
                  <a:pt x="804" y="2523"/>
                </a:lnTo>
                <a:lnTo>
                  <a:pt x="1529" y="788"/>
                </a:lnTo>
                <a:lnTo>
                  <a:pt x="1849" y="907"/>
                </a:lnTo>
                <a:lnTo>
                  <a:pt x="1849" y="907"/>
                </a:lnTo>
                <a:lnTo>
                  <a:pt x="1849" y="907"/>
                </a:lnTo>
                <a:close/>
              </a:path>
            </a:pathLst>
          </a:custGeom>
          <a:gradFill flip="none" rotWithShape="1">
            <a:gsLst>
              <a:gs pos="0">
                <a:schemeClr val="accent2">
                  <a:lumMod val="60000"/>
                  <a:lumOff val="40000"/>
                </a:schemeClr>
              </a:gs>
              <a:gs pos="100000">
                <a:schemeClr val="accent2"/>
              </a:gs>
            </a:gsLst>
            <a:lin ang="5400000" scaled="1"/>
            <a:tileRect/>
          </a:gradFill>
          <a:ln w="9525">
            <a:noFill/>
            <a:round/>
          </a:ln>
        </p:spPr>
        <p:txBody>
          <a:bodyPr vert="horz" wrap="square" lIns="121920" tIns="60960" rIns="121920" bIns="60960" numCol="1" rtlCol="0" anchor="ctr" anchorCtr="0" compatLnSpc="1">
            <a:noAutofit/>
          </a:bodyPr>
          <a:lstStyle/>
          <a:p>
            <a:pPr algn="ctr"/>
            <a:endParaRPr lang="en-US" sz="3200" b="1" dirty="0">
              <a:solidFill>
                <a:schemeClr val="bg1"/>
              </a:solidFill>
              <a:latin typeface="+mj-ea"/>
              <a:ea typeface="+mj-ea"/>
              <a:cs typeface="思源黑体 CN Normal" panose="020B0400000000000000" pitchFamily="34" charset="-122"/>
            </a:endParaRPr>
          </a:p>
        </p:txBody>
      </p:sp>
      <p:sp>
        <p:nvSpPr>
          <p:cNvPr id="127" name="小红书平北职场PPT3-11"/>
          <p:cNvSpPr/>
          <p:nvPr/>
        </p:nvSpPr>
        <p:spPr bwMode="auto">
          <a:xfrm>
            <a:off x="2568570" y="2556656"/>
            <a:ext cx="2397521" cy="2425141"/>
          </a:xfrm>
          <a:custGeom>
            <a:avLst/>
            <a:gdLst>
              <a:gd name="T0" fmla="*/ 0 w 1469"/>
              <a:gd name="T1" fmla="*/ 1678 h 1678"/>
              <a:gd name="T2" fmla="*/ 709 w 1469"/>
              <a:gd name="T3" fmla="*/ 0 h 1678"/>
              <a:gd name="T4" fmla="*/ 1469 w 1469"/>
              <a:gd name="T5" fmla="*/ 0 h 1678"/>
              <a:gd name="T6" fmla="*/ 759 w 1469"/>
              <a:gd name="T7" fmla="*/ 1678 h 1678"/>
              <a:gd name="T8" fmla="*/ 0 w 1469"/>
              <a:gd name="T9" fmla="*/ 1678 h 1678"/>
              <a:gd name="T10" fmla="*/ 0 w 1469"/>
              <a:gd name="T11" fmla="*/ 1678 h 1678"/>
              <a:gd name="T12" fmla="*/ 0 w 1469"/>
              <a:gd name="T13" fmla="*/ 1678 h 1678"/>
              <a:gd name="T14" fmla="*/ 0 w 1469"/>
              <a:gd name="T15" fmla="*/ 1678 h 1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69" h="1678">
                <a:moveTo>
                  <a:pt x="0" y="1678"/>
                </a:moveTo>
                <a:lnTo>
                  <a:pt x="709" y="0"/>
                </a:lnTo>
                <a:lnTo>
                  <a:pt x="1469" y="0"/>
                </a:lnTo>
                <a:lnTo>
                  <a:pt x="759" y="1678"/>
                </a:lnTo>
                <a:lnTo>
                  <a:pt x="0" y="1678"/>
                </a:lnTo>
                <a:lnTo>
                  <a:pt x="0" y="1678"/>
                </a:lnTo>
                <a:lnTo>
                  <a:pt x="0" y="1678"/>
                </a:lnTo>
                <a:lnTo>
                  <a:pt x="0" y="1678"/>
                </a:lnTo>
                <a:close/>
              </a:path>
            </a:pathLst>
          </a:custGeom>
          <a:gradFill flip="none" rotWithShape="1">
            <a:gsLst>
              <a:gs pos="0">
                <a:schemeClr val="accent2">
                  <a:lumMod val="60000"/>
                  <a:lumOff val="40000"/>
                </a:schemeClr>
              </a:gs>
              <a:gs pos="100000">
                <a:schemeClr val="accent2"/>
              </a:gs>
            </a:gsLst>
            <a:lin ang="5400000" scaled="1"/>
            <a:tileRect/>
          </a:gradFill>
          <a:ln w="9525">
            <a:noFill/>
            <a:round/>
          </a:ln>
        </p:spPr>
        <p:txBody>
          <a:bodyPr vert="horz" wrap="square" lIns="121920" tIns="60960" rIns="121920" bIns="60960" numCol="1" rtlCol="0" anchor="ctr" anchorCtr="0" compatLnSpc="1">
            <a:noAutofit/>
          </a:bodyPr>
          <a:lstStyle/>
          <a:p>
            <a:pPr algn="ctr"/>
            <a:endParaRPr lang="en-US" sz="3200" b="1">
              <a:solidFill>
                <a:schemeClr val="bg1"/>
              </a:solidFill>
              <a:latin typeface="+mj-ea"/>
              <a:ea typeface="+mj-ea"/>
              <a:cs typeface="思源黑体 CN Normal" panose="020B0400000000000000" pitchFamily="34" charset="-122"/>
            </a:endParaRPr>
          </a:p>
        </p:txBody>
      </p:sp>
      <p:sp>
        <p:nvSpPr>
          <p:cNvPr id="128" name="小红书平北职场PPT3-12"/>
          <p:cNvSpPr/>
          <p:nvPr/>
        </p:nvSpPr>
        <p:spPr bwMode="auto">
          <a:xfrm>
            <a:off x="6800542" y="2556656"/>
            <a:ext cx="2397521" cy="2425141"/>
          </a:xfrm>
          <a:custGeom>
            <a:avLst/>
            <a:gdLst>
              <a:gd name="T0" fmla="*/ 0 w 1469"/>
              <a:gd name="T1" fmla="*/ 1678 h 1678"/>
              <a:gd name="T2" fmla="*/ 709 w 1469"/>
              <a:gd name="T3" fmla="*/ 0 h 1678"/>
              <a:gd name="T4" fmla="*/ 1469 w 1469"/>
              <a:gd name="T5" fmla="*/ 0 h 1678"/>
              <a:gd name="T6" fmla="*/ 759 w 1469"/>
              <a:gd name="T7" fmla="*/ 1678 h 1678"/>
              <a:gd name="T8" fmla="*/ 0 w 1469"/>
              <a:gd name="T9" fmla="*/ 1678 h 1678"/>
              <a:gd name="T10" fmla="*/ 0 w 1469"/>
              <a:gd name="T11" fmla="*/ 1678 h 1678"/>
              <a:gd name="T12" fmla="*/ 0 w 1469"/>
              <a:gd name="T13" fmla="*/ 1678 h 1678"/>
              <a:gd name="T14" fmla="*/ 0 w 1469"/>
              <a:gd name="T15" fmla="*/ 1678 h 1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69" h="1678">
                <a:moveTo>
                  <a:pt x="0" y="1678"/>
                </a:moveTo>
                <a:lnTo>
                  <a:pt x="709" y="0"/>
                </a:lnTo>
                <a:lnTo>
                  <a:pt x="1469" y="0"/>
                </a:lnTo>
                <a:lnTo>
                  <a:pt x="759" y="1678"/>
                </a:lnTo>
                <a:lnTo>
                  <a:pt x="0" y="1678"/>
                </a:lnTo>
                <a:lnTo>
                  <a:pt x="0" y="1678"/>
                </a:lnTo>
                <a:lnTo>
                  <a:pt x="0" y="1678"/>
                </a:lnTo>
                <a:lnTo>
                  <a:pt x="0" y="1678"/>
                </a:lnTo>
                <a:close/>
              </a:path>
            </a:pathLst>
          </a:custGeom>
          <a:gradFill flip="none" rotWithShape="1">
            <a:gsLst>
              <a:gs pos="0">
                <a:schemeClr val="accent1">
                  <a:lumMod val="60000"/>
                  <a:lumOff val="40000"/>
                </a:schemeClr>
              </a:gs>
              <a:gs pos="100000">
                <a:schemeClr val="accent1"/>
              </a:gs>
            </a:gsLst>
            <a:lin ang="54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a:solidFill>
                <a:schemeClr val="bg1"/>
              </a:solidFill>
              <a:latin typeface="+mj-ea"/>
              <a:ea typeface="+mj-ea"/>
              <a:cs typeface="思源黑体 CN Normal" panose="020B0400000000000000" pitchFamily="34" charset="-122"/>
            </a:endParaRPr>
          </a:p>
        </p:txBody>
      </p:sp>
      <p:sp>
        <p:nvSpPr>
          <p:cNvPr id="129" name="小红书平北职场PPT3-13"/>
          <p:cNvSpPr/>
          <p:nvPr/>
        </p:nvSpPr>
        <p:spPr bwMode="auto">
          <a:xfrm>
            <a:off x="4683740" y="2556656"/>
            <a:ext cx="2399152" cy="2425141"/>
          </a:xfrm>
          <a:custGeom>
            <a:avLst/>
            <a:gdLst>
              <a:gd name="T0" fmla="*/ 0 w 1470"/>
              <a:gd name="T1" fmla="*/ 1678 h 1678"/>
              <a:gd name="T2" fmla="*/ 710 w 1470"/>
              <a:gd name="T3" fmla="*/ 0 h 1678"/>
              <a:gd name="T4" fmla="*/ 1470 w 1470"/>
              <a:gd name="T5" fmla="*/ 0 h 1678"/>
              <a:gd name="T6" fmla="*/ 760 w 1470"/>
              <a:gd name="T7" fmla="*/ 1678 h 1678"/>
              <a:gd name="T8" fmla="*/ 0 w 1470"/>
              <a:gd name="T9" fmla="*/ 1678 h 1678"/>
              <a:gd name="T10" fmla="*/ 0 w 1470"/>
              <a:gd name="T11" fmla="*/ 1678 h 1678"/>
              <a:gd name="T12" fmla="*/ 0 w 1470"/>
              <a:gd name="T13" fmla="*/ 1678 h 1678"/>
              <a:gd name="T14" fmla="*/ 0 w 1470"/>
              <a:gd name="T15" fmla="*/ 1678 h 1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0" h="1678">
                <a:moveTo>
                  <a:pt x="0" y="1678"/>
                </a:moveTo>
                <a:lnTo>
                  <a:pt x="710" y="0"/>
                </a:lnTo>
                <a:lnTo>
                  <a:pt x="1470" y="0"/>
                </a:lnTo>
                <a:lnTo>
                  <a:pt x="760" y="1678"/>
                </a:lnTo>
                <a:lnTo>
                  <a:pt x="0" y="1678"/>
                </a:lnTo>
                <a:lnTo>
                  <a:pt x="0" y="1678"/>
                </a:lnTo>
                <a:lnTo>
                  <a:pt x="0" y="1678"/>
                </a:lnTo>
                <a:lnTo>
                  <a:pt x="0" y="1678"/>
                </a:lnTo>
                <a:close/>
              </a:path>
            </a:pathLst>
          </a:custGeom>
          <a:gradFill flip="none" rotWithShape="1">
            <a:gsLst>
              <a:gs pos="0">
                <a:schemeClr val="accent1">
                  <a:lumMod val="60000"/>
                  <a:lumOff val="40000"/>
                </a:schemeClr>
              </a:gs>
              <a:gs pos="100000">
                <a:schemeClr val="accent1"/>
              </a:gs>
            </a:gsLst>
            <a:lin ang="54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a:solidFill>
                <a:schemeClr val="bg1"/>
              </a:solidFill>
              <a:latin typeface="+mj-ea"/>
              <a:ea typeface="+mj-ea"/>
              <a:cs typeface="思源黑体 CN Normal" panose="020B0400000000000000" pitchFamily="34" charset="-122"/>
            </a:endParaRPr>
          </a:p>
        </p:txBody>
      </p:sp>
      <p:sp>
        <p:nvSpPr>
          <p:cNvPr id="78" name="小红书平北职场PPT4"/>
          <p:cNvSpPr/>
          <p:nvPr/>
        </p:nvSpPr>
        <p:spPr>
          <a:xfrm>
            <a:off x="2144007" y="1367291"/>
            <a:ext cx="572947" cy="1031304"/>
          </a:xfrm>
          <a:custGeom>
            <a:avLst/>
            <a:gdLst>
              <a:gd name="connsiteX0" fmla="*/ 0 w 520861"/>
              <a:gd name="connsiteY0" fmla="*/ 937549 h 937549"/>
              <a:gd name="connsiteX1" fmla="*/ 0 w 520861"/>
              <a:gd name="connsiteY1" fmla="*/ 0 h 937549"/>
              <a:gd name="connsiteX2" fmla="*/ 520861 w 520861"/>
              <a:gd name="connsiteY2" fmla="*/ 0 h 937549"/>
            </a:gdLst>
            <a:ahLst/>
            <a:cxnLst>
              <a:cxn ang="0">
                <a:pos x="connsiteX0" y="connsiteY0"/>
              </a:cxn>
              <a:cxn ang="0">
                <a:pos x="connsiteX1" y="connsiteY1"/>
              </a:cxn>
              <a:cxn ang="0">
                <a:pos x="connsiteX2" y="connsiteY2"/>
              </a:cxn>
            </a:cxnLst>
            <a:rect l="l" t="t" r="r" b="b"/>
            <a:pathLst>
              <a:path w="520861" h="937549">
                <a:moveTo>
                  <a:pt x="0" y="937549"/>
                </a:moveTo>
                <a:lnTo>
                  <a:pt x="0" y="0"/>
                </a:lnTo>
                <a:lnTo>
                  <a:pt x="520861" y="0"/>
                </a:lnTo>
              </a:path>
            </a:pathLst>
          </a:custGeom>
          <a:noFill/>
          <a:ln w="1397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79" name="小红书平北职场PPT5"/>
          <p:cNvSpPr/>
          <p:nvPr/>
        </p:nvSpPr>
        <p:spPr>
          <a:xfrm>
            <a:off x="6345618" y="1367291"/>
            <a:ext cx="572947" cy="1031304"/>
          </a:xfrm>
          <a:custGeom>
            <a:avLst/>
            <a:gdLst>
              <a:gd name="connsiteX0" fmla="*/ 0 w 520861"/>
              <a:gd name="connsiteY0" fmla="*/ 937549 h 937549"/>
              <a:gd name="connsiteX1" fmla="*/ 0 w 520861"/>
              <a:gd name="connsiteY1" fmla="*/ 0 h 937549"/>
              <a:gd name="connsiteX2" fmla="*/ 520861 w 520861"/>
              <a:gd name="connsiteY2" fmla="*/ 0 h 937549"/>
            </a:gdLst>
            <a:ahLst/>
            <a:cxnLst>
              <a:cxn ang="0">
                <a:pos x="connsiteX0" y="connsiteY0"/>
              </a:cxn>
              <a:cxn ang="0">
                <a:pos x="connsiteX1" y="connsiteY1"/>
              </a:cxn>
              <a:cxn ang="0">
                <a:pos x="connsiteX2" y="connsiteY2"/>
              </a:cxn>
            </a:cxnLst>
            <a:rect l="l" t="t" r="r" b="b"/>
            <a:pathLst>
              <a:path w="520861" h="937549">
                <a:moveTo>
                  <a:pt x="0" y="937549"/>
                </a:moveTo>
                <a:lnTo>
                  <a:pt x="0" y="0"/>
                </a:lnTo>
                <a:lnTo>
                  <a:pt x="520861" y="0"/>
                </a:lnTo>
              </a:path>
            </a:pathLst>
          </a:custGeom>
          <a:noFill/>
          <a:ln w="1397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80" name="小红书平北职场PPT6"/>
          <p:cNvSpPr/>
          <p:nvPr/>
        </p:nvSpPr>
        <p:spPr>
          <a:xfrm>
            <a:off x="7566995" y="5644169"/>
            <a:ext cx="472272" cy="407871"/>
          </a:xfrm>
          <a:custGeom>
            <a:avLst/>
            <a:gdLst>
              <a:gd name="connsiteX0" fmla="*/ 2216734 w 4876800"/>
              <a:gd name="connsiteY0" fmla="*/ 2327567 h 4211783"/>
              <a:gd name="connsiteX1" fmla="*/ 2216734 w 4876800"/>
              <a:gd name="connsiteY1" fmla="*/ 2770908 h 4211783"/>
              <a:gd name="connsiteX2" fmla="*/ 2660076 w 4876800"/>
              <a:gd name="connsiteY2" fmla="*/ 2770908 h 4211783"/>
              <a:gd name="connsiteX3" fmla="*/ 2660076 w 4876800"/>
              <a:gd name="connsiteY3" fmla="*/ 2327567 h 4211783"/>
              <a:gd name="connsiteX4" fmla="*/ 221676 w 4876800"/>
              <a:gd name="connsiteY4" fmla="*/ 2327567 h 4211783"/>
              <a:gd name="connsiteX5" fmla="*/ 332508 w 4876800"/>
              <a:gd name="connsiteY5" fmla="*/ 2438400 h 4211783"/>
              <a:gd name="connsiteX6" fmla="*/ 332508 w 4876800"/>
              <a:gd name="connsiteY6" fmla="*/ 3879275 h 4211783"/>
              <a:gd name="connsiteX7" fmla="*/ 443340 w 4876800"/>
              <a:gd name="connsiteY7" fmla="*/ 3990108 h 4211783"/>
              <a:gd name="connsiteX8" fmla="*/ 4433460 w 4876800"/>
              <a:gd name="connsiteY8" fmla="*/ 3990108 h 4211783"/>
              <a:gd name="connsiteX9" fmla="*/ 4544292 w 4876800"/>
              <a:gd name="connsiteY9" fmla="*/ 3879275 h 4211783"/>
              <a:gd name="connsiteX10" fmla="*/ 4544292 w 4876800"/>
              <a:gd name="connsiteY10" fmla="*/ 2438400 h 4211783"/>
              <a:gd name="connsiteX11" fmla="*/ 4655124 w 4876800"/>
              <a:gd name="connsiteY11" fmla="*/ 2327567 h 4211783"/>
              <a:gd name="connsiteX12" fmla="*/ 4765968 w 4876800"/>
              <a:gd name="connsiteY12" fmla="*/ 2438400 h 4211783"/>
              <a:gd name="connsiteX13" fmla="*/ 4765968 w 4876800"/>
              <a:gd name="connsiteY13" fmla="*/ 3879275 h 4211783"/>
              <a:gd name="connsiteX14" fmla="*/ 4433460 w 4876800"/>
              <a:gd name="connsiteY14" fmla="*/ 4211783 h 4211783"/>
              <a:gd name="connsiteX15" fmla="*/ 443350 w 4876800"/>
              <a:gd name="connsiteY15" fmla="*/ 4211783 h 4211783"/>
              <a:gd name="connsiteX16" fmla="*/ 110842 w 4876800"/>
              <a:gd name="connsiteY16" fmla="*/ 3879275 h 4211783"/>
              <a:gd name="connsiteX17" fmla="*/ 110842 w 4876800"/>
              <a:gd name="connsiteY17" fmla="*/ 2438400 h 4211783"/>
              <a:gd name="connsiteX18" fmla="*/ 221676 w 4876800"/>
              <a:gd name="connsiteY18" fmla="*/ 2327567 h 4211783"/>
              <a:gd name="connsiteX19" fmla="*/ 332508 w 4876800"/>
              <a:gd name="connsiteY19" fmla="*/ 997534 h 4211783"/>
              <a:gd name="connsiteX20" fmla="*/ 221676 w 4876800"/>
              <a:gd name="connsiteY20" fmla="*/ 1108367 h 4211783"/>
              <a:gd name="connsiteX21" fmla="*/ 221676 w 4876800"/>
              <a:gd name="connsiteY21" fmla="*/ 1817723 h 4211783"/>
              <a:gd name="connsiteX22" fmla="*/ 310344 w 4876800"/>
              <a:gd name="connsiteY22" fmla="*/ 1928556 h 4211783"/>
              <a:gd name="connsiteX23" fmla="*/ 1995060 w 4876800"/>
              <a:gd name="connsiteY23" fmla="*/ 2305393 h 4211783"/>
              <a:gd name="connsiteX24" fmla="*/ 1995060 w 4876800"/>
              <a:gd name="connsiteY24" fmla="*/ 2216725 h 4211783"/>
              <a:gd name="connsiteX25" fmla="*/ 2105892 w 4876800"/>
              <a:gd name="connsiteY25" fmla="*/ 2105892 h 4211783"/>
              <a:gd name="connsiteX26" fmla="*/ 2770908 w 4876800"/>
              <a:gd name="connsiteY26" fmla="*/ 2105892 h 4211783"/>
              <a:gd name="connsiteX27" fmla="*/ 2881740 w 4876800"/>
              <a:gd name="connsiteY27" fmla="*/ 2216725 h 4211783"/>
              <a:gd name="connsiteX28" fmla="*/ 2881740 w 4876800"/>
              <a:gd name="connsiteY28" fmla="*/ 2305393 h 4211783"/>
              <a:gd name="connsiteX29" fmla="*/ 4566456 w 4876800"/>
              <a:gd name="connsiteY29" fmla="*/ 1928546 h 4211783"/>
              <a:gd name="connsiteX30" fmla="*/ 4655124 w 4876800"/>
              <a:gd name="connsiteY30" fmla="*/ 1817713 h 4211783"/>
              <a:gd name="connsiteX31" fmla="*/ 4655124 w 4876800"/>
              <a:gd name="connsiteY31" fmla="*/ 1108367 h 4211783"/>
              <a:gd name="connsiteX32" fmla="*/ 4544292 w 4876800"/>
              <a:gd name="connsiteY32" fmla="*/ 997534 h 4211783"/>
              <a:gd name="connsiteX33" fmla="*/ 332508 w 4876800"/>
              <a:gd name="connsiteY33" fmla="*/ 775859 h 4211783"/>
              <a:gd name="connsiteX34" fmla="*/ 4544292 w 4876800"/>
              <a:gd name="connsiteY34" fmla="*/ 775859 h 4211783"/>
              <a:gd name="connsiteX35" fmla="*/ 4876800 w 4876800"/>
              <a:gd name="connsiteY35" fmla="*/ 1108358 h 4211783"/>
              <a:gd name="connsiteX36" fmla="*/ 4876800 w 4876800"/>
              <a:gd name="connsiteY36" fmla="*/ 1817713 h 4211783"/>
              <a:gd name="connsiteX37" fmla="*/ 4621872 w 4876800"/>
              <a:gd name="connsiteY37" fmla="*/ 2139144 h 4211783"/>
              <a:gd name="connsiteX38" fmla="*/ 2881740 w 4876800"/>
              <a:gd name="connsiteY38" fmla="*/ 2527068 h 4211783"/>
              <a:gd name="connsiteX39" fmla="*/ 2881740 w 4876800"/>
              <a:gd name="connsiteY39" fmla="*/ 2881741 h 4211783"/>
              <a:gd name="connsiteX40" fmla="*/ 2770908 w 4876800"/>
              <a:gd name="connsiteY40" fmla="*/ 2992574 h 4211783"/>
              <a:gd name="connsiteX41" fmla="*/ 2105892 w 4876800"/>
              <a:gd name="connsiteY41" fmla="*/ 2992574 h 4211783"/>
              <a:gd name="connsiteX42" fmla="*/ 1995060 w 4876800"/>
              <a:gd name="connsiteY42" fmla="*/ 2881741 h 4211783"/>
              <a:gd name="connsiteX43" fmla="*/ 1995060 w 4876800"/>
              <a:gd name="connsiteY43" fmla="*/ 2527068 h 4211783"/>
              <a:gd name="connsiteX44" fmla="*/ 254928 w 4876800"/>
              <a:gd name="connsiteY44" fmla="*/ 2139144 h 4211783"/>
              <a:gd name="connsiteX45" fmla="*/ 0 w 4876800"/>
              <a:gd name="connsiteY45" fmla="*/ 1817723 h 4211783"/>
              <a:gd name="connsiteX46" fmla="*/ 0 w 4876800"/>
              <a:gd name="connsiteY46" fmla="*/ 1108367 h 4211783"/>
              <a:gd name="connsiteX47" fmla="*/ 332508 w 4876800"/>
              <a:gd name="connsiteY47" fmla="*/ 775859 h 4211783"/>
              <a:gd name="connsiteX48" fmla="*/ 1884216 w 4876800"/>
              <a:gd name="connsiteY48" fmla="*/ 0 h 4211783"/>
              <a:gd name="connsiteX49" fmla="*/ 2992584 w 4876800"/>
              <a:gd name="connsiteY49" fmla="*/ 0 h 4211783"/>
              <a:gd name="connsiteX50" fmla="*/ 3325072 w 4876800"/>
              <a:gd name="connsiteY50" fmla="*/ 332508 h 4211783"/>
              <a:gd name="connsiteX51" fmla="*/ 3325072 w 4876800"/>
              <a:gd name="connsiteY51" fmla="*/ 443341 h 4211783"/>
              <a:gd name="connsiteX52" fmla="*/ 3214240 w 4876800"/>
              <a:gd name="connsiteY52" fmla="*/ 554174 h 4211783"/>
              <a:gd name="connsiteX53" fmla="*/ 3103408 w 4876800"/>
              <a:gd name="connsiteY53" fmla="*/ 443341 h 4211783"/>
              <a:gd name="connsiteX54" fmla="*/ 3103408 w 4876800"/>
              <a:gd name="connsiteY54" fmla="*/ 332508 h 4211783"/>
              <a:gd name="connsiteX55" fmla="*/ 2992574 w 4876800"/>
              <a:gd name="connsiteY55" fmla="*/ 221675 h 4211783"/>
              <a:gd name="connsiteX56" fmla="*/ 1884208 w 4876800"/>
              <a:gd name="connsiteY56" fmla="*/ 221675 h 4211783"/>
              <a:gd name="connsiteX57" fmla="*/ 1773374 w 4876800"/>
              <a:gd name="connsiteY57" fmla="*/ 332508 h 4211783"/>
              <a:gd name="connsiteX58" fmla="*/ 1773374 w 4876800"/>
              <a:gd name="connsiteY58" fmla="*/ 443341 h 4211783"/>
              <a:gd name="connsiteX59" fmla="*/ 1662540 w 4876800"/>
              <a:gd name="connsiteY59" fmla="*/ 554174 h 4211783"/>
              <a:gd name="connsiteX60" fmla="*/ 1551708 w 4876800"/>
              <a:gd name="connsiteY60" fmla="*/ 443341 h 4211783"/>
              <a:gd name="connsiteX61" fmla="*/ 1551708 w 4876800"/>
              <a:gd name="connsiteY61" fmla="*/ 332508 h 4211783"/>
              <a:gd name="connsiteX62" fmla="*/ 1884216 w 4876800"/>
              <a:gd name="connsiteY62" fmla="*/ 0 h 4211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76800" h="4211783">
                <a:moveTo>
                  <a:pt x="2216734" y="2327567"/>
                </a:moveTo>
                <a:lnTo>
                  <a:pt x="2216734" y="2770908"/>
                </a:lnTo>
                <a:lnTo>
                  <a:pt x="2660076" y="2770908"/>
                </a:lnTo>
                <a:lnTo>
                  <a:pt x="2660076" y="2327567"/>
                </a:lnTo>
                <a:close/>
                <a:moveTo>
                  <a:pt x="221676" y="2327567"/>
                </a:moveTo>
                <a:cubicBezTo>
                  <a:pt x="288168" y="2327567"/>
                  <a:pt x="332508" y="2371896"/>
                  <a:pt x="332508" y="2438400"/>
                </a:cubicBezTo>
                <a:lnTo>
                  <a:pt x="332508" y="3879275"/>
                </a:lnTo>
                <a:cubicBezTo>
                  <a:pt x="332508" y="3945769"/>
                  <a:pt x="376836" y="3990108"/>
                  <a:pt x="443340" y="3990108"/>
                </a:cubicBezTo>
                <a:lnTo>
                  <a:pt x="4433460" y="3990108"/>
                </a:lnTo>
                <a:cubicBezTo>
                  <a:pt x="4499952" y="3990108"/>
                  <a:pt x="4544292" y="3945779"/>
                  <a:pt x="4544292" y="3879275"/>
                </a:cubicBezTo>
                <a:lnTo>
                  <a:pt x="4544292" y="2438400"/>
                </a:lnTo>
                <a:cubicBezTo>
                  <a:pt x="4544292" y="2371906"/>
                  <a:pt x="4588620" y="2327567"/>
                  <a:pt x="4655124" y="2327567"/>
                </a:cubicBezTo>
                <a:cubicBezTo>
                  <a:pt x="4721628" y="2327567"/>
                  <a:pt x="4765968" y="2371896"/>
                  <a:pt x="4765968" y="2438400"/>
                </a:cubicBezTo>
                <a:lnTo>
                  <a:pt x="4765968" y="3879275"/>
                </a:lnTo>
                <a:cubicBezTo>
                  <a:pt x="4765968" y="4067699"/>
                  <a:pt x="4621882" y="4211783"/>
                  <a:pt x="4433460" y="4211783"/>
                </a:cubicBezTo>
                <a:lnTo>
                  <a:pt x="443350" y="4211783"/>
                </a:lnTo>
                <a:cubicBezTo>
                  <a:pt x="254928" y="4211783"/>
                  <a:pt x="110842" y="4067699"/>
                  <a:pt x="110842" y="3879275"/>
                </a:cubicBezTo>
                <a:lnTo>
                  <a:pt x="110842" y="2438400"/>
                </a:lnTo>
                <a:cubicBezTo>
                  <a:pt x="110842" y="2371906"/>
                  <a:pt x="155180" y="2327567"/>
                  <a:pt x="221676" y="2327567"/>
                </a:cubicBezTo>
                <a:close/>
                <a:moveTo>
                  <a:pt x="332508" y="997534"/>
                </a:moveTo>
                <a:cubicBezTo>
                  <a:pt x="266014" y="997534"/>
                  <a:pt x="221676" y="1041864"/>
                  <a:pt x="221676" y="1108367"/>
                </a:cubicBezTo>
                <a:lnTo>
                  <a:pt x="221676" y="1817723"/>
                </a:lnTo>
                <a:cubicBezTo>
                  <a:pt x="221676" y="1873139"/>
                  <a:pt x="254928" y="1917468"/>
                  <a:pt x="310344" y="1928556"/>
                </a:cubicBezTo>
                <a:lnTo>
                  <a:pt x="1995060" y="2305393"/>
                </a:lnTo>
                <a:lnTo>
                  <a:pt x="1995060" y="2216725"/>
                </a:lnTo>
                <a:cubicBezTo>
                  <a:pt x="1995060" y="2150231"/>
                  <a:pt x="2039388" y="2105892"/>
                  <a:pt x="2105892" y="2105892"/>
                </a:cubicBezTo>
                <a:lnTo>
                  <a:pt x="2770908" y="2105892"/>
                </a:lnTo>
                <a:cubicBezTo>
                  <a:pt x="2837404" y="2105892"/>
                  <a:pt x="2881740" y="2150221"/>
                  <a:pt x="2881740" y="2216725"/>
                </a:cubicBezTo>
                <a:lnTo>
                  <a:pt x="2881740" y="2305393"/>
                </a:lnTo>
                <a:lnTo>
                  <a:pt x="4566456" y="1928546"/>
                </a:lnTo>
                <a:cubicBezTo>
                  <a:pt x="4621872" y="1917468"/>
                  <a:pt x="4655124" y="1873130"/>
                  <a:pt x="4655124" y="1817713"/>
                </a:cubicBezTo>
                <a:lnTo>
                  <a:pt x="4655124" y="1108367"/>
                </a:lnTo>
                <a:cubicBezTo>
                  <a:pt x="4655124" y="1041873"/>
                  <a:pt x="4610796" y="997534"/>
                  <a:pt x="4544292" y="997534"/>
                </a:cubicBezTo>
                <a:close/>
                <a:moveTo>
                  <a:pt x="332508" y="775859"/>
                </a:moveTo>
                <a:lnTo>
                  <a:pt x="4544292" y="775859"/>
                </a:lnTo>
                <a:cubicBezTo>
                  <a:pt x="4732716" y="775859"/>
                  <a:pt x="4876800" y="919944"/>
                  <a:pt x="4876800" y="1108358"/>
                </a:cubicBezTo>
                <a:lnTo>
                  <a:pt x="4876800" y="1817713"/>
                </a:lnTo>
                <a:cubicBezTo>
                  <a:pt x="4876800" y="1972885"/>
                  <a:pt x="4765968" y="2105892"/>
                  <a:pt x="4621872" y="2139144"/>
                </a:cubicBezTo>
                <a:lnTo>
                  <a:pt x="2881740" y="2527068"/>
                </a:lnTo>
                <a:lnTo>
                  <a:pt x="2881740" y="2881741"/>
                </a:lnTo>
                <a:cubicBezTo>
                  <a:pt x="2881740" y="2948235"/>
                  <a:pt x="2837412" y="2992574"/>
                  <a:pt x="2770908" y="2992574"/>
                </a:cubicBezTo>
                <a:lnTo>
                  <a:pt x="2105892" y="2992574"/>
                </a:lnTo>
                <a:cubicBezTo>
                  <a:pt x="2039398" y="2992574"/>
                  <a:pt x="1995060" y="2948245"/>
                  <a:pt x="1995060" y="2881741"/>
                </a:cubicBezTo>
                <a:lnTo>
                  <a:pt x="1995060" y="2527068"/>
                </a:lnTo>
                <a:lnTo>
                  <a:pt x="254928" y="2139144"/>
                </a:lnTo>
                <a:cubicBezTo>
                  <a:pt x="110832" y="2105892"/>
                  <a:pt x="0" y="1972885"/>
                  <a:pt x="0" y="1817723"/>
                </a:cubicBezTo>
                <a:lnTo>
                  <a:pt x="0" y="1108367"/>
                </a:lnTo>
                <a:cubicBezTo>
                  <a:pt x="0" y="919944"/>
                  <a:pt x="144084" y="775859"/>
                  <a:pt x="332508" y="775859"/>
                </a:cubicBezTo>
                <a:close/>
                <a:moveTo>
                  <a:pt x="1884216" y="0"/>
                </a:moveTo>
                <a:lnTo>
                  <a:pt x="2992584" y="0"/>
                </a:lnTo>
                <a:cubicBezTo>
                  <a:pt x="3181008" y="0"/>
                  <a:pt x="3325092" y="144085"/>
                  <a:pt x="3325072" y="332508"/>
                </a:cubicBezTo>
                <a:lnTo>
                  <a:pt x="3325072" y="443341"/>
                </a:lnTo>
                <a:cubicBezTo>
                  <a:pt x="3325072" y="509835"/>
                  <a:pt x="3280744" y="554174"/>
                  <a:pt x="3214240" y="554174"/>
                </a:cubicBezTo>
                <a:cubicBezTo>
                  <a:pt x="3147746" y="554174"/>
                  <a:pt x="3103408" y="509845"/>
                  <a:pt x="3103408" y="443341"/>
                </a:cubicBezTo>
                <a:lnTo>
                  <a:pt x="3103408" y="332508"/>
                </a:lnTo>
                <a:cubicBezTo>
                  <a:pt x="3103408" y="266014"/>
                  <a:pt x="3059076" y="221675"/>
                  <a:pt x="2992574" y="221675"/>
                </a:cubicBezTo>
                <a:lnTo>
                  <a:pt x="1884208" y="221675"/>
                </a:lnTo>
                <a:cubicBezTo>
                  <a:pt x="1817712" y="221675"/>
                  <a:pt x="1773374" y="266005"/>
                  <a:pt x="1773374" y="332508"/>
                </a:cubicBezTo>
                <a:lnTo>
                  <a:pt x="1773374" y="443341"/>
                </a:lnTo>
                <a:cubicBezTo>
                  <a:pt x="1773374" y="509835"/>
                  <a:pt x="1729036" y="554174"/>
                  <a:pt x="1662540" y="554174"/>
                </a:cubicBezTo>
                <a:cubicBezTo>
                  <a:pt x="1596048" y="554174"/>
                  <a:pt x="1551708" y="509845"/>
                  <a:pt x="1551708" y="443341"/>
                </a:cubicBezTo>
                <a:lnTo>
                  <a:pt x="1551708" y="332508"/>
                </a:lnTo>
                <a:cubicBezTo>
                  <a:pt x="1551708" y="144085"/>
                  <a:pt x="1695792" y="0"/>
                  <a:pt x="1884216" y="0"/>
                </a:cubicBezTo>
                <a:close/>
              </a:path>
            </a:pathLst>
          </a:custGeom>
          <a:solidFill>
            <a:schemeClr val="tx1">
              <a:lumMod val="75000"/>
              <a:lumOff val="25000"/>
            </a:schemeClr>
          </a:solidFill>
          <a:ln w="9525" cap="flat">
            <a:noFill/>
            <a:prstDash val="solid"/>
            <a:miter/>
          </a:ln>
        </p:spPr>
        <p:txBody>
          <a:bodyPr rtlCol="0" anchor="ctr"/>
          <a:lstStyle/>
          <a:p>
            <a:endParaRPr lang="en-US">
              <a:cs typeface="思源黑体 CN Normal" panose="020B0400000000000000" pitchFamily="34" charset="-122"/>
            </a:endParaRPr>
          </a:p>
        </p:txBody>
      </p:sp>
      <p:sp>
        <p:nvSpPr>
          <p:cNvPr id="81" name="小红书平北职场PPT7"/>
          <p:cNvSpPr>
            <a:spLocks noEditPoints="1"/>
          </p:cNvSpPr>
          <p:nvPr/>
        </p:nvSpPr>
        <p:spPr bwMode="auto">
          <a:xfrm>
            <a:off x="2282803" y="1487814"/>
            <a:ext cx="359594" cy="362531"/>
          </a:xfrm>
          <a:custGeom>
            <a:avLst/>
            <a:gdLst>
              <a:gd name="T0" fmla="*/ 5586 w 13670"/>
              <a:gd name="T1" fmla="*/ 8048 h 13780"/>
              <a:gd name="T2" fmla="*/ 5202 w 13670"/>
              <a:gd name="T3" fmla="*/ 13396 h 13780"/>
              <a:gd name="T4" fmla="*/ 8116 w 13670"/>
              <a:gd name="T5" fmla="*/ 13780 h 13780"/>
              <a:gd name="T6" fmla="*/ 8499 w 13670"/>
              <a:gd name="T7" fmla="*/ 8431 h 13780"/>
              <a:gd name="T8" fmla="*/ 7733 w 13670"/>
              <a:gd name="T9" fmla="*/ 13013 h 13780"/>
              <a:gd name="T10" fmla="*/ 5969 w 13670"/>
              <a:gd name="T11" fmla="*/ 8815 h 13780"/>
              <a:gd name="T12" fmla="*/ 7733 w 13670"/>
              <a:gd name="T13" fmla="*/ 13013 h 13780"/>
              <a:gd name="T14" fmla="*/ 10589 w 13670"/>
              <a:gd name="T15" fmla="*/ 5038 h 13780"/>
              <a:gd name="T16" fmla="*/ 10205 w 13670"/>
              <a:gd name="T17" fmla="*/ 13396 h 13780"/>
              <a:gd name="T18" fmla="*/ 13138 w 13670"/>
              <a:gd name="T19" fmla="*/ 13780 h 13780"/>
              <a:gd name="T20" fmla="*/ 13522 w 13670"/>
              <a:gd name="T21" fmla="*/ 5421 h 13780"/>
              <a:gd name="T22" fmla="*/ 12755 w 13670"/>
              <a:gd name="T23" fmla="*/ 13013 h 13780"/>
              <a:gd name="T24" fmla="*/ 10972 w 13670"/>
              <a:gd name="T25" fmla="*/ 5805 h 13780"/>
              <a:gd name="T26" fmla="*/ 12755 w 13670"/>
              <a:gd name="T27" fmla="*/ 13013 h 13780"/>
              <a:gd name="T28" fmla="*/ 563 w 13670"/>
              <a:gd name="T29" fmla="*/ 9907 h 13780"/>
              <a:gd name="T30" fmla="*/ 180 w 13670"/>
              <a:gd name="T31" fmla="*/ 13396 h 13780"/>
              <a:gd name="T32" fmla="*/ 3113 w 13670"/>
              <a:gd name="T33" fmla="*/ 13780 h 13780"/>
              <a:gd name="T34" fmla="*/ 3496 w 13670"/>
              <a:gd name="T35" fmla="*/ 10291 h 13780"/>
              <a:gd name="T36" fmla="*/ 2729 w 13670"/>
              <a:gd name="T37" fmla="*/ 13013 h 13780"/>
              <a:gd name="T38" fmla="*/ 946 w 13670"/>
              <a:gd name="T39" fmla="*/ 10674 h 13780"/>
              <a:gd name="T40" fmla="*/ 2729 w 13670"/>
              <a:gd name="T41" fmla="*/ 13013 h 13780"/>
              <a:gd name="T42" fmla="*/ 13311 w 13670"/>
              <a:gd name="T43" fmla="*/ 265 h 13780"/>
              <a:gd name="T44" fmla="*/ 9410 w 13670"/>
              <a:gd name="T45" fmla="*/ 370 h 13780"/>
              <a:gd name="T46" fmla="*/ 12234 w 13670"/>
              <a:gd name="T47" fmla="*/ 950 h 13780"/>
              <a:gd name="T48" fmla="*/ 4224 w 13670"/>
              <a:gd name="T49" fmla="*/ 1779 h 13780"/>
              <a:gd name="T50" fmla="*/ 160 w 13670"/>
              <a:gd name="T51" fmla="*/ 5211 h 13780"/>
              <a:gd name="T52" fmla="*/ 429 w 13670"/>
              <a:gd name="T53" fmla="*/ 5882 h 13780"/>
              <a:gd name="T54" fmla="*/ 4014 w 13670"/>
              <a:gd name="T55" fmla="*/ 2584 h 13780"/>
              <a:gd name="T56" fmla="*/ 7924 w 13670"/>
              <a:gd name="T57" fmla="*/ 5287 h 13780"/>
              <a:gd name="T58" fmla="*/ 12640 w 13670"/>
              <a:gd name="T59" fmla="*/ 3850 h 13780"/>
              <a:gd name="T60" fmla="*/ 13023 w 13670"/>
              <a:gd name="T61" fmla="*/ 4252 h 13780"/>
              <a:gd name="T62" fmla="*/ 13656 w 13670"/>
              <a:gd name="T63" fmla="*/ 667 h 13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670" h="13780">
                <a:moveTo>
                  <a:pt x="8116" y="8048"/>
                </a:moveTo>
                <a:cubicBezTo>
                  <a:pt x="5586" y="8048"/>
                  <a:pt x="5586" y="8048"/>
                  <a:pt x="5586" y="8048"/>
                </a:cubicBezTo>
                <a:cubicBezTo>
                  <a:pt x="5374" y="8048"/>
                  <a:pt x="5202" y="8219"/>
                  <a:pt x="5202" y="8431"/>
                </a:cubicBezTo>
                <a:cubicBezTo>
                  <a:pt x="5202" y="13396"/>
                  <a:pt x="5202" y="13396"/>
                  <a:pt x="5202" y="13396"/>
                </a:cubicBezTo>
                <a:cubicBezTo>
                  <a:pt x="5202" y="13608"/>
                  <a:pt x="5374" y="13780"/>
                  <a:pt x="5586" y="13780"/>
                </a:cubicBezTo>
                <a:cubicBezTo>
                  <a:pt x="8116" y="13780"/>
                  <a:pt x="8116" y="13780"/>
                  <a:pt x="8116" y="13780"/>
                </a:cubicBezTo>
                <a:cubicBezTo>
                  <a:pt x="8328" y="13780"/>
                  <a:pt x="8499" y="13608"/>
                  <a:pt x="8499" y="13396"/>
                </a:cubicBezTo>
                <a:cubicBezTo>
                  <a:pt x="8499" y="8431"/>
                  <a:pt x="8499" y="8431"/>
                  <a:pt x="8499" y="8431"/>
                </a:cubicBezTo>
                <a:cubicBezTo>
                  <a:pt x="8499" y="8219"/>
                  <a:pt x="8328" y="8048"/>
                  <a:pt x="8116" y="8048"/>
                </a:cubicBezTo>
                <a:close/>
                <a:moveTo>
                  <a:pt x="7733" y="13013"/>
                </a:moveTo>
                <a:cubicBezTo>
                  <a:pt x="5969" y="13013"/>
                  <a:pt x="5969" y="13013"/>
                  <a:pt x="5969" y="13013"/>
                </a:cubicBezTo>
                <a:cubicBezTo>
                  <a:pt x="5969" y="8815"/>
                  <a:pt x="5969" y="8815"/>
                  <a:pt x="5969" y="8815"/>
                </a:cubicBezTo>
                <a:cubicBezTo>
                  <a:pt x="7733" y="8815"/>
                  <a:pt x="7733" y="8815"/>
                  <a:pt x="7733" y="8815"/>
                </a:cubicBezTo>
                <a:lnTo>
                  <a:pt x="7733" y="13013"/>
                </a:lnTo>
                <a:close/>
                <a:moveTo>
                  <a:pt x="13138" y="5038"/>
                </a:moveTo>
                <a:cubicBezTo>
                  <a:pt x="10589" y="5038"/>
                  <a:pt x="10589" y="5038"/>
                  <a:pt x="10589" y="5038"/>
                </a:cubicBezTo>
                <a:cubicBezTo>
                  <a:pt x="10377" y="5038"/>
                  <a:pt x="10205" y="5210"/>
                  <a:pt x="10205" y="5421"/>
                </a:cubicBezTo>
                <a:cubicBezTo>
                  <a:pt x="10205" y="13396"/>
                  <a:pt x="10205" y="13396"/>
                  <a:pt x="10205" y="13396"/>
                </a:cubicBezTo>
                <a:cubicBezTo>
                  <a:pt x="10205" y="13608"/>
                  <a:pt x="10377" y="13780"/>
                  <a:pt x="10589" y="13780"/>
                </a:cubicBezTo>
                <a:cubicBezTo>
                  <a:pt x="13138" y="13780"/>
                  <a:pt x="13138" y="13780"/>
                  <a:pt x="13138" y="13780"/>
                </a:cubicBezTo>
                <a:cubicBezTo>
                  <a:pt x="13350" y="13780"/>
                  <a:pt x="13522" y="13608"/>
                  <a:pt x="13522" y="13396"/>
                </a:cubicBezTo>
                <a:cubicBezTo>
                  <a:pt x="13522" y="5421"/>
                  <a:pt x="13522" y="5421"/>
                  <a:pt x="13522" y="5421"/>
                </a:cubicBezTo>
                <a:cubicBezTo>
                  <a:pt x="13522" y="5210"/>
                  <a:pt x="13350" y="5038"/>
                  <a:pt x="13138" y="5038"/>
                </a:cubicBezTo>
                <a:close/>
                <a:moveTo>
                  <a:pt x="12755" y="13013"/>
                </a:moveTo>
                <a:cubicBezTo>
                  <a:pt x="10972" y="13013"/>
                  <a:pt x="10972" y="13013"/>
                  <a:pt x="10972" y="13013"/>
                </a:cubicBezTo>
                <a:cubicBezTo>
                  <a:pt x="10972" y="5805"/>
                  <a:pt x="10972" y="5805"/>
                  <a:pt x="10972" y="5805"/>
                </a:cubicBezTo>
                <a:cubicBezTo>
                  <a:pt x="12755" y="5805"/>
                  <a:pt x="12755" y="5805"/>
                  <a:pt x="12755" y="5805"/>
                </a:cubicBezTo>
                <a:lnTo>
                  <a:pt x="12755" y="13013"/>
                </a:lnTo>
                <a:close/>
                <a:moveTo>
                  <a:pt x="3113" y="9907"/>
                </a:moveTo>
                <a:cubicBezTo>
                  <a:pt x="563" y="9907"/>
                  <a:pt x="563" y="9907"/>
                  <a:pt x="563" y="9907"/>
                </a:cubicBezTo>
                <a:cubicBezTo>
                  <a:pt x="351" y="9907"/>
                  <a:pt x="180" y="10079"/>
                  <a:pt x="180" y="10291"/>
                </a:cubicBezTo>
                <a:cubicBezTo>
                  <a:pt x="180" y="13396"/>
                  <a:pt x="180" y="13396"/>
                  <a:pt x="180" y="13396"/>
                </a:cubicBezTo>
                <a:cubicBezTo>
                  <a:pt x="180" y="13608"/>
                  <a:pt x="351" y="13780"/>
                  <a:pt x="563" y="13780"/>
                </a:cubicBezTo>
                <a:cubicBezTo>
                  <a:pt x="3113" y="13780"/>
                  <a:pt x="3113" y="13780"/>
                  <a:pt x="3113" y="13780"/>
                </a:cubicBezTo>
                <a:cubicBezTo>
                  <a:pt x="3324" y="13780"/>
                  <a:pt x="3496" y="13608"/>
                  <a:pt x="3496" y="13396"/>
                </a:cubicBezTo>
                <a:cubicBezTo>
                  <a:pt x="3496" y="10291"/>
                  <a:pt x="3496" y="10291"/>
                  <a:pt x="3496" y="10291"/>
                </a:cubicBezTo>
                <a:cubicBezTo>
                  <a:pt x="3496" y="10079"/>
                  <a:pt x="3324" y="9907"/>
                  <a:pt x="3113" y="9907"/>
                </a:cubicBezTo>
                <a:close/>
                <a:moveTo>
                  <a:pt x="2729" y="13013"/>
                </a:moveTo>
                <a:cubicBezTo>
                  <a:pt x="946" y="13013"/>
                  <a:pt x="946" y="13013"/>
                  <a:pt x="946" y="13013"/>
                </a:cubicBezTo>
                <a:cubicBezTo>
                  <a:pt x="946" y="10674"/>
                  <a:pt x="946" y="10674"/>
                  <a:pt x="946" y="10674"/>
                </a:cubicBezTo>
                <a:cubicBezTo>
                  <a:pt x="2729" y="10674"/>
                  <a:pt x="2729" y="10674"/>
                  <a:pt x="2729" y="10674"/>
                </a:cubicBezTo>
                <a:cubicBezTo>
                  <a:pt x="2729" y="13013"/>
                  <a:pt x="2729" y="13013"/>
                  <a:pt x="2729" y="13013"/>
                </a:cubicBezTo>
                <a:close/>
                <a:moveTo>
                  <a:pt x="13560" y="399"/>
                </a:moveTo>
                <a:cubicBezTo>
                  <a:pt x="13502" y="319"/>
                  <a:pt x="13410" y="269"/>
                  <a:pt x="13311" y="265"/>
                </a:cubicBezTo>
                <a:cubicBezTo>
                  <a:pt x="9822" y="16"/>
                  <a:pt x="9822" y="16"/>
                  <a:pt x="9822" y="16"/>
                </a:cubicBezTo>
                <a:cubicBezTo>
                  <a:pt x="9610" y="0"/>
                  <a:pt x="9426" y="158"/>
                  <a:pt x="9410" y="370"/>
                </a:cubicBezTo>
                <a:cubicBezTo>
                  <a:pt x="9394" y="582"/>
                  <a:pt x="9553" y="766"/>
                  <a:pt x="9765" y="782"/>
                </a:cubicBezTo>
                <a:cubicBezTo>
                  <a:pt x="12234" y="950"/>
                  <a:pt x="12234" y="950"/>
                  <a:pt x="12234" y="950"/>
                </a:cubicBezTo>
                <a:cubicBezTo>
                  <a:pt x="7694" y="4501"/>
                  <a:pt x="7694" y="4501"/>
                  <a:pt x="7694" y="4501"/>
                </a:cubicBezTo>
                <a:cubicBezTo>
                  <a:pt x="4224" y="1779"/>
                  <a:pt x="4224" y="1779"/>
                  <a:pt x="4224" y="1779"/>
                </a:cubicBezTo>
                <a:cubicBezTo>
                  <a:pt x="4076" y="1662"/>
                  <a:pt x="3865" y="1670"/>
                  <a:pt x="3726" y="1798"/>
                </a:cubicBezTo>
                <a:cubicBezTo>
                  <a:pt x="160" y="5211"/>
                  <a:pt x="160" y="5211"/>
                  <a:pt x="160" y="5211"/>
                </a:cubicBezTo>
                <a:cubicBezTo>
                  <a:pt x="9" y="5354"/>
                  <a:pt x="0" y="5593"/>
                  <a:pt x="141" y="5747"/>
                </a:cubicBezTo>
                <a:cubicBezTo>
                  <a:pt x="210" y="5836"/>
                  <a:pt x="317" y="5886"/>
                  <a:pt x="429" y="5882"/>
                </a:cubicBezTo>
                <a:cubicBezTo>
                  <a:pt x="530" y="5880"/>
                  <a:pt x="626" y="5839"/>
                  <a:pt x="697" y="5767"/>
                </a:cubicBezTo>
                <a:cubicBezTo>
                  <a:pt x="4014" y="2584"/>
                  <a:pt x="4014" y="2584"/>
                  <a:pt x="4014" y="2584"/>
                </a:cubicBezTo>
                <a:cubicBezTo>
                  <a:pt x="7445" y="5287"/>
                  <a:pt x="7445" y="5287"/>
                  <a:pt x="7445" y="5287"/>
                </a:cubicBezTo>
                <a:cubicBezTo>
                  <a:pt x="7585" y="5399"/>
                  <a:pt x="7784" y="5399"/>
                  <a:pt x="7924" y="5287"/>
                </a:cubicBezTo>
                <a:cubicBezTo>
                  <a:pt x="12832" y="1468"/>
                  <a:pt x="12832" y="1468"/>
                  <a:pt x="12832" y="1468"/>
                </a:cubicBezTo>
                <a:cubicBezTo>
                  <a:pt x="12640" y="3850"/>
                  <a:pt x="12640" y="3850"/>
                  <a:pt x="12640" y="3850"/>
                </a:cubicBezTo>
                <a:cubicBezTo>
                  <a:pt x="12639" y="4058"/>
                  <a:pt x="12797" y="4232"/>
                  <a:pt x="13004" y="4252"/>
                </a:cubicBezTo>
                <a:cubicBezTo>
                  <a:pt x="13023" y="4252"/>
                  <a:pt x="13023" y="4252"/>
                  <a:pt x="13023" y="4252"/>
                </a:cubicBezTo>
                <a:cubicBezTo>
                  <a:pt x="13221" y="4253"/>
                  <a:pt x="13387" y="4104"/>
                  <a:pt x="13407" y="3907"/>
                </a:cubicBezTo>
                <a:cubicBezTo>
                  <a:pt x="13656" y="667"/>
                  <a:pt x="13656" y="667"/>
                  <a:pt x="13656" y="667"/>
                </a:cubicBezTo>
                <a:cubicBezTo>
                  <a:pt x="13670" y="568"/>
                  <a:pt x="13634" y="467"/>
                  <a:pt x="13560" y="399"/>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cs typeface="思源黑体 CN Normal" panose="020B0400000000000000" pitchFamily="34" charset="-122"/>
            </a:endParaRPr>
          </a:p>
        </p:txBody>
      </p:sp>
      <p:sp>
        <p:nvSpPr>
          <p:cNvPr id="82" name="小红书平北职场PPT8"/>
          <p:cNvSpPr>
            <a:spLocks noEditPoints="1"/>
          </p:cNvSpPr>
          <p:nvPr/>
        </p:nvSpPr>
        <p:spPr bwMode="auto">
          <a:xfrm>
            <a:off x="3312329" y="5602235"/>
            <a:ext cx="408016" cy="419892"/>
          </a:xfrm>
          <a:custGeom>
            <a:avLst/>
            <a:gdLst>
              <a:gd name="T0" fmla="*/ 526 w 535"/>
              <a:gd name="T1" fmla="*/ 75 h 549"/>
              <a:gd name="T2" fmla="*/ 472 w 535"/>
              <a:gd name="T3" fmla="*/ 68 h 549"/>
              <a:gd name="T4" fmla="*/ 468 w 535"/>
              <a:gd name="T5" fmla="*/ 64 h 549"/>
              <a:gd name="T6" fmla="*/ 459 w 535"/>
              <a:gd name="T7" fmla="*/ 7 h 549"/>
              <a:gd name="T8" fmla="*/ 446 w 535"/>
              <a:gd name="T9" fmla="*/ 0 h 549"/>
              <a:gd name="T10" fmla="*/ 433 w 535"/>
              <a:gd name="T11" fmla="*/ 7 h 549"/>
              <a:gd name="T12" fmla="*/ 330 w 535"/>
              <a:gd name="T13" fmla="*/ 115 h 549"/>
              <a:gd name="T14" fmla="*/ 326 w 535"/>
              <a:gd name="T15" fmla="*/ 185 h 549"/>
              <a:gd name="T16" fmla="*/ 290 w 535"/>
              <a:gd name="T17" fmla="*/ 235 h 549"/>
              <a:gd name="T18" fmla="*/ 163 w 535"/>
              <a:gd name="T19" fmla="*/ 300 h 549"/>
              <a:gd name="T20" fmla="*/ 323 w 535"/>
              <a:gd name="T21" fmla="*/ 300 h 549"/>
              <a:gd name="T22" fmla="*/ 346 w 535"/>
              <a:gd name="T23" fmla="*/ 209 h 549"/>
              <a:gd name="T24" fmla="*/ 405 w 535"/>
              <a:gd name="T25" fmla="*/ 210 h 549"/>
              <a:gd name="T26" fmla="*/ 435 w 535"/>
              <a:gd name="T27" fmla="*/ 197 h 549"/>
              <a:gd name="T28" fmla="*/ 533 w 535"/>
              <a:gd name="T29" fmla="*/ 97 h 549"/>
              <a:gd name="T30" fmla="*/ 533 w 535"/>
              <a:gd name="T31" fmla="*/ 82 h 549"/>
              <a:gd name="T32" fmla="*/ 369 w 535"/>
              <a:gd name="T33" fmla="*/ 187 h 549"/>
              <a:gd name="T34" fmla="*/ 469 w 535"/>
              <a:gd name="T35" fmla="*/ 91 h 549"/>
              <a:gd name="T36" fmla="*/ 418 w 535"/>
              <a:gd name="T37" fmla="*/ 181 h 549"/>
              <a:gd name="T38" fmla="*/ 405 w 535"/>
              <a:gd name="T39" fmla="*/ 187 h 549"/>
              <a:gd name="T40" fmla="*/ 349 w 535"/>
              <a:gd name="T41" fmla="*/ 173 h 549"/>
              <a:gd name="T42" fmla="*/ 351 w 535"/>
              <a:gd name="T43" fmla="*/ 124 h 549"/>
              <a:gd name="T44" fmla="*/ 441 w 535"/>
              <a:gd name="T45" fmla="*/ 31 h 549"/>
              <a:gd name="T46" fmla="*/ 446 w 535"/>
              <a:gd name="T47" fmla="*/ 73 h 549"/>
              <a:gd name="T48" fmla="*/ 186 w 535"/>
              <a:gd name="T49" fmla="*/ 300 h 549"/>
              <a:gd name="T50" fmla="*/ 273 w 535"/>
              <a:gd name="T51" fmla="*/ 251 h 549"/>
              <a:gd name="T52" fmla="*/ 231 w 535"/>
              <a:gd name="T53" fmla="*/ 300 h 549"/>
              <a:gd name="T54" fmla="*/ 251 w 535"/>
              <a:gd name="T55" fmla="*/ 308 h 549"/>
              <a:gd name="T56" fmla="*/ 300 w 535"/>
              <a:gd name="T57" fmla="*/ 300 h 549"/>
              <a:gd name="T58" fmla="*/ 462 w 535"/>
              <a:gd name="T59" fmla="*/ 201 h 549"/>
              <a:gd name="T60" fmla="*/ 243 w 535"/>
              <a:gd name="T61" fmla="*/ 549 h 549"/>
              <a:gd name="T62" fmla="*/ 243 w 535"/>
              <a:gd name="T63" fmla="*/ 63 h 549"/>
              <a:gd name="T64" fmla="*/ 331 w 535"/>
              <a:gd name="T65" fmla="*/ 80 h 549"/>
              <a:gd name="T66" fmla="*/ 325 w 535"/>
              <a:gd name="T67" fmla="*/ 87 h 549"/>
              <a:gd name="T68" fmla="*/ 315 w 535"/>
              <a:gd name="T69" fmla="*/ 98 h 549"/>
              <a:gd name="T70" fmla="*/ 23 w 535"/>
              <a:gd name="T71" fmla="*/ 306 h 549"/>
              <a:gd name="T72" fmla="*/ 463 w 535"/>
              <a:gd name="T73" fmla="*/ 306 h 549"/>
              <a:gd name="T74" fmla="*/ 444 w 535"/>
              <a:gd name="T75" fmla="*/ 214 h 549"/>
              <a:gd name="T76" fmla="*/ 459 w 535"/>
              <a:gd name="T77" fmla="*/ 200 h 549"/>
              <a:gd name="T78" fmla="*/ 462 w 535"/>
              <a:gd name="T79" fmla="*/ 201 h 549"/>
              <a:gd name="T80" fmla="*/ 243 w 535"/>
              <a:gd name="T81" fmla="*/ 441 h 549"/>
              <a:gd name="T82" fmla="*/ 367 w 535"/>
              <a:gd name="T83" fmla="*/ 232 h 549"/>
              <a:gd name="T84" fmla="*/ 369 w 535"/>
              <a:gd name="T85" fmla="*/ 229 h 549"/>
              <a:gd name="T86" fmla="*/ 393 w 535"/>
              <a:gd name="T87" fmla="*/ 230 h 549"/>
              <a:gd name="T88" fmla="*/ 243 w 535"/>
              <a:gd name="T89" fmla="*/ 465 h 549"/>
              <a:gd name="T90" fmla="*/ 243 w 535"/>
              <a:gd name="T91" fmla="*/ 134 h 549"/>
              <a:gd name="T92" fmla="*/ 307 w 535"/>
              <a:gd name="T93" fmla="*/ 149 h 549"/>
              <a:gd name="T94" fmla="*/ 306 w 535"/>
              <a:gd name="T95" fmla="*/ 172 h 549"/>
              <a:gd name="T96" fmla="*/ 243 w 535"/>
              <a:gd name="T97" fmla="*/ 158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35" h="549">
                <a:moveTo>
                  <a:pt x="533" y="82"/>
                </a:moveTo>
                <a:cubicBezTo>
                  <a:pt x="532" y="78"/>
                  <a:pt x="528" y="76"/>
                  <a:pt x="526" y="75"/>
                </a:cubicBezTo>
                <a:cubicBezTo>
                  <a:pt x="523" y="73"/>
                  <a:pt x="520" y="73"/>
                  <a:pt x="518" y="73"/>
                </a:cubicBezTo>
                <a:cubicBezTo>
                  <a:pt x="472" y="68"/>
                  <a:pt x="472" y="68"/>
                  <a:pt x="472" y="68"/>
                </a:cubicBezTo>
                <a:cubicBezTo>
                  <a:pt x="471" y="68"/>
                  <a:pt x="470" y="68"/>
                  <a:pt x="469" y="67"/>
                </a:cubicBezTo>
                <a:cubicBezTo>
                  <a:pt x="468" y="66"/>
                  <a:pt x="468" y="65"/>
                  <a:pt x="468" y="64"/>
                </a:cubicBezTo>
                <a:cubicBezTo>
                  <a:pt x="463" y="18"/>
                  <a:pt x="463" y="18"/>
                  <a:pt x="463" y="18"/>
                </a:cubicBezTo>
                <a:cubicBezTo>
                  <a:pt x="463" y="13"/>
                  <a:pt x="461" y="10"/>
                  <a:pt x="459" y="7"/>
                </a:cubicBezTo>
                <a:cubicBezTo>
                  <a:pt x="458" y="5"/>
                  <a:pt x="456" y="3"/>
                  <a:pt x="454" y="2"/>
                </a:cubicBezTo>
                <a:cubicBezTo>
                  <a:pt x="451" y="1"/>
                  <a:pt x="449" y="0"/>
                  <a:pt x="446" y="0"/>
                </a:cubicBezTo>
                <a:cubicBezTo>
                  <a:pt x="443" y="0"/>
                  <a:pt x="440" y="2"/>
                  <a:pt x="439" y="2"/>
                </a:cubicBezTo>
                <a:cubicBezTo>
                  <a:pt x="436" y="4"/>
                  <a:pt x="434" y="5"/>
                  <a:pt x="433" y="7"/>
                </a:cubicBezTo>
                <a:cubicBezTo>
                  <a:pt x="339" y="101"/>
                  <a:pt x="339" y="101"/>
                  <a:pt x="339" y="101"/>
                </a:cubicBezTo>
                <a:cubicBezTo>
                  <a:pt x="335" y="105"/>
                  <a:pt x="332" y="109"/>
                  <a:pt x="330" y="115"/>
                </a:cubicBezTo>
                <a:cubicBezTo>
                  <a:pt x="327" y="121"/>
                  <a:pt x="326" y="126"/>
                  <a:pt x="326" y="131"/>
                </a:cubicBezTo>
                <a:cubicBezTo>
                  <a:pt x="326" y="185"/>
                  <a:pt x="326" y="185"/>
                  <a:pt x="326" y="185"/>
                </a:cubicBezTo>
                <a:cubicBezTo>
                  <a:pt x="326" y="188"/>
                  <a:pt x="327" y="192"/>
                  <a:pt x="328" y="195"/>
                </a:cubicBezTo>
                <a:cubicBezTo>
                  <a:pt x="290" y="235"/>
                  <a:pt x="290" y="235"/>
                  <a:pt x="290" y="235"/>
                </a:cubicBezTo>
                <a:cubicBezTo>
                  <a:pt x="276" y="225"/>
                  <a:pt x="260" y="219"/>
                  <a:pt x="243" y="219"/>
                </a:cubicBezTo>
                <a:cubicBezTo>
                  <a:pt x="199" y="219"/>
                  <a:pt x="163" y="255"/>
                  <a:pt x="163" y="300"/>
                </a:cubicBezTo>
                <a:cubicBezTo>
                  <a:pt x="163" y="344"/>
                  <a:pt x="199" y="380"/>
                  <a:pt x="243" y="380"/>
                </a:cubicBezTo>
                <a:cubicBezTo>
                  <a:pt x="287" y="380"/>
                  <a:pt x="323" y="344"/>
                  <a:pt x="323" y="300"/>
                </a:cubicBezTo>
                <a:cubicBezTo>
                  <a:pt x="323" y="282"/>
                  <a:pt x="317" y="265"/>
                  <a:pt x="306" y="251"/>
                </a:cubicBezTo>
                <a:cubicBezTo>
                  <a:pt x="346" y="209"/>
                  <a:pt x="346" y="209"/>
                  <a:pt x="346" y="209"/>
                </a:cubicBezTo>
                <a:cubicBezTo>
                  <a:pt x="348" y="210"/>
                  <a:pt x="349" y="210"/>
                  <a:pt x="351" y="210"/>
                </a:cubicBezTo>
                <a:cubicBezTo>
                  <a:pt x="405" y="210"/>
                  <a:pt x="405" y="210"/>
                  <a:pt x="405" y="210"/>
                </a:cubicBezTo>
                <a:cubicBezTo>
                  <a:pt x="410" y="210"/>
                  <a:pt x="415" y="209"/>
                  <a:pt x="421" y="206"/>
                </a:cubicBezTo>
                <a:cubicBezTo>
                  <a:pt x="427" y="204"/>
                  <a:pt x="431" y="201"/>
                  <a:pt x="435" y="197"/>
                </a:cubicBezTo>
                <a:cubicBezTo>
                  <a:pt x="529" y="103"/>
                  <a:pt x="529" y="103"/>
                  <a:pt x="529" y="103"/>
                </a:cubicBezTo>
                <a:cubicBezTo>
                  <a:pt x="530" y="101"/>
                  <a:pt x="532" y="100"/>
                  <a:pt x="533" y="97"/>
                </a:cubicBezTo>
                <a:cubicBezTo>
                  <a:pt x="534" y="95"/>
                  <a:pt x="535" y="92"/>
                  <a:pt x="535" y="89"/>
                </a:cubicBezTo>
                <a:cubicBezTo>
                  <a:pt x="535" y="87"/>
                  <a:pt x="535" y="84"/>
                  <a:pt x="533" y="82"/>
                </a:cubicBezTo>
                <a:close/>
                <a:moveTo>
                  <a:pt x="405" y="187"/>
                </a:moveTo>
                <a:cubicBezTo>
                  <a:pt x="369" y="187"/>
                  <a:pt x="369" y="187"/>
                  <a:pt x="369" y="187"/>
                </a:cubicBezTo>
                <a:cubicBezTo>
                  <a:pt x="463" y="90"/>
                  <a:pt x="463" y="90"/>
                  <a:pt x="463" y="90"/>
                </a:cubicBezTo>
                <a:cubicBezTo>
                  <a:pt x="465" y="90"/>
                  <a:pt x="467" y="91"/>
                  <a:pt x="469" y="91"/>
                </a:cubicBezTo>
                <a:cubicBezTo>
                  <a:pt x="505" y="95"/>
                  <a:pt x="505" y="95"/>
                  <a:pt x="505" y="95"/>
                </a:cubicBezTo>
                <a:cubicBezTo>
                  <a:pt x="418" y="181"/>
                  <a:pt x="418" y="181"/>
                  <a:pt x="418" y="181"/>
                </a:cubicBezTo>
                <a:cubicBezTo>
                  <a:pt x="417" y="182"/>
                  <a:pt x="415" y="184"/>
                  <a:pt x="412" y="185"/>
                </a:cubicBezTo>
                <a:cubicBezTo>
                  <a:pt x="409" y="186"/>
                  <a:pt x="406" y="187"/>
                  <a:pt x="405" y="187"/>
                </a:cubicBezTo>
                <a:close/>
                <a:moveTo>
                  <a:pt x="446" y="73"/>
                </a:moveTo>
                <a:cubicBezTo>
                  <a:pt x="349" y="173"/>
                  <a:pt x="349" y="173"/>
                  <a:pt x="349" y="173"/>
                </a:cubicBezTo>
                <a:cubicBezTo>
                  <a:pt x="349" y="131"/>
                  <a:pt x="349" y="131"/>
                  <a:pt x="349" y="131"/>
                </a:cubicBezTo>
                <a:cubicBezTo>
                  <a:pt x="349" y="130"/>
                  <a:pt x="350" y="127"/>
                  <a:pt x="351" y="124"/>
                </a:cubicBezTo>
                <a:cubicBezTo>
                  <a:pt x="352" y="121"/>
                  <a:pt x="354" y="118"/>
                  <a:pt x="355" y="117"/>
                </a:cubicBezTo>
                <a:cubicBezTo>
                  <a:pt x="441" y="31"/>
                  <a:pt x="441" y="31"/>
                  <a:pt x="441" y="31"/>
                </a:cubicBezTo>
                <a:cubicBezTo>
                  <a:pt x="445" y="67"/>
                  <a:pt x="445" y="67"/>
                  <a:pt x="445" y="67"/>
                </a:cubicBezTo>
                <a:cubicBezTo>
                  <a:pt x="445" y="69"/>
                  <a:pt x="445" y="71"/>
                  <a:pt x="446" y="73"/>
                </a:cubicBezTo>
                <a:close/>
                <a:moveTo>
                  <a:pt x="243" y="356"/>
                </a:moveTo>
                <a:cubicBezTo>
                  <a:pt x="212" y="356"/>
                  <a:pt x="186" y="331"/>
                  <a:pt x="186" y="300"/>
                </a:cubicBezTo>
                <a:cubicBezTo>
                  <a:pt x="186" y="268"/>
                  <a:pt x="212" y="242"/>
                  <a:pt x="243" y="242"/>
                </a:cubicBezTo>
                <a:cubicBezTo>
                  <a:pt x="254" y="242"/>
                  <a:pt x="264" y="246"/>
                  <a:pt x="273" y="251"/>
                </a:cubicBezTo>
                <a:cubicBezTo>
                  <a:pt x="235" y="291"/>
                  <a:pt x="235" y="291"/>
                  <a:pt x="235" y="291"/>
                </a:cubicBezTo>
                <a:cubicBezTo>
                  <a:pt x="233" y="294"/>
                  <a:pt x="231" y="297"/>
                  <a:pt x="231" y="300"/>
                </a:cubicBezTo>
                <a:cubicBezTo>
                  <a:pt x="231" y="303"/>
                  <a:pt x="233" y="306"/>
                  <a:pt x="235" y="308"/>
                </a:cubicBezTo>
                <a:cubicBezTo>
                  <a:pt x="239" y="312"/>
                  <a:pt x="247" y="312"/>
                  <a:pt x="251" y="308"/>
                </a:cubicBezTo>
                <a:cubicBezTo>
                  <a:pt x="290" y="268"/>
                  <a:pt x="290" y="268"/>
                  <a:pt x="290" y="268"/>
                </a:cubicBezTo>
                <a:cubicBezTo>
                  <a:pt x="296" y="277"/>
                  <a:pt x="300" y="288"/>
                  <a:pt x="300" y="300"/>
                </a:cubicBezTo>
                <a:cubicBezTo>
                  <a:pt x="300" y="331"/>
                  <a:pt x="274" y="356"/>
                  <a:pt x="243" y="356"/>
                </a:cubicBezTo>
                <a:close/>
                <a:moveTo>
                  <a:pt x="462" y="201"/>
                </a:moveTo>
                <a:cubicBezTo>
                  <a:pt x="478" y="234"/>
                  <a:pt x="486" y="269"/>
                  <a:pt x="486" y="306"/>
                </a:cubicBezTo>
                <a:cubicBezTo>
                  <a:pt x="486" y="440"/>
                  <a:pt x="377" y="549"/>
                  <a:pt x="243" y="549"/>
                </a:cubicBezTo>
                <a:cubicBezTo>
                  <a:pt x="109" y="549"/>
                  <a:pt x="0" y="440"/>
                  <a:pt x="0" y="306"/>
                </a:cubicBezTo>
                <a:cubicBezTo>
                  <a:pt x="0" y="172"/>
                  <a:pt x="109" y="63"/>
                  <a:pt x="243" y="63"/>
                </a:cubicBezTo>
                <a:cubicBezTo>
                  <a:pt x="273" y="63"/>
                  <a:pt x="302" y="68"/>
                  <a:pt x="330" y="79"/>
                </a:cubicBezTo>
                <a:cubicBezTo>
                  <a:pt x="330" y="79"/>
                  <a:pt x="331" y="80"/>
                  <a:pt x="331" y="80"/>
                </a:cubicBezTo>
                <a:cubicBezTo>
                  <a:pt x="331" y="81"/>
                  <a:pt x="331" y="81"/>
                  <a:pt x="331" y="82"/>
                </a:cubicBezTo>
                <a:cubicBezTo>
                  <a:pt x="325" y="87"/>
                  <a:pt x="325" y="87"/>
                  <a:pt x="325" y="87"/>
                </a:cubicBezTo>
                <a:cubicBezTo>
                  <a:pt x="322" y="90"/>
                  <a:pt x="319" y="94"/>
                  <a:pt x="317" y="97"/>
                </a:cubicBezTo>
                <a:cubicBezTo>
                  <a:pt x="317" y="98"/>
                  <a:pt x="316" y="98"/>
                  <a:pt x="315" y="98"/>
                </a:cubicBezTo>
                <a:cubicBezTo>
                  <a:pt x="292" y="90"/>
                  <a:pt x="267" y="86"/>
                  <a:pt x="243" y="86"/>
                </a:cubicBezTo>
                <a:cubicBezTo>
                  <a:pt x="122" y="86"/>
                  <a:pt x="23" y="185"/>
                  <a:pt x="23" y="306"/>
                </a:cubicBezTo>
                <a:cubicBezTo>
                  <a:pt x="23" y="427"/>
                  <a:pt x="122" y="526"/>
                  <a:pt x="243" y="526"/>
                </a:cubicBezTo>
                <a:cubicBezTo>
                  <a:pt x="364" y="526"/>
                  <a:pt x="463" y="427"/>
                  <a:pt x="463" y="306"/>
                </a:cubicBezTo>
                <a:cubicBezTo>
                  <a:pt x="463" y="275"/>
                  <a:pt x="456" y="245"/>
                  <a:pt x="444" y="217"/>
                </a:cubicBezTo>
                <a:cubicBezTo>
                  <a:pt x="443" y="216"/>
                  <a:pt x="444" y="215"/>
                  <a:pt x="444" y="214"/>
                </a:cubicBezTo>
                <a:cubicBezTo>
                  <a:pt x="446" y="213"/>
                  <a:pt x="447" y="212"/>
                  <a:pt x="449" y="211"/>
                </a:cubicBezTo>
                <a:cubicBezTo>
                  <a:pt x="459" y="200"/>
                  <a:pt x="459" y="200"/>
                  <a:pt x="459" y="200"/>
                </a:cubicBezTo>
                <a:cubicBezTo>
                  <a:pt x="460" y="200"/>
                  <a:pt x="460" y="199"/>
                  <a:pt x="461" y="200"/>
                </a:cubicBezTo>
                <a:cubicBezTo>
                  <a:pt x="461" y="200"/>
                  <a:pt x="462" y="200"/>
                  <a:pt x="462" y="201"/>
                </a:cubicBezTo>
                <a:close/>
                <a:moveTo>
                  <a:pt x="101" y="300"/>
                </a:moveTo>
                <a:cubicBezTo>
                  <a:pt x="101" y="378"/>
                  <a:pt x="165" y="441"/>
                  <a:pt x="243" y="441"/>
                </a:cubicBezTo>
                <a:cubicBezTo>
                  <a:pt x="321" y="441"/>
                  <a:pt x="385" y="378"/>
                  <a:pt x="385" y="300"/>
                </a:cubicBezTo>
                <a:cubicBezTo>
                  <a:pt x="385" y="276"/>
                  <a:pt x="379" y="252"/>
                  <a:pt x="367" y="232"/>
                </a:cubicBezTo>
                <a:cubicBezTo>
                  <a:pt x="367" y="231"/>
                  <a:pt x="367" y="230"/>
                  <a:pt x="367" y="230"/>
                </a:cubicBezTo>
                <a:cubicBezTo>
                  <a:pt x="368" y="229"/>
                  <a:pt x="368" y="229"/>
                  <a:pt x="369" y="229"/>
                </a:cubicBezTo>
                <a:cubicBezTo>
                  <a:pt x="391" y="229"/>
                  <a:pt x="391" y="229"/>
                  <a:pt x="391" y="229"/>
                </a:cubicBezTo>
                <a:cubicBezTo>
                  <a:pt x="392" y="229"/>
                  <a:pt x="392" y="229"/>
                  <a:pt x="393" y="230"/>
                </a:cubicBezTo>
                <a:cubicBezTo>
                  <a:pt x="403" y="252"/>
                  <a:pt x="408" y="275"/>
                  <a:pt x="408" y="300"/>
                </a:cubicBezTo>
                <a:cubicBezTo>
                  <a:pt x="408" y="391"/>
                  <a:pt x="334" y="465"/>
                  <a:pt x="243" y="465"/>
                </a:cubicBezTo>
                <a:cubicBezTo>
                  <a:pt x="152" y="465"/>
                  <a:pt x="78" y="391"/>
                  <a:pt x="78" y="300"/>
                </a:cubicBezTo>
                <a:cubicBezTo>
                  <a:pt x="78" y="209"/>
                  <a:pt x="152" y="134"/>
                  <a:pt x="243" y="134"/>
                </a:cubicBezTo>
                <a:cubicBezTo>
                  <a:pt x="264" y="134"/>
                  <a:pt x="286" y="139"/>
                  <a:pt x="306" y="147"/>
                </a:cubicBezTo>
                <a:cubicBezTo>
                  <a:pt x="306" y="147"/>
                  <a:pt x="307" y="148"/>
                  <a:pt x="307" y="149"/>
                </a:cubicBezTo>
                <a:cubicBezTo>
                  <a:pt x="307" y="170"/>
                  <a:pt x="307" y="170"/>
                  <a:pt x="307" y="170"/>
                </a:cubicBezTo>
                <a:cubicBezTo>
                  <a:pt x="307" y="171"/>
                  <a:pt x="307" y="171"/>
                  <a:pt x="306" y="172"/>
                </a:cubicBezTo>
                <a:cubicBezTo>
                  <a:pt x="305" y="172"/>
                  <a:pt x="305" y="172"/>
                  <a:pt x="304" y="172"/>
                </a:cubicBezTo>
                <a:cubicBezTo>
                  <a:pt x="285" y="162"/>
                  <a:pt x="265" y="158"/>
                  <a:pt x="243" y="158"/>
                </a:cubicBezTo>
                <a:cubicBezTo>
                  <a:pt x="165" y="158"/>
                  <a:pt x="101" y="221"/>
                  <a:pt x="101" y="300"/>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endParaRPr lang="en-US" sz="3200">
              <a:cs typeface="思源黑体 CN Normal" panose="020B0400000000000000" pitchFamily="34" charset="-122"/>
            </a:endParaRPr>
          </a:p>
        </p:txBody>
      </p:sp>
      <p:sp>
        <p:nvSpPr>
          <p:cNvPr id="83" name="小红书平北职场PPT9"/>
          <p:cNvSpPr>
            <a:spLocks noEditPoints="1"/>
          </p:cNvSpPr>
          <p:nvPr/>
        </p:nvSpPr>
        <p:spPr bwMode="auto">
          <a:xfrm>
            <a:off x="6438792" y="1505520"/>
            <a:ext cx="494692" cy="327118"/>
          </a:xfrm>
          <a:custGeom>
            <a:avLst/>
            <a:gdLst>
              <a:gd name="T0" fmla="*/ 479 w 649"/>
              <a:gd name="T1" fmla="*/ 37 h 428"/>
              <a:gd name="T2" fmla="*/ 365 w 649"/>
              <a:gd name="T3" fmla="*/ 10 h 428"/>
              <a:gd name="T4" fmla="*/ 305 w 649"/>
              <a:gd name="T5" fmla="*/ 15 h 428"/>
              <a:gd name="T6" fmla="*/ 187 w 649"/>
              <a:gd name="T7" fmla="*/ 32 h 428"/>
              <a:gd name="T8" fmla="*/ 71 w 649"/>
              <a:gd name="T9" fmla="*/ 27 h 428"/>
              <a:gd name="T10" fmla="*/ 70 w 649"/>
              <a:gd name="T11" fmla="*/ 201 h 428"/>
              <a:gd name="T12" fmla="*/ 51 w 649"/>
              <a:gd name="T13" fmla="*/ 291 h 428"/>
              <a:gd name="T14" fmla="*/ 82 w 649"/>
              <a:gd name="T15" fmla="*/ 354 h 428"/>
              <a:gd name="T16" fmla="*/ 142 w 649"/>
              <a:gd name="T17" fmla="*/ 386 h 428"/>
              <a:gd name="T18" fmla="*/ 208 w 649"/>
              <a:gd name="T19" fmla="*/ 413 h 428"/>
              <a:gd name="T20" fmla="*/ 321 w 649"/>
              <a:gd name="T21" fmla="*/ 417 h 428"/>
              <a:gd name="T22" fmla="*/ 385 w 649"/>
              <a:gd name="T23" fmla="*/ 409 h 428"/>
              <a:gd name="T24" fmla="*/ 463 w 649"/>
              <a:gd name="T25" fmla="*/ 402 h 428"/>
              <a:gd name="T26" fmla="*/ 523 w 649"/>
              <a:gd name="T27" fmla="*/ 358 h 428"/>
              <a:gd name="T28" fmla="*/ 562 w 649"/>
              <a:gd name="T29" fmla="*/ 304 h 428"/>
              <a:gd name="T30" fmla="*/ 637 w 649"/>
              <a:gd name="T31" fmla="*/ 143 h 428"/>
              <a:gd name="T32" fmla="*/ 426 w 649"/>
              <a:gd name="T33" fmla="*/ 213 h 428"/>
              <a:gd name="T34" fmla="*/ 504 w 649"/>
              <a:gd name="T35" fmla="*/ 318 h 428"/>
              <a:gd name="T36" fmla="*/ 487 w 649"/>
              <a:gd name="T37" fmla="*/ 351 h 428"/>
              <a:gd name="T38" fmla="*/ 372 w 649"/>
              <a:gd name="T39" fmla="*/ 283 h 428"/>
              <a:gd name="T40" fmla="*/ 454 w 649"/>
              <a:gd name="T41" fmla="*/ 368 h 428"/>
              <a:gd name="T42" fmla="*/ 421 w 649"/>
              <a:gd name="T43" fmla="*/ 386 h 428"/>
              <a:gd name="T44" fmla="*/ 327 w 649"/>
              <a:gd name="T45" fmla="*/ 333 h 428"/>
              <a:gd name="T46" fmla="*/ 366 w 649"/>
              <a:gd name="T47" fmla="*/ 392 h 428"/>
              <a:gd name="T48" fmla="*/ 306 w 649"/>
              <a:gd name="T49" fmla="*/ 368 h 428"/>
              <a:gd name="T50" fmla="*/ 262 w 649"/>
              <a:gd name="T51" fmla="*/ 304 h 428"/>
              <a:gd name="T52" fmla="*/ 224 w 649"/>
              <a:gd name="T53" fmla="*/ 259 h 428"/>
              <a:gd name="T54" fmla="*/ 179 w 649"/>
              <a:gd name="T55" fmla="*/ 201 h 428"/>
              <a:gd name="T56" fmla="*/ 131 w 649"/>
              <a:gd name="T57" fmla="*/ 157 h 428"/>
              <a:gd name="T58" fmla="*/ 88 w 649"/>
              <a:gd name="T59" fmla="*/ 182 h 428"/>
              <a:gd name="T60" fmla="*/ 91 w 649"/>
              <a:gd name="T61" fmla="*/ 44 h 428"/>
              <a:gd name="T62" fmla="*/ 155 w 649"/>
              <a:gd name="T63" fmla="*/ 51 h 428"/>
              <a:gd name="T64" fmla="*/ 271 w 649"/>
              <a:gd name="T65" fmla="*/ 34 h 428"/>
              <a:gd name="T66" fmla="*/ 300 w 649"/>
              <a:gd name="T67" fmla="*/ 41 h 428"/>
              <a:gd name="T68" fmla="*/ 259 w 649"/>
              <a:gd name="T69" fmla="*/ 121 h 428"/>
              <a:gd name="T70" fmla="*/ 343 w 649"/>
              <a:gd name="T71" fmla="*/ 126 h 428"/>
              <a:gd name="T72" fmla="*/ 478 w 649"/>
              <a:gd name="T73" fmla="*/ 204 h 428"/>
              <a:gd name="T74" fmla="*/ 538 w 649"/>
              <a:gd name="T75" fmla="*/ 292 h 428"/>
              <a:gd name="T76" fmla="*/ 426 w 649"/>
              <a:gd name="T77" fmla="*/ 213 h 428"/>
              <a:gd name="T78" fmla="*/ 274 w 649"/>
              <a:gd name="T79" fmla="*/ 334 h 428"/>
              <a:gd name="T80" fmla="*/ 249 w 649"/>
              <a:gd name="T81" fmla="*/ 394 h 428"/>
              <a:gd name="T82" fmla="*/ 215 w 649"/>
              <a:gd name="T83" fmla="*/ 378 h 428"/>
              <a:gd name="T84" fmla="*/ 154 w 649"/>
              <a:gd name="T85" fmla="*/ 363 h 428"/>
              <a:gd name="T86" fmla="*/ 214 w 649"/>
              <a:gd name="T87" fmla="*/ 284 h 428"/>
              <a:gd name="T88" fmla="*/ 232 w 649"/>
              <a:gd name="T89" fmla="*/ 317 h 428"/>
              <a:gd name="T90" fmla="*/ 118 w 649"/>
              <a:gd name="T91" fmla="*/ 188 h 428"/>
              <a:gd name="T92" fmla="*/ 152 w 649"/>
              <a:gd name="T93" fmla="*/ 204 h 428"/>
              <a:gd name="T94" fmla="*/ 69 w 649"/>
              <a:gd name="T95" fmla="*/ 273 h 428"/>
              <a:gd name="T96" fmla="*/ 94 w 649"/>
              <a:gd name="T97" fmla="*/ 307 h 428"/>
              <a:gd name="T98" fmla="*/ 195 w 649"/>
              <a:gd name="T99" fmla="*/ 236 h 428"/>
              <a:gd name="T100" fmla="*/ 111 w 649"/>
              <a:gd name="T101" fmla="*/ 340 h 428"/>
              <a:gd name="T102" fmla="*/ 94 w 649"/>
              <a:gd name="T103" fmla="*/ 307 h 428"/>
              <a:gd name="T104" fmla="*/ 449 w 649"/>
              <a:gd name="T105" fmla="*/ 147 h 428"/>
              <a:gd name="T106" fmla="*/ 309 w 649"/>
              <a:gd name="T107" fmla="*/ 117 h 428"/>
              <a:gd name="T108" fmla="*/ 276 w 649"/>
              <a:gd name="T109" fmla="*/ 96 h 428"/>
              <a:gd name="T110" fmla="*/ 380 w 649"/>
              <a:gd name="T111" fmla="*/ 38 h 428"/>
              <a:gd name="T112" fmla="*/ 542 w 649"/>
              <a:gd name="T113" fmla="*/ 28 h 428"/>
              <a:gd name="T114" fmla="*/ 623 w 649"/>
              <a:gd name="T115" fmla="*/ 111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49" h="428">
                <a:moveTo>
                  <a:pt x="588" y="17"/>
                </a:moveTo>
                <a:cubicBezTo>
                  <a:pt x="580" y="6"/>
                  <a:pt x="567" y="0"/>
                  <a:pt x="552" y="0"/>
                </a:cubicBezTo>
                <a:cubicBezTo>
                  <a:pt x="544" y="0"/>
                  <a:pt x="535" y="2"/>
                  <a:pt x="529" y="6"/>
                </a:cubicBezTo>
                <a:cubicBezTo>
                  <a:pt x="479" y="37"/>
                  <a:pt x="479" y="37"/>
                  <a:pt x="479" y="37"/>
                </a:cubicBezTo>
                <a:cubicBezTo>
                  <a:pt x="474" y="40"/>
                  <a:pt x="465" y="42"/>
                  <a:pt x="457" y="42"/>
                </a:cubicBezTo>
                <a:cubicBezTo>
                  <a:pt x="450" y="42"/>
                  <a:pt x="444" y="41"/>
                  <a:pt x="440" y="39"/>
                </a:cubicBezTo>
                <a:cubicBezTo>
                  <a:pt x="391" y="16"/>
                  <a:pt x="391" y="16"/>
                  <a:pt x="391" y="16"/>
                </a:cubicBezTo>
                <a:cubicBezTo>
                  <a:pt x="384" y="12"/>
                  <a:pt x="375" y="10"/>
                  <a:pt x="365" y="10"/>
                </a:cubicBezTo>
                <a:cubicBezTo>
                  <a:pt x="351" y="10"/>
                  <a:pt x="338" y="14"/>
                  <a:pt x="328" y="21"/>
                </a:cubicBezTo>
                <a:cubicBezTo>
                  <a:pt x="323" y="24"/>
                  <a:pt x="323" y="24"/>
                  <a:pt x="323" y="24"/>
                </a:cubicBezTo>
                <a:cubicBezTo>
                  <a:pt x="321" y="23"/>
                  <a:pt x="321" y="23"/>
                  <a:pt x="321" y="23"/>
                </a:cubicBezTo>
                <a:cubicBezTo>
                  <a:pt x="317" y="21"/>
                  <a:pt x="311" y="18"/>
                  <a:pt x="305" y="15"/>
                </a:cubicBezTo>
                <a:cubicBezTo>
                  <a:pt x="296" y="11"/>
                  <a:pt x="285" y="8"/>
                  <a:pt x="272" y="8"/>
                </a:cubicBezTo>
                <a:cubicBezTo>
                  <a:pt x="261" y="8"/>
                  <a:pt x="251" y="10"/>
                  <a:pt x="242" y="14"/>
                </a:cubicBezTo>
                <a:cubicBezTo>
                  <a:pt x="209" y="28"/>
                  <a:pt x="209" y="28"/>
                  <a:pt x="209" y="28"/>
                </a:cubicBezTo>
                <a:cubicBezTo>
                  <a:pt x="204" y="30"/>
                  <a:pt x="196" y="32"/>
                  <a:pt x="187" y="32"/>
                </a:cubicBezTo>
                <a:cubicBezTo>
                  <a:pt x="179" y="32"/>
                  <a:pt x="171" y="30"/>
                  <a:pt x="166" y="28"/>
                </a:cubicBezTo>
                <a:cubicBezTo>
                  <a:pt x="132" y="14"/>
                  <a:pt x="132" y="14"/>
                  <a:pt x="132" y="14"/>
                </a:cubicBezTo>
                <a:cubicBezTo>
                  <a:pt x="119" y="8"/>
                  <a:pt x="104" y="9"/>
                  <a:pt x="90" y="14"/>
                </a:cubicBezTo>
                <a:cubicBezTo>
                  <a:pt x="82" y="18"/>
                  <a:pt x="76" y="22"/>
                  <a:pt x="71" y="27"/>
                </a:cubicBezTo>
                <a:cubicBezTo>
                  <a:pt x="11" y="95"/>
                  <a:pt x="11" y="95"/>
                  <a:pt x="11" y="95"/>
                </a:cubicBezTo>
                <a:cubicBezTo>
                  <a:pt x="4" y="103"/>
                  <a:pt x="0" y="112"/>
                  <a:pt x="0" y="122"/>
                </a:cubicBezTo>
                <a:cubicBezTo>
                  <a:pt x="0" y="134"/>
                  <a:pt x="6" y="146"/>
                  <a:pt x="15" y="154"/>
                </a:cubicBezTo>
                <a:cubicBezTo>
                  <a:pt x="70" y="201"/>
                  <a:pt x="70" y="201"/>
                  <a:pt x="70" y="201"/>
                </a:cubicBezTo>
                <a:cubicBezTo>
                  <a:pt x="44" y="227"/>
                  <a:pt x="44" y="227"/>
                  <a:pt x="44" y="227"/>
                </a:cubicBezTo>
                <a:cubicBezTo>
                  <a:pt x="37" y="235"/>
                  <a:pt x="33" y="245"/>
                  <a:pt x="33" y="256"/>
                </a:cubicBezTo>
                <a:cubicBezTo>
                  <a:pt x="33" y="267"/>
                  <a:pt x="38" y="278"/>
                  <a:pt x="46" y="286"/>
                </a:cubicBezTo>
                <a:cubicBezTo>
                  <a:pt x="51" y="291"/>
                  <a:pt x="51" y="291"/>
                  <a:pt x="51" y="291"/>
                </a:cubicBezTo>
                <a:cubicBezTo>
                  <a:pt x="56" y="296"/>
                  <a:pt x="61" y="299"/>
                  <a:pt x="68" y="301"/>
                </a:cubicBezTo>
                <a:cubicBezTo>
                  <a:pt x="65" y="306"/>
                  <a:pt x="64" y="312"/>
                  <a:pt x="64" y="319"/>
                </a:cubicBezTo>
                <a:cubicBezTo>
                  <a:pt x="64" y="330"/>
                  <a:pt x="68" y="341"/>
                  <a:pt x="76" y="349"/>
                </a:cubicBezTo>
                <a:cubicBezTo>
                  <a:pt x="82" y="354"/>
                  <a:pt x="82" y="354"/>
                  <a:pt x="82" y="354"/>
                </a:cubicBezTo>
                <a:cubicBezTo>
                  <a:pt x="90" y="362"/>
                  <a:pt x="100" y="366"/>
                  <a:pt x="111" y="366"/>
                </a:cubicBezTo>
                <a:cubicBezTo>
                  <a:pt x="116" y="366"/>
                  <a:pt x="121" y="365"/>
                  <a:pt x="125" y="363"/>
                </a:cubicBezTo>
                <a:cubicBezTo>
                  <a:pt x="128" y="370"/>
                  <a:pt x="131" y="377"/>
                  <a:pt x="136" y="381"/>
                </a:cubicBezTo>
                <a:cubicBezTo>
                  <a:pt x="142" y="386"/>
                  <a:pt x="142" y="386"/>
                  <a:pt x="142" y="386"/>
                </a:cubicBezTo>
                <a:cubicBezTo>
                  <a:pt x="150" y="394"/>
                  <a:pt x="160" y="398"/>
                  <a:pt x="171" y="398"/>
                </a:cubicBezTo>
                <a:cubicBezTo>
                  <a:pt x="178" y="398"/>
                  <a:pt x="186" y="396"/>
                  <a:pt x="192" y="392"/>
                </a:cubicBezTo>
                <a:cubicBezTo>
                  <a:pt x="195" y="398"/>
                  <a:pt x="198" y="404"/>
                  <a:pt x="202" y="408"/>
                </a:cubicBezTo>
                <a:cubicBezTo>
                  <a:pt x="208" y="413"/>
                  <a:pt x="208" y="413"/>
                  <a:pt x="208" y="413"/>
                </a:cubicBezTo>
                <a:cubicBezTo>
                  <a:pt x="216" y="421"/>
                  <a:pt x="226" y="425"/>
                  <a:pt x="237" y="425"/>
                </a:cubicBezTo>
                <a:cubicBezTo>
                  <a:pt x="248" y="425"/>
                  <a:pt x="259" y="420"/>
                  <a:pt x="267" y="412"/>
                </a:cubicBezTo>
                <a:cubicBezTo>
                  <a:pt x="290" y="388"/>
                  <a:pt x="290" y="388"/>
                  <a:pt x="290" y="388"/>
                </a:cubicBezTo>
                <a:cubicBezTo>
                  <a:pt x="321" y="417"/>
                  <a:pt x="321" y="417"/>
                  <a:pt x="321" y="417"/>
                </a:cubicBezTo>
                <a:cubicBezTo>
                  <a:pt x="328" y="424"/>
                  <a:pt x="338" y="428"/>
                  <a:pt x="349" y="428"/>
                </a:cubicBezTo>
                <a:cubicBezTo>
                  <a:pt x="350" y="428"/>
                  <a:pt x="350" y="428"/>
                  <a:pt x="350" y="428"/>
                </a:cubicBezTo>
                <a:cubicBezTo>
                  <a:pt x="361" y="428"/>
                  <a:pt x="372" y="423"/>
                  <a:pt x="380" y="415"/>
                </a:cubicBezTo>
                <a:cubicBezTo>
                  <a:pt x="385" y="409"/>
                  <a:pt x="385" y="409"/>
                  <a:pt x="385" y="409"/>
                </a:cubicBezTo>
                <a:cubicBezTo>
                  <a:pt x="389" y="405"/>
                  <a:pt x="392" y="400"/>
                  <a:pt x="394" y="395"/>
                </a:cubicBezTo>
                <a:cubicBezTo>
                  <a:pt x="404" y="405"/>
                  <a:pt x="404" y="405"/>
                  <a:pt x="404" y="405"/>
                </a:cubicBezTo>
                <a:cubicBezTo>
                  <a:pt x="412" y="412"/>
                  <a:pt x="422" y="416"/>
                  <a:pt x="432" y="416"/>
                </a:cubicBezTo>
                <a:cubicBezTo>
                  <a:pt x="444" y="416"/>
                  <a:pt x="455" y="411"/>
                  <a:pt x="463" y="402"/>
                </a:cubicBezTo>
                <a:cubicBezTo>
                  <a:pt x="468" y="397"/>
                  <a:pt x="468" y="397"/>
                  <a:pt x="468" y="397"/>
                </a:cubicBezTo>
                <a:cubicBezTo>
                  <a:pt x="474" y="391"/>
                  <a:pt x="477" y="384"/>
                  <a:pt x="479" y="376"/>
                </a:cubicBezTo>
                <a:cubicBezTo>
                  <a:pt x="493" y="379"/>
                  <a:pt x="508" y="374"/>
                  <a:pt x="518" y="364"/>
                </a:cubicBezTo>
                <a:cubicBezTo>
                  <a:pt x="523" y="358"/>
                  <a:pt x="523" y="358"/>
                  <a:pt x="523" y="358"/>
                </a:cubicBezTo>
                <a:cubicBezTo>
                  <a:pt x="530" y="350"/>
                  <a:pt x="534" y="340"/>
                  <a:pt x="534" y="330"/>
                </a:cubicBezTo>
                <a:cubicBezTo>
                  <a:pt x="534" y="327"/>
                  <a:pt x="534" y="325"/>
                  <a:pt x="534" y="322"/>
                </a:cubicBezTo>
                <a:cubicBezTo>
                  <a:pt x="543" y="321"/>
                  <a:pt x="551" y="316"/>
                  <a:pt x="557" y="310"/>
                </a:cubicBezTo>
                <a:cubicBezTo>
                  <a:pt x="562" y="304"/>
                  <a:pt x="562" y="304"/>
                  <a:pt x="562" y="304"/>
                </a:cubicBezTo>
                <a:cubicBezTo>
                  <a:pt x="569" y="296"/>
                  <a:pt x="573" y="286"/>
                  <a:pt x="573" y="276"/>
                </a:cubicBezTo>
                <a:cubicBezTo>
                  <a:pt x="573" y="264"/>
                  <a:pt x="568" y="253"/>
                  <a:pt x="560" y="245"/>
                </a:cubicBezTo>
                <a:cubicBezTo>
                  <a:pt x="552" y="237"/>
                  <a:pt x="552" y="237"/>
                  <a:pt x="552" y="237"/>
                </a:cubicBezTo>
                <a:cubicBezTo>
                  <a:pt x="637" y="143"/>
                  <a:pt x="637" y="143"/>
                  <a:pt x="637" y="143"/>
                </a:cubicBezTo>
                <a:cubicBezTo>
                  <a:pt x="645" y="135"/>
                  <a:pt x="649" y="123"/>
                  <a:pt x="649" y="111"/>
                </a:cubicBezTo>
                <a:cubicBezTo>
                  <a:pt x="649" y="100"/>
                  <a:pt x="645" y="90"/>
                  <a:pt x="639" y="82"/>
                </a:cubicBezTo>
                <a:lnTo>
                  <a:pt x="588" y="17"/>
                </a:lnTo>
                <a:close/>
                <a:moveTo>
                  <a:pt x="426" y="213"/>
                </a:moveTo>
                <a:cubicBezTo>
                  <a:pt x="411" y="229"/>
                  <a:pt x="411" y="229"/>
                  <a:pt x="411" y="229"/>
                </a:cubicBezTo>
                <a:cubicBezTo>
                  <a:pt x="411" y="230"/>
                  <a:pt x="411" y="230"/>
                  <a:pt x="411" y="231"/>
                </a:cubicBezTo>
                <a:cubicBezTo>
                  <a:pt x="411" y="231"/>
                  <a:pt x="411" y="232"/>
                  <a:pt x="411" y="232"/>
                </a:cubicBezTo>
                <a:cubicBezTo>
                  <a:pt x="504" y="318"/>
                  <a:pt x="504" y="318"/>
                  <a:pt x="504" y="318"/>
                </a:cubicBezTo>
                <a:cubicBezTo>
                  <a:pt x="507" y="321"/>
                  <a:pt x="509" y="325"/>
                  <a:pt x="509" y="330"/>
                </a:cubicBezTo>
                <a:cubicBezTo>
                  <a:pt x="509" y="334"/>
                  <a:pt x="507" y="338"/>
                  <a:pt x="504" y="341"/>
                </a:cubicBezTo>
                <a:cubicBezTo>
                  <a:pt x="499" y="346"/>
                  <a:pt x="499" y="346"/>
                  <a:pt x="499" y="346"/>
                </a:cubicBezTo>
                <a:cubicBezTo>
                  <a:pt x="496" y="350"/>
                  <a:pt x="492" y="351"/>
                  <a:pt x="487" y="351"/>
                </a:cubicBezTo>
                <a:cubicBezTo>
                  <a:pt x="483" y="351"/>
                  <a:pt x="479" y="350"/>
                  <a:pt x="476" y="347"/>
                </a:cubicBezTo>
                <a:cubicBezTo>
                  <a:pt x="390" y="267"/>
                  <a:pt x="390" y="267"/>
                  <a:pt x="390" y="267"/>
                </a:cubicBezTo>
                <a:cubicBezTo>
                  <a:pt x="389" y="267"/>
                  <a:pt x="388" y="267"/>
                  <a:pt x="387" y="267"/>
                </a:cubicBezTo>
                <a:cubicBezTo>
                  <a:pt x="372" y="283"/>
                  <a:pt x="372" y="283"/>
                  <a:pt x="372" y="283"/>
                </a:cubicBezTo>
                <a:cubicBezTo>
                  <a:pt x="372" y="284"/>
                  <a:pt x="372" y="284"/>
                  <a:pt x="372" y="285"/>
                </a:cubicBezTo>
                <a:cubicBezTo>
                  <a:pt x="372" y="285"/>
                  <a:pt x="372" y="286"/>
                  <a:pt x="372" y="286"/>
                </a:cubicBezTo>
                <a:cubicBezTo>
                  <a:pt x="449" y="357"/>
                  <a:pt x="449" y="357"/>
                  <a:pt x="449" y="357"/>
                </a:cubicBezTo>
                <a:cubicBezTo>
                  <a:pt x="452" y="360"/>
                  <a:pt x="454" y="364"/>
                  <a:pt x="454" y="368"/>
                </a:cubicBezTo>
                <a:cubicBezTo>
                  <a:pt x="454" y="373"/>
                  <a:pt x="453" y="377"/>
                  <a:pt x="450" y="380"/>
                </a:cubicBezTo>
                <a:cubicBezTo>
                  <a:pt x="445" y="385"/>
                  <a:pt x="445" y="385"/>
                  <a:pt x="445" y="385"/>
                </a:cubicBezTo>
                <a:cubicBezTo>
                  <a:pt x="442" y="388"/>
                  <a:pt x="437" y="390"/>
                  <a:pt x="432" y="390"/>
                </a:cubicBezTo>
                <a:cubicBezTo>
                  <a:pt x="428" y="390"/>
                  <a:pt x="424" y="389"/>
                  <a:pt x="421" y="386"/>
                </a:cubicBezTo>
                <a:cubicBezTo>
                  <a:pt x="345" y="315"/>
                  <a:pt x="345" y="315"/>
                  <a:pt x="345" y="315"/>
                </a:cubicBezTo>
                <a:cubicBezTo>
                  <a:pt x="344" y="315"/>
                  <a:pt x="343" y="315"/>
                  <a:pt x="342" y="316"/>
                </a:cubicBezTo>
                <a:cubicBezTo>
                  <a:pt x="327" y="331"/>
                  <a:pt x="327" y="331"/>
                  <a:pt x="327" y="331"/>
                </a:cubicBezTo>
                <a:cubicBezTo>
                  <a:pt x="327" y="332"/>
                  <a:pt x="327" y="332"/>
                  <a:pt x="327" y="333"/>
                </a:cubicBezTo>
                <a:cubicBezTo>
                  <a:pt x="327" y="334"/>
                  <a:pt x="327" y="334"/>
                  <a:pt x="328" y="334"/>
                </a:cubicBezTo>
                <a:cubicBezTo>
                  <a:pt x="366" y="370"/>
                  <a:pt x="366" y="370"/>
                  <a:pt x="366" y="370"/>
                </a:cubicBezTo>
                <a:cubicBezTo>
                  <a:pt x="369" y="373"/>
                  <a:pt x="371" y="377"/>
                  <a:pt x="371" y="381"/>
                </a:cubicBezTo>
                <a:cubicBezTo>
                  <a:pt x="371" y="385"/>
                  <a:pt x="369" y="389"/>
                  <a:pt x="366" y="392"/>
                </a:cubicBezTo>
                <a:cubicBezTo>
                  <a:pt x="361" y="397"/>
                  <a:pt x="361" y="397"/>
                  <a:pt x="361" y="397"/>
                </a:cubicBezTo>
                <a:cubicBezTo>
                  <a:pt x="358" y="401"/>
                  <a:pt x="354" y="403"/>
                  <a:pt x="349" y="403"/>
                </a:cubicBezTo>
                <a:cubicBezTo>
                  <a:pt x="345" y="403"/>
                  <a:pt x="341" y="401"/>
                  <a:pt x="338" y="398"/>
                </a:cubicBezTo>
                <a:cubicBezTo>
                  <a:pt x="306" y="368"/>
                  <a:pt x="306" y="368"/>
                  <a:pt x="306" y="368"/>
                </a:cubicBezTo>
                <a:cubicBezTo>
                  <a:pt x="308" y="363"/>
                  <a:pt x="310" y="356"/>
                  <a:pt x="310" y="351"/>
                </a:cubicBezTo>
                <a:cubicBezTo>
                  <a:pt x="310" y="339"/>
                  <a:pt x="305" y="328"/>
                  <a:pt x="297" y="320"/>
                </a:cubicBezTo>
                <a:cubicBezTo>
                  <a:pt x="291" y="315"/>
                  <a:pt x="291" y="315"/>
                  <a:pt x="291" y="315"/>
                </a:cubicBezTo>
                <a:cubicBezTo>
                  <a:pt x="283" y="308"/>
                  <a:pt x="273" y="304"/>
                  <a:pt x="262" y="304"/>
                </a:cubicBezTo>
                <a:cubicBezTo>
                  <a:pt x="262" y="304"/>
                  <a:pt x="262" y="304"/>
                  <a:pt x="262" y="304"/>
                </a:cubicBezTo>
                <a:cubicBezTo>
                  <a:pt x="261" y="293"/>
                  <a:pt x="250" y="276"/>
                  <a:pt x="249" y="275"/>
                </a:cubicBezTo>
                <a:cubicBezTo>
                  <a:pt x="243" y="270"/>
                  <a:pt x="243" y="270"/>
                  <a:pt x="243" y="270"/>
                </a:cubicBezTo>
                <a:cubicBezTo>
                  <a:pt x="238" y="265"/>
                  <a:pt x="231" y="261"/>
                  <a:pt x="224" y="259"/>
                </a:cubicBezTo>
                <a:cubicBezTo>
                  <a:pt x="225" y="255"/>
                  <a:pt x="226" y="251"/>
                  <a:pt x="226" y="248"/>
                </a:cubicBezTo>
                <a:cubicBezTo>
                  <a:pt x="226" y="236"/>
                  <a:pt x="221" y="225"/>
                  <a:pt x="213" y="217"/>
                </a:cubicBezTo>
                <a:cubicBezTo>
                  <a:pt x="208" y="212"/>
                  <a:pt x="208" y="212"/>
                  <a:pt x="208" y="212"/>
                </a:cubicBezTo>
                <a:cubicBezTo>
                  <a:pt x="200" y="205"/>
                  <a:pt x="190" y="201"/>
                  <a:pt x="179" y="201"/>
                </a:cubicBezTo>
                <a:cubicBezTo>
                  <a:pt x="178" y="201"/>
                  <a:pt x="178" y="201"/>
                  <a:pt x="177" y="201"/>
                </a:cubicBezTo>
                <a:cubicBezTo>
                  <a:pt x="176" y="191"/>
                  <a:pt x="172" y="181"/>
                  <a:pt x="164" y="174"/>
                </a:cubicBezTo>
                <a:cubicBezTo>
                  <a:pt x="159" y="169"/>
                  <a:pt x="159" y="169"/>
                  <a:pt x="159" y="169"/>
                </a:cubicBezTo>
                <a:cubicBezTo>
                  <a:pt x="151" y="161"/>
                  <a:pt x="141" y="157"/>
                  <a:pt x="131" y="157"/>
                </a:cubicBezTo>
                <a:cubicBezTo>
                  <a:pt x="130" y="157"/>
                  <a:pt x="130" y="157"/>
                  <a:pt x="130" y="157"/>
                </a:cubicBezTo>
                <a:cubicBezTo>
                  <a:pt x="129" y="157"/>
                  <a:pt x="129" y="157"/>
                  <a:pt x="129" y="157"/>
                </a:cubicBezTo>
                <a:cubicBezTo>
                  <a:pt x="118" y="157"/>
                  <a:pt x="107" y="162"/>
                  <a:pt x="99" y="170"/>
                </a:cubicBezTo>
                <a:cubicBezTo>
                  <a:pt x="88" y="182"/>
                  <a:pt x="88" y="182"/>
                  <a:pt x="88" y="182"/>
                </a:cubicBezTo>
                <a:cubicBezTo>
                  <a:pt x="31" y="135"/>
                  <a:pt x="31" y="135"/>
                  <a:pt x="31" y="135"/>
                </a:cubicBezTo>
                <a:cubicBezTo>
                  <a:pt x="28" y="131"/>
                  <a:pt x="26" y="127"/>
                  <a:pt x="26" y="122"/>
                </a:cubicBezTo>
                <a:cubicBezTo>
                  <a:pt x="26" y="119"/>
                  <a:pt x="27" y="115"/>
                  <a:pt x="30" y="112"/>
                </a:cubicBezTo>
                <a:cubicBezTo>
                  <a:pt x="91" y="44"/>
                  <a:pt x="91" y="44"/>
                  <a:pt x="91" y="44"/>
                </a:cubicBezTo>
                <a:cubicBezTo>
                  <a:pt x="93" y="42"/>
                  <a:pt x="96" y="39"/>
                  <a:pt x="100" y="38"/>
                </a:cubicBezTo>
                <a:cubicBezTo>
                  <a:pt x="104" y="36"/>
                  <a:pt x="109" y="35"/>
                  <a:pt x="113" y="35"/>
                </a:cubicBezTo>
                <a:cubicBezTo>
                  <a:pt x="116" y="35"/>
                  <a:pt x="120" y="36"/>
                  <a:pt x="122" y="37"/>
                </a:cubicBezTo>
                <a:cubicBezTo>
                  <a:pt x="155" y="51"/>
                  <a:pt x="155" y="51"/>
                  <a:pt x="155" y="51"/>
                </a:cubicBezTo>
                <a:cubicBezTo>
                  <a:pt x="164" y="55"/>
                  <a:pt x="175" y="57"/>
                  <a:pt x="187" y="57"/>
                </a:cubicBezTo>
                <a:cubicBezTo>
                  <a:pt x="199" y="57"/>
                  <a:pt x="210" y="55"/>
                  <a:pt x="219" y="51"/>
                </a:cubicBezTo>
                <a:cubicBezTo>
                  <a:pt x="252" y="37"/>
                  <a:pt x="252" y="37"/>
                  <a:pt x="252" y="37"/>
                </a:cubicBezTo>
                <a:cubicBezTo>
                  <a:pt x="257" y="35"/>
                  <a:pt x="264" y="34"/>
                  <a:pt x="271" y="34"/>
                </a:cubicBezTo>
                <a:cubicBezTo>
                  <a:pt x="272" y="34"/>
                  <a:pt x="272" y="34"/>
                  <a:pt x="272" y="34"/>
                </a:cubicBezTo>
                <a:cubicBezTo>
                  <a:pt x="274" y="34"/>
                  <a:pt x="274" y="34"/>
                  <a:pt x="274" y="34"/>
                </a:cubicBezTo>
                <a:cubicBezTo>
                  <a:pt x="281" y="34"/>
                  <a:pt x="289" y="35"/>
                  <a:pt x="294" y="38"/>
                </a:cubicBezTo>
                <a:cubicBezTo>
                  <a:pt x="296" y="39"/>
                  <a:pt x="298" y="40"/>
                  <a:pt x="300" y="41"/>
                </a:cubicBezTo>
                <a:cubicBezTo>
                  <a:pt x="268" y="63"/>
                  <a:pt x="268" y="63"/>
                  <a:pt x="268" y="63"/>
                </a:cubicBezTo>
                <a:cubicBezTo>
                  <a:pt x="257" y="71"/>
                  <a:pt x="251" y="83"/>
                  <a:pt x="251" y="96"/>
                </a:cubicBezTo>
                <a:cubicBezTo>
                  <a:pt x="251" y="105"/>
                  <a:pt x="254" y="114"/>
                  <a:pt x="259" y="121"/>
                </a:cubicBezTo>
                <a:cubicBezTo>
                  <a:pt x="259" y="121"/>
                  <a:pt x="259" y="121"/>
                  <a:pt x="259" y="121"/>
                </a:cubicBezTo>
                <a:cubicBezTo>
                  <a:pt x="263" y="127"/>
                  <a:pt x="263" y="127"/>
                  <a:pt x="263" y="127"/>
                </a:cubicBezTo>
                <a:cubicBezTo>
                  <a:pt x="272" y="138"/>
                  <a:pt x="286" y="145"/>
                  <a:pt x="300" y="145"/>
                </a:cubicBezTo>
                <a:cubicBezTo>
                  <a:pt x="308" y="145"/>
                  <a:pt x="316" y="143"/>
                  <a:pt x="323" y="138"/>
                </a:cubicBezTo>
                <a:cubicBezTo>
                  <a:pt x="343" y="126"/>
                  <a:pt x="343" y="126"/>
                  <a:pt x="343" y="126"/>
                </a:cubicBezTo>
                <a:cubicBezTo>
                  <a:pt x="347" y="124"/>
                  <a:pt x="353" y="123"/>
                  <a:pt x="359" y="123"/>
                </a:cubicBezTo>
                <a:cubicBezTo>
                  <a:pt x="366" y="123"/>
                  <a:pt x="373" y="124"/>
                  <a:pt x="378" y="128"/>
                </a:cubicBezTo>
                <a:cubicBezTo>
                  <a:pt x="434" y="168"/>
                  <a:pt x="434" y="168"/>
                  <a:pt x="434" y="168"/>
                </a:cubicBezTo>
                <a:cubicBezTo>
                  <a:pt x="446" y="177"/>
                  <a:pt x="466" y="193"/>
                  <a:pt x="478" y="204"/>
                </a:cubicBezTo>
                <a:cubicBezTo>
                  <a:pt x="543" y="264"/>
                  <a:pt x="543" y="264"/>
                  <a:pt x="543" y="264"/>
                </a:cubicBezTo>
                <a:cubicBezTo>
                  <a:pt x="546" y="267"/>
                  <a:pt x="548" y="271"/>
                  <a:pt x="548" y="276"/>
                </a:cubicBezTo>
                <a:cubicBezTo>
                  <a:pt x="548" y="280"/>
                  <a:pt x="546" y="284"/>
                  <a:pt x="543" y="287"/>
                </a:cubicBezTo>
                <a:cubicBezTo>
                  <a:pt x="538" y="292"/>
                  <a:pt x="538" y="292"/>
                  <a:pt x="538" y="292"/>
                </a:cubicBezTo>
                <a:cubicBezTo>
                  <a:pt x="535" y="296"/>
                  <a:pt x="531" y="297"/>
                  <a:pt x="526" y="297"/>
                </a:cubicBezTo>
                <a:cubicBezTo>
                  <a:pt x="522" y="297"/>
                  <a:pt x="518" y="296"/>
                  <a:pt x="515" y="293"/>
                </a:cubicBezTo>
                <a:cubicBezTo>
                  <a:pt x="429" y="213"/>
                  <a:pt x="429" y="213"/>
                  <a:pt x="429" y="213"/>
                </a:cubicBezTo>
                <a:cubicBezTo>
                  <a:pt x="428" y="213"/>
                  <a:pt x="427" y="213"/>
                  <a:pt x="426" y="213"/>
                </a:cubicBezTo>
                <a:close/>
                <a:moveTo>
                  <a:pt x="219" y="366"/>
                </a:moveTo>
                <a:cubicBezTo>
                  <a:pt x="250" y="334"/>
                  <a:pt x="250" y="334"/>
                  <a:pt x="250" y="334"/>
                </a:cubicBezTo>
                <a:cubicBezTo>
                  <a:pt x="253" y="331"/>
                  <a:pt x="258" y="329"/>
                  <a:pt x="262" y="329"/>
                </a:cubicBezTo>
                <a:cubicBezTo>
                  <a:pt x="267" y="329"/>
                  <a:pt x="271" y="331"/>
                  <a:pt x="274" y="334"/>
                </a:cubicBezTo>
                <a:cubicBezTo>
                  <a:pt x="279" y="339"/>
                  <a:pt x="279" y="339"/>
                  <a:pt x="279" y="339"/>
                </a:cubicBezTo>
                <a:cubicBezTo>
                  <a:pt x="282" y="342"/>
                  <a:pt x="284" y="346"/>
                  <a:pt x="284" y="351"/>
                </a:cubicBezTo>
                <a:cubicBezTo>
                  <a:pt x="284" y="355"/>
                  <a:pt x="283" y="359"/>
                  <a:pt x="280" y="362"/>
                </a:cubicBezTo>
                <a:cubicBezTo>
                  <a:pt x="249" y="394"/>
                  <a:pt x="249" y="394"/>
                  <a:pt x="249" y="394"/>
                </a:cubicBezTo>
                <a:cubicBezTo>
                  <a:pt x="245" y="398"/>
                  <a:pt x="240" y="399"/>
                  <a:pt x="237" y="399"/>
                </a:cubicBezTo>
                <a:cubicBezTo>
                  <a:pt x="233" y="399"/>
                  <a:pt x="229" y="398"/>
                  <a:pt x="225" y="395"/>
                </a:cubicBezTo>
                <a:cubicBezTo>
                  <a:pt x="220" y="390"/>
                  <a:pt x="220" y="390"/>
                  <a:pt x="220" y="390"/>
                </a:cubicBezTo>
                <a:cubicBezTo>
                  <a:pt x="217" y="386"/>
                  <a:pt x="215" y="382"/>
                  <a:pt x="215" y="378"/>
                </a:cubicBezTo>
                <a:cubicBezTo>
                  <a:pt x="215" y="373"/>
                  <a:pt x="217" y="369"/>
                  <a:pt x="219" y="366"/>
                </a:cubicBezTo>
                <a:close/>
                <a:moveTo>
                  <a:pt x="171" y="373"/>
                </a:moveTo>
                <a:cubicBezTo>
                  <a:pt x="167" y="373"/>
                  <a:pt x="163" y="371"/>
                  <a:pt x="159" y="368"/>
                </a:cubicBezTo>
                <a:cubicBezTo>
                  <a:pt x="154" y="363"/>
                  <a:pt x="154" y="363"/>
                  <a:pt x="154" y="363"/>
                </a:cubicBezTo>
                <a:cubicBezTo>
                  <a:pt x="151" y="360"/>
                  <a:pt x="149" y="356"/>
                  <a:pt x="149" y="351"/>
                </a:cubicBezTo>
                <a:cubicBezTo>
                  <a:pt x="149" y="347"/>
                  <a:pt x="150" y="344"/>
                  <a:pt x="153" y="341"/>
                </a:cubicBezTo>
                <a:cubicBezTo>
                  <a:pt x="203" y="288"/>
                  <a:pt x="203" y="288"/>
                  <a:pt x="203" y="288"/>
                </a:cubicBezTo>
                <a:cubicBezTo>
                  <a:pt x="207" y="285"/>
                  <a:pt x="210" y="284"/>
                  <a:pt x="214" y="284"/>
                </a:cubicBezTo>
                <a:cubicBezTo>
                  <a:pt x="219" y="284"/>
                  <a:pt x="223" y="285"/>
                  <a:pt x="226" y="288"/>
                </a:cubicBezTo>
                <a:cubicBezTo>
                  <a:pt x="231" y="293"/>
                  <a:pt x="231" y="293"/>
                  <a:pt x="231" y="293"/>
                </a:cubicBezTo>
                <a:cubicBezTo>
                  <a:pt x="234" y="296"/>
                  <a:pt x="236" y="301"/>
                  <a:pt x="236" y="305"/>
                </a:cubicBezTo>
                <a:cubicBezTo>
                  <a:pt x="236" y="309"/>
                  <a:pt x="235" y="313"/>
                  <a:pt x="232" y="317"/>
                </a:cubicBezTo>
                <a:cubicBezTo>
                  <a:pt x="183" y="368"/>
                  <a:pt x="183" y="368"/>
                  <a:pt x="183" y="368"/>
                </a:cubicBezTo>
                <a:cubicBezTo>
                  <a:pt x="180" y="371"/>
                  <a:pt x="175" y="373"/>
                  <a:pt x="171" y="373"/>
                </a:cubicBezTo>
                <a:close/>
                <a:moveTo>
                  <a:pt x="63" y="245"/>
                </a:moveTo>
                <a:cubicBezTo>
                  <a:pt x="118" y="188"/>
                  <a:pt x="118" y="188"/>
                  <a:pt x="118" y="188"/>
                </a:cubicBezTo>
                <a:cubicBezTo>
                  <a:pt x="121" y="184"/>
                  <a:pt x="125" y="182"/>
                  <a:pt x="130" y="182"/>
                </a:cubicBezTo>
                <a:cubicBezTo>
                  <a:pt x="134" y="182"/>
                  <a:pt x="138" y="184"/>
                  <a:pt x="141" y="187"/>
                </a:cubicBezTo>
                <a:cubicBezTo>
                  <a:pt x="146" y="192"/>
                  <a:pt x="146" y="192"/>
                  <a:pt x="146" y="192"/>
                </a:cubicBezTo>
                <a:cubicBezTo>
                  <a:pt x="148" y="194"/>
                  <a:pt x="152" y="200"/>
                  <a:pt x="152" y="204"/>
                </a:cubicBezTo>
                <a:cubicBezTo>
                  <a:pt x="152" y="207"/>
                  <a:pt x="151" y="211"/>
                  <a:pt x="149" y="213"/>
                </a:cubicBezTo>
                <a:cubicBezTo>
                  <a:pt x="149" y="213"/>
                  <a:pt x="100" y="264"/>
                  <a:pt x="90" y="275"/>
                </a:cubicBezTo>
                <a:cubicBezTo>
                  <a:pt x="87" y="277"/>
                  <a:pt x="84" y="278"/>
                  <a:pt x="80" y="278"/>
                </a:cubicBezTo>
                <a:cubicBezTo>
                  <a:pt x="76" y="278"/>
                  <a:pt x="72" y="276"/>
                  <a:pt x="69" y="273"/>
                </a:cubicBezTo>
                <a:cubicBezTo>
                  <a:pt x="63" y="268"/>
                  <a:pt x="63" y="268"/>
                  <a:pt x="63" y="268"/>
                </a:cubicBezTo>
                <a:cubicBezTo>
                  <a:pt x="60" y="265"/>
                  <a:pt x="59" y="261"/>
                  <a:pt x="59" y="256"/>
                </a:cubicBezTo>
                <a:cubicBezTo>
                  <a:pt x="59" y="252"/>
                  <a:pt x="60" y="248"/>
                  <a:pt x="63" y="245"/>
                </a:cubicBezTo>
                <a:close/>
                <a:moveTo>
                  <a:pt x="94" y="307"/>
                </a:moveTo>
                <a:cubicBezTo>
                  <a:pt x="94" y="307"/>
                  <a:pt x="166" y="232"/>
                  <a:pt x="167" y="231"/>
                </a:cubicBezTo>
                <a:cubicBezTo>
                  <a:pt x="170" y="228"/>
                  <a:pt x="174" y="226"/>
                  <a:pt x="179" y="226"/>
                </a:cubicBezTo>
                <a:cubicBezTo>
                  <a:pt x="183" y="226"/>
                  <a:pt x="187" y="228"/>
                  <a:pt x="190" y="230"/>
                </a:cubicBezTo>
                <a:cubicBezTo>
                  <a:pt x="195" y="236"/>
                  <a:pt x="195" y="236"/>
                  <a:pt x="195" y="236"/>
                </a:cubicBezTo>
                <a:cubicBezTo>
                  <a:pt x="199" y="239"/>
                  <a:pt x="201" y="243"/>
                  <a:pt x="201" y="248"/>
                </a:cubicBezTo>
                <a:cubicBezTo>
                  <a:pt x="201" y="252"/>
                  <a:pt x="199" y="256"/>
                  <a:pt x="196" y="259"/>
                </a:cubicBezTo>
                <a:cubicBezTo>
                  <a:pt x="123" y="335"/>
                  <a:pt x="123" y="335"/>
                  <a:pt x="123" y="335"/>
                </a:cubicBezTo>
                <a:cubicBezTo>
                  <a:pt x="119" y="339"/>
                  <a:pt x="114" y="340"/>
                  <a:pt x="111" y="340"/>
                </a:cubicBezTo>
                <a:cubicBezTo>
                  <a:pt x="107" y="340"/>
                  <a:pt x="103" y="339"/>
                  <a:pt x="100" y="336"/>
                </a:cubicBezTo>
                <a:cubicBezTo>
                  <a:pt x="94" y="331"/>
                  <a:pt x="94" y="331"/>
                  <a:pt x="94" y="331"/>
                </a:cubicBezTo>
                <a:cubicBezTo>
                  <a:pt x="91" y="327"/>
                  <a:pt x="89" y="323"/>
                  <a:pt x="89" y="319"/>
                </a:cubicBezTo>
                <a:cubicBezTo>
                  <a:pt x="89" y="315"/>
                  <a:pt x="91" y="311"/>
                  <a:pt x="94" y="307"/>
                </a:cubicBezTo>
                <a:close/>
                <a:moveTo>
                  <a:pt x="618" y="126"/>
                </a:moveTo>
                <a:cubicBezTo>
                  <a:pt x="533" y="220"/>
                  <a:pt x="533" y="220"/>
                  <a:pt x="533" y="220"/>
                </a:cubicBezTo>
                <a:cubicBezTo>
                  <a:pt x="495" y="185"/>
                  <a:pt x="495" y="185"/>
                  <a:pt x="495" y="185"/>
                </a:cubicBezTo>
                <a:cubicBezTo>
                  <a:pt x="482" y="173"/>
                  <a:pt x="462" y="157"/>
                  <a:pt x="449" y="147"/>
                </a:cubicBezTo>
                <a:cubicBezTo>
                  <a:pt x="393" y="107"/>
                  <a:pt x="393" y="107"/>
                  <a:pt x="393" y="107"/>
                </a:cubicBezTo>
                <a:cubicBezTo>
                  <a:pt x="383" y="101"/>
                  <a:pt x="372" y="97"/>
                  <a:pt x="359" y="97"/>
                </a:cubicBezTo>
                <a:cubicBezTo>
                  <a:pt x="348" y="97"/>
                  <a:pt x="338" y="100"/>
                  <a:pt x="330" y="104"/>
                </a:cubicBezTo>
                <a:cubicBezTo>
                  <a:pt x="309" y="117"/>
                  <a:pt x="309" y="117"/>
                  <a:pt x="309" y="117"/>
                </a:cubicBezTo>
                <a:cubicBezTo>
                  <a:pt x="301" y="122"/>
                  <a:pt x="289" y="119"/>
                  <a:pt x="284" y="112"/>
                </a:cubicBezTo>
                <a:cubicBezTo>
                  <a:pt x="280" y="106"/>
                  <a:pt x="280" y="106"/>
                  <a:pt x="280" y="106"/>
                </a:cubicBezTo>
                <a:cubicBezTo>
                  <a:pt x="280" y="106"/>
                  <a:pt x="280" y="106"/>
                  <a:pt x="279" y="106"/>
                </a:cubicBezTo>
                <a:cubicBezTo>
                  <a:pt x="277" y="103"/>
                  <a:pt x="276" y="100"/>
                  <a:pt x="276" y="96"/>
                </a:cubicBezTo>
                <a:cubicBezTo>
                  <a:pt x="276" y="91"/>
                  <a:pt x="279" y="86"/>
                  <a:pt x="283" y="84"/>
                </a:cubicBezTo>
                <a:cubicBezTo>
                  <a:pt x="343" y="41"/>
                  <a:pt x="343" y="41"/>
                  <a:pt x="343" y="41"/>
                </a:cubicBezTo>
                <a:cubicBezTo>
                  <a:pt x="348" y="38"/>
                  <a:pt x="357" y="35"/>
                  <a:pt x="365" y="35"/>
                </a:cubicBezTo>
                <a:cubicBezTo>
                  <a:pt x="371" y="35"/>
                  <a:pt x="376" y="36"/>
                  <a:pt x="380" y="38"/>
                </a:cubicBezTo>
                <a:cubicBezTo>
                  <a:pt x="429" y="62"/>
                  <a:pt x="429" y="62"/>
                  <a:pt x="429" y="62"/>
                </a:cubicBezTo>
                <a:cubicBezTo>
                  <a:pt x="437" y="66"/>
                  <a:pt x="446" y="68"/>
                  <a:pt x="457" y="68"/>
                </a:cubicBezTo>
                <a:cubicBezTo>
                  <a:pt x="471" y="68"/>
                  <a:pt x="483" y="65"/>
                  <a:pt x="492" y="59"/>
                </a:cubicBezTo>
                <a:cubicBezTo>
                  <a:pt x="542" y="28"/>
                  <a:pt x="542" y="28"/>
                  <a:pt x="542" y="28"/>
                </a:cubicBezTo>
                <a:cubicBezTo>
                  <a:pt x="545" y="26"/>
                  <a:pt x="549" y="25"/>
                  <a:pt x="552" y="25"/>
                </a:cubicBezTo>
                <a:cubicBezTo>
                  <a:pt x="558" y="25"/>
                  <a:pt x="565" y="28"/>
                  <a:pt x="568" y="32"/>
                </a:cubicBezTo>
                <a:cubicBezTo>
                  <a:pt x="619" y="98"/>
                  <a:pt x="619" y="98"/>
                  <a:pt x="619" y="98"/>
                </a:cubicBezTo>
                <a:cubicBezTo>
                  <a:pt x="622" y="101"/>
                  <a:pt x="623" y="106"/>
                  <a:pt x="623" y="111"/>
                </a:cubicBezTo>
                <a:cubicBezTo>
                  <a:pt x="623" y="117"/>
                  <a:pt x="621" y="122"/>
                  <a:pt x="618" y="126"/>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endParaRPr lang="en-US" sz="3200">
              <a:cs typeface="思源黑体 CN Normal" panose="020B0400000000000000" pitchFamily="34" charset="-122"/>
            </a:endParaRPr>
          </a:p>
        </p:txBody>
      </p:sp>
      <p:grpSp>
        <p:nvGrpSpPr>
          <p:cNvPr id="84" name="小红书平北职场PPT10"/>
          <p:cNvGrpSpPr/>
          <p:nvPr/>
        </p:nvGrpSpPr>
        <p:grpSpPr>
          <a:xfrm>
            <a:off x="334963" y="184318"/>
            <a:ext cx="11522075" cy="506147"/>
            <a:chOff x="334963" y="184318"/>
            <a:chExt cx="11522075" cy="506147"/>
          </a:xfrm>
        </p:grpSpPr>
        <p:cxnSp>
          <p:nvCxnSpPr>
            <p:cNvPr id="115" name="小红书平北职场PPT10-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小红书平北职场PPT10-2"/>
            <p:cNvSpPr txBox="1"/>
            <p:nvPr>
              <p:custDataLst>
                <p:tags r:id="rId2"/>
              </p:custDataLst>
            </p:nvPr>
          </p:nvSpPr>
          <p:spPr>
            <a:xfrm>
              <a:off x="334963" y="184318"/>
              <a:ext cx="3978653"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XX</a:t>
              </a:r>
              <a:r>
                <a:rPr lang="zh-CN" altLang="en-US" sz="2800" dirty="0">
                  <a:latin typeface="+mj-ea"/>
                  <a:ea typeface="+mj-ea"/>
                  <a:cs typeface="思源黑体 CN Normal" panose="020B0400000000000000" pitchFamily="34" charset="-122"/>
                  <a:sym typeface="+mj-ea"/>
                </a:rPr>
                <a:t>项目</a:t>
              </a:r>
              <a:r>
                <a:rPr lang="en-US" altLang="zh-CN" sz="2800" dirty="0">
                  <a:latin typeface="+mj-ea"/>
                  <a:ea typeface="+mj-ea"/>
                  <a:cs typeface="思源黑体 CN Normal" panose="020B0400000000000000" pitchFamily="34" charset="-122"/>
                  <a:sym typeface="+mj-ea"/>
                </a:rPr>
                <a:t>Q3</a:t>
              </a:r>
              <a:r>
                <a:rPr lang="zh-CN" altLang="en-US" sz="2800" dirty="0">
                  <a:latin typeface="+mj-ea"/>
                  <a:ea typeface="+mj-ea"/>
                  <a:cs typeface="思源黑体 CN Normal" panose="020B0400000000000000" pitchFamily="34" charset="-122"/>
                  <a:sym typeface="+mj-ea"/>
                </a:rPr>
                <a:t>季度进展汇报</a:t>
              </a:r>
              <a:endParaRPr lang="zh-CN" altLang="en-US" sz="2800" dirty="0">
                <a:latin typeface="+mj-ea"/>
                <a:ea typeface="+mj-ea"/>
                <a:cs typeface="思源黑体 CN Normal" panose="020B0400000000000000" pitchFamily="34" charset="-122"/>
                <a:sym typeface="+mj-ea"/>
              </a:endParaRPr>
            </a:p>
          </p:txBody>
        </p:sp>
      </p:grpSp>
      <p:sp>
        <p:nvSpPr>
          <p:cNvPr id="85" name="小红书平北职场PPT11"/>
          <p:cNvSpPr txBox="1"/>
          <p:nvPr/>
        </p:nvSpPr>
        <p:spPr>
          <a:xfrm rot="1366505">
            <a:off x="3444974" y="2755899"/>
            <a:ext cx="461665" cy="1994478"/>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调研驱动方案优化</a:t>
            </a:r>
            <a:endParaRPr lang="zh-CN" altLang="en-US" dirty="0">
              <a:solidFill>
                <a:schemeClr val="bg1"/>
              </a:solidFill>
              <a:latin typeface="+mj-ea"/>
              <a:ea typeface="+mj-ea"/>
              <a:cs typeface="思源黑体 CN Normal" panose="020B0400000000000000" pitchFamily="34" charset="-122"/>
            </a:endParaRPr>
          </a:p>
        </p:txBody>
      </p:sp>
      <p:sp>
        <p:nvSpPr>
          <p:cNvPr id="86" name="小红书平北职场PPT12"/>
          <p:cNvSpPr txBox="1"/>
          <p:nvPr/>
        </p:nvSpPr>
        <p:spPr>
          <a:xfrm rot="1366505">
            <a:off x="974656" y="2731608"/>
            <a:ext cx="461665" cy="4227748"/>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官网转化率低，目标提升至</a:t>
            </a:r>
            <a:r>
              <a:rPr lang="en-US" altLang="zh-CN" i="0" dirty="0">
                <a:solidFill>
                  <a:schemeClr val="bg1"/>
                </a:solidFill>
                <a:effectLst/>
                <a:latin typeface="+mj-ea"/>
                <a:ea typeface="+mj-ea"/>
                <a:cs typeface="思源黑体 CN Normal" panose="020B0400000000000000" pitchFamily="34" charset="-122"/>
              </a:rPr>
              <a:t>3.0%</a:t>
            </a:r>
            <a:endParaRPr lang="zh-CN" altLang="en-US" dirty="0">
              <a:solidFill>
                <a:schemeClr val="bg1"/>
              </a:solidFill>
              <a:latin typeface="+mj-ea"/>
              <a:ea typeface="+mj-ea"/>
              <a:cs typeface="思源黑体 CN Normal" panose="020B0400000000000000" pitchFamily="34" charset="-122"/>
            </a:endParaRPr>
          </a:p>
        </p:txBody>
      </p:sp>
      <p:sp>
        <p:nvSpPr>
          <p:cNvPr id="87" name="小红书平北职场PPT13"/>
          <p:cNvSpPr txBox="1"/>
          <p:nvPr/>
        </p:nvSpPr>
        <p:spPr>
          <a:xfrm rot="1366505">
            <a:off x="7760743" y="2755899"/>
            <a:ext cx="461665" cy="1994478"/>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全量上线与监控</a:t>
            </a:r>
            <a:endParaRPr lang="zh-CN" altLang="en-US" dirty="0">
              <a:solidFill>
                <a:schemeClr val="bg1"/>
              </a:solidFill>
              <a:latin typeface="+mj-ea"/>
              <a:ea typeface="+mj-ea"/>
              <a:cs typeface="思源黑体 CN Normal" panose="020B0400000000000000" pitchFamily="34" charset="-122"/>
            </a:endParaRPr>
          </a:p>
        </p:txBody>
      </p:sp>
      <p:sp>
        <p:nvSpPr>
          <p:cNvPr id="88" name="小红书平北职场PPT14"/>
          <p:cNvSpPr txBox="1"/>
          <p:nvPr/>
        </p:nvSpPr>
        <p:spPr>
          <a:xfrm rot="1366505">
            <a:off x="5622289" y="2755899"/>
            <a:ext cx="461665" cy="1994478"/>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用户洞察与优化</a:t>
            </a:r>
            <a:endParaRPr lang="zh-CN" altLang="en-US" dirty="0">
              <a:solidFill>
                <a:schemeClr val="bg1"/>
              </a:solidFill>
              <a:latin typeface="+mj-ea"/>
              <a:ea typeface="+mj-ea"/>
              <a:cs typeface="思源黑体 CN Normal" panose="020B0400000000000000" pitchFamily="34" charset="-122"/>
            </a:endParaRPr>
          </a:p>
        </p:txBody>
      </p:sp>
      <p:sp>
        <p:nvSpPr>
          <p:cNvPr id="89" name="小红书平北职场PPT15"/>
          <p:cNvSpPr txBox="1"/>
          <p:nvPr/>
        </p:nvSpPr>
        <p:spPr>
          <a:xfrm rot="1366505">
            <a:off x="10160248" y="1493772"/>
            <a:ext cx="461665" cy="3701495"/>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官网重构显著提升转化率至</a:t>
            </a:r>
            <a:r>
              <a:rPr lang="en-US" altLang="zh-CN" i="0" dirty="0">
                <a:solidFill>
                  <a:schemeClr val="bg1"/>
                </a:solidFill>
                <a:effectLst/>
                <a:latin typeface="+mj-ea"/>
                <a:ea typeface="+mj-ea"/>
                <a:cs typeface="思源黑体 CN Normal" panose="020B0400000000000000" pitchFamily="34" charset="-122"/>
              </a:rPr>
              <a:t>2.9%</a:t>
            </a:r>
            <a:endParaRPr lang="zh-CN" altLang="en-US" dirty="0">
              <a:solidFill>
                <a:schemeClr val="bg1"/>
              </a:solidFill>
              <a:latin typeface="+mj-ea"/>
              <a:ea typeface="+mj-ea"/>
              <a:cs typeface="思源黑体 CN Normal" panose="020B0400000000000000" pitchFamily="34" charset="-122"/>
            </a:endParaRPr>
          </a:p>
        </p:txBody>
      </p:sp>
      <p:grpSp>
        <p:nvGrpSpPr>
          <p:cNvPr id="90" name="小红书平北职场PPT16"/>
          <p:cNvGrpSpPr/>
          <p:nvPr/>
        </p:nvGrpSpPr>
        <p:grpSpPr>
          <a:xfrm>
            <a:off x="2089718" y="909443"/>
            <a:ext cx="6267450" cy="1347918"/>
            <a:chOff x="2089718" y="909443"/>
            <a:chExt cx="6267450" cy="1347918"/>
          </a:xfrm>
        </p:grpSpPr>
        <p:sp>
          <p:nvSpPr>
            <p:cNvPr id="113" name="小红书平北职场PPT16-1"/>
            <p:cNvSpPr txBox="1"/>
            <p:nvPr/>
          </p:nvSpPr>
          <p:spPr>
            <a:xfrm>
              <a:off x="2962820" y="1312422"/>
              <a:ext cx="2621214" cy="944939"/>
            </a:xfrm>
            <a:prstGeom prst="rect">
              <a:avLst/>
            </a:prstGeom>
            <a:noFill/>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深入分析后台 </a:t>
              </a:r>
              <a:r>
                <a:rPr lang="en-US" altLang="zh-CN" sz="1200" dirty="0">
                  <a:solidFill>
                    <a:schemeClr val="tx1"/>
                  </a:solidFill>
                  <a:latin typeface="+mn-ea"/>
                  <a:cs typeface="思源黑体 CN Normal" panose="020B0400000000000000" pitchFamily="34" charset="-122"/>
                </a:rPr>
                <a:t>2856</a:t>
              </a:r>
              <a:r>
                <a:rPr lang="zh-CN" altLang="en-US" sz="1200" dirty="0">
                  <a:solidFill>
                    <a:schemeClr val="tx1"/>
                  </a:solidFill>
                  <a:latin typeface="+mn-ea"/>
                  <a:cs typeface="思源黑体 CN Normal" panose="020B0400000000000000" pitchFamily="34" charset="-122"/>
                </a:rPr>
                <a:t>份 用户行为数据，结合 </a:t>
              </a:r>
              <a:r>
                <a:rPr lang="en-US" altLang="zh-CN" sz="1200" dirty="0">
                  <a:solidFill>
                    <a:schemeClr val="tx1"/>
                  </a:solidFill>
                  <a:latin typeface="+mn-ea"/>
                  <a:cs typeface="思源黑体 CN Normal" panose="020B0400000000000000" pitchFamily="34" charset="-122"/>
                </a:rPr>
                <a:t>50+ </a:t>
              </a:r>
              <a:r>
                <a:rPr lang="zh-CN" altLang="en-US" sz="1200" dirty="0">
                  <a:solidFill>
                    <a:schemeClr val="tx1"/>
                  </a:solidFill>
                  <a:latin typeface="+mn-ea"/>
                  <a:cs typeface="思源黑体 CN Normal" panose="020B0400000000000000" pitchFamily="34" charset="-122"/>
                </a:rPr>
                <a:t>位核心用户访谈，精准定位“导航混乱、信任感缺失、行动号召模糊”三大核心体验断点</a:t>
              </a:r>
              <a:endParaRPr lang="zh-CN" altLang="en-US" sz="1200" dirty="0">
                <a:solidFill>
                  <a:schemeClr val="tx1"/>
                </a:solidFill>
                <a:latin typeface="+mn-ea"/>
                <a:cs typeface="思源黑体 CN Normal" panose="020B0400000000000000" pitchFamily="34" charset="-122"/>
              </a:endParaRPr>
            </a:p>
          </p:txBody>
        </p:sp>
        <p:sp>
          <p:nvSpPr>
            <p:cNvPr id="114" name="小红书平北职场PPT16-2"/>
            <p:cNvSpPr txBox="1"/>
            <p:nvPr/>
          </p:nvSpPr>
          <p:spPr>
            <a:xfrm>
              <a:off x="2089718" y="909443"/>
              <a:ext cx="62674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一、 用户调研与方案设计</a:t>
              </a:r>
              <a:endPar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endParaRPr>
            </a:p>
          </p:txBody>
        </p:sp>
      </p:grpSp>
      <p:grpSp>
        <p:nvGrpSpPr>
          <p:cNvPr id="91" name="小红书平北职场PPT17"/>
          <p:cNvGrpSpPr/>
          <p:nvPr/>
        </p:nvGrpSpPr>
        <p:grpSpPr>
          <a:xfrm>
            <a:off x="6360140" y="909443"/>
            <a:ext cx="6267450" cy="1346795"/>
            <a:chOff x="2089718" y="909443"/>
            <a:chExt cx="6267450" cy="1346795"/>
          </a:xfrm>
        </p:grpSpPr>
        <p:sp>
          <p:nvSpPr>
            <p:cNvPr id="111" name="小红书平北职场PPT17-1"/>
            <p:cNvSpPr txBox="1"/>
            <p:nvPr/>
          </p:nvSpPr>
          <p:spPr>
            <a:xfrm>
              <a:off x="2962821" y="1313544"/>
              <a:ext cx="2463504" cy="942694"/>
            </a:xfrm>
            <a:prstGeom prst="rect">
              <a:avLst/>
            </a:prstGeom>
            <a:noFill/>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上线前针对关键元素进行</a:t>
              </a:r>
              <a:r>
                <a:rPr lang="en-US" altLang="zh-CN" sz="1200" dirty="0">
                  <a:solidFill>
                    <a:schemeClr val="tx1"/>
                  </a:solidFill>
                  <a:latin typeface="+mn-ea"/>
                  <a:cs typeface="思源黑体 CN Normal" panose="020B0400000000000000" pitchFamily="34" charset="-122"/>
                </a:rPr>
                <a:t>4</a:t>
              </a:r>
              <a:r>
                <a:rPr lang="zh-CN" altLang="en-US" sz="1200" dirty="0">
                  <a:solidFill>
                    <a:schemeClr val="tx1"/>
                  </a:solidFill>
                  <a:latin typeface="+mn-ea"/>
                  <a:cs typeface="思源黑体 CN Normal" panose="020B0400000000000000" pitchFamily="34" charset="-122"/>
                </a:rPr>
                <a:t>轮大规模</a:t>
              </a:r>
              <a:r>
                <a:rPr lang="en-US" altLang="zh-CN" sz="1200" dirty="0">
                  <a:solidFill>
                    <a:schemeClr val="tx1"/>
                  </a:solidFill>
                  <a:latin typeface="+mn-ea"/>
                  <a:cs typeface="思源黑体 CN Normal" panose="020B0400000000000000" pitchFamily="34" charset="-122"/>
                </a:rPr>
                <a:t>A/B</a:t>
              </a:r>
              <a:r>
                <a:rPr lang="zh-CN" altLang="en-US" sz="1200" dirty="0">
                  <a:solidFill>
                    <a:schemeClr val="tx1"/>
                  </a:solidFill>
                  <a:latin typeface="+mn-ea"/>
                  <a:cs typeface="思源黑体 CN Normal" panose="020B0400000000000000" pitchFamily="34" charset="-122"/>
                </a:rPr>
                <a:t>测试</a:t>
              </a:r>
              <a:endParaRPr lang="zh-CN" altLang="en-US" sz="1200" dirty="0">
                <a:solidFill>
                  <a:schemeClr val="tx1"/>
                </a:solidFill>
                <a:latin typeface="+mn-ea"/>
                <a:cs typeface="思源黑体 CN Normal" panose="020B0400000000000000" pitchFamily="34" charset="-122"/>
              </a:endParaRPr>
            </a:p>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数据驱动决策，最终方案使“资料下载”页面转化率提升 </a:t>
              </a:r>
              <a:r>
                <a:rPr lang="en-US" altLang="zh-CN" sz="1200" dirty="0">
                  <a:solidFill>
                    <a:schemeClr val="tx1"/>
                  </a:solidFill>
                  <a:latin typeface="+mn-ea"/>
                  <a:cs typeface="思源黑体 CN Normal" panose="020B0400000000000000" pitchFamily="34" charset="-122"/>
                </a:rPr>
                <a:t>65%</a:t>
              </a:r>
              <a:r>
                <a:rPr lang="zh-CN" altLang="en-US" sz="1200" dirty="0">
                  <a:solidFill>
                    <a:schemeClr val="tx1"/>
                  </a:solidFill>
                  <a:latin typeface="+mn-ea"/>
                  <a:cs typeface="思源黑体 CN Normal" panose="020B0400000000000000" pitchFamily="34" charset="-122"/>
                </a:rPr>
                <a:t>，远超预期</a:t>
              </a:r>
              <a:endParaRPr lang="zh-CN" altLang="en-US" sz="1200" dirty="0">
                <a:solidFill>
                  <a:schemeClr val="tx1"/>
                </a:solidFill>
                <a:latin typeface="+mn-ea"/>
                <a:cs typeface="思源黑体 CN Normal" panose="020B0400000000000000" pitchFamily="34" charset="-122"/>
              </a:endParaRPr>
            </a:p>
          </p:txBody>
        </p:sp>
        <p:sp>
          <p:nvSpPr>
            <p:cNvPr id="112" name="小红书平北职场PPT17-2"/>
            <p:cNvSpPr txBox="1"/>
            <p:nvPr/>
          </p:nvSpPr>
          <p:spPr>
            <a:xfrm>
              <a:off x="2089718" y="909443"/>
              <a:ext cx="62674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三、 </a:t>
              </a:r>
              <a:r>
                <a:rPr kumimoji="0" lang="en-US" altLang="zh-CN"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A/B</a:t>
              </a:r>
              <a:r>
                <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测试与数据调优</a:t>
              </a:r>
              <a:endPar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endParaRPr>
            </a:p>
          </p:txBody>
        </p:sp>
      </p:grpSp>
      <p:sp>
        <p:nvSpPr>
          <p:cNvPr id="138" name="小红书平北职场PPT18-1"/>
          <p:cNvSpPr txBox="1"/>
          <p:nvPr/>
        </p:nvSpPr>
        <p:spPr>
          <a:xfrm>
            <a:off x="8287696" y="5637179"/>
            <a:ext cx="3191095" cy="942694"/>
          </a:xfrm>
          <a:prstGeom prst="rect">
            <a:avLst/>
          </a:prstGeom>
          <a:noFill/>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新官网平稳上线，并部署实时监控看板，重点关注流量、转化率与用户会话深度</a:t>
            </a:r>
            <a:endParaRPr lang="zh-CN" altLang="en-US" sz="1200" dirty="0">
              <a:solidFill>
                <a:schemeClr val="tx1"/>
              </a:solidFill>
              <a:latin typeface="+mn-ea"/>
              <a:cs typeface="思源黑体 CN Normal" panose="020B0400000000000000" pitchFamily="34" charset="-122"/>
            </a:endParaRPr>
          </a:p>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上线首周数据：核心页面平均转化率已稳步升至 </a:t>
            </a:r>
            <a:r>
              <a:rPr lang="en-US" altLang="zh-CN" sz="1200" dirty="0">
                <a:solidFill>
                  <a:schemeClr val="tx1"/>
                </a:solidFill>
                <a:latin typeface="+mn-ea"/>
                <a:cs typeface="思源黑体 CN Normal" panose="020B0400000000000000" pitchFamily="34" charset="-122"/>
              </a:rPr>
              <a:t>2.8%</a:t>
            </a:r>
            <a:r>
              <a:rPr lang="zh-CN" altLang="en-US" sz="1200" dirty="0">
                <a:solidFill>
                  <a:schemeClr val="tx1"/>
                </a:solidFill>
                <a:latin typeface="+mn-ea"/>
                <a:cs typeface="思源黑体 CN Normal" panose="020B0400000000000000" pitchFamily="34" charset="-122"/>
              </a:rPr>
              <a:t>，用户平均停留时长增加 </a:t>
            </a:r>
            <a:r>
              <a:rPr lang="en-US" altLang="zh-CN" sz="1200" dirty="0">
                <a:solidFill>
                  <a:schemeClr val="tx1"/>
                </a:solidFill>
                <a:latin typeface="+mn-ea"/>
                <a:cs typeface="思源黑体 CN Normal" panose="020B0400000000000000" pitchFamily="34" charset="-122"/>
              </a:rPr>
              <a:t>1.5</a:t>
            </a:r>
            <a:r>
              <a:rPr lang="zh-CN" altLang="en-US" sz="1200" dirty="0">
                <a:solidFill>
                  <a:schemeClr val="tx1"/>
                </a:solidFill>
                <a:latin typeface="+mn-ea"/>
                <a:cs typeface="思源黑体 CN Normal" panose="020B0400000000000000" pitchFamily="34" charset="-122"/>
              </a:rPr>
              <a:t>分钟</a:t>
            </a:r>
            <a:endParaRPr lang="zh-CN" altLang="en-US" sz="1200" dirty="0">
              <a:solidFill>
                <a:schemeClr val="tx1"/>
              </a:solidFill>
              <a:latin typeface="+mn-ea"/>
              <a:cs typeface="思源黑体 CN Normal" panose="020B0400000000000000" pitchFamily="34" charset="-122"/>
            </a:endParaRPr>
          </a:p>
        </p:txBody>
      </p:sp>
      <p:sp>
        <p:nvSpPr>
          <p:cNvPr id="139" name="小红书平北职场PPT18-2"/>
          <p:cNvSpPr txBox="1"/>
          <p:nvPr/>
        </p:nvSpPr>
        <p:spPr>
          <a:xfrm>
            <a:off x="7605095" y="5233077"/>
            <a:ext cx="371527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四、 全量上线与监控</a:t>
            </a:r>
            <a:endPar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endParaRPr>
          </a:p>
        </p:txBody>
      </p:sp>
      <p:sp>
        <p:nvSpPr>
          <p:cNvPr id="136" name="小红书平北职场PPT18-3"/>
          <p:cNvSpPr txBox="1"/>
          <p:nvPr/>
        </p:nvSpPr>
        <p:spPr>
          <a:xfrm>
            <a:off x="4088715" y="5637179"/>
            <a:ext cx="2994178" cy="942694"/>
          </a:xfrm>
          <a:prstGeom prst="rect">
            <a:avLst/>
          </a:prstGeom>
          <a:noFill/>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基于用户心智模型，重构全部核心页面文案与视觉动线，突出价值主张与成功案例</a:t>
            </a:r>
            <a:endParaRPr lang="zh-CN" altLang="en-US" sz="1200" dirty="0">
              <a:solidFill>
                <a:schemeClr val="tx1"/>
              </a:solidFill>
              <a:latin typeface="+mn-ea"/>
              <a:cs typeface="思源黑体 CN Normal" panose="020B0400000000000000" pitchFamily="34" charset="-122"/>
            </a:endParaRPr>
          </a:p>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关键流程原型完成</a:t>
            </a:r>
            <a:r>
              <a:rPr lang="en-US" altLang="zh-CN" sz="1200" dirty="0">
                <a:solidFill>
                  <a:schemeClr val="tx1"/>
                </a:solidFill>
                <a:latin typeface="+mn-ea"/>
                <a:cs typeface="思源黑体 CN Normal" panose="020B0400000000000000" pitchFamily="34" charset="-122"/>
              </a:rPr>
              <a:t>2</a:t>
            </a:r>
            <a:r>
              <a:rPr lang="zh-CN" altLang="en-US" sz="1200" dirty="0">
                <a:solidFill>
                  <a:schemeClr val="tx1"/>
                </a:solidFill>
                <a:latin typeface="+mn-ea"/>
                <a:cs typeface="思源黑体 CN Normal" panose="020B0400000000000000" pitchFamily="34" charset="-122"/>
              </a:rPr>
              <a:t>轮用户测试，任务完成通过率高达 </a:t>
            </a:r>
            <a:r>
              <a:rPr lang="en-US" altLang="zh-CN" sz="1200" dirty="0">
                <a:solidFill>
                  <a:schemeClr val="tx1"/>
                </a:solidFill>
                <a:latin typeface="+mn-ea"/>
                <a:cs typeface="思源黑体 CN Normal" panose="020B0400000000000000" pitchFamily="34" charset="-122"/>
              </a:rPr>
              <a:t>92%</a:t>
            </a:r>
            <a:r>
              <a:rPr lang="zh-CN" altLang="en-US" sz="1200" dirty="0">
                <a:solidFill>
                  <a:schemeClr val="tx1"/>
                </a:solidFill>
                <a:latin typeface="+mn-ea"/>
                <a:cs typeface="思源黑体 CN Normal" panose="020B0400000000000000" pitchFamily="34" charset="-122"/>
              </a:rPr>
              <a:t>，较旧版提升</a:t>
            </a:r>
            <a:r>
              <a:rPr lang="en-US" altLang="zh-CN" sz="1200" dirty="0">
                <a:solidFill>
                  <a:schemeClr val="tx1"/>
                </a:solidFill>
                <a:latin typeface="+mn-ea"/>
                <a:cs typeface="思源黑体 CN Normal" panose="020B0400000000000000" pitchFamily="34" charset="-122"/>
              </a:rPr>
              <a:t>35</a:t>
            </a:r>
            <a:r>
              <a:rPr lang="zh-CN" altLang="en-US" sz="1200" dirty="0">
                <a:solidFill>
                  <a:schemeClr val="tx1"/>
                </a:solidFill>
                <a:latin typeface="+mn-ea"/>
                <a:cs typeface="思源黑体 CN Normal" panose="020B0400000000000000" pitchFamily="34" charset="-122"/>
              </a:rPr>
              <a:t>个百分点</a:t>
            </a:r>
            <a:endParaRPr lang="zh-CN" altLang="en-US" sz="1200" dirty="0">
              <a:solidFill>
                <a:schemeClr val="tx1"/>
              </a:solidFill>
              <a:latin typeface="+mn-ea"/>
              <a:cs typeface="思源黑体 CN Normal" panose="020B0400000000000000" pitchFamily="34" charset="-122"/>
            </a:endParaRPr>
          </a:p>
        </p:txBody>
      </p:sp>
      <p:sp>
        <p:nvSpPr>
          <p:cNvPr id="137" name="小红书平北职场PPT18-4"/>
          <p:cNvSpPr txBox="1"/>
          <p:nvPr/>
        </p:nvSpPr>
        <p:spPr>
          <a:xfrm>
            <a:off x="3406113" y="5233077"/>
            <a:ext cx="62674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mj-ea"/>
                <a:ea typeface="+mj-ea"/>
                <a:cs typeface="思源黑体 CN Normal" panose="020B0400000000000000" pitchFamily="34" charset="-122"/>
              </a:rPr>
              <a:t>二、 内容重塑与</a:t>
            </a:r>
            <a:r>
              <a:rPr kumimoji="0" lang="en-US" altLang="zh-CN" sz="180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mj-ea"/>
                <a:ea typeface="+mj-ea"/>
                <a:cs typeface="思源黑体 CN Normal" panose="020B0400000000000000" pitchFamily="34" charset="-122"/>
              </a:rPr>
              <a:t>UI</a:t>
            </a:r>
            <a:r>
              <a:rPr kumimoji="0" lang="zh-CN" altLang="en-US" sz="180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mj-ea"/>
                <a:ea typeface="+mj-ea"/>
                <a:cs typeface="思源黑体 CN Normal" panose="020B0400000000000000" pitchFamily="34" charset="-122"/>
              </a:rPr>
              <a:t>开发</a:t>
            </a:r>
            <a:endParaRPr kumimoji="0" lang="zh-CN" altLang="en-US" sz="180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mj-ea"/>
              <a:ea typeface="+mj-ea"/>
              <a:cs typeface="思源黑体 CN Normal" panose="020B0400000000000000" pitchFamily="34" charset="-122"/>
            </a:endParaRPr>
          </a:p>
        </p:txBody>
      </p:sp>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61"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小红书平北职场PPT1-2"/>
            <p:cNvSpPr txBox="1"/>
            <p:nvPr>
              <p:custDataLst>
                <p:tags r:id="rId2"/>
              </p:custDataLst>
            </p:nvPr>
          </p:nvSpPr>
          <p:spPr>
            <a:xfrm>
              <a:off x="334963" y="184318"/>
              <a:ext cx="5027017"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述职报告：不足之处与改进策略</a:t>
              </a:r>
              <a:endParaRPr lang="zh-CN" altLang="en-US" sz="2800" dirty="0">
                <a:latin typeface="+mj-ea"/>
                <a:ea typeface="+mj-ea"/>
                <a:cs typeface="思源黑体 CN Normal" panose="020B0400000000000000" pitchFamily="34" charset="-122"/>
                <a:sym typeface="+mj-ea"/>
              </a:endParaRPr>
            </a:p>
          </p:txBody>
        </p:sp>
      </p:grpSp>
      <p:grpSp>
        <p:nvGrpSpPr>
          <p:cNvPr id="4" name="小红书平北职场PPT2"/>
          <p:cNvGrpSpPr/>
          <p:nvPr/>
        </p:nvGrpSpPr>
        <p:grpSpPr>
          <a:xfrm>
            <a:off x="3975100" y="3153877"/>
            <a:ext cx="4089400" cy="3379179"/>
            <a:chOff x="3139410" y="3452428"/>
            <a:chExt cx="5277616" cy="3020541"/>
          </a:xfrm>
        </p:grpSpPr>
        <p:sp>
          <p:nvSpPr>
            <p:cNvPr id="54" name="小红书平北职场PPT2-1"/>
            <p:cNvSpPr/>
            <p:nvPr/>
          </p:nvSpPr>
          <p:spPr>
            <a:xfrm>
              <a:off x="5475058" y="5948087"/>
              <a:ext cx="617043" cy="524882"/>
            </a:xfrm>
            <a:prstGeom prst="triangle">
              <a:avLst/>
            </a:prstGeom>
            <a:solidFill>
              <a:schemeClr val="bg1">
                <a:lumMod val="50000"/>
                <a:alpha val="90000"/>
              </a:schemeClr>
            </a:solid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5" name="小红书平北职场PPT2-2"/>
            <p:cNvSpPr/>
            <p:nvPr/>
          </p:nvSpPr>
          <p:spPr>
            <a:xfrm rot="240000">
              <a:off x="3139410" y="5731219"/>
              <a:ext cx="5277616" cy="256900"/>
            </a:xfrm>
            <a:prstGeom prst="rect">
              <a:avLst/>
            </a:prstGeom>
            <a:solidFill>
              <a:schemeClr val="bg1">
                <a:lumMod val="50000"/>
                <a:alpha val="90000"/>
              </a:schemeClr>
            </a:solid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6" name="小红书平北职场PPT2-3"/>
            <p:cNvSpPr/>
            <p:nvPr/>
          </p:nvSpPr>
          <p:spPr>
            <a:xfrm rot="240000">
              <a:off x="6469989" y="5019175"/>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智能协同</a:t>
              </a:r>
              <a:endParaRPr lang="en-US" dirty="0">
                <a:solidFill>
                  <a:schemeClr val="bg1"/>
                </a:solidFill>
                <a:latin typeface="+mj-ea"/>
                <a:ea typeface="+mj-ea"/>
                <a:cs typeface="思源黑体 CN Normal" panose="020B0400000000000000" pitchFamily="34" charset="-122"/>
                <a:sym typeface="+mn-lt"/>
              </a:endParaRPr>
            </a:p>
          </p:txBody>
        </p:sp>
        <p:sp>
          <p:nvSpPr>
            <p:cNvPr id="57" name="小红书平北职场PPT2-4"/>
            <p:cNvSpPr/>
            <p:nvPr/>
          </p:nvSpPr>
          <p:spPr>
            <a:xfrm rot="240000">
              <a:off x="6527202" y="4226999"/>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节流增效</a:t>
              </a:r>
              <a:endParaRPr lang="en-US" dirty="0">
                <a:solidFill>
                  <a:schemeClr val="bg1"/>
                </a:solidFill>
                <a:latin typeface="+mj-ea"/>
                <a:ea typeface="+mj-ea"/>
                <a:cs typeface="思源黑体 CN Normal" panose="020B0400000000000000" pitchFamily="34" charset="-122"/>
                <a:sym typeface="+mn-lt"/>
              </a:endParaRPr>
            </a:p>
          </p:txBody>
        </p:sp>
        <p:sp>
          <p:nvSpPr>
            <p:cNvPr id="58" name="小红书平北职场PPT2-5"/>
            <p:cNvSpPr/>
            <p:nvPr/>
          </p:nvSpPr>
          <p:spPr>
            <a:xfrm rot="240000">
              <a:off x="6584415" y="3452428"/>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提速降耗</a:t>
              </a:r>
              <a:endParaRPr lang="en-US" dirty="0">
                <a:solidFill>
                  <a:schemeClr val="bg1"/>
                </a:solidFill>
                <a:latin typeface="+mj-ea"/>
                <a:ea typeface="+mj-ea"/>
                <a:cs typeface="思源黑体 CN Normal" panose="020B0400000000000000" pitchFamily="34" charset="-122"/>
                <a:sym typeface="+mn-lt"/>
              </a:endParaRPr>
            </a:p>
          </p:txBody>
        </p:sp>
        <p:sp>
          <p:nvSpPr>
            <p:cNvPr id="59" name="小红书平北职场PPT2-6"/>
            <p:cNvSpPr/>
            <p:nvPr/>
          </p:nvSpPr>
          <p:spPr>
            <a:xfrm rot="240000">
              <a:off x="3471979" y="4793768"/>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沟通低效</a:t>
              </a:r>
              <a:endParaRPr lang="en-US" dirty="0">
                <a:solidFill>
                  <a:schemeClr val="bg1"/>
                </a:solidFill>
                <a:latin typeface="+mj-ea"/>
                <a:ea typeface="+mj-ea"/>
                <a:cs typeface="思源黑体 CN Normal" panose="020B0400000000000000" pitchFamily="34" charset="-122"/>
                <a:sym typeface="+mn-lt"/>
              </a:endParaRPr>
            </a:p>
          </p:txBody>
        </p:sp>
        <p:sp>
          <p:nvSpPr>
            <p:cNvPr id="60" name="小红书平北职场PPT2-7"/>
            <p:cNvSpPr/>
            <p:nvPr/>
          </p:nvSpPr>
          <p:spPr>
            <a:xfrm rot="240000">
              <a:off x="3529192" y="4001592"/>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预判不足</a:t>
              </a:r>
              <a:endParaRPr lang="en-US" dirty="0">
                <a:solidFill>
                  <a:schemeClr val="bg1"/>
                </a:solidFill>
                <a:latin typeface="+mj-ea"/>
                <a:ea typeface="+mj-ea"/>
                <a:cs typeface="思源黑体 CN Normal" panose="020B0400000000000000" pitchFamily="34" charset="-122"/>
                <a:sym typeface="+mn-lt"/>
              </a:endParaRPr>
            </a:p>
          </p:txBody>
        </p:sp>
      </p:grpSp>
      <p:sp>
        <p:nvSpPr>
          <p:cNvPr id="66" name="任意多边形: 形状 65"/>
          <p:cNvSpPr/>
          <p:nvPr/>
        </p:nvSpPr>
        <p:spPr>
          <a:xfrm>
            <a:off x="6139226" y="1212272"/>
            <a:ext cx="6052775" cy="1228331"/>
          </a:xfrm>
          <a:custGeom>
            <a:avLst/>
            <a:gdLst>
              <a:gd name="connsiteX0" fmla="*/ 438342 w 6052775"/>
              <a:gd name="connsiteY0" fmla="*/ 0 h 1228331"/>
              <a:gd name="connsiteX1" fmla="*/ 6052775 w 6052775"/>
              <a:gd name="connsiteY1" fmla="*/ 0 h 1228331"/>
              <a:gd name="connsiteX2" fmla="*/ 6052775 w 6052775"/>
              <a:gd name="connsiteY2" fmla="*/ 1228331 h 1228331"/>
              <a:gd name="connsiteX3" fmla="*/ 438342 w 6052775"/>
              <a:gd name="connsiteY3" fmla="*/ 1228331 h 1228331"/>
              <a:gd name="connsiteX4" fmla="*/ 0 w 6052775"/>
              <a:gd name="connsiteY4" fmla="*/ 614166 h 1228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2775" h="1228331">
                <a:moveTo>
                  <a:pt x="438342" y="0"/>
                </a:moveTo>
                <a:lnTo>
                  <a:pt x="6052775" y="0"/>
                </a:lnTo>
                <a:lnTo>
                  <a:pt x="6052775" y="1228331"/>
                </a:lnTo>
                <a:lnTo>
                  <a:pt x="438342" y="1228331"/>
                </a:lnTo>
                <a:lnTo>
                  <a:pt x="0" y="614166"/>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grpSp>
        <p:nvGrpSpPr>
          <p:cNvPr id="51" name="组合 50"/>
          <p:cNvGrpSpPr/>
          <p:nvPr/>
        </p:nvGrpSpPr>
        <p:grpSpPr>
          <a:xfrm>
            <a:off x="6671904" y="1377976"/>
            <a:ext cx="870732" cy="870732"/>
            <a:chOff x="6742357" y="1273342"/>
            <a:chExt cx="1080000" cy="1080000"/>
          </a:xfrm>
        </p:grpSpPr>
        <p:sp>
          <p:nvSpPr>
            <p:cNvPr id="52" name="小红书平北职场PPT3-2"/>
            <p:cNvSpPr/>
            <p:nvPr/>
          </p:nvSpPr>
          <p:spPr bwMode="auto">
            <a:xfrm>
              <a:off x="6967958" y="1446818"/>
              <a:ext cx="559915" cy="697518"/>
            </a:xfrm>
            <a:custGeom>
              <a:avLst/>
              <a:gdLst>
                <a:gd name="T0" fmla="*/ 0 w 50"/>
                <a:gd name="T1" fmla="*/ 38 h 62"/>
                <a:gd name="T2" fmla="*/ 5 w 50"/>
                <a:gd name="T3" fmla="*/ 34 h 62"/>
                <a:gd name="T4" fmla="*/ 11 w 50"/>
                <a:gd name="T5" fmla="*/ 34 h 62"/>
                <a:gd name="T6" fmla="*/ 11 w 50"/>
                <a:gd name="T7" fmla="*/ 34 h 62"/>
                <a:gd name="T8" fmla="*/ 6 w 50"/>
                <a:gd name="T9" fmla="*/ 34 h 62"/>
                <a:gd name="T10" fmla="*/ 3 w 50"/>
                <a:gd name="T11" fmla="*/ 29 h 62"/>
                <a:gd name="T12" fmla="*/ 7 w 50"/>
                <a:gd name="T13" fmla="*/ 25 h 62"/>
                <a:gd name="T14" fmla="*/ 24 w 50"/>
                <a:gd name="T15" fmla="*/ 27 h 62"/>
                <a:gd name="T16" fmla="*/ 26 w 50"/>
                <a:gd name="T17" fmla="*/ 27 h 62"/>
                <a:gd name="T18" fmla="*/ 26 w 50"/>
                <a:gd name="T19" fmla="*/ 13 h 62"/>
                <a:gd name="T20" fmla="*/ 35 w 50"/>
                <a:gd name="T21" fmla="*/ 5 h 62"/>
                <a:gd name="T22" fmla="*/ 36 w 50"/>
                <a:gd name="T23" fmla="*/ 17 h 62"/>
                <a:gd name="T24" fmla="*/ 44 w 50"/>
                <a:gd name="T25" fmla="*/ 35 h 62"/>
                <a:gd name="T26" fmla="*/ 49 w 50"/>
                <a:gd name="T27" fmla="*/ 37 h 62"/>
                <a:gd name="T28" fmla="*/ 49 w 50"/>
                <a:gd name="T29" fmla="*/ 59 h 62"/>
                <a:gd name="T30" fmla="*/ 29 w 50"/>
                <a:gd name="T31" fmla="*/ 62 h 62"/>
                <a:gd name="T32" fmla="*/ 17 w 50"/>
                <a:gd name="T33" fmla="*/ 60 h 62"/>
                <a:gd name="T34" fmla="*/ 6 w 50"/>
                <a:gd name="T35" fmla="*/ 59 h 62"/>
                <a:gd name="T36" fmla="*/ 3 w 50"/>
                <a:gd name="T37" fmla="*/ 55 h 62"/>
                <a:gd name="T38" fmla="*/ 6 w 50"/>
                <a:gd name="T39" fmla="*/ 51 h 62"/>
                <a:gd name="T40" fmla="*/ 4 w 50"/>
                <a:gd name="T41" fmla="*/ 51 h 62"/>
                <a:gd name="T42" fmla="*/ 1 w 50"/>
                <a:gd name="T43" fmla="*/ 46 h 62"/>
                <a:gd name="T44" fmla="*/ 4 w 50"/>
                <a:gd name="T45" fmla="*/ 42 h 62"/>
                <a:gd name="T46" fmla="*/ 4 w 50"/>
                <a:gd name="T47" fmla="*/ 42 h 62"/>
                <a:gd name="T48" fmla="*/ 0 w 50"/>
                <a:gd name="T49" fmla="*/ 3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62">
                  <a:moveTo>
                    <a:pt x="0" y="38"/>
                  </a:moveTo>
                  <a:cubicBezTo>
                    <a:pt x="0" y="35"/>
                    <a:pt x="2" y="34"/>
                    <a:pt x="5" y="34"/>
                  </a:cubicBezTo>
                  <a:cubicBezTo>
                    <a:pt x="11" y="34"/>
                    <a:pt x="11" y="34"/>
                    <a:pt x="11" y="34"/>
                  </a:cubicBezTo>
                  <a:cubicBezTo>
                    <a:pt x="11" y="34"/>
                    <a:pt x="11" y="34"/>
                    <a:pt x="11" y="34"/>
                  </a:cubicBezTo>
                  <a:cubicBezTo>
                    <a:pt x="6" y="34"/>
                    <a:pt x="6" y="34"/>
                    <a:pt x="6" y="34"/>
                  </a:cubicBezTo>
                  <a:cubicBezTo>
                    <a:pt x="4" y="33"/>
                    <a:pt x="3" y="31"/>
                    <a:pt x="3" y="29"/>
                  </a:cubicBezTo>
                  <a:cubicBezTo>
                    <a:pt x="3" y="27"/>
                    <a:pt x="5" y="25"/>
                    <a:pt x="7" y="25"/>
                  </a:cubicBezTo>
                  <a:cubicBezTo>
                    <a:pt x="24" y="27"/>
                    <a:pt x="24" y="27"/>
                    <a:pt x="24" y="27"/>
                  </a:cubicBezTo>
                  <a:cubicBezTo>
                    <a:pt x="26" y="27"/>
                    <a:pt x="26" y="27"/>
                    <a:pt x="26" y="27"/>
                  </a:cubicBezTo>
                  <a:cubicBezTo>
                    <a:pt x="26" y="27"/>
                    <a:pt x="23" y="25"/>
                    <a:pt x="26" y="13"/>
                  </a:cubicBezTo>
                  <a:cubicBezTo>
                    <a:pt x="28" y="0"/>
                    <a:pt x="35" y="5"/>
                    <a:pt x="35" y="5"/>
                  </a:cubicBezTo>
                  <a:cubicBezTo>
                    <a:pt x="35" y="5"/>
                    <a:pt x="35" y="16"/>
                    <a:pt x="36" y="17"/>
                  </a:cubicBezTo>
                  <a:cubicBezTo>
                    <a:pt x="36" y="19"/>
                    <a:pt x="44" y="35"/>
                    <a:pt x="44" y="35"/>
                  </a:cubicBezTo>
                  <a:cubicBezTo>
                    <a:pt x="44" y="36"/>
                    <a:pt x="50" y="36"/>
                    <a:pt x="49" y="37"/>
                  </a:cubicBezTo>
                  <a:cubicBezTo>
                    <a:pt x="49" y="45"/>
                    <a:pt x="49" y="51"/>
                    <a:pt x="49" y="59"/>
                  </a:cubicBezTo>
                  <a:cubicBezTo>
                    <a:pt x="44" y="57"/>
                    <a:pt x="41" y="62"/>
                    <a:pt x="29" y="62"/>
                  </a:cubicBezTo>
                  <a:cubicBezTo>
                    <a:pt x="25" y="62"/>
                    <a:pt x="21" y="61"/>
                    <a:pt x="17" y="60"/>
                  </a:cubicBezTo>
                  <a:cubicBezTo>
                    <a:pt x="6" y="59"/>
                    <a:pt x="6" y="59"/>
                    <a:pt x="6" y="59"/>
                  </a:cubicBezTo>
                  <a:cubicBezTo>
                    <a:pt x="4" y="59"/>
                    <a:pt x="3" y="57"/>
                    <a:pt x="3" y="55"/>
                  </a:cubicBezTo>
                  <a:cubicBezTo>
                    <a:pt x="3" y="53"/>
                    <a:pt x="4" y="51"/>
                    <a:pt x="6" y="51"/>
                  </a:cubicBezTo>
                  <a:cubicBezTo>
                    <a:pt x="4" y="51"/>
                    <a:pt x="4" y="51"/>
                    <a:pt x="4" y="51"/>
                  </a:cubicBezTo>
                  <a:cubicBezTo>
                    <a:pt x="2" y="51"/>
                    <a:pt x="1" y="48"/>
                    <a:pt x="1" y="46"/>
                  </a:cubicBezTo>
                  <a:cubicBezTo>
                    <a:pt x="1" y="44"/>
                    <a:pt x="3" y="43"/>
                    <a:pt x="4" y="42"/>
                  </a:cubicBezTo>
                  <a:cubicBezTo>
                    <a:pt x="4" y="42"/>
                    <a:pt x="4" y="42"/>
                    <a:pt x="4" y="42"/>
                  </a:cubicBezTo>
                  <a:cubicBezTo>
                    <a:pt x="2" y="42"/>
                    <a:pt x="0" y="40"/>
                    <a:pt x="0" y="38"/>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id-ID"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sym typeface="+mn-lt"/>
              </a:endParaRPr>
            </a:p>
          </p:txBody>
        </p:sp>
        <p:sp>
          <p:nvSpPr>
            <p:cNvPr id="53" name="小红书平北职场PPT3-3"/>
            <p:cNvSpPr/>
            <p:nvPr/>
          </p:nvSpPr>
          <p:spPr>
            <a:xfrm>
              <a:off x="6742357" y="1273342"/>
              <a:ext cx="1080000" cy="1080000"/>
            </a:xfrm>
            <a:prstGeom prst="ellipse">
              <a:avLst/>
            </a:prstGeom>
            <a:noFill/>
            <a:ln w="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sp>
        <p:nvSpPr>
          <p:cNvPr id="64" name="任意多边形: 形状 63"/>
          <p:cNvSpPr/>
          <p:nvPr/>
        </p:nvSpPr>
        <p:spPr>
          <a:xfrm rot="10800000" flipV="1">
            <a:off x="0" y="2076751"/>
            <a:ext cx="6048282" cy="1228328"/>
          </a:xfrm>
          <a:custGeom>
            <a:avLst/>
            <a:gdLst>
              <a:gd name="connsiteX0" fmla="*/ 6048282 w 6048282"/>
              <a:gd name="connsiteY0" fmla="*/ 0 h 1228328"/>
              <a:gd name="connsiteX1" fmla="*/ 438341 w 6048282"/>
              <a:gd name="connsiteY1" fmla="*/ 0 h 1228328"/>
              <a:gd name="connsiteX2" fmla="*/ 0 w 6048282"/>
              <a:gd name="connsiteY2" fmla="*/ 614164 h 1228328"/>
              <a:gd name="connsiteX3" fmla="*/ 438341 w 6048282"/>
              <a:gd name="connsiteY3" fmla="*/ 1228328 h 1228328"/>
              <a:gd name="connsiteX4" fmla="*/ 6048282 w 6048282"/>
              <a:gd name="connsiteY4" fmla="*/ 1228328 h 1228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8282" h="1228328">
                <a:moveTo>
                  <a:pt x="6048282" y="0"/>
                </a:moveTo>
                <a:lnTo>
                  <a:pt x="438341" y="0"/>
                </a:lnTo>
                <a:lnTo>
                  <a:pt x="0" y="614164"/>
                </a:lnTo>
                <a:lnTo>
                  <a:pt x="438341" y="1228328"/>
                </a:lnTo>
                <a:lnTo>
                  <a:pt x="6048282" y="1228328"/>
                </a:ln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grpSp>
        <p:nvGrpSpPr>
          <p:cNvPr id="47" name="组合 46"/>
          <p:cNvGrpSpPr/>
          <p:nvPr/>
        </p:nvGrpSpPr>
        <p:grpSpPr>
          <a:xfrm>
            <a:off x="4574131" y="2236727"/>
            <a:ext cx="870732" cy="870732"/>
            <a:chOff x="4269009" y="1267621"/>
            <a:chExt cx="1080000" cy="1080000"/>
          </a:xfrm>
        </p:grpSpPr>
        <p:sp>
          <p:nvSpPr>
            <p:cNvPr id="48" name="小红书平北职场PPT3-5"/>
            <p:cNvSpPr/>
            <p:nvPr/>
          </p:nvSpPr>
          <p:spPr bwMode="auto">
            <a:xfrm>
              <a:off x="4499496" y="1442074"/>
              <a:ext cx="607363" cy="707006"/>
            </a:xfrm>
            <a:custGeom>
              <a:avLst/>
              <a:gdLst>
                <a:gd name="T0" fmla="*/ 54 w 54"/>
                <a:gd name="T1" fmla="*/ 27 h 63"/>
                <a:gd name="T2" fmla="*/ 49 w 54"/>
                <a:gd name="T3" fmla="*/ 24 h 63"/>
                <a:gd name="T4" fmla="*/ 44 w 54"/>
                <a:gd name="T5" fmla="*/ 25 h 63"/>
                <a:gd name="T6" fmla="*/ 44 w 54"/>
                <a:gd name="T7" fmla="*/ 25 h 63"/>
                <a:gd name="T8" fmla="*/ 50 w 54"/>
                <a:gd name="T9" fmla="*/ 24 h 63"/>
                <a:gd name="T10" fmla="*/ 54 w 54"/>
                <a:gd name="T11" fmla="*/ 19 h 63"/>
                <a:gd name="T12" fmla="*/ 49 w 54"/>
                <a:gd name="T13" fmla="*/ 15 h 63"/>
                <a:gd name="T14" fmla="*/ 48 w 54"/>
                <a:gd name="T15" fmla="*/ 15 h 63"/>
                <a:gd name="T16" fmla="*/ 50 w 54"/>
                <a:gd name="T17" fmla="*/ 11 h 63"/>
                <a:gd name="T18" fmla="*/ 45 w 54"/>
                <a:gd name="T19" fmla="*/ 7 h 63"/>
                <a:gd name="T20" fmla="*/ 44 w 54"/>
                <a:gd name="T21" fmla="*/ 8 h 63"/>
                <a:gd name="T22" fmla="*/ 45 w 54"/>
                <a:gd name="T23" fmla="*/ 3 h 63"/>
                <a:gd name="T24" fmla="*/ 41 w 54"/>
                <a:gd name="T25" fmla="*/ 0 h 63"/>
                <a:gd name="T26" fmla="*/ 31 w 54"/>
                <a:gd name="T27" fmla="*/ 2 h 63"/>
                <a:gd name="T28" fmla="*/ 18 w 54"/>
                <a:gd name="T29" fmla="*/ 5 h 63"/>
                <a:gd name="T30" fmla="*/ 0 w 54"/>
                <a:gd name="T31" fmla="*/ 14 h 63"/>
                <a:gd name="T32" fmla="*/ 1 w 54"/>
                <a:gd name="T33" fmla="*/ 35 h 63"/>
                <a:gd name="T34" fmla="*/ 13 w 54"/>
                <a:gd name="T35" fmla="*/ 35 h 63"/>
                <a:gd name="T36" fmla="*/ 27 w 54"/>
                <a:gd name="T37" fmla="*/ 49 h 63"/>
                <a:gd name="T38" fmla="*/ 31 w 54"/>
                <a:gd name="T39" fmla="*/ 61 h 63"/>
                <a:gd name="T40" fmla="*/ 38 w 54"/>
                <a:gd name="T41" fmla="*/ 50 h 63"/>
                <a:gd name="T42" fmla="*/ 32 w 54"/>
                <a:gd name="T43" fmla="*/ 37 h 63"/>
                <a:gd name="T44" fmla="*/ 35 w 54"/>
                <a:gd name="T45" fmla="*/ 36 h 63"/>
                <a:gd name="T46" fmla="*/ 51 w 54"/>
                <a:gd name="T47" fmla="*/ 33 h 63"/>
                <a:gd name="T48" fmla="*/ 54 w 54"/>
                <a:gd name="T49"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4" h="63">
                  <a:moveTo>
                    <a:pt x="54" y="27"/>
                  </a:moveTo>
                  <a:cubicBezTo>
                    <a:pt x="53" y="25"/>
                    <a:pt x="51" y="24"/>
                    <a:pt x="49" y="24"/>
                  </a:cubicBezTo>
                  <a:cubicBezTo>
                    <a:pt x="44" y="25"/>
                    <a:pt x="44" y="25"/>
                    <a:pt x="44" y="25"/>
                  </a:cubicBezTo>
                  <a:cubicBezTo>
                    <a:pt x="44" y="25"/>
                    <a:pt x="44" y="25"/>
                    <a:pt x="44" y="25"/>
                  </a:cubicBezTo>
                  <a:cubicBezTo>
                    <a:pt x="50" y="24"/>
                    <a:pt x="50" y="24"/>
                    <a:pt x="50" y="24"/>
                  </a:cubicBezTo>
                  <a:cubicBezTo>
                    <a:pt x="53" y="23"/>
                    <a:pt x="54" y="21"/>
                    <a:pt x="54" y="19"/>
                  </a:cubicBezTo>
                  <a:cubicBezTo>
                    <a:pt x="53" y="16"/>
                    <a:pt x="51" y="15"/>
                    <a:pt x="49" y="15"/>
                  </a:cubicBezTo>
                  <a:cubicBezTo>
                    <a:pt x="48" y="15"/>
                    <a:pt x="48" y="15"/>
                    <a:pt x="48" y="15"/>
                  </a:cubicBezTo>
                  <a:cubicBezTo>
                    <a:pt x="50" y="15"/>
                    <a:pt x="50" y="13"/>
                    <a:pt x="50" y="11"/>
                  </a:cubicBezTo>
                  <a:cubicBezTo>
                    <a:pt x="49" y="8"/>
                    <a:pt x="47" y="7"/>
                    <a:pt x="45" y="7"/>
                  </a:cubicBezTo>
                  <a:cubicBezTo>
                    <a:pt x="44" y="8"/>
                    <a:pt x="44" y="8"/>
                    <a:pt x="44" y="8"/>
                  </a:cubicBezTo>
                  <a:cubicBezTo>
                    <a:pt x="45" y="7"/>
                    <a:pt x="46" y="5"/>
                    <a:pt x="45" y="3"/>
                  </a:cubicBezTo>
                  <a:cubicBezTo>
                    <a:pt x="45" y="1"/>
                    <a:pt x="43" y="0"/>
                    <a:pt x="41" y="0"/>
                  </a:cubicBezTo>
                  <a:cubicBezTo>
                    <a:pt x="31" y="2"/>
                    <a:pt x="31" y="2"/>
                    <a:pt x="31" y="2"/>
                  </a:cubicBezTo>
                  <a:cubicBezTo>
                    <a:pt x="27" y="3"/>
                    <a:pt x="22" y="4"/>
                    <a:pt x="18" y="5"/>
                  </a:cubicBezTo>
                  <a:cubicBezTo>
                    <a:pt x="7" y="9"/>
                    <a:pt x="6" y="14"/>
                    <a:pt x="0" y="14"/>
                  </a:cubicBezTo>
                  <a:cubicBezTo>
                    <a:pt x="0" y="24"/>
                    <a:pt x="0" y="27"/>
                    <a:pt x="1" y="35"/>
                  </a:cubicBezTo>
                  <a:cubicBezTo>
                    <a:pt x="1" y="36"/>
                    <a:pt x="12" y="35"/>
                    <a:pt x="13" y="35"/>
                  </a:cubicBezTo>
                  <a:cubicBezTo>
                    <a:pt x="13" y="35"/>
                    <a:pt x="26" y="48"/>
                    <a:pt x="27" y="49"/>
                  </a:cubicBezTo>
                  <a:cubicBezTo>
                    <a:pt x="27" y="51"/>
                    <a:pt x="31" y="61"/>
                    <a:pt x="31" y="61"/>
                  </a:cubicBezTo>
                  <a:cubicBezTo>
                    <a:pt x="31" y="61"/>
                    <a:pt x="39" y="63"/>
                    <a:pt x="38" y="50"/>
                  </a:cubicBezTo>
                  <a:cubicBezTo>
                    <a:pt x="36" y="37"/>
                    <a:pt x="32" y="37"/>
                    <a:pt x="32" y="37"/>
                  </a:cubicBezTo>
                  <a:cubicBezTo>
                    <a:pt x="35" y="36"/>
                    <a:pt x="35" y="36"/>
                    <a:pt x="35" y="36"/>
                  </a:cubicBezTo>
                  <a:cubicBezTo>
                    <a:pt x="51" y="33"/>
                    <a:pt x="51" y="33"/>
                    <a:pt x="51" y="33"/>
                  </a:cubicBezTo>
                  <a:cubicBezTo>
                    <a:pt x="53" y="32"/>
                    <a:pt x="54" y="30"/>
                    <a:pt x="54" y="27"/>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id-ID"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sym typeface="+mn-lt"/>
              </a:endParaRPr>
            </a:p>
          </p:txBody>
        </p:sp>
        <p:sp>
          <p:nvSpPr>
            <p:cNvPr id="49" name="小红书平北职场PPT3-6"/>
            <p:cNvSpPr/>
            <p:nvPr/>
          </p:nvSpPr>
          <p:spPr>
            <a:xfrm>
              <a:off x="4269009" y="1267621"/>
              <a:ext cx="1080000" cy="1080000"/>
            </a:xfrm>
            <a:prstGeom prst="ellipse">
              <a:avLst/>
            </a:prstGeom>
            <a:noFill/>
            <a:ln w="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nvGrpSpPr>
          <p:cNvPr id="6" name="小红书平北职场PPT4"/>
          <p:cNvGrpSpPr/>
          <p:nvPr/>
        </p:nvGrpSpPr>
        <p:grpSpPr>
          <a:xfrm>
            <a:off x="375935" y="2735239"/>
            <a:ext cx="11440131" cy="3768744"/>
            <a:chOff x="375935" y="2735239"/>
            <a:chExt cx="11440131" cy="3768744"/>
          </a:xfrm>
        </p:grpSpPr>
        <p:grpSp>
          <p:nvGrpSpPr>
            <p:cNvPr id="37" name="组合 36"/>
            <p:cNvGrpSpPr/>
            <p:nvPr/>
          </p:nvGrpSpPr>
          <p:grpSpPr>
            <a:xfrm>
              <a:off x="8406200" y="2735239"/>
              <a:ext cx="3409866" cy="3768744"/>
              <a:chOff x="438158" y="2657456"/>
              <a:chExt cx="3067042" cy="3935744"/>
            </a:xfrm>
          </p:grpSpPr>
          <p:sp>
            <p:nvSpPr>
              <p:cNvPr id="41" name="小红书平北职场PPT4-1"/>
              <p:cNvSpPr/>
              <p:nvPr/>
            </p:nvSpPr>
            <p:spPr>
              <a:xfrm rot="10800000" flipV="1">
                <a:off x="438158" y="2657456"/>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2" name="小红书平北职场PPT4-2"/>
              <p:cNvSpPr/>
              <p:nvPr/>
            </p:nvSpPr>
            <p:spPr>
              <a:xfrm rot="10800000" flipV="1">
                <a:off x="438158" y="4011164"/>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3" name="小红书平北职场PPT4-3"/>
              <p:cNvSpPr/>
              <p:nvPr/>
            </p:nvSpPr>
            <p:spPr>
              <a:xfrm rot="10800000" flipV="1">
                <a:off x="438158" y="5364872"/>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38" name="组合 37"/>
            <p:cNvGrpSpPr/>
            <p:nvPr/>
          </p:nvGrpSpPr>
          <p:grpSpPr>
            <a:xfrm>
              <a:off x="375935" y="3772391"/>
              <a:ext cx="3409866" cy="2472476"/>
              <a:chOff x="438158" y="2657456"/>
              <a:chExt cx="3067042" cy="2582036"/>
            </a:xfrm>
          </p:grpSpPr>
          <p:sp>
            <p:nvSpPr>
              <p:cNvPr id="39" name="小红书平北职场PPT4-4"/>
              <p:cNvSpPr/>
              <p:nvPr/>
            </p:nvSpPr>
            <p:spPr>
              <a:xfrm rot="10800000" flipV="1">
                <a:off x="438158" y="2657456"/>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0" name="小红书平北职场PPT4-5"/>
              <p:cNvSpPr/>
              <p:nvPr/>
            </p:nvSpPr>
            <p:spPr>
              <a:xfrm rot="10800000" flipV="1">
                <a:off x="438158" y="4011164"/>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sp>
        <p:nvSpPr>
          <p:cNvPr id="7" name="小红书平北职场PPT5"/>
          <p:cNvSpPr txBox="1"/>
          <p:nvPr/>
        </p:nvSpPr>
        <p:spPr>
          <a:xfrm>
            <a:off x="511569" y="1301006"/>
            <a:ext cx="5476420" cy="552011"/>
          </a:xfrm>
          <a:prstGeom prst="rect">
            <a:avLst/>
          </a:prstGeom>
          <a:noFill/>
        </p:spPr>
        <p:txBody>
          <a:bodyPr wrap="square">
            <a:spAutoFit/>
          </a:bodyPr>
          <a:lstStyle/>
          <a:p>
            <a:pPr>
              <a:lnSpc>
                <a:spcPct val="130000"/>
              </a:lnSpc>
            </a:pPr>
            <a:r>
              <a:rPr lang="zh-CN" altLang="en-US" sz="1200" b="0" i="0" dirty="0">
                <a:effectLst/>
                <a:latin typeface="思源黑体 CN Heavy" panose="020B0A00000000000000" charset="-122"/>
                <a:cs typeface="思源黑体 CN Normal" panose="020B0400000000000000" pitchFamily="34" charset="-122"/>
              </a:rPr>
              <a:t>项目在性能、成本和流程方面取得显著成果，但也暴露出资源预估不足、团队协作待提升和监控体系不完善等问题，后续需针对性改进优化</a:t>
            </a:r>
            <a:endParaRPr lang="zh-CN" altLang="en-US" sz="1200" dirty="0">
              <a:cs typeface="思源黑体 CN Normal" panose="020B0400000000000000" pitchFamily="34" charset="-122"/>
            </a:endParaRPr>
          </a:p>
        </p:txBody>
      </p:sp>
      <p:sp>
        <p:nvSpPr>
          <p:cNvPr id="8" name="小红书平北职场PPT6"/>
          <p:cNvSpPr txBox="1"/>
          <p:nvPr/>
        </p:nvSpPr>
        <p:spPr>
          <a:xfrm>
            <a:off x="511569" y="907002"/>
            <a:ext cx="5476420" cy="429413"/>
          </a:xfrm>
          <a:prstGeom prst="rect">
            <a:avLst/>
          </a:prstGeom>
          <a:noFill/>
        </p:spPr>
        <p:txBody>
          <a:bodyPr wrap="square">
            <a:spAutoFit/>
          </a:bodyPr>
          <a:lstStyle/>
          <a:p>
            <a:pPr>
              <a:lnSpc>
                <a:spcPct val="130000"/>
              </a:lnSpc>
            </a:pPr>
            <a:r>
              <a:rPr lang="zh-CN" altLang="en-US" b="0" i="0" dirty="0">
                <a:gradFill>
                  <a:gsLst>
                    <a:gs pos="0">
                      <a:schemeClr val="accent1">
                        <a:lumMod val="60000"/>
                        <a:lumOff val="40000"/>
                      </a:schemeClr>
                    </a:gs>
                    <a:gs pos="100000">
                      <a:schemeClr val="accent1"/>
                    </a:gs>
                  </a:gsLst>
                  <a:lin ang="0" scaled="1"/>
                </a:gradFill>
                <a:effectLst/>
                <a:latin typeface="+mj-ea"/>
                <a:ea typeface="+mj-ea"/>
                <a:cs typeface="思源黑体 CN Normal" panose="020B0400000000000000" pitchFamily="34" charset="-122"/>
              </a:rPr>
              <a:t>项目成果与待改进总结</a:t>
            </a:r>
            <a:endParaRPr lang="zh-CN" altLang="en-US"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p:txBody>
      </p:sp>
      <p:sp>
        <p:nvSpPr>
          <p:cNvPr id="10" name="小红书平北职场PPT8"/>
          <p:cNvSpPr txBox="1"/>
          <p:nvPr/>
        </p:nvSpPr>
        <p:spPr>
          <a:xfrm>
            <a:off x="8609285" y="2854587"/>
            <a:ext cx="2972972" cy="912109"/>
          </a:xfrm>
          <a:prstGeom prst="rect">
            <a:avLst/>
          </a:prstGeom>
          <a:noFill/>
        </p:spPr>
        <p:txBody>
          <a:bodyPr wrap="square">
            <a:spAutoFit/>
          </a:bodyPr>
          <a:lstStyle/>
          <a:p>
            <a:pPr>
              <a:lnSpc>
                <a:spcPct val="130000"/>
              </a:lnSpc>
            </a:pPr>
            <a:r>
              <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性能显著提升 </a:t>
            </a:r>
            <a:endParaRPr lang="en-US" altLang="zh-CN"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nSpc>
                <a:spcPct val="130000"/>
              </a:lnSpc>
            </a:pPr>
            <a:r>
              <a:rPr lang="zh-CN" altLang="en-US" sz="1200" dirty="0">
                <a:solidFill>
                  <a:srgbClr val="262626"/>
                </a:solidFill>
                <a:latin typeface="+mn-ea"/>
                <a:cs typeface="思源黑体 CN Normal" panose="020B0400000000000000" pitchFamily="34" charset="-122"/>
              </a:rPr>
              <a:t>核心接口响应时间从 </a:t>
            </a:r>
            <a:r>
              <a:rPr lang="en-US" altLang="zh-CN" sz="1200" dirty="0">
                <a:solidFill>
                  <a:srgbClr val="262626"/>
                </a:solidFill>
                <a:latin typeface="+mn-ea"/>
                <a:cs typeface="思源黑体 CN Normal" panose="020B0400000000000000" pitchFamily="34" charset="-122"/>
              </a:rPr>
              <a:t>500ms → 200ms</a:t>
            </a:r>
            <a:r>
              <a:rPr lang="zh-CN" altLang="en-US" sz="1200" dirty="0">
                <a:solidFill>
                  <a:srgbClr val="262626"/>
                </a:solidFill>
                <a:latin typeface="+mn-ea"/>
                <a:cs typeface="思源黑体 CN Normal" panose="020B0400000000000000" pitchFamily="34" charset="-122"/>
              </a:rPr>
              <a:t>，并发能力提升 </a:t>
            </a:r>
            <a:r>
              <a:rPr lang="en-US" altLang="zh-CN" sz="1200" dirty="0">
                <a:solidFill>
                  <a:srgbClr val="262626"/>
                </a:solidFill>
                <a:latin typeface="+mn-ea"/>
                <a:cs typeface="思源黑体 CN Normal" panose="020B0400000000000000" pitchFamily="34" charset="-122"/>
              </a:rPr>
              <a:t>3</a:t>
            </a:r>
            <a:r>
              <a:rPr lang="zh-CN" altLang="en-US" sz="1200" dirty="0">
                <a:solidFill>
                  <a:srgbClr val="262626"/>
                </a:solidFill>
                <a:latin typeface="+mn-ea"/>
                <a:cs typeface="思源黑体 CN Normal" panose="020B0400000000000000" pitchFamily="34" charset="-122"/>
              </a:rPr>
              <a:t>倍，支撑大促百万级订单</a:t>
            </a:r>
            <a:endParaRPr lang="zh-CN" altLang="en-US" sz="1200" dirty="0">
              <a:solidFill>
                <a:srgbClr val="262626"/>
              </a:solidFill>
              <a:latin typeface="+mn-ea"/>
              <a:cs typeface="思源黑体 CN Normal" panose="020B0400000000000000" pitchFamily="34" charset="-122"/>
            </a:endParaRPr>
          </a:p>
        </p:txBody>
      </p:sp>
      <p:sp>
        <p:nvSpPr>
          <p:cNvPr id="11" name="小红书平北职场PPT9"/>
          <p:cNvSpPr txBox="1"/>
          <p:nvPr/>
        </p:nvSpPr>
        <p:spPr>
          <a:xfrm>
            <a:off x="8609285" y="4140686"/>
            <a:ext cx="2972972" cy="916276"/>
          </a:xfrm>
          <a:prstGeom prst="rect">
            <a:avLst/>
          </a:prstGeom>
          <a:noFill/>
        </p:spPr>
        <p:txBody>
          <a:bodyPr wrap="square">
            <a:spAutoFit/>
          </a:bodyPr>
          <a:lstStyle/>
          <a:p>
            <a:pPr>
              <a:lnSpc>
                <a:spcPct val="130000"/>
              </a:lnSpc>
            </a:pPr>
            <a:r>
              <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成本优化明显</a:t>
            </a:r>
            <a:endPar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nSpc>
                <a:spcPct val="130000"/>
              </a:lnSpc>
            </a:pPr>
            <a:r>
              <a:rPr lang="zh-CN" altLang="en-US" sz="1200" dirty="0">
                <a:solidFill>
                  <a:srgbClr val="262626"/>
                </a:solidFill>
                <a:latin typeface="+mn-ea"/>
                <a:cs typeface="思源黑体 CN Normal" panose="020B0400000000000000" pitchFamily="34" charset="-122"/>
              </a:rPr>
              <a:t>采用 混合云</a:t>
            </a:r>
            <a:r>
              <a:rPr lang="en-US" altLang="zh-CN" sz="1200" dirty="0">
                <a:solidFill>
                  <a:srgbClr val="262626"/>
                </a:solidFill>
                <a:latin typeface="+mn-ea"/>
                <a:cs typeface="思源黑体 CN Normal" panose="020B0400000000000000" pitchFamily="34" charset="-122"/>
              </a:rPr>
              <a:t>+</a:t>
            </a:r>
            <a:r>
              <a:rPr lang="zh-CN" altLang="en-US" sz="1200" dirty="0">
                <a:solidFill>
                  <a:srgbClr val="262626"/>
                </a:solidFill>
                <a:latin typeface="+mn-ea"/>
                <a:cs typeface="思源黑体 CN Normal" panose="020B0400000000000000" pitchFamily="34" charset="-122"/>
              </a:rPr>
              <a:t>弹性伸缩，服务器利用率 </a:t>
            </a:r>
            <a:r>
              <a:rPr lang="en-US" altLang="zh-CN" sz="1200" dirty="0">
                <a:solidFill>
                  <a:srgbClr val="262626"/>
                </a:solidFill>
                <a:latin typeface="+mn-ea"/>
                <a:cs typeface="思源黑体 CN Normal" panose="020B0400000000000000" pitchFamily="34" charset="-122"/>
              </a:rPr>
              <a:t>35% → 75%</a:t>
            </a:r>
            <a:r>
              <a:rPr lang="zh-CN" altLang="en-US" sz="1200" dirty="0">
                <a:solidFill>
                  <a:srgbClr val="262626"/>
                </a:solidFill>
                <a:latin typeface="+mn-ea"/>
                <a:cs typeface="思源黑体 CN Normal" panose="020B0400000000000000" pitchFamily="34" charset="-122"/>
              </a:rPr>
              <a:t>，年省 </a:t>
            </a:r>
            <a:r>
              <a:rPr lang="en-US" altLang="zh-CN" sz="1200" dirty="0">
                <a:solidFill>
                  <a:srgbClr val="262626"/>
                </a:solidFill>
                <a:latin typeface="+mn-ea"/>
                <a:cs typeface="思源黑体 CN Normal" panose="020B0400000000000000" pitchFamily="34" charset="-122"/>
              </a:rPr>
              <a:t>520</a:t>
            </a:r>
            <a:r>
              <a:rPr lang="zh-CN" altLang="en-US" sz="1200" dirty="0">
                <a:solidFill>
                  <a:srgbClr val="262626"/>
                </a:solidFill>
                <a:latin typeface="+mn-ea"/>
                <a:cs typeface="思源黑体 CN Normal" panose="020B0400000000000000" pitchFamily="34" charset="-122"/>
              </a:rPr>
              <a:t>万。</a:t>
            </a:r>
            <a:endParaRPr lang="zh-CN" altLang="en-US" sz="1200" dirty="0">
              <a:solidFill>
                <a:srgbClr val="262626"/>
              </a:solidFill>
              <a:latin typeface="+mn-ea"/>
              <a:cs typeface="思源黑体 CN Normal" panose="020B0400000000000000" pitchFamily="34" charset="-122"/>
            </a:endParaRPr>
          </a:p>
        </p:txBody>
      </p:sp>
      <p:sp>
        <p:nvSpPr>
          <p:cNvPr id="12" name="小红书平北职场PPT10"/>
          <p:cNvSpPr txBox="1"/>
          <p:nvPr/>
        </p:nvSpPr>
        <p:spPr>
          <a:xfrm>
            <a:off x="8609285" y="5438998"/>
            <a:ext cx="2972972" cy="916276"/>
          </a:xfrm>
          <a:prstGeom prst="rect">
            <a:avLst/>
          </a:prstGeom>
          <a:noFill/>
        </p:spPr>
        <p:txBody>
          <a:bodyPr wrap="square">
            <a:spAutoFit/>
          </a:bodyPr>
          <a:lstStyle/>
          <a:p>
            <a:pPr>
              <a:lnSpc>
                <a:spcPct val="130000"/>
              </a:lnSpc>
            </a:pPr>
            <a:r>
              <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流程高效落地</a:t>
            </a:r>
            <a:endPar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nSpc>
                <a:spcPct val="130000"/>
              </a:lnSpc>
            </a:pPr>
            <a:r>
              <a:rPr lang="en-US" altLang="zh-CN" sz="1200" dirty="0">
                <a:solidFill>
                  <a:srgbClr val="262626"/>
                </a:solidFill>
                <a:latin typeface="+mn-ea"/>
                <a:cs typeface="思源黑体 CN Normal" panose="020B0400000000000000" pitchFamily="34" charset="-122"/>
              </a:rPr>
              <a:t>DevOps </a:t>
            </a:r>
            <a:r>
              <a:rPr lang="zh-CN" altLang="en-US" sz="1200" dirty="0">
                <a:solidFill>
                  <a:srgbClr val="262626"/>
                </a:solidFill>
                <a:latin typeface="+mn-ea"/>
                <a:cs typeface="思源黑体 CN Normal" panose="020B0400000000000000" pitchFamily="34" charset="-122"/>
              </a:rPr>
              <a:t>全自动化，需求交付周期 </a:t>
            </a:r>
            <a:r>
              <a:rPr lang="en-US" altLang="zh-CN" sz="1200" dirty="0">
                <a:solidFill>
                  <a:srgbClr val="262626"/>
                </a:solidFill>
                <a:latin typeface="+mn-ea"/>
                <a:cs typeface="思源黑体 CN Normal" panose="020B0400000000000000" pitchFamily="34" charset="-122"/>
              </a:rPr>
              <a:t>14</a:t>
            </a:r>
            <a:r>
              <a:rPr lang="zh-CN" altLang="en-US" sz="1200" dirty="0">
                <a:solidFill>
                  <a:srgbClr val="262626"/>
                </a:solidFill>
                <a:latin typeface="+mn-ea"/>
                <a:cs typeface="思源黑体 CN Normal" panose="020B0400000000000000" pitchFamily="34" charset="-122"/>
              </a:rPr>
              <a:t>天 → </a:t>
            </a:r>
            <a:r>
              <a:rPr lang="en-US" altLang="zh-CN" sz="1200" dirty="0">
                <a:solidFill>
                  <a:srgbClr val="262626"/>
                </a:solidFill>
                <a:latin typeface="+mn-ea"/>
                <a:cs typeface="思源黑体 CN Normal" panose="020B0400000000000000" pitchFamily="34" charset="-122"/>
              </a:rPr>
              <a:t>3</a:t>
            </a:r>
            <a:r>
              <a:rPr lang="zh-CN" altLang="en-US" sz="1200" dirty="0">
                <a:solidFill>
                  <a:srgbClr val="262626"/>
                </a:solidFill>
                <a:latin typeface="+mn-ea"/>
                <a:cs typeface="思源黑体 CN Normal" panose="020B0400000000000000" pitchFamily="34" charset="-122"/>
              </a:rPr>
              <a:t>天，发布效率提升 </a:t>
            </a:r>
            <a:r>
              <a:rPr lang="en-US" altLang="zh-CN" sz="1200" dirty="0">
                <a:solidFill>
                  <a:srgbClr val="262626"/>
                </a:solidFill>
                <a:latin typeface="+mn-ea"/>
                <a:cs typeface="思源黑体 CN Normal" panose="020B0400000000000000" pitchFamily="34" charset="-122"/>
              </a:rPr>
              <a:t>5</a:t>
            </a:r>
            <a:r>
              <a:rPr lang="zh-CN" altLang="en-US" sz="1200" dirty="0">
                <a:solidFill>
                  <a:srgbClr val="262626"/>
                </a:solidFill>
                <a:latin typeface="+mn-ea"/>
                <a:cs typeface="思源黑体 CN Normal" panose="020B0400000000000000" pitchFamily="34" charset="-122"/>
              </a:rPr>
              <a:t>倍</a:t>
            </a:r>
            <a:endParaRPr lang="zh-CN" altLang="en-US" sz="1200" dirty="0">
              <a:solidFill>
                <a:srgbClr val="262626"/>
              </a:solidFill>
              <a:latin typeface="+mn-ea"/>
              <a:cs typeface="思源黑体 CN Normal" panose="020B0400000000000000" pitchFamily="34" charset="-122"/>
            </a:endParaRPr>
          </a:p>
        </p:txBody>
      </p:sp>
      <p:sp>
        <p:nvSpPr>
          <p:cNvPr id="13" name="小红书平北职场PPT11"/>
          <p:cNvSpPr txBox="1"/>
          <p:nvPr/>
        </p:nvSpPr>
        <p:spPr>
          <a:xfrm>
            <a:off x="531052" y="5172298"/>
            <a:ext cx="3110655" cy="916276"/>
          </a:xfrm>
          <a:prstGeom prst="rect">
            <a:avLst/>
          </a:prstGeom>
          <a:noFill/>
        </p:spPr>
        <p:txBody>
          <a:bodyPr wrap="square">
            <a:spAutoFit/>
          </a:bodyPr>
          <a:lstStyle/>
          <a:p>
            <a:pPr>
              <a:lnSpc>
                <a:spcPct val="130000"/>
              </a:lnSpc>
            </a:pPr>
            <a:r>
              <a:rPr lang="zh-CN" altLang="en-US"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团队协作可提升 </a:t>
            </a:r>
            <a:endParaRPr lang="en-US" altLang="zh-CN"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a:p>
            <a:pPr>
              <a:lnSpc>
                <a:spcPct val="130000"/>
              </a:lnSpc>
            </a:pPr>
            <a:r>
              <a:rPr lang="zh-CN" altLang="en-US" sz="1200" dirty="0">
                <a:solidFill>
                  <a:srgbClr val="262626"/>
                </a:solidFill>
                <a:latin typeface="+mn-ea"/>
                <a:cs typeface="思源黑体 CN Normal" panose="020B0400000000000000" pitchFamily="34" charset="-122"/>
              </a:rPr>
              <a:t>跨部门沟通成本较高，部分需求确认周期较长。 学习曲线陡峭，部分成员适应较慢。 </a:t>
            </a:r>
            <a:endParaRPr lang="zh-CN" altLang="en-US" sz="1200" dirty="0">
              <a:solidFill>
                <a:srgbClr val="262626"/>
              </a:solidFill>
              <a:latin typeface="+mn-ea"/>
              <a:cs typeface="思源黑体 CN Normal" panose="020B0400000000000000" pitchFamily="34" charset="-122"/>
            </a:endParaRPr>
          </a:p>
        </p:txBody>
      </p:sp>
      <p:sp>
        <p:nvSpPr>
          <p:cNvPr id="14" name="小红书平北职场PPT12"/>
          <p:cNvSpPr txBox="1"/>
          <p:nvPr/>
        </p:nvSpPr>
        <p:spPr>
          <a:xfrm>
            <a:off x="531053" y="3915057"/>
            <a:ext cx="2972972" cy="916276"/>
          </a:xfrm>
          <a:prstGeom prst="rect">
            <a:avLst/>
          </a:prstGeom>
          <a:noFill/>
        </p:spPr>
        <p:txBody>
          <a:bodyPr wrap="square">
            <a:spAutoFit/>
          </a:bodyPr>
          <a:lstStyle/>
          <a:p>
            <a:pPr>
              <a:lnSpc>
                <a:spcPct val="130000"/>
              </a:lnSpc>
            </a:pPr>
            <a:r>
              <a:rPr lang="zh-CN" altLang="en-US"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初期资源预估不足</a:t>
            </a:r>
            <a:endParaRPr lang="en-US" altLang="zh-CN"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a:p>
            <a:pPr>
              <a:lnSpc>
                <a:spcPct val="130000"/>
              </a:lnSpc>
            </a:pPr>
            <a:r>
              <a:rPr lang="zh-CN" altLang="en-US" sz="1200" dirty="0">
                <a:solidFill>
                  <a:srgbClr val="262626"/>
                </a:solidFill>
                <a:latin typeface="+mn-ea"/>
                <a:cs typeface="思源黑体 CN Normal" panose="020B0400000000000000" pitchFamily="34" charset="-122"/>
              </a:rPr>
              <a:t>压测搭建延迟</a:t>
            </a:r>
            <a:r>
              <a:rPr lang="en-US" altLang="zh-CN" sz="1200" dirty="0">
                <a:solidFill>
                  <a:srgbClr val="262626"/>
                </a:solidFill>
                <a:latin typeface="+mn-ea"/>
                <a:cs typeface="思源黑体 CN Normal" panose="020B0400000000000000" pitchFamily="34" charset="-122"/>
              </a:rPr>
              <a:t>1</a:t>
            </a:r>
            <a:r>
              <a:rPr lang="zh-CN" altLang="en-US" sz="1200" dirty="0">
                <a:solidFill>
                  <a:srgbClr val="262626"/>
                </a:solidFill>
                <a:latin typeface="+mn-ea"/>
                <a:cs typeface="思源黑体 CN Normal" panose="020B0400000000000000" pitchFamily="34" charset="-122"/>
              </a:rPr>
              <a:t>周，致测试调整；优化方案未对齐需求，返工</a:t>
            </a:r>
            <a:r>
              <a:rPr lang="en-US" altLang="zh-CN" sz="1200" dirty="0">
                <a:solidFill>
                  <a:srgbClr val="262626"/>
                </a:solidFill>
                <a:latin typeface="+mn-ea"/>
                <a:cs typeface="思源黑体 CN Normal" panose="020B0400000000000000" pitchFamily="34" charset="-122"/>
              </a:rPr>
              <a:t>2</a:t>
            </a:r>
            <a:r>
              <a:rPr lang="zh-CN" altLang="en-US" sz="1200" dirty="0">
                <a:solidFill>
                  <a:srgbClr val="262626"/>
                </a:solidFill>
                <a:latin typeface="+mn-ea"/>
                <a:cs typeface="思源黑体 CN Normal" panose="020B0400000000000000" pitchFamily="34" charset="-122"/>
              </a:rPr>
              <a:t>次</a:t>
            </a:r>
            <a:endParaRPr lang="zh-CN" altLang="en-US" sz="1200" dirty="0">
              <a:solidFill>
                <a:srgbClr val="262626"/>
              </a:solidFill>
              <a:latin typeface="+mn-ea"/>
              <a:cs typeface="思源黑体 CN Normal" panose="020B0400000000000000" pitchFamily="34" charset="-122"/>
            </a:endParaRPr>
          </a:p>
        </p:txBody>
      </p:sp>
      <p:grpSp>
        <p:nvGrpSpPr>
          <p:cNvPr id="5" name="组合 4"/>
          <p:cNvGrpSpPr/>
          <p:nvPr/>
        </p:nvGrpSpPr>
        <p:grpSpPr>
          <a:xfrm>
            <a:off x="303921" y="2187682"/>
            <a:ext cx="5476420" cy="851965"/>
            <a:chOff x="490959" y="2208464"/>
            <a:chExt cx="5476420" cy="851965"/>
          </a:xfrm>
        </p:grpSpPr>
        <p:sp>
          <p:nvSpPr>
            <p:cNvPr id="9" name="小红书平北职场PPT7"/>
            <p:cNvSpPr txBox="1"/>
            <p:nvPr/>
          </p:nvSpPr>
          <p:spPr>
            <a:xfrm>
              <a:off x="490959" y="2208464"/>
              <a:ext cx="5476420" cy="598177"/>
            </a:xfrm>
            <a:prstGeom prst="rect">
              <a:avLst/>
            </a:prstGeom>
            <a:noFill/>
          </p:spPr>
          <p:txBody>
            <a:bodyPr wrap="square">
              <a:spAutoFit/>
            </a:bodyPr>
            <a:lstStyle/>
            <a:p>
              <a:pPr>
                <a:lnSpc>
                  <a:spcPct val="130000"/>
                </a:lnSpc>
              </a:pPr>
              <a:r>
                <a:rPr lang="zh-CN" altLang="en-US" sz="2800" b="0" i="0" dirty="0">
                  <a:solidFill>
                    <a:schemeClr val="bg1"/>
                  </a:solidFill>
                  <a:effectLst/>
                  <a:latin typeface="+mj-ea"/>
                  <a:ea typeface="+mj-ea"/>
                  <a:cs typeface="思源黑体 CN Normal" panose="020B0400000000000000" pitchFamily="34" charset="-122"/>
                </a:rPr>
                <a:t>问题突出</a:t>
              </a:r>
              <a:r>
                <a:rPr lang="en-US" altLang="zh-CN" sz="2800" b="0" i="0" dirty="0">
                  <a:solidFill>
                    <a:schemeClr val="bg1"/>
                  </a:solidFill>
                  <a:effectLst/>
                  <a:latin typeface="+mj-ea"/>
                  <a:ea typeface="+mj-ea"/>
                  <a:cs typeface="思源黑体 CN Normal" panose="020B0400000000000000" pitchFamily="34" charset="-122"/>
                </a:rPr>
                <a:t>·</a:t>
              </a:r>
              <a:r>
                <a:rPr lang="zh-CN" altLang="en-US" sz="2800" b="0" i="0" dirty="0">
                  <a:solidFill>
                    <a:schemeClr val="bg1"/>
                  </a:solidFill>
                  <a:effectLst/>
                  <a:latin typeface="+mj-ea"/>
                  <a:ea typeface="+mj-ea"/>
                  <a:cs typeface="思源黑体 CN Normal" panose="020B0400000000000000" pitchFamily="34" charset="-122"/>
                </a:rPr>
                <a:t>亟需优化改进</a:t>
              </a:r>
              <a:endParaRPr lang="zh-CN" altLang="en-US" sz="2800" dirty="0">
                <a:solidFill>
                  <a:schemeClr val="bg1"/>
                </a:solidFill>
                <a:latin typeface="+mj-ea"/>
                <a:ea typeface="+mj-ea"/>
                <a:cs typeface="思源黑体 CN Normal" panose="020B0400000000000000" pitchFamily="34" charset="-122"/>
              </a:endParaRPr>
            </a:p>
          </p:txBody>
        </p:sp>
        <p:sp>
          <p:nvSpPr>
            <p:cNvPr id="16" name="小红书平北职场PPT14"/>
            <p:cNvSpPr txBox="1"/>
            <p:nvPr/>
          </p:nvSpPr>
          <p:spPr>
            <a:xfrm>
              <a:off x="509718" y="2783430"/>
              <a:ext cx="4012458" cy="276999"/>
            </a:xfrm>
            <a:prstGeom prst="rect">
              <a:avLst/>
            </a:prstGeom>
            <a:noFill/>
          </p:spPr>
          <p:txBody>
            <a:bodyPr wrap="square">
              <a:spAutoFit/>
            </a:bodyPr>
            <a:lstStyle/>
            <a:p>
              <a:r>
                <a:rPr lang="zh-CN" altLang="en-US" sz="1200" i="0" dirty="0">
                  <a:solidFill>
                    <a:schemeClr val="bg1"/>
                  </a:solidFill>
                  <a:effectLst/>
                  <a:latin typeface="+mn-ea"/>
                  <a:cs typeface="思源黑体 CN Normal" panose="020B0400000000000000" pitchFamily="34" charset="-122"/>
                </a:rPr>
                <a:t>环节漏洞多，急需全面优化提升，刻不容缓，改进空间大</a:t>
              </a:r>
              <a:endParaRPr lang="zh-CN" altLang="en-US" sz="1200" i="0" dirty="0">
                <a:solidFill>
                  <a:schemeClr val="bg1"/>
                </a:solidFill>
                <a:effectLst/>
                <a:latin typeface="+mn-ea"/>
                <a:cs typeface="思源黑体 CN Normal" panose="020B0400000000000000" pitchFamily="34" charset="-122"/>
              </a:endParaRPr>
            </a:p>
          </p:txBody>
        </p:sp>
      </p:grpSp>
      <p:grpSp>
        <p:nvGrpSpPr>
          <p:cNvPr id="18" name="组合 17"/>
          <p:cNvGrpSpPr/>
          <p:nvPr/>
        </p:nvGrpSpPr>
        <p:grpSpPr>
          <a:xfrm>
            <a:off x="7646857" y="1373875"/>
            <a:ext cx="7205162" cy="827049"/>
            <a:chOff x="7698812" y="1373875"/>
            <a:chExt cx="7205162" cy="827049"/>
          </a:xfrm>
        </p:grpSpPr>
        <p:sp>
          <p:nvSpPr>
            <p:cNvPr id="15" name="小红书平北职场PPT13"/>
            <p:cNvSpPr txBox="1"/>
            <p:nvPr/>
          </p:nvSpPr>
          <p:spPr>
            <a:xfrm>
              <a:off x="7698812" y="1373875"/>
              <a:ext cx="5476420" cy="598177"/>
            </a:xfrm>
            <a:prstGeom prst="rect">
              <a:avLst/>
            </a:prstGeom>
            <a:noFill/>
          </p:spPr>
          <p:txBody>
            <a:bodyPr wrap="square">
              <a:spAutoFit/>
            </a:bodyPr>
            <a:lstStyle/>
            <a:p>
              <a:pPr>
                <a:lnSpc>
                  <a:spcPct val="130000"/>
                </a:lnSpc>
              </a:pPr>
              <a:r>
                <a:rPr lang="zh-CN" altLang="en-US" sz="2800" b="0" i="0" dirty="0">
                  <a:solidFill>
                    <a:schemeClr val="bg1"/>
                  </a:solidFill>
                  <a:effectLst/>
                  <a:latin typeface="+mj-ea"/>
                  <a:ea typeface="+mj-ea"/>
                  <a:cs typeface="思源黑体 CN Normal" panose="020B0400000000000000" pitchFamily="34" charset="-122"/>
                </a:rPr>
                <a:t> 成果显著</a:t>
              </a:r>
              <a:r>
                <a:rPr lang="en-US" altLang="zh-CN" sz="2800" b="0" i="0" dirty="0">
                  <a:solidFill>
                    <a:schemeClr val="bg1"/>
                  </a:solidFill>
                  <a:effectLst/>
                  <a:latin typeface="+mj-ea"/>
                  <a:ea typeface="+mj-ea"/>
                  <a:cs typeface="思源黑体 CN Normal" panose="020B0400000000000000" pitchFamily="34" charset="-122"/>
                </a:rPr>
                <a:t>·</a:t>
              </a:r>
              <a:r>
                <a:rPr lang="zh-CN" altLang="en-US" sz="2800" b="0" i="0" dirty="0">
                  <a:solidFill>
                    <a:schemeClr val="bg1"/>
                  </a:solidFill>
                  <a:effectLst/>
                  <a:latin typeface="+mj-ea"/>
                  <a:ea typeface="+mj-ea"/>
                  <a:cs typeface="思源黑体 CN Normal" panose="020B0400000000000000" pitchFamily="34" charset="-122"/>
                </a:rPr>
                <a:t>目标超额完成</a:t>
              </a:r>
              <a:endParaRPr lang="zh-CN" altLang="en-US" sz="2800" b="0" i="0" dirty="0">
                <a:solidFill>
                  <a:schemeClr val="bg1"/>
                </a:solidFill>
                <a:effectLst/>
                <a:latin typeface="+mj-ea"/>
                <a:ea typeface="+mj-ea"/>
                <a:cs typeface="思源黑体 CN Normal" panose="020B0400000000000000" pitchFamily="34" charset="-122"/>
              </a:endParaRPr>
            </a:p>
          </p:txBody>
        </p:sp>
        <p:sp>
          <p:nvSpPr>
            <p:cNvPr id="17" name="小红书平北职场PPT15"/>
            <p:cNvSpPr txBox="1"/>
            <p:nvPr/>
          </p:nvSpPr>
          <p:spPr>
            <a:xfrm>
              <a:off x="7795454" y="1923925"/>
              <a:ext cx="7108520" cy="276999"/>
            </a:xfrm>
            <a:prstGeom prst="rect">
              <a:avLst/>
            </a:prstGeom>
            <a:noFill/>
          </p:spPr>
          <p:txBody>
            <a:bodyPr wrap="square">
              <a:spAutoFit/>
            </a:bodyPr>
            <a:lstStyle/>
            <a:p>
              <a:r>
                <a:rPr lang="zh-CN" altLang="en-US" sz="1200" i="0" dirty="0">
                  <a:solidFill>
                    <a:schemeClr val="bg1"/>
                  </a:solidFill>
                  <a:effectLst/>
                  <a:latin typeface="+mn-ea"/>
                  <a:cs typeface="思源黑体 CN Normal" panose="020B0400000000000000" pitchFamily="34" charset="-122"/>
                </a:rPr>
                <a:t>关键指标超预期，整体成果超出目标，成绩斐然，未来可期</a:t>
              </a:r>
              <a:endParaRPr lang="zh-CN" altLang="en-US" sz="1200" dirty="0">
                <a:solidFill>
                  <a:schemeClr val="bg1"/>
                </a:solidFill>
                <a:latin typeface="+mn-ea"/>
                <a:cs typeface="思源黑体 CN Normal" panose="020B0400000000000000" pitchFamily="34" charset="-122"/>
              </a:endParaRPr>
            </a:p>
          </p:txBody>
        </p:sp>
      </p:grpSp>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115"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小红书平北职场PPT1-2"/>
            <p:cNvSpPr txBox="1"/>
            <p:nvPr>
              <p:custDataLst>
                <p:tags r:id="rId2"/>
              </p:custDataLst>
            </p:nvPr>
          </p:nvSpPr>
          <p:spPr>
            <a:xfrm>
              <a:off x="334963" y="184318"/>
              <a:ext cx="4667945"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经销商经营决策的智能化跃迁</a:t>
              </a:r>
              <a:endParaRPr lang="zh-CN" altLang="en-US" sz="2800" dirty="0">
                <a:latin typeface="+mj-ea"/>
                <a:ea typeface="+mj-ea"/>
                <a:cs typeface="思源黑体 CN Normal" panose="020B0400000000000000" pitchFamily="34" charset="-122"/>
                <a:sym typeface="+mj-ea"/>
              </a:endParaRPr>
            </a:p>
          </p:txBody>
        </p:sp>
      </p:grpSp>
      <p:grpSp>
        <p:nvGrpSpPr>
          <p:cNvPr id="4" name="小红书平北职场PPT3"/>
          <p:cNvGrpSpPr/>
          <p:nvPr/>
        </p:nvGrpSpPr>
        <p:grpSpPr>
          <a:xfrm>
            <a:off x="419138" y="1025605"/>
            <a:ext cx="11385807" cy="4565359"/>
            <a:chOff x="403096" y="982514"/>
            <a:chExt cx="11385807" cy="4565359"/>
          </a:xfrm>
        </p:grpSpPr>
        <p:grpSp>
          <p:nvGrpSpPr>
            <p:cNvPr id="49" name="组合 48"/>
            <p:cNvGrpSpPr/>
            <p:nvPr/>
          </p:nvGrpSpPr>
          <p:grpSpPr>
            <a:xfrm>
              <a:off x="7712997" y="982514"/>
              <a:ext cx="4075906" cy="4565359"/>
              <a:chOff x="7635507" y="982514"/>
              <a:chExt cx="4075906" cy="4565359"/>
            </a:xfrm>
            <a:scene3d>
              <a:camera prst="perspectiveLeft">
                <a:rot lat="0" lon="600000" rev="0"/>
              </a:camera>
              <a:lightRig rig="contrasting" dir="t"/>
            </a:scene3d>
          </p:grpSpPr>
          <p:grpSp>
            <p:nvGrpSpPr>
              <p:cNvPr id="83" name="组合 82"/>
              <p:cNvGrpSpPr/>
              <p:nvPr/>
            </p:nvGrpSpPr>
            <p:grpSpPr>
              <a:xfrm>
                <a:off x="7635507" y="982514"/>
                <a:ext cx="4075906" cy="4565359"/>
                <a:chOff x="7635507" y="982514"/>
                <a:chExt cx="4075906" cy="4565359"/>
              </a:xfrm>
            </p:grpSpPr>
            <p:grpSp>
              <p:nvGrpSpPr>
                <p:cNvPr id="85" name="组合 84"/>
                <p:cNvGrpSpPr/>
                <p:nvPr/>
              </p:nvGrpSpPr>
              <p:grpSpPr>
                <a:xfrm>
                  <a:off x="7635507" y="982514"/>
                  <a:ext cx="4075906" cy="4565359"/>
                  <a:chOff x="7635507" y="672547"/>
                  <a:chExt cx="4075906" cy="4565359"/>
                </a:xfrm>
              </p:grpSpPr>
              <p:grpSp>
                <p:nvGrpSpPr>
                  <p:cNvPr id="87" name="组合 86"/>
                  <p:cNvGrpSpPr/>
                  <p:nvPr/>
                </p:nvGrpSpPr>
                <p:grpSpPr>
                  <a:xfrm>
                    <a:off x="7635507" y="672547"/>
                    <a:ext cx="4075906" cy="4565359"/>
                    <a:chOff x="7635507" y="672547"/>
                    <a:chExt cx="4075906" cy="4565359"/>
                  </a:xfrm>
                </p:grpSpPr>
                <p:sp>
                  <p:nvSpPr>
                    <p:cNvPr id="113" name="小红书平北职场PPT3-1"/>
                    <p:cNvSpPr/>
                    <p:nvPr/>
                  </p:nvSpPr>
                  <p:spPr>
                    <a:xfrm>
                      <a:off x="7635507" y="672547"/>
                      <a:ext cx="4075906" cy="4565359"/>
                    </a:xfrm>
                    <a:prstGeom prst="roundRect">
                      <a:avLst>
                        <a:gd name="adj" fmla="val 3996"/>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14" name="小红书平北职场PPT3-2"/>
                    <p:cNvSpPr/>
                    <p:nvPr/>
                  </p:nvSpPr>
                  <p:spPr>
                    <a:xfrm>
                      <a:off x="7724970" y="1535146"/>
                      <a:ext cx="3896979" cy="3612626"/>
                    </a:xfrm>
                    <a:prstGeom prst="roundRect">
                      <a:avLst>
                        <a:gd name="adj" fmla="val 3156"/>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pitchFamily="34" charset="-122"/>
                      </a:endParaRPr>
                    </a:p>
                  </p:txBody>
                </p:sp>
              </p:grpSp>
              <p:grpSp>
                <p:nvGrpSpPr>
                  <p:cNvPr id="88" name="组合 87"/>
                  <p:cNvGrpSpPr/>
                  <p:nvPr/>
                </p:nvGrpSpPr>
                <p:grpSpPr>
                  <a:xfrm>
                    <a:off x="7972135" y="1596533"/>
                    <a:ext cx="3402649" cy="3458361"/>
                    <a:chOff x="8008817" y="1596533"/>
                    <a:chExt cx="3402649" cy="3458361"/>
                  </a:xfrm>
                </p:grpSpPr>
                <p:grpSp>
                  <p:nvGrpSpPr>
                    <p:cNvPr id="89" name="组合 88"/>
                    <p:cNvGrpSpPr/>
                    <p:nvPr/>
                  </p:nvGrpSpPr>
                  <p:grpSpPr>
                    <a:xfrm>
                      <a:off x="8008817" y="2439826"/>
                      <a:ext cx="3280854" cy="1773289"/>
                      <a:chOff x="8127547" y="2423425"/>
                      <a:chExt cx="2862327" cy="1773289"/>
                    </a:xfrm>
                  </p:grpSpPr>
                  <p:cxnSp>
                    <p:nvCxnSpPr>
                      <p:cNvPr id="110" name="小红书平北职场PPT3-3"/>
                      <p:cNvCxnSpPr/>
                      <p:nvPr/>
                    </p:nvCxnSpPr>
                    <p:spPr>
                      <a:xfrm>
                        <a:off x="8127547" y="2423425"/>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1" name="小红书平北职场PPT3-4"/>
                      <p:cNvCxnSpPr/>
                      <p:nvPr/>
                    </p:nvCxnSpPr>
                    <p:spPr>
                      <a:xfrm>
                        <a:off x="8127547" y="3296486"/>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2" name="小红书平北职场PPT3-5"/>
                      <p:cNvCxnSpPr/>
                      <p:nvPr/>
                    </p:nvCxnSpPr>
                    <p:spPr>
                      <a:xfrm>
                        <a:off x="8127547" y="4196714"/>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90" name="组合 89"/>
                    <p:cNvGrpSpPr/>
                    <p:nvPr/>
                  </p:nvGrpSpPr>
                  <p:grpSpPr>
                    <a:xfrm>
                      <a:off x="8623494" y="1596533"/>
                      <a:ext cx="2787972" cy="3458361"/>
                      <a:chOff x="8027460" y="1580132"/>
                      <a:chExt cx="3001485" cy="3458361"/>
                    </a:xfrm>
                  </p:grpSpPr>
                  <p:sp>
                    <p:nvSpPr>
                      <p:cNvPr id="106" name="小红书平北职场PPT3-6"/>
                      <p:cNvSpPr txBox="1"/>
                      <p:nvPr/>
                    </p:nvSpPr>
                    <p:spPr>
                      <a:xfrm>
                        <a:off x="8027460" y="1580132"/>
                        <a:ext cx="3001485" cy="798680"/>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rPr>
                          <a:t>全域数据实时融合</a:t>
                        </a:r>
                        <a:endPar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内外部数据无缝接入、统一治理，形成实时更新的客户全景视图</a:t>
                        </a:r>
                        <a:endParaRPr lang="zh-CN" altLang="en-US" sz="1200" dirty="0">
                          <a:latin typeface="思源黑体 CN Normal" panose="020B0400000000000000" pitchFamily="34" charset="-122"/>
                          <a:cs typeface="思源黑体 CN Normal" panose="020B0400000000000000" pitchFamily="34" charset="-122"/>
                        </a:endParaRPr>
                      </a:p>
                    </p:txBody>
                  </p:sp>
                  <p:sp>
                    <p:nvSpPr>
                      <p:cNvPr id="107" name="小红书平北职场PPT3-7"/>
                      <p:cNvSpPr txBox="1"/>
                      <p:nvPr/>
                    </p:nvSpPr>
                    <p:spPr>
                      <a:xfrm>
                        <a:off x="8027460" y="2463388"/>
                        <a:ext cx="3001485" cy="798680"/>
                      </a:xfrm>
                      <a:prstGeom prst="rect">
                        <a:avLst/>
                      </a:prstGeom>
                      <a:noFill/>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zh-CN" sz="1200" b="1" i="0" u="none" strike="noStrike" kern="1200" cap="none" spc="0" normalizeH="0" baseline="0" noProof="0" dirty="0">
                            <a:ln>
                              <a:noFill/>
                            </a:ln>
                            <a:gradFill>
                              <a:gsLst>
                                <a:gs pos="0">
                                  <a:schemeClr val="accent2">
                                    <a:lumMod val="60000"/>
                                    <a:lumOff val="40000"/>
                                  </a:schemeClr>
                                </a:gs>
                                <a:gs pos="100000">
                                  <a:schemeClr val="accent2"/>
                                </a:gs>
                              </a:gsLst>
                              <a:lin ang="2700000" scaled="1"/>
                            </a:gradFill>
                            <a:effectLst/>
                            <a:uLnTx/>
                            <a:uFillTx/>
                            <a:latin typeface="+mj-ea"/>
                            <a:ea typeface="+mj-ea"/>
                            <a:cs typeface="思源黑体 CN Normal" panose="020B0400000000000000" pitchFamily="34" charset="-122"/>
                          </a:rPr>
                          <a:t>智能分析即时反馈</a:t>
                        </a:r>
                        <a:endParaRPr kumimoji="0" lang="en-US" altLang="zh-CN" sz="1200" b="0" i="0" u="none" strike="noStrike" kern="1200" cap="none" spc="0" normalizeH="0" baseline="0" noProof="0" dirty="0">
                          <a:ln>
                            <a:noFill/>
                          </a:ln>
                          <a:gradFill>
                            <a:gsLst>
                              <a:gs pos="0">
                                <a:schemeClr val="accent2">
                                  <a:lumMod val="60000"/>
                                  <a:lumOff val="40000"/>
                                </a:schemeClr>
                              </a:gs>
                              <a:gs pos="100000">
                                <a:schemeClr val="accent2"/>
                              </a:gs>
                            </a:gsLst>
                            <a:lin ang="2700000" scaled="1"/>
                          </a:gradFill>
                          <a:effectLst/>
                          <a:uLnTx/>
                          <a:uFillTx/>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zh-CN" sz="1200" dirty="0">
                            <a:latin typeface="思源黑体 CN Normal" panose="020B0400000000000000" pitchFamily="34" charset="-122"/>
                            <a:cs typeface="思源黑体 CN Normal" panose="020B0400000000000000" pitchFamily="34" charset="-122"/>
                          </a:rPr>
                          <a:t>借助AI算法自动生成洞察与预测，结果秒级反馈至业务端</a:t>
                        </a:r>
                        <a:endParaRPr lang="zh-CN" altLang="zh-CN" sz="1200" dirty="0">
                          <a:latin typeface="思源黑体 CN Normal" panose="020B0400000000000000" pitchFamily="34" charset="-122"/>
                          <a:cs typeface="思源黑体 CN Normal" panose="020B0400000000000000" pitchFamily="34" charset="-122"/>
                        </a:endParaRPr>
                      </a:p>
                    </p:txBody>
                  </p:sp>
                  <p:sp>
                    <p:nvSpPr>
                      <p:cNvPr id="108" name="小红书平北职场PPT3-8"/>
                      <p:cNvSpPr txBox="1"/>
                      <p:nvPr/>
                    </p:nvSpPr>
                    <p:spPr>
                      <a:xfrm>
                        <a:off x="8027460" y="3353253"/>
                        <a:ext cx="3001485" cy="798680"/>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rPr>
                          <a:t>策略自动匹配执行</a:t>
                        </a:r>
                        <a:endPar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基于规则引擎与机器学习，自动匹配最优策略并触发执行动作</a:t>
                        </a:r>
                        <a:endParaRPr lang="zh-CN" altLang="en-US" sz="1200" dirty="0">
                          <a:latin typeface="思源黑体 CN Normal" panose="020B0400000000000000" pitchFamily="34" charset="-122"/>
                          <a:cs typeface="思源黑体 CN Normal" panose="020B0400000000000000" pitchFamily="34" charset="-122"/>
                        </a:endParaRPr>
                      </a:p>
                    </p:txBody>
                  </p:sp>
                  <p:sp>
                    <p:nvSpPr>
                      <p:cNvPr id="109" name="小红书平北职场PPT3-9"/>
                      <p:cNvSpPr txBox="1"/>
                      <p:nvPr/>
                    </p:nvSpPr>
                    <p:spPr>
                      <a:xfrm>
                        <a:off x="8027460" y="4239813"/>
                        <a:ext cx="3001485" cy="798680"/>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rPr>
                          <a:t>闭环评估持续优化</a:t>
                        </a:r>
                        <a:endPar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每一次触达效果被实时监测并反馈至模型，形成自我优化的智能闭环</a:t>
                        </a:r>
                        <a:endParaRPr lang="zh-CN" altLang="en-US" sz="1200" dirty="0">
                          <a:latin typeface="思源黑体 CN Normal" panose="020B0400000000000000" pitchFamily="34" charset="-122"/>
                          <a:cs typeface="思源黑体 CN Normal" panose="020B0400000000000000" pitchFamily="34" charset="-122"/>
                        </a:endParaRPr>
                      </a:p>
                    </p:txBody>
                  </p:sp>
                </p:grpSp>
                <p:grpSp>
                  <p:nvGrpSpPr>
                    <p:cNvPr id="91" name="组合 90"/>
                    <p:cNvGrpSpPr/>
                    <p:nvPr/>
                  </p:nvGrpSpPr>
                  <p:grpSpPr>
                    <a:xfrm>
                      <a:off x="8019670" y="1785973"/>
                      <a:ext cx="470682" cy="3162220"/>
                      <a:chOff x="8019670" y="1785973"/>
                      <a:chExt cx="470682" cy="3162220"/>
                    </a:xfrm>
                  </p:grpSpPr>
                  <p:grpSp>
                    <p:nvGrpSpPr>
                      <p:cNvPr id="92" name="组合 91"/>
                      <p:cNvGrpSpPr/>
                      <p:nvPr/>
                    </p:nvGrpSpPr>
                    <p:grpSpPr>
                      <a:xfrm>
                        <a:off x="8019670" y="1785973"/>
                        <a:ext cx="470682" cy="3162220"/>
                        <a:chOff x="8019670" y="1785973"/>
                        <a:chExt cx="470682" cy="3162220"/>
                      </a:xfrm>
                    </p:grpSpPr>
                    <p:grpSp>
                      <p:nvGrpSpPr>
                        <p:cNvPr id="100" name="组合 99"/>
                        <p:cNvGrpSpPr/>
                        <p:nvPr/>
                      </p:nvGrpSpPr>
                      <p:grpSpPr>
                        <a:xfrm>
                          <a:off x="8019670" y="1785973"/>
                          <a:ext cx="470682" cy="470682"/>
                          <a:chOff x="8019670" y="1785973"/>
                          <a:chExt cx="470682" cy="470682"/>
                        </a:xfrm>
                      </p:grpSpPr>
                      <p:sp>
                        <p:nvSpPr>
                          <p:cNvPr id="104" name="小红书平北职场PPT3-10"/>
                          <p:cNvSpPr/>
                          <p:nvPr/>
                        </p:nvSpPr>
                        <p:spPr>
                          <a:xfrm>
                            <a:off x="8019670" y="1785973"/>
                            <a:ext cx="470682" cy="470682"/>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05" name="小红书平北职场PPT3-11"/>
                          <p:cNvSpPr/>
                          <p:nvPr/>
                        </p:nvSpPr>
                        <p:spPr>
                          <a:xfrm>
                            <a:off x="8139748" y="1906050"/>
                            <a:ext cx="230528" cy="230528"/>
                          </a:xfrm>
                          <a:custGeom>
                            <a:avLst/>
                            <a:gdLst>
                              <a:gd name="connsiteX0" fmla="*/ 270986 w 304864"/>
                              <a:gd name="connsiteY0" fmla="*/ 84686 h 304864"/>
                              <a:gd name="connsiteX1" fmla="*/ 220179 w 304864"/>
                              <a:gd name="connsiteY1" fmla="*/ 84686 h 304864"/>
                              <a:gd name="connsiteX2" fmla="*/ 220179 w 304864"/>
                              <a:gd name="connsiteY2" fmla="*/ 33878 h 304864"/>
                              <a:gd name="connsiteX3" fmla="*/ 186310 w 304864"/>
                              <a:gd name="connsiteY3" fmla="*/ 0 h 304864"/>
                              <a:gd name="connsiteX4" fmla="*/ 33878 w 304864"/>
                              <a:gd name="connsiteY4" fmla="*/ 0 h 304864"/>
                              <a:gd name="connsiteX5" fmla="*/ 0 w 304864"/>
                              <a:gd name="connsiteY5" fmla="*/ 33878 h 304864"/>
                              <a:gd name="connsiteX6" fmla="*/ 0 w 304864"/>
                              <a:gd name="connsiteY6" fmla="*/ 186310 h 304864"/>
                              <a:gd name="connsiteX7" fmla="*/ 33878 w 304864"/>
                              <a:gd name="connsiteY7" fmla="*/ 220179 h 304864"/>
                              <a:gd name="connsiteX8" fmla="*/ 84686 w 304864"/>
                              <a:gd name="connsiteY8" fmla="*/ 220179 h 304864"/>
                              <a:gd name="connsiteX9" fmla="*/ 84686 w 304864"/>
                              <a:gd name="connsiteY9" fmla="*/ 270986 h 304864"/>
                              <a:gd name="connsiteX10" fmla="*/ 118554 w 304864"/>
                              <a:gd name="connsiteY10" fmla="*/ 304864 h 304864"/>
                              <a:gd name="connsiteX11" fmla="*/ 270986 w 304864"/>
                              <a:gd name="connsiteY11" fmla="*/ 304864 h 304864"/>
                              <a:gd name="connsiteX12" fmla="*/ 304864 w 304864"/>
                              <a:gd name="connsiteY12" fmla="*/ 270986 h 304864"/>
                              <a:gd name="connsiteX13" fmla="*/ 304864 w 304864"/>
                              <a:gd name="connsiteY13" fmla="*/ 118554 h 304864"/>
                              <a:gd name="connsiteX14" fmla="*/ 270986 w 304864"/>
                              <a:gd name="connsiteY14" fmla="*/ 84686 h 304864"/>
                              <a:gd name="connsiteX15" fmla="*/ 270986 w 304864"/>
                              <a:gd name="connsiteY15" fmla="*/ 270986 h 304864"/>
                              <a:gd name="connsiteX16" fmla="*/ 118554 w 304864"/>
                              <a:gd name="connsiteY16" fmla="*/ 270986 h 304864"/>
                              <a:gd name="connsiteX17" fmla="*/ 118554 w 304864"/>
                              <a:gd name="connsiteY17" fmla="*/ 220179 h 304864"/>
                              <a:gd name="connsiteX18" fmla="*/ 186310 w 304864"/>
                              <a:gd name="connsiteY18" fmla="*/ 220179 h 304864"/>
                              <a:gd name="connsiteX19" fmla="*/ 220179 w 304864"/>
                              <a:gd name="connsiteY19" fmla="*/ 186310 h 304864"/>
                              <a:gd name="connsiteX20" fmla="*/ 220179 w 304864"/>
                              <a:gd name="connsiteY20" fmla="*/ 118554 h 304864"/>
                              <a:gd name="connsiteX21" fmla="*/ 270986 w 304864"/>
                              <a:gd name="connsiteY21" fmla="*/ 118554 h 304864"/>
                              <a:gd name="connsiteX22" fmla="*/ 270986 w 304864"/>
                              <a:gd name="connsiteY22" fmla="*/ 270986 h 304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4864" h="304864">
                                <a:moveTo>
                                  <a:pt x="270986" y="84686"/>
                                </a:moveTo>
                                <a:lnTo>
                                  <a:pt x="220179" y="84686"/>
                                </a:lnTo>
                                <a:lnTo>
                                  <a:pt x="220179" y="33878"/>
                                </a:lnTo>
                                <a:cubicBezTo>
                                  <a:pt x="220179" y="15171"/>
                                  <a:pt x="205017" y="5"/>
                                  <a:pt x="186310" y="0"/>
                                </a:cubicBezTo>
                                <a:lnTo>
                                  <a:pt x="33878" y="0"/>
                                </a:lnTo>
                                <a:cubicBezTo>
                                  <a:pt x="15168" y="0"/>
                                  <a:pt x="0" y="15168"/>
                                  <a:pt x="0" y="33878"/>
                                </a:cubicBezTo>
                                <a:lnTo>
                                  <a:pt x="0" y="186310"/>
                                </a:lnTo>
                                <a:cubicBezTo>
                                  <a:pt x="5" y="205017"/>
                                  <a:pt x="15171" y="220179"/>
                                  <a:pt x="33878" y="220179"/>
                                </a:cubicBezTo>
                                <a:lnTo>
                                  <a:pt x="84686" y="220179"/>
                                </a:lnTo>
                                <a:lnTo>
                                  <a:pt x="84686" y="270986"/>
                                </a:lnTo>
                                <a:cubicBezTo>
                                  <a:pt x="84686" y="289693"/>
                                  <a:pt x="99847" y="304859"/>
                                  <a:pt x="118554" y="304864"/>
                                </a:cubicBezTo>
                                <a:lnTo>
                                  <a:pt x="270986" y="304864"/>
                                </a:lnTo>
                                <a:cubicBezTo>
                                  <a:pt x="289696" y="304864"/>
                                  <a:pt x="304864" y="289696"/>
                                  <a:pt x="304864" y="270986"/>
                                </a:cubicBezTo>
                                <a:lnTo>
                                  <a:pt x="304864" y="118554"/>
                                </a:lnTo>
                                <a:cubicBezTo>
                                  <a:pt x="304859" y="99847"/>
                                  <a:pt x="289693" y="84686"/>
                                  <a:pt x="270986" y="84686"/>
                                </a:cubicBezTo>
                                <a:close/>
                                <a:moveTo>
                                  <a:pt x="270986" y="270986"/>
                                </a:moveTo>
                                <a:lnTo>
                                  <a:pt x="118554" y="270986"/>
                                </a:lnTo>
                                <a:lnTo>
                                  <a:pt x="118554" y="220179"/>
                                </a:lnTo>
                                <a:lnTo>
                                  <a:pt x="186310" y="220179"/>
                                </a:lnTo>
                                <a:cubicBezTo>
                                  <a:pt x="205013" y="220173"/>
                                  <a:pt x="220173" y="205013"/>
                                  <a:pt x="220179" y="186310"/>
                                </a:cubicBezTo>
                                <a:lnTo>
                                  <a:pt x="220179" y="118554"/>
                                </a:lnTo>
                                <a:lnTo>
                                  <a:pt x="270986" y="118554"/>
                                </a:lnTo>
                                <a:lnTo>
                                  <a:pt x="270986" y="270986"/>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101" name="小红书平北职场PPT3-12"/>
                        <p:cNvSpPr/>
                        <p:nvPr/>
                      </p:nvSpPr>
                      <p:spPr>
                        <a:xfrm>
                          <a:off x="8019670" y="2646369"/>
                          <a:ext cx="470682" cy="470682"/>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02" name="小红书平北职场PPT3-13"/>
                        <p:cNvSpPr/>
                        <p:nvPr/>
                      </p:nvSpPr>
                      <p:spPr>
                        <a:xfrm>
                          <a:off x="8019670" y="3551211"/>
                          <a:ext cx="470682" cy="470682"/>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03" name="小红书平北职场PPT3-14"/>
                        <p:cNvSpPr/>
                        <p:nvPr/>
                      </p:nvSpPr>
                      <p:spPr>
                        <a:xfrm>
                          <a:off x="8019670" y="4477511"/>
                          <a:ext cx="470682" cy="470682"/>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nvGrpSpPr>
                      <p:cNvPr id="93" name="组合 92"/>
                      <p:cNvGrpSpPr/>
                      <p:nvPr/>
                    </p:nvGrpSpPr>
                    <p:grpSpPr>
                      <a:xfrm>
                        <a:off x="8133918" y="2757212"/>
                        <a:ext cx="239603" cy="221646"/>
                        <a:chOff x="5535930" y="2273934"/>
                        <a:chExt cx="1109980" cy="1026794"/>
                      </a:xfrm>
                    </p:grpSpPr>
                    <p:sp>
                      <p:nvSpPr>
                        <p:cNvPr id="98" name="小红书平北职场PPT3-15"/>
                        <p:cNvSpPr/>
                        <p:nvPr/>
                      </p:nvSpPr>
                      <p:spPr>
                        <a:xfrm>
                          <a:off x="5535930" y="2273934"/>
                          <a:ext cx="1109980" cy="1026794"/>
                        </a:xfrm>
                        <a:custGeom>
                          <a:avLst/>
                          <a:gdLst>
                            <a:gd name="connsiteX0" fmla="*/ 1109980 w 1109980"/>
                            <a:gd name="connsiteY0" fmla="*/ 768985 h 1026794"/>
                            <a:gd name="connsiteX1" fmla="*/ 1109980 w 1109980"/>
                            <a:gd name="connsiteY1" fmla="*/ 568960 h 1026794"/>
                            <a:gd name="connsiteX2" fmla="*/ 1092200 w 1109980"/>
                            <a:gd name="connsiteY2" fmla="*/ 541020 h 1026794"/>
                            <a:gd name="connsiteX3" fmla="*/ 850900 w 1109980"/>
                            <a:gd name="connsiteY3" fmla="*/ 437515 h 1026794"/>
                            <a:gd name="connsiteX4" fmla="*/ 847090 w 1109980"/>
                            <a:gd name="connsiteY4" fmla="*/ 436245 h 1026794"/>
                            <a:gd name="connsiteX5" fmla="*/ 847090 w 1109980"/>
                            <a:gd name="connsiteY5" fmla="*/ 141605 h 1026794"/>
                            <a:gd name="connsiteX6" fmla="*/ 842010 w 1109980"/>
                            <a:gd name="connsiteY6" fmla="*/ 125730 h 1026794"/>
                            <a:gd name="connsiteX7" fmla="*/ 841375 w 1109980"/>
                            <a:gd name="connsiteY7" fmla="*/ 124460 h 1026794"/>
                            <a:gd name="connsiteX8" fmla="*/ 841375 w 1109980"/>
                            <a:gd name="connsiteY8" fmla="*/ 123825 h 1026794"/>
                            <a:gd name="connsiteX9" fmla="*/ 840740 w 1109980"/>
                            <a:gd name="connsiteY9" fmla="*/ 123190 h 1026794"/>
                            <a:gd name="connsiteX10" fmla="*/ 840740 w 1109980"/>
                            <a:gd name="connsiteY10" fmla="*/ 122555 h 1026794"/>
                            <a:gd name="connsiteX11" fmla="*/ 835025 w 1109980"/>
                            <a:gd name="connsiteY11" fmla="*/ 117475 h 1026794"/>
                            <a:gd name="connsiteX12" fmla="*/ 827405 w 1109980"/>
                            <a:gd name="connsiteY12" fmla="*/ 113665 h 1026794"/>
                            <a:gd name="connsiteX13" fmla="*/ 568325 w 1109980"/>
                            <a:gd name="connsiteY13" fmla="*/ 1905 h 1026794"/>
                            <a:gd name="connsiteX14" fmla="*/ 556260 w 1109980"/>
                            <a:gd name="connsiteY14" fmla="*/ 0 h 1026794"/>
                            <a:gd name="connsiteX15" fmla="*/ 544195 w 1109980"/>
                            <a:gd name="connsiteY15" fmla="*/ 1905 h 1026794"/>
                            <a:gd name="connsiteX16" fmla="*/ 283210 w 1109980"/>
                            <a:gd name="connsiteY16" fmla="*/ 113665 h 1026794"/>
                            <a:gd name="connsiteX17" fmla="*/ 276225 w 1109980"/>
                            <a:gd name="connsiteY17" fmla="*/ 117475 h 1026794"/>
                            <a:gd name="connsiteX18" fmla="*/ 262890 w 1109980"/>
                            <a:gd name="connsiteY18" fmla="*/ 142240 h 1026794"/>
                            <a:gd name="connsiteX19" fmla="*/ 262890 w 1109980"/>
                            <a:gd name="connsiteY19" fmla="*/ 436880 h 1026794"/>
                            <a:gd name="connsiteX20" fmla="*/ 259080 w 1109980"/>
                            <a:gd name="connsiteY20" fmla="*/ 438150 h 1026794"/>
                            <a:gd name="connsiteX21" fmla="*/ 17780 w 1109980"/>
                            <a:gd name="connsiteY21" fmla="*/ 541655 h 1026794"/>
                            <a:gd name="connsiteX22" fmla="*/ 10160 w 1109980"/>
                            <a:gd name="connsiteY22" fmla="*/ 547370 h 1026794"/>
                            <a:gd name="connsiteX23" fmla="*/ 0 w 1109980"/>
                            <a:gd name="connsiteY23" fmla="*/ 569595 h 1026794"/>
                            <a:gd name="connsiteX24" fmla="*/ 0 w 1109980"/>
                            <a:gd name="connsiteY24" fmla="*/ 884555 h 1026794"/>
                            <a:gd name="connsiteX25" fmla="*/ 18415 w 1109980"/>
                            <a:gd name="connsiteY25" fmla="*/ 912495 h 1026794"/>
                            <a:gd name="connsiteX26" fmla="*/ 280670 w 1109980"/>
                            <a:gd name="connsiteY26" fmla="*/ 1024890 h 1026794"/>
                            <a:gd name="connsiteX27" fmla="*/ 292735 w 1109980"/>
                            <a:gd name="connsiteY27" fmla="*/ 1026795 h 1026794"/>
                            <a:gd name="connsiteX28" fmla="*/ 296545 w 1109980"/>
                            <a:gd name="connsiteY28" fmla="*/ 1026795 h 1026794"/>
                            <a:gd name="connsiteX29" fmla="*/ 304800 w 1109980"/>
                            <a:gd name="connsiteY29" fmla="*/ 1024890 h 1026794"/>
                            <a:gd name="connsiteX30" fmla="*/ 305435 w 1109980"/>
                            <a:gd name="connsiteY30" fmla="*/ 1024890 h 1026794"/>
                            <a:gd name="connsiteX31" fmla="*/ 306705 w 1109980"/>
                            <a:gd name="connsiteY31" fmla="*/ 1024255 h 1026794"/>
                            <a:gd name="connsiteX32" fmla="*/ 552450 w 1109980"/>
                            <a:gd name="connsiteY32" fmla="*/ 918845 h 1026794"/>
                            <a:gd name="connsiteX33" fmla="*/ 554355 w 1109980"/>
                            <a:gd name="connsiteY33" fmla="*/ 918210 h 1026794"/>
                            <a:gd name="connsiteX34" fmla="*/ 556260 w 1109980"/>
                            <a:gd name="connsiteY34" fmla="*/ 918845 h 1026794"/>
                            <a:gd name="connsiteX35" fmla="*/ 804545 w 1109980"/>
                            <a:gd name="connsiteY35" fmla="*/ 1024890 h 1026794"/>
                            <a:gd name="connsiteX36" fmla="*/ 816610 w 1109980"/>
                            <a:gd name="connsiteY36" fmla="*/ 1026795 h 1026794"/>
                            <a:gd name="connsiteX37" fmla="*/ 819150 w 1109980"/>
                            <a:gd name="connsiteY37" fmla="*/ 1026795 h 1026794"/>
                            <a:gd name="connsiteX38" fmla="*/ 826135 w 1109980"/>
                            <a:gd name="connsiteY38" fmla="*/ 1025525 h 1026794"/>
                            <a:gd name="connsiteX39" fmla="*/ 826770 w 1109980"/>
                            <a:gd name="connsiteY39" fmla="*/ 1025525 h 1026794"/>
                            <a:gd name="connsiteX40" fmla="*/ 828040 w 1109980"/>
                            <a:gd name="connsiteY40" fmla="*/ 1024890 h 1026794"/>
                            <a:gd name="connsiteX41" fmla="*/ 1031240 w 1109980"/>
                            <a:gd name="connsiteY41" fmla="*/ 937895 h 1026794"/>
                            <a:gd name="connsiteX42" fmla="*/ 1050290 w 1109980"/>
                            <a:gd name="connsiteY42" fmla="*/ 909320 h 1026794"/>
                            <a:gd name="connsiteX43" fmla="*/ 1019810 w 1109980"/>
                            <a:gd name="connsiteY43" fmla="*/ 878840 h 1026794"/>
                            <a:gd name="connsiteX44" fmla="*/ 1007745 w 1109980"/>
                            <a:gd name="connsiteY44" fmla="*/ 881380 h 1026794"/>
                            <a:gd name="connsiteX45" fmla="*/ 854075 w 1109980"/>
                            <a:gd name="connsiteY45" fmla="*/ 947420 h 1026794"/>
                            <a:gd name="connsiteX46" fmla="*/ 847090 w 1109980"/>
                            <a:gd name="connsiteY46" fmla="*/ 949960 h 1026794"/>
                            <a:gd name="connsiteX47" fmla="*/ 847090 w 1109980"/>
                            <a:gd name="connsiteY47" fmla="*/ 692150 h 1026794"/>
                            <a:gd name="connsiteX48" fmla="*/ 850900 w 1109980"/>
                            <a:gd name="connsiteY48" fmla="*/ 690880 h 1026794"/>
                            <a:gd name="connsiteX49" fmla="*/ 941705 w 1109980"/>
                            <a:gd name="connsiteY49" fmla="*/ 655320 h 1026794"/>
                            <a:gd name="connsiteX50" fmla="*/ 1042035 w 1109980"/>
                            <a:gd name="connsiteY50" fmla="*/ 615950 h 1026794"/>
                            <a:gd name="connsiteX51" fmla="*/ 1049020 w 1109980"/>
                            <a:gd name="connsiteY51" fmla="*/ 613410 h 1026794"/>
                            <a:gd name="connsiteX52" fmla="*/ 1049020 w 1109980"/>
                            <a:gd name="connsiteY52" fmla="*/ 770255 h 1026794"/>
                            <a:gd name="connsiteX53" fmla="*/ 1078865 w 1109980"/>
                            <a:gd name="connsiteY53" fmla="*/ 800100 h 1026794"/>
                            <a:gd name="connsiteX54" fmla="*/ 1108710 w 1109980"/>
                            <a:gd name="connsiteY54" fmla="*/ 770255 h 1026794"/>
                            <a:gd name="connsiteX55" fmla="*/ 1109980 w 1109980"/>
                            <a:gd name="connsiteY55" fmla="*/ 768985 h 1026794"/>
                            <a:gd name="connsiteX56" fmla="*/ 787400 w 1109980"/>
                            <a:gd name="connsiteY56" fmla="*/ 187325 h 1026794"/>
                            <a:gd name="connsiteX57" fmla="*/ 787400 w 1109980"/>
                            <a:gd name="connsiteY57" fmla="*/ 436245 h 1026794"/>
                            <a:gd name="connsiteX58" fmla="*/ 783590 w 1109980"/>
                            <a:gd name="connsiteY58" fmla="*/ 437515 h 1026794"/>
                            <a:gd name="connsiteX59" fmla="*/ 593090 w 1109980"/>
                            <a:gd name="connsiteY59" fmla="*/ 520700 h 1026794"/>
                            <a:gd name="connsiteX60" fmla="*/ 586105 w 1109980"/>
                            <a:gd name="connsiteY60" fmla="*/ 524510 h 1026794"/>
                            <a:gd name="connsiteX61" fmla="*/ 586105 w 1109980"/>
                            <a:gd name="connsiteY61" fmla="*/ 266065 h 1026794"/>
                            <a:gd name="connsiteX62" fmla="*/ 589915 w 1109980"/>
                            <a:gd name="connsiteY62" fmla="*/ 264795 h 1026794"/>
                            <a:gd name="connsiteX63" fmla="*/ 781050 w 1109980"/>
                            <a:gd name="connsiteY63" fmla="*/ 189865 h 1026794"/>
                            <a:gd name="connsiteX64" fmla="*/ 787400 w 1109980"/>
                            <a:gd name="connsiteY64" fmla="*/ 187325 h 1026794"/>
                            <a:gd name="connsiteX65" fmla="*/ 294640 w 1109980"/>
                            <a:gd name="connsiteY65" fmla="*/ 639445 h 1026794"/>
                            <a:gd name="connsiteX66" fmla="*/ 292735 w 1109980"/>
                            <a:gd name="connsiteY66" fmla="*/ 640080 h 1026794"/>
                            <a:gd name="connsiteX67" fmla="*/ 290830 w 1109980"/>
                            <a:gd name="connsiteY67" fmla="*/ 639445 h 1026794"/>
                            <a:gd name="connsiteX68" fmla="*/ 123190 w 1109980"/>
                            <a:gd name="connsiteY68" fmla="*/ 573405 h 1026794"/>
                            <a:gd name="connsiteX69" fmla="*/ 111125 w 1109980"/>
                            <a:gd name="connsiteY69" fmla="*/ 568325 h 1026794"/>
                            <a:gd name="connsiteX70" fmla="*/ 123190 w 1109980"/>
                            <a:gd name="connsiteY70" fmla="*/ 563245 h 1026794"/>
                            <a:gd name="connsiteX71" fmla="*/ 290830 w 1109980"/>
                            <a:gd name="connsiteY71" fmla="*/ 490855 h 1026794"/>
                            <a:gd name="connsiteX72" fmla="*/ 292735 w 1109980"/>
                            <a:gd name="connsiteY72" fmla="*/ 490220 h 1026794"/>
                            <a:gd name="connsiteX73" fmla="*/ 294640 w 1109980"/>
                            <a:gd name="connsiteY73" fmla="*/ 490855 h 1026794"/>
                            <a:gd name="connsiteX74" fmla="*/ 463550 w 1109980"/>
                            <a:gd name="connsiteY74" fmla="*/ 563245 h 1026794"/>
                            <a:gd name="connsiteX75" fmla="*/ 475615 w 1109980"/>
                            <a:gd name="connsiteY75" fmla="*/ 568325 h 1026794"/>
                            <a:gd name="connsiteX76" fmla="*/ 463550 w 1109980"/>
                            <a:gd name="connsiteY76" fmla="*/ 573405 h 1026794"/>
                            <a:gd name="connsiteX77" fmla="*/ 431800 w 1109980"/>
                            <a:gd name="connsiteY77" fmla="*/ 585470 h 1026794"/>
                            <a:gd name="connsiteX78" fmla="*/ 294640 w 1109980"/>
                            <a:gd name="connsiteY78" fmla="*/ 639445 h 1026794"/>
                            <a:gd name="connsiteX79" fmla="*/ 525145 w 1109980"/>
                            <a:gd name="connsiteY79" fmla="*/ 621665 h 1026794"/>
                            <a:gd name="connsiteX80" fmla="*/ 525145 w 1109980"/>
                            <a:gd name="connsiteY80" fmla="*/ 864235 h 1026794"/>
                            <a:gd name="connsiteX81" fmla="*/ 521335 w 1109980"/>
                            <a:gd name="connsiteY81" fmla="*/ 865505 h 1026794"/>
                            <a:gd name="connsiteX82" fmla="*/ 330200 w 1109980"/>
                            <a:gd name="connsiteY82" fmla="*/ 947420 h 1026794"/>
                            <a:gd name="connsiteX83" fmla="*/ 323215 w 1109980"/>
                            <a:gd name="connsiteY83" fmla="*/ 949960 h 1026794"/>
                            <a:gd name="connsiteX84" fmla="*/ 323215 w 1109980"/>
                            <a:gd name="connsiteY84" fmla="*/ 692150 h 1026794"/>
                            <a:gd name="connsiteX85" fmla="*/ 327025 w 1109980"/>
                            <a:gd name="connsiteY85" fmla="*/ 690880 h 1026794"/>
                            <a:gd name="connsiteX86" fmla="*/ 417830 w 1109980"/>
                            <a:gd name="connsiteY86" fmla="*/ 655320 h 1026794"/>
                            <a:gd name="connsiteX87" fmla="*/ 518160 w 1109980"/>
                            <a:gd name="connsiteY87" fmla="*/ 615950 h 1026794"/>
                            <a:gd name="connsiteX88" fmla="*/ 525145 w 1109980"/>
                            <a:gd name="connsiteY88" fmla="*/ 613410 h 1026794"/>
                            <a:gd name="connsiteX89" fmla="*/ 525145 w 1109980"/>
                            <a:gd name="connsiteY89" fmla="*/ 621665 h 1026794"/>
                            <a:gd name="connsiteX90" fmla="*/ 557530 w 1109980"/>
                            <a:gd name="connsiteY90" fmla="*/ 212090 h 1026794"/>
                            <a:gd name="connsiteX91" fmla="*/ 555625 w 1109980"/>
                            <a:gd name="connsiteY91" fmla="*/ 212725 h 1026794"/>
                            <a:gd name="connsiteX92" fmla="*/ 553720 w 1109980"/>
                            <a:gd name="connsiteY92" fmla="*/ 212090 h 1026794"/>
                            <a:gd name="connsiteX93" fmla="*/ 545465 w 1109980"/>
                            <a:gd name="connsiteY93" fmla="*/ 208915 h 1026794"/>
                            <a:gd name="connsiteX94" fmla="*/ 384810 w 1109980"/>
                            <a:gd name="connsiteY94" fmla="*/ 145415 h 1026794"/>
                            <a:gd name="connsiteX95" fmla="*/ 372745 w 1109980"/>
                            <a:gd name="connsiteY95" fmla="*/ 140335 h 1026794"/>
                            <a:gd name="connsiteX96" fmla="*/ 384810 w 1109980"/>
                            <a:gd name="connsiteY96" fmla="*/ 135255 h 1026794"/>
                            <a:gd name="connsiteX97" fmla="*/ 553085 w 1109980"/>
                            <a:gd name="connsiteY97" fmla="*/ 62865 h 1026794"/>
                            <a:gd name="connsiteX98" fmla="*/ 554990 w 1109980"/>
                            <a:gd name="connsiteY98" fmla="*/ 62230 h 1026794"/>
                            <a:gd name="connsiteX99" fmla="*/ 556895 w 1109980"/>
                            <a:gd name="connsiteY99" fmla="*/ 62865 h 1026794"/>
                            <a:gd name="connsiteX100" fmla="*/ 725170 w 1109980"/>
                            <a:gd name="connsiteY100" fmla="*/ 135255 h 1026794"/>
                            <a:gd name="connsiteX101" fmla="*/ 737235 w 1109980"/>
                            <a:gd name="connsiteY101" fmla="*/ 140335 h 1026794"/>
                            <a:gd name="connsiteX102" fmla="*/ 725170 w 1109980"/>
                            <a:gd name="connsiteY102" fmla="*/ 145415 h 1026794"/>
                            <a:gd name="connsiteX103" fmla="*/ 564515 w 1109980"/>
                            <a:gd name="connsiteY103" fmla="*/ 208915 h 1026794"/>
                            <a:gd name="connsiteX104" fmla="*/ 557530 w 1109980"/>
                            <a:gd name="connsiteY104" fmla="*/ 212090 h 1026794"/>
                            <a:gd name="connsiteX105" fmla="*/ 988695 w 1109980"/>
                            <a:gd name="connsiteY105" fmla="*/ 572770 h 1026794"/>
                            <a:gd name="connsiteX106" fmla="*/ 828040 w 1109980"/>
                            <a:gd name="connsiteY106" fmla="*/ 636270 h 1026794"/>
                            <a:gd name="connsiteX107" fmla="*/ 820420 w 1109980"/>
                            <a:gd name="connsiteY107" fmla="*/ 638810 h 1026794"/>
                            <a:gd name="connsiteX108" fmla="*/ 818515 w 1109980"/>
                            <a:gd name="connsiteY108" fmla="*/ 639445 h 1026794"/>
                            <a:gd name="connsiteX109" fmla="*/ 816610 w 1109980"/>
                            <a:gd name="connsiteY109" fmla="*/ 638810 h 1026794"/>
                            <a:gd name="connsiteX110" fmla="*/ 808990 w 1109980"/>
                            <a:gd name="connsiteY110" fmla="*/ 636270 h 1026794"/>
                            <a:gd name="connsiteX111" fmla="*/ 648335 w 1109980"/>
                            <a:gd name="connsiteY111" fmla="*/ 572770 h 1026794"/>
                            <a:gd name="connsiteX112" fmla="*/ 636270 w 1109980"/>
                            <a:gd name="connsiteY112" fmla="*/ 567690 h 1026794"/>
                            <a:gd name="connsiteX113" fmla="*/ 648335 w 1109980"/>
                            <a:gd name="connsiteY113" fmla="*/ 562610 h 1026794"/>
                            <a:gd name="connsiteX114" fmla="*/ 817880 w 1109980"/>
                            <a:gd name="connsiteY114" fmla="*/ 490220 h 1026794"/>
                            <a:gd name="connsiteX115" fmla="*/ 819785 w 1109980"/>
                            <a:gd name="connsiteY115" fmla="*/ 489585 h 1026794"/>
                            <a:gd name="connsiteX116" fmla="*/ 821690 w 1109980"/>
                            <a:gd name="connsiteY116" fmla="*/ 490220 h 1026794"/>
                            <a:gd name="connsiteX117" fmla="*/ 989330 w 1109980"/>
                            <a:gd name="connsiteY117" fmla="*/ 562610 h 1026794"/>
                            <a:gd name="connsiteX118" fmla="*/ 1001395 w 1109980"/>
                            <a:gd name="connsiteY118" fmla="*/ 567690 h 1026794"/>
                            <a:gd name="connsiteX119" fmla="*/ 988695 w 1109980"/>
                            <a:gd name="connsiteY119" fmla="*/ 572770 h 1026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09980" h="1026794">
                              <a:moveTo>
                                <a:pt x="1109980" y="768985"/>
                              </a:moveTo>
                              <a:lnTo>
                                <a:pt x="1109980" y="568960"/>
                              </a:lnTo>
                              <a:cubicBezTo>
                                <a:pt x="1109980" y="556895"/>
                                <a:pt x="1103630" y="546100"/>
                                <a:pt x="1092200" y="541020"/>
                              </a:cubicBezTo>
                              <a:lnTo>
                                <a:pt x="850900" y="437515"/>
                              </a:lnTo>
                              <a:lnTo>
                                <a:pt x="847090" y="436245"/>
                              </a:lnTo>
                              <a:lnTo>
                                <a:pt x="847090" y="141605"/>
                              </a:lnTo>
                              <a:cubicBezTo>
                                <a:pt x="847090" y="135890"/>
                                <a:pt x="845185" y="130175"/>
                                <a:pt x="842010" y="125730"/>
                              </a:cubicBezTo>
                              <a:cubicBezTo>
                                <a:pt x="842010" y="125095"/>
                                <a:pt x="841375" y="125095"/>
                                <a:pt x="841375" y="124460"/>
                              </a:cubicBezTo>
                              <a:lnTo>
                                <a:pt x="841375" y="123825"/>
                              </a:lnTo>
                              <a:lnTo>
                                <a:pt x="840740" y="123190"/>
                              </a:lnTo>
                              <a:lnTo>
                                <a:pt x="840740" y="122555"/>
                              </a:lnTo>
                              <a:cubicBezTo>
                                <a:pt x="838835" y="120650"/>
                                <a:pt x="836930" y="118745"/>
                                <a:pt x="835025" y="117475"/>
                              </a:cubicBezTo>
                              <a:cubicBezTo>
                                <a:pt x="833120" y="116205"/>
                                <a:pt x="829945" y="114935"/>
                                <a:pt x="827405" y="113665"/>
                              </a:cubicBezTo>
                              <a:lnTo>
                                <a:pt x="568325" y="1905"/>
                              </a:lnTo>
                              <a:cubicBezTo>
                                <a:pt x="564515" y="635"/>
                                <a:pt x="560705" y="0"/>
                                <a:pt x="556260" y="0"/>
                              </a:cubicBezTo>
                              <a:cubicBezTo>
                                <a:pt x="551815" y="0"/>
                                <a:pt x="548005" y="635"/>
                                <a:pt x="544195" y="1905"/>
                              </a:cubicBezTo>
                              <a:lnTo>
                                <a:pt x="283210" y="113665"/>
                              </a:lnTo>
                              <a:cubicBezTo>
                                <a:pt x="280670" y="114300"/>
                                <a:pt x="278130" y="115570"/>
                                <a:pt x="276225" y="117475"/>
                              </a:cubicBezTo>
                              <a:cubicBezTo>
                                <a:pt x="267970" y="123190"/>
                                <a:pt x="262890" y="131445"/>
                                <a:pt x="262890" y="142240"/>
                              </a:cubicBezTo>
                              <a:lnTo>
                                <a:pt x="262890" y="436880"/>
                              </a:lnTo>
                              <a:lnTo>
                                <a:pt x="259080" y="438150"/>
                              </a:lnTo>
                              <a:lnTo>
                                <a:pt x="17780" y="541655"/>
                              </a:lnTo>
                              <a:cubicBezTo>
                                <a:pt x="15240" y="542925"/>
                                <a:pt x="12065" y="544195"/>
                                <a:pt x="10160" y="547370"/>
                              </a:cubicBezTo>
                              <a:cubicBezTo>
                                <a:pt x="3810" y="553085"/>
                                <a:pt x="0" y="560705"/>
                                <a:pt x="0" y="569595"/>
                              </a:cubicBezTo>
                              <a:lnTo>
                                <a:pt x="0" y="884555"/>
                              </a:lnTo>
                              <a:cubicBezTo>
                                <a:pt x="0" y="896620"/>
                                <a:pt x="6985" y="907415"/>
                                <a:pt x="18415" y="912495"/>
                              </a:cubicBezTo>
                              <a:lnTo>
                                <a:pt x="280670" y="1024890"/>
                              </a:lnTo>
                              <a:cubicBezTo>
                                <a:pt x="285115" y="1026160"/>
                                <a:pt x="287655" y="1026795"/>
                                <a:pt x="292735" y="1026795"/>
                              </a:cubicBezTo>
                              <a:lnTo>
                                <a:pt x="296545" y="1026795"/>
                              </a:lnTo>
                              <a:cubicBezTo>
                                <a:pt x="299085" y="1026795"/>
                                <a:pt x="302260" y="1026160"/>
                                <a:pt x="304800" y="1024890"/>
                              </a:cubicBezTo>
                              <a:lnTo>
                                <a:pt x="305435" y="1024890"/>
                              </a:lnTo>
                              <a:lnTo>
                                <a:pt x="306705" y="1024255"/>
                              </a:lnTo>
                              <a:lnTo>
                                <a:pt x="552450" y="918845"/>
                              </a:lnTo>
                              <a:lnTo>
                                <a:pt x="554355" y="918210"/>
                              </a:lnTo>
                              <a:lnTo>
                                <a:pt x="556260" y="918845"/>
                              </a:lnTo>
                              <a:lnTo>
                                <a:pt x="804545" y="1024890"/>
                              </a:lnTo>
                              <a:cubicBezTo>
                                <a:pt x="808990" y="1026160"/>
                                <a:pt x="812165" y="1026795"/>
                                <a:pt x="816610" y="1026795"/>
                              </a:cubicBezTo>
                              <a:lnTo>
                                <a:pt x="819150" y="1026795"/>
                              </a:lnTo>
                              <a:cubicBezTo>
                                <a:pt x="821055" y="1026795"/>
                                <a:pt x="824230" y="1026160"/>
                                <a:pt x="826135" y="1025525"/>
                              </a:cubicBezTo>
                              <a:lnTo>
                                <a:pt x="826770" y="1025525"/>
                              </a:lnTo>
                              <a:lnTo>
                                <a:pt x="828040" y="1024890"/>
                              </a:lnTo>
                              <a:lnTo>
                                <a:pt x="1031240" y="937895"/>
                              </a:lnTo>
                              <a:cubicBezTo>
                                <a:pt x="1042670" y="933450"/>
                                <a:pt x="1050290" y="922655"/>
                                <a:pt x="1050290" y="909320"/>
                              </a:cubicBezTo>
                              <a:cubicBezTo>
                                <a:pt x="1050290" y="892175"/>
                                <a:pt x="1036955" y="878840"/>
                                <a:pt x="1019810" y="878840"/>
                              </a:cubicBezTo>
                              <a:cubicBezTo>
                                <a:pt x="1015365" y="878840"/>
                                <a:pt x="1011555" y="879475"/>
                                <a:pt x="1007745" y="881380"/>
                              </a:cubicBezTo>
                              <a:lnTo>
                                <a:pt x="854075" y="947420"/>
                              </a:lnTo>
                              <a:lnTo>
                                <a:pt x="847090" y="949960"/>
                              </a:lnTo>
                              <a:lnTo>
                                <a:pt x="847090" y="692150"/>
                              </a:lnTo>
                              <a:lnTo>
                                <a:pt x="850900" y="690880"/>
                              </a:lnTo>
                              <a:lnTo>
                                <a:pt x="941705" y="655320"/>
                              </a:lnTo>
                              <a:lnTo>
                                <a:pt x="1042035" y="615950"/>
                              </a:lnTo>
                              <a:lnTo>
                                <a:pt x="1049020" y="613410"/>
                              </a:lnTo>
                              <a:lnTo>
                                <a:pt x="1049020" y="770255"/>
                              </a:lnTo>
                              <a:cubicBezTo>
                                <a:pt x="1049020" y="786765"/>
                                <a:pt x="1062355" y="800100"/>
                                <a:pt x="1078865" y="800100"/>
                              </a:cubicBezTo>
                              <a:cubicBezTo>
                                <a:pt x="1095375" y="800100"/>
                                <a:pt x="1108710" y="786765"/>
                                <a:pt x="1108710" y="770255"/>
                              </a:cubicBezTo>
                              <a:cubicBezTo>
                                <a:pt x="1109980" y="770255"/>
                                <a:pt x="1109980" y="769620"/>
                                <a:pt x="1109980" y="768985"/>
                              </a:cubicBezTo>
                              <a:close/>
                              <a:moveTo>
                                <a:pt x="787400" y="187325"/>
                              </a:moveTo>
                              <a:lnTo>
                                <a:pt x="787400" y="436245"/>
                              </a:lnTo>
                              <a:lnTo>
                                <a:pt x="783590" y="437515"/>
                              </a:lnTo>
                              <a:lnTo>
                                <a:pt x="593090" y="520700"/>
                              </a:lnTo>
                              <a:lnTo>
                                <a:pt x="586105" y="524510"/>
                              </a:lnTo>
                              <a:lnTo>
                                <a:pt x="586105" y="266065"/>
                              </a:lnTo>
                              <a:lnTo>
                                <a:pt x="589915" y="264795"/>
                              </a:lnTo>
                              <a:lnTo>
                                <a:pt x="781050" y="189865"/>
                              </a:lnTo>
                              <a:lnTo>
                                <a:pt x="787400" y="187325"/>
                              </a:lnTo>
                              <a:close/>
                              <a:moveTo>
                                <a:pt x="294640" y="639445"/>
                              </a:moveTo>
                              <a:lnTo>
                                <a:pt x="292735" y="640080"/>
                              </a:lnTo>
                              <a:lnTo>
                                <a:pt x="290830" y="639445"/>
                              </a:lnTo>
                              <a:lnTo>
                                <a:pt x="123190" y="573405"/>
                              </a:lnTo>
                              <a:lnTo>
                                <a:pt x="111125" y="568325"/>
                              </a:lnTo>
                              <a:lnTo>
                                <a:pt x="123190" y="563245"/>
                              </a:lnTo>
                              <a:lnTo>
                                <a:pt x="290830" y="490855"/>
                              </a:lnTo>
                              <a:lnTo>
                                <a:pt x="292735" y="490220"/>
                              </a:lnTo>
                              <a:lnTo>
                                <a:pt x="294640" y="490855"/>
                              </a:lnTo>
                              <a:lnTo>
                                <a:pt x="463550" y="563245"/>
                              </a:lnTo>
                              <a:lnTo>
                                <a:pt x="475615" y="568325"/>
                              </a:lnTo>
                              <a:lnTo>
                                <a:pt x="463550" y="573405"/>
                              </a:lnTo>
                              <a:lnTo>
                                <a:pt x="431800" y="585470"/>
                              </a:lnTo>
                              <a:lnTo>
                                <a:pt x="294640" y="639445"/>
                              </a:lnTo>
                              <a:close/>
                              <a:moveTo>
                                <a:pt x="525145" y="621665"/>
                              </a:moveTo>
                              <a:lnTo>
                                <a:pt x="525145" y="864235"/>
                              </a:lnTo>
                              <a:lnTo>
                                <a:pt x="521335" y="865505"/>
                              </a:lnTo>
                              <a:lnTo>
                                <a:pt x="330200" y="947420"/>
                              </a:lnTo>
                              <a:lnTo>
                                <a:pt x="323215" y="949960"/>
                              </a:lnTo>
                              <a:lnTo>
                                <a:pt x="323215" y="692150"/>
                              </a:lnTo>
                              <a:lnTo>
                                <a:pt x="327025" y="690880"/>
                              </a:lnTo>
                              <a:lnTo>
                                <a:pt x="417830" y="655320"/>
                              </a:lnTo>
                              <a:lnTo>
                                <a:pt x="518160" y="615950"/>
                              </a:lnTo>
                              <a:lnTo>
                                <a:pt x="525145" y="613410"/>
                              </a:lnTo>
                              <a:lnTo>
                                <a:pt x="525145" y="621665"/>
                              </a:lnTo>
                              <a:close/>
                              <a:moveTo>
                                <a:pt x="557530" y="212090"/>
                              </a:moveTo>
                              <a:lnTo>
                                <a:pt x="555625" y="212725"/>
                              </a:lnTo>
                              <a:lnTo>
                                <a:pt x="553720" y="212090"/>
                              </a:lnTo>
                              <a:lnTo>
                                <a:pt x="545465" y="208915"/>
                              </a:lnTo>
                              <a:lnTo>
                                <a:pt x="384810" y="145415"/>
                              </a:lnTo>
                              <a:lnTo>
                                <a:pt x="372745" y="140335"/>
                              </a:lnTo>
                              <a:lnTo>
                                <a:pt x="384810" y="135255"/>
                              </a:lnTo>
                              <a:lnTo>
                                <a:pt x="553085" y="62865"/>
                              </a:lnTo>
                              <a:lnTo>
                                <a:pt x="554990" y="62230"/>
                              </a:lnTo>
                              <a:lnTo>
                                <a:pt x="556895" y="62865"/>
                              </a:lnTo>
                              <a:lnTo>
                                <a:pt x="725170" y="135255"/>
                              </a:lnTo>
                              <a:lnTo>
                                <a:pt x="737235" y="140335"/>
                              </a:lnTo>
                              <a:lnTo>
                                <a:pt x="725170" y="145415"/>
                              </a:lnTo>
                              <a:lnTo>
                                <a:pt x="564515" y="208915"/>
                              </a:lnTo>
                              <a:lnTo>
                                <a:pt x="557530" y="212090"/>
                              </a:lnTo>
                              <a:close/>
                              <a:moveTo>
                                <a:pt x="988695" y="572770"/>
                              </a:moveTo>
                              <a:lnTo>
                                <a:pt x="828040" y="636270"/>
                              </a:lnTo>
                              <a:lnTo>
                                <a:pt x="820420" y="638810"/>
                              </a:lnTo>
                              <a:lnTo>
                                <a:pt x="818515" y="639445"/>
                              </a:lnTo>
                              <a:lnTo>
                                <a:pt x="816610" y="638810"/>
                              </a:lnTo>
                              <a:lnTo>
                                <a:pt x="808990" y="636270"/>
                              </a:lnTo>
                              <a:lnTo>
                                <a:pt x="648335" y="572770"/>
                              </a:lnTo>
                              <a:lnTo>
                                <a:pt x="636270" y="567690"/>
                              </a:lnTo>
                              <a:lnTo>
                                <a:pt x="648335" y="562610"/>
                              </a:lnTo>
                              <a:lnTo>
                                <a:pt x="817880" y="490220"/>
                              </a:lnTo>
                              <a:lnTo>
                                <a:pt x="819785" y="489585"/>
                              </a:lnTo>
                              <a:lnTo>
                                <a:pt x="821690" y="490220"/>
                              </a:lnTo>
                              <a:lnTo>
                                <a:pt x="989330" y="562610"/>
                              </a:lnTo>
                              <a:lnTo>
                                <a:pt x="1001395" y="567690"/>
                              </a:lnTo>
                              <a:lnTo>
                                <a:pt x="988695" y="572770"/>
                              </a:lnTo>
                              <a:close/>
                            </a:path>
                          </a:pathLst>
                        </a:custGeom>
                        <a:solidFill>
                          <a:sysClr val="window" lastClr="FFFFFF"/>
                        </a:solidFill>
                        <a:ln w="902" cap="flat">
                          <a:noFill/>
                          <a:prstDash val="solid"/>
                          <a:miter/>
                        </a:ln>
                        <a:effectLst>
                          <a:outerShdw blurRad="55418" dist="41564"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99" name="小红书平北职场PPT3-16"/>
                        <p:cNvSpPr/>
                        <p:nvPr/>
                      </p:nvSpPr>
                      <p:spPr>
                        <a:xfrm>
                          <a:off x="5629274" y="2899410"/>
                          <a:ext cx="153367" cy="292100"/>
                        </a:xfrm>
                        <a:custGeom>
                          <a:avLst/>
                          <a:gdLst>
                            <a:gd name="connsiteX0" fmla="*/ 37465 w 153367"/>
                            <a:gd name="connsiteY0" fmla="*/ 111760 h 292100"/>
                            <a:gd name="connsiteX1" fmla="*/ 37465 w 153367"/>
                            <a:gd name="connsiteY1" fmla="*/ 0 h 292100"/>
                            <a:gd name="connsiteX2" fmla="*/ 99060 w 153367"/>
                            <a:gd name="connsiteY2" fmla="*/ 24130 h 292100"/>
                            <a:gd name="connsiteX3" fmla="*/ 99060 w 153367"/>
                            <a:gd name="connsiteY3" fmla="*/ 112395 h 292100"/>
                            <a:gd name="connsiteX4" fmla="*/ 67945 w 153367"/>
                            <a:gd name="connsiteY4" fmla="*/ 143510 h 292100"/>
                            <a:gd name="connsiteX5" fmla="*/ 37465 w 153367"/>
                            <a:gd name="connsiteY5" fmla="*/ 111760 h 292100"/>
                            <a:gd name="connsiteX6" fmla="*/ 151130 w 153367"/>
                            <a:gd name="connsiteY6" fmla="*/ 232410 h 292100"/>
                            <a:gd name="connsiteX7" fmla="*/ 111125 w 153367"/>
                            <a:gd name="connsiteY7" fmla="*/ 215265 h 292100"/>
                            <a:gd name="connsiteX8" fmla="*/ 0 w 153367"/>
                            <a:gd name="connsiteY8" fmla="*/ 258445 h 292100"/>
                            <a:gd name="connsiteX9" fmla="*/ 85090 w 153367"/>
                            <a:gd name="connsiteY9" fmla="*/ 292100 h 292100"/>
                            <a:gd name="connsiteX10" fmla="*/ 133985 w 153367"/>
                            <a:gd name="connsiteY10" fmla="*/ 273050 h 292100"/>
                            <a:gd name="connsiteX11" fmla="*/ 151130 w 153367"/>
                            <a:gd name="connsiteY11" fmla="*/ 232410 h 29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367" h="292100">
                              <a:moveTo>
                                <a:pt x="37465" y="111760"/>
                              </a:moveTo>
                              <a:lnTo>
                                <a:pt x="37465" y="0"/>
                              </a:lnTo>
                              <a:lnTo>
                                <a:pt x="99060" y="24130"/>
                              </a:lnTo>
                              <a:lnTo>
                                <a:pt x="99060" y="112395"/>
                              </a:lnTo>
                              <a:cubicBezTo>
                                <a:pt x="99060" y="129540"/>
                                <a:pt x="85090" y="143510"/>
                                <a:pt x="67945" y="143510"/>
                              </a:cubicBezTo>
                              <a:cubicBezTo>
                                <a:pt x="51435" y="142240"/>
                                <a:pt x="37465" y="128905"/>
                                <a:pt x="37465" y="111760"/>
                              </a:cubicBezTo>
                              <a:close/>
                              <a:moveTo>
                                <a:pt x="151130" y="232410"/>
                              </a:moveTo>
                              <a:cubicBezTo>
                                <a:pt x="144780" y="216535"/>
                                <a:pt x="127000" y="208915"/>
                                <a:pt x="111125" y="215265"/>
                              </a:cubicBezTo>
                              <a:lnTo>
                                <a:pt x="0" y="258445"/>
                              </a:lnTo>
                              <a:lnTo>
                                <a:pt x="85090" y="292100"/>
                              </a:lnTo>
                              <a:lnTo>
                                <a:pt x="133985" y="273050"/>
                              </a:lnTo>
                              <a:cubicBezTo>
                                <a:pt x="149860" y="266065"/>
                                <a:pt x="157480" y="248285"/>
                                <a:pt x="151130" y="232410"/>
                              </a:cubicBezTo>
                              <a:close/>
                            </a:path>
                          </a:pathLst>
                        </a:custGeom>
                        <a:solidFill>
                          <a:sysClr val="window" lastClr="FFFFFF"/>
                        </a:solidFill>
                        <a:ln w="902" cap="flat">
                          <a:noFill/>
                          <a:prstDash val="solid"/>
                          <a:miter/>
                        </a:ln>
                        <a:effectLst>
                          <a:outerShdw blurRad="55418" dist="41564"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grpSp>
                    <p:nvGrpSpPr>
                      <p:cNvPr id="94" name="组合 93"/>
                      <p:cNvGrpSpPr/>
                      <p:nvPr/>
                    </p:nvGrpSpPr>
                    <p:grpSpPr>
                      <a:xfrm>
                        <a:off x="8148699" y="3692893"/>
                        <a:ext cx="224290" cy="181892"/>
                        <a:chOff x="8695478" y="3139167"/>
                        <a:chExt cx="304874" cy="247244"/>
                      </a:xfrm>
                    </p:grpSpPr>
                    <p:sp>
                      <p:nvSpPr>
                        <p:cNvPr id="96" name="小红书平北职场PPT3-17"/>
                        <p:cNvSpPr/>
                        <p:nvPr/>
                      </p:nvSpPr>
                      <p:spPr>
                        <a:xfrm>
                          <a:off x="8695478" y="3139167"/>
                          <a:ext cx="277303" cy="239318"/>
                        </a:xfrm>
                        <a:custGeom>
                          <a:avLst/>
                          <a:gdLst>
                            <a:gd name="connsiteX0" fmla="*/ 205262 w 277303"/>
                            <a:gd name="connsiteY0" fmla="*/ 25913 h 239318"/>
                            <a:gd name="connsiteX1" fmla="*/ 277303 w 277303"/>
                            <a:gd name="connsiteY1" fmla="*/ 52437 h 239318"/>
                            <a:gd name="connsiteX2" fmla="*/ 277303 w 277303"/>
                            <a:gd name="connsiteY2" fmla="*/ 20426 h 239318"/>
                            <a:gd name="connsiteX3" fmla="*/ 253861 w 277303"/>
                            <a:gd name="connsiteY3" fmla="*/ 0 h 239318"/>
                            <a:gd name="connsiteX4" fmla="*/ 23442 w 277303"/>
                            <a:gd name="connsiteY4" fmla="*/ 0 h 239318"/>
                            <a:gd name="connsiteX5" fmla="*/ 0 w 277303"/>
                            <a:gd name="connsiteY5" fmla="*/ 20426 h 239318"/>
                            <a:gd name="connsiteX6" fmla="*/ 0 w 277303"/>
                            <a:gd name="connsiteY6" fmla="*/ 125604 h 239318"/>
                            <a:gd name="connsiteX7" fmla="*/ 90624 w 277303"/>
                            <a:gd name="connsiteY7" fmla="*/ 125604 h 239318"/>
                            <a:gd name="connsiteX8" fmla="*/ 205262 w 277303"/>
                            <a:gd name="connsiteY8" fmla="*/ 25913 h 239318"/>
                            <a:gd name="connsiteX9" fmla="*/ 109206 w 277303"/>
                            <a:gd name="connsiteY9" fmla="*/ 221026 h 239318"/>
                            <a:gd name="connsiteX10" fmla="*/ 21441 w 277303"/>
                            <a:gd name="connsiteY10" fmla="*/ 221026 h 239318"/>
                            <a:gd name="connsiteX11" fmla="*/ 10863 w 277303"/>
                            <a:gd name="connsiteY11" fmla="*/ 230172 h 239318"/>
                            <a:gd name="connsiteX12" fmla="*/ 21441 w 277303"/>
                            <a:gd name="connsiteY12" fmla="*/ 239318 h 239318"/>
                            <a:gd name="connsiteX13" fmla="*/ 123786 w 277303"/>
                            <a:gd name="connsiteY13" fmla="*/ 239318 h 239318"/>
                            <a:gd name="connsiteX14" fmla="*/ 109206 w 277303"/>
                            <a:gd name="connsiteY14" fmla="*/ 221026 h 239318"/>
                            <a:gd name="connsiteX15" fmla="*/ 88623 w 277303"/>
                            <a:gd name="connsiteY15" fmla="*/ 144201 h 239318"/>
                            <a:gd name="connsiteX16" fmla="*/ 0 w 277303"/>
                            <a:gd name="connsiteY16" fmla="*/ 144201 h 239318"/>
                            <a:gd name="connsiteX17" fmla="*/ 0 w 277303"/>
                            <a:gd name="connsiteY17" fmla="*/ 154566 h 239318"/>
                            <a:gd name="connsiteX18" fmla="*/ 23442 w 277303"/>
                            <a:gd name="connsiteY18" fmla="*/ 175297 h 239318"/>
                            <a:gd name="connsiteX19" fmla="*/ 90624 w 277303"/>
                            <a:gd name="connsiteY19" fmla="*/ 175297 h 239318"/>
                            <a:gd name="connsiteX20" fmla="*/ 88337 w 277303"/>
                            <a:gd name="connsiteY20" fmla="*/ 150298 h 239318"/>
                            <a:gd name="connsiteX21" fmla="*/ 88623 w 277303"/>
                            <a:gd name="connsiteY21" fmla="*/ 144201 h 23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7303" h="239318">
                              <a:moveTo>
                                <a:pt x="205262" y="25913"/>
                              </a:moveTo>
                              <a:cubicBezTo>
                                <a:pt x="232420" y="25913"/>
                                <a:pt x="257292" y="35974"/>
                                <a:pt x="277303" y="52437"/>
                              </a:cubicBezTo>
                              <a:lnTo>
                                <a:pt x="277303" y="20426"/>
                              </a:lnTo>
                              <a:cubicBezTo>
                                <a:pt x="277303" y="8841"/>
                                <a:pt x="266726" y="0"/>
                                <a:pt x="253861" y="0"/>
                              </a:cubicBezTo>
                              <a:lnTo>
                                <a:pt x="23442" y="0"/>
                              </a:lnTo>
                              <a:cubicBezTo>
                                <a:pt x="10292" y="0"/>
                                <a:pt x="0" y="8841"/>
                                <a:pt x="0" y="20426"/>
                              </a:cubicBezTo>
                              <a:lnTo>
                                <a:pt x="0" y="125604"/>
                              </a:lnTo>
                              <a:lnTo>
                                <a:pt x="90624" y="125604"/>
                              </a:lnTo>
                              <a:cubicBezTo>
                                <a:pt x="101487" y="68899"/>
                                <a:pt x="148657" y="25913"/>
                                <a:pt x="205262" y="25913"/>
                              </a:cubicBezTo>
                              <a:close/>
                              <a:moveTo>
                                <a:pt x="109206" y="221026"/>
                              </a:moveTo>
                              <a:lnTo>
                                <a:pt x="21441" y="221026"/>
                              </a:lnTo>
                              <a:cubicBezTo>
                                <a:pt x="15723" y="221026"/>
                                <a:pt x="10863" y="225295"/>
                                <a:pt x="10863" y="230172"/>
                              </a:cubicBezTo>
                              <a:cubicBezTo>
                                <a:pt x="10863" y="235050"/>
                                <a:pt x="15723" y="239318"/>
                                <a:pt x="21441" y="239318"/>
                              </a:cubicBezTo>
                              <a:lnTo>
                                <a:pt x="123786" y="239318"/>
                              </a:lnTo>
                              <a:cubicBezTo>
                                <a:pt x="118354" y="233831"/>
                                <a:pt x="113494" y="227733"/>
                                <a:pt x="109206" y="221026"/>
                              </a:cubicBezTo>
                              <a:close/>
                              <a:moveTo>
                                <a:pt x="88623" y="144201"/>
                              </a:moveTo>
                              <a:lnTo>
                                <a:pt x="0" y="144201"/>
                              </a:lnTo>
                              <a:lnTo>
                                <a:pt x="0" y="154566"/>
                              </a:lnTo>
                              <a:cubicBezTo>
                                <a:pt x="0" y="166151"/>
                                <a:pt x="10578" y="175297"/>
                                <a:pt x="23442" y="175297"/>
                              </a:cubicBezTo>
                              <a:lnTo>
                                <a:pt x="90624" y="175297"/>
                              </a:lnTo>
                              <a:cubicBezTo>
                                <a:pt x="89195" y="167370"/>
                                <a:pt x="88337" y="158834"/>
                                <a:pt x="88337" y="150298"/>
                              </a:cubicBezTo>
                              <a:cubicBezTo>
                                <a:pt x="88623" y="148469"/>
                                <a:pt x="88623" y="146335"/>
                                <a:pt x="88623" y="144201"/>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97" name="小红书平北职场PPT3-18"/>
                        <p:cNvSpPr/>
                        <p:nvPr/>
                      </p:nvSpPr>
                      <p:spPr>
                        <a:xfrm>
                          <a:off x="8807415" y="3192823"/>
                          <a:ext cx="192937" cy="193588"/>
                        </a:xfrm>
                        <a:custGeom>
                          <a:avLst/>
                          <a:gdLst>
                            <a:gd name="connsiteX0" fmla="*/ 96469 w 192937"/>
                            <a:gd name="connsiteY0" fmla="*/ 46339 h 193588"/>
                            <a:gd name="connsiteX1" fmla="*/ 31002 w 192937"/>
                            <a:gd name="connsiteY1" fmla="*/ 116153 h 193588"/>
                            <a:gd name="connsiteX2" fmla="*/ 64450 w 192937"/>
                            <a:gd name="connsiteY2" fmla="*/ 177126 h 193588"/>
                            <a:gd name="connsiteX3" fmla="*/ 64450 w 192937"/>
                            <a:gd name="connsiteY3" fmla="*/ 180479 h 193588"/>
                            <a:gd name="connsiteX4" fmla="*/ 76743 w 192937"/>
                            <a:gd name="connsiteY4" fmla="*/ 193589 h 193588"/>
                            <a:gd name="connsiteX5" fmla="*/ 115908 w 192937"/>
                            <a:gd name="connsiteY5" fmla="*/ 193589 h 193588"/>
                            <a:gd name="connsiteX6" fmla="*/ 128201 w 192937"/>
                            <a:gd name="connsiteY6" fmla="*/ 180479 h 193588"/>
                            <a:gd name="connsiteX7" fmla="*/ 128201 w 192937"/>
                            <a:gd name="connsiteY7" fmla="*/ 177431 h 193588"/>
                            <a:gd name="connsiteX8" fmla="*/ 161935 w 192937"/>
                            <a:gd name="connsiteY8" fmla="*/ 116458 h 193588"/>
                            <a:gd name="connsiteX9" fmla="*/ 96469 w 192937"/>
                            <a:gd name="connsiteY9" fmla="*/ 46339 h 193588"/>
                            <a:gd name="connsiteX10" fmla="*/ 130488 w 192937"/>
                            <a:gd name="connsiteY10" fmla="*/ 91154 h 193588"/>
                            <a:gd name="connsiteX11" fmla="*/ 126772 w 192937"/>
                            <a:gd name="connsiteY11" fmla="*/ 92374 h 193588"/>
                            <a:gd name="connsiteX12" fmla="*/ 122198 w 192937"/>
                            <a:gd name="connsiteY12" fmla="*/ 90240 h 193588"/>
                            <a:gd name="connsiteX13" fmla="*/ 100471 w 192937"/>
                            <a:gd name="connsiteY13" fmla="*/ 78350 h 193588"/>
                            <a:gd name="connsiteX14" fmla="*/ 95039 w 192937"/>
                            <a:gd name="connsiteY14" fmla="*/ 71643 h 193588"/>
                            <a:gd name="connsiteX15" fmla="*/ 101329 w 192937"/>
                            <a:gd name="connsiteY15" fmla="*/ 64936 h 193588"/>
                            <a:gd name="connsiteX16" fmla="*/ 102186 w 192937"/>
                            <a:gd name="connsiteY16" fmla="*/ 64936 h 193588"/>
                            <a:gd name="connsiteX17" fmla="*/ 131918 w 192937"/>
                            <a:gd name="connsiteY17" fmla="*/ 81399 h 193588"/>
                            <a:gd name="connsiteX18" fmla="*/ 133633 w 192937"/>
                            <a:gd name="connsiteY18" fmla="*/ 86581 h 193588"/>
                            <a:gd name="connsiteX19" fmla="*/ 130488 w 192937"/>
                            <a:gd name="connsiteY19" fmla="*/ 91154 h 193588"/>
                            <a:gd name="connsiteX20" fmla="*/ 145354 w 192937"/>
                            <a:gd name="connsiteY20" fmla="*/ 101215 h 193588"/>
                            <a:gd name="connsiteX21" fmla="*/ 147355 w 192937"/>
                            <a:gd name="connsiteY21" fmla="*/ 107617 h 193588"/>
                            <a:gd name="connsiteX22" fmla="*/ 142781 w 192937"/>
                            <a:gd name="connsiteY22" fmla="*/ 115848 h 193588"/>
                            <a:gd name="connsiteX23" fmla="*/ 141066 w 192937"/>
                            <a:gd name="connsiteY23" fmla="*/ 116153 h 193588"/>
                            <a:gd name="connsiteX24" fmla="*/ 134776 w 192937"/>
                            <a:gd name="connsiteY24" fmla="*/ 110970 h 193588"/>
                            <a:gd name="connsiteX25" fmla="*/ 133347 w 192937"/>
                            <a:gd name="connsiteY25" fmla="*/ 106398 h 193588"/>
                            <a:gd name="connsiteX26" fmla="*/ 135634 w 192937"/>
                            <a:gd name="connsiteY26" fmla="*/ 98471 h 193588"/>
                            <a:gd name="connsiteX27" fmla="*/ 139351 w 192937"/>
                            <a:gd name="connsiteY27" fmla="*/ 97252 h 193588"/>
                            <a:gd name="connsiteX28" fmla="*/ 145354 w 192937"/>
                            <a:gd name="connsiteY28" fmla="*/ 101215 h 193588"/>
                            <a:gd name="connsiteX29" fmla="*/ 97612 w 192937"/>
                            <a:gd name="connsiteY29" fmla="*/ 32925 h 193588"/>
                            <a:gd name="connsiteX30" fmla="*/ 95039 w 192937"/>
                            <a:gd name="connsiteY30" fmla="*/ 32925 h 193588"/>
                            <a:gd name="connsiteX31" fmla="*/ 85605 w 192937"/>
                            <a:gd name="connsiteY31" fmla="*/ 22865 h 193588"/>
                            <a:gd name="connsiteX32" fmla="*/ 85605 w 192937"/>
                            <a:gd name="connsiteY32" fmla="*/ 10061 h 193588"/>
                            <a:gd name="connsiteX33" fmla="*/ 95039 w 192937"/>
                            <a:gd name="connsiteY33" fmla="*/ 0 h 193588"/>
                            <a:gd name="connsiteX34" fmla="*/ 97612 w 192937"/>
                            <a:gd name="connsiteY34" fmla="*/ 0 h 193588"/>
                            <a:gd name="connsiteX35" fmla="*/ 107046 w 192937"/>
                            <a:gd name="connsiteY35" fmla="*/ 10061 h 193588"/>
                            <a:gd name="connsiteX36" fmla="*/ 107046 w 192937"/>
                            <a:gd name="connsiteY36" fmla="*/ 22865 h 193588"/>
                            <a:gd name="connsiteX37" fmla="*/ 97612 w 192937"/>
                            <a:gd name="connsiteY37" fmla="*/ 32925 h 193588"/>
                            <a:gd name="connsiteX38" fmla="*/ 136492 w 192937"/>
                            <a:gd name="connsiteY38" fmla="*/ 44815 h 193588"/>
                            <a:gd name="connsiteX39" fmla="*/ 134205 w 192937"/>
                            <a:gd name="connsiteY39" fmla="*/ 43291 h 193588"/>
                            <a:gd name="connsiteX40" fmla="*/ 130774 w 192937"/>
                            <a:gd name="connsiteY40" fmla="*/ 29267 h 193588"/>
                            <a:gd name="connsiteX41" fmla="*/ 136778 w 192937"/>
                            <a:gd name="connsiteY41" fmla="*/ 18292 h 193588"/>
                            <a:gd name="connsiteX42" fmla="*/ 149928 w 192937"/>
                            <a:gd name="connsiteY42" fmla="*/ 14633 h 193588"/>
                            <a:gd name="connsiteX43" fmla="*/ 152215 w 192937"/>
                            <a:gd name="connsiteY43" fmla="*/ 16158 h 193588"/>
                            <a:gd name="connsiteX44" fmla="*/ 155646 w 192937"/>
                            <a:gd name="connsiteY44" fmla="*/ 30182 h 193588"/>
                            <a:gd name="connsiteX45" fmla="*/ 149642 w 192937"/>
                            <a:gd name="connsiteY45" fmla="*/ 41157 h 193588"/>
                            <a:gd name="connsiteX46" fmla="*/ 136492 w 192937"/>
                            <a:gd name="connsiteY46" fmla="*/ 44815 h 193588"/>
                            <a:gd name="connsiteX47" fmla="*/ 164508 w 192937"/>
                            <a:gd name="connsiteY47" fmla="*/ 75911 h 193588"/>
                            <a:gd name="connsiteX48" fmla="*/ 163364 w 192937"/>
                            <a:gd name="connsiteY48" fmla="*/ 73167 h 193588"/>
                            <a:gd name="connsiteX49" fmla="*/ 166795 w 192937"/>
                            <a:gd name="connsiteY49" fmla="*/ 59144 h 193588"/>
                            <a:gd name="connsiteX50" fmla="*/ 177087 w 192937"/>
                            <a:gd name="connsiteY50" fmla="*/ 52741 h 193588"/>
                            <a:gd name="connsiteX51" fmla="*/ 190237 w 192937"/>
                            <a:gd name="connsiteY51" fmla="*/ 56400 h 193588"/>
                            <a:gd name="connsiteX52" fmla="*/ 191667 w 192937"/>
                            <a:gd name="connsiteY52" fmla="*/ 58839 h 193588"/>
                            <a:gd name="connsiteX53" fmla="*/ 188236 w 192937"/>
                            <a:gd name="connsiteY53" fmla="*/ 72862 h 193588"/>
                            <a:gd name="connsiteX54" fmla="*/ 177658 w 192937"/>
                            <a:gd name="connsiteY54" fmla="*/ 79570 h 193588"/>
                            <a:gd name="connsiteX55" fmla="*/ 164508 w 192937"/>
                            <a:gd name="connsiteY55" fmla="*/ 75911 h 193588"/>
                            <a:gd name="connsiteX56" fmla="*/ 58447 w 192937"/>
                            <a:gd name="connsiteY56" fmla="*/ 43291 h 193588"/>
                            <a:gd name="connsiteX57" fmla="*/ 56160 w 192937"/>
                            <a:gd name="connsiteY57" fmla="*/ 44815 h 193588"/>
                            <a:gd name="connsiteX58" fmla="*/ 43009 w 192937"/>
                            <a:gd name="connsiteY58" fmla="*/ 41157 h 193588"/>
                            <a:gd name="connsiteX59" fmla="*/ 37006 w 192937"/>
                            <a:gd name="connsiteY59" fmla="*/ 30182 h 193588"/>
                            <a:gd name="connsiteX60" fmla="*/ 40436 w 192937"/>
                            <a:gd name="connsiteY60" fmla="*/ 16158 h 193588"/>
                            <a:gd name="connsiteX61" fmla="*/ 42723 w 192937"/>
                            <a:gd name="connsiteY61" fmla="*/ 14633 h 193588"/>
                            <a:gd name="connsiteX62" fmla="*/ 55874 w 192937"/>
                            <a:gd name="connsiteY62" fmla="*/ 18292 h 193588"/>
                            <a:gd name="connsiteX63" fmla="*/ 61877 w 192937"/>
                            <a:gd name="connsiteY63" fmla="*/ 29267 h 193588"/>
                            <a:gd name="connsiteX64" fmla="*/ 58447 w 192937"/>
                            <a:gd name="connsiteY64" fmla="*/ 43291 h 193588"/>
                            <a:gd name="connsiteX65" fmla="*/ 29287 w 192937"/>
                            <a:gd name="connsiteY65" fmla="*/ 73167 h 193588"/>
                            <a:gd name="connsiteX66" fmla="*/ 27857 w 192937"/>
                            <a:gd name="connsiteY66" fmla="*/ 75606 h 193588"/>
                            <a:gd name="connsiteX67" fmla="*/ 14707 w 192937"/>
                            <a:gd name="connsiteY67" fmla="*/ 79265 h 193588"/>
                            <a:gd name="connsiteX68" fmla="*/ 4701 w 192937"/>
                            <a:gd name="connsiteY68" fmla="*/ 73167 h 193588"/>
                            <a:gd name="connsiteX69" fmla="*/ 1271 w 192937"/>
                            <a:gd name="connsiteY69" fmla="*/ 59144 h 193588"/>
                            <a:gd name="connsiteX70" fmla="*/ 2700 w 192937"/>
                            <a:gd name="connsiteY70" fmla="*/ 56705 h 193588"/>
                            <a:gd name="connsiteX71" fmla="*/ 15850 w 192937"/>
                            <a:gd name="connsiteY71" fmla="*/ 53046 h 193588"/>
                            <a:gd name="connsiteX72" fmla="*/ 26142 w 192937"/>
                            <a:gd name="connsiteY72" fmla="*/ 59448 h 193588"/>
                            <a:gd name="connsiteX73" fmla="*/ 29287 w 192937"/>
                            <a:gd name="connsiteY73" fmla="*/ 73167 h 19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92937" h="193588">
                              <a:moveTo>
                                <a:pt x="96469" y="46339"/>
                              </a:moveTo>
                              <a:cubicBezTo>
                                <a:pt x="60162" y="46339"/>
                                <a:pt x="31002" y="77740"/>
                                <a:pt x="31002" y="116153"/>
                              </a:cubicBezTo>
                              <a:cubicBezTo>
                                <a:pt x="31002" y="142371"/>
                                <a:pt x="44438" y="165236"/>
                                <a:pt x="64450" y="177126"/>
                              </a:cubicBezTo>
                              <a:lnTo>
                                <a:pt x="64450" y="180479"/>
                              </a:lnTo>
                              <a:cubicBezTo>
                                <a:pt x="64450" y="187796"/>
                                <a:pt x="69882" y="193589"/>
                                <a:pt x="76743" y="193589"/>
                              </a:cubicBezTo>
                              <a:lnTo>
                                <a:pt x="115908" y="193589"/>
                              </a:lnTo>
                              <a:cubicBezTo>
                                <a:pt x="122769" y="193589"/>
                                <a:pt x="128201" y="187796"/>
                                <a:pt x="128201" y="180479"/>
                              </a:cubicBezTo>
                              <a:lnTo>
                                <a:pt x="128201" y="177431"/>
                              </a:lnTo>
                              <a:cubicBezTo>
                                <a:pt x="148213" y="165541"/>
                                <a:pt x="161935" y="142676"/>
                                <a:pt x="161935" y="116458"/>
                              </a:cubicBezTo>
                              <a:cubicBezTo>
                                <a:pt x="161935" y="77740"/>
                                <a:pt x="132489" y="46339"/>
                                <a:pt x="96469" y="46339"/>
                              </a:cubicBezTo>
                              <a:close/>
                              <a:moveTo>
                                <a:pt x="130488" y="91154"/>
                              </a:moveTo>
                              <a:cubicBezTo>
                                <a:pt x="129345" y="92069"/>
                                <a:pt x="128201" y="92374"/>
                                <a:pt x="126772" y="92374"/>
                              </a:cubicBezTo>
                              <a:cubicBezTo>
                                <a:pt x="125057" y="92374"/>
                                <a:pt x="123341" y="91459"/>
                                <a:pt x="122198" y="90240"/>
                              </a:cubicBezTo>
                              <a:cubicBezTo>
                                <a:pt x="116480" y="83533"/>
                                <a:pt x="109047" y="79265"/>
                                <a:pt x="100471" y="78350"/>
                              </a:cubicBezTo>
                              <a:cubicBezTo>
                                <a:pt x="97326" y="77740"/>
                                <a:pt x="95039" y="74997"/>
                                <a:pt x="95039" y="71643"/>
                              </a:cubicBezTo>
                              <a:cubicBezTo>
                                <a:pt x="95039" y="67985"/>
                                <a:pt x="97898" y="64936"/>
                                <a:pt x="101329" y="64936"/>
                              </a:cubicBezTo>
                              <a:lnTo>
                                <a:pt x="102186" y="64936"/>
                              </a:lnTo>
                              <a:cubicBezTo>
                                <a:pt x="113621" y="66460"/>
                                <a:pt x="124199" y="72253"/>
                                <a:pt x="131918" y="81399"/>
                              </a:cubicBezTo>
                              <a:cubicBezTo>
                                <a:pt x="133061" y="82923"/>
                                <a:pt x="133633" y="84752"/>
                                <a:pt x="133633" y="86581"/>
                              </a:cubicBezTo>
                              <a:cubicBezTo>
                                <a:pt x="133061" y="88411"/>
                                <a:pt x="131918" y="90240"/>
                                <a:pt x="130488" y="91154"/>
                              </a:cubicBezTo>
                              <a:close/>
                              <a:moveTo>
                                <a:pt x="145354" y="101215"/>
                              </a:moveTo>
                              <a:cubicBezTo>
                                <a:pt x="146212" y="103349"/>
                                <a:pt x="146783" y="105483"/>
                                <a:pt x="147355" y="107617"/>
                              </a:cubicBezTo>
                              <a:cubicBezTo>
                                <a:pt x="148213" y="111275"/>
                                <a:pt x="146212" y="114934"/>
                                <a:pt x="142781" y="115848"/>
                              </a:cubicBezTo>
                              <a:cubicBezTo>
                                <a:pt x="142209" y="116153"/>
                                <a:pt x="141638" y="116153"/>
                                <a:pt x="141066" y="116153"/>
                              </a:cubicBezTo>
                              <a:cubicBezTo>
                                <a:pt x="138207" y="116153"/>
                                <a:pt x="135634" y="114019"/>
                                <a:pt x="134776" y="110970"/>
                              </a:cubicBezTo>
                              <a:cubicBezTo>
                                <a:pt x="134491" y="109446"/>
                                <a:pt x="133919" y="107617"/>
                                <a:pt x="133347" y="106398"/>
                              </a:cubicBezTo>
                              <a:cubicBezTo>
                                <a:pt x="132204" y="103349"/>
                                <a:pt x="133347" y="99995"/>
                                <a:pt x="135634" y="98471"/>
                              </a:cubicBezTo>
                              <a:cubicBezTo>
                                <a:pt x="136778" y="97556"/>
                                <a:pt x="137921" y="97252"/>
                                <a:pt x="139351" y="97252"/>
                              </a:cubicBezTo>
                              <a:cubicBezTo>
                                <a:pt x="141923" y="96947"/>
                                <a:pt x="144210" y="98776"/>
                                <a:pt x="145354" y="101215"/>
                              </a:cubicBezTo>
                              <a:close/>
                              <a:moveTo>
                                <a:pt x="97612" y="32925"/>
                              </a:moveTo>
                              <a:lnTo>
                                <a:pt x="95039" y="32925"/>
                              </a:lnTo>
                              <a:cubicBezTo>
                                <a:pt x="89893" y="32925"/>
                                <a:pt x="85605" y="28352"/>
                                <a:pt x="85605" y="22865"/>
                              </a:cubicBezTo>
                              <a:lnTo>
                                <a:pt x="85605" y="10061"/>
                              </a:lnTo>
                              <a:cubicBezTo>
                                <a:pt x="85605" y="4573"/>
                                <a:pt x="89893" y="0"/>
                                <a:pt x="95039" y="0"/>
                              </a:cubicBezTo>
                              <a:lnTo>
                                <a:pt x="97612" y="0"/>
                              </a:lnTo>
                              <a:cubicBezTo>
                                <a:pt x="102758" y="0"/>
                                <a:pt x="107046" y="4573"/>
                                <a:pt x="107046" y="10061"/>
                              </a:cubicBezTo>
                              <a:lnTo>
                                <a:pt x="107046" y="22865"/>
                              </a:lnTo>
                              <a:cubicBezTo>
                                <a:pt x="107332" y="28352"/>
                                <a:pt x="103044" y="32925"/>
                                <a:pt x="97612" y="32925"/>
                              </a:cubicBezTo>
                              <a:close/>
                              <a:moveTo>
                                <a:pt x="136492" y="44815"/>
                              </a:moveTo>
                              <a:lnTo>
                                <a:pt x="134205" y="43291"/>
                              </a:lnTo>
                              <a:cubicBezTo>
                                <a:pt x="129631" y="40547"/>
                                <a:pt x="128201" y="34145"/>
                                <a:pt x="130774" y="29267"/>
                              </a:cubicBezTo>
                              <a:lnTo>
                                <a:pt x="136778" y="18292"/>
                              </a:lnTo>
                              <a:cubicBezTo>
                                <a:pt x="139351" y="13414"/>
                                <a:pt x="145354" y="11890"/>
                                <a:pt x="149928" y="14633"/>
                              </a:cubicBezTo>
                              <a:lnTo>
                                <a:pt x="152215" y="16158"/>
                              </a:lnTo>
                              <a:cubicBezTo>
                                <a:pt x="156789" y="18902"/>
                                <a:pt x="158219" y="25304"/>
                                <a:pt x="155646" y="30182"/>
                              </a:cubicBezTo>
                              <a:lnTo>
                                <a:pt x="149642" y="41157"/>
                              </a:lnTo>
                              <a:cubicBezTo>
                                <a:pt x="147069" y="46034"/>
                                <a:pt x="141066" y="47559"/>
                                <a:pt x="136492" y="44815"/>
                              </a:cubicBezTo>
                              <a:close/>
                              <a:moveTo>
                                <a:pt x="164508" y="75911"/>
                              </a:moveTo>
                              <a:lnTo>
                                <a:pt x="163364" y="73167"/>
                              </a:lnTo>
                              <a:cubicBezTo>
                                <a:pt x="160792" y="68290"/>
                                <a:pt x="162221" y="62192"/>
                                <a:pt x="166795" y="59144"/>
                              </a:cubicBezTo>
                              <a:lnTo>
                                <a:pt x="177087" y="52741"/>
                              </a:lnTo>
                              <a:cubicBezTo>
                                <a:pt x="181661" y="49998"/>
                                <a:pt x="187378" y="51522"/>
                                <a:pt x="190237" y="56400"/>
                              </a:cubicBezTo>
                              <a:lnTo>
                                <a:pt x="191667" y="58839"/>
                              </a:lnTo>
                              <a:cubicBezTo>
                                <a:pt x="194239" y="63717"/>
                                <a:pt x="192810" y="69814"/>
                                <a:pt x="188236" y="72862"/>
                              </a:cubicBezTo>
                              <a:lnTo>
                                <a:pt x="177658" y="79570"/>
                              </a:lnTo>
                              <a:cubicBezTo>
                                <a:pt x="173084" y="82313"/>
                                <a:pt x="167367" y="80484"/>
                                <a:pt x="164508" y="75911"/>
                              </a:cubicBezTo>
                              <a:close/>
                              <a:moveTo>
                                <a:pt x="58447" y="43291"/>
                              </a:moveTo>
                              <a:lnTo>
                                <a:pt x="56160" y="44815"/>
                              </a:lnTo>
                              <a:cubicBezTo>
                                <a:pt x="51585" y="47559"/>
                                <a:pt x="45868" y="46034"/>
                                <a:pt x="43009" y="41157"/>
                              </a:cubicBezTo>
                              <a:lnTo>
                                <a:pt x="37006" y="30182"/>
                              </a:lnTo>
                              <a:cubicBezTo>
                                <a:pt x="34433" y="25304"/>
                                <a:pt x="35862" y="19206"/>
                                <a:pt x="40436" y="16158"/>
                              </a:cubicBezTo>
                              <a:lnTo>
                                <a:pt x="42723" y="14633"/>
                              </a:lnTo>
                              <a:cubicBezTo>
                                <a:pt x="47297" y="11890"/>
                                <a:pt x="53015" y="13414"/>
                                <a:pt x="55874" y="18292"/>
                              </a:cubicBezTo>
                              <a:lnTo>
                                <a:pt x="61877" y="29267"/>
                              </a:lnTo>
                              <a:cubicBezTo>
                                <a:pt x="64450" y="34145"/>
                                <a:pt x="63021" y="40547"/>
                                <a:pt x="58447" y="43291"/>
                              </a:cubicBezTo>
                              <a:close/>
                              <a:moveTo>
                                <a:pt x="29287" y="73167"/>
                              </a:moveTo>
                              <a:lnTo>
                                <a:pt x="27857" y="75606"/>
                              </a:lnTo>
                              <a:cubicBezTo>
                                <a:pt x="25284" y="80484"/>
                                <a:pt x="19281" y="82008"/>
                                <a:pt x="14707" y="79265"/>
                              </a:cubicBezTo>
                              <a:lnTo>
                                <a:pt x="4701" y="73167"/>
                              </a:lnTo>
                              <a:cubicBezTo>
                                <a:pt x="127" y="70424"/>
                                <a:pt x="-1302" y="64021"/>
                                <a:pt x="1271" y="59144"/>
                              </a:cubicBezTo>
                              <a:lnTo>
                                <a:pt x="2700" y="56705"/>
                              </a:lnTo>
                              <a:cubicBezTo>
                                <a:pt x="5273" y="51827"/>
                                <a:pt x="11276" y="50303"/>
                                <a:pt x="15850" y="53046"/>
                              </a:cubicBezTo>
                              <a:lnTo>
                                <a:pt x="26142" y="59448"/>
                              </a:lnTo>
                              <a:cubicBezTo>
                                <a:pt x="30430" y="62192"/>
                                <a:pt x="32146" y="68290"/>
                                <a:pt x="29287" y="73167"/>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95" name="小红书平北职场PPT3-19"/>
                      <p:cNvSpPr/>
                      <p:nvPr/>
                    </p:nvSpPr>
                    <p:spPr>
                      <a:xfrm>
                        <a:off x="8139044" y="4587302"/>
                        <a:ext cx="230034" cy="256952"/>
                      </a:xfrm>
                      <a:custGeom>
                        <a:avLst/>
                        <a:gdLst>
                          <a:gd name="connsiteX0" fmla="*/ 136661 w 245711"/>
                          <a:gd name="connsiteY0" fmla="*/ 2146 h 274465"/>
                          <a:gd name="connsiteX1" fmla="*/ 235146 w 245711"/>
                          <a:gd name="connsiteY1" fmla="*/ 33505 h 274465"/>
                          <a:gd name="connsiteX2" fmla="*/ 245711 w 245711"/>
                          <a:gd name="connsiteY2" fmla="*/ 47958 h 274465"/>
                          <a:gd name="connsiteX3" fmla="*/ 245711 w 245711"/>
                          <a:gd name="connsiteY3" fmla="*/ 179721 h 274465"/>
                          <a:gd name="connsiteX4" fmla="*/ 192712 w 245711"/>
                          <a:gd name="connsiteY4" fmla="*/ 235722 h 274465"/>
                          <a:gd name="connsiteX5" fmla="*/ 122856 w 245711"/>
                          <a:gd name="connsiteY5" fmla="*/ 274466 h 274465"/>
                          <a:gd name="connsiteX6" fmla="*/ 49036 w 245711"/>
                          <a:gd name="connsiteY6" fmla="*/ 235099 h 274465"/>
                          <a:gd name="connsiteX7" fmla="*/ 0 w 245711"/>
                          <a:gd name="connsiteY7" fmla="*/ 179721 h 274465"/>
                          <a:gd name="connsiteX8" fmla="*/ 0 w 245711"/>
                          <a:gd name="connsiteY8" fmla="*/ 47956 h 274465"/>
                          <a:gd name="connsiteX9" fmla="*/ 10566 w 245711"/>
                          <a:gd name="connsiteY9" fmla="*/ 33503 h 274465"/>
                          <a:gd name="connsiteX10" fmla="*/ 109050 w 245711"/>
                          <a:gd name="connsiteY10" fmla="*/ 2145 h 274465"/>
                          <a:gd name="connsiteX11" fmla="*/ 136661 w 245711"/>
                          <a:gd name="connsiteY11" fmla="*/ 2145 h 274465"/>
                          <a:gd name="connsiteX12" fmla="*/ 115026 w 245711"/>
                          <a:gd name="connsiteY12" fmla="*/ 71485 h 274465"/>
                          <a:gd name="connsiteX13" fmla="*/ 66140 w 245711"/>
                          <a:gd name="connsiteY13" fmla="*/ 120620 h 274465"/>
                          <a:gd name="connsiteX14" fmla="*/ 115026 w 245711"/>
                          <a:gd name="connsiteY14" fmla="*/ 169756 h 274465"/>
                          <a:gd name="connsiteX15" fmla="*/ 140265 w 245711"/>
                          <a:gd name="connsiteY15" fmla="*/ 162725 h 274465"/>
                          <a:gd name="connsiteX16" fmla="*/ 141768 w 245711"/>
                          <a:gd name="connsiteY16" fmla="*/ 161765 h 274465"/>
                          <a:gd name="connsiteX17" fmla="*/ 164695 w 245711"/>
                          <a:gd name="connsiteY17" fmla="*/ 187015 h 274465"/>
                          <a:gd name="connsiteX18" fmla="*/ 169811 w 245711"/>
                          <a:gd name="connsiteY18" fmla="*/ 189283 h 274465"/>
                          <a:gd name="connsiteX19" fmla="*/ 176752 w 245711"/>
                          <a:gd name="connsiteY19" fmla="*/ 182270 h 274465"/>
                          <a:gd name="connsiteX20" fmla="*/ 174928 w 245711"/>
                          <a:gd name="connsiteY20" fmla="*/ 177602 h 274465"/>
                          <a:gd name="connsiteX21" fmla="*/ 152177 w 245711"/>
                          <a:gd name="connsiteY21" fmla="*/ 152555 h 274465"/>
                          <a:gd name="connsiteX22" fmla="*/ 157380 w 245711"/>
                          <a:gd name="connsiteY22" fmla="*/ 145144 h 274465"/>
                          <a:gd name="connsiteX23" fmla="*/ 163914 w 245711"/>
                          <a:gd name="connsiteY23" fmla="*/ 120620 h 274465"/>
                          <a:gd name="connsiteX24" fmla="*/ 115026 w 245711"/>
                          <a:gd name="connsiteY24" fmla="*/ 71485 h 274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5711" h="274465">
                            <a:moveTo>
                              <a:pt x="136661" y="2146"/>
                            </a:moveTo>
                            <a:lnTo>
                              <a:pt x="235146" y="33505"/>
                            </a:lnTo>
                            <a:cubicBezTo>
                              <a:pt x="241438" y="35509"/>
                              <a:pt x="245712" y="41354"/>
                              <a:pt x="245711" y="47958"/>
                            </a:cubicBezTo>
                            <a:lnTo>
                              <a:pt x="245711" y="179721"/>
                            </a:lnTo>
                            <a:cubicBezTo>
                              <a:pt x="232613" y="199909"/>
                              <a:pt x="214946" y="218576"/>
                              <a:pt x="192712" y="235722"/>
                            </a:cubicBezTo>
                            <a:cubicBezTo>
                              <a:pt x="170477" y="252870"/>
                              <a:pt x="147192" y="265784"/>
                              <a:pt x="122856" y="274466"/>
                            </a:cubicBezTo>
                            <a:cubicBezTo>
                              <a:pt x="88069" y="259345"/>
                              <a:pt x="63463" y="246224"/>
                              <a:pt x="49036" y="235099"/>
                            </a:cubicBezTo>
                            <a:cubicBezTo>
                              <a:pt x="34612" y="223974"/>
                              <a:pt x="18266" y="205515"/>
                              <a:pt x="0" y="179721"/>
                            </a:cubicBezTo>
                            <a:lnTo>
                              <a:pt x="0" y="47956"/>
                            </a:lnTo>
                            <a:cubicBezTo>
                              <a:pt x="0" y="41352"/>
                              <a:pt x="4273" y="35507"/>
                              <a:pt x="10566" y="33503"/>
                            </a:cubicBezTo>
                            <a:lnTo>
                              <a:pt x="109050" y="2145"/>
                            </a:lnTo>
                            <a:cubicBezTo>
                              <a:pt x="118032" y="-715"/>
                              <a:pt x="127680" y="-715"/>
                              <a:pt x="136661" y="2145"/>
                            </a:cubicBezTo>
                            <a:close/>
                            <a:moveTo>
                              <a:pt x="115026" y="71485"/>
                            </a:moveTo>
                            <a:cubicBezTo>
                              <a:pt x="88083" y="71485"/>
                              <a:pt x="66140" y="93539"/>
                              <a:pt x="66140" y="120620"/>
                            </a:cubicBezTo>
                            <a:cubicBezTo>
                              <a:pt x="66140" y="147701"/>
                              <a:pt x="88083" y="169756"/>
                              <a:pt x="115026" y="169756"/>
                            </a:cubicBezTo>
                            <a:cubicBezTo>
                              <a:pt x="123931" y="169756"/>
                              <a:pt x="132661" y="167314"/>
                              <a:pt x="140265" y="162725"/>
                            </a:cubicBezTo>
                            <a:cubicBezTo>
                              <a:pt x="140785" y="162405"/>
                              <a:pt x="141276" y="162085"/>
                              <a:pt x="141768" y="161765"/>
                            </a:cubicBezTo>
                            <a:lnTo>
                              <a:pt x="164695" y="187015"/>
                            </a:lnTo>
                            <a:cubicBezTo>
                              <a:pt x="166000" y="188465"/>
                              <a:pt x="167861" y="189289"/>
                              <a:pt x="169811" y="189283"/>
                            </a:cubicBezTo>
                            <a:cubicBezTo>
                              <a:pt x="173664" y="189263"/>
                              <a:pt x="176772" y="186123"/>
                              <a:pt x="176752" y="182270"/>
                            </a:cubicBezTo>
                            <a:cubicBezTo>
                              <a:pt x="176743" y="180542"/>
                              <a:pt x="176093" y="178879"/>
                              <a:pt x="174928" y="177602"/>
                            </a:cubicBezTo>
                            <a:lnTo>
                              <a:pt x="152177" y="152555"/>
                            </a:lnTo>
                            <a:cubicBezTo>
                              <a:pt x="154144" y="150257"/>
                              <a:pt x="155886" y="147775"/>
                              <a:pt x="157380" y="145144"/>
                            </a:cubicBezTo>
                            <a:cubicBezTo>
                              <a:pt x="161658" y="137735"/>
                              <a:pt x="163914" y="129250"/>
                              <a:pt x="163914" y="120620"/>
                            </a:cubicBezTo>
                            <a:cubicBezTo>
                              <a:pt x="163914" y="93539"/>
                              <a:pt x="141971" y="71485"/>
                              <a:pt x="115026" y="71485"/>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grpSp>
            </p:grpSp>
            <p:sp>
              <p:nvSpPr>
                <p:cNvPr id="86" name="小红书平北职场PPT3-20"/>
                <p:cNvSpPr txBox="1"/>
                <p:nvPr/>
              </p:nvSpPr>
              <p:spPr>
                <a:xfrm>
                  <a:off x="8052331" y="1052519"/>
                  <a:ext cx="3262432" cy="400110"/>
                </a:xfrm>
                <a:prstGeom prst="rect">
                  <a:avLst/>
                </a:prstGeom>
                <a:noFill/>
              </p:spPr>
              <p:txBody>
                <a:bodyPr wrap="none">
                  <a:spAutoFit/>
                </a:bodyPr>
                <a:lstStyle>
                  <a:defPPr>
                    <a:defRPr lang="zh-CN"/>
                  </a:defPPr>
                  <a:lvl1pPr>
                    <a:defRPr sz="1600" b="1">
                      <a:gradFill>
                        <a:gsLst>
                          <a:gs pos="0">
                            <a:schemeClr val="accent1"/>
                          </a:gs>
                          <a:gs pos="95402">
                            <a:schemeClr val="accent3"/>
                          </a:gs>
                          <a:gs pos="59000">
                            <a:schemeClr val="accent2"/>
                          </a:gs>
                        </a:gsLst>
                        <a:lin ang="2700000" scaled="0"/>
                      </a:gradFill>
                    </a:defRPr>
                  </a:lvl1pPr>
                </a:lstStyle>
                <a:p>
                  <a:r>
                    <a:rPr lang="zh-CN" altLang="en-US" sz="2000" b="0" dirty="0">
                      <a:solidFill>
                        <a:schemeClr val="bg1"/>
                      </a:solidFill>
                      <a:latin typeface="+mj-ea"/>
                      <a:ea typeface="+mj-ea"/>
                      <a:cs typeface="思源黑体 CN Normal" panose="020B0400000000000000" pitchFamily="34" charset="-122"/>
                    </a:rPr>
                    <a:t>未来客户数据价值驱动模式</a:t>
                  </a:r>
                  <a:endParaRPr lang="zh-CN" altLang="en-US" sz="2000" b="0" dirty="0">
                    <a:solidFill>
                      <a:schemeClr val="bg1"/>
                    </a:solidFill>
                    <a:latin typeface="+mj-ea"/>
                    <a:ea typeface="+mj-ea"/>
                    <a:cs typeface="思源黑体 CN Normal" panose="020B0400000000000000" pitchFamily="34" charset="-122"/>
                  </a:endParaRPr>
                </a:p>
              </p:txBody>
            </p:sp>
          </p:grpSp>
          <p:sp>
            <p:nvSpPr>
              <p:cNvPr id="84" name="小红书平北职场PPT3-21"/>
              <p:cNvSpPr>
                <a:spLocks noChangeArrowheads="1"/>
              </p:cNvSpPr>
              <p:nvPr/>
            </p:nvSpPr>
            <p:spPr bwMode="auto">
              <a:xfrm>
                <a:off x="7821992" y="1366733"/>
                <a:ext cx="3702937" cy="451341"/>
              </a:xfrm>
              <a:prstGeom prst="rect">
                <a:avLst/>
              </a:prstGeom>
              <a:noFill/>
              <a:ln>
                <a:noFill/>
              </a:ln>
              <a:effectLst/>
            </p:spPr>
            <p:txBody>
              <a:bodyPr vert="horz" wrap="square" lIns="0" tIns="101568" rIns="0" bIns="101568"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实时</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lang="zh-CN" altLang="zh-CN" sz="1600" dirty="0">
                    <a:solidFill>
                      <a:schemeClr val="bg1"/>
                    </a:solidFill>
                    <a:latin typeface="思源黑体 CN Normal" panose="020B0400000000000000" pitchFamily="34" charset="-122"/>
                    <a:cs typeface="思源黑体 CN Normal" panose="020B0400000000000000" pitchFamily="34" charset="-122"/>
                  </a:rPr>
                  <a:t>|</a:t>
                </a:r>
                <a:r>
                  <a:rPr lang="en-US" altLang="zh-CN" sz="1600" dirty="0">
                    <a:solidFill>
                      <a:schemeClr val="bg1"/>
                    </a:solidFill>
                    <a:latin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融合</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主动</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精准</a:t>
                </a:r>
                <a:endParaRPr kumimoji="0" lang="zh-CN" altLang="zh-CN" sz="2400" b="0" i="0" u="none" strike="noStrike" cap="none" normalizeH="0" baseline="0" dirty="0">
                  <a:ln>
                    <a:noFill/>
                  </a:ln>
                  <a:solidFill>
                    <a:schemeClr val="bg1"/>
                  </a:solidFill>
                  <a:effectLst/>
                  <a:latin typeface="思源黑体 CN Normal" panose="020B0400000000000000" pitchFamily="34" charset="-122"/>
                  <a:cs typeface="思源黑体 CN Normal" panose="020B0400000000000000" pitchFamily="34" charset="-122"/>
                </a:endParaRPr>
              </a:p>
            </p:txBody>
          </p:sp>
        </p:grpSp>
        <p:grpSp>
          <p:nvGrpSpPr>
            <p:cNvPr id="50" name="组合 49"/>
            <p:cNvGrpSpPr/>
            <p:nvPr/>
          </p:nvGrpSpPr>
          <p:grpSpPr>
            <a:xfrm>
              <a:off x="403096" y="982514"/>
              <a:ext cx="4075906" cy="4565359"/>
              <a:chOff x="480586" y="982514"/>
              <a:chExt cx="4075906" cy="4565359"/>
            </a:xfrm>
            <a:scene3d>
              <a:camera prst="perspectiveRight">
                <a:rot lat="0" lon="21000000" rev="0"/>
              </a:camera>
              <a:lightRig rig="contrasting" dir="t"/>
            </a:scene3d>
          </p:grpSpPr>
          <p:grpSp>
            <p:nvGrpSpPr>
              <p:cNvPr id="51" name="组合 50"/>
              <p:cNvGrpSpPr/>
              <p:nvPr/>
            </p:nvGrpSpPr>
            <p:grpSpPr>
              <a:xfrm>
                <a:off x="480586" y="982514"/>
                <a:ext cx="4075906" cy="4565359"/>
                <a:chOff x="480586" y="982514"/>
                <a:chExt cx="4075906" cy="4565359"/>
              </a:xfrm>
            </p:grpSpPr>
            <p:grpSp>
              <p:nvGrpSpPr>
                <p:cNvPr id="53" name="组合 52"/>
                <p:cNvGrpSpPr/>
                <p:nvPr/>
              </p:nvGrpSpPr>
              <p:grpSpPr>
                <a:xfrm>
                  <a:off x="480586" y="982514"/>
                  <a:ext cx="4075906" cy="4565359"/>
                  <a:chOff x="480586" y="672547"/>
                  <a:chExt cx="4075906" cy="4565359"/>
                </a:xfrm>
              </p:grpSpPr>
              <p:grpSp>
                <p:nvGrpSpPr>
                  <p:cNvPr id="55" name="组合 54"/>
                  <p:cNvGrpSpPr/>
                  <p:nvPr/>
                </p:nvGrpSpPr>
                <p:grpSpPr>
                  <a:xfrm>
                    <a:off x="480586" y="672547"/>
                    <a:ext cx="4075906" cy="4565359"/>
                    <a:chOff x="480586" y="672547"/>
                    <a:chExt cx="4075906" cy="4565359"/>
                  </a:xfrm>
                </p:grpSpPr>
                <p:sp>
                  <p:nvSpPr>
                    <p:cNvPr id="81" name="小红书平北职场PPT3-22"/>
                    <p:cNvSpPr/>
                    <p:nvPr/>
                  </p:nvSpPr>
                  <p:spPr>
                    <a:xfrm>
                      <a:off x="480586" y="672547"/>
                      <a:ext cx="4075906" cy="4565359"/>
                    </a:xfrm>
                    <a:prstGeom prst="roundRect">
                      <a:avLst>
                        <a:gd name="adj" fmla="val 3996"/>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82" name="小红书平北职场PPT3-23"/>
                    <p:cNvSpPr/>
                    <p:nvPr/>
                  </p:nvSpPr>
                  <p:spPr>
                    <a:xfrm>
                      <a:off x="570049" y="1535146"/>
                      <a:ext cx="3896979" cy="3612626"/>
                    </a:xfrm>
                    <a:prstGeom prst="roundRect">
                      <a:avLst>
                        <a:gd name="adj" fmla="val 3156"/>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pitchFamily="34" charset="-122"/>
                      </a:endParaRPr>
                    </a:p>
                  </p:txBody>
                </p:sp>
              </p:grpSp>
              <p:grpSp>
                <p:nvGrpSpPr>
                  <p:cNvPr id="56" name="组合 55"/>
                  <p:cNvGrpSpPr/>
                  <p:nvPr/>
                </p:nvGrpSpPr>
                <p:grpSpPr>
                  <a:xfrm>
                    <a:off x="817214" y="1596533"/>
                    <a:ext cx="3402649" cy="3454642"/>
                    <a:chOff x="8008817" y="1596533"/>
                    <a:chExt cx="3402649" cy="3454642"/>
                  </a:xfrm>
                </p:grpSpPr>
                <p:grpSp>
                  <p:nvGrpSpPr>
                    <p:cNvPr id="57" name="组合 56"/>
                    <p:cNvGrpSpPr/>
                    <p:nvPr/>
                  </p:nvGrpSpPr>
                  <p:grpSpPr>
                    <a:xfrm>
                      <a:off x="8008817" y="2439826"/>
                      <a:ext cx="3280854" cy="1773289"/>
                      <a:chOff x="8127547" y="2423425"/>
                      <a:chExt cx="2862327" cy="1773289"/>
                    </a:xfrm>
                  </p:grpSpPr>
                  <p:cxnSp>
                    <p:nvCxnSpPr>
                      <p:cNvPr id="78" name="小红书平北职场PPT3-24"/>
                      <p:cNvCxnSpPr/>
                      <p:nvPr/>
                    </p:nvCxnSpPr>
                    <p:spPr>
                      <a:xfrm>
                        <a:off x="8127547" y="2423425"/>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小红书平北职场PPT3-25"/>
                      <p:cNvCxnSpPr/>
                      <p:nvPr/>
                    </p:nvCxnSpPr>
                    <p:spPr>
                      <a:xfrm>
                        <a:off x="8127547" y="3296486"/>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小红书平北职场PPT3-26"/>
                      <p:cNvCxnSpPr/>
                      <p:nvPr/>
                    </p:nvCxnSpPr>
                    <p:spPr>
                      <a:xfrm>
                        <a:off x="8127547" y="4196714"/>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8623494" y="1596533"/>
                      <a:ext cx="2787972" cy="3454642"/>
                      <a:chOff x="8027460" y="1580132"/>
                      <a:chExt cx="3001485" cy="3454642"/>
                    </a:xfrm>
                  </p:grpSpPr>
                  <p:sp>
                    <p:nvSpPr>
                      <p:cNvPr id="74" name="小红书平北职场PPT3-27"/>
                      <p:cNvSpPr txBox="1"/>
                      <p:nvPr/>
                    </p:nvSpPr>
                    <p:spPr>
                      <a:xfrm>
                        <a:off x="8027460" y="1580132"/>
                        <a:ext cx="3001485" cy="798680"/>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数据分散难整合</a:t>
                        </a:r>
                        <a:endParaRPr lang="en-US" altLang="zh-CN"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客户信息碎片化存在于各部门，形成数据孤岛，难以统一利用</a:t>
                        </a:r>
                        <a:endParaRPr lang="zh-CN" altLang="en-US" sz="1200" dirty="0">
                          <a:latin typeface="思源黑体 CN Normal" panose="020B0400000000000000" pitchFamily="34" charset="-122"/>
                          <a:cs typeface="思源黑体 CN Normal" panose="020B0400000000000000" pitchFamily="34" charset="-122"/>
                        </a:endParaRPr>
                      </a:p>
                    </p:txBody>
                  </p:sp>
                  <p:sp>
                    <p:nvSpPr>
                      <p:cNvPr id="75" name="小红书平北职场PPT3-28"/>
                      <p:cNvSpPr txBox="1"/>
                      <p:nvPr/>
                    </p:nvSpPr>
                    <p:spPr>
                      <a:xfrm>
                        <a:off x="8027460" y="2463388"/>
                        <a:ext cx="3001485" cy="794961"/>
                      </a:xfrm>
                      <a:prstGeom prst="rect">
                        <a:avLst/>
                      </a:prstGeom>
                      <a:noFill/>
                    </p:spPr>
                    <p:txBody>
                      <a:bodyPr wrap="square">
                        <a:spAutoFit/>
                      </a:bodyPr>
                      <a:lstStyle/>
                      <a:p>
                        <a:pPr marR="0" lvl="0" indent="0" eaLnBrk="0" fontAlgn="base" hangingPunct="0">
                          <a:lnSpc>
                            <a:spcPct val="130000"/>
                          </a:lnSpc>
                          <a:spcBef>
                            <a:spcPct val="0"/>
                          </a:spcBef>
                          <a:spcAft>
                            <a:spcPct val="0"/>
                          </a:spcAft>
                          <a:buClrTx/>
                          <a:buSzTx/>
                          <a:buFontTx/>
                          <a:buNone/>
                          <a:defRPr/>
                        </a:pPr>
                        <a:r>
                          <a:rPr lang="zh-CN" altLang="en-US"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分析周期长且滞后</a:t>
                        </a:r>
                        <a:endParaRPr lang="en-US" altLang="zh-CN"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a:p>
                        <a:pPr marR="0" lvl="0" indent="0" eaLnBrk="0" fontAlgn="base" hangingPunct="0">
                          <a:lnSpc>
                            <a:spcPct val="130000"/>
                          </a:lnSpc>
                          <a:spcBef>
                            <a:spcPct val="0"/>
                          </a:spcBef>
                          <a:spcAft>
                            <a:spcPct val="0"/>
                          </a:spcAft>
                          <a:buClrTx/>
                          <a:buSzTx/>
                          <a:buFontTx/>
                          <a:buNone/>
                          <a:defRPr/>
                        </a:pPr>
                        <a:r>
                          <a:rPr lang="zh-CN" altLang="en-US" sz="1200" dirty="0">
                            <a:latin typeface="思源黑体 CN Normal" panose="020B0400000000000000" pitchFamily="34" charset="-122"/>
                            <a:cs typeface="思源黑体 CN Normal" panose="020B0400000000000000" pitchFamily="34" charset="-122"/>
                          </a:rPr>
                          <a:t>依赖离线批量处理，分析结果产出缓慢，无法支持实时决策</a:t>
                        </a:r>
                        <a:endParaRPr lang="zh-CN" altLang="zh-CN" sz="1200" dirty="0">
                          <a:latin typeface="思源黑体 CN Normal" panose="020B0400000000000000" pitchFamily="34" charset="-122"/>
                          <a:cs typeface="思源黑体 CN Normal" panose="020B0400000000000000" pitchFamily="34" charset="-122"/>
                        </a:endParaRPr>
                      </a:p>
                    </p:txBody>
                  </p:sp>
                  <p:sp>
                    <p:nvSpPr>
                      <p:cNvPr id="76" name="小红书平北职场PPT3-29"/>
                      <p:cNvSpPr txBox="1"/>
                      <p:nvPr/>
                    </p:nvSpPr>
                    <p:spPr>
                      <a:xfrm>
                        <a:off x="8027460" y="3353253"/>
                        <a:ext cx="3001485" cy="794961"/>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洞察依赖人工经验</a:t>
                        </a:r>
                        <a:endParaRPr lang="en-US" altLang="zh-CN"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结论严重依赖分析师个人判断，缺乏自动化与标准化</a:t>
                        </a:r>
                        <a:endParaRPr lang="zh-CN" altLang="en-US" sz="1200" dirty="0">
                          <a:latin typeface="思源黑体 CN Normal" panose="020B0400000000000000" pitchFamily="34" charset="-122"/>
                          <a:cs typeface="思源黑体 CN Normal" panose="020B0400000000000000" pitchFamily="34" charset="-122"/>
                        </a:endParaRPr>
                      </a:p>
                    </p:txBody>
                  </p:sp>
                  <p:sp>
                    <p:nvSpPr>
                      <p:cNvPr id="77" name="小红书平北职场PPT3-30"/>
                      <p:cNvSpPr txBox="1"/>
                      <p:nvPr/>
                    </p:nvSpPr>
                    <p:spPr>
                      <a:xfrm>
                        <a:off x="8027460" y="4239813"/>
                        <a:ext cx="3001485" cy="794961"/>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应用场景有限被动</a:t>
                        </a:r>
                        <a:endParaRPr lang="en-US" altLang="zh-CN"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数据多用于事后解释，难以主动赋能业务增长</a:t>
                        </a:r>
                        <a:endParaRPr lang="zh-CN" altLang="en-US" sz="1200" dirty="0">
                          <a:latin typeface="思源黑体 CN Normal" panose="020B0400000000000000" pitchFamily="34" charset="-122"/>
                          <a:cs typeface="思源黑体 CN Normal" panose="020B0400000000000000" pitchFamily="34" charset="-122"/>
                        </a:endParaRPr>
                      </a:p>
                    </p:txBody>
                  </p:sp>
                </p:grpSp>
                <p:grpSp>
                  <p:nvGrpSpPr>
                    <p:cNvPr id="59" name="组合 58"/>
                    <p:cNvGrpSpPr/>
                    <p:nvPr/>
                  </p:nvGrpSpPr>
                  <p:grpSpPr>
                    <a:xfrm>
                      <a:off x="8019670" y="1785973"/>
                      <a:ext cx="470682" cy="3162220"/>
                      <a:chOff x="8019670" y="1785973"/>
                      <a:chExt cx="470682" cy="3162220"/>
                    </a:xfrm>
                  </p:grpSpPr>
                  <p:grpSp>
                    <p:nvGrpSpPr>
                      <p:cNvPr id="60" name="组合 59"/>
                      <p:cNvGrpSpPr/>
                      <p:nvPr/>
                    </p:nvGrpSpPr>
                    <p:grpSpPr>
                      <a:xfrm>
                        <a:off x="8019670" y="1785973"/>
                        <a:ext cx="470682" cy="3162220"/>
                        <a:chOff x="8019670" y="1785973"/>
                        <a:chExt cx="470682" cy="3162220"/>
                      </a:xfrm>
                    </p:grpSpPr>
                    <p:grpSp>
                      <p:nvGrpSpPr>
                        <p:cNvPr id="68" name="组合 67"/>
                        <p:cNvGrpSpPr/>
                        <p:nvPr/>
                      </p:nvGrpSpPr>
                      <p:grpSpPr>
                        <a:xfrm>
                          <a:off x="8019670" y="1785973"/>
                          <a:ext cx="470682" cy="470682"/>
                          <a:chOff x="8019670" y="1785973"/>
                          <a:chExt cx="470682" cy="470682"/>
                        </a:xfrm>
                      </p:grpSpPr>
                      <p:sp>
                        <p:nvSpPr>
                          <p:cNvPr id="72" name="小红书平北职场PPT3-31"/>
                          <p:cNvSpPr/>
                          <p:nvPr/>
                        </p:nvSpPr>
                        <p:spPr>
                          <a:xfrm>
                            <a:off x="8019670" y="1785973"/>
                            <a:ext cx="470682" cy="470682"/>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73" name="小红书平北职场PPT3-32"/>
                          <p:cNvSpPr/>
                          <p:nvPr/>
                        </p:nvSpPr>
                        <p:spPr>
                          <a:xfrm>
                            <a:off x="8139748" y="1906050"/>
                            <a:ext cx="230528" cy="230528"/>
                          </a:xfrm>
                          <a:custGeom>
                            <a:avLst/>
                            <a:gdLst>
                              <a:gd name="connsiteX0" fmla="*/ 270986 w 304864"/>
                              <a:gd name="connsiteY0" fmla="*/ 84686 h 304864"/>
                              <a:gd name="connsiteX1" fmla="*/ 220179 w 304864"/>
                              <a:gd name="connsiteY1" fmla="*/ 84686 h 304864"/>
                              <a:gd name="connsiteX2" fmla="*/ 220179 w 304864"/>
                              <a:gd name="connsiteY2" fmla="*/ 33878 h 304864"/>
                              <a:gd name="connsiteX3" fmla="*/ 186310 w 304864"/>
                              <a:gd name="connsiteY3" fmla="*/ 0 h 304864"/>
                              <a:gd name="connsiteX4" fmla="*/ 33878 w 304864"/>
                              <a:gd name="connsiteY4" fmla="*/ 0 h 304864"/>
                              <a:gd name="connsiteX5" fmla="*/ 0 w 304864"/>
                              <a:gd name="connsiteY5" fmla="*/ 33878 h 304864"/>
                              <a:gd name="connsiteX6" fmla="*/ 0 w 304864"/>
                              <a:gd name="connsiteY6" fmla="*/ 186310 h 304864"/>
                              <a:gd name="connsiteX7" fmla="*/ 33878 w 304864"/>
                              <a:gd name="connsiteY7" fmla="*/ 220179 h 304864"/>
                              <a:gd name="connsiteX8" fmla="*/ 84686 w 304864"/>
                              <a:gd name="connsiteY8" fmla="*/ 220179 h 304864"/>
                              <a:gd name="connsiteX9" fmla="*/ 84686 w 304864"/>
                              <a:gd name="connsiteY9" fmla="*/ 270986 h 304864"/>
                              <a:gd name="connsiteX10" fmla="*/ 118554 w 304864"/>
                              <a:gd name="connsiteY10" fmla="*/ 304864 h 304864"/>
                              <a:gd name="connsiteX11" fmla="*/ 270986 w 304864"/>
                              <a:gd name="connsiteY11" fmla="*/ 304864 h 304864"/>
                              <a:gd name="connsiteX12" fmla="*/ 304864 w 304864"/>
                              <a:gd name="connsiteY12" fmla="*/ 270986 h 304864"/>
                              <a:gd name="connsiteX13" fmla="*/ 304864 w 304864"/>
                              <a:gd name="connsiteY13" fmla="*/ 118554 h 304864"/>
                              <a:gd name="connsiteX14" fmla="*/ 270986 w 304864"/>
                              <a:gd name="connsiteY14" fmla="*/ 84686 h 304864"/>
                              <a:gd name="connsiteX15" fmla="*/ 270986 w 304864"/>
                              <a:gd name="connsiteY15" fmla="*/ 270986 h 304864"/>
                              <a:gd name="connsiteX16" fmla="*/ 118554 w 304864"/>
                              <a:gd name="connsiteY16" fmla="*/ 270986 h 304864"/>
                              <a:gd name="connsiteX17" fmla="*/ 118554 w 304864"/>
                              <a:gd name="connsiteY17" fmla="*/ 220179 h 304864"/>
                              <a:gd name="connsiteX18" fmla="*/ 186310 w 304864"/>
                              <a:gd name="connsiteY18" fmla="*/ 220179 h 304864"/>
                              <a:gd name="connsiteX19" fmla="*/ 220179 w 304864"/>
                              <a:gd name="connsiteY19" fmla="*/ 186310 h 304864"/>
                              <a:gd name="connsiteX20" fmla="*/ 220179 w 304864"/>
                              <a:gd name="connsiteY20" fmla="*/ 118554 h 304864"/>
                              <a:gd name="connsiteX21" fmla="*/ 270986 w 304864"/>
                              <a:gd name="connsiteY21" fmla="*/ 118554 h 304864"/>
                              <a:gd name="connsiteX22" fmla="*/ 270986 w 304864"/>
                              <a:gd name="connsiteY22" fmla="*/ 270986 h 304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4864" h="304864">
                                <a:moveTo>
                                  <a:pt x="270986" y="84686"/>
                                </a:moveTo>
                                <a:lnTo>
                                  <a:pt x="220179" y="84686"/>
                                </a:lnTo>
                                <a:lnTo>
                                  <a:pt x="220179" y="33878"/>
                                </a:lnTo>
                                <a:cubicBezTo>
                                  <a:pt x="220179" y="15171"/>
                                  <a:pt x="205017" y="5"/>
                                  <a:pt x="186310" y="0"/>
                                </a:cubicBezTo>
                                <a:lnTo>
                                  <a:pt x="33878" y="0"/>
                                </a:lnTo>
                                <a:cubicBezTo>
                                  <a:pt x="15168" y="0"/>
                                  <a:pt x="0" y="15168"/>
                                  <a:pt x="0" y="33878"/>
                                </a:cubicBezTo>
                                <a:lnTo>
                                  <a:pt x="0" y="186310"/>
                                </a:lnTo>
                                <a:cubicBezTo>
                                  <a:pt x="5" y="205017"/>
                                  <a:pt x="15171" y="220179"/>
                                  <a:pt x="33878" y="220179"/>
                                </a:cubicBezTo>
                                <a:lnTo>
                                  <a:pt x="84686" y="220179"/>
                                </a:lnTo>
                                <a:lnTo>
                                  <a:pt x="84686" y="270986"/>
                                </a:lnTo>
                                <a:cubicBezTo>
                                  <a:pt x="84686" y="289693"/>
                                  <a:pt x="99847" y="304859"/>
                                  <a:pt x="118554" y="304864"/>
                                </a:cubicBezTo>
                                <a:lnTo>
                                  <a:pt x="270986" y="304864"/>
                                </a:lnTo>
                                <a:cubicBezTo>
                                  <a:pt x="289696" y="304864"/>
                                  <a:pt x="304864" y="289696"/>
                                  <a:pt x="304864" y="270986"/>
                                </a:cubicBezTo>
                                <a:lnTo>
                                  <a:pt x="304864" y="118554"/>
                                </a:lnTo>
                                <a:cubicBezTo>
                                  <a:pt x="304859" y="99847"/>
                                  <a:pt x="289693" y="84686"/>
                                  <a:pt x="270986" y="84686"/>
                                </a:cubicBezTo>
                                <a:close/>
                                <a:moveTo>
                                  <a:pt x="270986" y="270986"/>
                                </a:moveTo>
                                <a:lnTo>
                                  <a:pt x="118554" y="270986"/>
                                </a:lnTo>
                                <a:lnTo>
                                  <a:pt x="118554" y="220179"/>
                                </a:lnTo>
                                <a:lnTo>
                                  <a:pt x="186310" y="220179"/>
                                </a:lnTo>
                                <a:cubicBezTo>
                                  <a:pt x="205013" y="220173"/>
                                  <a:pt x="220173" y="205013"/>
                                  <a:pt x="220179" y="186310"/>
                                </a:cubicBezTo>
                                <a:lnTo>
                                  <a:pt x="220179" y="118554"/>
                                </a:lnTo>
                                <a:lnTo>
                                  <a:pt x="270986" y="118554"/>
                                </a:lnTo>
                                <a:lnTo>
                                  <a:pt x="270986" y="270986"/>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69" name="小红书平北职场PPT3-33"/>
                        <p:cNvSpPr/>
                        <p:nvPr/>
                      </p:nvSpPr>
                      <p:spPr>
                        <a:xfrm>
                          <a:off x="8019670" y="2646369"/>
                          <a:ext cx="470682" cy="470682"/>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70" name="小红书平北职场PPT3-34"/>
                        <p:cNvSpPr/>
                        <p:nvPr/>
                      </p:nvSpPr>
                      <p:spPr>
                        <a:xfrm>
                          <a:off x="8019670" y="3551211"/>
                          <a:ext cx="470682" cy="470682"/>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71" name="小红书平北职场PPT3-35"/>
                        <p:cNvSpPr/>
                        <p:nvPr/>
                      </p:nvSpPr>
                      <p:spPr>
                        <a:xfrm>
                          <a:off x="8019670" y="4477511"/>
                          <a:ext cx="470682" cy="470682"/>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nvGrpSpPr>
                      <p:cNvPr id="61" name="组合 60"/>
                      <p:cNvGrpSpPr/>
                      <p:nvPr/>
                    </p:nvGrpSpPr>
                    <p:grpSpPr>
                      <a:xfrm>
                        <a:off x="8133918" y="2757212"/>
                        <a:ext cx="239603" cy="221646"/>
                        <a:chOff x="5535930" y="2273934"/>
                        <a:chExt cx="1109980" cy="1026794"/>
                      </a:xfrm>
                    </p:grpSpPr>
                    <p:sp>
                      <p:nvSpPr>
                        <p:cNvPr id="66" name="小红书平北职场PPT3-36"/>
                        <p:cNvSpPr/>
                        <p:nvPr/>
                      </p:nvSpPr>
                      <p:spPr>
                        <a:xfrm>
                          <a:off x="5535930" y="2273934"/>
                          <a:ext cx="1109980" cy="1026794"/>
                        </a:xfrm>
                        <a:custGeom>
                          <a:avLst/>
                          <a:gdLst>
                            <a:gd name="connsiteX0" fmla="*/ 1109980 w 1109980"/>
                            <a:gd name="connsiteY0" fmla="*/ 768985 h 1026794"/>
                            <a:gd name="connsiteX1" fmla="*/ 1109980 w 1109980"/>
                            <a:gd name="connsiteY1" fmla="*/ 568960 h 1026794"/>
                            <a:gd name="connsiteX2" fmla="*/ 1092200 w 1109980"/>
                            <a:gd name="connsiteY2" fmla="*/ 541020 h 1026794"/>
                            <a:gd name="connsiteX3" fmla="*/ 850900 w 1109980"/>
                            <a:gd name="connsiteY3" fmla="*/ 437515 h 1026794"/>
                            <a:gd name="connsiteX4" fmla="*/ 847090 w 1109980"/>
                            <a:gd name="connsiteY4" fmla="*/ 436245 h 1026794"/>
                            <a:gd name="connsiteX5" fmla="*/ 847090 w 1109980"/>
                            <a:gd name="connsiteY5" fmla="*/ 141605 h 1026794"/>
                            <a:gd name="connsiteX6" fmla="*/ 842010 w 1109980"/>
                            <a:gd name="connsiteY6" fmla="*/ 125730 h 1026794"/>
                            <a:gd name="connsiteX7" fmla="*/ 841375 w 1109980"/>
                            <a:gd name="connsiteY7" fmla="*/ 124460 h 1026794"/>
                            <a:gd name="connsiteX8" fmla="*/ 841375 w 1109980"/>
                            <a:gd name="connsiteY8" fmla="*/ 123825 h 1026794"/>
                            <a:gd name="connsiteX9" fmla="*/ 840740 w 1109980"/>
                            <a:gd name="connsiteY9" fmla="*/ 123190 h 1026794"/>
                            <a:gd name="connsiteX10" fmla="*/ 840740 w 1109980"/>
                            <a:gd name="connsiteY10" fmla="*/ 122555 h 1026794"/>
                            <a:gd name="connsiteX11" fmla="*/ 835025 w 1109980"/>
                            <a:gd name="connsiteY11" fmla="*/ 117475 h 1026794"/>
                            <a:gd name="connsiteX12" fmla="*/ 827405 w 1109980"/>
                            <a:gd name="connsiteY12" fmla="*/ 113665 h 1026794"/>
                            <a:gd name="connsiteX13" fmla="*/ 568325 w 1109980"/>
                            <a:gd name="connsiteY13" fmla="*/ 1905 h 1026794"/>
                            <a:gd name="connsiteX14" fmla="*/ 556260 w 1109980"/>
                            <a:gd name="connsiteY14" fmla="*/ 0 h 1026794"/>
                            <a:gd name="connsiteX15" fmla="*/ 544195 w 1109980"/>
                            <a:gd name="connsiteY15" fmla="*/ 1905 h 1026794"/>
                            <a:gd name="connsiteX16" fmla="*/ 283210 w 1109980"/>
                            <a:gd name="connsiteY16" fmla="*/ 113665 h 1026794"/>
                            <a:gd name="connsiteX17" fmla="*/ 276225 w 1109980"/>
                            <a:gd name="connsiteY17" fmla="*/ 117475 h 1026794"/>
                            <a:gd name="connsiteX18" fmla="*/ 262890 w 1109980"/>
                            <a:gd name="connsiteY18" fmla="*/ 142240 h 1026794"/>
                            <a:gd name="connsiteX19" fmla="*/ 262890 w 1109980"/>
                            <a:gd name="connsiteY19" fmla="*/ 436880 h 1026794"/>
                            <a:gd name="connsiteX20" fmla="*/ 259080 w 1109980"/>
                            <a:gd name="connsiteY20" fmla="*/ 438150 h 1026794"/>
                            <a:gd name="connsiteX21" fmla="*/ 17780 w 1109980"/>
                            <a:gd name="connsiteY21" fmla="*/ 541655 h 1026794"/>
                            <a:gd name="connsiteX22" fmla="*/ 10160 w 1109980"/>
                            <a:gd name="connsiteY22" fmla="*/ 547370 h 1026794"/>
                            <a:gd name="connsiteX23" fmla="*/ 0 w 1109980"/>
                            <a:gd name="connsiteY23" fmla="*/ 569595 h 1026794"/>
                            <a:gd name="connsiteX24" fmla="*/ 0 w 1109980"/>
                            <a:gd name="connsiteY24" fmla="*/ 884555 h 1026794"/>
                            <a:gd name="connsiteX25" fmla="*/ 18415 w 1109980"/>
                            <a:gd name="connsiteY25" fmla="*/ 912495 h 1026794"/>
                            <a:gd name="connsiteX26" fmla="*/ 280670 w 1109980"/>
                            <a:gd name="connsiteY26" fmla="*/ 1024890 h 1026794"/>
                            <a:gd name="connsiteX27" fmla="*/ 292735 w 1109980"/>
                            <a:gd name="connsiteY27" fmla="*/ 1026795 h 1026794"/>
                            <a:gd name="connsiteX28" fmla="*/ 296545 w 1109980"/>
                            <a:gd name="connsiteY28" fmla="*/ 1026795 h 1026794"/>
                            <a:gd name="connsiteX29" fmla="*/ 304800 w 1109980"/>
                            <a:gd name="connsiteY29" fmla="*/ 1024890 h 1026794"/>
                            <a:gd name="connsiteX30" fmla="*/ 305435 w 1109980"/>
                            <a:gd name="connsiteY30" fmla="*/ 1024890 h 1026794"/>
                            <a:gd name="connsiteX31" fmla="*/ 306705 w 1109980"/>
                            <a:gd name="connsiteY31" fmla="*/ 1024255 h 1026794"/>
                            <a:gd name="connsiteX32" fmla="*/ 552450 w 1109980"/>
                            <a:gd name="connsiteY32" fmla="*/ 918845 h 1026794"/>
                            <a:gd name="connsiteX33" fmla="*/ 554355 w 1109980"/>
                            <a:gd name="connsiteY33" fmla="*/ 918210 h 1026794"/>
                            <a:gd name="connsiteX34" fmla="*/ 556260 w 1109980"/>
                            <a:gd name="connsiteY34" fmla="*/ 918845 h 1026794"/>
                            <a:gd name="connsiteX35" fmla="*/ 804545 w 1109980"/>
                            <a:gd name="connsiteY35" fmla="*/ 1024890 h 1026794"/>
                            <a:gd name="connsiteX36" fmla="*/ 816610 w 1109980"/>
                            <a:gd name="connsiteY36" fmla="*/ 1026795 h 1026794"/>
                            <a:gd name="connsiteX37" fmla="*/ 819150 w 1109980"/>
                            <a:gd name="connsiteY37" fmla="*/ 1026795 h 1026794"/>
                            <a:gd name="connsiteX38" fmla="*/ 826135 w 1109980"/>
                            <a:gd name="connsiteY38" fmla="*/ 1025525 h 1026794"/>
                            <a:gd name="connsiteX39" fmla="*/ 826770 w 1109980"/>
                            <a:gd name="connsiteY39" fmla="*/ 1025525 h 1026794"/>
                            <a:gd name="connsiteX40" fmla="*/ 828040 w 1109980"/>
                            <a:gd name="connsiteY40" fmla="*/ 1024890 h 1026794"/>
                            <a:gd name="connsiteX41" fmla="*/ 1031240 w 1109980"/>
                            <a:gd name="connsiteY41" fmla="*/ 937895 h 1026794"/>
                            <a:gd name="connsiteX42" fmla="*/ 1050290 w 1109980"/>
                            <a:gd name="connsiteY42" fmla="*/ 909320 h 1026794"/>
                            <a:gd name="connsiteX43" fmla="*/ 1019810 w 1109980"/>
                            <a:gd name="connsiteY43" fmla="*/ 878840 h 1026794"/>
                            <a:gd name="connsiteX44" fmla="*/ 1007745 w 1109980"/>
                            <a:gd name="connsiteY44" fmla="*/ 881380 h 1026794"/>
                            <a:gd name="connsiteX45" fmla="*/ 854075 w 1109980"/>
                            <a:gd name="connsiteY45" fmla="*/ 947420 h 1026794"/>
                            <a:gd name="connsiteX46" fmla="*/ 847090 w 1109980"/>
                            <a:gd name="connsiteY46" fmla="*/ 949960 h 1026794"/>
                            <a:gd name="connsiteX47" fmla="*/ 847090 w 1109980"/>
                            <a:gd name="connsiteY47" fmla="*/ 692150 h 1026794"/>
                            <a:gd name="connsiteX48" fmla="*/ 850900 w 1109980"/>
                            <a:gd name="connsiteY48" fmla="*/ 690880 h 1026794"/>
                            <a:gd name="connsiteX49" fmla="*/ 941705 w 1109980"/>
                            <a:gd name="connsiteY49" fmla="*/ 655320 h 1026794"/>
                            <a:gd name="connsiteX50" fmla="*/ 1042035 w 1109980"/>
                            <a:gd name="connsiteY50" fmla="*/ 615950 h 1026794"/>
                            <a:gd name="connsiteX51" fmla="*/ 1049020 w 1109980"/>
                            <a:gd name="connsiteY51" fmla="*/ 613410 h 1026794"/>
                            <a:gd name="connsiteX52" fmla="*/ 1049020 w 1109980"/>
                            <a:gd name="connsiteY52" fmla="*/ 770255 h 1026794"/>
                            <a:gd name="connsiteX53" fmla="*/ 1078865 w 1109980"/>
                            <a:gd name="connsiteY53" fmla="*/ 800100 h 1026794"/>
                            <a:gd name="connsiteX54" fmla="*/ 1108710 w 1109980"/>
                            <a:gd name="connsiteY54" fmla="*/ 770255 h 1026794"/>
                            <a:gd name="connsiteX55" fmla="*/ 1109980 w 1109980"/>
                            <a:gd name="connsiteY55" fmla="*/ 768985 h 1026794"/>
                            <a:gd name="connsiteX56" fmla="*/ 787400 w 1109980"/>
                            <a:gd name="connsiteY56" fmla="*/ 187325 h 1026794"/>
                            <a:gd name="connsiteX57" fmla="*/ 787400 w 1109980"/>
                            <a:gd name="connsiteY57" fmla="*/ 436245 h 1026794"/>
                            <a:gd name="connsiteX58" fmla="*/ 783590 w 1109980"/>
                            <a:gd name="connsiteY58" fmla="*/ 437515 h 1026794"/>
                            <a:gd name="connsiteX59" fmla="*/ 593090 w 1109980"/>
                            <a:gd name="connsiteY59" fmla="*/ 520700 h 1026794"/>
                            <a:gd name="connsiteX60" fmla="*/ 586105 w 1109980"/>
                            <a:gd name="connsiteY60" fmla="*/ 524510 h 1026794"/>
                            <a:gd name="connsiteX61" fmla="*/ 586105 w 1109980"/>
                            <a:gd name="connsiteY61" fmla="*/ 266065 h 1026794"/>
                            <a:gd name="connsiteX62" fmla="*/ 589915 w 1109980"/>
                            <a:gd name="connsiteY62" fmla="*/ 264795 h 1026794"/>
                            <a:gd name="connsiteX63" fmla="*/ 781050 w 1109980"/>
                            <a:gd name="connsiteY63" fmla="*/ 189865 h 1026794"/>
                            <a:gd name="connsiteX64" fmla="*/ 787400 w 1109980"/>
                            <a:gd name="connsiteY64" fmla="*/ 187325 h 1026794"/>
                            <a:gd name="connsiteX65" fmla="*/ 294640 w 1109980"/>
                            <a:gd name="connsiteY65" fmla="*/ 639445 h 1026794"/>
                            <a:gd name="connsiteX66" fmla="*/ 292735 w 1109980"/>
                            <a:gd name="connsiteY66" fmla="*/ 640080 h 1026794"/>
                            <a:gd name="connsiteX67" fmla="*/ 290830 w 1109980"/>
                            <a:gd name="connsiteY67" fmla="*/ 639445 h 1026794"/>
                            <a:gd name="connsiteX68" fmla="*/ 123190 w 1109980"/>
                            <a:gd name="connsiteY68" fmla="*/ 573405 h 1026794"/>
                            <a:gd name="connsiteX69" fmla="*/ 111125 w 1109980"/>
                            <a:gd name="connsiteY69" fmla="*/ 568325 h 1026794"/>
                            <a:gd name="connsiteX70" fmla="*/ 123190 w 1109980"/>
                            <a:gd name="connsiteY70" fmla="*/ 563245 h 1026794"/>
                            <a:gd name="connsiteX71" fmla="*/ 290830 w 1109980"/>
                            <a:gd name="connsiteY71" fmla="*/ 490855 h 1026794"/>
                            <a:gd name="connsiteX72" fmla="*/ 292735 w 1109980"/>
                            <a:gd name="connsiteY72" fmla="*/ 490220 h 1026794"/>
                            <a:gd name="connsiteX73" fmla="*/ 294640 w 1109980"/>
                            <a:gd name="connsiteY73" fmla="*/ 490855 h 1026794"/>
                            <a:gd name="connsiteX74" fmla="*/ 463550 w 1109980"/>
                            <a:gd name="connsiteY74" fmla="*/ 563245 h 1026794"/>
                            <a:gd name="connsiteX75" fmla="*/ 475615 w 1109980"/>
                            <a:gd name="connsiteY75" fmla="*/ 568325 h 1026794"/>
                            <a:gd name="connsiteX76" fmla="*/ 463550 w 1109980"/>
                            <a:gd name="connsiteY76" fmla="*/ 573405 h 1026794"/>
                            <a:gd name="connsiteX77" fmla="*/ 431800 w 1109980"/>
                            <a:gd name="connsiteY77" fmla="*/ 585470 h 1026794"/>
                            <a:gd name="connsiteX78" fmla="*/ 294640 w 1109980"/>
                            <a:gd name="connsiteY78" fmla="*/ 639445 h 1026794"/>
                            <a:gd name="connsiteX79" fmla="*/ 525145 w 1109980"/>
                            <a:gd name="connsiteY79" fmla="*/ 621665 h 1026794"/>
                            <a:gd name="connsiteX80" fmla="*/ 525145 w 1109980"/>
                            <a:gd name="connsiteY80" fmla="*/ 864235 h 1026794"/>
                            <a:gd name="connsiteX81" fmla="*/ 521335 w 1109980"/>
                            <a:gd name="connsiteY81" fmla="*/ 865505 h 1026794"/>
                            <a:gd name="connsiteX82" fmla="*/ 330200 w 1109980"/>
                            <a:gd name="connsiteY82" fmla="*/ 947420 h 1026794"/>
                            <a:gd name="connsiteX83" fmla="*/ 323215 w 1109980"/>
                            <a:gd name="connsiteY83" fmla="*/ 949960 h 1026794"/>
                            <a:gd name="connsiteX84" fmla="*/ 323215 w 1109980"/>
                            <a:gd name="connsiteY84" fmla="*/ 692150 h 1026794"/>
                            <a:gd name="connsiteX85" fmla="*/ 327025 w 1109980"/>
                            <a:gd name="connsiteY85" fmla="*/ 690880 h 1026794"/>
                            <a:gd name="connsiteX86" fmla="*/ 417830 w 1109980"/>
                            <a:gd name="connsiteY86" fmla="*/ 655320 h 1026794"/>
                            <a:gd name="connsiteX87" fmla="*/ 518160 w 1109980"/>
                            <a:gd name="connsiteY87" fmla="*/ 615950 h 1026794"/>
                            <a:gd name="connsiteX88" fmla="*/ 525145 w 1109980"/>
                            <a:gd name="connsiteY88" fmla="*/ 613410 h 1026794"/>
                            <a:gd name="connsiteX89" fmla="*/ 525145 w 1109980"/>
                            <a:gd name="connsiteY89" fmla="*/ 621665 h 1026794"/>
                            <a:gd name="connsiteX90" fmla="*/ 557530 w 1109980"/>
                            <a:gd name="connsiteY90" fmla="*/ 212090 h 1026794"/>
                            <a:gd name="connsiteX91" fmla="*/ 555625 w 1109980"/>
                            <a:gd name="connsiteY91" fmla="*/ 212725 h 1026794"/>
                            <a:gd name="connsiteX92" fmla="*/ 553720 w 1109980"/>
                            <a:gd name="connsiteY92" fmla="*/ 212090 h 1026794"/>
                            <a:gd name="connsiteX93" fmla="*/ 545465 w 1109980"/>
                            <a:gd name="connsiteY93" fmla="*/ 208915 h 1026794"/>
                            <a:gd name="connsiteX94" fmla="*/ 384810 w 1109980"/>
                            <a:gd name="connsiteY94" fmla="*/ 145415 h 1026794"/>
                            <a:gd name="connsiteX95" fmla="*/ 372745 w 1109980"/>
                            <a:gd name="connsiteY95" fmla="*/ 140335 h 1026794"/>
                            <a:gd name="connsiteX96" fmla="*/ 384810 w 1109980"/>
                            <a:gd name="connsiteY96" fmla="*/ 135255 h 1026794"/>
                            <a:gd name="connsiteX97" fmla="*/ 553085 w 1109980"/>
                            <a:gd name="connsiteY97" fmla="*/ 62865 h 1026794"/>
                            <a:gd name="connsiteX98" fmla="*/ 554990 w 1109980"/>
                            <a:gd name="connsiteY98" fmla="*/ 62230 h 1026794"/>
                            <a:gd name="connsiteX99" fmla="*/ 556895 w 1109980"/>
                            <a:gd name="connsiteY99" fmla="*/ 62865 h 1026794"/>
                            <a:gd name="connsiteX100" fmla="*/ 725170 w 1109980"/>
                            <a:gd name="connsiteY100" fmla="*/ 135255 h 1026794"/>
                            <a:gd name="connsiteX101" fmla="*/ 737235 w 1109980"/>
                            <a:gd name="connsiteY101" fmla="*/ 140335 h 1026794"/>
                            <a:gd name="connsiteX102" fmla="*/ 725170 w 1109980"/>
                            <a:gd name="connsiteY102" fmla="*/ 145415 h 1026794"/>
                            <a:gd name="connsiteX103" fmla="*/ 564515 w 1109980"/>
                            <a:gd name="connsiteY103" fmla="*/ 208915 h 1026794"/>
                            <a:gd name="connsiteX104" fmla="*/ 557530 w 1109980"/>
                            <a:gd name="connsiteY104" fmla="*/ 212090 h 1026794"/>
                            <a:gd name="connsiteX105" fmla="*/ 988695 w 1109980"/>
                            <a:gd name="connsiteY105" fmla="*/ 572770 h 1026794"/>
                            <a:gd name="connsiteX106" fmla="*/ 828040 w 1109980"/>
                            <a:gd name="connsiteY106" fmla="*/ 636270 h 1026794"/>
                            <a:gd name="connsiteX107" fmla="*/ 820420 w 1109980"/>
                            <a:gd name="connsiteY107" fmla="*/ 638810 h 1026794"/>
                            <a:gd name="connsiteX108" fmla="*/ 818515 w 1109980"/>
                            <a:gd name="connsiteY108" fmla="*/ 639445 h 1026794"/>
                            <a:gd name="connsiteX109" fmla="*/ 816610 w 1109980"/>
                            <a:gd name="connsiteY109" fmla="*/ 638810 h 1026794"/>
                            <a:gd name="connsiteX110" fmla="*/ 808990 w 1109980"/>
                            <a:gd name="connsiteY110" fmla="*/ 636270 h 1026794"/>
                            <a:gd name="connsiteX111" fmla="*/ 648335 w 1109980"/>
                            <a:gd name="connsiteY111" fmla="*/ 572770 h 1026794"/>
                            <a:gd name="connsiteX112" fmla="*/ 636270 w 1109980"/>
                            <a:gd name="connsiteY112" fmla="*/ 567690 h 1026794"/>
                            <a:gd name="connsiteX113" fmla="*/ 648335 w 1109980"/>
                            <a:gd name="connsiteY113" fmla="*/ 562610 h 1026794"/>
                            <a:gd name="connsiteX114" fmla="*/ 817880 w 1109980"/>
                            <a:gd name="connsiteY114" fmla="*/ 490220 h 1026794"/>
                            <a:gd name="connsiteX115" fmla="*/ 819785 w 1109980"/>
                            <a:gd name="connsiteY115" fmla="*/ 489585 h 1026794"/>
                            <a:gd name="connsiteX116" fmla="*/ 821690 w 1109980"/>
                            <a:gd name="connsiteY116" fmla="*/ 490220 h 1026794"/>
                            <a:gd name="connsiteX117" fmla="*/ 989330 w 1109980"/>
                            <a:gd name="connsiteY117" fmla="*/ 562610 h 1026794"/>
                            <a:gd name="connsiteX118" fmla="*/ 1001395 w 1109980"/>
                            <a:gd name="connsiteY118" fmla="*/ 567690 h 1026794"/>
                            <a:gd name="connsiteX119" fmla="*/ 988695 w 1109980"/>
                            <a:gd name="connsiteY119" fmla="*/ 572770 h 1026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09980" h="1026794">
                              <a:moveTo>
                                <a:pt x="1109980" y="768985"/>
                              </a:moveTo>
                              <a:lnTo>
                                <a:pt x="1109980" y="568960"/>
                              </a:lnTo>
                              <a:cubicBezTo>
                                <a:pt x="1109980" y="556895"/>
                                <a:pt x="1103630" y="546100"/>
                                <a:pt x="1092200" y="541020"/>
                              </a:cubicBezTo>
                              <a:lnTo>
                                <a:pt x="850900" y="437515"/>
                              </a:lnTo>
                              <a:lnTo>
                                <a:pt x="847090" y="436245"/>
                              </a:lnTo>
                              <a:lnTo>
                                <a:pt x="847090" y="141605"/>
                              </a:lnTo>
                              <a:cubicBezTo>
                                <a:pt x="847090" y="135890"/>
                                <a:pt x="845185" y="130175"/>
                                <a:pt x="842010" y="125730"/>
                              </a:cubicBezTo>
                              <a:cubicBezTo>
                                <a:pt x="842010" y="125095"/>
                                <a:pt x="841375" y="125095"/>
                                <a:pt x="841375" y="124460"/>
                              </a:cubicBezTo>
                              <a:lnTo>
                                <a:pt x="841375" y="123825"/>
                              </a:lnTo>
                              <a:lnTo>
                                <a:pt x="840740" y="123190"/>
                              </a:lnTo>
                              <a:lnTo>
                                <a:pt x="840740" y="122555"/>
                              </a:lnTo>
                              <a:cubicBezTo>
                                <a:pt x="838835" y="120650"/>
                                <a:pt x="836930" y="118745"/>
                                <a:pt x="835025" y="117475"/>
                              </a:cubicBezTo>
                              <a:cubicBezTo>
                                <a:pt x="833120" y="116205"/>
                                <a:pt x="829945" y="114935"/>
                                <a:pt x="827405" y="113665"/>
                              </a:cubicBezTo>
                              <a:lnTo>
                                <a:pt x="568325" y="1905"/>
                              </a:lnTo>
                              <a:cubicBezTo>
                                <a:pt x="564515" y="635"/>
                                <a:pt x="560705" y="0"/>
                                <a:pt x="556260" y="0"/>
                              </a:cubicBezTo>
                              <a:cubicBezTo>
                                <a:pt x="551815" y="0"/>
                                <a:pt x="548005" y="635"/>
                                <a:pt x="544195" y="1905"/>
                              </a:cubicBezTo>
                              <a:lnTo>
                                <a:pt x="283210" y="113665"/>
                              </a:lnTo>
                              <a:cubicBezTo>
                                <a:pt x="280670" y="114300"/>
                                <a:pt x="278130" y="115570"/>
                                <a:pt x="276225" y="117475"/>
                              </a:cubicBezTo>
                              <a:cubicBezTo>
                                <a:pt x="267970" y="123190"/>
                                <a:pt x="262890" y="131445"/>
                                <a:pt x="262890" y="142240"/>
                              </a:cubicBezTo>
                              <a:lnTo>
                                <a:pt x="262890" y="436880"/>
                              </a:lnTo>
                              <a:lnTo>
                                <a:pt x="259080" y="438150"/>
                              </a:lnTo>
                              <a:lnTo>
                                <a:pt x="17780" y="541655"/>
                              </a:lnTo>
                              <a:cubicBezTo>
                                <a:pt x="15240" y="542925"/>
                                <a:pt x="12065" y="544195"/>
                                <a:pt x="10160" y="547370"/>
                              </a:cubicBezTo>
                              <a:cubicBezTo>
                                <a:pt x="3810" y="553085"/>
                                <a:pt x="0" y="560705"/>
                                <a:pt x="0" y="569595"/>
                              </a:cubicBezTo>
                              <a:lnTo>
                                <a:pt x="0" y="884555"/>
                              </a:lnTo>
                              <a:cubicBezTo>
                                <a:pt x="0" y="896620"/>
                                <a:pt x="6985" y="907415"/>
                                <a:pt x="18415" y="912495"/>
                              </a:cubicBezTo>
                              <a:lnTo>
                                <a:pt x="280670" y="1024890"/>
                              </a:lnTo>
                              <a:cubicBezTo>
                                <a:pt x="285115" y="1026160"/>
                                <a:pt x="287655" y="1026795"/>
                                <a:pt x="292735" y="1026795"/>
                              </a:cubicBezTo>
                              <a:lnTo>
                                <a:pt x="296545" y="1026795"/>
                              </a:lnTo>
                              <a:cubicBezTo>
                                <a:pt x="299085" y="1026795"/>
                                <a:pt x="302260" y="1026160"/>
                                <a:pt x="304800" y="1024890"/>
                              </a:cubicBezTo>
                              <a:lnTo>
                                <a:pt x="305435" y="1024890"/>
                              </a:lnTo>
                              <a:lnTo>
                                <a:pt x="306705" y="1024255"/>
                              </a:lnTo>
                              <a:lnTo>
                                <a:pt x="552450" y="918845"/>
                              </a:lnTo>
                              <a:lnTo>
                                <a:pt x="554355" y="918210"/>
                              </a:lnTo>
                              <a:lnTo>
                                <a:pt x="556260" y="918845"/>
                              </a:lnTo>
                              <a:lnTo>
                                <a:pt x="804545" y="1024890"/>
                              </a:lnTo>
                              <a:cubicBezTo>
                                <a:pt x="808990" y="1026160"/>
                                <a:pt x="812165" y="1026795"/>
                                <a:pt x="816610" y="1026795"/>
                              </a:cubicBezTo>
                              <a:lnTo>
                                <a:pt x="819150" y="1026795"/>
                              </a:lnTo>
                              <a:cubicBezTo>
                                <a:pt x="821055" y="1026795"/>
                                <a:pt x="824230" y="1026160"/>
                                <a:pt x="826135" y="1025525"/>
                              </a:cubicBezTo>
                              <a:lnTo>
                                <a:pt x="826770" y="1025525"/>
                              </a:lnTo>
                              <a:lnTo>
                                <a:pt x="828040" y="1024890"/>
                              </a:lnTo>
                              <a:lnTo>
                                <a:pt x="1031240" y="937895"/>
                              </a:lnTo>
                              <a:cubicBezTo>
                                <a:pt x="1042670" y="933450"/>
                                <a:pt x="1050290" y="922655"/>
                                <a:pt x="1050290" y="909320"/>
                              </a:cubicBezTo>
                              <a:cubicBezTo>
                                <a:pt x="1050290" y="892175"/>
                                <a:pt x="1036955" y="878840"/>
                                <a:pt x="1019810" y="878840"/>
                              </a:cubicBezTo>
                              <a:cubicBezTo>
                                <a:pt x="1015365" y="878840"/>
                                <a:pt x="1011555" y="879475"/>
                                <a:pt x="1007745" y="881380"/>
                              </a:cubicBezTo>
                              <a:lnTo>
                                <a:pt x="854075" y="947420"/>
                              </a:lnTo>
                              <a:lnTo>
                                <a:pt x="847090" y="949960"/>
                              </a:lnTo>
                              <a:lnTo>
                                <a:pt x="847090" y="692150"/>
                              </a:lnTo>
                              <a:lnTo>
                                <a:pt x="850900" y="690880"/>
                              </a:lnTo>
                              <a:lnTo>
                                <a:pt x="941705" y="655320"/>
                              </a:lnTo>
                              <a:lnTo>
                                <a:pt x="1042035" y="615950"/>
                              </a:lnTo>
                              <a:lnTo>
                                <a:pt x="1049020" y="613410"/>
                              </a:lnTo>
                              <a:lnTo>
                                <a:pt x="1049020" y="770255"/>
                              </a:lnTo>
                              <a:cubicBezTo>
                                <a:pt x="1049020" y="786765"/>
                                <a:pt x="1062355" y="800100"/>
                                <a:pt x="1078865" y="800100"/>
                              </a:cubicBezTo>
                              <a:cubicBezTo>
                                <a:pt x="1095375" y="800100"/>
                                <a:pt x="1108710" y="786765"/>
                                <a:pt x="1108710" y="770255"/>
                              </a:cubicBezTo>
                              <a:cubicBezTo>
                                <a:pt x="1109980" y="770255"/>
                                <a:pt x="1109980" y="769620"/>
                                <a:pt x="1109980" y="768985"/>
                              </a:cubicBezTo>
                              <a:close/>
                              <a:moveTo>
                                <a:pt x="787400" y="187325"/>
                              </a:moveTo>
                              <a:lnTo>
                                <a:pt x="787400" y="436245"/>
                              </a:lnTo>
                              <a:lnTo>
                                <a:pt x="783590" y="437515"/>
                              </a:lnTo>
                              <a:lnTo>
                                <a:pt x="593090" y="520700"/>
                              </a:lnTo>
                              <a:lnTo>
                                <a:pt x="586105" y="524510"/>
                              </a:lnTo>
                              <a:lnTo>
                                <a:pt x="586105" y="266065"/>
                              </a:lnTo>
                              <a:lnTo>
                                <a:pt x="589915" y="264795"/>
                              </a:lnTo>
                              <a:lnTo>
                                <a:pt x="781050" y="189865"/>
                              </a:lnTo>
                              <a:lnTo>
                                <a:pt x="787400" y="187325"/>
                              </a:lnTo>
                              <a:close/>
                              <a:moveTo>
                                <a:pt x="294640" y="639445"/>
                              </a:moveTo>
                              <a:lnTo>
                                <a:pt x="292735" y="640080"/>
                              </a:lnTo>
                              <a:lnTo>
                                <a:pt x="290830" y="639445"/>
                              </a:lnTo>
                              <a:lnTo>
                                <a:pt x="123190" y="573405"/>
                              </a:lnTo>
                              <a:lnTo>
                                <a:pt x="111125" y="568325"/>
                              </a:lnTo>
                              <a:lnTo>
                                <a:pt x="123190" y="563245"/>
                              </a:lnTo>
                              <a:lnTo>
                                <a:pt x="290830" y="490855"/>
                              </a:lnTo>
                              <a:lnTo>
                                <a:pt x="292735" y="490220"/>
                              </a:lnTo>
                              <a:lnTo>
                                <a:pt x="294640" y="490855"/>
                              </a:lnTo>
                              <a:lnTo>
                                <a:pt x="463550" y="563245"/>
                              </a:lnTo>
                              <a:lnTo>
                                <a:pt x="475615" y="568325"/>
                              </a:lnTo>
                              <a:lnTo>
                                <a:pt x="463550" y="573405"/>
                              </a:lnTo>
                              <a:lnTo>
                                <a:pt x="431800" y="585470"/>
                              </a:lnTo>
                              <a:lnTo>
                                <a:pt x="294640" y="639445"/>
                              </a:lnTo>
                              <a:close/>
                              <a:moveTo>
                                <a:pt x="525145" y="621665"/>
                              </a:moveTo>
                              <a:lnTo>
                                <a:pt x="525145" y="864235"/>
                              </a:lnTo>
                              <a:lnTo>
                                <a:pt x="521335" y="865505"/>
                              </a:lnTo>
                              <a:lnTo>
                                <a:pt x="330200" y="947420"/>
                              </a:lnTo>
                              <a:lnTo>
                                <a:pt x="323215" y="949960"/>
                              </a:lnTo>
                              <a:lnTo>
                                <a:pt x="323215" y="692150"/>
                              </a:lnTo>
                              <a:lnTo>
                                <a:pt x="327025" y="690880"/>
                              </a:lnTo>
                              <a:lnTo>
                                <a:pt x="417830" y="655320"/>
                              </a:lnTo>
                              <a:lnTo>
                                <a:pt x="518160" y="615950"/>
                              </a:lnTo>
                              <a:lnTo>
                                <a:pt x="525145" y="613410"/>
                              </a:lnTo>
                              <a:lnTo>
                                <a:pt x="525145" y="621665"/>
                              </a:lnTo>
                              <a:close/>
                              <a:moveTo>
                                <a:pt x="557530" y="212090"/>
                              </a:moveTo>
                              <a:lnTo>
                                <a:pt x="555625" y="212725"/>
                              </a:lnTo>
                              <a:lnTo>
                                <a:pt x="553720" y="212090"/>
                              </a:lnTo>
                              <a:lnTo>
                                <a:pt x="545465" y="208915"/>
                              </a:lnTo>
                              <a:lnTo>
                                <a:pt x="384810" y="145415"/>
                              </a:lnTo>
                              <a:lnTo>
                                <a:pt x="372745" y="140335"/>
                              </a:lnTo>
                              <a:lnTo>
                                <a:pt x="384810" y="135255"/>
                              </a:lnTo>
                              <a:lnTo>
                                <a:pt x="553085" y="62865"/>
                              </a:lnTo>
                              <a:lnTo>
                                <a:pt x="554990" y="62230"/>
                              </a:lnTo>
                              <a:lnTo>
                                <a:pt x="556895" y="62865"/>
                              </a:lnTo>
                              <a:lnTo>
                                <a:pt x="725170" y="135255"/>
                              </a:lnTo>
                              <a:lnTo>
                                <a:pt x="737235" y="140335"/>
                              </a:lnTo>
                              <a:lnTo>
                                <a:pt x="725170" y="145415"/>
                              </a:lnTo>
                              <a:lnTo>
                                <a:pt x="564515" y="208915"/>
                              </a:lnTo>
                              <a:lnTo>
                                <a:pt x="557530" y="212090"/>
                              </a:lnTo>
                              <a:close/>
                              <a:moveTo>
                                <a:pt x="988695" y="572770"/>
                              </a:moveTo>
                              <a:lnTo>
                                <a:pt x="828040" y="636270"/>
                              </a:lnTo>
                              <a:lnTo>
                                <a:pt x="820420" y="638810"/>
                              </a:lnTo>
                              <a:lnTo>
                                <a:pt x="818515" y="639445"/>
                              </a:lnTo>
                              <a:lnTo>
                                <a:pt x="816610" y="638810"/>
                              </a:lnTo>
                              <a:lnTo>
                                <a:pt x="808990" y="636270"/>
                              </a:lnTo>
                              <a:lnTo>
                                <a:pt x="648335" y="572770"/>
                              </a:lnTo>
                              <a:lnTo>
                                <a:pt x="636270" y="567690"/>
                              </a:lnTo>
                              <a:lnTo>
                                <a:pt x="648335" y="562610"/>
                              </a:lnTo>
                              <a:lnTo>
                                <a:pt x="817880" y="490220"/>
                              </a:lnTo>
                              <a:lnTo>
                                <a:pt x="819785" y="489585"/>
                              </a:lnTo>
                              <a:lnTo>
                                <a:pt x="821690" y="490220"/>
                              </a:lnTo>
                              <a:lnTo>
                                <a:pt x="989330" y="562610"/>
                              </a:lnTo>
                              <a:lnTo>
                                <a:pt x="1001395" y="567690"/>
                              </a:lnTo>
                              <a:lnTo>
                                <a:pt x="988695" y="572770"/>
                              </a:lnTo>
                              <a:close/>
                            </a:path>
                          </a:pathLst>
                        </a:custGeom>
                        <a:solidFill>
                          <a:sysClr val="window" lastClr="FFFFFF"/>
                        </a:solidFill>
                        <a:ln w="902" cap="flat">
                          <a:noFill/>
                          <a:prstDash val="solid"/>
                          <a:miter/>
                        </a:ln>
                        <a:effectLst>
                          <a:outerShdw blurRad="55418" dist="41564"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67" name="小红书平北职场PPT3-37"/>
                        <p:cNvSpPr/>
                        <p:nvPr/>
                      </p:nvSpPr>
                      <p:spPr>
                        <a:xfrm>
                          <a:off x="5629274" y="2899410"/>
                          <a:ext cx="153367" cy="292100"/>
                        </a:xfrm>
                        <a:custGeom>
                          <a:avLst/>
                          <a:gdLst>
                            <a:gd name="connsiteX0" fmla="*/ 37465 w 153367"/>
                            <a:gd name="connsiteY0" fmla="*/ 111760 h 292100"/>
                            <a:gd name="connsiteX1" fmla="*/ 37465 w 153367"/>
                            <a:gd name="connsiteY1" fmla="*/ 0 h 292100"/>
                            <a:gd name="connsiteX2" fmla="*/ 99060 w 153367"/>
                            <a:gd name="connsiteY2" fmla="*/ 24130 h 292100"/>
                            <a:gd name="connsiteX3" fmla="*/ 99060 w 153367"/>
                            <a:gd name="connsiteY3" fmla="*/ 112395 h 292100"/>
                            <a:gd name="connsiteX4" fmla="*/ 67945 w 153367"/>
                            <a:gd name="connsiteY4" fmla="*/ 143510 h 292100"/>
                            <a:gd name="connsiteX5" fmla="*/ 37465 w 153367"/>
                            <a:gd name="connsiteY5" fmla="*/ 111760 h 292100"/>
                            <a:gd name="connsiteX6" fmla="*/ 151130 w 153367"/>
                            <a:gd name="connsiteY6" fmla="*/ 232410 h 292100"/>
                            <a:gd name="connsiteX7" fmla="*/ 111125 w 153367"/>
                            <a:gd name="connsiteY7" fmla="*/ 215265 h 292100"/>
                            <a:gd name="connsiteX8" fmla="*/ 0 w 153367"/>
                            <a:gd name="connsiteY8" fmla="*/ 258445 h 292100"/>
                            <a:gd name="connsiteX9" fmla="*/ 85090 w 153367"/>
                            <a:gd name="connsiteY9" fmla="*/ 292100 h 292100"/>
                            <a:gd name="connsiteX10" fmla="*/ 133985 w 153367"/>
                            <a:gd name="connsiteY10" fmla="*/ 273050 h 292100"/>
                            <a:gd name="connsiteX11" fmla="*/ 151130 w 153367"/>
                            <a:gd name="connsiteY11" fmla="*/ 232410 h 29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367" h="292100">
                              <a:moveTo>
                                <a:pt x="37465" y="111760"/>
                              </a:moveTo>
                              <a:lnTo>
                                <a:pt x="37465" y="0"/>
                              </a:lnTo>
                              <a:lnTo>
                                <a:pt x="99060" y="24130"/>
                              </a:lnTo>
                              <a:lnTo>
                                <a:pt x="99060" y="112395"/>
                              </a:lnTo>
                              <a:cubicBezTo>
                                <a:pt x="99060" y="129540"/>
                                <a:pt x="85090" y="143510"/>
                                <a:pt x="67945" y="143510"/>
                              </a:cubicBezTo>
                              <a:cubicBezTo>
                                <a:pt x="51435" y="142240"/>
                                <a:pt x="37465" y="128905"/>
                                <a:pt x="37465" y="111760"/>
                              </a:cubicBezTo>
                              <a:close/>
                              <a:moveTo>
                                <a:pt x="151130" y="232410"/>
                              </a:moveTo>
                              <a:cubicBezTo>
                                <a:pt x="144780" y="216535"/>
                                <a:pt x="127000" y="208915"/>
                                <a:pt x="111125" y="215265"/>
                              </a:cubicBezTo>
                              <a:lnTo>
                                <a:pt x="0" y="258445"/>
                              </a:lnTo>
                              <a:lnTo>
                                <a:pt x="85090" y="292100"/>
                              </a:lnTo>
                              <a:lnTo>
                                <a:pt x="133985" y="273050"/>
                              </a:lnTo>
                              <a:cubicBezTo>
                                <a:pt x="149860" y="266065"/>
                                <a:pt x="157480" y="248285"/>
                                <a:pt x="151130" y="232410"/>
                              </a:cubicBezTo>
                              <a:close/>
                            </a:path>
                          </a:pathLst>
                        </a:custGeom>
                        <a:solidFill>
                          <a:sysClr val="window" lastClr="FFFFFF"/>
                        </a:solidFill>
                        <a:ln w="902" cap="flat">
                          <a:noFill/>
                          <a:prstDash val="solid"/>
                          <a:miter/>
                        </a:ln>
                        <a:effectLst>
                          <a:outerShdw blurRad="55418" dist="41564"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grpSp>
                    <p:nvGrpSpPr>
                      <p:cNvPr id="62" name="组合 61"/>
                      <p:cNvGrpSpPr/>
                      <p:nvPr/>
                    </p:nvGrpSpPr>
                    <p:grpSpPr>
                      <a:xfrm>
                        <a:off x="8148699" y="3692893"/>
                        <a:ext cx="224290" cy="181892"/>
                        <a:chOff x="8695478" y="3139167"/>
                        <a:chExt cx="304874" cy="247244"/>
                      </a:xfrm>
                    </p:grpSpPr>
                    <p:sp>
                      <p:nvSpPr>
                        <p:cNvPr id="64" name="小红书平北职场PPT3-38"/>
                        <p:cNvSpPr/>
                        <p:nvPr/>
                      </p:nvSpPr>
                      <p:spPr>
                        <a:xfrm>
                          <a:off x="8695478" y="3139167"/>
                          <a:ext cx="277303" cy="239318"/>
                        </a:xfrm>
                        <a:custGeom>
                          <a:avLst/>
                          <a:gdLst>
                            <a:gd name="connsiteX0" fmla="*/ 205262 w 277303"/>
                            <a:gd name="connsiteY0" fmla="*/ 25913 h 239318"/>
                            <a:gd name="connsiteX1" fmla="*/ 277303 w 277303"/>
                            <a:gd name="connsiteY1" fmla="*/ 52437 h 239318"/>
                            <a:gd name="connsiteX2" fmla="*/ 277303 w 277303"/>
                            <a:gd name="connsiteY2" fmla="*/ 20426 h 239318"/>
                            <a:gd name="connsiteX3" fmla="*/ 253861 w 277303"/>
                            <a:gd name="connsiteY3" fmla="*/ 0 h 239318"/>
                            <a:gd name="connsiteX4" fmla="*/ 23442 w 277303"/>
                            <a:gd name="connsiteY4" fmla="*/ 0 h 239318"/>
                            <a:gd name="connsiteX5" fmla="*/ 0 w 277303"/>
                            <a:gd name="connsiteY5" fmla="*/ 20426 h 239318"/>
                            <a:gd name="connsiteX6" fmla="*/ 0 w 277303"/>
                            <a:gd name="connsiteY6" fmla="*/ 125604 h 239318"/>
                            <a:gd name="connsiteX7" fmla="*/ 90624 w 277303"/>
                            <a:gd name="connsiteY7" fmla="*/ 125604 h 239318"/>
                            <a:gd name="connsiteX8" fmla="*/ 205262 w 277303"/>
                            <a:gd name="connsiteY8" fmla="*/ 25913 h 239318"/>
                            <a:gd name="connsiteX9" fmla="*/ 109206 w 277303"/>
                            <a:gd name="connsiteY9" fmla="*/ 221026 h 239318"/>
                            <a:gd name="connsiteX10" fmla="*/ 21441 w 277303"/>
                            <a:gd name="connsiteY10" fmla="*/ 221026 h 239318"/>
                            <a:gd name="connsiteX11" fmla="*/ 10863 w 277303"/>
                            <a:gd name="connsiteY11" fmla="*/ 230172 h 239318"/>
                            <a:gd name="connsiteX12" fmla="*/ 21441 w 277303"/>
                            <a:gd name="connsiteY12" fmla="*/ 239318 h 239318"/>
                            <a:gd name="connsiteX13" fmla="*/ 123786 w 277303"/>
                            <a:gd name="connsiteY13" fmla="*/ 239318 h 239318"/>
                            <a:gd name="connsiteX14" fmla="*/ 109206 w 277303"/>
                            <a:gd name="connsiteY14" fmla="*/ 221026 h 239318"/>
                            <a:gd name="connsiteX15" fmla="*/ 88623 w 277303"/>
                            <a:gd name="connsiteY15" fmla="*/ 144201 h 239318"/>
                            <a:gd name="connsiteX16" fmla="*/ 0 w 277303"/>
                            <a:gd name="connsiteY16" fmla="*/ 144201 h 239318"/>
                            <a:gd name="connsiteX17" fmla="*/ 0 w 277303"/>
                            <a:gd name="connsiteY17" fmla="*/ 154566 h 239318"/>
                            <a:gd name="connsiteX18" fmla="*/ 23442 w 277303"/>
                            <a:gd name="connsiteY18" fmla="*/ 175297 h 239318"/>
                            <a:gd name="connsiteX19" fmla="*/ 90624 w 277303"/>
                            <a:gd name="connsiteY19" fmla="*/ 175297 h 239318"/>
                            <a:gd name="connsiteX20" fmla="*/ 88337 w 277303"/>
                            <a:gd name="connsiteY20" fmla="*/ 150298 h 239318"/>
                            <a:gd name="connsiteX21" fmla="*/ 88623 w 277303"/>
                            <a:gd name="connsiteY21" fmla="*/ 144201 h 23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7303" h="239318">
                              <a:moveTo>
                                <a:pt x="205262" y="25913"/>
                              </a:moveTo>
                              <a:cubicBezTo>
                                <a:pt x="232420" y="25913"/>
                                <a:pt x="257292" y="35974"/>
                                <a:pt x="277303" y="52437"/>
                              </a:cubicBezTo>
                              <a:lnTo>
                                <a:pt x="277303" y="20426"/>
                              </a:lnTo>
                              <a:cubicBezTo>
                                <a:pt x="277303" y="8841"/>
                                <a:pt x="266726" y="0"/>
                                <a:pt x="253861" y="0"/>
                              </a:cubicBezTo>
                              <a:lnTo>
                                <a:pt x="23442" y="0"/>
                              </a:lnTo>
                              <a:cubicBezTo>
                                <a:pt x="10292" y="0"/>
                                <a:pt x="0" y="8841"/>
                                <a:pt x="0" y="20426"/>
                              </a:cubicBezTo>
                              <a:lnTo>
                                <a:pt x="0" y="125604"/>
                              </a:lnTo>
                              <a:lnTo>
                                <a:pt x="90624" y="125604"/>
                              </a:lnTo>
                              <a:cubicBezTo>
                                <a:pt x="101487" y="68899"/>
                                <a:pt x="148657" y="25913"/>
                                <a:pt x="205262" y="25913"/>
                              </a:cubicBezTo>
                              <a:close/>
                              <a:moveTo>
                                <a:pt x="109206" y="221026"/>
                              </a:moveTo>
                              <a:lnTo>
                                <a:pt x="21441" y="221026"/>
                              </a:lnTo>
                              <a:cubicBezTo>
                                <a:pt x="15723" y="221026"/>
                                <a:pt x="10863" y="225295"/>
                                <a:pt x="10863" y="230172"/>
                              </a:cubicBezTo>
                              <a:cubicBezTo>
                                <a:pt x="10863" y="235050"/>
                                <a:pt x="15723" y="239318"/>
                                <a:pt x="21441" y="239318"/>
                              </a:cubicBezTo>
                              <a:lnTo>
                                <a:pt x="123786" y="239318"/>
                              </a:lnTo>
                              <a:cubicBezTo>
                                <a:pt x="118354" y="233831"/>
                                <a:pt x="113494" y="227733"/>
                                <a:pt x="109206" y="221026"/>
                              </a:cubicBezTo>
                              <a:close/>
                              <a:moveTo>
                                <a:pt x="88623" y="144201"/>
                              </a:moveTo>
                              <a:lnTo>
                                <a:pt x="0" y="144201"/>
                              </a:lnTo>
                              <a:lnTo>
                                <a:pt x="0" y="154566"/>
                              </a:lnTo>
                              <a:cubicBezTo>
                                <a:pt x="0" y="166151"/>
                                <a:pt x="10578" y="175297"/>
                                <a:pt x="23442" y="175297"/>
                              </a:cubicBezTo>
                              <a:lnTo>
                                <a:pt x="90624" y="175297"/>
                              </a:lnTo>
                              <a:cubicBezTo>
                                <a:pt x="89195" y="167370"/>
                                <a:pt x="88337" y="158834"/>
                                <a:pt x="88337" y="150298"/>
                              </a:cubicBezTo>
                              <a:cubicBezTo>
                                <a:pt x="88623" y="148469"/>
                                <a:pt x="88623" y="146335"/>
                                <a:pt x="88623" y="144201"/>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65" name="小红书平北职场PPT3-39"/>
                        <p:cNvSpPr/>
                        <p:nvPr/>
                      </p:nvSpPr>
                      <p:spPr>
                        <a:xfrm>
                          <a:off x="8807415" y="3192823"/>
                          <a:ext cx="192937" cy="193588"/>
                        </a:xfrm>
                        <a:custGeom>
                          <a:avLst/>
                          <a:gdLst>
                            <a:gd name="connsiteX0" fmla="*/ 96469 w 192937"/>
                            <a:gd name="connsiteY0" fmla="*/ 46339 h 193588"/>
                            <a:gd name="connsiteX1" fmla="*/ 31002 w 192937"/>
                            <a:gd name="connsiteY1" fmla="*/ 116153 h 193588"/>
                            <a:gd name="connsiteX2" fmla="*/ 64450 w 192937"/>
                            <a:gd name="connsiteY2" fmla="*/ 177126 h 193588"/>
                            <a:gd name="connsiteX3" fmla="*/ 64450 w 192937"/>
                            <a:gd name="connsiteY3" fmla="*/ 180479 h 193588"/>
                            <a:gd name="connsiteX4" fmla="*/ 76743 w 192937"/>
                            <a:gd name="connsiteY4" fmla="*/ 193589 h 193588"/>
                            <a:gd name="connsiteX5" fmla="*/ 115908 w 192937"/>
                            <a:gd name="connsiteY5" fmla="*/ 193589 h 193588"/>
                            <a:gd name="connsiteX6" fmla="*/ 128201 w 192937"/>
                            <a:gd name="connsiteY6" fmla="*/ 180479 h 193588"/>
                            <a:gd name="connsiteX7" fmla="*/ 128201 w 192937"/>
                            <a:gd name="connsiteY7" fmla="*/ 177431 h 193588"/>
                            <a:gd name="connsiteX8" fmla="*/ 161935 w 192937"/>
                            <a:gd name="connsiteY8" fmla="*/ 116458 h 193588"/>
                            <a:gd name="connsiteX9" fmla="*/ 96469 w 192937"/>
                            <a:gd name="connsiteY9" fmla="*/ 46339 h 193588"/>
                            <a:gd name="connsiteX10" fmla="*/ 130488 w 192937"/>
                            <a:gd name="connsiteY10" fmla="*/ 91154 h 193588"/>
                            <a:gd name="connsiteX11" fmla="*/ 126772 w 192937"/>
                            <a:gd name="connsiteY11" fmla="*/ 92374 h 193588"/>
                            <a:gd name="connsiteX12" fmla="*/ 122198 w 192937"/>
                            <a:gd name="connsiteY12" fmla="*/ 90240 h 193588"/>
                            <a:gd name="connsiteX13" fmla="*/ 100471 w 192937"/>
                            <a:gd name="connsiteY13" fmla="*/ 78350 h 193588"/>
                            <a:gd name="connsiteX14" fmla="*/ 95039 w 192937"/>
                            <a:gd name="connsiteY14" fmla="*/ 71643 h 193588"/>
                            <a:gd name="connsiteX15" fmla="*/ 101329 w 192937"/>
                            <a:gd name="connsiteY15" fmla="*/ 64936 h 193588"/>
                            <a:gd name="connsiteX16" fmla="*/ 102186 w 192937"/>
                            <a:gd name="connsiteY16" fmla="*/ 64936 h 193588"/>
                            <a:gd name="connsiteX17" fmla="*/ 131918 w 192937"/>
                            <a:gd name="connsiteY17" fmla="*/ 81399 h 193588"/>
                            <a:gd name="connsiteX18" fmla="*/ 133633 w 192937"/>
                            <a:gd name="connsiteY18" fmla="*/ 86581 h 193588"/>
                            <a:gd name="connsiteX19" fmla="*/ 130488 w 192937"/>
                            <a:gd name="connsiteY19" fmla="*/ 91154 h 193588"/>
                            <a:gd name="connsiteX20" fmla="*/ 145354 w 192937"/>
                            <a:gd name="connsiteY20" fmla="*/ 101215 h 193588"/>
                            <a:gd name="connsiteX21" fmla="*/ 147355 w 192937"/>
                            <a:gd name="connsiteY21" fmla="*/ 107617 h 193588"/>
                            <a:gd name="connsiteX22" fmla="*/ 142781 w 192937"/>
                            <a:gd name="connsiteY22" fmla="*/ 115848 h 193588"/>
                            <a:gd name="connsiteX23" fmla="*/ 141066 w 192937"/>
                            <a:gd name="connsiteY23" fmla="*/ 116153 h 193588"/>
                            <a:gd name="connsiteX24" fmla="*/ 134776 w 192937"/>
                            <a:gd name="connsiteY24" fmla="*/ 110970 h 193588"/>
                            <a:gd name="connsiteX25" fmla="*/ 133347 w 192937"/>
                            <a:gd name="connsiteY25" fmla="*/ 106398 h 193588"/>
                            <a:gd name="connsiteX26" fmla="*/ 135634 w 192937"/>
                            <a:gd name="connsiteY26" fmla="*/ 98471 h 193588"/>
                            <a:gd name="connsiteX27" fmla="*/ 139351 w 192937"/>
                            <a:gd name="connsiteY27" fmla="*/ 97252 h 193588"/>
                            <a:gd name="connsiteX28" fmla="*/ 145354 w 192937"/>
                            <a:gd name="connsiteY28" fmla="*/ 101215 h 193588"/>
                            <a:gd name="connsiteX29" fmla="*/ 97612 w 192937"/>
                            <a:gd name="connsiteY29" fmla="*/ 32925 h 193588"/>
                            <a:gd name="connsiteX30" fmla="*/ 95039 w 192937"/>
                            <a:gd name="connsiteY30" fmla="*/ 32925 h 193588"/>
                            <a:gd name="connsiteX31" fmla="*/ 85605 w 192937"/>
                            <a:gd name="connsiteY31" fmla="*/ 22865 h 193588"/>
                            <a:gd name="connsiteX32" fmla="*/ 85605 w 192937"/>
                            <a:gd name="connsiteY32" fmla="*/ 10061 h 193588"/>
                            <a:gd name="connsiteX33" fmla="*/ 95039 w 192937"/>
                            <a:gd name="connsiteY33" fmla="*/ 0 h 193588"/>
                            <a:gd name="connsiteX34" fmla="*/ 97612 w 192937"/>
                            <a:gd name="connsiteY34" fmla="*/ 0 h 193588"/>
                            <a:gd name="connsiteX35" fmla="*/ 107046 w 192937"/>
                            <a:gd name="connsiteY35" fmla="*/ 10061 h 193588"/>
                            <a:gd name="connsiteX36" fmla="*/ 107046 w 192937"/>
                            <a:gd name="connsiteY36" fmla="*/ 22865 h 193588"/>
                            <a:gd name="connsiteX37" fmla="*/ 97612 w 192937"/>
                            <a:gd name="connsiteY37" fmla="*/ 32925 h 193588"/>
                            <a:gd name="connsiteX38" fmla="*/ 136492 w 192937"/>
                            <a:gd name="connsiteY38" fmla="*/ 44815 h 193588"/>
                            <a:gd name="connsiteX39" fmla="*/ 134205 w 192937"/>
                            <a:gd name="connsiteY39" fmla="*/ 43291 h 193588"/>
                            <a:gd name="connsiteX40" fmla="*/ 130774 w 192937"/>
                            <a:gd name="connsiteY40" fmla="*/ 29267 h 193588"/>
                            <a:gd name="connsiteX41" fmla="*/ 136778 w 192937"/>
                            <a:gd name="connsiteY41" fmla="*/ 18292 h 193588"/>
                            <a:gd name="connsiteX42" fmla="*/ 149928 w 192937"/>
                            <a:gd name="connsiteY42" fmla="*/ 14633 h 193588"/>
                            <a:gd name="connsiteX43" fmla="*/ 152215 w 192937"/>
                            <a:gd name="connsiteY43" fmla="*/ 16158 h 193588"/>
                            <a:gd name="connsiteX44" fmla="*/ 155646 w 192937"/>
                            <a:gd name="connsiteY44" fmla="*/ 30182 h 193588"/>
                            <a:gd name="connsiteX45" fmla="*/ 149642 w 192937"/>
                            <a:gd name="connsiteY45" fmla="*/ 41157 h 193588"/>
                            <a:gd name="connsiteX46" fmla="*/ 136492 w 192937"/>
                            <a:gd name="connsiteY46" fmla="*/ 44815 h 193588"/>
                            <a:gd name="connsiteX47" fmla="*/ 164508 w 192937"/>
                            <a:gd name="connsiteY47" fmla="*/ 75911 h 193588"/>
                            <a:gd name="connsiteX48" fmla="*/ 163364 w 192937"/>
                            <a:gd name="connsiteY48" fmla="*/ 73167 h 193588"/>
                            <a:gd name="connsiteX49" fmla="*/ 166795 w 192937"/>
                            <a:gd name="connsiteY49" fmla="*/ 59144 h 193588"/>
                            <a:gd name="connsiteX50" fmla="*/ 177087 w 192937"/>
                            <a:gd name="connsiteY50" fmla="*/ 52741 h 193588"/>
                            <a:gd name="connsiteX51" fmla="*/ 190237 w 192937"/>
                            <a:gd name="connsiteY51" fmla="*/ 56400 h 193588"/>
                            <a:gd name="connsiteX52" fmla="*/ 191667 w 192937"/>
                            <a:gd name="connsiteY52" fmla="*/ 58839 h 193588"/>
                            <a:gd name="connsiteX53" fmla="*/ 188236 w 192937"/>
                            <a:gd name="connsiteY53" fmla="*/ 72862 h 193588"/>
                            <a:gd name="connsiteX54" fmla="*/ 177658 w 192937"/>
                            <a:gd name="connsiteY54" fmla="*/ 79570 h 193588"/>
                            <a:gd name="connsiteX55" fmla="*/ 164508 w 192937"/>
                            <a:gd name="connsiteY55" fmla="*/ 75911 h 193588"/>
                            <a:gd name="connsiteX56" fmla="*/ 58447 w 192937"/>
                            <a:gd name="connsiteY56" fmla="*/ 43291 h 193588"/>
                            <a:gd name="connsiteX57" fmla="*/ 56160 w 192937"/>
                            <a:gd name="connsiteY57" fmla="*/ 44815 h 193588"/>
                            <a:gd name="connsiteX58" fmla="*/ 43009 w 192937"/>
                            <a:gd name="connsiteY58" fmla="*/ 41157 h 193588"/>
                            <a:gd name="connsiteX59" fmla="*/ 37006 w 192937"/>
                            <a:gd name="connsiteY59" fmla="*/ 30182 h 193588"/>
                            <a:gd name="connsiteX60" fmla="*/ 40436 w 192937"/>
                            <a:gd name="connsiteY60" fmla="*/ 16158 h 193588"/>
                            <a:gd name="connsiteX61" fmla="*/ 42723 w 192937"/>
                            <a:gd name="connsiteY61" fmla="*/ 14633 h 193588"/>
                            <a:gd name="connsiteX62" fmla="*/ 55874 w 192937"/>
                            <a:gd name="connsiteY62" fmla="*/ 18292 h 193588"/>
                            <a:gd name="connsiteX63" fmla="*/ 61877 w 192937"/>
                            <a:gd name="connsiteY63" fmla="*/ 29267 h 193588"/>
                            <a:gd name="connsiteX64" fmla="*/ 58447 w 192937"/>
                            <a:gd name="connsiteY64" fmla="*/ 43291 h 193588"/>
                            <a:gd name="connsiteX65" fmla="*/ 29287 w 192937"/>
                            <a:gd name="connsiteY65" fmla="*/ 73167 h 193588"/>
                            <a:gd name="connsiteX66" fmla="*/ 27857 w 192937"/>
                            <a:gd name="connsiteY66" fmla="*/ 75606 h 193588"/>
                            <a:gd name="connsiteX67" fmla="*/ 14707 w 192937"/>
                            <a:gd name="connsiteY67" fmla="*/ 79265 h 193588"/>
                            <a:gd name="connsiteX68" fmla="*/ 4701 w 192937"/>
                            <a:gd name="connsiteY68" fmla="*/ 73167 h 193588"/>
                            <a:gd name="connsiteX69" fmla="*/ 1271 w 192937"/>
                            <a:gd name="connsiteY69" fmla="*/ 59144 h 193588"/>
                            <a:gd name="connsiteX70" fmla="*/ 2700 w 192937"/>
                            <a:gd name="connsiteY70" fmla="*/ 56705 h 193588"/>
                            <a:gd name="connsiteX71" fmla="*/ 15850 w 192937"/>
                            <a:gd name="connsiteY71" fmla="*/ 53046 h 193588"/>
                            <a:gd name="connsiteX72" fmla="*/ 26142 w 192937"/>
                            <a:gd name="connsiteY72" fmla="*/ 59448 h 193588"/>
                            <a:gd name="connsiteX73" fmla="*/ 29287 w 192937"/>
                            <a:gd name="connsiteY73" fmla="*/ 73167 h 19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92937" h="193588">
                              <a:moveTo>
                                <a:pt x="96469" y="46339"/>
                              </a:moveTo>
                              <a:cubicBezTo>
                                <a:pt x="60162" y="46339"/>
                                <a:pt x="31002" y="77740"/>
                                <a:pt x="31002" y="116153"/>
                              </a:cubicBezTo>
                              <a:cubicBezTo>
                                <a:pt x="31002" y="142371"/>
                                <a:pt x="44438" y="165236"/>
                                <a:pt x="64450" y="177126"/>
                              </a:cubicBezTo>
                              <a:lnTo>
                                <a:pt x="64450" y="180479"/>
                              </a:lnTo>
                              <a:cubicBezTo>
                                <a:pt x="64450" y="187796"/>
                                <a:pt x="69882" y="193589"/>
                                <a:pt x="76743" y="193589"/>
                              </a:cubicBezTo>
                              <a:lnTo>
                                <a:pt x="115908" y="193589"/>
                              </a:lnTo>
                              <a:cubicBezTo>
                                <a:pt x="122769" y="193589"/>
                                <a:pt x="128201" y="187796"/>
                                <a:pt x="128201" y="180479"/>
                              </a:cubicBezTo>
                              <a:lnTo>
                                <a:pt x="128201" y="177431"/>
                              </a:lnTo>
                              <a:cubicBezTo>
                                <a:pt x="148213" y="165541"/>
                                <a:pt x="161935" y="142676"/>
                                <a:pt x="161935" y="116458"/>
                              </a:cubicBezTo>
                              <a:cubicBezTo>
                                <a:pt x="161935" y="77740"/>
                                <a:pt x="132489" y="46339"/>
                                <a:pt x="96469" y="46339"/>
                              </a:cubicBezTo>
                              <a:close/>
                              <a:moveTo>
                                <a:pt x="130488" y="91154"/>
                              </a:moveTo>
                              <a:cubicBezTo>
                                <a:pt x="129345" y="92069"/>
                                <a:pt x="128201" y="92374"/>
                                <a:pt x="126772" y="92374"/>
                              </a:cubicBezTo>
                              <a:cubicBezTo>
                                <a:pt x="125057" y="92374"/>
                                <a:pt x="123341" y="91459"/>
                                <a:pt x="122198" y="90240"/>
                              </a:cubicBezTo>
                              <a:cubicBezTo>
                                <a:pt x="116480" y="83533"/>
                                <a:pt x="109047" y="79265"/>
                                <a:pt x="100471" y="78350"/>
                              </a:cubicBezTo>
                              <a:cubicBezTo>
                                <a:pt x="97326" y="77740"/>
                                <a:pt x="95039" y="74997"/>
                                <a:pt x="95039" y="71643"/>
                              </a:cubicBezTo>
                              <a:cubicBezTo>
                                <a:pt x="95039" y="67985"/>
                                <a:pt x="97898" y="64936"/>
                                <a:pt x="101329" y="64936"/>
                              </a:cubicBezTo>
                              <a:lnTo>
                                <a:pt x="102186" y="64936"/>
                              </a:lnTo>
                              <a:cubicBezTo>
                                <a:pt x="113621" y="66460"/>
                                <a:pt x="124199" y="72253"/>
                                <a:pt x="131918" y="81399"/>
                              </a:cubicBezTo>
                              <a:cubicBezTo>
                                <a:pt x="133061" y="82923"/>
                                <a:pt x="133633" y="84752"/>
                                <a:pt x="133633" y="86581"/>
                              </a:cubicBezTo>
                              <a:cubicBezTo>
                                <a:pt x="133061" y="88411"/>
                                <a:pt x="131918" y="90240"/>
                                <a:pt x="130488" y="91154"/>
                              </a:cubicBezTo>
                              <a:close/>
                              <a:moveTo>
                                <a:pt x="145354" y="101215"/>
                              </a:moveTo>
                              <a:cubicBezTo>
                                <a:pt x="146212" y="103349"/>
                                <a:pt x="146783" y="105483"/>
                                <a:pt x="147355" y="107617"/>
                              </a:cubicBezTo>
                              <a:cubicBezTo>
                                <a:pt x="148213" y="111275"/>
                                <a:pt x="146212" y="114934"/>
                                <a:pt x="142781" y="115848"/>
                              </a:cubicBezTo>
                              <a:cubicBezTo>
                                <a:pt x="142209" y="116153"/>
                                <a:pt x="141638" y="116153"/>
                                <a:pt x="141066" y="116153"/>
                              </a:cubicBezTo>
                              <a:cubicBezTo>
                                <a:pt x="138207" y="116153"/>
                                <a:pt x="135634" y="114019"/>
                                <a:pt x="134776" y="110970"/>
                              </a:cubicBezTo>
                              <a:cubicBezTo>
                                <a:pt x="134491" y="109446"/>
                                <a:pt x="133919" y="107617"/>
                                <a:pt x="133347" y="106398"/>
                              </a:cubicBezTo>
                              <a:cubicBezTo>
                                <a:pt x="132204" y="103349"/>
                                <a:pt x="133347" y="99995"/>
                                <a:pt x="135634" y="98471"/>
                              </a:cubicBezTo>
                              <a:cubicBezTo>
                                <a:pt x="136778" y="97556"/>
                                <a:pt x="137921" y="97252"/>
                                <a:pt x="139351" y="97252"/>
                              </a:cubicBezTo>
                              <a:cubicBezTo>
                                <a:pt x="141923" y="96947"/>
                                <a:pt x="144210" y="98776"/>
                                <a:pt x="145354" y="101215"/>
                              </a:cubicBezTo>
                              <a:close/>
                              <a:moveTo>
                                <a:pt x="97612" y="32925"/>
                              </a:moveTo>
                              <a:lnTo>
                                <a:pt x="95039" y="32925"/>
                              </a:lnTo>
                              <a:cubicBezTo>
                                <a:pt x="89893" y="32925"/>
                                <a:pt x="85605" y="28352"/>
                                <a:pt x="85605" y="22865"/>
                              </a:cubicBezTo>
                              <a:lnTo>
                                <a:pt x="85605" y="10061"/>
                              </a:lnTo>
                              <a:cubicBezTo>
                                <a:pt x="85605" y="4573"/>
                                <a:pt x="89893" y="0"/>
                                <a:pt x="95039" y="0"/>
                              </a:cubicBezTo>
                              <a:lnTo>
                                <a:pt x="97612" y="0"/>
                              </a:lnTo>
                              <a:cubicBezTo>
                                <a:pt x="102758" y="0"/>
                                <a:pt x="107046" y="4573"/>
                                <a:pt x="107046" y="10061"/>
                              </a:cubicBezTo>
                              <a:lnTo>
                                <a:pt x="107046" y="22865"/>
                              </a:lnTo>
                              <a:cubicBezTo>
                                <a:pt x="107332" y="28352"/>
                                <a:pt x="103044" y="32925"/>
                                <a:pt x="97612" y="32925"/>
                              </a:cubicBezTo>
                              <a:close/>
                              <a:moveTo>
                                <a:pt x="136492" y="44815"/>
                              </a:moveTo>
                              <a:lnTo>
                                <a:pt x="134205" y="43291"/>
                              </a:lnTo>
                              <a:cubicBezTo>
                                <a:pt x="129631" y="40547"/>
                                <a:pt x="128201" y="34145"/>
                                <a:pt x="130774" y="29267"/>
                              </a:cubicBezTo>
                              <a:lnTo>
                                <a:pt x="136778" y="18292"/>
                              </a:lnTo>
                              <a:cubicBezTo>
                                <a:pt x="139351" y="13414"/>
                                <a:pt x="145354" y="11890"/>
                                <a:pt x="149928" y="14633"/>
                              </a:cubicBezTo>
                              <a:lnTo>
                                <a:pt x="152215" y="16158"/>
                              </a:lnTo>
                              <a:cubicBezTo>
                                <a:pt x="156789" y="18902"/>
                                <a:pt x="158219" y="25304"/>
                                <a:pt x="155646" y="30182"/>
                              </a:cubicBezTo>
                              <a:lnTo>
                                <a:pt x="149642" y="41157"/>
                              </a:lnTo>
                              <a:cubicBezTo>
                                <a:pt x="147069" y="46034"/>
                                <a:pt x="141066" y="47559"/>
                                <a:pt x="136492" y="44815"/>
                              </a:cubicBezTo>
                              <a:close/>
                              <a:moveTo>
                                <a:pt x="164508" y="75911"/>
                              </a:moveTo>
                              <a:lnTo>
                                <a:pt x="163364" y="73167"/>
                              </a:lnTo>
                              <a:cubicBezTo>
                                <a:pt x="160792" y="68290"/>
                                <a:pt x="162221" y="62192"/>
                                <a:pt x="166795" y="59144"/>
                              </a:cubicBezTo>
                              <a:lnTo>
                                <a:pt x="177087" y="52741"/>
                              </a:lnTo>
                              <a:cubicBezTo>
                                <a:pt x="181661" y="49998"/>
                                <a:pt x="187378" y="51522"/>
                                <a:pt x="190237" y="56400"/>
                              </a:cubicBezTo>
                              <a:lnTo>
                                <a:pt x="191667" y="58839"/>
                              </a:lnTo>
                              <a:cubicBezTo>
                                <a:pt x="194239" y="63717"/>
                                <a:pt x="192810" y="69814"/>
                                <a:pt x="188236" y="72862"/>
                              </a:cubicBezTo>
                              <a:lnTo>
                                <a:pt x="177658" y="79570"/>
                              </a:lnTo>
                              <a:cubicBezTo>
                                <a:pt x="173084" y="82313"/>
                                <a:pt x="167367" y="80484"/>
                                <a:pt x="164508" y="75911"/>
                              </a:cubicBezTo>
                              <a:close/>
                              <a:moveTo>
                                <a:pt x="58447" y="43291"/>
                              </a:moveTo>
                              <a:lnTo>
                                <a:pt x="56160" y="44815"/>
                              </a:lnTo>
                              <a:cubicBezTo>
                                <a:pt x="51585" y="47559"/>
                                <a:pt x="45868" y="46034"/>
                                <a:pt x="43009" y="41157"/>
                              </a:cubicBezTo>
                              <a:lnTo>
                                <a:pt x="37006" y="30182"/>
                              </a:lnTo>
                              <a:cubicBezTo>
                                <a:pt x="34433" y="25304"/>
                                <a:pt x="35862" y="19206"/>
                                <a:pt x="40436" y="16158"/>
                              </a:cubicBezTo>
                              <a:lnTo>
                                <a:pt x="42723" y="14633"/>
                              </a:lnTo>
                              <a:cubicBezTo>
                                <a:pt x="47297" y="11890"/>
                                <a:pt x="53015" y="13414"/>
                                <a:pt x="55874" y="18292"/>
                              </a:cubicBezTo>
                              <a:lnTo>
                                <a:pt x="61877" y="29267"/>
                              </a:lnTo>
                              <a:cubicBezTo>
                                <a:pt x="64450" y="34145"/>
                                <a:pt x="63021" y="40547"/>
                                <a:pt x="58447" y="43291"/>
                              </a:cubicBezTo>
                              <a:close/>
                              <a:moveTo>
                                <a:pt x="29287" y="73167"/>
                              </a:moveTo>
                              <a:lnTo>
                                <a:pt x="27857" y="75606"/>
                              </a:lnTo>
                              <a:cubicBezTo>
                                <a:pt x="25284" y="80484"/>
                                <a:pt x="19281" y="82008"/>
                                <a:pt x="14707" y="79265"/>
                              </a:cubicBezTo>
                              <a:lnTo>
                                <a:pt x="4701" y="73167"/>
                              </a:lnTo>
                              <a:cubicBezTo>
                                <a:pt x="127" y="70424"/>
                                <a:pt x="-1302" y="64021"/>
                                <a:pt x="1271" y="59144"/>
                              </a:cubicBezTo>
                              <a:lnTo>
                                <a:pt x="2700" y="56705"/>
                              </a:lnTo>
                              <a:cubicBezTo>
                                <a:pt x="5273" y="51827"/>
                                <a:pt x="11276" y="50303"/>
                                <a:pt x="15850" y="53046"/>
                              </a:cubicBezTo>
                              <a:lnTo>
                                <a:pt x="26142" y="59448"/>
                              </a:lnTo>
                              <a:cubicBezTo>
                                <a:pt x="30430" y="62192"/>
                                <a:pt x="32146" y="68290"/>
                                <a:pt x="29287" y="73167"/>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63" name="小红书平北职场PPT3-40"/>
                      <p:cNvSpPr/>
                      <p:nvPr/>
                    </p:nvSpPr>
                    <p:spPr>
                      <a:xfrm>
                        <a:off x="8139044" y="4587302"/>
                        <a:ext cx="230034" cy="256952"/>
                      </a:xfrm>
                      <a:custGeom>
                        <a:avLst/>
                        <a:gdLst>
                          <a:gd name="connsiteX0" fmla="*/ 136661 w 245711"/>
                          <a:gd name="connsiteY0" fmla="*/ 2146 h 274465"/>
                          <a:gd name="connsiteX1" fmla="*/ 235146 w 245711"/>
                          <a:gd name="connsiteY1" fmla="*/ 33505 h 274465"/>
                          <a:gd name="connsiteX2" fmla="*/ 245711 w 245711"/>
                          <a:gd name="connsiteY2" fmla="*/ 47958 h 274465"/>
                          <a:gd name="connsiteX3" fmla="*/ 245711 w 245711"/>
                          <a:gd name="connsiteY3" fmla="*/ 179721 h 274465"/>
                          <a:gd name="connsiteX4" fmla="*/ 192712 w 245711"/>
                          <a:gd name="connsiteY4" fmla="*/ 235722 h 274465"/>
                          <a:gd name="connsiteX5" fmla="*/ 122856 w 245711"/>
                          <a:gd name="connsiteY5" fmla="*/ 274466 h 274465"/>
                          <a:gd name="connsiteX6" fmla="*/ 49036 w 245711"/>
                          <a:gd name="connsiteY6" fmla="*/ 235099 h 274465"/>
                          <a:gd name="connsiteX7" fmla="*/ 0 w 245711"/>
                          <a:gd name="connsiteY7" fmla="*/ 179721 h 274465"/>
                          <a:gd name="connsiteX8" fmla="*/ 0 w 245711"/>
                          <a:gd name="connsiteY8" fmla="*/ 47956 h 274465"/>
                          <a:gd name="connsiteX9" fmla="*/ 10566 w 245711"/>
                          <a:gd name="connsiteY9" fmla="*/ 33503 h 274465"/>
                          <a:gd name="connsiteX10" fmla="*/ 109050 w 245711"/>
                          <a:gd name="connsiteY10" fmla="*/ 2145 h 274465"/>
                          <a:gd name="connsiteX11" fmla="*/ 136661 w 245711"/>
                          <a:gd name="connsiteY11" fmla="*/ 2145 h 274465"/>
                          <a:gd name="connsiteX12" fmla="*/ 115026 w 245711"/>
                          <a:gd name="connsiteY12" fmla="*/ 71485 h 274465"/>
                          <a:gd name="connsiteX13" fmla="*/ 66140 w 245711"/>
                          <a:gd name="connsiteY13" fmla="*/ 120620 h 274465"/>
                          <a:gd name="connsiteX14" fmla="*/ 115026 w 245711"/>
                          <a:gd name="connsiteY14" fmla="*/ 169756 h 274465"/>
                          <a:gd name="connsiteX15" fmla="*/ 140265 w 245711"/>
                          <a:gd name="connsiteY15" fmla="*/ 162725 h 274465"/>
                          <a:gd name="connsiteX16" fmla="*/ 141768 w 245711"/>
                          <a:gd name="connsiteY16" fmla="*/ 161765 h 274465"/>
                          <a:gd name="connsiteX17" fmla="*/ 164695 w 245711"/>
                          <a:gd name="connsiteY17" fmla="*/ 187015 h 274465"/>
                          <a:gd name="connsiteX18" fmla="*/ 169811 w 245711"/>
                          <a:gd name="connsiteY18" fmla="*/ 189283 h 274465"/>
                          <a:gd name="connsiteX19" fmla="*/ 176752 w 245711"/>
                          <a:gd name="connsiteY19" fmla="*/ 182270 h 274465"/>
                          <a:gd name="connsiteX20" fmla="*/ 174928 w 245711"/>
                          <a:gd name="connsiteY20" fmla="*/ 177602 h 274465"/>
                          <a:gd name="connsiteX21" fmla="*/ 152177 w 245711"/>
                          <a:gd name="connsiteY21" fmla="*/ 152555 h 274465"/>
                          <a:gd name="connsiteX22" fmla="*/ 157380 w 245711"/>
                          <a:gd name="connsiteY22" fmla="*/ 145144 h 274465"/>
                          <a:gd name="connsiteX23" fmla="*/ 163914 w 245711"/>
                          <a:gd name="connsiteY23" fmla="*/ 120620 h 274465"/>
                          <a:gd name="connsiteX24" fmla="*/ 115026 w 245711"/>
                          <a:gd name="connsiteY24" fmla="*/ 71485 h 274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5711" h="274465">
                            <a:moveTo>
                              <a:pt x="136661" y="2146"/>
                            </a:moveTo>
                            <a:lnTo>
                              <a:pt x="235146" y="33505"/>
                            </a:lnTo>
                            <a:cubicBezTo>
                              <a:pt x="241438" y="35509"/>
                              <a:pt x="245712" y="41354"/>
                              <a:pt x="245711" y="47958"/>
                            </a:cubicBezTo>
                            <a:lnTo>
                              <a:pt x="245711" y="179721"/>
                            </a:lnTo>
                            <a:cubicBezTo>
                              <a:pt x="232613" y="199909"/>
                              <a:pt x="214946" y="218576"/>
                              <a:pt x="192712" y="235722"/>
                            </a:cubicBezTo>
                            <a:cubicBezTo>
                              <a:pt x="170477" y="252870"/>
                              <a:pt x="147192" y="265784"/>
                              <a:pt x="122856" y="274466"/>
                            </a:cubicBezTo>
                            <a:cubicBezTo>
                              <a:pt x="88069" y="259345"/>
                              <a:pt x="63463" y="246224"/>
                              <a:pt x="49036" y="235099"/>
                            </a:cubicBezTo>
                            <a:cubicBezTo>
                              <a:pt x="34612" y="223974"/>
                              <a:pt x="18266" y="205515"/>
                              <a:pt x="0" y="179721"/>
                            </a:cubicBezTo>
                            <a:lnTo>
                              <a:pt x="0" y="47956"/>
                            </a:lnTo>
                            <a:cubicBezTo>
                              <a:pt x="0" y="41352"/>
                              <a:pt x="4273" y="35507"/>
                              <a:pt x="10566" y="33503"/>
                            </a:cubicBezTo>
                            <a:lnTo>
                              <a:pt x="109050" y="2145"/>
                            </a:lnTo>
                            <a:cubicBezTo>
                              <a:pt x="118032" y="-715"/>
                              <a:pt x="127680" y="-715"/>
                              <a:pt x="136661" y="2145"/>
                            </a:cubicBezTo>
                            <a:close/>
                            <a:moveTo>
                              <a:pt x="115026" y="71485"/>
                            </a:moveTo>
                            <a:cubicBezTo>
                              <a:pt x="88083" y="71485"/>
                              <a:pt x="66140" y="93539"/>
                              <a:pt x="66140" y="120620"/>
                            </a:cubicBezTo>
                            <a:cubicBezTo>
                              <a:pt x="66140" y="147701"/>
                              <a:pt x="88083" y="169756"/>
                              <a:pt x="115026" y="169756"/>
                            </a:cubicBezTo>
                            <a:cubicBezTo>
                              <a:pt x="123931" y="169756"/>
                              <a:pt x="132661" y="167314"/>
                              <a:pt x="140265" y="162725"/>
                            </a:cubicBezTo>
                            <a:cubicBezTo>
                              <a:pt x="140785" y="162405"/>
                              <a:pt x="141276" y="162085"/>
                              <a:pt x="141768" y="161765"/>
                            </a:cubicBezTo>
                            <a:lnTo>
                              <a:pt x="164695" y="187015"/>
                            </a:lnTo>
                            <a:cubicBezTo>
                              <a:pt x="166000" y="188465"/>
                              <a:pt x="167861" y="189289"/>
                              <a:pt x="169811" y="189283"/>
                            </a:cubicBezTo>
                            <a:cubicBezTo>
                              <a:pt x="173664" y="189263"/>
                              <a:pt x="176772" y="186123"/>
                              <a:pt x="176752" y="182270"/>
                            </a:cubicBezTo>
                            <a:cubicBezTo>
                              <a:pt x="176743" y="180542"/>
                              <a:pt x="176093" y="178879"/>
                              <a:pt x="174928" y="177602"/>
                            </a:cubicBezTo>
                            <a:lnTo>
                              <a:pt x="152177" y="152555"/>
                            </a:lnTo>
                            <a:cubicBezTo>
                              <a:pt x="154144" y="150257"/>
                              <a:pt x="155886" y="147775"/>
                              <a:pt x="157380" y="145144"/>
                            </a:cubicBezTo>
                            <a:cubicBezTo>
                              <a:pt x="161658" y="137735"/>
                              <a:pt x="163914" y="129250"/>
                              <a:pt x="163914" y="120620"/>
                            </a:cubicBezTo>
                            <a:cubicBezTo>
                              <a:pt x="163914" y="93539"/>
                              <a:pt x="141971" y="71485"/>
                              <a:pt x="115026" y="71485"/>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grpSp>
            </p:grpSp>
            <p:sp>
              <p:nvSpPr>
                <p:cNvPr id="54" name="小红书平北职场PPT3-41"/>
                <p:cNvSpPr txBox="1"/>
                <p:nvPr/>
              </p:nvSpPr>
              <p:spPr>
                <a:xfrm>
                  <a:off x="674865" y="1052519"/>
                  <a:ext cx="3695299" cy="400110"/>
                </a:xfrm>
                <a:prstGeom prst="rect">
                  <a:avLst/>
                </a:prstGeom>
                <a:noFill/>
              </p:spPr>
              <p:txBody>
                <a:bodyPr wrap="square">
                  <a:spAutoFit/>
                </a:bodyPr>
                <a:lstStyle/>
                <a:p>
                  <a:pPr algn="ctr"/>
                  <a:r>
                    <a:rPr lang="zh-CN" altLang="en-US" sz="2000" dirty="0">
                      <a:solidFill>
                        <a:schemeClr val="bg1"/>
                      </a:solidFill>
                      <a:latin typeface="+mj-ea"/>
                      <a:ea typeface="+mj-ea"/>
                      <a:cs typeface="思源黑体 CN Normal" panose="020B0400000000000000" pitchFamily="34" charset="-122"/>
                    </a:rPr>
                    <a:t>传统客户数据价值挖掘模式</a:t>
                  </a:r>
                  <a:endParaRPr lang="zh-CN" altLang="en-US" sz="2000" dirty="0">
                    <a:solidFill>
                      <a:schemeClr val="bg1"/>
                    </a:solidFill>
                    <a:latin typeface="+mj-ea"/>
                    <a:ea typeface="+mj-ea"/>
                    <a:cs typeface="思源黑体 CN Normal" panose="020B0400000000000000" pitchFamily="34" charset="-122"/>
                  </a:endParaRPr>
                </a:p>
              </p:txBody>
            </p:sp>
          </p:grpSp>
          <p:sp>
            <p:nvSpPr>
              <p:cNvPr id="52" name="小红书平北职场PPT3-42"/>
              <p:cNvSpPr>
                <a:spLocks noChangeArrowheads="1"/>
              </p:cNvSpPr>
              <p:nvPr/>
            </p:nvSpPr>
            <p:spPr bwMode="auto">
              <a:xfrm>
                <a:off x="667070" y="1366734"/>
                <a:ext cx="3702937" cy="451341"/>
              </a:xfrm>
              <a:prstGeom prst="rect">
                <a:avLst/>
              </a:prstGeom>
              <a:noFill/>
              <a:ln>
                <a:noFill/>
              </a:ln>
              <a:effectLst/>
            </p:spPr>
            <p:txBody>
              <a:bodyPr vert="horz" wrap="square" lIns="0" tIns="101568" rIns="0" bIns="101568" numCol="1" anchor="ctr" anchorCtr="0" compatLnSpc="1">
                <a:spAutoFit/>
              </a:bodyPr>
              <a:lstStyle/>
              <a:p>
                <a:pPr algn="ctr" eaLnBrk="0" fontAlgn="base" hangingPunct="0">
                  <a:spcBef>
                    <a:spcPct val="0"/>
                  </a:spcBef>
                  <a:spcAft>
                    <a:spcPct val="0"/>
                  </a:spcAft>
                </a:pPr>
                <a:r>
                  <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滞后</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孤岛</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被动</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模糊</a:t>
                </a:r>
                <a:endPar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grpSp>
        <p:nvGrpSpPr>
          <p:cNvPr id="5" name="小红书平北职场PPT4"/>
          <p:cNvGrpSpPr/>
          <p:nvPr/>
        </p:nvGrpSpPr>
        <p:grpSpPr>
          <a:xfrm>
            <a:off x="4645145" y="1157202"/>
            <a:ext cx="2801298" cy="4153319"/>
            <a:chOff x="4687349" y="1171270"/>
            <a:chExt cx="2801298" cy="4153319"/>
          </a:xfrm>
        </p:grpSpPr>
        <p:grpSp>
          <p:nvGrpSpPr>
            <p:cNvPr id="28" name="组合 27"/>
            <p:cNvGrpSpPr/>
            <p:nvPr/>
          </p:nvGrpSpPr>
          <p:grpSpPr>
            <a:xfrm>
              <a:off x="4687349" y="1171270"/>
              <a:ext cx="2801298" cy="1257655"/>
              <a:chOff x="4687349" y="1171270"/>
              <a:chExt cx="2801298" cy="1257655"/>
            </a:xfrm>
          </p:grpSpPr>
          <p:sp>
            <p:nvSpPr>
              <p:cNvPr id="43" name="小红书平北职场PPT4-1"/>
              <p:cNvSpPr/>
              <p:nvPr/>
            </p:nvSpPr>
            <p:spPr>
              <a:xfrm>
                <a:off x="4687349" y="1171270"/>
                <a:ext cx="2801298" cy="764350"/>
              </a:xfrm>
              <a:prstGeom prst="rightArrow">
                <a:avLst>
                  <a:gd name="adj1" fmla="val 50000"/>
                  <a:gd name="adj2" fmla="val 51754"/>
                </a:avLst>
              </a:prstGeom>
              <a:gradFill flip="none" rotWithShape="1">
                <a:gsLst>
                  <a:gs pos="94545">
                    <a:schemeClr val="accent2"/>
                  </a:gs>
                  <a:gs pos="0">
                    <a:schemeClr val="accent2">
                      <a:lumMod val="60000"/>
                      <a:lumOff val="40000"/>
                      <a:alpha val="0"/>
                    </a:schemeClr>
                  </a:gs>
                  <a:gs pos="29000">
                    <a:schemeClr val="accent2">
                      <a:lumMod val="60000"/>
                      <a:lumOff val="40000"/>
                    </a:schemeClr>
                  </a:gs>
                </a:gsLst>
                <a:lin ang="0" scaled="1"/>
                <a:tileRect/>
              </a:gradFill>
              <a:ln w="34925">
                <a:gradFill flip="none" rotWithShape="1">
                  <a:gsLst>
                    <a:gs pos="41000">
                      <a:schemeClr val="bg1">
                        <a:alpha val="0"/>
                      </a:schemeClr>
                    </a:gs>
                    <a:gs pos="100000">
                      <a:schemeClr val="bg1"/>
                    </a:gs>
                  </a:gsLst>
                  <a:lin ang="0" scaled="1"/>
                  <a:tileRect/>
                </a:gradFill>
              </a:ln>
              <a:effectLst>
                <a:outerShdw blurRad="190500" dist="25400" dir="5400000" sx="90000" sy="90000" algn="t" rotWithShape="0">
                  <a:schemeClr val="accent2">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ctr"/>
                <a:endParaRPr lang="zh-CN" altLang="en-US" sz="1600" dirty="0">
                  <a:latin typeface="+mj-ea"/>
                  <a:ea typeface="+mj-ea"/>
                  <a:cs typeface="思源黑体 CN Normal" panose="020B0400000000000000" pitchFamily="34" charset="-122"/>
                </a:endParaRPr>
              </a:p>
            </p:txBody>
          </p:sp>
          <p:sp>
            <p:nvSpPr>
              <p:cNvPr id="44" name="小红书平北职场PPT4-2"/>
              <p:cNvSpPr/>
              <p:nvPr/>
            </p:nvSpPr>
            <p:spPr>
              <a:xfrm>
                <a:off x="4797344" y="1209370"/>
                <a:ext cx="2280452" cy="688150"/>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搭建统一数据基座</a:t>
                </a:r>
                <a:endParaRPr lang="zh-CN" altLang="en-US" sz="1600" dirty="0">
                  <a:latin typeface="+mj-ea"/>
                  <a:ea typeface="+mj-ea"/>
                  <a:cs typeface="思源黑体 CN Normal" panose="020B0400000000000000" pitchFamily="34" charset="-122"/>
                </a:endParaRPr>
              </a:p>
            </p:txBody>
          </p:sp>
          <p:sp>
            <p:nvSpPr>
              <p:cNvPr id="45" name="小红书平北职场PPT4-3"/>
              <p:cNvSpPr/>
              <p:nvPr/>
            </p:nvSpPr>
            <p:spPr>
              <a:xfrm>
                <a:off x="4797344" y="1209370"/>
                <a:ext cx="2280452" cy="688150"/>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搭建统一数据基座</a:t>
                </a:r>
                <a:endParaRPr lang="zh-CN" altLang="en-US" sz="1600" dirty="0">
                  <a:latin typeface="+mj-ea"/>
                  <a:ea typeface="+mj-ea"/>
                  <a:cs typeface="思源黑体 CN Normal" panose="020B0400000000000000" pitchFamily="34" charset="-122"/>
                </a:endParaRPr>
              </a:p>
            </p:txBody>
          </p:sp>
          <p:sp>
            <p:nvSpPr>
              <p:cNvPr id="46" name="小红书平北职场PPT4-4"/>
              <p:cNvSpPr txBox="1"/>
              <p:nvPr/>
            </p:nvSpPr>
            <p:spPr>
              <a:xfrm>
                <a:off x="4840682" y="1872747"/>
                <a:ext cx="2357191" cy="556178"/>
              </a:xfrm>
              <a:prstGeom prst="rect">
                <a:avLst/>
              </a:prstGeom>
              <a:noFill/>
            </p:spPr>
            <p:txBody>
              <a:bodyPr wrap="square">
                <a:spAutoFit/>
              </a:bodyPr>
              <a:lstStyle/>
              <a:p>
                <a:pPr algn="l">
                  <a:lnSpc>
                    <a:spcPct val="130000"/>
                  </a:lnSpc>
                </a:pP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构建统一数据平台，打通壁垒，实现数据资产的标准化与可复用</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47" name="小红书平北职场PPT4-5"/>
              <p:cNvSpPr/>
              <p:nvPr/>
            </p:nvSpPr>
            <p:spPr>
              <a:xfrm>
                <a:off x="7075963" y="1431072"/>
                <a:ext cx="227712" cy="22771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CN Normal" panose="020B0400000000000000" pitchFamily="34" charset="-122"/>
                </a:endParaRPr>
              </a:p>
            </p:txBody>
          </p:sp>
          <p:sp>
            <p:nvSpPr>
              <p:cNvPr id="48" name="小红书平北职场PPT4-6"/>
              <p:cNvSpPr txBox="1"/>
              <p:nvPr/>
            </p:nvSpPr>
            <p:spPr>
              <a:xfrm>
                <a:off x="7068888" y="1420419"/>
                <a:ext cx="276551" cy="276999"/>
              </a:xfrm>
              <a:prstGeom prst="rect">
                <a:avLst/>
              </a:prstGeom>
              <a:noFill/>
            </p:spPr>
            <p:txBody>
              <a:bodyPr wrap="square" rtlCol="0">
                <a:spAutoFit/>
              </a:bodyPr>
              <a:lstStyle/>
              <a:p>
                <a:r>
                  <a:rPr lang="en-US" altLang="zh-CN" sz="1200" dirty="0">
                    <a:latin typeface="+mn-ea"/>
                    <a:cs typeface="思源黑体 CN Normal" panose="020B0400000000000000" pitchFamily="34" charset="-122"/>
                  </a:rPr>
                  <a:t>1</a:t>
                </a:r>
                <a:endParaRPr lang="zh-CN" altLang="en-US" sz="1200" dirty="0">
                  <a:latin typeface="+mn-ea"/>
                  <a:cs typeface="思源黑体 CN Normal" panose="020B0400000000000000" pitchFamily="34" charset="-122"/>
                </a:endParaRPr>
              </a:p>
            </p:txBody>
          </p:sp>
        </p:grpSp>
        <p:grpSp>
          <p:nvGrpSpPr>
            <p:cNvPr id="29" name="组合 28"/>
            <p:cNvGrpSpPr/>
            <p:nvPr/>
          </p:nvGrpSpPr>
          <p:grpSpPr>
            <a:xfrm>
              <a:off x="4687349" y="2585307"/>
              <a:ext cx="2801298" cy="1279693"/>
              <a:chOff x="4687349" y="2602204"/>
              <a:chExt cx="2801298" cy="1279693"/>
            </a:xfrm>
          </p:grpSpPr>
          <p:sp>
            <p:nvSpPr>
              <p:cNvPr id="37" name="小红书平北职场PPT4-7"/>
              <p:cNvSpPr/>
              <p:nvPr/>
            </p:nvSpPr>
            <p:spPr>
              <a:xfrm>
                <a:off x="4687349" y="2602204"/>
                <a:ext cx="2801298" cy="764351"/>
              </a:xfrm>
              <a:prstGeom prst="rightArrow">
                <a:avLst>
                  <a:gd name="adj1" fmla="val 50000"/>
                  <a:gd name="adj2" fmla="val 51754"/>
                </a:avLst>
              </a:prstGeom>
              <a:gradFill flip="none" rotWithShape="1">
                <a:gsLst>
                  <a:gs pos="94545">
                    <a:schemeClr val="accent2"/>
                  </a:gs>
                  <a:gs pos="0">
                    <a:schemeClr val="accent2">
                      <a:lumMod val="60000"/>
                      <a:lumOff val="40000"/>
                      <a:alpha val="0"/>
                    </a:schemeClr>
                  </a:gs>
                  <a:gs pos="29000">
                    <a:schemeClr val="accent2">
                      <a:lumMod val="60000"/>
                      <a:lumOff val="40000"/>
                    </a:schemeClr>
                  </a:gs>
                </a:gsLst>
                <a:lin ang="0" scaled="1"/>
                <a:tileRect/>
              </a:gradFill>
              <a:ln w="34925">
                <a:gradFill flip="none" rotWithShape="1">
                  <a:gsLst>
                    <a:gs pos="41000">
                      <a:schemeClr val="bg1">
                        <a:alpha val="0"/>
                      </a:schemeClr>
                    </a:gs>
                    <a:gs pos="100000">
                      <a:schemeClr val="bg1"/>
                    </a:gs>
                  </a:gsLst>
                  <a:lin ang="0" scaled="1"/>
                  <a:tileRect/>
                </a:gradFill>
              </a:ln>
              <a:effectLst>
                <a:outerShdw blurRad="190500" dist="25400" dir="5400000" sx="90000" sy="90000" algn="t" rotWithShape="0">
                  <a:schemeClr val="accent2">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ctr"/>
                <a:endParaRPr lang="zh-CN" altLang="en-US" sz="1600" dirty="0">
                  <a:latin typeface="+mj-ea"/>
                  <a:ea typeface="+mj-ea"/>
                  <a:cs typeface="思源黑体 CN Normal" panose="020B0400000000000000" pitchFamily="34" charset="-122"/>
                </a:endParaRPr>
              </a:p>
            </p:txBody>
          </p:sp>
          <p:sp>
            <p:nvSpPr>
              <p:cNvPr id="38" name="小红书平北职场PPT4-8"/>
              <p:cNvSpPr/>
              <p:nvPr/>
            </p:nvSpPr>
            <p:spPr>
              <a:xfrm>
                <a:off x="4797344" y="2640304"/>
                <a:ext cx="2280452" cy="688151"/>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实现智能实时洞察</a:t>
                </a:r>
                <a:endParaRPr lang="zh-CN" altLang="en-US" sz="1600" dirty="0">
                  <a:latin typeface="+mj-ea"/>
                  <a:ea typeface="+mj-ea"/>
                  <a:cs typeface="思源黑体 CN Normal" panose="020B0400000000000000" pitchFamily="34" charset="-122"/>
                </a:endParaRPr>
              </a:p>
            </p:txBody>
          </p:sp>
          <p:sp>
            <p:nvSpPr>
              <p:cNvPr id="39" name="小红书平北职场PPT4-9"/>
              <p:cNvSpPr/>
              <p:nvPr/>
            </p:nvSpPr>
            <p:spPr>
              <a:xfrm>
                <a:off x="4797344" y="2640304"/>
                <a:ext cx="2280452" cy="688151"/>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实现智能实时洞察</a:t>
                </a:r>
                <a:endParaRPr lang="zh-CN" altLang="en-US" sz="1600" dirty="0">
                  <a:latin typeface="+mj-ea"/>
                  <a:ea typeface="+mj-ea"/>
                  <a:cs typeface="思源黑体 CN Normal" panose="020B0400000000000000" pitchFamily="34" charset="-122"/>
                </a:endParaRPr>
              </a:p>
            </p:txBody>
          </p:sp>
          <p:sp>
            <p:nvSpPr>
              <p:cNvPr id="40" name="小红书平北职场PPT4-10"/>
              <p:cNvSpPr txBox="1"/>
              <p:nvPr/>
            </p:nvSpPr>
            <p:spPr>
              <a:xfrm>
                <a:off x="4840682" y="3325719"/>
                <a:ext cx="2357191" cy="556178"/>
              </a:xfrm>
              <a:prstGeom prst="rect">
                <a:avLst/>
              </a:prstGeom>
              <a:noFill/>
            </p:spPr>
            <p:txBody>
              <a:bodyPr wrap="square">
                <a:spAutoFit/>
              </a:bodyPr>
              <a:lstStyle/>
              <a:p>
                <a:pPr algn="l">
                  <a:lnSpc>
                    <a:spcPct val="130000"/>
                  </a:lnSpc>
                </a:pP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引入流计算与</a:t>
                </a:r>
                <a:r>
                  <a:rPr lang="en-US" altLang="zh-CN" sz="1200" b="0" i="0" dirty="0">
                    <a:solidFill>
                      <a:srgbClr val="0F1115"/>
                    </a:solidFill>
                    <a:effectLst/>
                    <a:latin typeface="思源黑体 CN Normal" panose="020B0400000000000000" pitchFamily="34" charset="-122"/>
                    <a:cs typeface="思源黑体 CN Normal" panose="020B0400000000000000" pitchFamily="34" charset="-122"/>
                  </a:rPr>
                  <a:t>AI</a:t>
                </a: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，从事后统计转向实时预测与智能诊断</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41" name="小红书平北职场PPT4-11"/>
              <p:cNvSpPr/>
              <p:nvPr/>
            </p:nvSpPr>
            <p:spPr>
              <a:xfrm>
                <a:off x="7075963" y="2861599"/>
                <a:ext cx="227712" cy="22771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CN Normal" panose="020B0400000000000000" pitchFamily="34" charset="-122"/>
                </a:endParaRPr>
              </a:p>
            </p:txBody>
          </p:sp>
          <p:sp>
            <p:nvSpPr>
              <p:cNvPr id="42" name="小红书平北职场PPT4-12"/>
              <p:cNvSpPr txBox="1"/>
              <p:nvPr/>
            </p:nvSpPr>
            <p:spPr>
              <a:xfrm>
                <a:off x="7052846" y="2853470"/>
                <a:ext cx="276551" cy="276999"/>
              </a:xfrm>
              <a:prstGeom prst="rect">
                <a:avLst/>
              </a:prstGeom>
              <a:noFill/>
            </p:spPr>
            <p:txBody>
              <a:bodyPr wrap="square" rtlCol="0">
                <a:spAutoFit/>
              </a:bodyPr>
              <a:lstStyle/>
              <a:p>
                <a:r>
                  <a:rPr lang="en-US" altLang="zh-CN" sz="1200" dirty="0">
                    <a:latin typeface="+mn-ea"/>
                    <a:cs typeface="思源黑体 CN Normal" panose="020B0400000000000000" pitchFamily="34" charset="-122"/>
                  </a:rPr>
                  <a:t>2</a:t>
                </a:r>
                <a:endParaRPr lang="zh-CN" altLang="en-US" sz="1200" dirty="0">
                  <a:latin typeface="+mn-ea"/>
                  <a:cs typeface="思源黑体 CN Normal" panose="020B0400000000000000" pitchFamily="34" charset="-122"/>
                </a:endParaRPr>
              </a:p>
            </p:txBody>
          </p:sp>
        </p:grpSp>
        <p:grpSp>
          <p:nvGrpSpPr>
            <p:cNvPr id="30" name="组合 29"/>
            <p:cNvGrpSpPr/>
            <p:nvPr/>
          </p:nvGrpSpPr>
          <p:grpSpPr>
            <a:xfrm>
              <a:off x="4687349" y="4033139"/>
              <a:ext cx="2801298" cy="1291450"/>
              <a:chOff x="4687349" y="4033139"/>
              <a:chExt cx="2801298" cy="1291450"/>
            </a:xfrm>
          </p:grpSpPr>
          <p:sp>
            <p:nvSpPr>
              <p:cNvPr id="31" name="小红书平北职场PPT4-13"/>
              <p:cNvSpPr/>
              <p:nvPr/>
            </p:nvSpPr>
            <p:spPr>
              <a:xfrm>
                <a:off x="4687349" y="4033139"/>
                <a:ext cx="2801298" cy="764351"/>
              </a:xfrm>
              <a:prstGeom prst="rightArrow">
                <a:avLst>
                  <a:gd name="adj1" fmla="val 50000"/>
                  <a:gd name="adj2" fmla="val 51754"/>
                </a:avLst>
              </a:prstGeom>
              <a:gradFill flip="none" rotWithShape="1">
                <a:gsLst>
                  <a:gs pos="94545">
                    <a:schemeClr val="accent2"/>
                  </a:gs>
                  <a:gs pos="0">
                    <a:schemeClr val="accent2">
                      <a:lumMod val="60000"/>
                      <a:lumOff val="40000"/>
                      <a:alpha val="0"/>
                    </a:schemeClr>
                  </a:gs>
                  <a:gs pos="29000">
                    <a:schemeClr val="accent2">
                      <a:lumMod val="60000"/>
                      <a:lumOff val="40000"/>
                    </a:schemeClr>
                  </a:gs>
                </a:gsLst>
                <a:lin ang="0" scaled="1"/>
                <a:tileRect/>
              </a:gradFill>
              <a:ln w="34925">
                <a:gradFill flip="none" rotWithShape="1">
                  <a:gsLst>
                    <a:gs pos="41000">
                      <a:schemeClr val="bg1">
                        <a:alpha val="0"/>
                      </a:schemeClr>
                    </a:gs>
                    <a:gs pos="100000">
                      <a:schemeClr val="bg1"/>
                    </a:gs>
                  </a:gsLst>
                  <a:lin ang="0" scaled="1"/>
                  <a:tileRect/>
                </a:gradFill>
              </a:ln>
              <a:effectLst>
                <a:outerShdw blurRad="190500" dist="25400" dir="5400000" sx="90000" sy="90000" algn="t" rotWithShape="0">
                  <a:schemeClr val="accent2">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ctr"/>
                <a:endParaRPr lang="zh-CN" altLang="en-US" sz="1600" dirty="0">
                  <a:latin typeface="+mj-ea"/>
                  <a:ea typeface="+mj-ea"/>
                  <a:cs typeface="思源黑体 CN Normal" panose="020B0400000000000000" pitchFamily="34" charset="-122"/>
                </a:endParaRPr>
              </a:p>
            </p:txBody>
          </p:sp>
          <p:sp>
            <p:nvSpPr>
              <p:cNvPr id="32" name="小红书平北职场PPT4-14"/>
              <p:cNvSpPr/>
              <p:nvPr/>
            </p:nvSpPr>
            <p:spPr>
              <a:xfrm>
                <a:off x="4797344" y="4071239"/>
                <a:ext cx="2280452" cy="688151"/>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驱动业务自动化闭环</a:t>
                </a:r>
                <a:endParaRPr lang="zh-CN" altLang="en-US" sz="1600" dirty="0">
                  <a:latin typeface="+mj-ea"/>
                  <a:ea typeface="+mj-ea"/>
                  <a:cs typeface="思源黑体 CN Normal" panose="020B0400000000000000" pitchFamily="34" charset="-122"/>
                </a:endParaRPr>
              </a:p>
            </p:txBody>
          </p:sp>
          <p:sp>
            <p:nvSpPr>
              <p:cNvPr id="33" name="小红书平北职场PPT4-15"/>
              <p:cNvSpPr/>
              <p:nvPr/>
            </p:nvSpPr>
            <p:spPr>
              <a:xfrm>
                <a:off x="4797344" y="4071239"/>
                <a:ext cx="2280452" cy="688151"/>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驱动业务自动化闭环</a:t>
                </a:r>
                <a:endParaRPr lang="zh-CN" altLang="en-US" sz="1600" dirty="0">
                  <a:latin typeface="+mj-ea"/>
                  <a:ea typeface="+mj-ea"/>
                  <a:cs typeface="思源黑体 CN Normal" panose="020B0400000000000000" pitchFamily="34" charset="-122"/>
                </a:endParaRPr>
              </a:p>
            </p:txBody>
          </p:sp>
          <p:sp>
            <p:nvSpPr>
              <p:cNvPr id="34" name="小红书平北职场PPT4-16"/>
              <p:cNvSpPr txBox="1"/>
              <p:nvPr/>
            </p:nvSpPr>
            <p:spPr>
              <a:xfrm>
                <a:off x="4840682" y="4768411"/>
                <a:ext cx="2357191" cy="556178"/>
              </a:xfrm>
              <a:prstGeom prst="rect">
                <a:avLst/>
              </a:prstGeom>
              <a:noFill/>
            </p:spPr>
            <p:txBody>
              <a:bodyPr wrap="square">
                <a:spAutoFit/>
              </a:bodyPr>
              <a:lstStyle/>
              <a:p>
                <a:pPr algn="l">
                  <a:lnSpc>
                    <a:spcPct val="130000"/>
                  </a:lnSpc>
                </a:pP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将洞察嵌入工作流，形成“决策</a:t>
                </a:r>
                <a:r>
                  <a:rPr lang="en-US" altLang="zh-CN" sz="1200" b="0" i="0" dirty="0">
                    <a:solidFill>
                      <a:srgbClr val="0F1115"/>
                    </a:solidFill>
                    <a:effectLst/>
                    <a:latin typeface="思源黑体 CN Normal" panose="020B0400000000000000" pitchFamily="34" charset="-122"/>
                    <a:cs typeface="思源黑体 CN Normal" panose="020B0400000000000000" pitchFamily="34" charset="-122"/>
                  </a:rPr>
                  <a:t>-</a:t>
                </a: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执行</a:t>
                </a:r>
                <a:r>
                  <a:rPr lang="en-US" altLang="zh-CN" sz="1200" b="0" i="0" dirty="0">
                    <a:solidFill>
                      <a:srgbClr val="0F1115"/>
                    </a:solidFill>
                    <a:effectLst/>
                    <a:latin typeface="思源黑体 CN Normal" panose="020B0400000000000000" pitchFamily="34" charset="-122"/>
                    <a:cs typeface="思源黑体 CN Normal" panose="020B0400000000000000" pitchFamily="34" charset="-122"/>
                  </a:rPr>
                  <a:t>-</a:t>
                </a: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优化”的自动化增长闭环</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35" name="小红书平北职场PPT4-17"/>
              <p:cNvSpPr/>
              <p:nvPr/>
            </p:nvSpPr>
            <p:spPr>
              <a:xfrm>
                <a:off x="7075963" y="4299435"/>
                <a:ext cx="227712" cy="22771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CN Normal" panose="020B0400000000000000" pitchFamily="34" charset="-122"/>
                </a:endParaRPr>
              </a:p>
            </p:txBody>
          </p:sp>
          <p:sp>
            <p:nvSpPr>
              <p:cNvPr id="36" name="小红书平北职场PPT4-18"/>
              <p:cNvSpPr txBox="1"/>
              <p:nvPr/>
            </p:nvSpPr>
            <p:spPr>
              <a:xfrm>
                <a:off x="7052846" y="4289349"/>
                <a:ext cx="276551" cy="276999"/>
              </a:xfrm>
              <a:prstGeom prst="rect">
                <a:avLst/>
              </a:prstGeom>
              <a:noFill/>
            </p:spPr>
            <p:txBody>
              <a:bodyPr wrap="square" rtlCol="0">
                <a:spAutoFit/>
              </a:bodyPr>
              <a:lstStyle/>
              <a:p>
                <a:r>
                  <a:rPr lang="en-US" altLang="zh-CN" sz="1200" dirty="0">
                    <a:latin typeface="+mn-ea"/>
                    <a:cs typeface="思源黑体 CN Normal" panose="020B0400000000000000" pitchFamily="34" charset="-122"/>
                  </a:rPr>
                  <a:t>3</a:t>
                </a:r>
                <a:endParaRPr lang="zh-CN" altLang="en-US" sz="1200" dirty="0">
                  <a:latin typeface="+mn-ea"/>
                  <a:cs typeface="思源黑体 CN Normal" panose="020B0400000000000000" pitchFamily="34" charset="-122"/>
                </a:endParaRPr>
              </a:p>
            </p:txBody>
          </p:sp>
        </p:grpSp>
      </p:grpSp>
      <p:grpSp>
        <p:nvGrpSpPr>
          <p:cNvPr id="6" name="小红书平北职场PPT5"/>
          <p:cNvGrpSpPr/>
          <p:nvPr/>
        </p:nvGrpSpPr>
        <p:grpSpPr>
          <a:xfrm>
            <a:off x="391235" y="5855762"/>
            <a:ext cx="11522075" cy="773794"/>
            <a:chOff x="391235" y="5869830"/>
            <a:chExt cx="11522075" cy="773794"/>
          </a:xfrm>
        </p:grpSpPr>
        <p:sp>
          <p:nvSpPr>
            <p:cNvPr id="26" name="小红书平北职场PPT5-1"/>
            <p:cNvSpPr/>
            <p:nvPr/>
          </p:nvSpPr>
          <p:spPr>
            <a:xfrm>
              <a:off x="391235" y="5869830"/>
              <a:ext cx="11522075" cy="773794"/>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7" name="小红书平北职场PPT5-2"/>
            <p:cNvSpPr txBox="1"/>
            <p:nvPr/>
          </p:nvSpPr>
          <p:spPr>
            <a:xfrm>
              <a:off x="546592" y="5942410"/>
              <a:ext cx="11211361" cy="628634"/>
            </a:xfrm>
            <a:prstGeom prst="rect">
              <a:avLst/>
            </a:prstGeom>
            <a:noFill/>
          </p:spPr>
          <p:txBody>
            <a:bodyPr wrap="square">
              <a:spAutoFit/>
            </a:bodyPr>
            <a:lstStyle/>
            <a:p>
              <a:pPr algn="ctr">
                <a:lnSpc>
                  <a:spcPct val="130000"/>
                </a:lnSpc>
              </a:pPr>
              <a:r>
                <a:rPr lang="zh-CN" altLang="en-US" sz="1400" b="0" i="0" dirty="0">
                  <a:effectLst/>
                  <a:latin typeface="思源黑体 CN Normal" panose="020B0400000000000000" pitchFamily="34" charset="-122"/>
                  <a:cs typeface="思源黑体 CN Normal" panose="020B0400000000000000" pitchFamily="34" charset="-122"/>
                </a:rPr>
                <a:t>这一演进路径的核心，是通过“策略、执行、组织”的三位一体深度协同，将企业经营管理从依赖局部经验的传统慢循环，彻底升级为全域数据与智能技术驱动的实时感知、快速决策、动态优化的自适应系统，从而构筑起面向未来的决定性效率优势与核心竞争力</a:t>
              </a:r>
              <a:endParaRPr lang="zh-CN" altLang="en-US" sz="1400" dirty="0">
                <a:cs typeface="思源黑体 CN Normal" panose="020B0400000000000000" pitchFamily="34" charset="-122"/>
              </a:endParaRPr>
            </a:p>
          </p:txBody>
        </p:sp>
      </p:grpSp>
    </p:spTree>
    <p:custDataLst>
      <p:tags r:id="rId3"/>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96"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小红书平北职场PPT1-2"/>
            <p:cNvSpPr txBox="1"/>
            <p:nvPr>
              <p:custDataLst>
                <p:tags r:id="rId2"/>
              </p:custDataLst>
            </p:nvPr>
          </p:nvSpPr>
          <p:spPr>
            <a:xfrm>
              <a:off x="334963" y="184318"/>
              <a:ext cx="2154436"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综合指挥中心</a:t>
              </a:r>
              <a:endParaRPr lang="zh-CN" altLang="en-US" sz="2800" dirty="0">
                <a:latin typeface="+mj-ea"/>
                <a:ea typeface="+mj-ea"/>
                <a:cs typeface="思源黑体 CN Normal" panose="020B0400000000000000" pitchFamily="34" charset="-122"/>
                <a:sym typeface="+mj-ea"/>
              </a:endParaRPr>
            </a:p>
          </p:txBody>
        </p:sp>
      </p:grpSp>
      <p:grpSp>
        <p:nvGrpSpPr>
          <p:cNvPr id="4" name="小红书平北职场PPT2"/>
          <p:cNvGrpSpPr/>
          <p:nvPr/>
        </p:nvGrpSpPr>
        <p:grpSpPr>
          <a:xfrm>
            <a:off x="420429" y="1014323"/>
            <a:ext cx="11330731" cy="799097"/>
            <a:chOff x="420429" y="1014323"/>
            <a:chExt cx="11330731" cy="799097"/>
          </a:xfrm>
        </p:grpSpPr>
        <p:sp>
          <p:nvSpPr>
            <p:cNvPr id="87" name="小红书平北职场PPT2-1"/>
            <p:cNvSpPr/>
            <p:nvPr/>
          </p:nvSpPr>
          <p:spPr>
            <a:xfrm>
              <a:off x="420429" y="1014323"/>
              <a:ext cx="11330731" cy="799097"/>
            </a:xfrm>
            <a:prstGeom prst="triangle">
              <a:avLst/>
            </a:prstGeom>
            <a:gradFill flip="none" rotWithShape="1">
              <a:gsLst>
                <a:gs pos="0">
                  <a:schemeClr val="accent1">
                    <a:lumMod val="60000"/>
                    <a:lumOff val="40000"/>
                  </a:schemeClr>
                </a:gs>
                <a:gs pos="100000">
                  <a:schemeClr val="accent1"/>
                </a:gs>
              </a:gsLst>
              <a:lin ang="0" scaled="1"/>
              <a:tileRect/>
            </a:gra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cs typeface="思源黑体 CN Normal" panose="020B0400000000000000" pitchFamily="34" charset="-122"/>
              </a:endParaRPr>
            </a:p>
          </p:txBody>
        </p:sp>
        <p:grpSp>
          <p:nvGrpSpPr>
            <p:cNvPr id="88" name="组合 87"/>
            <p:cNvGrpSpPr/>
            <p:nvPr/>
          </p:nvGrpSpPr>
          <p:grpSpPr>
            <a:xfrm>
              <a:off x="5899619" y="1105858"/>
              <a:ext cx="385184" cy="385116"/>
              <a:chOff x="5899619" y="1105858"/>
              <a:chExt cx="385184" cy="385116"/>
            </a:xfrm>
            <a:gradFill>
              <a:gsLst>
                <a:gs pos="14000">
                  <a:schemeClr val="bg1">
                    <a:alpha val="0"/>
                  </a:schemeClr>
                </a:gs>
                <a:gs pos="100000">
                  <a:schemeClr val="bg1">
                    <a:alpha val="70000"/>
                  </a:schemeClr>
                </a:gs>
              </a:gsLst>
              <a:lin ang="16200000" scaled="1"/>
            </a:gradFill>
          </p:grpSpPr>
          <p:sp>
            <p:nvSpPr>
              <p:cNvPr id="90" name="小红书平北职场PPT2-2"/>
              <p:cNvSpPr/>
              <p:nvPr/>
            </p:nvSpPr>
            <p:spPr>
              <a:xfrm>
                <a:off x="5899619" y="1181920"/>
                <a:ext cx="385184" cy="235050"/>
              </a:xfrm>
              <a:custGeom>
                <a:avLst/>
                <a:gdLst>
                  <a:gd name="connsiteX0" fmla="*/ 496114 w 504052"/>
                  <a:gd name="connsiteY0" fmla="*/ 307591 h 307590"/>
                  <a:gd name="connsiteX1" fmla="*/ 7938 w 504052"/>
                  <a:gd name="connsiteY1" fmla="*/ 307591 h 307590"/>
                  <a:gd name="connsiteX2" fmla="*/ 0 w 504052"/>
                  <a:gd name="connsiteY2" fmla="*/ 299653 h 307590"/>
                  <a:gd name="connsiteX3" fmla="*/ 0 w 504052"/>
                  <a:gd name="connsiteY3" fmla="*/ 7938 h 307590"/>
                  <a:gd name="connsiteX4" fmla="*/ 7938 w 504052"/>
                  <a:gd name="connsiteY4" fmla="*/ 0 h 307590"/>
                  <a:gd name="connsiteX5" fmla="*/ 104779 w 504052"/>
                  <a:gd name="connsiteY5" fmla="*/ 0 h 307590"/>
                  <a:gd name="connsiteX6" fmla="*/ 112717 w 504052"/>
                  <a:gd name="connsiteY6" fmla="*/ 7938 h 307590"/>
                  <a:gd name="connsiteX7" fmla="*/ 104779 w 504052"/>
                  <a:gd name="connsiteY7" fmla="*/ 15876 h 307590"/>
                  <a:gd name="connsiteX8" fmla="*/ 15876 w 504052"/>
                  <a:gd name="connsiteY8" fmla="*/ 15876 h 307590"/>
                  <a:gd name="connsiteX9" fmla="*/ 15876 w 504052"/>
                  <a:gd name="connsiteY9" fmla="*/ 291715 h 307590"/>
                  <a:gd name="connsiteX10" fmla="*/ 488176 w 504052"/>
                  <a:gd name="connsiteY10" fmla="*/ 291715 h 307590"/>
                  <a:gd name="connsiteX11" fmla="*/ 488176 w 504052"/>
                  <a:gd name="connsiteY11" fmla="*/ 15876 h 307590"/>
                  <a:gd name="connsiteX12" fmla="*/ 395304 w 504052"/>
                  <a:gd name="connsiteY12" fmla="*/ 15876 h 307590"/>
                  <a:gd name="connsiteX13" fmla="*/ 387366 w 504052"/>
                  <a:gd name="connsiteY13" fmla="*/ 7938 h 307590"/>
                  <a:gd name="connsiteX14" fmla="*/ 395304 w 504052"/>
                  <a:gd name="connsiteY14" fmla="*/ 0 h 307590"/>
                  <a:gd name="connsiteX15" fmla="*/ 496114 w 504052"/>
                  <a:gd name="connsiteY15" fmla="*/ 0 h 307590"/>
                  <a:gd name="connsiteX16" fmla="*/ 504052 w 504052"/>
                  <a:gd name="connsiteY16" fmla="*/ 7938 h 307590"/>
                  <a:gd name="connsiteX17" fmla="*/ 504052 w 504052"/>
                  <a:gd name="connsiteY17" fmla="*/ 299653 h 307590"/>
                  <a:gd name="connsiteX18" fmla="*/ 496114 w 504052"/>
                  <a:gd name="connsiteY18" fmla="*/ 307591 h 307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4052" h="307590">
                    <a:moveTo>
                      <a:pt x="496114" y="307591"/>
                    </a:moveTo>
                    <a:lnTo>
                      <a:pt x="7938" y="307591"/>
                    </a:lnTo>
                    <a:cubicBezTo>
                      <a:pt x="3572" y="307591"/>
                      <a:pt x="0" y="304019"/>
                      <a:pt x="0" y="299653"/>
                    </a:cubicBezTo>
                    <a:lnTo>
                      <a:pt x="0" y="7938"/>
                    </a:lnTo>
                    <a:cubicBezTo>
                      <a:pt x="0" y="3572"/>
                      <a:pt x="3572" y="0"/>
                      <a:pt x="7938" y="0"/>
                    </a:cubicBezTo>
                    <a:lnTo>
                      <a:pt x="104779" y="0"/>
                    </a:lnTo>
                    <a:cubicBezTo>
                      <a:pt x="109145" y="0"/>
                      <a:pt x="112717" y="3572"/>
                      <a:pt x="112717" y="7938"/>
                    </a:cubicBezTo>
                    <a:cubicBezTo>
                      <a:pt x="112717" y="12304"/>
                      <a:pt x="109145" y="15876"/>
                      <a:pt x="104779" y="15876"/>
                    </a:cubicBezTo>
                    <a:lnTo>
                      <a:pt x="15876" y="15876"/>
                    </a:lnTo>
                    <a:lnTo>
                      <a:pt x="15876" y="291715"/>
                    </a:lnTo>
                    <a:lnTo>
                      <a:pt x="488176" y="291715"/>
                    </a:lnTo>
                    <a:lnTo>
                      <a:pt x="488176" y="15876"/>
                    </a:lnTo>
                    <a:lnTo>
                      <a:pt x="395304" y="15876"/>
                    </a:lnTo>
                    <a:cubicBezTo>
                      <a:pt x="390938" y="15876"/>
                      <a:pt x="387366" y="12304"/>
                      <a:pt x="387366" y="7938"/>
                    </a:cubicBezTo>
                    <a:cubicBezTo>
                      <a:pt x="387366" y="3572"/>
                      <a:pt x="390938" y="0"/>
                      <a:pt x="395304" y="0"/>
                    </a:cubicBezTo>
                    <a:lnTo>
                      <a:pt x="496114" y="0"/>
                    </a:lnTo>
                    <a:cubicBezTo>
                      <a:pt x="500480" y="0"/>
                      <a:pt x="504052" y="3572"/>
                      <a:pt x="504052" y="7938"/>
                    </a:cubicBezTo>
                    <a:lnTo>
                      <a:pt x="504052" y="299653"/>
                    </a:lnTo>
                    <a:cubicBezTo>
                      <a:pt x="504052" y="304019"/>
                      <a:pt x="500480" y="307591"/>
                      <a:pt x="496114" y="307591"/>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1" name="小红书平北职场PPT2-3"/>
              <p:cNvSpPr/>
              <p:nvPr/>
            </p:nvSpPr>
            <p:spPr>
              <a:xfrm>
                <a:off x="6019724" y="1404839"/>
                <a:ext cx="145277" cy="53682"/>
              </a:xfrm>
              <a:custGeom>
                <a:avLst/>
                <a:gdLst>
                  <a:gd name="connsiteX0" fmla="*/ 181776 w 190110"/>
                  <a:gd name="connsiteY0" fmla="*/ 70250 h 70249"/>
                  <a:gd name="connsiteX1" fmla="*/ 7938 w 190110"/>
                  <a:gd name="connsiteY1" fmla="*/ 70250 h 70249"/>
                  <a:gd name="connsiteX2" fmla="*/ 0 w 190110"/>
                  <a:gd name="connsiteY2" fmla="*/ 62312 h 70249"/>
                  <a:gd name="connsiteX3" fmla="*/ 0 w 190110"/>
                  <a:gd name="connsiteY3" fmla="*/ 7938 h 70249"/>
                  <a:gd name="connsiteX4" fmla="*/ 7938 w 190110"/>
                  <a:gd name="connsiteY4" fmla="*/ 0 h 70249"/>
                  <a:gd name="connsiteX5" fmla="*/ 182173 w 190110"/>
                  <a:gd name="connsiteY5" fmla="*/ 0 h 70249"/>
                  <a:gd name="connsiteX6" fmla="*/ 190111 w 190110"/>
                  <a:gd name="connsiteY6" fmla="*/ 7938 h 70249"/>
                  <a:gd name="connsiteX7" fmla="*/ 190111 w 190110"/>
                  <a:gd name="connsiteY7" fmla="*/ 62312 h 70249"/>
                  <a:gd name="connsiteX8" fmla="*/ 181776 w 190110"/>
                  <a:gd name="connsiteY8" fmla="*/ 70250 h 70249"/>
                  <a:gd name="connsiteX9" fmla="*/ 15876 w 190110"/>
                  <a:gd name="connsiteY9" fmla="*/ 54374 h 70249"/>
                  <a:gd name="connsiteX10" fmla="*/ 174235 w 190110"/>
                  <a:gd name="connsiteY10" fmla="*/ 54374 h 70249"/>
                  <a:gd name="connsiteX11" fmla="*/ 174235 w 190110"/>
                  <a:gd name="connsiteY11" fmla="*/ 15876 h 70249"/>
                  <a:gd name="connsiteX12" fmla="*/ 15876 w 190110"/>
                  <a:gd name="connsiteY12" fmla="*/ 15876 h 70249"/>
                  <a:gd name="connsiteX13" fmla="*/ 15876 w 190110"/>
                  <a:gd name="connsiteY13" fmla="*/ 54374 h 70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0110" h="70249">
                    <a:moveTo>
                      <a:pt x="181776" y="70250"/>
                    </a:moveTo>
                    <a:lnTo>
                      <a:pt x="7938" y="70250"/>
                    </a:lnTo>
                    <a:cubicBezTo>
                      <a:pt x="3572" y="70250"/>
                      <a:pt x="0" y="66678"/>
                      <a:pt x="0" y="62312"/>
                    </a:cubicBezTo>
                    <a:lnTo>
                      <a:pt x="0" y="7938"/>
                    </a:lnTo>
                    <a:cubicBezTo>
                      <a:pt x="0" y="3572"/>
                      <a:pt x="3572" y="0"/>
                      <a:pt x="7938" y="0"/>
                    </a:cubicBezTo>
                    <a:lnTo>
                      <a:pt x="182173" y="0"/>
                    </a:lnTo>
                    <a:cubicBezTo>
                      <a:pt x="186539" y="0"/>
                      <a:pt x="190111" y="3572"/>
                      <a:pt x="190111" y="7938"/>
                    </a:cubicBezTo>
                    <a:lnTo>
                      <a:pt x="190111" y="62312"/>
                    </a:lnTo>
                    <a:cubicBezTo>
                      <a:pt x="189714" y="66678"/>
                      <a:pt x="186142" y="70250"/>
                      <a:pt x="181776" y="70250"/>
                    </a:cubicBezTo>
                    <a:close/>
                    <a:moveTo>
                      <a:pt x="15876" y="54374"/>
                    </a:moveTo>
                    <a:lnTo>
                      <a:pt x="174235" y="54374"/>
                    </a:lnTo>
                    <a:lnTo>
                      <a:pt x="174235" y="15876"/>
                    </a:lnTo>
                    <a:lnTo>
                      <a:pt x="15876" y="15876"/>
                    </a:lnTo>
                    <a:lnTo>
                      <a:pt x="15876" y="54374"/>
                    </a:ln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2" name="小红书平北职场PPT2-4"/>
              <p:cNvSpPr/>
              <p:nvPr/>
            </p:nvSpPr>
            <p:spPr>
              <a:xfrm>
                <a:off x="5932678" y="1212553"/>
                <a:ext cx="319065" cy="278421"/>
              </a:xfrm>
              <a:custGeom>
                <a:avLst/>
                <a:gdLst>
                  <a:gd name="connsiteX0" fmla="*/ 353630 w 417529"/>
                  <a:gd name="connsiteY0" fmla="*/ 364346 h 364346"/>
                  <a:gd name="connsiteX1" fmla="*/ 63900 w 417529"/>
                  <a:gd name="connsiteY1" fmla="*/ 364346 h 364346"/>
                  <a:gd name="connsiteX2" fmla="*/ 55962 w 417529"/>
                  <a:gd name="connsiteY2" fmla="*/ 356408 h 364346"/>
                  <a:gd name="connsiteX3" fmla="*/ 55962 w 417529"/>
                  <a:gd name="connsiteY3" fmla="*/ 313941 h 364346"/>
                  <a:gd name="connsiteX4" fmla="*/ 63900 w 417529"/>
                  <a:gd name="connsiteY4" fmla="*/ 306003 h 364346"/>
                  <a:gd name="connsiteX5" fmla="*/ 353630 w 417529"/>
                  <a:gd name="connsiteY5" fmla="*/ 306003 h 364346"/>
                  <a:gd name="connsiteX6" fmla="*/ 361568 w 417529"/>
                  <a:gd name="connsiteY6" fmla="*/ 313941 h 364346"/>
                  <a:gd name="connsiteX7" fmla="*/ 361568 w 417529"/>
                  <a:gd name="connsiteY7" fmla="*/ 356408 h 364346"/>
                  <a:gd name="connsiteX8" fmla="*/ 353630 w 417529"/>
                  <a:gd name="connsiteY8" fmla="*/ 364346 h 364346"/>
                  <a:gd name="connsiteX9" fmla="*/ 71837 w 417529"/>
                  <a:gd name="connsiteY9" fmla="*/ 348471 h 364346"/>
                  <a:gd name="connsiteX10" fmla="*/ 345692 w 417529"/>
                  <a:gd name="connsiteY10" fmla="*/ 348471 h 364346"/>
                  <a:gd name="connsiteX11" fmla="*/ 345692 w 417529"/>
                  <a:gd name="connsiteY11" fmla="*/ 321879 h 364346"/>
                  <a:gd name="connsiteX12" fmla="*/ 71837 w 417529"/>
                  <a:gd name="connsiteY12" fmla="*/ 321879 h 364346"/>
                  <a:gd name="connsiteX13" fmla="*/ 71837 w 417529"/>
                  <a:gd name="connsiteY13" fmla="*/ 348471 h 364346"/>
                  <a:gd name="connsiteX14" fmla="*/ 413561 w 417529"/>
                  <a:gd name="connsiteY14" fmla="*/ 221465 h 364346"/>
                  <a:gd name="connsiteX15" fmla="*/ 3969 w 417529"/>
                  <a:gd name="connsiteY15" fmla="*/ 221465 h 364346"/>
                  <a:gd name="connsiteX16" fmla="*/ 0 w 417529"/>
                  <a:gd name="connsiteY16" fmla="*/ 217496 h 364346"/>
                  <a:gd name="connsiteX17" fmla="*/ 0 w 417529"/>
                  <a:gd name="connsiteY17" fmla="*/ 3969 h 364346"/>
                  <a:gd name="connsiteX18" fmla="*/ 3969 w 417529"/>
                  <a:gd name="connsiteY18" fmla="*/ 0 h 364346"/>
                  <a:gd name="connsiteX19" fmla="*/ 65487 w 417529"/>
                  <a:gd name="connsiteY19" fmla="*/ 0 h 364346"/>
                  <a:gd name="connsiteX20" fmla="*/ 69456 w 417529"/>
                  <a:gd name="connsiteY20" fmla="*/ 3969 h 364346"/>
                  <a:gd name="connsiteX21" fmla="*/ 65487 w 417529"/>
                  <a:gd name="connsiteY21" fmla="*/ 7938 h 364346"/>
                  <a:gd name="connsiteX22" fmla="*/ 7938 w 417529"/>
                  <a:gd name="connsiteY22" fmla="*/ 7938 h 364346"/>
                  <a:gd name="connsiteX23" fmla="*/ 7938 w 417529"/>
                  <a:gd name="connsiteY23" fmla="*/ 213528 h 364346"/>
                  <a:gd name="connsiteX24" fmla="*/ 409989 w 417529"/>
                  <a:gd name="connsiteY24" fmla="*/ 213528 h 364346"/>
                  <a:gd name="connsiteX25" fmla="*/ 409989 w 417529"/>
                  <a:gd name="connsiteY25" fmla="*/ 7938 h 364346"/>
                  <a:gd name="connsiteX26" fmla="*/ 348074 w 417529"/>
                  <a:gd name="connsiteY26" fmla="*/ 7938 h 364346"/>
                  <a:gd name="connsiteX27" fmla="*/ 344105 w 417529"/>
                  <a:gd name="connsiteY27" fmla="*/ 3969 h 364346"/>
                  <a:gd name="connsiteX28" fmla="*/ 348074 w 417529"/>
                  <a:gd name="connsiteY28" fmla="*/ 0 h 364346"/>
                  <a:gd name="connsiteX29" fmla="*/ 413561 w 417529"/>
                  <a:gd name="connsiteY29" fmla="*/ 0 h 364346"/>
                  <a:gd name="connsiteX30" fmla="*/ 417530 w 417529"/>
                  <a:gd name="connsiteY30" fmla="*/ 3969 h 364346"/>
                  <a:gd name="connsiteX31" fmla="*/ 417530 w 417529"/>
                  <a:gd name="connsiteY31" fmla="*/ 217496 h 364346"/>
                  <a:gd name="connsiteX32" fmla="*/ 413561 w 417529"/>
                  <a:gd name="connsiteY32" fmla="*/ 221465 h 36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17529" h="364346">
                    <a:moveTo>
                      <a:pt x="353630" y="364346"/>
                    </a:moveTo>
                    <a:lnTo>
                      <a:pt x="63900" y="364346"/>
                    </a:lnTo>
                    <a:cubicBezTo>
                      <a:pt x="59534" y="364346"/>
                      <a:pt x="55962" y="360774"/>
                      <a:pt x="55962" y="356408"/>
                    </a:cubicBezTo>
                    <a:lnTo>
                      <a:pt x="55962" y="313941"/>
                    </a:lnTo>
                    <a:cubicBezTo>
                      <a:pt x="55962" y="309575"/>
                      <a:pt x="59534" y="306003"/>
                      <a:pt x="63900" y="306003"/>
                    </a:cubicBezTo>
                    <a:lnTo>
                      <a:pt x="353630" y="306003"/>
                    </a:lnTo>
                    <a:cubicBezTo>
                      <a:pt x="357996" y="306003"/>
                      <a:pt x="361568" y="309575"/>
                      <a:pt x="361568" y="313941"/>
                    </a:cubicBezTo>
                    <a:lnTo>
                      <a:pt x="361568" y="356408"/>
                    </a:lnTo>
                    <a:cubicBezTo>
                      <a:pt x="361568" y="360774"/>
                      <a:pt x="357996" y="364346"/>
                      <a:pt x="353630" y="364346"/>
                    </a:cubicBezTo>
                    <a:close/>
                    <a:moveTo>
                      <a:pt x="71837" y="348471"/>
                    </a:moveTo>
                    <a:lnTo>
                      <a:pt x="345692" y="348471"/>
                    </a:lnTo>
                    <a:lnTo>
                      <a:pt x="345692" y="321879"/>
                    </a:lnTo>
                    <a:lnTo>
                      <a:pt x="71837" y="321879"/>
                    </a:lnTo>
                    <a:lnTo>
                      <a:pt x="71837" y="348471"/>
                    </a:lnTo>
                    <a:close/>
                    <a:moveTo>
                      <a:pt x="413561" y="221465"/>
                    </a:moveTo>
                    <a:lnTo>
                      <a:pt x="3969" y="221465"/>
                    </a:lnTo>
                    <a:cubicBezTo>
                      <a:pt x="1588" y="221465"/>
                      <a:pt x="0" y="219878"/>
                      <a:pt x="0" y="217496"/>
                    </a:cubicBezTo>
                    <a:lnTo>
                      <a:pt x="0" y="3969"/>
                    </a:lnTo>
                    <a:cubicBezTo>
                      <a:pt x="0" y="1588"/>
                      <a:pt x="1588" y="0"/>
                      <a:pt x="3969" y="0"/>
                    </a:cubicBezTo>
                    <a:lnTo>
                      <a:pt x="65487" y="0"/>
                    </a:lnTo>
                    <a:cubicBezTo>
                      <a:pt x="67868" y="0"/>
                      <a:pt x="69456" y="1588"/>
                      <a:pt x="69456" y="3969"/>
                    </a:cubicBezTo>
                    <a:cubicBezTo>
                      <a:pt x="69456" y="6350"/>
                      <a:pt x="67868" y="7938"/>
                      <a:pt x="65487" y="7938"/>
                    </a:cubicBezTo>
                    <a:lnTo>
                      <a:pt x="7938" y="7938"/>
                    </a:lnTo>
                    <a:lnTo>
                      <a:pt x="7938" y="213528"/>
                    </a:lnTo>
                    <a:lnTo>
                      <a:pt x="409989" y="213528"/>
                    </a:lnTo>
                    <a:lnTo>
                      <a:pt x="409989" y="7938"/>
                    </a:lnTo>
                    <a:lnTo>
                      <a:pt x="348074" y="7938"/>
                    </a:lnTo>
                    <a:cubicBezTo>
                      <a:pt x="345692" y="7938"/>
                      <a:pt x="344105" y="6350"/>
                      <a:pt x="344105" y="3969"/>
                    </a:cubicBezTo>
                    <a:cubicBezTo>
                      <a:pt x="344105" y="1588"/>
                      <a:pt x="345692" y="0"/>
                      <a:pt x="348074" y="0"/>
                    </a:cubicBezTo>
                    <a:lnTo>
                      <a:pt x="413561" y="0"/>
                    </a:lnTo>
                    <a:cubicBezTo>
                      <a:pt x="415942" y="0"/>
                      <a:pt x="417530" y="1588"/>
                      <a:pt x="417530" y="3969"/>
                    </a:cubicBezTo>
                    <a:lnTo>
                      <a:pt x="417530" y="217496"/>
                    </a:lnTo>
                    <a:cubicBezTo>
                      <a:pt x="417530" y="219878"/>
                      <a:pt x="415942" y="221465"/>
                      <a:pt x="413561" y="221465"/>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3" name="小红书平北职场PPT2-5"/>
              <p:cNvSpPr/>
              <p:nvPr/>
            </p:nvSpPr>
            <p:spPr>
              <a:xfrm>
                <a:off x="6084325" y="1105858"/>
                <a:ext cx="120104" cy="213453"/>
              </a:xfrm>
              <a:custGeom>
                <a:avLst/>
                <a:gdLst>
                  <a:gd name="connsiteX0" fmla="*/ 149628 w 157168"/>
                  <a:gd name="connsiteY0" fmla="*/ 279327 h 279327"/>
                  <a:gd name="connsiteX1" fmla="*/ 146056 w 157168"/>
                  <a:gd name="connsiteY1" fmla="*/ 278533 h 279327"/>
                  <a:gd name="connsiteX2" fmla="*/ 9922 w 157168"/>
                  <a:gd name="connsiteY2" fmla="*/ 273374 h 279327"/>
                  <a:gd name="connsiteX3" fmla="*/ 3175 w 157168"/>
                  <a:gd name="connsiteY3" fmla="*/ 271786 h 279327"/>
                  <a:gd name="connsiteX4" fmla="*/ 0 w 157168"/>
                  <a:gd name="connsiteY4" fmla="*/ 265436 h 279327"/>
                  <a:gd name="connsiteX5" fmla="*/ 0 w 157168"/>
                  <a:gd name="connsiteY5" fmla="*/ 17776 h 279327"/>
                  <a:gd name="connsiteX6" fmla="*/ 5953 w 157168"/>
                  <a:gd name="connsiteY6" fmla="*/ 10235 h 279327"/>
                  <a:gd name="connsiteX7" fmla="*/ 152803 w 157168"/>
                  <a:gd name="connsiteY7" fmla="*/ 16585 h 279327"/>
                  <a:gd name="connsiteX8" fmla="*/ 157169 w 157168"/>
                  <a:gd name="connsiteY8" fmla="*/ 23729 h 279327"/>
                  <a:gd name="connsiteX9" fmla="*/ 157169 w 157168"/>
                  <a:gd name="connsiteY9" fmla="*/ 271389 h 279327"/>
                  <a:gd name="connsiteX10" fmla="*/ 153597 w 157168"/>
                  <a:gd name="connsiteY10" fmla="*/ 278136 h 279327"/>
                  <a:gd name="connsiteX11" fmla="*/ 149628 w 157168"/>
                  <a:gd name="connsiteY11" fmla="*/ 279327 h 279327"/>
                  <a:gd name="connsiteX12" fmla="*/ 79378 w 157168"/>
                  <a:gd name="connsiteY12" fmla="*/ 247576 h 279327"/>
                  <a:gd name="connsiteX13" fmla="*/ 141690 w 157168"/>
                  <a:gd name="connsiteY13" fmla="*/ 259086 h 279327"/>
                  <a:gd name="connsiteX14" fmla="*/ 141690 w 157168"/>
                  <a:gd name="connsiteY14" fmla="*/ 28492 h 279327"/>
                  <a:gd name="connsiteX15" fmla="*/ 16273 w 157168"/>
                  <a:gd name="connsiteY15" fmla="*/ 24126 h 279327"/>
                  <a:gd name="connsiteX16" fmla="*/ 16273 w 157168"/>
                  <a:gd name="connsiteY16" fmla="*/ 255910 h 279327"/>
                  <a:gd name="connsiteX17" fmla="*/ 79378 w 157168"/>
                  <a:gd name="connsiteY17" fmla="*/ 247576 h 27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7168" h="279327">
                    <a:moveTo>
                      <a:pt x="149628" y="279327"/>
                    </a:moveTo>
                    <a:cubicBezTo>
                      <a:pt x="148437" y="279327"/>
                      <a:pt x="147247" y="278930"/>
                      <a:pt x="146056" y="278533"/>
                    </a:cubicBezTo>
                    <a:cubicBezTo>
                      <a:pt x="99223" y="255514"/>
                      <a:pt x="51199" y="263848"/>
                      <a:pt x="9922" y="273374"/>
                    </a:cubicBezTo>
                    <a:cubicBezTo>
                      <a:pt x="7541" y="273771"/>
                      <a:pt x="5160" y="273374"/>
                      <a:pt x="3175" y="271786"/>
                    </a:cubicBezTo>
                    <a:cubicBezTo>
                      <a:pt x="1191" y="270199"/>
                      <a:pt x="0" y="267817"/>
                      <a:pt x="0" y="265436"/>
                    </a:cubicBezTo>
                    <a:lnTo>
                      <a:pt x="0" y="17776"/>
                    </a:lnTo>
                    <a:cubicBezTo>
                      <a:pt x="0" y="14204"/>
                      <a:pt x="2381" y="11028"/>
                      <a:pt x="5953" y="10235"/>
                    </a:cubicBezTo>
                    <a:cubicBezTo>
                      <a:pt x="50008" y="-84"/>
                      <a:pt x="101207" y="-8816"/>
                      <a:pt x="152803" y="16585"/>
                    </a:cubicBezTo>
                    <a:cubicBezTo>
                      <a:pt x="155581" y="17776"/>
                      <a:pt x="157169" y="20554"/>
                      <a:pt x="157169" y="23729"/>
                    </a:cubicBezTo>
                    <a:lnTo>
                      <a:pt x="157169" y="271389"/>
                    </a:lnTo>
                    <a:cubicBezTo>
                      <a:pt x="157169" y="274167"/>
                      <a:pt x="155581" y="276549"/>
                      <a:pt x="153597" y="278136"/>
                    </a:cubicBezTo>
                    <a:cubicBezTo>
                      <a:pt x="152803" y="278930"/>
                      <a:pt x="151216" y="279327"/>
                      <a:pt x="149628" y="279327"/>
                    </a:cubicBezTo>
                    <a:close/>
                    <a:moveTo>
                      <a:pt x="79378" y="247576"/>
                    </a:moveTo>
                    <a:cubicBezTo>
                      <a:pt x="99620" y="247576"/>
                      <a:pt x="120655" y="250751"/>
                      <a:pt x="141690" y="259086"/>
                    </a:cubicBezTo>
                    <a:lnTo>
                      <a:pt x="141690" y="28492"/>
                    </a:lnTo>
                    <a:cubicBezTo>
                      <a:pt x="98826" y="9044"/>
                      <a:pt x="54771" y="15394"/>
                      <a:pt x="16273" y="24126"/>
                    </a:cubicBezTo>
                    <a:lnTo>
                      <a:pt x="16273" y="255910"/>
                    </a:lnTo>
                    <a:cubicBezTo>
                      <a:pt x="36117" y="251545"/>
                      <a:pt x="57549" y="247576"/>
                      <a:pt x="79378" y="247576"/>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4" name="小红书平北职场PPT2-6"/>
              <p:cNvSpPr/>
              <p:nvPr/>
            </p:nvSpPr>
            <p:spPr>
              <a:xfrm>
                <a:off x="5976352" y="1105858"/>
                <a:ext cx="200970" cy="213453"/>
              </a:xfrm>
              <a:custGeom>
                <a:avLst/>
                <a:gdLst>
                  <a:gd name="connsiteX0" fmla="*/ 7938 w 262990"/>
                  <a:gd name="connsiteY0" fmla="*/ 279327 h 279327"/>
                  <a:gd name="connsiteX1" fmla="*/ 3572 w 262990"/>
                  <a:gd name="connsiteY1" fmla="*/ 278136 h 279327"/>
                  <a:gd name="connsiteX2" fmla="*/ 0 w 262990"/>
                  <a:gd name="connsiteY2" fmla="*/ 271389 h 279327"/>
                  <a:gd name="connsiteX3" fmla="*/ 0 w 262990"/>
                  <a:gd name="connsiteY3" fmla="*/ 23729 h 279327"/>
                  <a:gd name="connsiteX4" fmla="*/ 4366 w 262990"/>
                  <a:gd name="connsiteY4" fmla="*/ 16585 h 279327"/>
                  <a:gd name="connsiteX5" fmla="*/ 151216 w 262990"/>
                  <a:gd name="connsiteY5" fmla="*/ 10235 h 279327"/>
                  <a:gd name="connsiteX6" fmla="*/ 157169 w 262990"/>
                  <a:gd name="connsiteY6" fmla="*/ 17776 h 279327"/>
                  <a:gd name="connsiteX7" fmla="*/ 157169 w 262990"/>
                  <a:gd name="connsiteY7" fmla="*/ 265436 h 279327"/>
                  <a:gd name="connsiteX8" fmla="*/ 153994 w 262990"/>
                  <a:gd name="connsiteY8" fmla="*/ 271786 h 279327"/>
                  <a:gd name="connsiteX9" fmla="*/ 147247 w 262990"/>
                  <a:gd name="connsiteY9" fmla="*/ 273374 h 279327"/>
                  <a:gd name="connsiteX10" fmla="*/ 11113 w 262990"/>
                  <a:gd name="connsiteY10" fmla="*/ 278533 h 279327"/>
                  <a:gd name="connsiteX11" fmla="*/ 7938 w 262990"/>
                  <a:gd name="connsiteY11" fmla="*/ 279327 h 279327"/>
                  <a:gd name="connsiteX12" fmla="*/ 15876 w 262990"/>
                  <a:gd name="connsiteY12" fmla="*/ 28492 h 279327"/>
                  <a:gd name="connsiteX13" fmla="*/ 15876 w 262990"/>
                  <a:gd name="connsiteY13" fmla="*/ 259086 h 279327"/>
                  <a:gd name="connsiteX14" fmla="*/ 141293 w 262990"/>
                  <a:gd name="connsiteY14" fmla="*/ 255514 h 279327"/>
                  <a:gd name="connsiteX15" fmla="*/ 141293 w 262990"/>
                  <a:gd name="connsiteY15" fmla="*/ 24126 h 279327"/>
                  <a:gd name="connsiteX16" fmla="*/ 15876 w 262990"/>
                  <a:gd name="connsiteY16" fmla="*/ 28492 h 279327"/>
                  <a:gd name="connsiteX17" fmla="*/ 259170 w 262990"/>
                  <a:gd name="connsiteY17" fmla="*/ 66593 h 279327"/>
                  <a:gd name="connsiteX18" fmla="*/ 257583 w 262990"/>
                  <a:gd name="connsiteY18" fmla="*/ 66196 h 279327"/>
                  <a:gd name="connsiteX19" fmla="*/ 182173 w 262990"/>
                  <a:gd name="connsiteY19" fmla="*/ 64212 h 279327"/>
                  <a:gd name="connsiteX20" fmla="*/ 177410 w 262990"/>
                  <a:gd name="connsiteY20" fmla="*/ 61037 h 279327"/>
                  <a:gd name="connsiteX21" fmla="*/ 180586 w 262990"/>
                  <a:gd name="connsiteY21" fmla="*/ 56274 h 279327"/>
                  <a:gd name="connsiteX22" fmla="*/ 260361 w 262990"/>
                  <a:gd name="connsiteY22" fmla="*/ 58259 h 279327"/>
                  <a:gd name="connsiteX23" fmla="*/ 262742 w 262990"/>
                  <a:gd name="connsiteY23" fmla="*/ 63418 h 279327"/>
                  <a:gd name="connsiteX24" fmla="*/ 259170 w 262990"/>
                  <a:gd name="connsiteY24" fmla="*/ 66593 h 279327"/>
                  <a:gd name="connsiteX25" fmla="*/ 259170 w 262990"/>
                  <a:gd name="connsiteY25" fmla="*/ 117395 h 279327"/>
                  <a:gd name="connsiteX26" fmla="*/ 257583 w 262990"/>
                  <a:gd name="connsiteY26" fmla="*/ 116998 h 279327"/>
                  <a:gd name="connsiteX27" fmla="*/ 182173 w 262990"/>
                  <a:gd name="connsiteY27" fmla="*/ 115014 h 279327"/>
                  <a:gd name="connsiteX28" fmla="*/ 177410 w 262990"/>
                  <a:gd name="connsiteY28" fmla="*/ 111839 h 279327"/>
                  <a:gd name="connsiteX29" fmla="*/ 180586 w 262990"/>
                  <a:gd name="connsiteY29" fmla="*/ 107076 h 279327"/>
                  <a:gd name="connsiteX30" fmla="*/ 260361 w 262990"/>
                  <a:gd name="connsiteY30" fmla="*/ 109061 h 279327"/>
                  <a:gd name="connsiteX31" fmla="*/ 262742 w 262990"/>
                  <a:gd name="connsiteY31" fmla="*/ 114220 h 279327"/>
                  <a:gd name="connsiteX32" fmla="*/ 259170 w 262990"/>
                  <a:gd name="connsiteY32" fmla="*/ 117395 h 279327"/>
                  <a:gd name="connsiteX33" fmla="*/ 259170 w 262990"/>
                  <a:gd name="connsiteY33" fmla="*/ 168197 h 279327"/>
                  <a:gd name="connsiteX34" fmla="*/ 257583 w 262990"/>
                  <a:gd name="connsiteY34" fmla="*/ 167801 h 279327"/>
                  <a:gd name="connsiteX35" fmla="*/ 182173 w 262990"/>
                  <a:gd name="connsiteY35" fmla="*/ 165816 h 279327"/>
                  <a:gd name="connsiteX36" fmla="*/ 177410 w 262990"/>
                  <a:gd name="connsiteY36" fmla="*/ 162641 h 279327"/>
                  <a:gd name="connsiteX37" fmla="*/ 180586 w 262990"/>
                  <a:gd name="connsiteY37" fmla="*/ 157878 h 279327"/>
                  <a:gd name="connsiteX38" fmla="*/ 260361 w 262990"/>
                  <a:gd name="connsiteY38" fmla="*/ 159863 h 279327"/>
                  <a:gd name="connsiteX39" fmla="*/ 262742 w 262990"/>
                  <a:gd name="connsiteY39" fmla="*/ 165022 h 279327"/>
                  <a:gd name="connsiteX40" fmla="*/ 259170 w 262990"/>
                  <a:gd name="connsiteY40" fmla="*/ 168197 h 279327"/>
                  <a:gd name="connsiteX41" fmla="*/ 259170 w 262990"/>
                  <a:gd name="connsiteY41" fmla="*/ 219000 h 279327"/>
                  <a:gd name="connsiteX42" fmla="*/ 257583 w 262990"/>
                  <a:gd name="connsiteY42" fmla="*/ 218603 h 279327"/>
                  <a:gd name="connsiteX43" fmla="*/ 182173 w 262990"/>
                  <a:gd name="connsiteY43" fmla="*/ 216618 h 279327"/>
                  <a:gd name="connsiteX44" fmla="*/ 177410 w 262990"/>
                  <a:gd name="connsiteY44" fmla="*/ 213443 h 279327"/>
                  <a:gd name="connsiteX45" fmla="*/ 180586 w 262990"/>
                  <a:gd name="connsiteY45" fmla="*/ 208680 h 279327"/>
                  <a:gd name="connsiteX46" fmla="*/ 260361 w 262990"/>
                  <a:gd name="connsiteY46" fmla="*/ 210665 h 279327"/>
                  <a:gd name="connsiteX47" fmla="*/ 262742 w 262990"/>
                  <a:gd name="connsiteY47" fmla="*/ 215824 h 279327"/>
                  <a:gd name="connsiteX48" fmla="*/ 259170 w 262990"/>
                  <a:gd name="connsiteY48" fmla="*/ 219000 h 27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62990" h="279327">
                    <a:moveTo>
                      <a:pt x="7938" y="279327"/>
                    </a:moveTo>
                    <a:cubicBezTo>
                      <a:pt x="6350" y="279327"/>
                      <a:pt x="5160" y="278930"/>
                      <a:pt x="3572" y="278136"/>
                    </a:cubicBezTo>
                    <a:cubicBezTo>
                      <a:pt x="1191" y="276549"/>
                      <a:pt x="0" y="274167"/>
                      <a:pt x="0" y="271389"/>
                    </a:cubicBezTo>
                    <a:lnTo>
                      <a:pt x="0" y="23729"/>
                    </a:lnTo>
                    <a:cubicBezTo>
                      <a:pt x="0" y="20554"/>
                      <a:pt x="1588" y="17776"/>
                      <a:pt x="4366" y="16585"/>
                    </a:cubicBezTo>
                    <a:cubicBezTo>
                      <a:pt x="55565" y="-8816"/>
                      <a:pt x="107161" y="-84"/>
                      <a:pt x="151216" y="10235"/>
                    </a:cubicBezTo>
                    <a:cubicBezTo>
                      <a:pt x="154788" y="11028"/>
                      <a:pt x="157169" y="14204"/>
                      <a:pt x="157169" y="17776"/>
                    </a:cubicBezTo>
                    <a:lnTo>
                      <a:pt x="157169" y="265436"/>
                    </a:lnTo>
                    <a:cubicBezTo>
                      <a:pt x="157169" y="267817"/>
                      <a:pt x="155978" y="270199"/>
                      <a:pt x="153994" y="271786"/>
                    </a:cubicBezTo>
                    <a:cubicBezTo>
                      <a:pt x="152009" y="273374"/>
                      <a:pt x="149628" y="273771"/>
                      <a:pt x="147247" y="273374"/>
                    </a:cubicBezTo>
                    <a:cubicBezTo>
                      <a:pt x="105970" y="263848"/>
                      <a:pt x="57946" y="255514"/>
                      <a:pt x="11113" y="278533"/>
                    </a:cubicBezTo>
                    <a:cubicBezTo>
                      <a:pt x="10319" y="278930"/>
                      <a:pt x="9129" y="279327"/>
                      <a:pt x="7938" y="279327"/>
                    </a:cubicBezTo>
                    <a:close/>
                    <a:moveTo>
                      <a:pt x="15876" y="28492"/>
                    </a:moveTo>
                    <a:lnTo>
                      <a:pt x="15876" y="259086"/>
                    </a:lnTo>
                    <a:cubicBezTo>
                      <a:pt x="59534" y="241622"/>
                      <a:pt x="103192" y="247179"/>
                      <a:pt x="141293" y="255514"/>
                    </a:cubicBezTo>
                    <a:lnTo>
                      <a:pt x="141293" y="24126"/>
                    </a:lnTo>
                    <a:cubicBezTo>
                      <a:pt x="102795" y="15394"/>
                      <a:pt x="59137" y="9044"/>
                      <a:pt x="15876" y="28492"/>
                    </a:cubicBezTo>
                    <a:close/>
                    <a:moveTo>
                      <a:pt x="259170" y="66593"/>
                    </a:moveTo>
                    <a:cubicBezTo>
                      <a:pt x="258773" y="66593"/>
                      <a:pt x="258376" y="66593"/>
                      <a:pt x="257583" y="66196"/>
                    </a:cubicBezTo>
                    <a:cubicBezTo>
                      <a:pt x="230991" y="55877"/>
                      <a:pt x="204399" y="59449"/>
                      <a:pt x="182173" y="64212"/>
                    </a:cubicBezTo>
                    <a:cubicBezTo>
                      <a:pt x="180189" y="64609"/>
                      <a:pt x="177807" y="63418"/>
                      <a:pt x="177410" y="61037"/>
                    </a:cubicBezTo>
                    <a:cubicBezTo>
                      <a:pt x="177014" y="59052"/>
                      <a:pt x="178204" y="56671"/>
                      <a:pt x="180586" y="56274"/>
                    </a:cubicBezTo>
                    <a:cubicBezTo>
                      <a:pt x="204002" y="51115"/>
                      <a:pt x="232181" y="47542"/>
                      <a:pt x="260361" y="58259"/>
                    </a:cubicBezTo>
                    <a:cubicBezTo>
                      <a:pt x="262345" y="59052"/>
                      <a:pt x="263536" y="61434"/>
                      <a:pt x="262742" y="63418"/>
                    </a:cubicBezTo>
                    <a:cubicBezTo>
                      <a:pt x="262345" y="65799"/>
                      <a:pt x="260758" y="66593"/>
                      <a:pt x="259170" y="66593"/>
                    </a:cubicBezTo>
                    <a:close/>
                    <a:moveTo>
                      <a:pt x="259170" y="117395"/>
                    </a:moveTo>
                    <a:cubicBezTo>
                      <a:pt x="258773" y="117395"/>
                      <a:pt x="258376" y="117395"/>
                      <a:pt x="257583" y="116998"/>
                    </a:cubicBezTo>
                    <a:cubicBezTo>
                      <a:pt x="230991" y="106679"/>
                      <a:pt x="204399" y="110251"/>
                      <a:pt x="182173" y="115014"/>
                    </a:cubicBezTo>
                    <a:cubicBezTo>
                      <a:pt x="180189" y="115411"/>
                      <a:pt x="177807" y="114220"/>
                      <a:pt x="177410" y="111839"/>
                    </a:cubicBezTo>
                    <a:cubicBezTo>
                      <a:pt x="177014" y="109854"/>
                      <a:pt x="178204" y="107473"/>
                      <a:pt x="180586" y="107076"/>
                    </a:cubicBezTo>
                    <a:cubicBezTo>
                      <a:pt x="204002" y="101917"/>
                      <a:pt x="232181" y="98345"/>
                      <a:pt x="260361" y="109061"/>
                    </a:cubicBezTo>
                    <a:cubicBezTo>
                      <a:pt x="262345" y="109854"/>
                      <a:pt x="263536" y="112236"/>
                      <a:pt x="262742" y="114220"/>
                    </a:cubicBezTo>
                    <a:cubicBezTo>
                      <a:pt x="262345" y="116602"/>
                      <a:pt x="260758" y="117395"/>
                      <a:pt x="259170" y="117395"/>
                    </a:cubicBezTo>
                    <a:close/>
                    <a:moveTo>
                      <a:pt x="259170" y="168197"/>
                    </a:moveTo>
                    <a:cubicBezTo>
                      <a:pt x="258773" y="168197"/>
                      <a:pt x="258376" y="168197"/>
                      <a:pt x="257583" y="167801"/>
                    </a:cubicBezTo>
                    <a:cubicBezTo>
                      <a:pt x="230991" y="157481"/>
                      <a:pt x="204399" y="161053"/>
                      <a:pt x="182173" y="165816"/>
                    </a:cubicBezTo>
                    <a:cubicBezTo>
                      <a:pt x="180189" y="166213"/>
                      <a:pt x="177807" y="165022"/>
                      <a:pt x="177410" y="162641"/>
                    </a:cubicBezTo>
                    <a:cubicBezTo>
                      <a:pt x="177014" y="160657"/>
                      <a:pt x="178204" y="158275"/>
                      <a:pt x="180586" y="157878"/>
                    </a:cubicBezTo>
                    <a:cubicBezTo>
                      <a:pt x="204002" y="152719"/>
                      <a:pt x="232181" y="149147"/>
                      <a:pt x="260361" y="159863"/>
                    </a:cubicBezTo>
                    <a:cubicBezTo>
                      <a:pt x="262345" y="160657"/>
                      <a:pt x="263536" y="163038"/>
                      <a:pt x="262742" y="165022"/>
                    </a:cubicBezTo>
                    <a:cubicBezTo>
                      <a:pt x="262345" y="167404"/>
                      <a:pt x="260758" y="168197"/>
                      <a:pt x="259170" y="168197"/>
                    </a:cubicBezTo>
                    <a:close/>
                    <a:moveTo>
                      <a:pt x="259170" y="219000"/>
                    </a:moveTo>
                    <a:cubicBezTo>
                      <a:pt x="258773" y="219000"/>
                      <a:pt x="258376" y="219000"/>
                      <a:pt x="257583" y="218603"/>
                    </a:cubicBezTo>
                    <a:cubicBezTo>
                      <a:pt x="230991" y="208284"/>
                      <a:pt x="204399" y="211856"/>
                      <a:pt x="182173" y="216618"/>
                    </a:cubicBezTo>
                    <a:cubicBezTo>
                      <a:pt x="180189" y="217015"/>
                      <a:pt x="177807" y="215824"/>
                      <a:pt x="177410" y="213443"/>
                    </a:cubicBezTo>
                    <a:cubicBezTo>
                      <a:pt x="177014" y="211459"/>
                      <a:pt x="178204" y="209077"/>
                      <a:pt x="180586" y="208680"/>
                    </a:cubicBezTo>
                    <a:cubicBezTo>
                      <a:pt x="204002" y="203521"/>
                      <a:pt x="232181" y="199949"/>
                      <a:pt x="260361" y="210665"/>
                    </a:cubicBezTo>
                    <a:cubicBezTo>
                      <a:pt x="262345" y="211459"/>
                      <a:pt x="263536" y="213840"/>
                      <a:pt x="262742" y="215824"/>
                    </a:cubicBezTo>
                    <a:cubicBezTo>
                      <a:pt x="262345" y="218206"/>
                      <a:pt x="260758" y="219000"/>
                      <a:pt x="259170" y="219000"/>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5" name="小红书平北职场PPT2-7"/>
              <p:cNvSpPr/>
              <p:nvPr/>
            </p:nvSpPr>
            <p:spPr>
              <a:xfrm>
                <a:off x="6003591" y="1145059"/>
                <a:ext cx="65455" cy="128152"/>
              </a:xfrm>
              <a:custGeom>
                <a:avLst/>
                <a:gdLst>
                  <a:gd name="connsiteX0" fmla="*/ 81835 w 85655"/>
                  <a:gd name="connsiteY0" fmla="*/ 15295 h 167701"/>
                  <a:gd name="connsiteX1" fmla="*/ 80247 w 85655"/>
                  <a:gd name="connsiteY1" fmla="*/ 14898 h 167701"/>
                  <a:gd name="connsiteX2" fmla="*/ 4838 w 85655"/>
                  <a:gd name="connsiteY2" fmla="*/ 12914 h 167701"/>
                  <a:gd name="connsiteX3" fmla="*/ 75 w 85655"/>
                  <a:gd name="connsiteY3" fmla="*/ 9739 h 167701"/>
                  <a:gd name="connsiteX4" fmla="*/ 3250 w 85655"/>
                  <a:gd name="connsiteY4" fmla="*/ 4976 h 167701"/>
                  <a:gd name="connsiteX5" fmla="*/ 83026 w 85655"/>
                  <a:gd name="connsiteY5" fmla="*/ 6960 h 167701"/>
                  <a:gd name="connsiteX6" fmla="*/ 85407 w 85655"/>
                  <a:gd name="connsiteY6" fmla="*/ 12120 h 167701"/>
                  <a:gd name="connsiteX7" fmla="*/ 81835 w 85655"/>
                  <a:gd name="connsiteY7" fmla="*/ 15295 h 167701"/>
                  <a:gd name="connsiteX8" fmla="*/ 81835 w 85655"/>
                  <a:gd name="connsiteY8" fmla="*/ 66097 h 167701"/>
                  <a:gd name="connsiteX9" fmla="*/ 80247 w 85655"/>
                  <a:gd name="connsiteY9" fmla="*/ 65700 h 167701"/>
                  <a:gd name="connsiteX10" fmla="*/ 4838 w 85655"/>
                  <a:gd name="connsiteY10" fmla="*/ 63716 h 167701"/>
                  <a:gd name="connsiteX11" fmla="*/ 75 w 85655"/>
                  <a:gd name="connsiteY11" fmla="*/ 60541 h 167701"/>
                  <a:gd name="connsiteX12" fmla="*/ 3250 w 85655"/>
                  <a:gd name="connsiteY12" fmla="*/ 55778 h 167701"/>
                  <a:gd name="connsiteX13" fmla="*/ 83026 w 85655"/>
                  <a:gd name="connsiteY13" fmla="*/ 57762 h 167701"/>
                  <a:gd name="connsiteX14" fmla="*/ 85407 w 85655"/>
                  <a:gd name="connsiteY14" fmla="*/ 62922 h 167701"/>
                  <a:gd name="connsiteX15" fmla="*/ 81835 w 85655"/>
                  <a:gd name="connsiteY15" fmla="*/ 66097 h 167701"/>
                  <a:gd name="connsiteX16" fmla="*/ 81835 w 85655"/>
                  <a:gd name="connsiteY16" fmla="*/ 116899 h 167701"/>
                  <a:gd name="connsiteX17" fmla="*/ 80247 w 85655"/>
                  <a:gd name="connsiteY17" fmla="*/ 116502 h 167701"/>
                  <a:gd name="connsiteX18" fmla="*/ 4838 w 85655"/>
                  <a:gd name="connsiteY18" fmla="*/ 114518 h 167701"/>
                  <a:gd name="connsiteX19" fmla="*/ 75 w 85655"/>
                  <a:gd name="connsiteY19" fmla="*/ 111343 h 167701"/>
                  <a:gd name="connsiteX20" fmla="*/ 3250 w 85655"/>
                  <a:gd name="connsiteY20" fmla="*/ 106580 h 167701"/>
                  <a:gd name="connsiteX21" fmla="*/ 83026 w 85655"/>
                  <a:gd name="connsiteY21" fmla="*/ 108564 h 167701"/>
                  <a:gd name="connsiteX22" fmla="*/ 85407 w 85655"/>
                  <a:gd name="connsiteY22" fmla="*/ 113724 h 167701"/>
                  <a:gd name="connsiteX23" fmla="*/ 81835 w 85655"/>
                  <a:gd name="connsiteY23" fmla="*/ 116899 h 167701"/>
                  <a:gd name="connsiteX24" fmla="*/ 81835 w 85655"/>
                  <a:gd name="connsiteY24" fmla="*/ 167701 h 167701"/>
                  <a:gd name="connsiteX25" fmla="*/ 80247 w 85655"/>
                  <a:gd name="connsiteY25" fmla="*/ 167304 h 167701"/>
                  <a:gd name="connsiteX26" fmla="*/ 4838 w 85655"/>
                  <a:gd name="connsiteY26" fmla="*/ 165320 h 167701"/>
                  <a:gd name="connsiteX27" fmla="*/ 75 w 85655"/>
                  <a:gd name="connsiteY27" fmla="*/ 162145 h 167701"/>
                  <a:gd name="connsiteX28" fmla="*/ 3250 w 85655"/>
                  <a:gd name="connsiteY28" fmla="*/ 157382 h 167701"/>
                  <a:gd name="connsiteX29" fmla="*/ 83026 w 85655"/>
                  <a:gd name="connsiteY29" fmla="*/ 159367 h 167701"/>
                  <a:gd name="connsiteX30" fmla="*/ 85407 w 85655"/>
                  <a:gd name="connsiteY30" fmla="*/ 164526 h 167701"/>
                  <a:gd name="connsiteX31" fmla="*/ 81835 w 85655"/>
                  <a:gd name="connsiteY31" fmla="*/ 167701 h 16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5655" h="167701">
                    <a:moveTo>
                      <a:pt x="81835" y="15295"/>
                    </a:moveTo>
                    <a:cubicBezTo>
                      <a:pt x="81438" y="15295"/>
                      <a:pt x="81041" y="15295"/>
                      <a:pt x="80247" y="14898"/>
                    </a:cubicBezTo>
                    <a:cubicBezTo>
                      <a:pt x="53656" y="4579"/>
                      <a:pt x="27064" y="8151"/>
                      <a:pt x="4838" y="12914"/>
                    </a:cubicBezTo>
                    <a:cubicBezTo>
                      <a:pt x="2853" y="13311"/>
                      <a:pt x="472" y="12120"/>
                      <a:pt x="75" y="9739"/>
                    </a:cubicBezTo>
                    <a:cubicBezTo>
                      <a:pt x="-322" y="7754"/>
                      <a:pt x="869" y="5373"/>
                      <a:pt x="3250" y="4976"/>
                    </a:cubicBezTo>
                    <a:cubicBezTo>
                      <a:pt x="26667" y="-184"/>
                      <a:pt x="54846" y="-3756"/>
                      <a:pt x="83026" y="6960"/>
                    </a:cubicBezTo>
                    <a:cubicBezTo>
                      <a:pt x="85010" y="7754"/>
                      <a:pt x="86201" y="10135"/>
                      <a:pt x="85407" y="12120"/>
                    </a:cubicBezTo>
                    <a:cubicBezTo>
                      <a:pt x="85010" y="14501"/>
                      <a:pt x="83422" y="15295"/>
                      <a:pt x="81835" y="15295"/>
                    </a:cubicBezTo>
                    <a:close/>
                    <a:moveTo>
                      <a:pt x="81835" y="66097"/>
                    </a:moveTo>
                    <a:cubicBezTo>
                      <a:pt x="81438" y="66097"/>
                      <a:pt x="81041" y="66097"/>
                      <a:pt x="80247" y="65700"/>
                    </a:cubicBezTo>
                    <a:cubicBezTo>
                      <a:pt x="53656" y="55381"/>
                      <a:pt x="27064" y="58953"/>
                      <a:pt x="4838" y="63716"/>
                    </a:cubicBezTo>
                    <a:cubicBezTo>
                      <a:pt x="2853" y="64113"/>
                      <a:pt x="472" y="62922"/>
                      <a:pt x="75" y="60541"/>
                    </a:cubicBezTo>
                    <a:cubicBezTo>
                      <a:pt x="-322" y="58556"/>
                      <a:pt x="869" y="56175"/>
                      <a:pt x="3250" y="55778"/>
                    </a:cubicBezTo>
                    <a:cubicBezTo>
                      <a:pt x="26667" y="50618"/>
                      <a:pt x="54846" y="47046"/>
                      <a:pt x="83026" y="57762"/>
                    </a:cubicBezTo>
                    <a:cubicBezTo>
                      <a:pt x="85010" y="58556"/>
                      <a:pt x="86201" y="60938"/>
                      <a:pt x="85407" y="62922"/>
                    </a:cubicBezTo>
                    <a:cubicBezTo>
                      <a:pt x="85010" y="65303"/>
                      <a:pt x="83422" y="66097"/>
                      <a:pt x="81835" y="66097"/>
                    </a:cubicBezTo>
                    <a:close/>
                    <a:moveTo>
                      <a:pt x="81835" y="116899"/>
                    </a:moveTo>
                    <a:cubicBezTo>
                      <a:pt x="81438" y="116899"/>
                      <a:pt x="81041" y="116899"/>
                      <a:pt x="80247" y="116502"/>
                    </a:cubicBezTo>
                    <a:cubicBezTo>
                      <a:pt x="53656" y="106183"/>
                      <a:pt x="27064" y="109755"/>
                      <a:pt x="4838" y="114518"/>
                    </a:cubicBezTo>
                    <a:cubicBezTo>
                      <a:pt x="2853" y="114915"/>
                      <a:pt x="472" y="113724"/>
                      <a:pt x="75" y="111343"/>
                    </a:cubicBezTo>
                    <a:cubicBezTo>
                      <a:pt x="-322" y="109358"/>
                      <a:pt x="869" y="106977"/>
                      <a:pt x="3250" y="106580"/>
                    </a:cubicBezTo>
                    <a:cubicBezTo>
                      <a:pt x="26667" y="101420"/>
                      <a:pt x="54846" y="97848"/>
                      <a:pt x="83026" y="108564"/>
                    </a:cubicBezTo>
                    <a:cubicBezTo>
                      <a:pt x="85010" y="109358"/>
                      <a:pt x="86201" y="111740"/>
                      <a:pt x="85407" y="113724"/>
                    </a:cubicBezTo>
                    <a:cubicBezTo>
                      <a:pt x="85010" y="116105"/>
                      <a:pt x="83422" y="116899"/>
                      <a:pt x="81835" y="116899"/>
                    </a:cubicBezTo>
                    <a:close/>
                    <a:moveTo>
                      <a:pt x="81835" y="167701"/>
                    </a:moveTo>
                    <a:cubicBezTo>
                      <a:pt x="81438" y="167701"/>
                      <a:pt x="81041" y="167701"/>
                      <a:pt x="80247" y="167304"/>
                    </a:cubicBezTo>
                    <a:cubicBezTo>
                      <a:pt x="53656" y="156985"/>
                      <a:pt x="27064" y="160557"/>
                      <a:pt x="4838" y="165320"/>
                    </a:cubicBezTo>
                    <a:cubicBezTo>
                      <a:pt x="2853" y="165717"/>
                      <a:pt x="472" y="164526"/>
                      <a:pt x="75" y="162145"/>
                    </a:cubicBezTo>
                    <a:cubicBezTo>
                      <a:pt x="-322" y="160160"/>
                      <a:pt x="869" y="157779"/>
                      <a:pt x="3250" y="157382"/>
                    </a:cubicBezTo>
                    <a:cubicBezTo>
                      <a:pt x="26667" y="152223"/>
                      <a:pt x="54846" y="148651"/>
                      <a:pt x="83026" y="159367"/>
                    </a:cubicBezTo>
                    <a:cubicBezTo>
                      <a:pt x="85010" y="160160"/>
                      <a:pt x="86201" y="162542"/>
                      <a:pt x="85407" y="164526"/>
                    </a:cubicBezTo>
                    <a:cubicBezTo>
                      <a:pt x="85010" y="166908"/>
                      <a:pt x="83422" y="167701"/>
                      <a:pt x="81835" y="167701"/>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grpSp>
        <p:sp>
          <p:nvSpPr>
            <p:cNvPr id="89" name="小红书平北职场PPT2-8"/>
            <p:cNvSpPr txBox="1"/>
            <p:nvPr/>
          </p:nvSpPr>
          <p:spPr>
            <a:xfrm>
              <a:off x="3106703" y="1350360"/>
              <a:ext cx="6098058" cy="400110"/>
            </a:xfrm>
            <a:prstGeom prst="rect">
              <a:avLst/>
            </a:prstGeom>
            <a:noFill/>
          </p:spPr>
          <p:txBody>
            <a:bodyPr wrap="square">
              <a:spAutoFit/>
            </a:bodyPr>
            <a:lstStyle/>
            <a:p>
              <a:pPr algn="ctr"/>
              <a:r>
                <a:rPr kumimoji="0" lang="zh-CN" altLang="en-US" sz="2000" b="1" i="0" u="none" strike="noStrike" kern="1200" cap="none" spc="0" normalizeH="0" baseline="0" noProof="0" dirty="0">
                  <a:ln>
                    <a:noFill/>
                  </a:ln>
                  <a:solidFill>
                    <a:schemeClr val="bg1"/>
                  </a:solidFill>
                  <a:effectLst/>
                  <a:uLnTx/>
                  <a:uFillTx/>
                  <a:latin typeface="+mn-ea"/>
                  <a:cs typeface="思源黑体 CN Normal" panose="020B0400000000000000" pitchFamily="34" charset="-122"/>
                </a:rPr>
                <a:t>综合指挥中心</a:t>
              </a:r>
              <a:endParaRPr kumimoji="0" lang="zh-CN" altLang="en-US" sz="2000" b="1" i="0" u="none" strike="noStrike" kern="1200" cap="none" spc="0" normalizeH="0" baseline="0" noProof="0" dirty="0">
                <a:ln>
                  <a:noFill/>
                </a:ln>
                <a:solidFill>
                  <a:schemeClr val="bg1"/>
                </a:solidFill>
                <a:effectLst/>
                <a:uLnTx/>
                <a:uFillTx/>
                <a:latin typeface="+mn-ea"/>
                <a:cs typeface="思源黑体 CN Normal" panose="020B0400000000000000" pitchFamily="34" charset="-122"/>
              </a:endParaRPr>
            </a:p>
          </p:txBody>
        </p:sp>
      </p:grpSp>
      <p:grpSp>
        <p:nvGrpSpPr>
          <p:cNvPr id="5" name="小红书平北职场PPT3"/>
          <p:cNvGrpSpPr/>
          <p:nvPr/>
        </p:nvGrpSpPr>
        <p:grpSpPr>
          <a:xfrm>
            <a:off x="2213015" y="1984227"/>
            <a:ext cx="6701934" cy="109772"/>
            <a:chOff x="2213015" y="1984227"/>
            <a:chExt cx="6701934" cy="109772"/>
          </a:xfrm>
        </p:grpSpPr>
        <p:sp>
          <p:nvSpPr>
            <p:cNvPr id="84" name="小红书平北职场PPT3-1"/>
            <p:cNvSpPr/>
            <p:nvPr/>
          </p:nvSpPr>
          <p:spPr>
            <a:xfrm flipH="1">
              <a:off x="8791832" y="1984227"/>
              <a:ext cx="123117" cy="109772"/>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85" name="小红书平北职场PPT3-2"/>
            <p:cNvSpPr/>
            <p:nvPr/>
          </p:nvSpPr>
          <p:spPr>
            <a:xfrm flipH="1">
              <a:off x="5508439" y="1984227"/>
              <a:ext cx="123117" cy="109772"/>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86" name="小红书平北职场PPT3-3"/>
            <p:cNvSpPr/>
            <p:nvPr/>
          </p:nvSpPr>
          <p:spPr>
            <a:xfrm flipH="1">
              <a:off x="2213015" y="1984227"/>
              <a:ext cx="123117" cy="109772"/>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nvGrpSpPr>
          <p:cNvPr id="6" name="小红书平北职场PPT4"/>
          <p:cNvGrpSpPr/>
          <p:nvPr/>
        </p:nvGrpSpPr>
        <p:grpSpPr>
          <a:xfrm>
            <a:off x="439163" y="5326807"/>
            <a:ext cx="11417875" cy="1197892"/>
            <a:chOff x="439163" y="5326807"/>
            <a:chExt cx="11417875" cy="1197892"/>
          </a:xfrm>
        </p:grpSpPr>
        <p:grpSp>
          <p:nvGrpSpPr>
            <p:cNvPr id="68" name="组合 67"/>
            <p:cNvGrpSpPr/>
            <p:nvPr/>
          </p:nvGrpSpPr>
          <p:grpSpPr>
            <a:xfrm>
              <a:off x="2200779" y="5326807"/>
              <a:ext cx="9550381" cy="330496"/>
              <a:chOff x="2200779" y="2735735"/>
              <a:chExt cx="9550381" cy="373445"/>
            </a:xfrm>
          </p:grpSpPr>
          <p:sp>
            <p:nvSpPr>
              <p:cNvPr id="76" name="小红书平北职场PPT4-1"/>
              <p:cNvSpPr/>
              <p:nvPr>
                <p:custDataLst>
                  <p:tags r:id="rId3"/>
                </p:custDataLst>
              </p:nvPr>
            </p:nvSpPr>
            <p:spPr>
              <a:xfrm>
                <a:off x="220077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7" name="小红书平北职场PPT4-2"/>
              <p:cNvSpPr/>
              <p:nvPr>
                <p:custDataLst>
                  <p:tags r:id="rId4"/>
                </p:custDataLst>
              </p:nvPr>
            </p:nvSpPr>
            <p:spPr>
              <a:xfrm>
                <a:off x="460902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8" name="小红书平北职场PPT4-3"/>
              <p:cNvSpPr/>
              <p:nvPr>
                <p:custDataLst>
                  <p:tags r:id="rId5"/>
                </p:custDataLst>
              </p:nvPr>
            </p:nvSpPr>
            <p:spPr>
              <a:xfrm>
                <a:off x="701727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9" name="小红书平北职场PPT4-4"/>
              <p:cNvSpPr/>
              <p:nvPr>
                <p:custDataLst>
                  <p:tags r:id="rId6"/>
                </p:custDataLst>
              </p:nvPr>
            </p:nvSpPr>
            <p:spPr>
              <a:xfrm>
                <a:off x="9425530"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0" name="小红书平北职场PPT4-5"/>
              <p:cNvSpPr txBox="1"/>
              <p:nvPr/>
            </p:nvSpPr>
            <p:spPr>
              <a:xfrm>
                <a:off x="2283568" y="2769766"/>
                <a:ext cx="1393039"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摄像头</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1" name="小红书平北职场PPT4-6"/>
              <p:cNvSpPr txBox="1"/>
              <p:nvPr/>
            </p:nvSpPr>
            <p:spPr>
              <a:xfrm>
                <a:off x="4685977" y="276976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传感器</a:t>
                </a:r>
                <a:endParaRPr lang="zh-CN" altLang="en-US" sz="1140" b="1" dirty="0">
                  <a:solidFill>
                    <a:schemeClr val="bg1"/>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2" name="小红书平北职场PPT4-7"/>
              <p:cNvSpPr txBox="1"/>
              <p:nvPr/>
            </p:nvSpPr>
            <p:spPr>
              <a:xfrm>
                <a:off x="7088386" y="276976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采集器</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3" name="小红书平北职场PPT4-8"/>
              <p:cNvSpPr txBox="1"/>
              <p:nvPr/>
            </p:nvSpPr>
            <p:spPr>
              <a:xfrm>
                <a:off x="9490795" y="2769766"/>
                <a:ext cx="1361635" cy="297346"/>
              </a:xfrm>
              <a:prstGeom prst="rect">
                <a:avLst/>
              </a:prstGeom>
              <a:noFill/>
              <a:effectLst/>
            </p:spPr>
            <p:txBody>
              <a:bodyPr wrap="square" lIns="86868" tIns="43434" rIns="86868" bIns="43434" rtlCol="0">
                <a:spAutoFit/>
              </a:bodyPr>
              <a:lstStyle/>
              <a:p>
                <a:r>
                  <a:rPr lang="en-US" altLang="zh-CN"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lang="en-US" altLang="zh-CN"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69" name="组合 68"/>
            <p:cNvGrpSpPr/>
            <p:nvPr/>
          </p:nvGrpSpPr>
          <p:grpSpPr>
            <a:xfrm>
              <a:off x="439163" y="5326807"/>
              <a:ext cx="1598376" cy="1197892"/>
              <a:chOff x="439162" y="3888133"/>
              <a:chExt cx="1661063" cy="1197892"/>
            </a:xfrm>
          </p:grpSpPr>
          <p:sp>
            <p:nvSpPr>
              <p:cNvPr id="73" name="小红书平北职场PPT4-9"/>
              <p:cNvSpPr/>
              <p:nvPr>
                <p:custDataLst>
                  <p:tags r:id="rId7"/>
                </p:custDataLst>
              </p:nvPr>
            </p:nvSpPr>
            <p:spPr>
              <a:xfrm>
                <a:off x="439162" y="3888133"/>
                <a:ext cx="1636200" cy="1197892"/>
              </a:xfrm>
              <a:prstGeom prst="rect">
                <a:avLst/>
              </a:prstGeom>
              <a:gradFill flip="none" rotWithShape="1">
                <a:gsLst>
                  <a:gs pos="0">
                    <a:schemeClr val="accent1">
                      <a:lumMod val="60000"/>
                      <a:lumOff val="40000"/>
                    </a:schemeClr>
                  </a:gs>
                  <a:gs pos="100000">
                    <a:schemeClr val="accent1"/>
                  </a:gs>
                </a:gsLst>
                <a:lin ang="2700000" scaled="1"/>
                <a:tileRect/>
              </a:gra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cs typeface="思源黑体 CN Normal" panose="020B0400000000000000" pitchFamily="34" charset="-122"/>
                </a:endParaRPr>
              </a:p>
            </p:txBody>
          </p:sp>
          <p:sp>
            <p:nvSpPr>
              <p:cNvPr id="74" name="小红书平北职场PPT4-10"/>
              <p:cNvSpPr txBox="1"/>
              <p:nvPr/>
            </p:nvSpPr>
            <p:spPr>
              <a:xfrm>
                <a:off x="551040" y="3975147"/>
                <a:ext cx="1549185"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感知层</a:t>
                </a:r>
                <a:endParaRPr lang="zh-CN" altLang="en-US" sz="1600" dirty="0">
                  <a:solidFill>
                    <a:schemeClr val="bg1"/>
                  </a:solidFill>
                  <a:latin typeface="+mj-ea"/>
                  <a:ea typeface="+mj-ea"/>
                  <a:cs typeface="思源黑体 CN Normal" panose="020B0400000000000000" pitchFamily="34" charset="-122"/>
                </a:endParaRPr>
              </a:p>
            </p:txBody>
          </p:sp>
          <p:sp>
            <p:nvSpPr>
              <p:cNvPr id="75" name="小红书平北职场PPT4-11"/>
              <p:cNvSpPr txBox="1"/>
              <p:nvPr/>
            </p:nvSpPr>
            <p:spPr>
              <a:xfrm>
                <a:off x="551039" y="4253041"/>
                <a:ext cx="1387806" cy="438582"/>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Enter your title</a:t>
                </a:r>
                <a:endPar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70" name="组合 69"/>
            <p:cNvGrpSpPr/>
            <p:nvPr/>
          </p:nvGrpSpPr>
          <p:grpSpPr>
            <a:xfrm>
              <a:off x="2347715" y="5799108"/>
              <a:ext cx="9509323" cy="725591"/>
              <a:chOff x="3766919" y="9562844"/>
              <a:chExt cx="9509323" cy="725591"/>
            </a:xfrm>
          </p:grpSpPr>
          <p:sp>
            <p:nvSpPr>
              <p:cNvPr id="71" name="小红书平北职场PPT4-12"/>
              <p:cNvSpPr/>
              <p:nvPr/>
            </p:nvSpPr>
            <p:spPr>
              <a:xfrm>
                <a:off x="3766919" y="9562844"/>
                <a:ext cx="9509323" cy="725591"/>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72" name="小红书平北职场PPT4-13"/>
              <p:cNvSpPr txBox="1"/>
              <p:nvPr/>
            </p:nvSpPr>
            <p:spPr>
              <a:xfrm>
                <a:off x="4030251" y="9660906"/>
                <a:ext cx="9140113" cy="557140"/>
              </a:xfrm>
              <a:prstGeom prst="rect">
                <a:avLst/>
              </a:prstGeom>
              <a:noFill/>
            </p:spPr>
            <p:txBody>
              <a:bodyPr wrap="square">
                <a:spAutoFit/>
              </a:bodyPr>
              <a:lstStyle>
                <a:defPPr>
                  <a:defRPr lang="zh-CN"/>
                </a:defPPr>
                <a:lvl1pPr algn="just">
                  <a:lnSpc>
                    <a:spcPct val="120000"/>
                  </a:lnSpc>
                  <a:defRPr sz="1200">
                    <a:solidFill>
                      <a:schemeClr val="tx1">
                        <a:lumMod val="75000"/>
                        <a:lumOff val="25000"/>
                      </a:schemeClr>
                    </a:solidFill>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我们以监控、传感与网络设备为基础，构建起智慧矿山的全域感知触角，为其提供最基础、最真实的实时数据。这些数据是实现智能预警、精准调度与科学决策的根本依据，构成了矿山安全生产与高效运营的坚实底座。</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grpSp>
        <p:nvGrpSpPr>
          <p:cNvPr id="7" name="小红书平北职场PPT5"/>
          <p:cNvGrpSpPr/>
          <p:nvPr/>
        </p:nvGrpSpPr>
        <p:grpSpPr>
          <a:xfrm>
            <a:off x="439163" y="3907685"/>
            <a:ext cx="11417875" cy="1200244"/>
            <a:chOff x="439163" y="3951803"/>
            <a:chExt cx="11417875" cy="1200244"/>
          </a:xfrm>
        </p:grpSpPr>
        <p:grpSp>
          <p:nvGrpSpPr>
            <p:cNvPr id="52" name="组合 51"/>
            <p:cNvGrpSpPr/>
            <p:nvPr/>
          </p:nvGrpSpPr>
          <p:grpSpPr>
            <a:xfrm>
              <a:off x="2200779" y="3969388"/>
              <a:ext cx="9550381" cy="330496"/>
              <a:chOff x="2200779" y="2735735"/>
              <a:chExt cx="9550381" cy="373445"/>
            </a:xfrm>
          </p:grpSpPr>
          <p:sp>
            <p:nvSpPr>
              <p:cNvPr id="60" name="小红书平北职场PPT5-1"/>
              <p:cNvSpPr/>
              <p:nvPr>
                <p:custDataLst>
                  <p:tags r:id="rId8"/>
                </p:custDataLst>
              </p:nvPr>
            </p:nvSpPr>
            <p:spPr>
              <a:xfrm>
                <a:off x="220077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1" name="小红书平北职场PPT5-2"/>
              <p:cNvSpPr/>
              <p:nvPr>
                <p:custDataLst>
                  <p:tags r:id="rId9"/>
                </p:custDataLst>
              </p:nvPr>
            </p:nvSpPr>
            <p:spPr>
              <a:xfrm>
                <a:off x="460902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2" name="小红书平北职场PPT5-3"/>
              <p:cNvSpPr/>
              <p:nvPr>
                <p:custDataLst>
                  <p:tags r:id="rId10"/>
                </p:custDataLst>
              </p:nvPr>
            </p:nvSpPr>
            <p:spPr>
              <a:xfrm>
                <a:off x="701727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小红书平北职场PPT5-4"/>
              <p:cNvSpPr/>
              <p:nvPr>
                <p:custDataLst>
                  <p:tags r:id="rId11"/>
                </p:custDataLst>
              </p:nvPr>
            </p:nvSpPr>
            <p:spPr>
              <a:xfrm>
                <a:off x="9425530"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4" name="小红书平北职场PPT5-5"/>
              <p:cNvSpPr txBox="1"/>
              <p:nvPr/>
            </p:nvSpPr>
            <p:spPr>
              <a:xfrm>
                <a:off x="2283568" y="2768426"/>
                <a:ext cx="1393039"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监测数据</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5" name="小红书平北职场PPT5-6"/>
              <p:cNvSpPr txBox="1"/>
              <p:nvPr/>
            </p:nvSpPr>
            <p:spPr>
              <a:xfrm>
                <a:off x="4685977" y="276842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环境数据</a:t>
                </a:r>
                <a:endParaRPr lang="zh-CN" altLang="en-US" sz="1140" b="1" dirty="0">
                  <a:solidFill>
                    <a:schemeClr val="bg1"/>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6" name="小红书平北职场PPT5-7"/>
              <p:cNvSpPr txBox="1"/>
              <p:nvPr/>
            </p:nvSpPr>
            <p:spPr>
              <a:xfrm>
                <a:off x="7088386" y="276842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行为数据</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7" name="小红书平北职场PPT5-8"/>
              <p:cNvSpPr txBox="1"/>
              <p:nvPr/>
            </p:nvSpPr>
            <p:spPr>
              <a:xfrm>
                <a:off x="9490795" y="276842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运营数据</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3" name="组合 52"/>
            <p:cNvGrpSpPr/>
            <p:nvPr/>
          </p:nvGrpSpPr>
          <p:grpSpPr>
            <a:xfrm>
              <a:off x="439163" y="3951803"/>
              <a:ext cx="1598376" cy="1197892"/>
              <a:chOff x="439163" y="3969388"/>
              <a:chExt cx="1598376" cy="1197892"/>
            </a:xfrm>
          </p:grpSpPr>
          <p:sp>
            <p:nvSpPr>
              <p:cNvPr id="57" name="小红书平北职场PPT5-9"/>
              <p:cNvSpPr/>
              <p:nvPr>
                <p:custDataLst>
                  <p:tags r:id="rId12"/>
                </p:custDataLst>
              </p:nvPr>
            </p:nvSpPr>
            <p:spPr>
              <a:xfrm>
                <a:off x="439163" y="3969388"/>
                <a:ext cx="1574451" cy="1197892"/>
              </a:xfrm>
              <a:prstGeom prst="rect">
                <a:avLst/>
              </a:prstGeom>
              <a:gradFill flip="none" rotWithShape="1">
                <a:gsLst>
                  <a:gs pos="0">
                    <a:schemeClr val="accent1">
                      <a:lumMod val="60000"/>
                      <a:lumOff val="40000"/>
                    </a:schemeClr>
                  </a:gs>
                  <a:gs pos="100000">
                    <a:schemeClr val="accent1"/>
                  </a:gs>
                </a:gsLst>
                <a:lin ang="2700000" scaled="1"/>
                <a:tileRect/>
              </a:gra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cs typeface="思源黑体 CN Normal" panose="020B0400000000000000" pitchFamily="34" charset="-122"/>
                </a:endParaRPr>
              </a:p>
            </p:txBody>
          </p:sp>
          <p:sp>
            <p:nvSpPr>
              <p:cNvPr id="58" name="小红书平北职场PPT5-10"/>
              <p:cNvSpPr txBox="1"/>
              <p:nvPr/>
            </p:nvSpPr>
            <p:spPr>
              <a:xfrm>
                <a:off x="546819" y="4056402"/>
                <a:ext cx="1490720"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数据层</a:t>
                </a:r>
                <a:endParaRPr lang="zh-CN" altLang="en-US" sz="1600" dirty="0">
                  <a:solidFill>
                    <a:schemeClr val="bg1"/>
                  </a:solidFill>
                  <a:latin typeface="+mj-ea"/>
                  <a:ea typeface="+mj-ea"/>
                  <a:cs typeface="思源黑体 CN Normal" panose="020B0400000000000000" pitchFamily="34" charset="-122"/>
                </a:endParaRPr>
              </a:p>
            </p:txBody>
          </p:sp>
          <p:sp>
            <p:nvSpPr>
              <p:cNvPr id="59" name="小红书平北职场PPT5-11"/>
              <p:cNvSpPr txBox="1"/>
              <p:nvPr/>
            </p:nvSpPr>
            <p:spPr>
              <a:xfrm>
                <a:off x="546818" y="4334296"/>
                <a:ext cx="1335431" cy="438582"/>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Enter your title</a:t>
                </a:r>
                <a:endPar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4" name="组合 53"/>
            <p:cNvGrpSpPr/>
            <p:nvPr/>
          </p:nvGrpSpPr>
          <p:grpSpPr>
            <a:xfrm>
              <a:off x="2347715" y="4426456"/>
              <a:ext cx="9509323" cy="725591"/>
              <a:chOff x="3795055" y="8211361"/>
              <a:chExt cx="9509323" cy="925208"/>
            </a:xfrm>
          </p:grpSpPr>
          <p:sp>
            <p:nvSpPr>
              <p:cNvPr id="55" name="小红书平北职场PPT5-12"/>
              <p:cNvSpPr/>
              <p:nvPr/>
            </p:nvSpPr>
            <p:spPr>
              <a:xfrm>
                <a:off x="3795055" y="8211361"/>
                <a:ext cx="9509323" cy="92520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56" name="小红书平北职场PPT5-13"/>
              <p:cNvSpPr txBox="1"/>
              <p:nvPr/>
            </p:nvSpPr>
            <p:spPr>
              <a:xfrm>
                <a:off x="4058387" y="8315702"/>
                <a:ext cx="9140113" cy="710415"/>
              </a:xfrm>
              <a:prstGeom prst="rect">
                <a:avLst/>
              </a:prstGeom>
              <a:noFill/>
            </p:spPr>
            <p:txBody>
              <a:bodyPr wrap="square">
                <a:spAutoFit/>
              </a:bodyPr>
              <a:lstStyle>
                <a:defPPr>
                  <a:defRPr lang="zh-CN"/>
                </a:defPPr>
                <a:lvl1pPr algn="just">
                  <a:lnSpc>
                    <a:spcPct val="120000"/>
                  </a:lnSpc>
                  <a:defRPr sz="1400"/>
                </a:lvl1p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200" dirty="0">
                    <a:latin typeface="思源黑体 CN Normal" panose="020B0400000000000000" pitchFamily="34" charset="-122"/>
                    <a:ea typeface="思源黑体 CN Normal" panose="020B0400000000000000" pitchFamily="34" charset="-122"/>
                    <a:cs typeface="思源黑体 CN Normal" panose="020B0400000000000000" pitchFamily="34" charset="-122"/>
                  </a:rPr>
                  <a:t>构建一个集数据汇聚、治理分析与智能指挥于一体的核心平台。我们将全面整合开采、财务、人员行为、视频监控及环境感知等多元数据，形成高质量的专题数据资产，为企业的深度业务分析、科学决策与精细化运营管理提供坚实的数据支撑与平台保障</a:t>
                </a:r>
                <a:endParaRPr lang="zh-CN" altLang="en-US" sz="1200" dirty="0">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grpSp>
        <p:nvGrpSpPr>
          <p:cNvPr id="8" name="小红书平北职场PPT6"/>
          <p:cNvGrpSpPr/>
          <p:nvPr/>
        </p:nvGrpSpPr>
        <p:grpSpPr>
          <a:xfrm>
            <a:off x="439163" y="1954194"/>
            <a:ext cx="11417875" cy="1734613"/>
            <a:chOff x="439163" y="1954194"/>
            <a:chExt cx="11417875" cy="1734613"/>
          </a:xfrm>
        </p:grpSpPr>
        <p:grpSp>
          <p:nvGrpSpPr>
            <p:cNvPr id="38" name="组合 37"/>
            <p:cNvGrpSpPr/>
            <p:nvPr/>
          </p:nvGrpSpPr>
          <p:grpSpPr>
            <a:xfrm>
              <a:off x="439163" y="1954194"/>
              <a:ext cx="1598376" cy="1734613"/>
              <a:chOff x="439163" y="1954194"/>
              <a:chExt cx="1598376" cy="1734613"/>
            </a:xfrm>
          </p:grpSpPr>
          <p:sp>
            <p:nvSpPr>
              <p:cNvPr id="49" name="小红书平北职场PPT6-1"/>
              <p:cNvSpPr/>
              <p:nvPr>
                <p:custDataLst>
                  <p:tags r:id="rId13"/>
                </p:custDataLst>
              </p:nvPr>
            </p:nvSpPr>
            <p:spPr>
              <a:xfrm>
                <a:off x="439163" y="1954194"/>
                <a:ext cx="1574451" cy="1734613"/>
              </a:xfrm>
              <a:prstGeom prst="rect">
                <a:avLst/>
              </a:prstGeom>
              <a:gradFill flip="none" rotWithShape="1">
                <a:gsLst>
                  <a:gs pos="0">
                    <a:schemeClr val="accent2">
                      <a:lumMod val="60000"/>
                      <a:lumOff val="40000"/>
                    </a:schemeClr>
                  </a:gs>
                  <a:gs pos="98000">
                    <a:schemeClr val="accent2"/>
                  </a:gs>
                </a:gsLst>
                <a:lin ang="2700000" scaled="1"/>
                <a:tileRect/>
              </a:gradFill>
              <a:ln>
                <a:noFill/>
              </a:ln>
              <a:effectLst>
                <a:outerShdw blurRad="165100" dist="762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a:solidFill>
                    <a:srgbClr val="FFFFFF"/>
                  </a:solidFill>
                  <a:latin typeface="+mn-ea"/>
                  <a:cs typeface="思源黑体 CN Normal" panose="020B0400000000000000" pitchFamily="34" charset="-122"/>
                </a:endParaRPr>
              </a:p>
            </p:txBody>
          </p:sp>
          <p:sp>
            <p:nvSpPr>
              <p:cNvPr id="50" name="小红书平北职场PPT6-2"/>
              <p:cNvSpPr txBox="1"/>
              <p:nvPr/>
            </p:nvSpPr>
            <p:spPr>
              <a:xfrm>
                <a:off x="546819" y="2047453"/>
                <a:ext cx="1490720"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应用层</a:t>
                </a:r>
                <a:endParaRPr lang="zh-CN" altLang="en-US" sz="1600" dirty="0">
                  <a:solidFill>
                    <a:schemeClr val="bg1"/>
                  </a:solidFill>
                  <a:latin typeface="+mj-ea"/>
                  <a:ea typeface="+mj-ea"/>
                  <a:cs typeface="思源黑体 CN Normal" panose="020B0400000000000000" pitchFamily="34" charset="-122"/>
                </a:endParaRPr>
              </a:p>
            </p:txBody>
          </p:sp>
          <p:sp>
            <p:nvSpPr>
              <p:cNvPr id="51" name="小红书平北职场PPT6-3"/>
              <p:cNvSpPr txBox="1"/>
              <p:nvPr/>
            </p:nvSpPr>
            <p:spPr>
              <a:xfrm>
                <a:off x="546818" y="2285005"/>
                <a:ext cx="1335431" cy="438582"/>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Enter your title</a:t>
                </a:r>
                <a:endPar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39" name="组合 38"/>
            <p:cNvGrpSpPr/>
            <p:nvPr/>
          </p:nvGrpSpPr>
          <p:grpSpPr>
            <a:xfrm>
              <a:off x="2217782" y="1954194"/>
              <a:ext cx="9639256" cy="1734613"/>
              <a:chOff x="2217782" y="2003023"/>
              <a:chExt cx="9639256" cy="1734613"/>
            </a:xfrm>
          </p:grpSpPr>
          <p:sp>
            <p:nvSpPr>
              <p:cNvPr id="40" name="小红书平北职场PPT6-4"/>
              <p:cNvSpPr/>
              <p:nvPr/>
            </p:nvSpPr>
            <p:spPr>
              <a:xfrm>
                <a:off x="2347716" y="2003023"/>
                <a:ext cx="2941638" cy="1734613"/>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41" name="小红书平北职场PPT6-5"/>
              <p:cNvSpPr/>
              <p:nvPr/>
            </p:nvSpPr>
            <p:spPr>
              <a:xfrm>
                <a:off x="5631559" y="2003023"/>
                <a:ext cx="2941638" cy="1734613"/>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42" name="小红书平北职场PPT6-6"/>
              <p:cNvSpPr/>
              <p:nvPr/>
            </p:nvSpPr>
            <p:spPr>
              <a:xfrm>
                <a:off x="8915400" y="2003023"/>
                <a:ext cx="2941638" cy="1734613"/>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43" name="小红书平北职场PPT6-7"/>
              <p:cNvSpPr/>
              <p:nvPr/>
            </p:nvSpPr>
            <p:spPr>
              <a:xfrm>
                <a:off x="8796599" y="2135757"/>
                <a:ext cx="2645434" cy="364715"/>
              </a:xfrm>
              <a:prstGeom prst="roundRect">
                <a:avLst>
                  <a:gd name="adj" fmla="val 0"/>
                </a:avLst>
              </a:prstGeom>
              <a:gradFill flip="none" rotWithShape="1">
                <a:gsLst>
                  <a:gs pos="0">
                    <a:schemeClr val="accent2">
                      <a:lumMod val="60000"/>
                      <a:lumOff val="40000"/>
                    </a:schemeClr>
                  </a:gs>
                  <a:gs pos="98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4" name="小红书平北职场PPT6-8"/>
              <p:cNvSpPr/>
              <p:nvPr/>
            </p:nvSpPr>
            <p:spPr>
              <a:xfrm>
                <a:off x="8885702" y="2181780"/>
                <a:ext cx="288894" cy="272670"/>
              </a:xfrm>
              <a:prstGeom prst="roundRect">
                <a:avLst>
                  <a:gd name="adj" fmla="val 0"/>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5" name="小红书平北职场PPT6-9"/>
              <p:cNvSpPr/>
              <p:nvPr/>
            </p:nvSpPr>
            <p:spPr>
              <a:xfrm>
                <a:off x="5513206" y="2135757"/>
                <a:ext cx="2645434" cy="364715"/>
              </a:xfrm>
              <a:prstGeom prst="roundRect">
                <a:avLst>
                  <a:gd name="adj" fmla="val 0"/>
                </a:avLst>
              </a:prstGeom>
              <a:gradFill flip="none" rotWithShape="1">
                <a:gsLst>
                  <a:gs pos="0">
                    <a:schemeClr val="accent2">
                      <a:lumMod val="60000"/>
                      <a:lumOff val="40000"/>
                    </a:schemeClr>
                  </a:gs>
                  <a:gs pos="98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6" name="小红书平北职场PPT6-10"/>
              <p:cNvSpPr/>
              <p:nvPr/>
            </p:nvSpPr>
            <p:spPr>
              <a:xfrm>
                <a:off x="5602309" y="2181780"/>
                <a:ext cx="288894" cy="272670"/>
              </a:xfrm>
              <a:prstGeom prst="roundRect">
                <a:avLst>
                  <a:gd name="adj" fmla="val 0"/>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7" name="小红书平北职场PPT6-11"/>
              <p:cNvSpPr/>
              <p:nvPr/>
            </p:nvSpPr>
            <p:spPr>
              <a:xfrm>
                <a:off x="2217782" y="2135757"/>
                <a:ext cx="2645434" cy="364715"/>
              </a:xfrm>
              <a:prstGeom prst="roundRect">
                <a:avLst>
                  <a:gd name="adj" fmla="val 0"/>
                </a:avLst>
              </a:prstGeom>
              <a:gradFill flip="none" rotWithShape="1">
                <a:gsLst>
                  <a:gs pos="0">
                    <a:schemeClr val="accent2">
                      <a:lumMod val="60000"/>
                      <a:lumOff val="40000"/>
                    </a:schemeClr>
                  </a:gs>
                  <a:gs pos="98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8" name="小红书平北职场PPT6-12"/>
              <p:cNvSpPr/>
              <p:nvPr/>
            </p:nvSpPr>
            <p:spPr>
              <a:xfrm>
                <a:off x="2306885" y="2181780"/>
                <a:ext cx="288894" cy="272670"/>
              </a:xfrm>
              <a:prstGeom prst="roundRect">
                <a:avLst>
                  <a:gd name="adj" fmla="val 0"/>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grpSp>
      </p:grpSp>
      <p:sp>
        <p:nvSpPr>
          <p:cNvPr id="9" name="小红书平北职场PPT7"/>
          <p:cNvSpPr txBox="1"/>
          <p:nvPr/>
        </p:nvSpPr>
        <p:spPr>
          <a:xfrm>
            <a:off x="2524738" y="2522909"/>
            <a:ext cx="2439677" cy="1037272"/>
          </a:xfrm>
          <a:prstGeom prst="rect">
            <a:avLst/>
          </a:prstGeom>
          <a:noFill/>
        </p:spPr>
        <p:txBody>
          <a:bodyPr wrap="square">
            <a:spAutoFit/>
          </a:bodyPr>
          <a:lstStyle>
            <a:defPPr>
              <a:defRPr lang="zh-CN"/>
            </a:defPPr>
            <a:lvl1pPr algn="just">
              <a:lnSpc>
                <a:spcPct val="120000"/>
              </a:lnSpc>
              <a:defRPr sz="1400"/>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建设地上地下一体化三维矿山展示平台以三维形态查看矿区地形、钻孔勘探</a:t>
            </a:r>
            <a:r>
              <a:rPr lang="zh-CN" altLang="en-US" sz="1200" dirty="0">
                <a:latin typeface="思源黑体 CN Normal" panose="020B0400000000000000" pitchFamily="34" charset="-122"/>
                <a:ea typeface="思源黑体 CN Normal" panose="020B0400000000000000" pitchFamily="34" charset="-122"/>
                <a:cs typeface="思源黑体 CN Normal" panose="020B0400000000000000" pitchFamily="34" charset="-122"/>
              </a:rPr>
              <a:t>，</a:t>
            </a:r>
            <a:r>
              <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地层构造、煤层储量、开采情况等</a:t>
            </a:r>
            <a:endPar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 name="小红书平北职场PPT8"/>
          <p:cNvSpPr txBox="1"/>
          <p:nvPr/>
        </p:nvSpPr>
        <p:spPr>
          <a:xfrm>
            <a:off x="5820162" y="2522909"/>
            <a:ext cx="2439677" cy="1037272"/>
          </a:xfrm>
          <a:prstGeom prst="rect">
            <a:avLst/>
          </a:prstGeom>
          <a:noFill/>
        </p:spPr>
        <p:txBody>
          <a:bodyPr wrap="square">
            <a:spAutoFit/>
          </a:bodyPr>
          <a:lstStyle>
            <a:defPPr>
              <a:defRPr lang="zh-CN"/>
            </a:defPPr>
            <a:lvl1pPr algn="just">
              <a:lnSpc>
                <a:spcPct val="120000"/>
              </a:lnSpc>
              <a:defRPr sz="1400"/>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对全矿山实现全方位、无死角监控、对高危地区设置电子围栏、对作业人员作业行为监测等，行为异常实现实时报警</a:t>
            </a:r>
            <a:endPar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1" name="小红书平北职场PPT9"/>
          <p:cNvSpPr txBox="1"/>
          <p:nvPr/>
        </p:nvSpPr>
        <p:spPr>
          <a:xfrm>
            <a:off x="9115587" y="2522909"/>
            <a:ext cx="2439677" cy="1037272"/>
          </a:xfrm>
          <a:prstGeom prst="rect">
            <a:avLst/>
          </a:prstGeom>
          <a:noFill/>
        </p:spPr>
        <p:txBody>
          <a:bodyPr wrap="square">
            <a:spAutoFit/>
          </a:bodyPr>
          <a:lstStyle>
            <a:defPPr>
              <a:defRPr lang="zh-CN"/>
            </a:defPPr>
            <a:lvl1pPr algn="just">
              <a:lnSpc>
                <a:spcPct val="120000"/>
              </a:lnSpc>
              <a:defRPr sz="1400"/>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应急指挥管理平台根据应急预案可进行应急演练，当有事故发生进，结合三维模型和监控视频进行可视化抢救救援</a:t>
            </a:r>
            <a:endPar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12" name="小红书平北职场PPT10"/>
          <p:cNvGrpSpPr/>
          <p:nvPr/>
        </p:nvGrpSpPr>
        <p:grpSpPr>
          <a:xfrm>
            <a:off x="2299145" y="2108432"/>
            <a:ext cx="9247721" cy="333938"/>
            <a:chOff x="2142733" y="2121165"/>
            <a:chExt cx="9247721" cy="333938"/>
          </a:xfrm>
        </p:grpSpPr>
        <p:sp>
          <p:nvSpPr>
            <p:cNvPr id="32" name="小红书平北职场PPT10-1"/>
            <p:cNvSpPr txBox="1"/>
            <p:nvPr/>
          </p:nvSpPr>
          <p:spPr>
            <a:xfrm>
              <a:off x="2524737" y="2121165"/>
              <a:ext cx="2274868"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三维可视监管平台</a:t>
              </a:r>
              <a:endParaRPr lang="zh-CN" altLang="en-US" sz="1600" dirty="0">
                <a:solidFill>
                  <a:schemeClr val="bg1"/>
                </a:solidFill>
                <a:latin typeface="+mj-ea"/>
                <a:ea typeface="+mj-ea"/>
                <a:cs typeface="思源黑体 CN Normal" panose="020B0400000000000000" pitchFamily="34" charset="-122"/>
              </a:endParaRPr>
            </a:p>
          </p:txBody>
        </p:sp>
        <p:sp>
          <p:nvSpPr>
            <p:cNvPr id="33" name="小红书平北职场PPT10-2"/>
            <p:cNvSpPr txBox="1"/>
            <p:nvPr/>
          </p:nvSpPr>
          <p:spPr>
            <a:xfrm>
              <a:off x="2142733" y="2121165"/>
              <a:ext cx="415093"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en-US" altLang="zh-CN" sz="1600" dirty="0">
                  <a:solidFill>
                    <a:schemeClr val="accent2">
                      <a:lumMod val="75000"/>
                    </a:schemeClr>
                  </a:solidFill>
                  <a:latin typeface="+mj-ea"/>
                  <a:ea typeface="+mj-ea"/>
                  <a:cs typeface="思源黑体 CN Normal" panose="020B0400000000000000" pitchFamily="34" charset="-122"/>
                </a:rPr>
                <a:t>1</a:t>
              </a:r>
              <a:endParaRPr lang="zh-CN" altLang="en-US" sz="1600" dirty="0">
                <a:solidFill>
                  <a:schemeClr val="accent2">
                    <a:lumMod val="75000"/>
                  </a:schemeClr>
                </a:solidFill>
                <a:latin typeface="+mj-ea"/>
                <a:ea typeface="+mj-ea"/>
                <a:cs typeface="思源黑体 CN Normal" panose="020B0400000000000000" pitchFamily="34" charset="-122"/>
              </a:endParaRPr>
            </a:p>
          </p:txBody>
        </p:sp>
        <p:sp>
          <p:nvSpPr>
            <p:cNvPr id="34" name="小红书平北职场PPT10-3"/>
            <p:cNvSpPr txBox="1"/>
            <p:nvPr/>
          </p:nvSpPr>
          <p:spPr>
            <a:xfrm>
              <a:off x="5820161" y="2121165"/>
              <a:ext cx="2274868"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安全生产监管平台</a:t>
              </a:r>
              <a:endParaRPr lang="zh-CN" altLang="en-US" sz="1600" dirty="0">
                <a:solidFill>
                  <a:schemeClr val="bg1"/>
                </a:solidFill>
                <a:latin typeface="+mj-ea"/>
                <a:ea typeface="+mj-ea"/>
                <a:cs typeface="思源黑体 CN Normal" panose="020B0400000000000000" pitchFamily="34" charset="-122"/>
              </a:endParaRPr>
            </a:p>
          </p:txBody>
        </p:sp>
        <p:sp>
          <p:nvSpPr>
            <p:cNvPr id="35" name="小红书平北职场PPT10-4"/>
            <p:cNvSpPr txBox="1"/>
            <p:nvPr/>
          </p:nvSpPr>
          <p:spPr>
            <a:xfrm>
              <a:off x="5424089" y="2121165"/>
              <a:ext cx="415093"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en-US" altLang="zh-CN" sz="1600" dirty="0">
                  <a:solidFill>
                    <a:schemeClr val="accent2">
                      <a:lumMod val="75000"/>
                    </a:schemeClr>
                  </a:solidFill>
                  <a:latin typeface="+mj-ea"/>
                  <a:ea typeface="+mj-ea"/>
                  <a:cs typeface="思源黑体 CN Normal" panose="020B0400000000000000" pitchFamily="34" charset="-122"/>
                </a:rPr>
                <a:t>2</a:t>
              </a:r>
              <a:endParaRPr lang="zh-CN" altLang="en-US" sz="1600" dirty="0">
                <a:solidFill>
                  <a:schemeClr val="accent2">
                    <a:lumMod val="75000"/>
                  </a:schemeClr>
                </a:solidFill>
                <a:latin typeface="+mj-ea"/>
                <a:ea typeface="+mj-ea"/>
                <a:cs typeface="思源黑体 CN Normal" panose="020B0400000000000000" pitchFamily="34" charset="-122"/>
              </a:endParaRPr>
            </a:p>
          </p:txBody>
        </p:sp>
        <p:sp>
          <p:nvSpPr>
            <p:cNvPr id="36" name="小红书平北职场PPT10-5"/>
            <p:cNvSpPr txBox="1"/>
            <p:nvPr/>
          </p:nvSpPr>
          <p:spPr>
            <a:xfrm>
              <a:off x="9115586" y="2121165"/>
              <a:ext cx="2274868"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应急指挥监管平台</a:t>
              </a:r>
              <a:endParaRPr lang="zh-CN" altLang="en-US" sz="1600" dirty="0">
                <a:solidFill>
                  <a:schemeClr val="bg1"/>
                </a:solidFill>
                <a:latin typeface="+mj-ea"/>
                <a:ea typeface="+mj-ea"/>
                <a:cs typeface="思源黑体 CN Normal" panose="020B0400000000000000" pitchFamily="34" charset="-122"/>
              </a:endParaRPr>
            </a:p>
          </p:txBody>
        </p:sp>
        <p:sp>
          <p:nvSpPr>
            <p:cNvPr id="37" name="小红书平北职场PPT10-6"/>
            <p:cNvSpPr txBox="1"/>
            <p:nvPr/>
          </p:nvSpPr>
          <p:spPr>
            <a:xfrm>
              <a:off x="8705446" y="2121165"/>
              <a:ext cx="415093"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en-US" altLang="zh-CN" sz="1600" dirty="0">
                  <a:solidFill>
                    <a:schemeClr val="accent2">
                      <a:lumMod val="75000"/>
                    </a:schemeClr>
                  </a:solidFill>
                  <a:latin typeface="+mj-ea"/>
                  <a:ea typeface="+mj-ea"/>
                  <a:cs typeface="思源黑体 CN Normal" panose="020B0400000000000000" pitchFamily="34" charset="-122"/>
                </a:rPr>
                <a:t>3</a:t>
              </a:r>
              <a:endParaRPr lang="zh-CN" altLang="en-US" sz="1600" dirty="0">
                <a:solidFill>
                  <a:schemeClr val="accent2">
                    <a:lumMod val="75000"/>
                  </a:schemeClr>
                </a:solidFill>
                <a:latin typeface="+mj-ea"/>
                <a:ea typeface="+mj-ea"/>
                <a:cs typeface="思源黑体 CN Normal" panose="020B0400000000000000" pitchFamily="34" charset="-122"/>
              </a:endParaRPr>
            </a:p>
          </p:txBody>
        </p:sp>
      </p:grpSp>
    </p:spTree>
    <p:custDataLst>
      <p:tags r:id="rId14"/>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0" y="4620986"/>
            <a:ext cx="12192000" cy="2237013"/>
          </a:xfrm>
          <a:prstGeom prst="round2SameRect">
            <a:avLst>
              <a:gd name="adj1" fmla="val 50000"/>
              <a:gd name="adj2" fmla="val 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nvGrpSpPr>
          <p:cNvPr id="3" name="小红书平北职场PPT3"/>
          <p:cNvGrpSpPr/>
          <p:nvPr/>
        </p:nvGrpSpPr>
        <p:grpSpPr>
          <a:xfrm>
            <a:off x="334963" y="184318"/>
            <a:ext cx="11522075" cy="506147"/>
            <a:chOff x="334963" y="184318"/>
            <a:chExt cx="11522075" cy="506147"/>
          </a:xfrm>
        </p:grpSpPr>
        <p:cxnSp>
          <p:nvCxnSpPr>
            <p:cNvPr id="4" name="小红书平北职场PPT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小红书平北职场PPT3-2"/>
            <p:cNvSpPr txBox="1"/>
            <p:nvPr>
              <p:custDataLst>
                <p:tags r:id="rId2"/>
              </p:custDataLst>
            </p:nvPr>
          </p:nvSpPr>
          <p:spPr>
            <a:xfrm>
              <a:off x="334963" y="184318"/>
              <a:ext cx="6008055"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2024</a:t>
              </a:r>
              <a:r>
                <a:rPr lang="zh-CN" altLang="en-US" sz="2800" dirty="0">
                  <a:latin typeface="+mj-ea"/>
                  <a:ea typeface="+mj-ea"/>
                  <a:cs typeface="思源黑体 CN Normal" panose="020B0400000000000000" pitchFamily="34" charset="-122"/>
                  <a:sym typeface="+mj-ea"/>
                </a:rPr>
                <a:t>年</a:t>
              </a:r>
              <a:r>
                <a:rPr lang="en-US" altLang="zh-CN" sz="2800" dirty="0">
                  <a:latin typeface="+mj-ea"/>
                  <a:ea typeface="+mj-ea"/>
                  <a:cs typeface="思源黑体 CN Normal" panose="020B0400000000000000" pitchFamily="34" charset="-122"/>
                  <a:sym typeface="+mj-ea"/>
                </a:rPr>
                <a:t>11</a:t>
              </a:r>
              <a:r>
                <a:rPr lang="zh-CN" altLang="en-US" sz="2800" dirty="0">
                  <a:latin typeface="+mj-ea"/>
                  <a:ea typeface="+mj-ea"/>
                  <a:cs typeface="思源黑体 CN Normal" panose="020B0400000000000000" pitchFamily="34" charset="-122"/>
                  <a:sym typeface="+mj-ea"/>
                </a:rPr>
                <a:t>月销售动态与策略优化总结</a:t>
              </a:r>
              <a:endParaRPr lang="zh-CN" altLang="en-US" sz="2800" dirty="0">
                <a:latin typeface="+mj-ea"/>
                <a:ea typeface="+mj-ea"/>
                <a:cs typeface="思源黑体 CN Normal" panose="020B0400000000000000" pitchFamily="34" charset="-122"/>
                <a:sym typeface="+mj-ea"/>
              </a:endParaRPr>
            </a:p>
          </p:txBody>
        </p:sp>
      </p:grpSp>
      <p:grpSp>
        <p:nvGrpSpPr>
          <p:cNvPr id="6" name="小红书平北职场PPT4"/>
          <p:cNvGrpSpPr/>
          <p:nvPr/>
        </p:nvGrpSpPr>
        <p:grpSpPr>
          <a:xfrm>
            <a:off x="802066" y="5751454"/>
            <a:ext cx="10747597" cy="876266"/>
            <a:chOff x="815513" y="5677116"/>
            <a:chExt cx="10747597" cy="876266"/>
          </a:xfrm>
        </p:grpSpPr>
        <p:grpSp>
          <p:nvGrpSpPr>
            <p:cNvPr id="7" name="组合 6"/>
            <p:cNvGrpSpPr/>
            <p:nvPr/>
          </p:nvGrpSpPr>
          <p:grpSpPr>
            <a:xfrm>
              <a:off x="815513" y="5677116"/>
              <a:ext cx="3146569" cy="872098"/>
              <a:chOff x="799184" y="5677116"/>
              <a:chExt cx="3146569" cy="872098"/>
            </a:xfrm>
          </p:grpSpPr>
          <p:sp>
            <p:nvSpPr>
              <p:cNvPr id="23" name="小红书平北职场PPT4-1"/>
              <p:cNvSpPr txBox="1"/>
              <p:nvPr/>
            </p:nvSpPr>
            <p:spPr>
              <a:xfrm>
                <a:off x="1663833" y="5677116"/>
                <a:ext cx="2281920" cy="872098"/>
              </a:xfrm>
              <a:prstGeom prst="rect">
                <a:avLst/>
              </a:prstGeom>
              <a:noFill/>
            </p:spPr>
            <p:txBody>
              <a:bodyPr wrap="square">
                <a:spAutoFit/>
              </a:bodyPr>
              <a:lstStyle/>
              <a:p>
                <a:pPr>
                  <a:lnSpc>
                    <a:spcPct val="130000"/>
                  </a:lnSpc>
                </a:pPr>
                <a:r>
                  <a:rPr lang="zh-CN" altLang="en-US" sz="1600" dirty="0">
                    <a:solidFill>
                      <a:schemeClr val="bg1"/>
                    </a:solidFill>
                    <a:latin typeface="+mj-ea"/>
                    <a:ea typeface="+mj-ea"/>
                    <a:cs typeface="思源黑体 CN Normal" panose="020B0400000000000000" pitchFamily="34" charset="-122"/>
                  </a:rPr>
                  <a:t>总体概览</a:t>
                </a:r>
                <a:br>
                  <a:rPr lang="zh-CN" altLang="en-US" sz="1200" b="0" i="0" dirty="0">
                    <a:solidFill>
                      <a:srgbClr val="0F1115"/>
                    </a:solidFill>
                    <a:effectLst/>
                    <a:latin typeface="思源黑体 CN Heavy" panose="020B0A00000000000000" charset="-122"/>
                    <a:cs typeface="思源黑体 CN Normal" panose="020B0400000000000000" pitchFamily="34" charset="-122"/>
                  </a:rPr>
                </a:br>
                <a:r>
                  <a:rPr lang="zh-CN" altLang="en-US" sz="1200" b="0" i="0" dirty="0">
                    <a:solidFill>
                      <a:schemeClr val="bg1"/>
                    </a:solidFill>
                    <a:effectLst/>
                    <a:latin typeface="思源黑体 CN Heavy" panose="020B0A00000000000000" charset="-122"/>
                    <a:cs typeface="思源黑体 CN Normal" panose="020B0400000000000000" pitchFamily="34" charset="-122"/>
                  </a:rPr>
                  <a:t>业绩分化格局显著呈梯队分布头部区域表现持续领跑亮眼</a:t>
                </a:r>
                <a:endParaRPr lang="zh-CN" altLang="en-US" sz="1200" dirty="0">
                  <a:solidFill>
                    <a:schemeClr val="bg1"/>
                  </a:solidFill>
                  <a:cs typeface="思源黑体 CN Normal" panose="020B0400000000000000" pitchFamily="34" charset="-122"/>
                </a:endParaRPr>
              </a:p>
            </p:txBody>
          </p:sp>
          <p:grpSp>
            <p:nvGrpSpPr>
              <p:cNvPr id="24" name="组合 23"/>
              <p:cNvGrpSpPr/>
              <p:nvPr/>
            </p:nvGrpSpPr>
            <p:grpSpPr>
              <a:xfrm>
                <a:off x="799184" y="5807479"/>
                <a:ext cx="670858" cy="670856"/>
                <a:chOff x="403439" y="7289316"/>
                <a:chExt cx="670858" cy="670856"/>
              </a:xfrm>
            </p:grpSpPr>
            <p:sp>
              <p:nvSpPr>
                <p:cNvPr id="25" name="小红书平北职场PPT4-2"/>
                <p:cNvSpPr/>
                <p:nvPr/>
              </p:nvSpPr>
              <p:spPr>
                <a:xfrm>
                  <a:off x="403439" y="7289316"/>
                  <a:ext cx="670858" cy="670856"/>
                </a:xfrm>
                <a:prstGeom prst="ellipse">
                  <a:avLst/>
                </a:pr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tlCol="0" anchor="ctr"/>
                <a:lstStyle/>
                <a:p>
                  <a:endParaRPr lang="zh-CN" altLang="en-US" kern="0" dirty="0">
                    <a:solidFill>
                      <a:prstClr val="black"/>
                    </a:solidFill>
                    <a:latin typeface="思源黑体 CN Heavy" panose="020B0A00000000000000" charset="-122"/>
                    <a:cs typeface="思源黑体 CN Normal" panose="020B0400000000000000" pitchFamily="34" charset="-122"/>
                  </a:endParaRPr>
                </a:p>
              </p:txBody>
            </p:sp>
            <p:sp>
              <p:nvSpPr>
                <p:cNvPr id="26" name="小红书平北职场PPT4-3"/>
                <p:cNvSpPr>
                  <a:spLocks noChangeAspect="1"/>
                </p:cNvSpPr>
                <p:nvPr/>
              </p:nvSpPr>
              <p:spPr>
                <a:xfrm>
                  <a:off x="576866" y="7462744"/>
                  <a:ext cx="324004" cy="324000"/>
                </a:xfrm>
                <a:custGeom>
                  <a:avLst/>
                  <a:gdLst>
                    <a:gd name="connsiteX0" fmla="*/ 0 w 228600"/>
                    <a:gd name="connsiteY0" fmla="*/ 47623 h 228597"/>
                    <a:gd name="connsiteX1" fmla="*/ 57150 w 228600"/>
                    <a:gd name="connsiteY1" fmla="*/ 19048 h 228597"/>
                    <a:gd name="connsiteX2" fmla="*/ 114300 w 228600"/>
                    <a:gd name="connsiteY2" fmla="*/ 47623 h 228597"/>
                    <a:gd name="connsiteX3" fmla="*/ 57150 w 228600"/>
                    <a:gd name="connsiteY3" fmla="*/ 76198 h 228597"/>
                    <a:gd name="connsiteX4" fmla="*/ 0 w 228600"/>
                    <a:gd name="connsiteY4" fmla="*/ 47623 h 228597"/>
                    <a:gd name="connsiteX5" fmla="*/ 57150 w 228600"/>
                    <a:gd name="connsiteY5" fmla="*/ 152398 h 228597"/>
                    <a:gd name="connsiteX6" fmla="*/ 114300 w 228600"/>
                    <a:gd name="connsiteY6" fmla="*/ 119060 h 228597"/>
                    <a:gd name="connsiteX7" fmla="*/ 114300 w 228600"/>
                    <a:gd name="connsiteY7" fmla="*/ 100010 h 228597"/>
                    <a:gd name="connsiteX8" fmla="*/ 57150 w 228600"/>
                    <a:gd name="connsiteY8" fmla="*/ 133348 h 228597"/>
                    <a:gd name="connsiteX9" fmla="*/ 0 w 228600"/>
                    <a:gd name="connsiteY9" fmla="*/ 100010 h 228597"/>
                    <a:gd name="connsiteX10" fmla="*/ 0 w 228600"/>
                    <a:gd name="connsiteY10" fmla="*/ 119060 h 228597"/>
                    <a:gd name="connsiteX11" fmla="*/ 57150 w 228600"/>
                    <a:gd name="connsiteY11" fmla="*/ 152398 h 228597"/>
                    <a:gd name="connsiteX12" fmla="*/ 57150 w 228600"/>
                    <a:gd name="connsiteY12" fmla="*/ 114298 h 228597"/>
                    <a:gd name="connsiteX13" fmla="*/ 114300 w 228600"/>
                    <a:gd name="connsiteY13" fmla="*/ 80960 h 228597"/>
                    <a:gd name="connsiteX14" fmla="*/ 114300 w 228600"/>
                    <a:gd name="connsiteY14" fmla="*/ 61910 h 228597"/>
                    <a:gd name="connsiteX15" fmla="*/ 57150 w 228600"/>
                    <a:gd name="connsiteY15" fmla="*/ 95248 h 228597"/>
                    <a:gd name="connsiteX16" fmla="*/ 0 w 228600"/>
                    <a:gd name="connsiteY16" fmla="*/ 61910 h 228597"/>
                    <a:gd name="connsiteX17" fmla="*/ 0 w 228600"/>
                    <a:gd name="connsiteY17" fmla="*/ 80960 h 228597"/>
                    <a:gd name="connsiteX18" fmla="*/ 57150 w 228600"/>
                    <a:gd name="connsiteY18" fmla="*/ 114298 h 228597"/>
                    <a:gd name="connsiteX19" fmla="*/ 171450 w 228600"/>
                    <a:gd name="connsiteY19" fmla="*/ 152398 h 228597"/>
                    <a:gd name="connsiteX20" fmla="*/ 228600 w 228600"/>
                    <a:gd name="connsiteY20" fmla="*/ 123823 h 228597"/>
                    <a:gd name="connsiteX21" fmla="*/ 171450 w 228600"/>
                    <a:gd name="connsiteY21" fmla="*/ 95248 h 228597"/>
                    <a:gd name="connsiteX22" fmla="*/ 114300 w 228600"/>
                    <a:gd name="connsiteY22" fmla="*/ 123823 h 228597"/>
                    <a:gd name="connsiteX23" fmla="*/ 171450 w 228600"/>
                    <a:gd name="connsiteY23" fmla="*/ 152398 h 228597"/>
                    <a:gd name="connsiteX24" fmla="*/ 171450 w 228600"/>
                    <a:gd name="connsiteY24" fmla="*/ 209548 h 228597"/>
                    <a:gd name="connsiteX25" fmla="*/ 114300 w 228600"/>
                    <a:gd name="connsiteY25" fmla="*/ 176210 h 228597"/>
                    <a:gd name="connsiteX26" fmla="*/ 57150 w 228600"/>
                    <a:gd name="connsiteY26" fmla="*/ 209548 h 228597"/>
                    <a:gd name="connsiteX27" fmla="*/ 0 w 228600"/>
                    <a:gd name="connsiteY27" fmla="*/ 176210 h 228597"/>
                    <a:gd name="connsiteX28" fmla="*/ 0 w 228600"/>
                    <a:gd name="connsiteY28" fmla="*/ 195260 h 228597"/>
                    <a:gd name="connsiteX29" fmla="*/ 57150 w 228600"/>
                    <a:gd name="connsiteY29" fmla="*/ 228598 h 228597"/>
                    <a:gd name="connsiteX30" fmla="*/ 114300 w 228600"/>
                    <a:gd name="connsiteY30" fmla="*/ 195260 h 228597"/>
                    <a:gd name="connsiteX31" fmla="*/ 171450 w 228600"/>
                    <a:gd name="connsiteY31" fmla="*/ 228598 h 228597"/>
                    <a:gd name="connsiteX32" fmla="*/ 228600 w 228600"/>
                    <a:gd name="connsiteY32" fmla="*/ 195260 h 228597"/>
                    <a:gd name="connsiteX33" fmla="*/ 228600 w 228600"/>
                    <a:gd name="connsiteY33" fmla="*/ 176210 h 228597"/>
                    <a:gd name="connsiteX34" fmla="*/ 171450 w 228600"/>
                    <a:gd name="connsiteY34" fmla="*/ 209548 h 228597"/>
                    <a:gd name="connsiteX35" fmla="*/ 171450 w 228600"/>
                    <a:gd name="connsiteY35" fmla="*/ 171448 h 228597"/>
                    <a:gd name="connsiteX36" fmla="*/ 114300 w 228600"/>
                    <a:gd name="connsiteY36" fmla="*/ 138110 h 228597"/>
                    <a:gd name="connsiteX37" fmla="*/ 57150 w 228600"/>
                    <a:gd name="connsiteY37" fmla="*/ 171448 h 228597"/>
                    <a:gd name="connsiteX38" fmla="*/ 0 w 228600"/>
                    <a:gd name="connsiteY38" fmla="*/ 138110 h 228597"/>
                    <a:gd name="connsiteX39" fmla="*/ 0 w 228600"/>
                    <a:gd name="connsiteY39" fmla="*/ 157160 h 228597"/>
                    <a:gd name="connsiteX40" fmla="*/ 57150 w 228600"/>
                    <a:gd name="connsiteY40" fmla="*/ 190498 h 228597"/>
                    <a:gd name="connsiteX41" fmla="*/ 114300 w 228600"/>
                    <a:gd name="connsiteY41" fmla="*/ 157160 h 228597"/>
                    <a:gd name="connsiteX42" fmla="*/ 171450 w 228600"/>
                    <a:gd name="connsiteY42" fmla="*/ 190498 h 228597"/>
                    <a:gd name="connsiteX43" fmla="*/ 228600 w 228600"/>
                    <a:gd name="connsiteY43" fmla="*/ 157160 h 228597"/>
                    <a:gd name="connsiteX44" fmla="*/ 228600 w 228600"/>
                    <a:gd name="connsiteY44" fmla="*/ 138110 h 228597"/>
                    <a:gd name="connsiteX45" fmla="*/ 171450 w 228600"/>
                    <a:gd name="connsiteY45" fmla="*/ 171448 h 228597"/>
                    <a:gd name="connsiteX46" fmla="*/ 145733 w 228600"/>
                    <a:gd name="connsiteY46" fmla="*/ 40479 h 228597"/>
                    <a:gd name="connsiteX47" fmla="*/ 152419 w 228600"/>
                    <a:gd name="connsiteY47" fmla="*/ 37726 h 228597"/>
                    <a:gd name="connsiteX48" fmla="*/ 161925 w 228600"/>
                    <a:gd name="connsiteY48" fmla="*/ 28382 h 228597"/>
                    <a:gd name="connsiteX49" fmla="*/ 161925 w 228600"/>
                    <a:gd name="connsiteY49" fmla="*/ 66673 h 228597"/>
                    <a:gd name="connsiteX50" fmla="*/ 171450 w 228600"/>
                    <a:gd name="connsiteY50" fmla="*/ 76198 h 228597"/>
                    <a:gd name="connsiteX51" fmla="*/ 180975 w 228600"/>
                    <a:gd name="connsiteY51" fmla="*/ 66673 h 228597"/>
                    <a:gd name="connsiteX52" fmla="*/ 180975 w 228600"/>
                    <a:gd name="connsiteY52" fmla="*/ 28477 h 228597"/>
                    <a:gd name="connsiteX53" fmla="*/ 190529 w 228600"/>
                    <a:gd name="connsiteY53" fmla="*/ 37774 h 228597"/>
                    <a:gd name="connsiteX54" fmla="*/ 203997 w 228600"/>
                    <a:gd name="connsiteY54" fmla="*/ 37593 h 228597"/>
                    <a:gd name="connsiteX55" fmla="*/ 203806 w 228600"/>
                    <a:gd name="connsiteY55" fmla="*/ 24124 h 228597"/>
                    <a:gd name="connsiteX56" fmla="*/ 184728 w 228600"/>
                    <a:gd name="connsiteY56" fmla="*/ 5541 h 228597"/>
                    <a:gd name="connsiteX57" fmla="*/ 157944 w 228600"/>
                    <a:gd name="connsiteY57" fmla="*/ 5503 h 228597"/>
                    <a:gd name="connsiteX58" fmla="*/ 139046 w 228600"/>
                    <a:gd name="connsiteY58" fmla="*/ 24163 h 228597"/>
                    <a:gd name="connsiteX59" fmla="*/ 138951 w 228600"/>
                    <a:gd name="connsiteY59" fmla="*/ 37631 h 228597"/>
                    <a:gd name="connsiteX60" fmla="*/ 145733 w 228600"/>
                    <a:gd name="connsiteY60" fmla="*/ 40460 h 22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28600" h="228597">
                      <a:moveTo>
                        <a:pt x="0" y="47623"/>
                      </a:moveTo>
                      <a:cubicBezTo>
                        <a:pt x="0" y="31840"/>
                        <a:pt x="25584" y="19048"/>
                        <a:pt x="57150" y="19048"/>
                      </a:cubicBezTo>
                      <a:cubicBezTo>
                        <a:pt x="88716" y="19048"/>
                        <a:pt x="114300" y="31840"/>
                        <a:pt x="114300" y="47623"/>
                      </a:cubicBezTo>
                      <a:cubicBezTo>
                        <a:pt x="114300" y="63406"/>
                        <a:pt x="88716" y="76198"/>
                        <a:pt x="57150" y="76198"/>
                      </a:cubicBezTo>
                      <a:cubicBezTo>
                        <a:pt x="25584" y="76198"/>
                        <a:pt x="0" y="63406"/>
                        <a:pt x="0" y="47623"/>
                      </a:cubicBezTo>
                      <a:close/>
                      <a:moveTo>
                        <a:pt x="57150" y="152398"/>
                      </a:moveTo>
                      <a:cubicBezTo>
                        <a:pt x="89735" y="152398"/>
                        <a:pt x="114300" y="138063"/>
                        <a:pt x="114300" y="119060"/>
                      </a:cubicBezTo>
                      <a:lnTo>
                        <a:pt x="114300" y="100010"/>
                      </a:lnTo>
                      <a:cubicBezTo>
                        <a:pt x="114300" y="118784"/>
                        <a:pt x="90488" y="133348"/>
                        <a:pt x="57150" y="133348"/>
                      </a:cubicBezTo>
                      <a:cubicBezTo>
                        <a:pt x="23813" y="133348"/>
                        <a:pt x="0" y="118784"/>
                        <a:pt x="0" y="100010"/>
                      </a:cubicBezTo>
                      <a:lnTo>
                        <a:pt x="0" y="119060"/>
                      </a:lnTo>
                      <a:cubicBezTo>
                        <a:pt x="0" y="138063"/>
                        <a:pt x="24565" y="152398"/>
                        <a:pt x="57150" y="152398"/>
                      </a:cubicBezTo>
                      <a:close/>
                      <a:moveTo>
                        <a:pt x="57150" y="114298"/>
                      </a:moveTo>
                      <a:cubicBezTo>
                        <a:pt x="89735" y="114298"/>
                        <a:pt x="114300" y="99963"/>
                        <a:pt x="114300" y="80960"/>
                      </a:cubicBezTo>
                      <a:lnTo>
                        <a:pt x="114300" y="61910"/>
                      </a:lnTo>
                      <a:cubicBezTo>
                        <a:pt x="114300" y="80684"/>
                        <a:pt x="90488" y="95248"/>
                        <a:pt x="57150" y="95248"/>
                      </a:cubicBezTo>
                      <a:cubicBezTo>
                        <a:pt x="23813" y="95248"/>
                        <a:pt x="0" y="80684"/>
                        <a:pt x="0" y="61910"/>
                      </a:cubicBezTo>
                      <a:lnTo>
                        <a:pt x="0" y="80960"/>
                      </a:lnTo>
                      <a:cubicBezTo>
                        <a:pt x="0" y="99963"/>
                        <a:pt x="24565" y="114298"/>
                        <a:pt x="57150" y="114298"/>
                      </a:cubicBezTo>
                      <a:close/>
                      <a:moveTo>
                        <a:pt x="171450" y="152398"/>
                      </a:moveTo>
                      <a:cubicBezTo>
                        <a:pt x="203016" y="152398"/>
                        <a:pt x="228600" y="139606"/>
                        <a:pt x="228600" y="123823"/>
                      </a:cubicBezTo>
                      <a:cubicBezTo>
                        <a:pt x="228600" y="108040"/>
                        <a:pt x="203016" y="95248"/>
                        <a:pt x="171450" y="95248"/>
                      </a:cubicBezTo>
                      <a:cubicBezTo>
                        <a:pt x="139884" y="95248"/>
                        <a:pt x="114300" y="108040"/>
                        <a:pt x="114300" y="123823"/>
                      </a:cubicBezTo>
                      <a:cubicBezTo>
                        <a:pt x="114300" y="139606"/>
                        <a:pt x="139884" y="152398"/>
                        <a:pt x="171450" y="152398"/>
                      </a:cubicBezTo>
                      <a:close/>
                      <a:moveTo>
                        <a:pt x="171450" y="209548"/>
                      </a:moveTo>
                      <a:cubicBezTo>
                        <a:pt x="138113" y="209548"/>
                        <a:pt x="114300" y="194984"/>
                        <a:pt x="114300" y="176210"/>
                      </a:cubicBezTo>
                      <a:cubicBezTo>
                        <a:pt x="114300" y="194984"/>
                        <a:pt x="90488" y="209548"/>
                        <a:pt x="57150" y="209548"/>
                      </a:cubicBezTo>
                      <a:cubicBezTo>
                        <a:pt x="23813" y="209548"/>
                        <a:pt x="0" y="194984"/>
                        <a:pt x="0" y="176210"/>
                      </a:cubicBezTo>
                      <a:lnTo>
                        <a:pt x="0" y="195260"/>
                      </a:lnTo>
                      <a:cubicBezTo>
                        <a:pt x="0" y="214263"/>
                        <a:pt x="24565" y="228598"/>
                        <a:pt x="57150" y="228598"/>
                      </a:cubicBezTo>
                      <a:cubicBezTo>
                        <a:pt x="89735" y="228598"/>
                        <a:pt x="114300" y="214263"/>
                        <a:pt x="114300" y="195260"/>
                      </a:cubicBezTo>
                      <a:cubicBezTo>
                        <a:pt x="114300" y="214263"/>
                        <a:pt x="138865" y="228598"/>
                        <a:pt x="171450" y="228598"/>
                      </a:cubicBezTo>
                      <a:cubicBezTo>
                        <a:pt x="204035" y="228598"/>
                        <a:pt x="228600" y="214263"/>
                        <a:pt x="228600" y="195260"/>
                      </a:cubicBezTo>
                      <a:lnTo>
                        <a:pt x="228600" y="176210"/>
                      </a:lnTo>
                      <a:cubicBezTo>
                        <a:pt x="228600" y="194984"/>
                        <a:pt x="204788" y="209548"/>
                        <a:pt x="171450" y="209548"/>
                      </a:cubicBezTo>
                      <a:close/>
                      <a:moveTo>
                        <a:pt x="171450" y="171448"/>
                      </a:moveTo>
                      <a:cubicBezTo>
                        <a:pt x="138113" y="171448"/>
                        <a:pt x="114300" y="156884"/>
                        <a:pt x="114300" y="138110"/>
                      </a:cubicBezTo>
                      <a:cubicBezTo>
                        <a:pt x="114300" y="156884"/>
                        <a:pt x="90488" y="171448"/>
                        <a:pt x="57150" y="171448"/>
                      </a:cubicBezTo>
                      <a:cubicBezTo>
                        <a:pt x="23813" y="171448"/>
                        <a:pt x="0" y="156884"/>
                        <a:pt x="0" y="138110"/>
                      </a:cubicBezTo>
                      <a:lnTo>
                        <a:pt x="0" y="157160"/>
                      </a:lnTo>
                      <a:cubicBezTo>
                        <a:pt x="0" y="176163"/>
                        <a:pt x="24565" y="190498"/>
                        <a:pt x="57150" y="190498"/>
                      </a:cubicBezTo>
                      <a:cubicBezTo>
                        <a:pt x="89735" y="190498"/>
                        <a:pt x="114300" y="176163"/>
                        <a:pt x="114300" y="157160"/>
                      </a:cubicBezTo>
                      <a:cubicBezTo>
                        <a:pt x="114300" y="176163"/>
                        <a:pt x="138865" y="190498"/>
                        <a:pt x="171450" y="190498"/>
                      </a:cubicBezTo>
                      <a:cubicBezTo>
                        <a:pt x="204035" y="190498"/>
                        <a:pt x="228600" y="176163"/>
                        <a:pt x="228600" y="157160"/>
                      </a:cubicBezTo>
                      <a:lnTo>
                        <a:pt x="228600" y="138110"/>
                      </a:lnTo>
                      <a:cubicBezTo>
                        <a:pt x="228600" y="156884"/>
                        <a:pt x="204788" y="171448"/>
                        <a:pt x="171450" y="171448"/>
                      </a:cubicBezTo>
                      <a:close/>
                      <a:moveTo>
                        <a:pt x="145733" y="40479"/>
                      </a:moveTo>
                      <a:cubicBezTo>
                        <a:pt x="148152" y="40479"/>
                        <a:pt x="150571" y="39564"/>
                        <a:pt x="152419" y="37726"/>
                      </a:cubicBezTo>
                      <a:lnTo>
                        <a:pt x="161925" y="28382"/>
                      </a:lnTo>
                      <a:lnTo>
                        <a:pt x="161925" y="66673"/>
                      </a:lnTo>
                      <a:cubicBezTo>
                        <a:pt x="161925" y="71930"/>
                        <a:pt x="166183" y="76198"/>
                        <a:pt x="171450" y="76198"/>
                      </a:cubicBezTo>
                      <a:cubicBezTo>
                        <a:pt x="176717" y="76198"/>
                        <a:pt x="180975" y="71930"/>
                        <a:pt x="180975" y="66673"/>
                      </a:cubicBezTo>
                      <a:lnTo>
                        <a:pt x="180975" y="28477"/>
                      </a:lnTo>
                      <a:lnTo>
                        <a:pt x="190529" y="37774"/>
                      </a:lnTo>
                      <a:cubicBezTo>
                        <a:pt x="194300" y="41441"/>
                        <a:pt x="200320" y="41355"/>
                        <a:pt x="203997" y="37593"/>
                      </a:cubicBezTo>
                      <a:cubicBezTo>
                        <a:pt x="207664" y="33821"/>
                        <a:pt x="207588" y="27792"/>
                        <a:pt x="203806" y="24124"/>
                      </a:cubicBezTo>
                      <a:lnTo>
                        <a:pt x="184728" y="5541"/>
                      </a:lnTo>
                      <a:cubicBezTo>
                        <a:pt x="177308" y="-1841"/>
                        <a:pt x="165287" y="-1841"/>
                        <a:pt x="157944" y="5503"/>
                      </a:cubicBezTo>
                      <a:lnTo>
                        <a:pt x="139046" y="24163"/>
                      </a:lnTo>
                      <a:cubicBezTo>
                        <a:pt x="135293" y="27858"/>
                        <a:pt x="135265" y="33888"/>
                        <a:pt x="138951" y="37631"/>
                      </a:cubicBezTo>
                      <a:cubicBezTo>
                        <a:pt x="140818" y="39517"/>
                        <a:pt x="143275" y="40460"/>
                        <a:pt x="145733" y="40460"/>
                      </a:cubicBez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grpSp>
          <p:nvGrpSpPr>
            <p:cNvPr id="8" name="组合 7"/>
            <p:cNvGrpSpPr/>
            <p:nvPr/>
          </p:nvGrpSpPr>
          <p:grpSpPr>
            <a:xfrm>
              <a:off x="4468984" y="5677116"/>
              <a:ext cx="3427505" cy="876266"/>
              <a:chOff x="4447606" y="5677116"/>
              <a:chExt cx="3427505" cy="876266"/>
            </a:xfrm>
          </p:grpSpPr>
          <p:sp>
            <p:nvSpPr>
              <p:cNvPr id="19" name="小红书平北职场PPT4-4"/>
              <p:cNvSpPr txBox="1"/>
              <p:nvPr/>
            </p:nvSpPr>
            <p:spPr>
              <a:xfrm>
                <a:off x="5345769" y="5677116"/>
                <a:ext cx="2529342" cy="876266"/>
              </a:xfrm>
              <a:prstGeom prst="rect">
                <a:avLst/>
              </a:prstGeom>
              <a:noFill/>
            </p:spPr>
            <p:txBody>
              <a:bodyPr wrap="square">
                <a:spAutoFit/>
              </a:bodyPr>
              <a:lstStyle/>
              <a:p>
                <a:pPr>
                  <a:lnSpc>
                    <a:spcPct val="130000"/>
                  </a:lnSpc>
                </a:pPr>
                <a:r>
                  <a:rPr lang="zh-CN" altLang="en-US" sz="1600" dirty="0">
                    <a:solidFill>
                      <a:schemeClr val="bg1"/>
                    </a:solidFill>
                    <a:latin typeface="+mj-ea"/>
                    <a:ea typeface="+mj-ea"/>
                    <a:cs typeface="思源黑体 CN Normal" panose="020B0400000000000000" pitchFamily="34" charset="-122"/>
                  </a:rPr>
                  <a:t>区域表现分析</a:t>
                </a:r>
                <a:endParaRPr lang="en-US" altLang="zh-CN" sz="1600" dirty="0">
                  <a:solidFill>
                    <a:schemeClr val="bg1"/>
                  </a:solidFill>
                  <a:latin typeface="+mj-ea"/>
                  <a:ea typeface="+mj-ea"/>
                  <a:cs typeface="思源黑体 CN Normal" panose="020B0400000000000000" pitchFamily="34" charset="-122"/>
                </a:endParaRPr>
              </a:p>
              <a:p>
                <a:pPr algn="l">
                  <a:lnSpc>
                    <a:spcPct val="130000"/>
                  </a:lnSpc>
                </a:pPr>
                <a:r>
                  <a:rPr lang="zh-CN" altLang="en-US" sz="1200" b="0" i="0" dirty="0">
                    <a:solidFill>
                      <a:schemeClr val="bg1"/>
                    </a:solidFill>
                    <a:effectLst/>
                    <a:latin typeface="思源黑体 CN Heavy" panose="020B0A00000000000000" charset="-122"/>
                    <a:cs typeface="思源黑体 CN Normal" panose="020B0400000000000000" pitchFamily="34" charset="-122"/>
                  </a:rPr>
                  <a:t>华南全面领跑创效优势明显</a:t>
                </a:r>
                <a:endParaRPr lang="en-US" altLang="zh-CN" sz="1200" b="0" i="0" dirty="0">
                  <a:solidFill>
                    <a:schemeClr val="bg1"/>
                  </a:solidFill>
                  <a:effectLst/>
                  <a:latin typeface="思源黑体 CN Heavy" panose="020B0A00000000000000" charset="-122"/>
                  <a:cs typeface="思源黑体 CN Normal" panose="020B0400000000000000" pitchFamily="34" charset="-122"/>
                </a:endParaRPr>
              </a:p>
              <a:p>
                <a:pPr algn="l">
                  <a:lnSpc>
                    <a:spcPct val="130000"/>
                  </a:lnSpc>
                </a:pPr>
                <a:r>
                  <a:rPr lang="zh-CN" altLang="en-US" sz="1200" b="0" i="0" dirty="0">
                    <a:solidFill>
                      <a:schemeClr val="bg1"/>
                    </a:solidFill>
                    <a:effectLst/>
                    <a:latin typeface="思源黑体 CN Heavy" panose="020B0A00000000000000" charset="-122"/>
                    <a:cs typeface="思源黑体 CN Normal" panose="020B0400000000000000" pitchFamily="34" charset="-122"/>
                  </a:rPr>
                  <a:t>华西北部业绩短板亟待改善提升</a:t>
                </a:r>
                <a:endParaRPr lang="zh-CN" altLang="en-US" sz="1200" b="0" i="0" dirty="0">
                  <a:solidFill>
                    <a:srgbClr val="0F1115"/>
                  </a:solidFill>
                  <a:effectLst/>
                  <a:latin typeface="思源黑体 CN Heavy" panose="020B0A00000000000000" charset="-122"/>
                  <a:cs typeface="思源黑体 CN Normal" panose="020B0400000000000000" pitchFamily="34" charset="-122"/>
                </a:endParaRPr>
              </a:p>
            </p:txBody>
          </p:sp>
          <p:grpSp>
            <p:nvGrpSpPr>
              <p:cNvPr id="20" name="组合 19"/>
              <p:cNvGrpSpPr/>
              <p:nvPr/>
            </p:nvGrpSpPr>
            <p:grpSpPr>
              <a:xfrm>
                <a:off x="4447606" y="5807479"/>
                <a:ext cx="670858" cy="670856"/>
                <a:chOff x="403439" y="5827709"/>
                <a:chExt cx="670858" cy="670856"/>
              </a:xfrm>
            </p:grpSpPr>
            <p:sp>
              <p:nvSpPr>
                <p:cNvPr id="21" name="小红书平北职场PPT4-5"/>
                <p:cNvSpPr/>
                <p:nvPr/>
              </p:nvSpPr>
              <p:spPr>
                <a:xfrm>
                  <a:off x="403439" y="5827709"/>
                  <a:ext cx="670858" cy="670856"/>
                </a:xfrm>
                <a:prstGeom prst="ellipse">
                  <a:avLst/>
                </a:pr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tlCol="0" anchor="ctr"/>
                <a:lstStyle/>
                <a:p>
                  <a:endParaRPr lang="zh-CN" altLang="en-US" kern="0" dirty="0">
                    <a:solidFill>
                      <a:prstClr val="black"/>
                    </a:solidFill>
                    <a:latin typeface="思源黑体 CN Heavy" panose="020B0A00000000000000" charset="-122"/>
                    <a:cs typeface="思源黑体 CN Normal" panose="020B0400000000000000" pitchFamily="34" charset="-122"/>
                  </a:endParaRPr>
                </a:p>
              </p:txBody>
            </p:sp>
            <p:sp>
              <p:nvSpPr>
                <p:cNvPr id="22" name="小红书平北职场PPT4-6"/>
                <p:cNvSpPr>
                  <a:spLocks noChangeAspect="1"/>
                </p:cNvSpPr>
                <p:nvPr/>
              </p:nvSpPr>
              <p:spPr>
                <a:xfrm>
                  <a:off x="577826" y="6002073"/>
                  <a:ext cx="322084" cy="322128"/>
                </a:xfrm>
                <a:custGeom>
                  <a:avLst/>
                  <a:gdLst>
                    <a:gd name="connsiteX0" fmla="*/ 38110 w 228568"/>
                    <a:gd name="connsiteY0" fmla="*/ 57922 h 228600"/>
                    <a:gd name="connsiteX1" fmla="*/ 68018 w 228568"/>
                    <a:gd name="connsiteY1" fmla="*/ 17688 h 228600"/>
                    <a:gd name="connsiteX2" fmla="*/ 63160 w 228568"/>
                    <a:gd name="connsiteY2" fmla="*/ 11992 h 228600"/>
                    <a:gd name="connsiteX3" fmla="*/ 69780 w 228568"/>
                    <a:gd name="connsiteY3" fmla="*/ 0 h 228600"/>
                    <a:gd name="connsiteX4" fmla="*/ 92135 w 228568"/>
                    <a:gd name="connsiteY4" fmla="*/ 0 h 228600"/>
                    <a:gd name="connsiteX5" fmla="*/ 98336 w 228568"/>
                    <a:gd name="connsiteY5" fmla="*/ 12630 h 228600"/>
                    <a:gd name="connsiteX6" fmla="*/ 93936 w 228568"/>
                    <a:gd name="connsiteY6" fmla="*/ 17688 h 228600"/>
                    <a:gd name="connsiteX7" fmla="*/ 123825 w 228568"/>
                    <a:gd name="connsiteY7" fmla="*/ 57912 h 228600"/>
                    <a:gd name="connsiteX8" fmla="*/ 97631 w 228568"/>
                    <a:gd name="connsiteY8" fmla="*/ 85715 h 228600"/>
                    <a:gd name="connsiteX9" fmla="*/ 64294 w 228568"/>
                    <a:gd name="connsiteY9" fmla="*/ 85715 h 228600"/>
                    <a:gd name="connsiteX10" fmla="*/ 38100 w 228568"/>
                    <a:gd name="connsiteY10" fmla="*/ 57912 h 228600"/>
                    <a:gd name="connsiteX11" fmla="*/ 149619 w 228568"/>
                    <a:gd name="connsiteY11" fmla="*/ 40891 h 228600"/>
                    <a:gd name="connsiteX12" fmla="*/ 161935 w 228568"/>
                    <a:gd name="connsiteY12" fmla="*/ 28575 h 228600"/>
                    <a:gd name="connsiteX13" fmla="*/ 161935 w 228568"/>
                    <a:gd name="connsiteY13" fmla="*/ 57150 h 228600"/>
                    <a:gd name="connsiteX14" fmla="*/ 171460 w 228568"/>
                    <a:gd name="connsiteY14" fmla="*/ 66675 h 228600"/>
                    <a:gd name="connsiteX15" fmla="*/ 180985 w 228568"/>
                    <a:gd name="connsiteY15" fmla="*/ 57150 h 228600"/>
                    <a:gd name="connsiteX16" fmla="*/ 180985 w 228568"/>
                    <a:gd name="connsiteY16" fmla="*/ 28575 h 228600"/>
                    <a:gd name="connsiteX17" fmla="*/ 193300 w 228568"/>
                    <a:gd name="connsiteY17" fmla="*/ 40891 h 228600"/>
                    <a:gd name="connsiteX18" fmla="*/ 200035 w 228568"/>
                    <a:gd name="connsiteY18" fmla="*/ 43682 h 228600"/>
                    <a:gd name="connsiteX19" fmla="*/ 206769 w 228568"/>
                    <a:gd name="connsiteY19" fmla="*/ 40891 h 228600"/>
                    <a:gd name="connsiteX20" fmla="*/ 206769 w 228568"/>
                    <a:gd name="connsiteY20" fmla="*/ 27422 h 228600"/>
                    <a:gd name="connsiteX21" fmla="*/ 184928 w 228568"/>
                    <a:gd name="connsiteY21" fmla="*/ 5582 h 228600"/>
                    <a:gd name="connsiteX22" fmla="*/ 172069 w 228568"/>
                    <a:gd name="connsiteY22" fmla="*/ 19 h 228600"/>
                    <a:gd name="connsiteX23" fmla="*/ 171460 w 228568"/>
                    <a:gd name="connsiteY23" fmla="*/ 0 h 228600"/>
                    <a:gd name="connsiteX24" fmla="*/ 170850 w 228568"/>
                    <a:gd name="connsiteY24" fmla="*/ 19 h 228600"/>
                    <a:gd name="connsiteX25" fmla="*/ 157991 w 228568"/>
                    <a:gd name="connsiteY25" fmla="*/ 5582 h 228600"/>
                    <a:gd name="connsiteX26" fmla="*/ 136150 w 228568"/>
                    <a:gd name="connsiteY26" fmla="*/ 27422 h 228600"/>
                    <a:gd name="connsiteX27" fmla="*/ 136150 w 228568"/>
                    <a:gd name="connsiteY27" fmla="*/ 40891 h 228600"/>
                    <a:gd name="connsiteX28" fmla="*/ 149619 w 228568"/>
                    <a:gd name="connsiteY28" fmla="*/ 40891 h 228600"/>
                    <a:gd name="connsiteX29" fmla="*/ 220494 w 228568"/>
                    <a:gd name="connsiteY29" fmla="*/ 82687 h 228600"/>
                    <a:gd name="connsiteX30" fmla="*/ 202606 w 228568"/>
                    <a:gd name="connsiteY30" fmla="*/ 76229 h 228600"/>
                    <a:gd name="connsiteX31" fmla="*/ 185518 w 228568"/>
                    <a:gd name="connsiteY31" fmla="*/ 84182 h 228600"/>
                    <a:gd name="connsiteX32" fmla="*/ 151790 w 228568"/>
                    <a:gd name="connsiteY32" fmla="*/ 119777 h 228600"/>
                    <a:gd name="connsiteX33" fmla="*/ 152410 w 228568"/>
                    <a:gd name="connsiteY33" fmla="*/ 125854 h 228600"/>
                    <a:gd name="connsiteX34" fmla="*/ 117958 w 228568"/>
                    <a:gd name="connsiteY34" fmla="*/ 165573 h 228600"/>
                    <a:gd name="connsiteX35" fmla="*/ 77457 w 228568"/>
                    <a:gd name="connsiteY35" fmla="*/ 171250 h 228600"/>
                    <a:gd name="connsiteX36" fmla="*/ 66685 w 228568"/>
                    <a:gd name="connsiteY36" fmla="*/ 163173 h 228600"/>
                    <a:gd name="connsiteX37" fmla="*/ 74762 w 228568"/>
                    <a:gd name="connsiteY37" fmla="*/ 152400 h 228600"/>
                    <a:gd name="connsiteX38" fmla="*/ 114405 w 228568"/>
                    <a:gd name="connsiteY38" fmla="*/ 146847 h 228600"/>
                    <a:gd name="connsiteX39" fmla="*/ 132883 w 228568"/>
                    <a:gd name="connsiteY39" fmla="*/ 130350 h 228600"/>
                    <a:gd name="connsiteX40" fmla="*/ 112271 w 228568"/>
                    <a:gd name="connsiteY40" fmla="*/ 104775 h 228600"/>
                    <a:gd name="connsiteX41" fmla="*/ 38100 w 228568"/>
                    <a:gd name="connsiteY41" fmla="*/ 104775 h 228600"/>
                    <a:gd name="connsiteX42" fmla="*/ 0 w 228568"/>
                    <a:gd name="connsiteY42" fmla="*/ 142875 h 228600"/>
                    <a:gd name="connsiteX43" fmla="*/ 0 w 228568"/>
                    <a:gd name="connsiteY43" fmla="*/ 190500 h 228600"/>
                    <a:gd name="connsiteX44" fmla="*/ 38100 w 228568"/>
                    <a:gd name="connsiteY44" fmla="*/ 228600 h 228600"/>
                    <a:gd name="connsiteX45" fmla="*/ 78696 w 228568"/>
                    <a:gd name="connsiteY45" fmla="*/ 228600 h 228600"/>
                    <a:gd name="connsiteX46" fmla="*/ 148933 w 228568"/>
                    <a:gd name="connsiteY46" fmla="*/ 197682 h 228600"/>
                    <a:gd name="connsiteX47" fmla="*/ 222294 w 228568"/>
                    <a:gd name="connsiteY47" fmla="*/ 117586 h 228600"/>
                    <a:gd name="connsiteX48" fmla="*/ 220494 w 228568"/>
                    <a:gd name="connsiteY48" fmla="*/ 82677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28568" h="228600">
                      <a:moveTo>
                        <a:pt x="38110" y="57922"/>
                      </a:moveTo>
                      <a:cubicBezTo>
                        <a:pt x="38110" y="42062"/>
                        <a:pt x="53188" y="24822"/>
                        <a:pt x="68018" y="17688"/>
                      </a:cubicBezTo>
                      <a:cubicBezTo>
                        <a:pt x="66275" y="15945"/>
                        <a:pt x="64599" y="14040"/>
                        <a:pt x="63160" y="11992"/>
                      </a:cubicBezTo>
                      <a:cubicBezTo>
                        <a:pt x="59617" y="6963"/>
                        <a:pt x="63627" y="0"/>
                        <a:pt x="69780" y="0"/>
                      </a:cubicBezTo>
                      <a:lnTo>
                        <a:pt x="92135" y="0"/>
                      </a:lnTo>
                      <a:cubicBezTo>
                        <a:pt x="98641" y="0"/>
                        <a:pt x="102194" y="7391"/>
                        <a:pt x="98336" y="12630"/>
                      </a:cubicBezTo>
                      <a:cubicBezTo>
                        <a:pt x="97003" y="14440"/>
                        <a:pt x="95498" y="16135"/>
                        <a:pt x="93936" y="17688"/>
                      </a:cubicBezTo>
                      <a:cubicBezTo>
                        <a:pt x="108766" y="24832"/>
                        <a:pt x="123825" y="42062"/>
                        <a:pt x="123825" y="57912"/>
                      </a:cubicBezTo>
                      <a:cubicBezTo>
                        <a:pt x="123825" y="73247"/>
                        <a:pt x="112081" y="85715"/>
                        <a:pt x="97631" y="85715"/>
                      </a:cubicBezTo>
                      <a:lnTo>
                        <a:pt x="64294" y="85715"/>
                      </a:lnTo>
                      <a:cubicBezTo>
                        <a:pt x="49844" y="85715"/>
                        <a:pt x="38100" y="73238"/>
                        <a:pt x="38100" y="57912"/>
                      </a:cubicBezTo>
                      <a:close/>
                      <a:moveTo>
                        <a:pt x="149619" y="40891"/>
                      </a:moveTo>
                      <a:lnTo>
                        <a:pt x="161935" y="28575"/>
                      </a:lnTo>
                      <a:lnTo>
                        <a:pt x="161935" y="57150"/>
                      </a:lnTo>
                      <a:cubicBezTo>
                        <a:pt x="161935" y="62408"/>
                        <a:pt x="166192" y="66675"/>
                        <a:pt x="171460" y="66675"/>
                      </a:cubicBezTo>
                      <a:cubicBezTo>
                        <a:pt x="176727" y="66675"/>
                        <a:pt x="180985" y="62408"/>
                        <a:pt x="180985" y="57150"/>
                      </a:cubicBezTo>
                      <a:lnTo>
                        <a:pt x="180985" y="28575"/>
                      </a:lnTo>
                      <a:lnTo>
                        <a:pt x="193300" y="40891"/>
                      </a:lnTo>
                      <a:cubicBezTo>
                        <a:pt x="195158" y="42748"/>
                        <a:pt x="197596" y="43682"/>
                        <a:pt x="200035" y="43682"/>
                      </a:cubicBezTo>
                      <a:cubicBezTo>
                        <a:pt x="202473" y="43682"/>
                        <a:pt x="204911" y="42748"/>
                        <a:pt x="206769" y="40891"/>
                      </a:cubicBezTo>
                      <a:cubicBezTo>
                        <a:pt x="210493" y="37167"/>
                        <a:pt x="210493" y="31147"/>
                        <a:pt x="206769" y="27422"/>
                      </a:cubicBezTo>
                      <a:lnTo>
                        <a:pt x="184928" y="5582"/>
                      </a:lnTo>
                      <a:cubicBezTo>
                        <a:pt x="181375" y="2019"/>
                        <a:pt x="176746" y="171"/>
                        <a:pt x="172069" y="19"/>
                      </a:cubicBezTo>
                      <a:cubicBezTo>
                        <a:pt x="171869" y="10"/>
                        <a:pt x="171669" y="0"/>
                        <a:pt x="171460" y="0"/>
                      </a:cubicBezTo>
                      <a:cubicBezTo>
                        <a:pt x="171250" y="0"/>
                        <a:pt x="171050" y="0"/>
                        <a:pt x="170850" y="19"/>
                      </a:cubicBezTo>
                      <a:cubicBezTo>
                        <a:pt x="166173" y="171"/>
                        <a:pt x="161544" y="2019"/>
                        <a:pt x="157991" y="5582"/>
                      </a:cubicBezTo>
                      <a:lnTo>
                        <a:pt x="136150" y="27422"/>
                      </a:lnTo>
                      <a:cubicBezTo>
                        <a:pt x="132426" y="31147"/>
                        <a:pt x="132426" y="37167"/>
                        <a:pt x="136150" y="40891"/>
                      </a:cubicBezTo>
                      <a:cubicBezTo>
                        <a:pt x="139875" y="44615"/>
                        <a:pt x="145894" y="44615"/>
                        <a:pt x="149619" y="40891"/>
                      </a:cubicBezTo>
                      <a:close/>
                      <a:moveTo>
                        <a:pt x="220494" y="82687"/>
                      </a:moveTo>
                      <a:cubicBezTo>
                        <a:pt x="215589" y="78219"/>
                        <a:pt x="209198" y="75905"/>
                        <a:pt x="202606" y="76229"/>
                      </a:cubicBezTo>
                      <a:cubicBezTo>
                        <a:pt x="195967" y="76533"/>
                        <a:pt x="189852" y="79410"/>
                        <a:pt x="185518" y="84182"/>
                      </a:cubicBezTo>
                      <a:lnTo>
                        <a:pt x="151790" y="119777"/>
                      </a:lnTo>
                      <a:cubicBezTo>
                        <a:pt x="152095" y="121777"/>
                        <a:pt x="152410" y="123777"/>
                        <a:pt x="152410" y="125854"/>
                      </a:cubicBezTo>
                      <a:cubicBezTo>
                        <a:pt x="152410" y="145694"/>
                        <a:pt x="137598" y="162773"/>
                        <a:pt x="117958" y="165573"/>
                      </a:cubicBezTo>
                      <a:lnTo>
                        <a:pt x="77457" y="171250"/>
                      </a:lnTo>
                      <a:cubicBezTo>
                        <a:pt x="72247" y="171993"/>
                        <a:pt x="67427" y="168373"/>
                        <a:pt x="66685" y="163173"/>
                      </a:cubicBezTo>
                      <a:cubicBezTo>
                        <a:pt x="65942" y="157963"/>
                        <a:pt x="69561" y="153143"/>
                        <a:pt x="74762" y="152400"/>
                      </a:cubicBezTo>
                      <a:lnTo>
                        <a:pt x="114405" y="146847"/>
                      </a:lnTo>
                      <a:cubicBezTo>
                        <a:pt x="123320" y="145571"/>
                        <a:pt x="131054" y="139170"/>
                        <a:pt x="132883" y="130350"/>
                      </a:cubicBezTo>
                      <a:cubicBezTo>
                        <a:pt x="135703" y="116777"/>
                        <a:pt x="125359" y="104775"/>
                        <a:pt x="112271" y="104775"/>
                      </a:cubicBezTo>
                      <a:lnTo>
                        <a:pt x="38100" y="104775"/>
                      </a:lnTo>
                      <a:cubicBezTo>
                        <a:pt x="17059" y="104775"/>
                        <a:pt x="0" y="121834"/>
                        <a:pt x="0" y="142875"/>
                      </a:cubicBezTo>
                      <a:lnTo>
                        <a:pt x="0" y="190500"/>
                      </a:lnTo>
                      <a:cubicBezTo>
                        <a:pt x="0" y="211541"/>
                        <a:pt x="17059" y="228600"/>
                        <a:pt x="38100" y="228600"/>
                      </a:cubicBezTo>
                      <a:lnTo>
                        <a:pt x="78696" y="228600"/>
                      </a:lnTo>
                      <a:cubicBezTo>
                        <a:pt x="105413" y="228600"/>
                        <a:pt x="130893" y="217380"/>
                        <a:pt x="148933" y="197682"/>
                      </a:cubicBezTo>
                      <a:lnTo>
                        <a:pt x="222294" y="117586"/>
                      </a:lnTo>
                      <a:cubicBezTo>
                        <a:pt x="231324" y="107471"/>
                        <a:pt x="230505" y="91802"/>
                        <a:pt x="220494" y="82677"/>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grpSp>
          <p:nvGrpSpPr>
            <p:cNvPr id="9" name="组合 8"/>
            <p:cNvGrpSpPr/>
            <p:nvPr/>
          </p:nvGrpSpPr>
          <p:grpSpPr>
            <a:xfrm>
              <a:off x="8308300" y="5677116"/>
              <a:ext cx="3254810" cy="876266"/>
              <a:chOff x="8357287" y="5677116"/>
              <a:chExt cx="3254810" cy="876266"/>
            </a:xfrm>
          </p:grpSpPr>
          <p:sp>
            <p:nvSpPr>
              <p:cNvPr id="10" name="小红书平北职场PPT4-7"/>
              <p:cNvSpPr txBox="1"/>
              <p:nvPr/>
            </p:nvSpPr>
            <p:spPr>
              <a:xfrm>
                <a:off x="9299528" y="5677116"/>
                <a:ext cx="2312569" cy="876266"/>
              </a:xfrm>
              <a:prstGeom prst="rect">
                <a:avLst/>
              </a:prstGeom>
              <a:noFill/>
            </p:spPr>
            <p:txBody>
              <a:bodyPr wrap="square">
                <a:spAutoFit/>
              </a:bodyPr>
              <a:lstStyle/>
              <a:p>
                <a:pPr>
                  <a:lnSpc>
                    <a:spcPct val="130000"/>
                  </a:lnSpc>
                </a:pPr>
                <a:r>
                  <a:rPr lang="zh-CN" altLang="en-US" sz="1600" i="0" dirty="0">
                    <a:solidFill>
                      <a:schemeClr val="bg1"/>
                    </a:solidFill>
                    <a:effectLst/>
                    <a:latin typeface="+mj-ea"/>
                    <a:ea typeface="+mj-ea"/>
                    <a:cs typeface="思源黑体 CN Normal" panose="020B0400000000000000" pitchFamily="34" charset="-122"/>
                  </a:rPr>
                  <a:t>下阶段策略</a:t>
                </a:r>
                <a:endParaRPr lang="en-US" altLang="zh-CN" sz="1600" i="0" dirty="0">
                  <a:solidFill>
                    <a:schemeClr val="bg1"/>
                  </a:solidFill>
                  <a:effectLst/>
                  <a:latin typeface="+mj-ea"/>
                  <a:ea typeface="+mj-ea"/>
                  <a:cs typeface="思源黑体 CN Normal" panose="020B0400000000000000" pitchFamily="34" charset="-122"/>
                </a:endParaRPr>
              </a:p>
              <a:p>
                <a:pPr>
                  <a:lnSpc>
                    <a:spcPct val="130000"/>
                  </a:lnSpc>
                </a:pPr>
                <a:r>
                  <a:rPr lang="zh-CN" altLang="en-US" sz="1200" b="0" i="0" dirty="0">
                    <a:solidFill>
                      <a:schemeClr val="bg1"/>
                    </a:solidFill>
                    <a:effectLst/>
                    <a:latin typeface="思源黑体 CN Heavy" panose="020B0A00000000000000" charset="-122"/>
                    <a:cs typeface="思源黑体 CN Normal" panose="020B0400000000000000" pitchFamily="34" charset="-122"/>
                  </a:rPr>
                  <a:t>强化区域协同赋能与经验共享</a:t>
                </a:r>
                <a:endParaRPr lang="en-US" altLang="zh-CN" sz="1200" b="0" i="0" dirty="0">
                  <a:solidFill>
                    <a:schemeClr val="bg1"/>
                  </a:solidFill>
                  <a:effectLst/>
                  <a:latin typeface="思源黑体 CN Heavy" panose="020B0A00000000000000" charset="-122"/>
                  <a:cs typeface="思源黑体 CN Normal" panose="020B0400000000000000" pitchFamily="34" charset="-122"/>
                </a:endParaRPr>
              </a:p>
              <a:p>
                <a:pPr>
                  <a:lnSpc>
                    <a:spcPct val="130000"/>
                  </a:lnSpc>
                </a:pPr>
                <a:r>
                  <a:rPr lang="zh-CN" altLang="en-US" sz="1200" b="0" i="0" dirty="0">
                    <a:solidFill>
                      <a:schemeClr val="bg1"/>
                    </a:solidFill>
                    <a:effectLst/>
                    <a:latin typeface="思源黑体 CN Heavy" panose="020B0A00000000000000" charset="-122"/>
                    <a:cs typeface="思源黑体 CN Normal" panose="020B0400000000000000" pitchFamily="34" charset="-122"/>
                  </a:rPr>
                  <a:t>精准帮扶落后区域促均衡发展</a:t>
                </a:r>
                <a:endParaRPr lang="zh-CN" altLang="en-US" sz="1200" b="0" i="0" dirty="0">
                  <a:solidFill>
                    <a:schemeClr val="bg1"/>
                  </a:solidFill>
                  <a:effectLst/>
                  <a:latin typeface="思源黑体 CN Heavy" panose="020B0A00000000000000" charset="-122"/>
                  <a:cs typeface="思源黑体 CN Normal" panose="020B0400000000000000" pitchFamily="34" charset="-122"/>
                </a:endParaRPr>
              </a:p>
            </p:txBody>
          </p:sp>
          <p:grpSp>
            <p:nvGrpSpPr>
              <p:cNvPr id="11" name="组合 10"/>
              <p:cNvGrpSpPr/>
              <p:nvPr/>
            </p:nvGrpSpPr>
            <p:grpSpPr>
              <a:xfrm>
                <a:off x="8357287" y="5807479"/>
                <a:ext cx="670858" cy="670856"/>
                <a:chOff x="403439" y="8750924"/>
                <a:chExt cx="670858" cy="670856"/>
              </a:xfrm>
            </p:grpSpPr>
            <p:sp>
              <p:nvSpPr>
                <p:cNvPr id="12" name="小红书平北职场PPT4-8"/>
                <p:cNvSpPr/>
                <p:nvPr/>
              </p:nvSpPr>
              <p:spPr>
                <a:xfrm>
                  <a:off x="403439" y="8750924"/>
                  <a:ext cx="670858" cy="670856"/>
                </a:xfrm>
                <a:prstGeom prst="ellipse">
                  <a:avLst/>
                </a:pr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tlCol="0" anchor="ctr"/>
                <a:lstStyle/>
                <a:p>
                  <a:endParaRPr lang="zh-CN" altLang="en-US" kern="0" dirty="0">
                    <a:solidFill>
                      <a:prstClr val="black"/>
                    </a:solidFill>
                    <a:latin typeface="思源黑体 CN Heavy" panose="020B0A00000000000000" charset="-122"/>
                    <a:cs typeface="思源黑体 CN Normal" panose="020B0400000000000000" pitchFamily="34" charset="-122"/>
                  </a:endParaRPr>
                </a:p>
              </p:txBody>
            </p:sp>
            <p:grpSp>
              <p:nvGrpSpPr>
                <p:cNvPr id="13" name="组合 12"/>
                <p:cNvGrpSpPr>
                  <a:grpSpLocks noChangeAspect="1"/>
                </p:cNvGrpSpPr>
                <p:nvPr/>
              </p:nvGrpSpPr>
              <p:grpSpPr>
                <a:xfrm>
                  <a:off x="576829" y="8924352"/>
                  <a:ext cx="324079" cy="324000"/>
                  <a:chOff x="0" y="-9323"/>
                  <a:chExt cx="4887315" cy="4886123"/>
                </a:xfrm>
                <a:solidFill>
                  <a:schemeClr val="accent1"/>
                </a:solidFill>
                <a:effectLst/>
              </p:grpSpPr>
              <p:sp>
                <p:nvSpPr>
                  <p:cNvPr id="14" name="小红书平北职场PPT4-9"/>
                  <p:cNvSpPr/>
                  <p:nvPr/>
                </p:nvSpPr>
                <p:spPr>
                  <a:xfrm>
                    <a:off x="0" y="0"/>
                    <a:ext cx="4876800" cy="4876800"/>
                  </a:xfrm>
                  <a:custGeom>
                    <a:avLst/>
                    <a:gdLst>
                      <a:gd name="connsiteX0" fmla="*/ 4572000 w 4876800"/>
                      <a:gd name="connsiteY0" fmla="*/ 4267200 h 4876800"/>
                      <a:gd name="connsiteX1" fmla="*/ 1117600 w 4876800"/>
                      <a:gd name="connsiteY1" fmla="*/ 4267200 h 4876800"/>
                      <a:gd name="connsiteX2" fmla="*/ 609600 w 4876800"/>
                      <a:gd name="connsiteY2" fmla="*/ 3759200 h 4876800"/>
                      <a:gd name="connsiteX3" fmla="*/ 609600 w 4876800"/>
                      <a:gd name="connsiteY3" fmla="*/ 304800 h 4876800"/>
                      <a:gd name="connsiteX4" fmla="*/ 304800 w 4876800"/>
                      <a:gd name="connsiteY4" fmla="*/ 0 h 4876800"/>
                      <a:gd name="connsiteX5" fmla="*/ 0 w 4876800"/>
                      <a:gd name="connsiteY5" fmla="*/ 304800 h 4876800"/>
                      <a:gd name="connsiteX6" fmla="*/ 0 w 4876800"/>
                      <a:gd name="connsiteY6" fmla="*/ 3759200 h 4876800"/>
                      <a:gd name="connsiteX7" fmla="*/ 1117600 w 4876800"/>
                      <a:gd name="connsiteY7" fmla="*/ 4876800 h 4876800"/>
                      <a:gd name="connsiteX8" fmla="*/ 4572000 w 4876800"/>
                      <a:gd name="connsiteY8" fmla="*/ 4876800 h 4876800"/>
                      <a:gd name="connsiteX9" fmla="*/ 4876800 w 4876800"/>
                      <a:gd name="connsiteY9" fmla="*/ 4572000 h 4876800"/>
                      <a:gd name="connsiteX10" fmla="*/ 4572000 w 4876800"/>
                      <a:gd name="connsiteY10" fmla="*/ 426720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76800" h="4876800">
                        <a:moveTo>
                          <a:pt x="4572000" y="4267200"/>
                        </a:moveTo>
                        <a:lnTo>
                          <a:pt x="1117600" y="4267200"/>
                        </a:lnTo>
                        <a:cubicBezTo>
                          <a:pt x="837039" y="4267200"/>
                          <a:pt x="609600" y="4039761"/>
                          <a:pt x="609600" y="3759200"/>
                        </a:cubicBezTo>
                        <a:lnTo>
                          <a:pt x="609600" y="304800"/>
                        </a:lnTo>
                        <a:cubicBezTo>
                          <a:pt x="609600" y="136464"/>
                          <a:pt x="473136" y="0"/>
                          <a:pt x="304800" y="0"/>
                        </a:cubicBezTo>
                        <a:cubicBezTo>
                          <a:pt x="136464" y="0"/>
                          <a:pt x="0" y="136464"/>
                          <a:pt x="0" y="304800"/>
                        </a:cubicBezTo>
                        <a:lnTo>
                          <a:pt x="0" y="3759200"/>
                        </a:lnTo>
                        <a:cubicBezTo>
                          <a:pt x="672" y="4376155"/>
                          <a:pt x="500645" y="4876128"/>
                          <a:pt x="1117600" y="4876800"/>
                        </a:cubicBezTo>
                        <a:lnTo>
                          <a:pt x="4572000" y="4876800"/>
                        </a:lnTo>
                        <a:cubicBezTo>
                          <a:pt x="4740336" y="4876800"/>
                          <a:pt x="4876800" y="4740336"/>
                          <a:pt x="4876800" y="4572000"/>
                        </a:cubicBezTo>
                        <a:cubicBezTo>
                          <a:pt x="4876800" y="4403664"/>
                          <a:pt x="4740336" y="4267200"/>
                          <a:pt x="4572000" y="4267200"/>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5" name="小红书平北职场PPT4-10"/>
                  <p:cNvSpPr/>
                  <p:nvPr/>
                </p:nvSpPr>
                <p:spPr>
                  <a:xfrm>
                    <a:off x="1625600" y="1828800"/>
                    <a:ext cx="609600" cy="2032000"/>
                  </a:xfrm>
                  <a:custGeom>
                    <a:avLst/>
                    <a:gdLst>
                      <a:gd name="connsiteX0" fmla="*/ 304800 w 609600"/>
                      <a:gd name="connsiteY0" fmla="*/ 0 h 2032000"/>
                      <a:gd name="connsiteX1" fmla="*/ 0 w 609600"/>
                      <a:gd name="connsiteY1" fmla="*/ 304800 h 2032000"/>
                      <a:gd name="connsiteX2" fmla="*/ 0 w 609600"/>
                      <a:gd name="connsiteY2" fmla="*/ 1727200 h 2032000"/>
                      <a:gd name="connsiteX3" fmla="*/ 304800 w 609600"/>
                      <a:gd name="connsiteY3" fmla="*/ 2032000 h 2032000"/>
                      <a:gd name="connsiteX4" fmla="*/ 609600 w 609600"/>
                      <a:gd name="connsiteY4" fmla="*/ 1727200 h 2032000"/>
                      <a:gd name="connsiteX5" fmla="*/ 609600 w 609600"/>
                      <a:gd name="connsiteY5" fmla="*/ 304800 h 2032000"/>
                      <a:gd name="connsiteX6" fmla="*/ 304800 w 609600"/>
                      <a:gd name="connsiteY6" fmla="*/ 0 h 20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 h="2032000">
                        <a:moveTo>
                          <a:pt x="304800" y="0"/>
                        </a:moveTo>
                        <a:cubicBezTo>
                          <a:pt x="136464" y="0"/>
                          <a:pt x="0" y="136464"/>
                          <a:pt x="0" y="304800"/>
                        </a:cubicBezTo>
                        <a:lnTo>
                          <a:pt x="0" y="1727200"/>
                        </a:lnTo>
                        <a:cubicBezTo>
                          <a:pt x="0" y="1895536"/>
                          <a:pt x="136464" y="2032000"/>
                          <a:pt x="304800" y="2032000"/>
                        </a:cubicBezTo>
                        <a:cubicBezTo>
                          <a:pt x="473136" y="2032000"/>
                          <a:pt x="609600" y="1895536"/>
                          <a:pt x="609600" y="1727200"/>
                        </a:cubicBezTo>
                        <a:lnTo>
                          <a:pt x="609600" y="304800"/>
                        </a:lnTo>
                        <a:cubicBezTo>
                          <a:pt x="609600" y="136464"/>
                          <a:pt x="473136" y="0"/>
                          <a:pt x="304800" y="0"/>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6" name="小红书平北职场PPT4-11"/>
                  <p:cNvSpPr/>
                  <p:nvPr/>
                </p:nvSpPr>
                <p:spPr>
                  <a:xfrm>
                    <a:off x="2844800" y="2438400"/>
                    <a:ext cx="609600" cy="1422400"/>
                  </a:xfrm>
                  <a:custGeom>
                    <a:avLst/>
                    <a:gdLst>
                      <a:gd name="connsiteX0" fmla="*/ 0 w 609600"/>
                      <a:gd name="connsiteY0" fmla="*/ 304800 h 1422400"/>
                      <a:gd name="connsiteX1" fmla="*/ 0 w 609600"/>
                      <a:gd name="connsiteY1" fmla="*/ 1117600 h 1422400"/>
                      <a:gd name="connsiteX2" fmla="*/ 304800 w 609600"/>
                      <a:gd name="connsiteY2" fmla="*/ 1422400 h 1422400"/>
                      <a:gd name="connsiteX3" fmla="*/ 609600 w 609600"/>
                      <a:gd name="connsiteY3" fmla="*/ 1117600 h 1422400"/>
                      <a:gd name="connsiteX4" fmla="*/ 609600 w 609600"/>
                      <a:gd name="connsiteY4" fmla="*/ 304800 h 1422400"/>
                      <a:gd name="connsiteX5" fmla="*/ 304800 w 609600"/>
                      <a:gd name="connsiteY5" fmla="*/ 0 h 1422400"/>
                      <a:gd name="connsiteX6" fmla="*/ 0 w 609600"/>
                      <a:gd name="connsiteY6" fmla="*/ 304800 h 142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 h="1422400">
                        <a:moveTo>
                          <a:pt x="0" y="304800"/>
                        </a:moveTo>
                        <a:lnTo>
                          <a:pt x="0" y="1117600"/>
                        </a:lnTo>
                        <a:cubicBezTo>
                          <a:pt x="0" y="1285936"/>
                          <a:pt x="136464" y="1422400"/>
                          <a:pt x="304800" y="1422400"/>
                        </a:cubicBezTo>
                        <a:cubicBezTo>
                          <a:pt x="473136" y="1422400"/>
                          <a:pt x="609600" y="1285936"/>
                          <a:pt x="609600" y="1117600"/>
                        </a:cubicBezTo>
                        <a:lnTo>
                          <a:pt x="609600" y="304800"/>
                        </a:lnTo>
                        <a:cubicBezTo>
                          <a:pt x="609600" y="136464"/>
                          <a:pt x="473136" y="0"/>
                          <a:pt x="304800" y="0"/>
                        </a:cubicBezTo>
                        <a:cubicBezTo>
                          <a:pt x="136464" y="0"/>
                          <a:pt x="0" y="136464"/>
                          <a:pt x="0" y="304800"/>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7" name="小红书平北职场PPT4-12"/>
                  <p:cNvSpPr/>
                  <p:nvPr/>
                </p:nvSpPr>
                <p:spPr>
                  <a:xfrm>
                    <a:off x="4064000" y="1625600"/>
                    <a:ext cx="609600" cy="2235200"/>
                  </a:xfrm>
                  <a:custGeom>
                    <a:avLst/>
                    <a:gdLst>
                      <a:gd name="connsiteX0" fmla="*/ 0 w 609600"/>
                      <a:gd name="connsiteY0" fmla="*/ 304800 h 2235200"/>
                      <a:gd name="connsiteX1" fmla="*/ 0 w 609600"/>
                      <a:gd name="connsiteY1" fmla="*/ 1930400 h 2235200"/>
                      <a:gd name="connsiteX2" fmla="*/ 304800 w 609600"/>
                      <a:gd name="connsiteY2" fmla="*/ 2235200 h 2235200"/>
                      <a:gd name="connsiteX3" fmla="*/ 609600 w 609600"/>
                      <a:gd name="connsiteY3" fmla="*/ 1930400 h 2235200"/>
                      <a:gd name="connsiteX4" fmla="*/ 609600 w 609600"/>
                      <a:gd name="connsiteY4" fmla="*/ 304800 h 2235200"/>
                      <a:gd name="connsiteX5" fmla="*/ 304800 w 609600"/>
                      <a:gd name="connsiteY5" fmla="*/ 0 h 2235200"/>
                      <a:gd name="connsiteX6" fmla="*/ 0 w 609600"/>
                      <a:gd name="connsiteY6" fmla="*/ 304800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 h="2235200">
                        <a:moveTo>
                          <a:pt x="0" y="304800"/>
                        </a:moveTo>
                        <a:lnTo>
                          <a:pt x="0" y="1930400"/>
                        </a:lnTo>
                        <a:cubicBezTo>
                          <a:pt x="0" y="2098736"/>
                          <a:pt x="136464" y="2235200"/>
                          <a:pt x="304800" y="2235200"/>
                        </a:cubicBezTo>
                        <a:cubicBezTo>
                          <a:pt x="473136" y="2235200"/>
                          <a:pt x="609600" y="2098736"/>
                          <a:pt x="609600" y="1930400"/>
                        </a:cubicBezTo>
                        <a:lnTo>
                          <a:pt x="609600" y="304800"/>
                        </a:lnTo>
                        <a:cubicBezTo>
                          <a:pt x="609600" y="136464"/>
                          <a:pt x="473136" y="0"/>
                          <a:pt x="304800" y="0"/>
                        </a:cubicBezTo>
                        <a:cubicBezTo>
                          <a:pt x="136464" y="0"/>
                          <a:pt x="0" y="136464"/>
                          <a:pt x="0" y="304800"/>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8" name="小红书平北职场PPT4-13"/>
                  <p:cNvSpPr/>
                  <p:nvPr/>
                </p:nvSpPr>
                <p:spPr>
                  <a:xfrm>
                    <a:off x="914474" y="-9323"/>
                    <a:ext cx="3972841" cy="1533324"/>
                  </a:xfrm>
                  <a:custGeom>
                    <a:avLst/>
                    <a:gdLst>
                      <a:gd name="connsiteX0" fmla="*/ 304726 w 3972841"/>
                      <a:gd name="connsiteY0" fmla="*/ 1533323 h 1533324"/>
                      <a:gd name="connsiteX1" fmla="*/ 494921 w 3972841"/>
                      <a:gd name="connsiteY1" fmla="*/ 1466471 h 1533324"/>
                      <a:gd name="connsiteX2" fmla="*/ 957810 w 3972841"/>
                      <a:gd name="connsiteY2" fmla="*/ 1096443 h 1533324"/>
                      <a:gd name="connsiteX3" fmla="*/ 1606222 w 3972841"/>
                      <a:gd name="connsiteY3" fmla="*/ 1132207 h 1533324"/>
                      <a:gd name="connsiteX4" fmla="*/ 3089582 w 3972841"/>
                      <a:gd name="connsiteY4" fmla="*/ 1193167 h 1533324"/>
                      <a:gd name="connsiteX5" fmla="*/ 3854426 w 3972841"/>
                      <a:gd name="connsiteY5" fmla="*/ 545975 h 1533324"/>
                      <a:gd name="connsiteX6" fmla="*/ 3909187 w 3972841"/>
                      <a:gd name="connsiteY6" fmla="*/ 118415 h 1533324"/>
                      <a:gd name="connsiteX7" fmla="*/ 3481627 w 3972841"/>
                      <a:gd name="connsiteY7" fmla="*/ 63655 h 1533324"/>
                      <a:gd name="connsiteX8" fmla="*/ 3460625 w 3972841"/>
                      <a:gd name="connsiteY8" fmla="*/ 81459 h 1533324"/>
                      <a:gd name="connsiteX9" fmla="*/ 2695983 w 3972841"/>
                      <a:gd name="connsiteY9" fmla="*/ 728651 h 1533324"/>
                      <a:gd name="connsiteX10" fmla="*/ 2037209 w 3972841"/>
                      <a:gd name="connsiteY10" fmla="*/ 700203 h 1533324"/>
                      <a:gd name="connsiteX11" fmla="*/ 577014 w 3972841"/>
                      <a:gd name="connsiteY11" fmla="*/ 618923 h 1533324"/>
                      <a:gd name="connsiteX12" fmla="*/ 114327 w 3972841"/>
                      <a:gd name="connsiteY12" fmla="*/ 990576 h 1533324"/>
                      <a:gd name="connsiteX13" fmla="*/ 66864 w 3972841"/>
                      <a:gd name="connsiteY13" fmla="*/ 1419008 h 1533324"/>
                      <a:gd name="connsiteX14" fmla="*/ 304726 w 3972841"/>
                      <a:gd name="connsiteY14" fmla="*/ 1533323 h 1533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72841" h="1533324">
                        <a:moveTo>
                          <a:pt x="304726" y="1533323"/>
                        </a:moveTo>
                        <a:cubicBezTo>
                          <a:pt x="373908" y="1533470"/>
                          <a:pt x="441045" y="1509871"/>
                          <a:pt x="494921" y="1466471"/>
                        </a:cubicBezTo>
                        <a:lnTo>
                          <a:pt x="957810" y="1096443"/>
                        </a:lnTo>
                        <a:cubicBezTo>
                          <a:pt x="1151372" y="941048"/>
                          <a:pt x="1430924" y="956467"/>
                          <a:pt x="1606222" y="1132207"/>
                        </a:cubicBezTo>
                        <a:cubicBezTo>
                          <a:pt x="2011031" y="1531873"/>
                          <a:pt x="2653343" y="1558269"/>
                          <a:pt x="3089582" y="1193167"/>
                        </a:cubicBezTo>
                        <a:lnTo>
                          <a:pt x="3854426" y="545975"/>
                        </a:lnTo>
                        <a:cubicBezTo>
                          <a:pt x="3987616" y="443029"/>
                          <a:pt x="4012132" y="251604"/>
                          <a:pt x="3909187" y="118415"/>
                        </a:cubicBezTo>
                        <a:cubicBezTo>
                          <a:pt x="3806241" y="-14774"/>
                          <a:pt x="3614816" y="-39291"/>
                          <a:pt x="3481627" y="63655"/>
                        </a:cubicBezTo>
                        <a:cubicBezTo>
                          <a:pt x="3474362" y="69270"/>
                          <a:pt x="3467354" y="75211"/>
                          <a:pt x="3460625" y="81459"/>
                        </a:cubicBezTo>
                        <a:lnTo>
                          <a:pt x="2695983" y="728651"/>
                        </a:lnTo>
                        <a:cubicBezTo>
                          <a:pt x="2501915" y="890478"/>
                          <a:pt x="2216604" y="878157"/>
                          <a:pt x="2037209" y="700203"/>
                        </a:cubicBezTo>
                        <a:cubicBezTo>
                          <a:pt x="1642547" y="304431"/>
                          <a:pt x="1013162" y="269397"/>
                          <a:pt x="577014" y="618923"/>
                        </a:cubicBezTo>
                        <a:lnTo>
                          <a:pt x="114327" y="990576"/>
                        </a:lnTo>
                        <a:cubicBezTo>
                          <a:pt x="-17088" y="1095778"/>
                          <a:pt x="-38337" y="1287593"/>
                          <a:pt x="66864" y="1419008"/>
                        </a:cubicBezTo>
                        <a:cubicBezTo>
                          <a:pt x="124690" y="1491242"/>
                          <a:pt x="212197" y="1533297"/>
                          <a:pt x="304726" y="1533323"/>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grpSp>
      </p:grpSp>
      <p:sp>
        <p:nvSpPr>
          <p:cNvPr id="27" name="小红书平北职场PPT5"/>
          <p:cNvSpPr/>
          <p:nvPr/>
        </p:nvSpPr>
        <p:spPr>
          <a:xfrm>
            <a:off x="0" y="4963888"/>
            <a:ext cx="12192001" cy="1414397"/>
          </a:xfrm>
          <a:custGeom>
            <a:avLst/>
            <a:gdLst>
              <a:gd name="connsiteX0" fmla="*/ 1118507 w 12192001"/>
              <a:gd name="connsiteY0" fmla="*/ 0 h 1414397"/>
              <a:gd name="connsiteX1" fmla="*/ 11073494 w 12192001"/>
              <a:gd name="connsiteY1" fmla="*/ 0 h 1414397"/>
              <a:gd name="connsiteX2" fmla="*/ 12192001 w 12192001"/>
              <a:gd name="connsiteY2" fmla="*/ 1118507 h 1414397"/>
              <a:gd name="connsiteX3" fmla="*/ 12192001 w 12192001"/>
              <a:gd name="connsiteY3" fmla="*/ 1414394 h 1414397"/>
              <a:gd name="connsiteX4" fmla="*/ 12169277 w 12192001"/>
              <a:gd name="connsiteY4" fmla="*/ 1188979 h 1414397"/>
              <a:gd name="connsiteX5" fmla="*/ 11073494 w 12192001"/>
              <a:gd name="connsiteY5" fmla="*/ 295890 h 1414397"/>
              <a:gd name="connsiteX6" fmla="*/ 1118507 w 12192001"/>
              <a:gd name="connsiteY6" fmla="*/ 295890 h 1414397"/>
              <a:gd name="connsiteX7" fmla="*/ 0 w 12192001"/>
              <a:gd name="connsiteY7" fmla="*/ 1414397 h 1414397"/>
              <a:gd name="connsiteX8" fmla="*/ 0 w 12192001"/>
              <a:gd name="connsiteY8" fmla="*/ 1118507 h 1414397"/>
              <a:gd name="connsiteX9" fmla="*/ 1118507 w 12192001"/>
              <a:gd name="connsiteY9" fmla="*/ 0 h 14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1414397">
                <a:moveTo>
                  <a:pt x="1118507" y="0"/>
                </a:moveTo>
                <a:lnTo>
                  <a:pt x="11073494" y="0"/>
                </a:lnTo>
                <a:cubicBezTo>
                  <a:pt x="11691228" y="0"/>
                  <a:pt x="12192001" y="500773"/>
                  <a:pt x="12192001" y="1118507"/>
                </a:cubicBezTo>
                <a:lnTo>
                  <a:pt x="12192001" y="1414394"/>
                </a:lnTo>
                <a:lnTo>
                  <a:pt x="12169277" y="1188979"/>
                </a:lnTo>
                <a:cubicBezTo>
                  <a:pt x="12064980" y="679294"/>
                  <a:pt x="11614011" y="295890"/>
                  <a:pt x="11073494" y="295890"/>
                </a:cubicBezTo>
                <a:lnTo>
                  <a:pt x="1118507" y="295890"/>
                </a:lnTo>
                <a:cubicBezTo>
                  <a:pt x="500773" y="295890"/>
                  <a:pt x="0" y="796663"/>
                  <a:pt x="0" y="1414397"/>
                </a:cubicBezTo>
                <a:lnTo>
                  <a:pt x="0" y="1118507"/>
                </a:lnTo>
                <a:cubicBezTo>
                  <a:pt x="0" y="500773"/>
                  <a:pt x="500773" y="0"/>
                  <a:pt x="1118507" y="0"/>
                </a:cubicBezTo>
                <a:close/>
              </a:path>
            </a:pathLst>
          </a:custGeom>
          <a:gradFill>
            <a:gsLst>
              <a:gs pos="0">
                <a:schemeClr val="accent1">
                  <a:lumMod val="75000"/>
                  <a:alpha val="20000"/>
                </a:schemeClr>
              </a:gs>
              <a:gs pos="100000">
                <a:schemeClr val="accent1">
                  <a:lumMod val="60000"/>
                  <a:lumOff val="40000"/>
                  <a:alpha val="40000"/>
                </a:schemeClr>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nvGrpSpPr>
          <p:cNvPr id="28" name="小红书平北职场PPT6"/>
          <p:cNvGrpSpPr/>
          <p:nvPr/>
        </p:nvGrpSpPr>
        <p:grpSpPr>
          <a:xfrm>
            <a:off x="450092" y="2413981"/>
            <a:ext cx="11271268" cy="297835"/>
            <a:chOff x="436318" y="2887512"/>
            <a:chExt cx="11271268" cy="297835"/>
          </a:xfrm>
        </p:grpSpPr>
        <p:sp>
          <p:nvSpPr>
            <p:cNvPr id="29" name="小红书平北职场PPT6-1"/>
            <p:cNvSpPr/>
            <p:nvPr/>
          </p:nvSpPr>
          <p:spPr>
            <a:xfrm>
              <a:off x="11413765" y="2887512"/>
              <a:ext cx="293821" cy="266923"/>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30" name="小红书平北职场PPT6-2"/>
            <p:cNvSpPr/>
            <p:nvPr/>
          </p:nvSpPr>
          <p:spPr>
            <a:xfrm flipH="1">
              <a:off x="436318" y="2918424"/>
              <a:ext cx="293821" cy="266923"/>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sp>
        <p:nvSpPr>
          <p:cNvPr id="31" name="小红书平北职场PPT7"/>
          <p:cNvSpPr/>
          <p:nvPr/>
        </p:nvSpPr>
        <p:spPr>
          <a:xfrm>
            <a:off x="709572" y="863428"/>
            <a:ext cx="10772856" cy="4759651"/>
          </a:xfrm>
          <a:prstGeom prst="roundRect">
            <a:avLst>
              <a:gd name="adj" fmla="val 0"/>
            </a:avLst>
          </a:prstGeom>
          <a:solidFill>
            <a:schemeClr val="bg1"/>
          </a:solidFill>
          <a:ln w="22225">
            <a:noFill/>
          </a:ln>
          <a:effectLst>
            <a:outerShdw blurRad="165100" dist="7620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32" name="小红书平北职场PPT8"/>
          <p:cNvSpPr/>
          <p:nvPr/>
        </p:nvSpPr>
        <p:spPr>
          <a:xfrm>
            <a:off x="999210" y="1028848"/>
            <a:ext cx="10226238" cy="473969"/>
          </a:xfrm>
          <a:prstGeom prst="roundRect">
            <a:avLst>
              <a:gd name="adj" fmla="val 0"/>
            </a:avLst>
          </a:prstGeom>
          <a:gradFill flip="none" rotWithShape="1">
            <a:gsLst>
              <a:gs pos="0">
                <a:schemeClr val="accent1">
                  <a:lumMod val="60000"/>
                  <a:lumOff val="40000"/>
                </a:schemeClr>
              </a:gs>
              <a:gs pos="100000">
                <a:schemeClr val="accent1"/>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33" name="小红书平北职场PPT9"/>
          <p:cNvSpPr/>
          <p:nvPr/>
        </p:nvSpPr>
        <p:spPr>
          <a:xfrm>
            <a:off x="999210" y="4622117"/>
            <a:ext cx="10226238" cy="4739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34" name="小红书平北职场PPT10"/>
          <p:cNvSpPr/>
          <p:nvPr/>
        </p:nvSpPr>
        <p:spPr>
          <a:xfrm>
            <a:off x="999210" y="3723800"/>
            <a:ext cx="10226238" cy="4739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35" name="小红书平北职场PPT11"/>
          <p:cNvSpPr/>
          <p:nvPr/>
        </p:nvSpPr>
        <p:spPr>
          <a:xfrm>
            <a:off x="460366" y="2662197"/>
            <a:ext cx="11271268" cy="473969"/>
          </a:xfrm>
          <a:prstGeom prst="roundRect">
            <a:avLst>
              <a:gd name="adj" fmla="val 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36" name="小红书平北职场PPT12"/>
          <p:cNvSpPr/>
          <p:nvPr/>
        </p:nvSpPr>
        <p:spPr>
          <a:xfrm>
            <a:off x="999210" y="1665908"/>
            <a:ext cx="10226238" cy="4739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graphicFrame>
        <p:nvGraphicFramePr>
          <p:cNvPr id="37" name="小红书平北职场PPT13"/>
          <p:cNvGraphicFramePr>
            <a:graphicFrameLocks noGrp="1"/>
          </p:cNvGraphicFramePr>
          <p:nvPr/>
        </p:nvGraphicFramePr>
        <p:xfrm>
          <a:off x="864967" y="886138"/>
          <a:ext cx="10120690" cy="4744314"/>
        </p:xfrm>
        <a:graphic>
          <a:graphicData uri="http://schemas.openxmlformats.org/drawingml/2006/table">
            <a:tbl>
              <a:tblPr/>
              <a:tblGrid>
                <a:gridCol w="1052103"/>
                <a:gridCol w="1173501"/>
                <a:gridCol w="1476312"/>
                <a:gridCol w="1254430"/>
                <a:gridCol w="1214172"/>
                <a:gridCol w="1214172"/>
                <a:gridCol w="1368000"/>
                <a:gridCol w="1368000"/>
              </a:tblGrid>
              <a:tr h="786666">
                <a:tc>
                  <a:txBody>
                    <a:bodyPr/>
                    <a:lstStyle/>
                    <a:p>
                      <a:pPr algn="r"/>
                      <a:r>
                        <a:rPr lang="zh-CN" altLang="en-US" sz="1200" dirty="0">
                          <a:solidFill>
                            <a:schemeClr val="bg1"/>
                          </a:solidFill>
                          <a:effectLst/>
                          <a:latin typeface="+mj-ea"/>
                          <a:ea typeface="+mj-ea"/>
                          <a:cs typeface="思源黑体 CN Normal" panose="020B0400000000000000" pitchFamily="34" charset="-122"/>
                        </a:rPr>
                        <a:t>区域</a:t>
                      </a:r>
                      <a:endParaRPr lang="zh-CN" altLang="en-US" sz="1200" dirty="0">
                        <a:solidFill>
                          <a:schemeClr val="bg1"/>
                        </a:solidFill>
                        <a:effectLst/>
                        <a:latin typeface="+mj-ea"/>
                        <a:ea typeface="+mj-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负责人</a:t>
                      </a:r>
                      <a:endParaRPr lang="zh-CN" altLang="en-US" sz="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销售额</a:t>
                      </a:r>
                      <a:r>
                        <a:rPr lang="zh-CN" altLang="en-US" sz="1000" kern="1200" dirty="0">
                          <a:solidFill>
                            <a:schemeClr val="bg1"/>
                          </a:solidFill>
                          <a:effectLst/>
                          <a:latin typeface="+mj-ea"/>
                          <a:ea typeface="+mj-ea"/>
                          <a:cs typeface="思源黑体 CN Normal" panose="020B0400000000000000" pitchFamily="34" charset="-122"/>
                        </a:rPr>
                        <a:t>（万元）</a:t>
                      </a:r>
                      <a:endParaRPr lang="zh-CN" altLang="en-US" sz="1000" kern="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目标完成率</a:t>
                      </a:r>
                      <a:endParaRPr lang="zh-CN" altLang="en-US" sz="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客户签约数</a:t>
                      </a:r>
                      <a:endParaRPr lang="zh-CN" altLang="en-US" sz="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新客户开发数</a:t>
                      </a:r>
                      <a:endParaRPr lang="zh-CN" altLang="en-US" sz="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客均单价</a:t>
                      </a:r>
                      <a:r>
                        <a:rPr lang="zh-CN" altLang="en-US" sz="1000" dirty="0">
                          <a:solidFill>
                            <a:schemeClr val="bg1"/>
                          </a:solidFill>
                          <a:effectLst/>
                          <a:latin typeface="+mj-ea"/>
                          <a:ea typeface="+mj-ea"/>
                          <a:cs typeface="思源黑体 CN Normal" panose="020B0400000000000000" pitchFamily="34" charset="-122"/>
                        </a:rPr>
                        <a:t>（万元）</a:t>
                      </a:r>
                      <a:endParaRPr lang="zh-CN" altLang="en-US" sz="10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回款周期</a:t>
                      </a:r>
                      <a:r>
                        <a:rPr lang="zh-CN" altLang="en-US" sz="1000" kern="1200" dirty="0">
                          <a:solidFill>
                            <a:schemeClr val="bg1"/>
                          </a:solidFill>
                          <a:effectLst/>
                          <a:latin typeface="+mj-ea"/>
                          <a:ea typeface="+mj-ea"/>
                          <a:cs typeface="思源黑体 CN Normal" panose="020B0400000000000000" pitchFamily="34" charset="-122"/>
                        </a:rPr>
                        <a:t>（天）</a:t>
                      </a:r>
                      <a:endParaRPr lang="zh-CN" altLang="en-US" sz="1000" kern="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华东区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张伟</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1,580</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112%</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15</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24.6</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45</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华北区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李静</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1,420</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98%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6</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12</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28.3</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52</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400" dirty="0">
                          <a:solidFill>
                            <a:schemeClr val="bg1"/>
                          </a:solidFill>
                          <a:effectLst/>
                          <a:latin typeface="+mj-ea"/>
                          <a:ea typeface="+mj-ea"/>
                          <a:cs typeface="思源黑体 CN Normal" panose="020B0400000000000000" pitchFamily="34" charset="-122"/>
                        </a:rPr>
                        <a:t>华南区</a:t>
                      </a:r>
                      <a:endParaRPr lang="zh-CN" altLang="en-US" sz="1400" dirty="0">
                        <a:solidFill>
                          <a:schemeClr val="bg1"/>
                        </a:solidFill>
                        <a:effectLst/>
                        <a:latin typeface="+mj-ea"/>
                        <a:ea typeface="+mj-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400" dirty="0">
                          <a:solidFill>
                            <a:schemeClr val="bg1"/>
                          </a:solidFill>
                          <a:effectLst/>
                          <a:latin typeface="+mj-ea"/>
                          <a:ea typeface="+mj-ea"/>
                          <a:cs typeface="思源黑体 CN Normal" panose="020B0400000000000000" pitchFamily="34" charset="-122"/>
                        </a:rPr>
                        <a:t>王涛</a:t>
                      </a:r>
                      <a:endParaRPr lang="zh-CN" altLang="en-US"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a:solidFill>
                            <a:schemeClr val="bg1"/>
                          </a:solidFill>
                          <a:effectLst/>
                          <a:latin typeface="+mj-ea"/>
                          <a:ea typeface="+mj-ea"/>
                          <a:cs typeface="思源黑体 CN Normal" panose="020B0400000000000000" pitchFamily="34" charset="-122"/>
                        </a:rPr>
                        <a:t>1,650</a:t>
                      </a:r>
                      <a:endParaRPr lang="en-US" altLang="zh-CN" sz="140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118%</a:t>
                      </a:r>
                      <a:endParaRPr lang="en-US" altLang="zh-CN"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9</a:t>
                      </a:r>
                      <a:endParaRPr lang="en-US" altLang="zh-CN"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18</a:t>
                      </a:r>
                      <a:endParaRPr lang="en-US" altLang="zh-CN"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21.5</a:t>
                      </a:r>
                      <a:endParaRPr lang="en-US" altLang="zh-CN"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41</a:t>
                      </a:r>
                      <a:endParaRPr lang="en-US" altLang="zh-CN" sz="1400" dirty="0">
                        <a:solidFill>
                          <a:schemeClr val="bg1"/>
                        </a:solidFill>
                        <a:effectLst/>
                        <a:latin typeface="+mj-ea"/>
                        <a:ea typeface="+mj-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a:effectLst/>
                          <a:latin typeface="+mn-ea"/>
                          <a:ea typeface="+mn-ea"/>
                          <a:cs typeface="思源黑体 CN Normal" panose="020B0400000000000000" pitchFamily="34" charset="-122"/>
                        </a:rPr>
                        <a:t>华西区</a:t>
                      </a:r>
                      <a:endParaRPr lang="zh-CN" altLang="en-US" sz="120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赵磊</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1,210</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88%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30.1</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60</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东北区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孙悦</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980</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105%</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4</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10</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19.8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48</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中南区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周明</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1,350</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102%</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7</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14</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22.7</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50</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西南区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吴芳</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1,090</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92%</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9</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25.4</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55</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marL="0" algn="r" defTabSz="914400" rtl="0" eaLnBrk="1" latinLnBrk="0" hangingPunct="1"/>
                      <a:r>
                        <a:rPr lang="zh-CN" altLang="en-US" sz="1200" kern="1200" dirty="0">
                          <a:solidFill>
                            <a:schemeClr val="tx1"/>
                          </a:solidFill>
                          <a:effectLst/>
                          <a:latin typeface="+mn-ea"/>
                          <a:ea typeface="+mn-ea"/>
                          <a:cs typeface="思源黑体 CN Normal" panose="020B0400000000000000" pitchFamily="34" charset="-122"/>
                        </a:rPr>
                        <a:t>港澳区</a:t>
                      </a:r>
                      <a:endParaRPr lang="zh-CN" altLang="en-US" sz="1200" kern="1200" dirty="0">
                        <a:solidFill>
                          <a:schemeClr val="tx1"/>
                        </a:solidFill>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marL="0" algn="r" defTabSz="914400" rtl="0" eaLnBrk="1" latinLnBrk="0" hangingPunct="1"/>
                      <a:r>
                        <a:rPr lang="zh-CN" altLang="en-US" sz="1200" kern="1200">
                          <a:solidFill>
                            <a:schemeClr val="tx1"/>
                          </a:solidFill>
                          <a:effectLst/>
                          <a:latin typeface="+mn-ea"/>
                          <a:ea typeface="+mn-ea"/>
                          <a:cs typeface="思源黑体 CN Normal" panose="020B0400000000000000" pitchFamily="34" charset="-122"/>
                        </a:rPr>
                        <a:t>陈浩</a:t>
                      </a:r>
                      <a:endParaRPr lang="zh-CN" altLang="en-US" sz="1200" kern="120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1,720</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a:solidFill>
                            <a:schemeClr val="tx1"/>
                          </a:solidFill>
                          <a:effectLst/>
                          <a:latin typeface="+mn-ea"/>
                          <a:ea typeface="+mn-ea"/>
                          <a:cs typeface="思源黑体 CN Normal" panose="020B0400000000000000" pitchFamily="34" charset="-122"/>
                        </a:rPr>
                        <a:t>106%</a:t>
                      </a:r>
                      <a:endParaRPr lang="zh-CN" altLang="en-US" sz="1200" kern="120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10</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8</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35.2</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38</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bl>
          </a:graphicData>
        </a:graphic>
      </p:graphicFrame>
    </p:spTree>
    <p:custDataLst>
      <p:tags r:id="rId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345723" y="1000066"/>
            <a:ext cx="9064475" cy="3720660"/>
          </a:xfrm>
          <a:prstGeom prst="roundRect">
            <a:avLst>
              <a:gd name="adj" fmla="val 0"/>
            </a:avLst>
          </a:prstGeom>
          <a:solidFill>
            <a:schemeClr val="bg1"/>
          </a:solidFill>
          <a:ln w="22225">
            <a:noFill/>
          </a:ln>
          <a:effectLst>
            <a:outerShdw blurRad="165100" dist="7620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graphicFrame>
        <p:nvGraphicFramePr>
          <p:cNvPr id="3" name="小红书平北职场PPT2"/>
          <p:cNvGraphicFramePr>
            <a:graphicFrameLocks noGrp="1"/>
          </p:cNvGraphicFramePr>
          <p:nvPr/>
        </p:nvGraphicFramePr>
        <p:xfrm>
          <a:off x="140173" y="1664109"/>
          <a:ext cx="8975279" cy="3048330"/>
        </p:xfrm>
        <a:graphic>
          <a:graphicData uri="http://schemas.openxmlformats.org/drawingml/2006/table">
            <a:tbl>
              <a:tblPr firstRow="1" bandRow="1">
                <a:effectLst>
                  <a:outerShdw blurRad="50800" dist="38100" dir="5400000" algn="t" rotWithShape="0">
                    <a:schemeClr val="accent1">
                      <a:alpha val="16000"/>
                    </a:schemeClr>
                  </a:outerShdw>
                </a:effectLst>
                <a:tableStyleId>{5C22544A-7EE6-4342-B048-85BDC9FD1C3A}</a:tableStyleId>
              </a:tblPr>
              <a:tblGrid>
                <a:gridCol w="1775279"/>
                <a:gridCol w="1620000"/>
                <a:gridCol w="1620000"/>
                <a:gridCol w="3960000"/>
              </a:tblGrid>
              <a:tr h="609666">
                <a:tc>
                  <a:txBody>
                    <a:bodyPr/>
                    <a:lstStyle/>
                    <a:p>
                      <a:pPr algn="r"/>
                      <a:r>
                        <a:rPr lang="zh-CN" altLang="en-US" sz="1200" dirty="0">
                          <a:solidFill>
                            <a:schemeClr val="tx1"/>
                          </a:solidFill>
                          <a:effectLst/>
                          <a:latin typeface="+mn-ea"/>
                          <a:ea typeface="+mn-ea"/>
                          <a:cs typeface="思源黑体 CN Normal" panose="020B0400000000000000" pitchFamily="34" charset="-122"/>
                        </a:rPr>
                        <a:t>原材料成本</a:t>
                      </a:r>
                      <a:endParaRPr lang="zh-CN" altLang="en-US" sz="1200" dirty="0">
                        <a:solidFill>
                          <a:schemeClr val="tx1"/>
                        </a:solidFill>
                        <a:effectLst/>
                        <a:latin typeface="+mn-ea"/>
                        <a:ea typeface="+mn-ea"/>
                        <a:cs typeface="思源黑体 CN Normal" panose="020B0400000000000000" pitchFamily="34" charset="-122"/>
                      </a:endParaRPr>
                    </a:p>
                  </a:txBody>
                  <a:tcPr marR="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solidFill>
                            <a:schemeClr val="tx1"/>
                          </a:solidFill>
                          <a:effectLst/>
                          <a:latin typeface="+mn-ea"/>
                          <a:ea typeface="+mn-ea"/>
                          <a:cs typeface="思源黑体 CN Normal" panose="020B0400000000000000" pitchFamily="34" charset="-122"/>
                        </a:rPr>
                        <a:t>1250.5</a:t>
                      </a:r>
                      <a:endParaRPr lang="en-US" altLang="zh-CN" sz="1200" dirty="0">
                        <a:solidFill>
                          <a:schemeClr val="tx1"/>
                        </a:solidFill>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solidFill>
                            <a:schemeClr val="tx1"/>
                          </a:solidFill>
                          <a:effectLst/>
                          <a:latin typeface="+mn-ea"/>
                          <a:ea typeface="+mn-ea"/>
                          <a:cs typeface="思源黑体 CN Normal" panose="020B0400000000000000" pitchFamily="34" charset="-122"/>
                        </a:rPr>
                        <a:t>980.2</a:t>
                      </a:r>
                      <a:endParaRPr lang="en-US" altLang="zh-CN" sz="1200" dirty="0">
                        <a:solidFill>
                          <a:schemeClr val="tx1"/>
                        </a:solidFill>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solidFill>
                            <a:schemeClr val="tx1"/>
                          </a:solidFill>
                          <a:effectLst/>
                          <a:latin typeface="+mn-ea"/>
                          <a:ea typeface="+mn-ea"/>
                          <a:cs typeface="思源黑体 CN Normal" panose="020B0400000000000000" pitchFamily="34" charset="-122"/>
                        </a:rPr>
                        <a:t>27.6%</a:t>
                      </a:r>
                      <a:endParaRPr lang="en-US" altLang="zh-CN" sz="1200" dirty="0">
                        <a:solidFill>
                          <a:schemeClr val="tx1"/>
                        </a:solidFill>
                        <a:effectLst/>
                        <a:latin typeface="+mn-ea"/>
                        <a:ea typeface="+mn-ea"/>
                        <a:cs typeface="思源黑体 CN Normal" panose="020B0400000000000000" pitchFamily="34" charset="-122"/>
                      </a:endParaRPr>
                    </a:p>
                  </a:txBody>
                  <a:tcPr marL="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zh-CN" altLang="en-US" sz="1200" dirty="0">
                          <a:effectLst/>
                          <a:latin typeface="+mn-ea"/>
                          <a:ea typeface="+mn-ea"/>
                          <a:cs typeface="思源黑体 CN Normal" panose="020B0400000000000000" pitchFamily="34" charset="-122"/>
                        </a:rPr>
                        <a:t>人工成本</a:t>
                      </a:r>
                      <a:endParaRPr lang="zh-CN" altLang="en-US" sz="1200" dirty="0">
                        <a:effectLst/>
                        <a:latin typeface="+mn-ea"/>
                        <a:ea typeface="+mn-ea"/>
                        <a:cs typeface="思源黑体 CN Normal" panose="020B0400000000000000" pitchFamily="34" charset="-122"/>
                      </a:endParaRPr>
                    </a:p>
                  </a:txBody>
                  <a:tcPr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650.8</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595.4</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9.3%</a:t>
                      </a:r>
                      <a:endParaRPr lang="en-US" altLang="zh-CN" sz="1200" dirty="0">
                        <a:effectLst/>
                        <a:latin typeface="+mn-ea"/>
                        <a:ea typeface="+mn-ea"/>
                        <a:cs typeface="思源黑体 CN Normal" panose="020B0400000000000000" pitchFamily="34" charset="-122"/>
                      </a:endParaRPr>
                    </a:p>
                  </a:txBody>
                  <a:tcPr marL="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zh-CN" altLang="en-US" sz="1200" dirty="0">
                          <a:effectLst/>
                          <a:latin typeface="+mn-ea"/>
                          <a:ea typeface="+mn-ea"/>
                          <a:cs typeface="思源黑体 CN Normal" panose="020B0400000000000000" pitchFamily="34" charset="-122"/>
                        </a:rPr>
                        <a:t>制造费用</a:t>
                      </a:r>
                      <a:endParaRPr lang="zh-CN" altLang="en-US" sz="1200" dirty="0">
                        <a:effectLst/>
                        <a:latin typeface="+mn-ea"/>
                        <a:ea typeface="+mn-ea"/>
                        <a:cs typeface="思源黑体 CN Normal" panose="020B0400000000000000" pitchFamily="34" charset="-122"/>
                      </a:endParaRPr>
                    </a:p>
                  </a:txBody>
                  <a:tcPr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320.2</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285.7</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12.1%</a:t>
                      </a:r>
                      <a:endParaRPr lang="en-US" altLang="zh-CN" sz="1200" dirty="0">
                        <a:effectLst/>
                        <a:latin typeface="+mn-ea"/>
                        <a:ea typeface="+mn-ea"/>
                        <a:cs typeface="思源黑体 CN Normal" panose="020B0400000000000000" pitchFamily="34" charset="-122"/>
                      </a:endParaRPr>
                    </a:p>
                  </a:txBody>
                  <a:tcPr marL="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zh-CN" altLang="en-US" sz="1200" dirty="0">
                          <a:effectLst/>
                          <a:latin typeface="+mn-ea"/>
                          <a:ea typeface="+mn-ea"/>
                          <a:cs typeface="思源黑体 CN Normal" panose="020B0400000000000000" pitchFamily="34" charset="-122"/>
                        </a:rPr>
                        <a:t>能源消耗</a:t>
                      </a:r>
                      <a:endParaRPr lang="zh-CN" altLang="en-US" sz="1200" dirty="0">
                        <a:effectLst/>
                        <a:latin typeface="+mn-ea"/>
                        <a:ea typeface="+mn-ea"/>
                        <a:cs typeface="思源黑体 CN Normal" panose="020B0400000000000000" pitchFamily="34" charset="-122"/>
                      </a:endParaRPr>
                    </a:p>
                  </a:txBody>
                  <a:tcPr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285.9</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310.5</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-7.9%</a:t>
                      </a:r>
                      <a:endParaRPr lang="en-US" altLang="zh-CN" sz="1200" dirty="0">
                        <a:effectLst/>
                        <a:latin typeface="+mn-ea"/>
                        <a:ea typeface="+mn-ea"/>
                        <a:cs typeface="思源黑体 CN Normal" panose="020B0400000000000000" pitchFamily="34" charset="-122"/>
                      </a:endParaRPr>
                    </a:p>
                  </a:txBody>
                  <a:tcPr marL="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zh-CN" altLang="en-US" sz="1200" dirty="0">
                          <a:effectLst/>
                          <a:latin typeface="+mn-ea"/>
                          <a:ea typeface="+mn-ea"/>
                          <a:cs typeface="思源黑体 CN Normal" panose="020B0400000000000000" pitchFamily="34" charset="-122"/>
                        </a:rPr>
                        <a:t>设备维护</a:t>
                      </a:r>
                      <a:endParaRPr lang="zh-CN" altLang="en-US" sz="1200" dirty="0">
                        <a:effectLst/>
                        <a:latin typeface="+mn-ea"/>
                        <a:ea typeface="+mn-ea"/>
                        <a:cs typeface="思源黑体 CN Normal" panose="020B0400000000000000" pitchFamily="34" charset="-122"/>
                      </a:endParaRPr>
                    </a:p>
                  </a:txBody>
                  <a:tcPr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a:effectLst/>
                          <a:latin typeface="+mn-ea"/>
                          <a:ea typeface="+mn-ea"/>
                          <a:cs typeface="思源黑体 CN Normal" panose="020B0400000000000000" pitchFamily="34" charset="-122"/>
                        </a:rPr>
                        <a:t>150.3</a:t>
                      </a:r>
                      <a:endParaRPr lang="en-US" altLang="zh-CN" sz="120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182.6</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-17.7%</a:t>
                      </a:r>
                      <a:endParaRPr lang="en-US" altLang="zh-CN" sz="1200" dirty="0">
                        <a:effectLst/>
                        <a:latin typeface="+mn-ea"/>
                        <a:ea typeface="+mn-ea"/>
                        <a:cs typeface="思源黑体 CN Normal" panose="020B0400000000000000" pitchFamily="34" charset="-122"/>
                      </a:endParaRPr>
                    </a:p>
                  </a:txBody>
                  <a:tcPr marL="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4" name="小红书平北职场PPT3"/>
          <p:cNvGrpSpPr/>
          <p:nvPr/>
        </p:nvGrpSpPr>
        <p:grpSpPr>
          <a:xfrm>
            <a:off x="566956" y="2307950"/>
            <a:ext cx="8656704" cy="1840605"/>
            <a:chOff x="332276" y="2028661"/>
            <a:chExt cx="11464802" cy="1671794"/>
          </a:xfrm>
        </p:grpSpPr>
        <p:grpSp>
          <p:nvGrpSpPr>
            <p:cNvPr id="5" name="组合 4"/>
            <p:cNvGrpSpPr/>
            <p:nvPr/>
          </p:nvGrpSpPr>
          <p:grpSpPr>
            <a:xfrm>
              <a:off x="332276" y="2028661"/>
              <a:ext cx="11464802" cy="547344"/>
              <a:chOff x="332276" y="2028661"/>
              <a:chExt cx="11464802" cy="547344"/>
            </a:xfrm>
          </p:grpSpPr>
          <p:cxnSp>
            <p:nvCxnSpPr>
              <p:cNvPr id="9" name="小红书平北职场PPT3-1"/>
              <p:cNvCxnSpPr/>
              <p:nvPr/>
            </p:nvCxnSpPr>
            <p:spPr>
              <a:xfrm>
                <a:off x="332276" y="2028661"/>
                <a:ext cx="11464802" cy="0"/>
              </a:xfrm>
              <a:prstGeom prst="line">
                <a:avLst/>
              </a:prstGeom>
              <a:ln>
                <a:solidFill>
                  <a:schemeClr val="tx1">
                    <a:lumMod val="75000"/>
                    <a:lumOff val="25000"/>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小红书平北职场PPT3-2"/>
              <p:cNvCxnSpPr/>
              <p:nvPr/>
            </p:nvCxnSpPr>
            <p:spPr>
              <a:xfrm>
                <a:off x="332276" y="2576005"/>
                <a:ext cx="11464802" cy="0"/>
              </a:xfrm>
              <a:prstGeom prst="line">
                <a:avLst/>
              </a:prstGeom>
              <a:ln>
                <a:solidFill>
                  <a:schemeClr val="tx1">
                    <a:lumMod val="75000"/>
                    <a:lumOff val="25000"/>
                    <a:alpha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332276" y="3153111"/>
              <a:ext cx="11464802" cy="547344"/>
              <a:chOff x="332276" y="2028661"/>
              <a:chExt cx="11464802" cy="547344"/>
            </a:xfrm>
          </p:grpSpPr>
          <p:cxnSp>
            <p:nvCxnSpPr>
              <p:cNvPr id="7" name="小红书平北职场PPT3-3"/>
              <p:cNvCxnSpPr/>
              <p:nvPr/>
            </p:nvCxnSpPr>
            <p:spPr>
              <a:xfrm>
                <a:off x="332276" y="2028661"/>
                <a:ext cx="11464802" cy="0"/>
              </a:xfrm>
              <a:prstGeom prst="line">
                <a:avLst/>
              </a:prstGeom>
              <a:ln>
                <a:solidFill>
                  <a:schemeClr val="tx1">
                    <a:lumMod val="75000"/>
                    <a:lumOff val="25000"/>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小红书平北职场PPT3-4"/>
              <p:cNvCxnSpPr/>
              <p:nvPr/>
            </p:nvCxnSpPr>
            <p:spPr>
              <a:xfrm>
                <a:off x="332276" y="2576005"/>
                <a:ext cx="11464802" cy="0"/>
              </a:xfrm>
              <a:prstGeom prst="line">
                <a:avLst/>
              </a:prstGeom>
              <a:ln>
                <a:solidFill>
                  <a:schemeClr val="tx1">
                    <a:lumMod val="75000"/>
                    <a:lumOff val="25000"/>
                    <a:alpha val="50000"/>
                  </a:schemeClr>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11" name="小红书平北职场PPT4"/>
          <p:cNvGrpSpPr/>
          <p:nvPr/>
        </p:nvGrpSpPr>
        <p:grpSpPr>
          <a:xfrm>
            <a:off x="7656666" y="1887807"/>
            <a:ext cx="780132" cy="2629312"/>
            <a:chOff x="10216752" y="1724380"/>
            <a:chExt cx="584813" cy="2457851"/>
          </a:xfrm>
        </p:grpSpPr>
        <p:graphicFrame>
          <p:nvGraphicFramePr>
            <p:cNvPr id="12" name="小红书平北职场PPT4-1"/>
            <p:cNvGraphicFramePr/>
            <p:nvPr/>
          </p:nvGraphicFramePr>
          <p:xfrm>
            <a:off x="10216752" y="1724380"/>
            <a:ext cx="584813" cy="19225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3" name="小红书平北职场PPT4-2"/>
            <p:cNvGraphicFramePr/>
            <p:nvPr/>
          </p:nvGraphicFramePr>
          <p:xfrm>
            <a:off x="10216752" y="2287031"/>
            <a:ext cx="584813" cy="1922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小红书平北职场PPT4-3"/>
            <p:cNvGraphicFramePr/>
            <p:nvPr/>
          </p:nvGraphicFramePr>
          <p:xfrm>
            <a:off x="10216752" y="2849683"/>
            <a:ext cx="584813" cy="1922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小红书平北职场PPT4-4"/>
            <p:cNvGraphicFramePr/>
            <p:nvPr/>
          </p:nvGraphicFramePr>
          <p:xfrm>
            <a:off x="10216752" y="3427325"/>
            <a:ext cx="584813" cy="19225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小红书平北职场PPT4-5"/>
            <p:cNvGraphicFramePr/>
            <p:nvPr/>
          </p:nvGraphicFramePr>
          <p:xfrm>
            <a:off x="10216752" y="3989976"/>
            <a:ext cx="584813" cy="192255"/>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17" name="小红书平北职场PPT7"/>
          <p:cNvGrpSpPr/>
          <p:nvPr/>
        </p:nvGrpSpPr>
        <p:grpSpPr>
          <a:xfrm>
            <a:off x="334963" y="184318"/>
            <a:ext cx="11522075" cy="506147"/>
            <a:chOff x="334963" y="184318"/>
            <a:chExt cx="11522075" cy="506147"/>
          </a:xfrm>
        </p:grpSpPr>
        <p:cxnSp>
          <p:nvCxnSpPr>
            <p:cNvPr id="18" name="小红书平北职场PPT7-1"/>
            <p:cNvCxnSpPr/>
            <p:nvPr>
              <p:custDataLst>
                <p:tags r:id="rId6"/>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小红书平北职场PPT7-2"/>
            <p:cNvSpPr txBox="1"/>
            <p:nvPr>
              <p:custDataLst>
                <p:tags r:id="rId7"/>
              </p:custDataLst>
            </p:nvPr>
          </p:nvSpPr>
          <p:spPr>
            <a:xfrm>
              <a:off x="334963" y="184318"/>
              <a:ext cx="4488408" cy="430887"/>
            </a:xfrm>
            <a:prstGeom prst="rect">
              <a:avLst/>
            </a:prstGeom>
            <a:noFill/>
          </p:spPr>
          <p:txBody>
            <a:bodyPr wrap="none" lIns="0" tIns="0" rIns="0" bIns="0" rtlCol="0">
              <a:spAutoFit/>
            </a:bodyPr>
            <a:lstStyle/>
            <a:p>
              <a:r>
                <a:rPr lang="zh-CN" altLang="en-US" sz="2800" dirty="0">
                  <a:latin typeface="+mj-ea"/>
                  <a:ea typeface="+mj-ea"/>
                  <a:cs typeface="思源黑体 CN Normal" panose="020B0400000000000000" pitchFamily="34" charset="-122"/>
                  <a:sym typeface="+mj-ea"/>
                </a:rPr>
                <a:t>生产成本明细对比表</a:t>
              </a:r>
              <a:r>
                <a:rPr lang="zh-CN" altLang="en-US" sz="1400" dirty="0">
                  <a:latin typeface="+mj-ea"/>
                  <a:ea typeface="+mj-ea"/>
                  <a:cs typeface="思源黑体 CN Normal" panose="020B0400000000000000" pitchFamily="34" charset="-122"/>
                  <a:sym typeface="+mj-ea"/>
                </a:rPr>
                <a:t>（</a:t>
              </a:r>
              <a:r>
                <a:rPr lang="zh-CN" altLang="en-US" sz="1400" dirty="0">
                  <a:latin typeface="+mj-ea"/>
                  <a:ea typeface="+mj-ea"/>
                  <a:cs typeface="思源黑体 CN Normal" panose="020B0400000000000000" pitchFamily="34" charset="-122"/>
                </a:rPr>
                <a:t>单位：万元</a:t>
              </a:r>
              <a:r>
                <a:rPr kumimoji="0" lang="zh-CN" altLang="en-US" sz="1400" i="0" u="none" strike="noStrike" kern="1200" cap="none" spc="0" normalizeH="0" baseline="0" noProof="0" dirty="0">
                  <a:ln>
                    <a:noFill/>
                  </a:ln>
                  <a:effectLst/>
                  <a:uLnTx/>
                  <a:uFillTx/>
                  <a:latin typeface="+mj-ea"/>
                  <a:ea typeface="+mj-ea"/>
                  <a:cs typeface="思源黑体 CN Normal" panose="020B0400000000000000" pitchFamily="34" charset="-122"/>
                </a:rPr>
                <a:t>）</a:t>
              </a:r>
              <a:endParaRPr lang="zh-CN" altLang="en-US" sz="4000" dirty="0">
                <a:latin typeface="+mj-ea"/>
                <a:ea typeface="+mj-ea"/>
                <a:cs typeface="思源黑体 CN Normal" panose="020B0400000000000000" pitchFamily="34" charset="-122"/>
              </a:endParaRPr>
            </a:p>
          </p:txBody>
        </p:sp>
      </p:grpSp>
      <p:sp>
        <p:nvSpPr>
          <p:cNvPr id="20" name="小红书平北职场PPT8"/>
          <p:cNvSpPr/>
          <p:nvPr/>
        </p:nvSpPr>
        <p:spPr>
          <a:xfrm>
            <a:off x="332279" y="5193792"/>
            <a:ext cx="11580775" cy="1423617"/>
          </a:xfrm>
          <a:prstGeom prst="roundRect">
            <a:avLst>
              <a:gd name="adj" fmla="val 620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grpSp>
        <p:nvGrpSpPr>
          <p:cNvPr id="21" name="小红书平北职场PPT9"/>
          <p:cNvGrpSpPr/>
          <p:nvPr/>
        </p:nvGrpSpPr>
        <p:grpSpPr>
          <a:xfrm>
            <a:off x="9727846" y="970427"/>
            <a:ext cx="2185208" cy="3693936"/>
            <a:chOff x="9594869" y="1080110"/>
            <a:chExt cx="2185208" cy="3293597"/>
          </a:xfrm>
        </p:grpSpPr>
        <p:grpSp>
          <p:nvGrpSpPr>
            <p:cNvPr id="22" name="组合 21"/>
            <p:cNvGrpSpPr/>
            <p:nvPr/>
          </p:nvGrpSpPr>
          <p:grpSpPr>
            <a:xfrm>
              <a:off x="9594869" y="1080110"/>
              <a:ext cx="2185208" cy="1531066"/>
              <a:chOff x="329166" y="4992240"/>
              <a:chExt cx="2185208" cy="1531066"/>
            </a:xfrm>
          </p:grpSpPr>
          <p:grpSp>
            <p:nvGrpSpPr>
              <p:cNvPr id="36" name="组合 35"/>
              <p:cNvGrpSpPr/>
              <p:nvPr/>
            </p:nvGrpSpPr>
            <p:grpSpPr>
              <a:xfrm>
                <a:off x="329166" y="4992240"/>
                <a:ext cx="2185208" cy="1531066"/>
                <a:chOff x="254010" y="4992240"/>
                <a:chExt cx="2185208" cy="1531066"/>
              </a:xfrm>
            </p:grpSpPr>
            <p:sp>
              <p:nvSpPr>
                <p:cNvPr id="41" name="小红书平北职场PPT9-1"/>
                <p:cNvSpPr/>
                <p:nvPr/>
              </p:nvSpPr>
              <p:spPr>
                <a:xfrm>
                  <a:off x="254010" y="4992240"/>
                  <a:ext cx="2185208" cy="1531066"/>
                </a:xfrm>
                <a:prstGeom prst="roundRect">
                  <a:avLst>
                    <a:gd name="adj" fmla="val 4811"/>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sp>
              <p:nvSpPr>
                <p:cNvPr id="42" name="小红书平北职场PPT9-2"/>
                <p:cNvSpPr/>
                <p:nvPr/>
              </p:nvSpPr>
              <p:spPr>
                <a:xfrm>
                  <a:off x="434296" y="5173319"/>
                  <a:ext cx="36000" cy="1209330"/>
                </a:xfrm>
                <a:prstGeom prst="roundRect">
                  <a:avLst>
                    <a:gd name="adj" fmla="val 0"/>
                  </a:avLst>
                </a:prstGeom>
                <a:solidFill>
                  <a:schemeClr val="bg1">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grpSp>
              <p:nvGrpSpPr>
                <p:cNvPr id="43" name="Graphic 4"/>
                <p:cNvGrpSpPr/>
                <p:nvPr/>
              </p:nvGrpSpPr>
              <p:grpSpPr>
                <a:xfrm>
                  <a:off x="1684295" y="5184028"/>
                  <a:ext cx="427774" cy="427774"/>
                  <a:chOff x="7950261" y="2805112"/>
                  <a:chExt cx="447675" cy="447675"/>
                </a:xfrm>
                <a:gradFill flip="none" rotWithShape="1">
                  <a:gsLst>
                    <a:gs pos="0">
                      <a:schemeClr val="bg1">
                        <a:alpha val="50000"/>
                      </a:schemeClr>
                    </a:gs>
                    <a:gs pos="100000">
                      <a:schemeClr val="bg1">
                        <a:alpha val="0"/>
                      </a:schemeClr>
                    </a:gs>
                  </a:gsLst>
                  <a:lin ang="8100000" scaled="1"/>
                  <a:tileRect/>
                </a:gradFill>
              </p:grpSpPr>
              <p:sp>
                <p:nvSpPr>
                  <p:cNvPr id="44" name="小红书平北职场PPT9-3"/>
                  <p:cNvSpPr/>
                  <p:nvPr/>
                </p:nvSpPr>
                <p:spPr>
                  <a:xfrm>
                    <a:off x="8321031" y="2875530"/>
                    <a:ext cx="28575" cy="28575"/>
                  </a:xfrm>
                  <a:custGeom>
                    <a:avLst/>
                    <a:gdLst>
                      <a:gd name="connsiteX0" fmla="*/ 21546 w 28575"/>
                      <a:gd name="connsiteY0" fmla="*/ 18850 h 28575"/>
                      <a:gd name="connsiteX1" fmla="*/ 7144 w 28575"/>
                      <a:gd name="connsiteY1" fmla="*/ 7144 h 28575"/>
                      <a:gd name="connsiteX2" fmla="*/ 7144 w 28575"/>
                      <a:gd name="connsiteY2" fmla="*/ 30328 h 28575"/>
                      <a:gd name="connsiteX3" fmla="*/ 21546 w 28575"/>
                      <a:gd name="connsiteY3" fmla="*/ 18850 h 28575"/>
                    </a:gdLst>
                    <a:ahLst/>
                    <a:cxnLst>
                      <a:cxn ang="0">
                        <a:pos x="connsiteX0" y="connsiteY0"/>
                      </a:cxn>
                      <a:cxn ang="0">
                        <a:pos x="connsiteX1" y="connsiteY1"/>
                      </a:cxn>
                      <a:cxn ang="0">
                        <a:pos x="connsiteX2" y="connsiteY2"/>
                      </a:cxn>
                      <a:cxn ang="0">
                        <a:pos x="connsiteX3" y="connsiteY3"/>
                      </a:cxn>
                    </a:cxnLst>
                    <a:rect l="l" t="t" r="r" b="b"/>
                    <a:pathLst>
                      <a:path w="28575" h="28575">
                        <a:moveTo>
                          <a:pt x="21546" y="18850"/>
                        </a:moveTo>
                        <a:cubicBezTo>
                          <a:pt x="21546" y="10878"/>
                          <a:pt x="13449" y="8553"/>
                          <a:pt x="7144" y="7144"/>
                        </a:cubicBezTo>
                        <a:lnTo>
                          <a:pt x="7144" y="30328"/>
                        </a:lnTo>
                        <a:cubicBezTo>
                          <a:pt x="14173" y="29851"/>
                          <a:pt x="21546" y="26556"/>
                          <a:pt x="21546" y="18850"/>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5" name="小红书平北职场PPT9-4"/>
                  <p:cNvSpPr/>
                  <p:nvPr/>
                </p:nvSpPr>
                <p:spPr>
                  <a:xfrm>
                    <a:off x="8300876" y="2837830"/>
                    <a:ext cx="19050" cy="28575"/>
                  </a:xfrm>
                  <a:custGeom>
                    <a:avLst/>
                    <a:gdLst>
                      <a:gd name="connsiteX0" fmla="*/ 20269 w 19050"/>
                      <a:gd name="connsiteY0" fmla="*/ 7144 h 28575"/>
                      <a:gd name="connsiteX1" fmla="*/ 7144 w 19050"/>
                      <a:gd name="connsiteY1" fmla="*/ 17097 h 28575"/>
                      <a:gd name="connsiteX2" fmla="*/ 20279 w 19050"/>
                      <a:gd name="connsiteY2" fmla="*/ 28099 h 28575"/>
                      <a:gd name="connsiteX3" fmla="*/ 20269 w 19050"/>
                      <a:gd name="connsiteY3" fmla="*/ 7144 h 28575"/>
                      <a:gd name="connsiteX4" fmla="*/ 20269 w 19050"/>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28575">
                        <a:moveTo>
                          <a:pt x="20269" y="7144"/>
                        </a:moveTo>
                        <a:cubicBezTo>
                          <a:pt x="12306" y="7372"/>
                          <a:pt x="7144" y="12068"/>
                          <a:pt x="7144" y="17097"/>
                        </a:cubicBezTo>
                        <a:cubicBezTo>
                          <a:pt x="7144" y="22955"/>
                          <a:pt x="11506" y="26346"/>
                          <a:pt x="20279" y="28099"/>
                        </a:cubicBezTo>
                        <a:lnTo>
                          <a:pt x="20269" y="7144"/>
                        </a:lnTo>
                        <a:lnTo>
                          <a:pt x="20269" y="7144"/>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6" name="小红书平北职场PPT9-5"/>
                  <p:cNvSpPr/>
                  <p:nvPr/>
                </p:nvSpPr>
                <p:spPr>
                  <a:xfrm>
                    <a:off x="8246460" y="2797968"/>
                    <a:ext cx="152400" cy="152400"/>
                  </a:xfrm>
                  <a:custGeom>
                    <a:avLst/>
                    <a:gdLst>
                      <a:gd name="connsiteX0" fmla="*/ 77972 w 152400"/>
                      <a:gd name="connsiteY0" fmla="*/ 148752 h 152400"/>
                      <a:gd name="connsiteX1" fmla="*/ 148780 w 152400"/>
                      <a:gd name="connsiteY1" fmla="*/ 77953 h 152400"/>
                      <a:gd name="connsiteX2" fmla="*/ 77972 w 152400"/>
                      <a:gd name="connsiteY2" fmla="*/ 7144 h 152400"/>
                      <a:gd name="connsiteX3" fmla="*/ 7144 w 152400"/>
                      <a:gd name="connsiteY3" fmla="*/ 77953 h 152400"/>
                      <a:gd name="connsiteX4" fmla="*/ 77972 w 152400"/>
                      <a:gd name="connsiteY4" fmla="*/ 148752 h 152400"/>
                      <a:gd name="connsiteX5" fmla="*/ 46834 w 152400"/>
                      <a:gd name="connsiteY5" fmla="*/ 59646 h 152400"/>
                      <a:gd name="connsiteX6" fmla="*/ 74695 w 152400"/>
                      <a:gd name="connsiteY6" fmla="*/ 35062 h 152400"/>
                      <a:gd name="connsiteX7" fmla="*/ 74695 w 152400"/>
                      <a:gd name="connsiteY7" fmla="*/ 28832 h 152400"/>
                      <a:gd name="connsiteX8" fmla="*/ 78191 w 152400"/>
                      <a:gd name="connsiteY8" fmla="*/ 24841 h 152400"/>
                      <a:gd name="connsiteX9" fmla="*/ 81715 w 152400"/>
                      <a:gd name="connsiteY9" fmla="*/ 28832 h 152400"/>
                      <a:gd name="connsiteX10" fmla="*/ 81715 w 152400"/>
                      <a:gd name="connsiteY10" fmla="*/ 35062 h 152400"/>
                      <a:gd name="connsiteX11" fmla="*/ 109585 w 152400"/>
                      <a:gd name="connsiteY11" fmla="*/ 52521 h 152400"/>
                      <a:gd name="connsiteX12" fmla="*/ 102203 w 152400"/>
                      <a:gd name="connsiteY12" fmla="*/ 59769 h 152400"/>
                      <a:gd name="connsiteX13" fmla="*/ 81724 w 152400"/>
                      <a:gd name="connsiteY13" fmla="*/ 47006 h 152400"/>
                      <a:gd name="connsiteX14" fmla="*/ 81724 w 152400"/>
                      <a:gd name="connsiteY14" fmla="*/ 69256 h 152400"/>
                      <a:gd name="connsiteX15" fmla="*/ 110871 w 152400"/>
                      <a:gd name="connsiteY15" fmla="*/ 95136 h 152400"/>
                      <a:gd name="connsiteX16" fmla="*/ 81724 w 152400"/>
                      <a:gd name="connsiteY16" fmla="*/ 119844 h 152400"/>
                      <a:gd name="connsiteX17" fmla="*/ 81724 w 152400"/>
                      <a:gd name="connsiteY17" fmla="*/ 127083 h 152400"/>
                      <a:gd name="connsiteX18" fmla="*/ 78200 w 152400"/>
                      <a:gd name="connsiteY18" fmla="*/ 131074 h 152400"/>
                      <a:gd name="connsiteX19" fmla="*/ 74705 w 152400"/>
                      <a:gd name="connsiteY19" fmla="*/ 127083 h 152400"/>
                      <a:gd name="connsiteX20" fmla="*/ 74705 w 152400"/>
                      <a:gd name="connsiteY20" fmla="*/ 119844 h 152400"/>
                      <a:gd name="connsiteX21" fmla="*/ 45091 w 152400"/>
                      <a:gd name="connsiteY21" fmla="*/ 98279 h 152400"/>
                      <a:gd name="connsiteX22" fmla="*/ 52340 w 152400"/>
                      <a:gd name="connsiteY22" fmla="*/ 90907 h 152400"/>
                      <a:gd name="connsiteX23" fmla="*/ 74714 w 152400"/>
                      <a:gd name="connsiteY23" fmla="*/ 107890 h 152400"/>
                      <a:gd name="connsiteX24" fmla="*/ 74714 w 152400"/>
                      <a:gd name="connsiteY24" fmla="*/ 83410 h 152400"/>
                      <a:gd name="connsiteX25" fmla="*/ 46834 w 152400"/>
                      <a:gd name="connsiteY25" fmla="*/ 5964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400" h="152400">
                        <a:moveTo>
                          <a:pt x="77972" y="148752"/>
                        </a:moveTo>
                        <a:cubicBezTo>
                          <a:pt x="117024" y="148752"/>
                          <a:pt x="148780" y="116986"/>
                          <a:pt x="148780" y="77953"/>
                        </a:cubicBezTo>
                        <a:cubicBezTo>
                          <a:pt x="148780" y="38919"/>
                          <a:pt x="117015" y="7144"/>
                          <a:pt x="77972" y="7144"/>
                        </a:cubicBezTo>
                        <a:cubicBezTo>
                          <a:pt x="38910" y="7144"/>
                          <a:pt x="7144" y="38910"/>
                          <a:pt x="7144" y="77953"/>
                        </a:cubicBezTo>
                        <a:cubicBezTo>
                          <a:pt x="7144" y="116986"/>
                          <a:pt x="38910" y="148752"/>
                          <a:pt x="77972" y="148752"/>
                        </a:cubicBezTo>
                        <a:close/>
                        <a:moveTo>
                          <a:pt x="46834" y="59646"/>
                        </a:moveTo>
                        <a:cubicBezTo>
                          <a:pt x="46834" y="43739"/>
                          <a:pt x="60065" y="35519"/>
                          <a:pt x="74695" y="35062"/>
                        </a:cubicBezTo>
                        <a:lnTo>
                          <a:pt x="74695" y="28832"/>
                        </a:lnTo>
                        <a:cubicBezTo>
                          <a:pt x="74695" y="26822"/>
                          <a:pt x="76210" y="24841"/>
                          <a:pt x="78191" y="24841"/>
                        </a:cubicBezTo>
                        <a:cubicBezTo>
                          <a:pt x="80191" y="24841"/>
                          <a:pt x="81715" y="26822"/>
                          <a:pt x="81715" y="28832"/>
                        </a:cubicBezTo>
                        <a:lnTo>
                          <a:pt x="81715" y="35062"/>
                        </a:lnTo>
                        <a:cubicBezTo>
                          <a:pt x="90830" y="35300"/>
                          <a:pt x="109585" y="41024"/>
                          <a:pt x="109585" y="52521"/>
                        </a:cubicBezTo>
                        <a:cubicBezTo>
                          <a:pt x="109585" y="57083"/>
                          <a:pt x="106175" y="59769"/>
                          <a:pt x="102203" y="59769"/>
                        </a:cubicBezTo>
                        <a:cubicBezTo>
                          <a:pt x="94574" y="59769"/>
                          <a:pt x="94698" y="47244"/>
                          <a:pt x="81724" y="47006"/>
                        </a:cubicBezTo>
                        <a:lnTo>
                          <a:pt x="81724" y="69256"/>
                        </a:lnTo>
                        <a:cubicBezTo>
                          <a:pt x="97193" y="72533"/>
                          <a:pt x="110871" y="77105"/>
                          <a:pt x="110871" y="95136"/>
                        </a:cubicBezTo>
                        <a:cubicBezTo>
                          <a:pt x="110871" y="110814"/>
                          <a:pt x="99165" y="118786"/>
                          <a:pt x="81724" y="119844"/>
                        </a:cubicBezTo>
                        <a:lnTo>
                          <a:pt x="81724" y="127083"/>
                        </a:lnTo>
                        <a:cubicBezTo>
                          <a:pt x="81724" y="129083"/>
                          <a:pt x="80200" y="131074"/>
                          <a:pt x="78200" y="131074"/>
                        </a:cubicBezTo>
                        <a:cubicBezTo>
                          <a:pt x="76219" y="131074"/>
                          <a:pt x="74705" y="129083"/>
                          <a:pt x="74705" y="127083"/>
                        </a:cubicBezTo>
                        <a:lnTo>
                          <a:pt x="74705" y="119844"/>
                        </a:lnTo>
                        <a:cubicBezTo>
                          <a:pt x="54921" y="119358"/>
                          <a:pt x="45091" y="107537"/>
                          <a:pt x="45091" y="98279"/>
                        </a:cubicBezTo>
                        <a:cubicBezTo>
                          <a:pt x="45091" y="93612"/>
                          <a:pt x="47911" y="90907"/>
                          <a:pt x="52340" y="90907"/>
                        </a:cubicBezTo>
                        <a:cubicBezTo>
                          <a:pt x="65456" y="90907"/>
                          <a:pt x="55264" y="107061"/>
                          <a:pt x="74714" y="107890"/>
                        </a:cubicBezTo>
                        <a:lnTo>
                          <a:pt x="74714" y="83410"/>
                        </a:lnTo>
                        <a:cubicBezTo>
                          <a:pt x="57350" y="80248"/>
                          <a:pt x="46834" y="72647"/>
                          <a:pt x="46834" y="59646"/>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7" name="小红书平北职场PPT9-6"/>
                  <p:cNvSpPr/>
                  <p:nvPr/>
                </p:nvSpPr>
                <p:spPr>
                  <a:xfrm>
                    <a:off x="7950833" y="3113370"/>
                    <a:ext cx="114300" cy="142875"/>
                  </a:xfrm>
                  <a:custGeom>
                    <a:avLst/>
                    <a:gdLst>
                      <a:gd name="connsiteX0" fmla="*/ 88535 w 114300"/>
                      <a:gd name="connsiteY0" fmla="*/ 7144 h 142875"/>
                      <a:gd name="connsiteX1" fmla="*/ 27489 w 114300"/>
                      <a:gd name="connsiteY1" fmla="*/ 7144 h 142875"/>
                      <a:gd name="connsiteX2" fmla="*/ 7144 w 114300"/>
                      <a:gd name="connsiteY2" fmla="*/ 27499 h 142875"/>
                      <a:gd name="connsiteX3" fmla="*/ 7144 w 114300"/>
                      <a:gd name="connsiteY3" fmla="*/ 119063 h 142875"/>
                      <a:gd name="connsiteX4" fmla="*/ 27489 w 114300"/>
                      <a:gd name="connsiteY4" fmla="*/ 139417 h 142875"/>
                      <a:gd name="connsiteX5" fmla="*/ 88535 w 114300"/>
                      <a:gd name="connsiteY5" fmla="*/ 139417 h 142875"/>
                      <a:gd name="connsiteX6" fmla="*/ 108880 w 114300"/>
                      <a:gd name="connsiteY6" fmla="*/ 119063 h 142875"/>
                      <a:gd name="connsiteX7" fmla="*/ 108880 w 114300"/>
                      <a:gd name="connsiteY7" fmla="*/ 27499 h 142875"/>
                      <a:gd name="connsiteX8" fmla="*/ 88535 w 114300"/>
                      <a:gd name="connsiteY8" fmla="*/ 714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42875">
                        <a:moveTo>
                          <a:pt x="88535" y="7144"/>
                        </a:moveTo>
                        <a:lnTo>
                          <a:pt x="27489" y="7144"/>
                        </a:lnTo>
                        <a:cubicBezTo>
                          <a:pt x="16250" y="7144"/>
                          <a:pt x="7144" y="16259"/>
                          <a:pt x="7144" y="27499"/>
                        </a:cubicBezTo>
                        <a:lnTo>
                          <a:pt x="7144" y="119063"/>
                        </a:lnTo>
                        <a:cubicBezTo>
                          <a:pt x="7153" y="130321"/>
                          <a:pt x="16269" y="139417"/>
                          <a:pt x="27489" y="139417"/>
                        </a:cubicBezTo>
                        <a:lnTo>
                          <a:pt x="88535" y="139417"/>
                        </a:lnTo>
                        <a:cubicBezTo>
                          <a:pt x="99774" y="139417"/>
                          <a:pt x="108880" y="130321"/>
                          <a:pt x="108880" y="119063"/>
                        </a:cubicBezTo>
                        <a:lnTo>
                          <a:pt x="108880" y="27499"/>
                        </a:lnTo>
                        <a:cubicBezTo>
                          <a:pt x="108890" y="16259"/>
                          <a:pt x="99784" y="7144"/>
                          <a:pt x="88535" y="7144"/>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8" name="小红书平北职场PPT9-7"/>
                  <p:cNvSpPr/>
                  <p:nvPr/>
                </p:nvSpPr>
                <p:spPr>
                  <a:xfrm>
                    <a:off x="8108605" y="3042161"/>
                    <a:ext cx="114300" cy="209550"/>
                  </a:xfrm>
                  <a:custGeom>
                    <a:avLst/>
                    <a:gdLst>
                      <a:gd name="connsiteX0" fmla="*/ 88535 w 114300"/>
                      <a:gd name="connsiteY0" fmla="*/ 7144 h 209550"/>
                      <a:gd name="connsiteX1" fmla="*/ 27489 w 114300"/>
                      <a:gd name="connsiteY1" fmla="*/ 7144 h 209550"/>
                      <a:gd name="connsiteX2" fmla="*/ 7144 w 114300"/>
                      <a:gd name="connsiteY2" fmla="*/ 27499 h 209550"/>
                      <a:gd name="connsiteX3" fmla="*/ 7144 w 114300"/>
                      <a:gd name="connsiteY3" fmla="*/ 190290 h 209550"/>
                      <a:gd name="connsiteX4" fmla="*/ 27489 w 114300"/>
                      <a:gd name="connsiteY4" fmla="*/ 210645 h 209550"/>
                      <a:gd name="connsiteX5" fmla="*/ 88535 w 114300"/>
                      <a:gd name="connsiteY5" fmla="*/ 210645 h 209550"/>
                      <a:gd name="connsiteX6" fmla="*/ 108890 w 114300"/>
                      <a:gd name="connsiteY6" fmla="*/ 190290 h 209550"/>
                      <a:gd name="connsiteX7" fmla="*/ 108890 w 114300"/>
                      <a:gd name="connsiteY7" fmla="*/ 27470 h 209550"/>
                      <a:gd name="connsiteX8" fmla="*/ 88535 w 114300"/>
                      <a:gd name="connsiteY8" fmla="*/ 7144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209550">
                        <a:moveTo>
                          <a:pt x="88535" y="7144"/>
                        </a:moveTo>
                        <a:lnTo>
                          <a:pt x="27489" y="7144"/>
                        </a:lnTo>
                        <a:cubicBezTo>
                          <a:pt x="16250" y="7144"/>
                          <a:pt x="7144" y="16259"/>
                          <a:pt x="7144" y="27499"/>
                        </a:cubicBezTo>
                        <a:lnTo>
                          <a:pt x="7144" y="190290"/>
                        </a:lnTo>
                        <a:cubicBezTo>
                          <a:pt x="7144" y="201549"/>
                          <a:pt x="16259" y="210645"/>
                          <a:pt x="27489" y="210645"/>
                        </a:cubicBezTo>
                        <a:lnTo>
                          <a:pt x="88535" y="210645"/>
                        </a:lnTo>
                        <a:cubicBezTo>
                          <a:pt x="99774" y="210645"/>
                          <a:pt x="108890" y="201549"/>
                          <a:pt x="108890" y="190290"/>
                        </a:cubicBezTo>
                        <a:lnTo>
                          <a:pt x="108890" y="27470"/>
                        </a:lnTo>
                        <a:cubicBezTo>
                          <a:pt x="108890" y="16259"/>
                          <a:pt x="99784" y="7144"/>
                          <a:pt x="88535" y="7144"/>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9" name="小红书平北职场PPT9-8"/>
                  <p:cNvSpPr/>
                  <p:nvPr/>
                </p:nvSpPr>
                <p:spPr>
                  <a:xfrm>
                    <a:off x="8266405" y="2960760"/>
                    <a:ext cx="114300" cy="295275"/>
                  </a:xfrm>
                  <a:custGeom>
                    <a:avLst/>
                    <a:gdLst>
                      <a:gd name="connsiteX0" fmla="*/ 88535 w 114300"/>
                      <a:gd name="connsiteY0" fmla="*/ 7144 h 295275"/>
                      <a:gd name="connsiteX1" fmla="*/ 27499 w 114300"/>
                      <a:gd name="connsiteY1" fmla="*/ 7144 h 295275"/>
                      <a:gd name="connsiteX2" fmla="*/ 7144 w 114300"/>
                      <a:gd name="connsiteY2" fmla="*/ 27489 h 295275"/>
                      <a:gd name="connsiteX3" fmla="*/ 7144 w 114300"/>
                      <a:gd name="connsiteY3" fmla="*/ 271672 h 295275"/>
                      <a:gd name="connsiteX4" fmla="*/ 27499 w 114300"/>
                      <a:gd name="connsiteY4" fmla="*/ 292027 h 295275"/>
                      <a:gd name="connsiteX5" fmla="*/ 88535 w 114300"/>
                      <a:gd name="connsiteY5" fmla="*/ 292027 h 295275"/>
                      <a:gd name="connsiteX6" fmla="*/ 108890 w 114300"/>
                      <a:gd name="connsiteY6" fmla="*/ 271672 h 295275"/>
                      <a:gd name="connsiteX7" fmla="*/ 108890 w 114300"/>
                      <a:gd name="connsiteY7" fmla="*/ 27499 h 295275"/>
                      <a:gd name="connsiteX8" fmla="*/ 88535 w 114300"/>
                      <a:gd name="connsiteY8" fmla="*/ 7144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295275">
                        <a:moveTo>
                          <a:pt x="88535" y="7144"/>
                        </a:moveTo>
                        <a:lnTo>
                          <a:pt x="27499" y="7144"/>
                        </a:lnTo>
                        <a:cubicBezTo>
                          <a:pt x="16250" y="7144"/>
                          <a:pt x="7144" y="16259"/>
                          <a:pt x="7144" y="27489"/>
                        </a:cubicBezTo>
                        <a:lnTo>
                          <a:pt x="7144" y="271672"/>
                        </a:lnTo>
                        <a:cubicBezTo>
                          <a:pt x="7144" y="282931"/>
                          <a:pt x="16259" y="292027"/>
                          <a:pt x="27499" y="292027"/>
                        </a:cubicBezTo>
                        <a:lnTo>
                          <a:pt x="88535" y="292027"/>
                        </a:lnTo>
                        <a:cubicBezTo>
                          <a:pt x="99784" y="292027"/>
                          <a:pt x="108890" y="282931"/>
                          <a:pt x="108890" y="271672"/>
                        </a:cubicBezTo>
                        <a:lnTo>
                          <a:pt x="108890" y="27499"/>
                        </a:lnTo>
                        <a:cubicBezTo>
                          <a:pt x="108899" y="16259"/>
                          <a:pt x="99784" y="7144"/>
                          <a:pt x="88535" y="7144"/>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50" name="小红书平北职场PPT9-9"/>
                  <p:cNvSpPr/>
                  <p:nvPr/>
                </p:nvSpPr>
                <p:spPr>
                  <a:xfrm>
                    <a:off x="7945828" y="2891701"/>
                    <a:ext cx="295275" cy="180975"/>
                  </a:xfrm>
                  <a:custGeom>
                    <a:avLst/>
                    <a:gdLst>
                      <a:gd name="connsiteX0" fmla="*/ 287087 w 295275"/>
                      <a:gd name="connsiteY0" fmla="*/ 17920 h 180975"/>
                      <a:gd name="connsiteX1" fmla="*/ 236557 w 295275"/>
                      <a:gd name="connsiteY1" fmla="*/ 7356 h 180975"/>
                      <a:gd name="connsiteX2" fmla="*/ 226337 w 295275"/>
                      <a:gd name="connsiteY2" fmla="*/ 11205 h 180975"/>
                      <a:gd name="connsiteX3" fmla="*/ 225499 w 295275"/>
                      <a:gd name="connsiteY3" fmla="*/ 22101 h 180975"/>
                      <a:gd name="connsiteX4" fmla="*/ 236700 w 295275"/>
                      <a:gd name="connsiteY4" fmla="*/ 43161 h 180975"/>
                      <a:gd name="connsiteX5" fmla="*/ 12653 w 295275"/>
                      <a:gd name="connsiteY5" fmla="*/ 158728 h 180975"/>
                      <a:gd name="connsiteX6" fmla="*/ 8281 w 295275"/>
                      <a:gd name="connsiteY6" fmla="*/ 172425 h 180975"/>
                      <a:gd name="connsiteX7" fmla="*/ 17330 w 295275"/>
                      <a:gd name="connsiteY7" fmla="*/ 177930 h 180975"/>
                      <a:gd name="connsiteX8" fmla="*/ 21988 w 295275"/>
                      <a:gd name="connsiteY8" fmla="*/ 176797 h 180975"/>
                      <a:gd name="connsiteX9" fmla="*/ 246244 w 295275"/>
                      <a:gd name="connsiteY9" fmla="*/ 61116 h 180975"/>
                      <a:gd name="connsiteX10" fmla="*/ 256522 w 295275"/>
                      <a:gd name="connsiteY10" fmla="*/ 80432 h 180975"/>
                      <a:gd name="connsiteX11" fmla="*/ 265504 w 295275"/>
                      <a:gd name="connsiteY11" fmla="*/ 85833 h 180975"/>
                      <a:gd name="connsiteX12" fmla="*/ 266018 w 295275"/>
                      <a:gd name="connsiteY12" fmla="*/ 85814 h 180975"/>
                      <a:gd name="connsiteX13" fmla="*/ 274924 w 295275"/>
                      <a:gd name="connsiteY13" fmla="*/ 79499 h 180975"/>
                      <a:gd name="connsiteX14" fmla="*/ 294441 w 295275"/>
                      <a:gd name="connsiteY14" fmla="*/ 31702 h 180975"/>
                      <a:gd name="connsiteX15" fmla="*/ 294003 w 295275"/>
                      <a:gd name="connsiteY15" fmla="*/ 23082 h 180975"/>
                      <a:gd name="connsiteX16" fmla="*/ 287087 w 295275"/>
                      <a:gd name="connsiteY16" fmla="*/ 1792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5275" h="180975">
                        <a:moveTo>
                          <a:pt x="287087" y="17920"/>
                        </a:moveTo>
                        <a:lnTo>
                          <a:pt x="236557" y="7356"/>
                        </a:lnTo>
                        <a:cubicBezTo>
                          <a:pt x="232690" y="6556"/>
                          <a:pt x="228709" y="8052"/>
                          <a:pt x="226337" y="11205"/>
                        </a:cubicBezTo>
                        <a:cubicBezTo>
                          <a:pt x="223965" y="14367"/>
                          <a:pt x="223641" y="18605"/>
                          <a:pt x="225499" y="22101"/>
                        </a:cubicBezTo>
                        <a:lnTo>
                          <a:pt x="236700" y="43161"/>
                        </a:lnTo>
                        <a:lnTo>
                          <a:pt x="12653" y="158728"/>
                        </a:lnTo>
                        <a:cubicBezTo>
                          <a:pt x="7662" y="161309"/>
                          <a:pt x="5700" y="167453"/>
                          <a:pt x="8281" y="172425"/>
                        </a:cubicBezTo>
                        <a:cubicBezTo>
                          <a:pt x="10091" y="175920"/>
                          <a:pt x="13644" y="177930"/>
                          <a:pt x="17330" y="177930"/>
                        </a:cubicBezTo>
                        <a:cubicBezTo>
                          <a:pt x="18901" y="177930"/>
                          <a:pt x="20492" y="177578"/>
                          <a:pt x="21988" y="176797"/>
                        </a:cubicBezTo>
                        <a:lnTo>
                          <a:pt x="246244" y="61116"/>
                        </a:lnTo>
                        <a:lnTo>
                          <a:pt x="256522" y="80432"/>
                        </a:lnTo>
                        <a:cubicBezTo>
                          <a:pt x="258293" y="83766"/>
                          <a:pt x="261751" y="85833"/>
                          <a:pt x="265504" y="85833"/>
                        </a:cubicBezTo>
                        <a:cubicBezTo>
                          <a:pt x="265675" y="85833"/>
                          <a:pt x="265837" y="85823"/>
                          <a:pt x="266018" y="85814"/>
                        </a:cubicBezTo>
                        <a:cubicBezTo>
                          <a:pt x="269961" y="85614"/>
                          <a:pt x="273438" y="83156"/>
                          <a:pt x="274924" y="79499"/>
                        </a:cubicBezTo>
                        <a:lnTo>
                          <a:pt x="294441" y="31702"/>
                        </a:lnTo>
                        <a:cubicBezTo>
                          <a:pt x="295584" y="28902"/>
                          <a:pt x="295431" y="25749"/>
                          <a:pt x="294003" y="23082"/>
                        </a:cubicBezTo>
                        <a:cubicBezTo>
                          <a:pt x="292564" y="20444"/>
                          <a:pt x="290040" y="18548"/>
                          <a:pt x="287087" y="17920"/>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grpSp>
          </p:grpSp>
          <p:grpSp>
            <p:nvGrpSpPr>
              <p:cNvPr id="37" name="组合 36"/>
              <p:cNvGrpSpPr/>
              <p:nvPr/>
            </p:nvGrpSpPr>
            <p:grpSpPr>
              <a:xfrm>
                <a:off x="711845" y="5174916"/>
                <a:ext cx="1275375" cy="1198913"/>
                <a:chOff x="538648" y="5207168"/>
                <a:chExt cx="1275375" cy="1198913"/>
              </a:xfrm>
            </p:grpSpPr>
            <p:sp>
              <p:nvSpPr>
                <p:cNvPr id="38" name="小红书平北职场PPT9-10"/>
                <p:cNvSpPr txBox="1"/>
                <p:nvPr/>
              </p:nvSpPr>
              <p:spPr>
                <a:xfrm>
                  <a:off x="538648" y="5207168"/>
                  <a:ext cx="1275375" cy="180947"/>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思源黑体 CN Heavy" panose="020B0A00000000000000" charset="-122"/>
                      <a:ea typeface="+mj-ea"/>
                      <a:cs typeface="思源黑体 CN Normal" panose="020B0400000000000000" pitchFamily="34" charset="-122"/>
                    </a:rPr>
                    <a:t>运营总支出增</a:t>
                  </a:r>
                  <a:endParaRPr lang="zh-CN" altLang="en-US" sz="1200" dirty="0">
                    <a:solidFill>
                      <a:schemeClr val="bg1"/>
                    </a:solidFill>
                    <a:latin typeface="思源黑体 CN Heavy" panose="020B0A00000000000000" charset="-122"/>
                    <a:ea typeface="+mj-ea"/>
                    <a:cs typeface="思源黑体 CN Normal" panose="020B0400000000000000" pitchFamily="34" charset="-122"/>
                  </a:endParaRPr>
                </a:p>
              </p:txBody>
            </p:sp>
            <p:sp>
              <p:nvSpPr>
                <p:cNvPr id="39" name="小红书平北职场PPT9-11"/>
                <p:cNvSpPr txBox="1"/>
                <p:nvPr/>
              </p:nvSpPr>
              <p:spPr>
                <a:xfrm>
                  <a:off x="538648" y="5451807"/>
                  <a:ext cx="1150956" cy="439073"/>
                </a:xfrm>
                <a:prstGeom prst="rect">
                  <a:avLst/>
                </a:prstGeom>
                <a:noFill/>
              </p:spPr>
              <p:txBody>
                <a:bodyPr wrap="none" lIns="0" tIns="0" rIns="0" bIns="0" rtlCol="0">
                  <a:spAutoFit/>
                </a:bodyPr>
                <a:lstStyle/>
                <a:p>
                  <a:r>
                    <a:rPr lang="en-US" altLang="zh-CN" sz="3200" dirty="0">
                      <a:solidFill>
                        <a:schemeClr val="bg1"/>
                      </a:solidFill>
                      <a:latin typeface="+mj-ea"/>
                      <a:ea typeface="+mj-ea"/>
                      <a:cs typeface="思源黑体 CN Normal" panose="020B0400000000000000" pitchFamily="34" charset="-122"/>
                    </a:rPr>
                    <a:t>187</a:t>
                  </a:r>
                  <a:r>
                    <a:rPr lang="zh-CN" altLang="en-US" sz="1400" dirty="0">
                      <a:solidFill>
                        <a:schemeClr val="bg1"/>
                      </a:solidFill>
                      <a:latin typeface="思源黑体 CN Heavy" panose="020B0A00000000000000" charset="-122"/>
                      <a:ea typeface="+mj-ea"/>
                      <a:cs typeface="思源黑体 CN Normal" panose="020B0400000000000000" pitchFamily="34" charset="-122"/>
                    </a:rPr>
                    <a:t> 万元</a:t>
                  </a:r>
                  <a:endParaRPr lang="zh-CN" altLang="en-US" sz="1600" dirty="0">
                    <a:solidFill>
                      <a:schemeClr val="bg1"/>
                    </a:solidFill>
                    <a:latin typeface="思源黑体 CN Heavy" panose="020B0A00000000000000" charset="-122"/>
                    <a:ea typeface="+mj-ea"/>
                    <a:cs typeface="思源黑体 CN Normal" panose="020B0400000000000000" pitchFamily="34" charset="-122"/>
                  </a:endParaRPr>
                </a:p>
              </p:txBody>
            </p:sp>
            <p:sp>
              <p:nvSpPr>
                <p:cNvPr id="40" name="小红书平北职场PPT9-12"/>
                <p:cNvSpPr txBox="1"/>
                <p:nvPr/>
              </p:nvSpPr>
              <p:spPr>
                <a:xfrm>
                  <a:off x="538648" y="5973590"/>
                  <a:ext cx="1275375" cy="432491"/>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mn-ea"/>
                      <a:cs typeface="思源黑体 CN Normal" panose="020B0400000000000000" pitchFamily="34" charset="-122"/>
                    </a:rPr>
                    <a:t>反映整体成本控制面临压力</a:t>
                  </a:r>
                  <a:endParaRPr lang="zh-CN" altLang="en-US" sz="1200" dirty="0">
                    <a:solidFill>
                      <a:schemeClr val="bg1"/>
                    </a:solidFill>
                    <a:latin typeface="+mn-ea"/>
                    <a:cs typeface="思源黑体 CN Normal" panose="020B0400000000000000" pitchFamily="34" charset="-122"/>
                  </a:endParaRPr>
                </a:p>
              </p:txBody>
            </p:sp>
          </p:grpSp>
        </p:grpSp>
        <p:grpSp>
          <p:nvGrpSpPr>
            <p:cNvPr id="23" name="组合 22"/>
            <p:cNvGrpSpPr/>
            <p:nvPr/>
          </p:nvGrpSpPr>
          <p:grpSpPr>
            <a:xfrm>
              <a:off x="9594869" y="2842641"/>
              <a:ext cx="2185208" cy="1531066"/>
              <a:chOff x="2487926" y="4992240"/>
              <a:chExt cx="2185208" cy="1531066"/>
            </a:xfrm>
          </p:grpSpPr>
          <p:grpSp>
            <p:nvGrpSpPr>
              <p:cNvPr id="24" name="组合 23"/>
              <p:cNvGrpSpPr/>
              <p:nvPr/>
            </p:nvGrpSpPr>
            <p:grpSpPr>
              <a:xfrm>
                <a:off x="2487926" y="4992240"/>
                <a:ext cx="2185208" cy="1531066"/>
                <a:chOff x="2487926" y="4992240"/>
                <a:chExt cx="2185208" cy="1531066"/>
              </a:xfrm>
            </p:grpSpPr>
            <p:sp>
              <p:nvSpPr>
                <p:cNvPr id="29" name="小红书平北职场PPT9-13"/>
                <p:cNvSpPr/>
                <p:nvPr/>
              </p:nvSpPr>
              <p:spPr>
                <a:xfrm>
                  <a:off x="2487926" y="4992240"/>
                  <a:ext cx="2185208" cy="1531066"/>
                </a:xfrm>
                <a:prstGeom prst="roundRect">
                  <a:avLst>
                    <a:gd name="adj" fmla="val 4811"/>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30" name="小红书平北职场PPT9-14"/>
                <p:cNvSpPr/>
                <p:nvPr/>
              </p:nvSpPr>
              <p:spPr>
                <a:xfrm>
                  <a:off x="2668212" y="5173319"/>
                  <a:ext cx="36000" cy="1209330"/>
                </a:xfrm>
                <a:prstGeom prst="roundRect">
                  <a:avLst>
                    <a:gd name="adj" fmla="val 0"/>
                  </a:avLst>
                </a:prstGeom>
                <a:solidFill>
                  <a:schemeClr val="bg1">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31" name="Graphic 6"/>
                <p:cNvGrpSpPr/>
                <p:nvPr/>
              </p:nvGrpSpPr>
              <p:grpSpPr>
                <a:xfrm flipH="1">
                  <a:off x="3876638" y="5184028"/>
                  <a:ext cx="506990" cy="506990"/>
                  <a:chOff x="9542585" y="5867400"/>
                  <a:chExt cx="4876800" cy="4876800"/>
                </a:xfrm>
                <a:gradFill flip="none" rotWithShape="1">
                  <a:gsLst>
                    <a:gs pos="0">
                      <a:schemeClr val="bg1">
                        <a:alpha val="50000"/>
                      </a:schemeClr>
                    </a:gs>
                    <a:gs pos="100000">
                      <a:schemeClr val="bg1">
                        <a:alpha val="0"/>
                      </a:schemeClr>
                    </a:gs>
                  </a:gsLst>
                  <a:lin ang="2700000" scaled="1"/>
                  <a:tileRect/>
                </a:gradFill>
              </p:grpSpPr>
              <p:sp>
                <p:nvSpPr>
                  <p:cNvPr id="32" name="小红书平北职场PPT9-15"/>
                  <p:cNvSpPr/>
                  <p:nvPr/>
                </p:nvSpPr>
                <p:spPr>
                  <a:xfrm>
                    <a:off x="9536975" y="5861028"/>
                    <a:ext cx="3743325" cy="2038350"/>
                  </a:xfrm>
                  <a:custGeom>
                    <a:avLst/>
                    <a:gdLst>
                      <a:gd name="connsiteX0" fmla="*/ 3740944 w 3743325"/>
                      <a:gd name="connsiteY0" fmla="*/ 7144 h 2038350"/>
                      <a:gd name="connsiteX1" fmla="*/ 7144 w 3743325"/>
                      <a:gd name="connsiteY1" fmla="*/ 7144 h 2038350"/>
                      <a:gd name="connsiteX2" fmla="*/ 7144 w 3743325"/>
                      <a:gd name="connsiteY2" fmla="*/ 2035969 h 2038350"/>
                      <a:gd name="connsiteX3" fmla="*/ 3740944 w 3743325"/>
                      <a:gd name="connsiteY3" fmla="*/ 2035969 h 2038350"/>
                      <a:gd name="connsiteX4" fmla="*/ 1159669 w 3743325"/>
                      <a:gd name="connsiteY4" fmla="*/ 1159669 h 2038350"/>
                      <a:gd name="connsiteX5" fmla="*/ 873919 w 3743325"/>
                      <a:gd name="connsiteY5" fmla="*/ 1159669 h 2038350"/>
                      <a:gd name="connsiteX6" fmla="*/ 873919 w 3743325"/>
                      <a:gd name="connsiteY6" fmla="*/ 873919 h 2038350"/>
                      <a:gd name="connsiteX7" fmla="*/ 1159669 w 3743325"/>
                      <a:gd name="connsiteY7" fmla="*/ 873919 h 2038350"/>
                      <a:gd name="connsiteX8" fmla="*/ 1874044 w 3743325"/>
                      <a:gd name="connsiteY8" fmla="*/ 1445419 h 2038350"/>
                      <a:gd name="connsiteX9" fmla="*/ 1445419 w 3743325"/>
                      <a:gd name="connsiteY9" fmla="*/ 1016794 h 2038350"/>
                      <a:gd name="connsiteX10" fmla="*/ 1874044 w 3743325"/>
                      <a:gd name="connsiteY10" fmla="*/ 588169 h 2038350"/>
                      <a:gd name="connsiteX11" fmla="*/ 2302669 w 3743325"/>
                      <a:gd name="connsiteY11" fmla="*/ 1016794 h 2038350"/>
                      <a:gd name="connsiteX12" fmla="*/ 1874044 w 3743325"/>
                      <a:gd name="connsiteY12" fmla="*/ 1445419 h 2038350"/>
                      <a:gd name="connsiteX13" fmla="*/ 2874169 w 3743325"/>
                      <a:gd name="connsiteY13" fmla="*/ 1159669 h 2038350"/>
                      <a:gd name="connsiteX14" fmla="*/ 2588419 w 3743325"/>
                      <a:gd name="connsiteY14" fmla="*/ 1159669 h 2038350"/>
                      <a:gd name="connsiteX15" fmla="*/ 2588419 w 3743325"/>
                      <a:gd name="connsiteY15" fmla="*/ 873919 h 2038350"/>
                      <a:gd name="connsiteX16" fmla="*/ 2874169 w 3743325"/>
                      <a:gd name="connsiteY16" fmla="*/ 873919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43325" h="2038350">
                        <a:moveTo>
                          <a:pt x="3740944" y="7144"/>
                        </a:moveTo>
                        <a:lnTo>
                          <a:pt x="7144" y="7144"/>
                        </a:lnTo>
                        <a:lnTo>
                          <a:pt x="7144" y="2035969"/>
                        </a:lnTo>
                        <a:lnTo>
                          <a:pt x="3740944" y="2035969"/>
                        </a:lnTo>
                        <a:close/>
                        <a:moveTo>
                          <a:pt x="1159669" y="1159669"/>
                        </a:moveTo>
                        <a:lnTo>
                          <a:pt x="873919" y="1159669"/>
                        </a:lnTo>
                        <a:lnTo>
                          <a:pt x="873919" y="873919"/>
                        </a:lnTo>
                        <a:lnTo>
                          <a:pt x="1159669" y="873919"/>
                        </a:lnTo>
                        <a:close/>
                        <a:moveTo>
                          <a:pt x="1874044" y="1445419"/>
                        </a:moveTo>
                        <a:cubicBezTo>
                          <a:pt x="1637690" y="1445419"/>
                          <a:pt x="1445419" y="1253147"/>
                          <a:pt x="1445419" y="1016794"/>
                        </a:cubicBezTo>
                        <a:cubicBezTo>
                          <a:pt x="1445419" y="780440"/>
                          <a:pt x="1637690" y="588169"/>
                          <a:pt x="1874044" y="588169"/>
                        </a:cubicBezTo>
                        <a:cubicBezTo>
                          <a:pt x="2110397" y="588169"/>
                          <a:pt x="2302669" y="780440"/>
                          <a:pt x="2302669" y="1016794"/>
                        </a:cubicBezTo>
                        <a:cubicBezTo>
                          <a:pt x="2302669" y="1253147"/>
                          <a:pt x="2110407" y="1445419"/>
                          <a:pt x="1874044" y="1445419"/>
                        </a:cubicBezTo>
                        <a:close/>
                        <a:moveTo>
                          <a:pt x="2874169" y="1159669"/>
                        </a:moveTo>
                        <a:lnTo>
                          <a:pt x="2588419" y="1159669"/>
                        </a:lnTo>
                        <a:lnTo>
                          <a:pt x="2588419" y="873919"/>
                        </a:lnTo>
                        <a:lnTo>
                          <a:pt x="2874169" y="873919"/>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33" name="小红书平北职场PPT9-16"/>
                  <p:cNvSpPr/>
                  <p:nvPr/>
                </p:nvSpPr>
                <p:spPr>
                  <a:xfrm>
                    <a:off x="11261000" y="6727803"/>
                    <a:ext cx="295275" cy="295275"/>
                  </a:xfrm>
                  <a:custGeom>
                    <a:avLst/>
                    <a:gdLst>
                      <a:gd name="connsiteX0" fmla="*/ 292894 w 295275"/>
                      <a:gd name="connsiteY0" fmla="*/ 150019 h 295275"/>
                      <a:gd name="connsiteX1" fmla="*/ 150019 w 295275"/>
                      <a:gd name="connsiteY1" fmla="*/ 292894 h 295275"/>
                      <a:gd name="connsiteX2" fmla="*/ 7144 w 295275"/>
                      <a:gd name="connsiteY2" fmla="*/ 150019 h 295275"/>
                      <a:gd name="connsiteX3" fmla="*/ 150019 w 295275"/>
                      <a:gd name="connsiteY3" fmla="*/ 7144 h 295275"/>
                      <a:gd name="connsiteX4" fmla="*/ 292894 w 295275"/>
                      <a:gd name="connsiteY4" fmla="*/ 150019 h 29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5" h="295275">
                        <a:moveTo>
                          <a:pt x="292894" y="150019"/>
                        </a:moveTo>
                        <a:cubicBezTo>
                          <a:pt x="292894" y="228926"/>
                          <a:pt x="228926" y="292894"/>
                          <a:pt x="150019" y="292894"/>
                        </a:cubicBezTo>
                        <a:cubicBezTo>
                          <a:pt x="71111" y="292894"/>
                          <a:pt x="7144" y="228926"/>
                          <a:pt x="7144" y="150019"/>
                        </a:cubicBezTo>
                        <a:cubicBezTo>
                          <a:pt x="7144" y="71111"/>
                          <a:pt x="71111" y="7144"/>
                          <a:pt x="150019" y="7144"/>
                        </a:cubicBezTo>
                        <a:cubicBezTo>
                          <a:pt x="228926" y="7144"/>
                          <a:pt x="292894" y="71111"/>
                          <a:pt x="292894" y="150019"/>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34" name="小红书平北职场PPT9-17"/>
                  <p:cNvSpPr/>
                  <p:nvPr/>
                </p:nvSpPr>
                <p:spPr>
                  <a:xfrm>
                    <a:off x="9535441" y="8261252"/>
                    <a:ext cx="4200525" cy="1828800"/>
                  </a:xfrm>
                  <a:custGeom>
                    <a:avLst/>
                    <a:gdLst>
                      <a:gd name="connsiteX0" fmla="*/ 2463022 w 4200525"/>
                      <a:gd name="connsiteY0" fmla="*/ 1788775 h 1828800"/>
                      <a:gd name="connsiteX1" fmla="*/ 3134754 w 4200525"/>
                      <a:gd name="connsiteY1" fmla="*/ 1822627 h 1828800"/>
                      <a:gd name="connsiteX2" fmla="*/ 4197287 w 4200525"/>
                      <a:gd name="connsiteY2" fmla="*/ 760094 h 1828800"/>
                      <a:gd name="connsiteX3" fmla="*/ 3937264 w 4200525"/>
                      <a:gd name="connsiteY3" fmla="*/ 500100 h 1828800"/>
                      <a:gd name="connsiteX4" fmla="*/ 3230147 w 4200525"/>
                      <a:gd name="connsiteY4" fmla="*/ 207235 h 1828800"/>
                      <a:gd name="connsiteX5" fmla="*/ 2151802 w 4200525"/>
                      <a:gd name="connsiteY5" fmla="*/ 207235 h 1828800"/>
                      <a:gd name="connsiteX6" fmla="*/ 1723177 w 4200525"/>
                      <a:gd name="connsiteY6" fmla="*/ 635860 h 1828800"/>
                      <a:gd name="connsiteX7" fmla="*/ 1723177 w 4200525"/>
                      <a:gd name="connsiteY7" fmla="*/ 778735 h 1828800"/>
                      <a:gd name="connsiteX8" fmla="*/ 2634082 w 4200525"/>
                      <a:gd name="connsiteY8" fmla="*/ 778735 h 1828800"/>
                      <a:gd name="connsiteX9" fmla="*/ 3264884 w 4200525"/>
                      <a:gd name="connsiteY9" fmla="*/ 1039930 h 1828800"/>
                      <a:gd name="connsiteX10" fmla="*/ 3062850 w 4200525"/>
                      <a:gd name="connsiteY10" fmla="*/ 1241964 h 1828800"/>
                      <a:gd name="connsiteX11" fmla="*/ 2634082 w 4200525"/>
                      <a:gd name="connsiteY11" fmla="*/ 1064485 h 1828800"/>
                      <a:gd name="connsiteX12" fmla="*/ 1653835 w 4200525"/>
                      <a:gd name="connsiteY12" fmla="*/ 1064485 h 1828800"/>
                      <a:gd name="connsiteX13" fmla="*/ 738121 w 4200525"/>
                      <a:gd name="connsiteY13" fmla="*/ 148704 h 1828800"/>
                      <a:gd name="connsiteX14" fmla="*/ 111595 w 4200525"/>
                      <a:gd name="connsiteY14" fmla="*/ 121510 h 1828800"/>
                      <a:gd name="connsiteX15" fmla="*/ 7144 w 4200525"/>
                      <a:gd name="connsiteY15" fmla="*/ 225932 h 1828800"/>
                      <a:gd name="connsiteX16" fmla="*/ 1326223 w 4200525"/>
                      <a:gd name="connsiteY16" fmla="*/ 1545021 h 1828800"/>
                      <a:gd name="connsiteX17" fmla="*/ 2463022 w 4200525"/>
                      <a:gd name="connsiteY17" fmla="*/ 1788775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00525" h="1828800">
                        <a:moveTo>
                          <a:pt x="2463022" y="1788775"/>
                        </a:moveTo>
                        <a:cubicBezTo>
                          <a:pt x="2710386" y="1777907"/>
                          <a:pt x="2947159" y="1768859"/>
                          <a:pt x="3134754" y="1822627"/>
                        </a:cubicBezTo>
                        <a:lnTo>
                          <a:pt x="4197287" y="760094"/>
                        </a:lnTo>
                        <a:lnTo>
                          <a:pt x="3937264" y="500100"/>
                        </a:lnTo>
                        <a:cubicBezTo>
                          <a:pt x="3749726" y="312572"/>
                          <a:pt x="3495370" y="207235"/>
                          <a:pt x="3230147" y="207235"/>
                        </a:cubicBezTo>
                        <a:lnTo>
                          <a:pt x="2151802" y="207235"/>
                        </a:lnTo>
                        <a:cubicBezTo>
                          <a:pt x="1915077" y="207235"/>
                          <a:pt x="1723177" y="399135"/>
                          <a:pt x="1723177" y="635860"/>
                        </a:cubicBezTo>
                        <a:lnTo>
                          <a:pt x="1723177" y="778735"/>
                        </a:lnTo>
                        <a:lnTo>
                          <a:pt x="2634082" y="778735"/>
                        </a:lnTo>
                        <a:cubicBezTo>
                          <a:pt x="2872397" y="778735"/>
                          <a:pt x="3096473" y="871518"/>
                          <a:pt x="3264884" y="1039930"/>
                        </a:cubicBezTo>
                        <a:lnTo>
                          <a:pt x="3062850" y="1241964"/>
                        </a:lnTo>
                        <a:cubicBezTo>
                          <a:pt x="2948435" y="1127550"/>
                          <a:pt x="2796073" y="1064485"/>
                          <a:pt x="2634082" y="1064485"/>
                        </a:cubicBezTo>
                        <a:lnTo>
                          <a:pt x="1653835" y="1064485"/>
                        </a:lnTo>
                        <a:lnTo>
                          <a:pt x="738121" y="148704"/>
                        </a:lnTo>
                        <a:cubicBezTo>
                          <a:pt x="567966" y="-21470"/>
                          <a:pt x="282931" y="-47473"/>
                          <a:pt x="111595" y="121510"/>
                        </a:cubicBezTo>
                        <a:cubicBezTo>
                          <a:pt x="110442" y="122634"/>
                          <a:pt x="7144" y="225932"/>
                          <a:pt x="7144" y="225932"/>
                        </a:cubicBezTo>
                        <a:lnTo>
                          <a:pt x="1326223" y="1545021"/>
                        </a:lnTo>
                        <a:cubicBezTo>
                          <a:pt x="1607372" y="1826161"/>
                          <a:pt x="2050999" y="1807054"/>
                          <a:pt x="2463022" y="1788775"/>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35" name="小红书平北职场PPT9-18"/>
                  <p:cNvSpPr/>
                  <p:nvPr/>
                </p:nvSpPr>
                <p:spPr>
                  <a:xfrm>
                    <a:off x="12917359" y="9216219"/>
                    <a:ext cx="1504950" cy="1533525"/>
                  </a:xfrm>
                  <a:custGeom>
                    <a:avLst/>
                    <a:gdLst>
                      <a:gd name="connsiteX0" fmla="*/ 7144 w 1504950"/>
                      <a:gd name="connsiteY0" fmla="*/ 1017423 h 1533525"/>
                      <a:gd name="connsiteX1" fmla="*/ 522484 w 1504950"/>
                      <a:gd name="connsiteY1" fmla="*/ 1528753 h 1533525"/>
                      <a:gd name="connsiteX2" fmla="*/ 1503559 w 1504950"/>
                      <a:gd name="connsiteY2" fmla="*/ 494738 h 1533525"/>
                      <a:gd name="connsiteX3" fmla="*/ 1017413 w 1504950"/>
                      <a:gd name="connsiteY3" fmla="*/ 7144 h 1533525"/>
                    </a:gdLst>
                    <a:ahLst/>
                    <a:cxnLst>
                      <a:cxn ang="0">
                        <a:pos x="connsiteX0" y="connsiteY0"/>
                      </a:cxn>
                      <a:cxn ang="0">
                        <a:pos x="connsiteX1" y="connsiteY1"/>
                      </a:cxn>
                      <a:cxn ang="0">
                        <a:pos x="connsiteX2" y="connsiteY2"/>
                      </a:cxn>
                      <a:cxn ang="0">
                        <a:pos x="connsiteX3" y="connsiteY3"/>
                      </a:cxn>
                    </a:cxnLst>
                    <a:rect l="l" t="t" r="r" b="b"/>
                    <a:pathLst>
                      <a:path w="1504950" h="1533525">
                        <a:moveTo>
                          <a:pt x="7144" y="1017423"/>
                        </a:moveTo>
                        <a:lnTo>
                          <a:pt x="522484" y="1528753"/>
                        </a:lnTo>
                        <a:lnTo>
                          <a:pt x="1503559" y="494738"/>
                        </a:lnTo>
                        <a:lnTo>
                          <a:pt x="1017413" y="7144"/>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grpSp>
          </p:grpSp>
          <p:grpSp>
            <p:nvGrpSpPr>
              <p:cNvPr id="25" name="组合 24"/>
              <p:cNvGrpSpPr/>
              <p:nvPr/>
            </p:nvGrpSpPr>
            <p:grpSpPr>
              <a:xfrm>
                <a:off x="2974860" y="5174916"/>
                <a:ext cx="1275375" cy="1198913"/>
                <a:chOff x="538648" y="5207168"/>
                <a:chExt cx="1275375" cy="1198913"/>
              </a:xfrm>
            </p:grpSpPr>
            <p:sp>
              <p:nvSpPr>
                <p:cNvPr id="26" name="小红书平北职场PPT9-19"/>
                <p:cNvSpPr txBox="1"/>
                <p:nvPr/>
              </p:nvSpPr>
              <p:spPr>
                <a:xfrm>
                  <a:off x="538648" y="5451807"/>
                  <a:ext cx="1192634" cy="439073"/>
                </a:xfrm>
                <a:prstGeom prst="rect">
                  <a:avLst/>
                </a:prstGeom>
                <a:noFill/>
              </p:spPr>
              <p:txBody>
                <a:bodyPr wrap="none" lIns="0" tIns="0" rIns="0" bIns="0" rtlCol="0">
                  <a:spAutoFit/>
                </a:bodyPr>
                <a:lstStyle/>
                <a:p>
                  <a:r>
                    <a:rPr lang="en-US" altLang="zh-CN" sz="3200" dirty="0">
                      <a:solidFill>
                        <a:schemeClr val="bg1"/>
                      </a:solidFill>
                      <a:latin typeface="+mj-ea"/>
                      <a:ea typeface="+mj-ea"/>
                      <a:cs typeface="思源黑体 CN Normal" panose="020B0400000000000000" pitchFamily="34" charset="-122"/>
                    </a:rPr>
                    <a:t>390</a:t>
                  </a:r>
                  <a:r>
                    <a:rPr lang="zh-CN" altLang="en-US" sz="1400" dirty="0">
                      <a:solidFill>
                        <a:schemeClr val="bg1"/>
                      </a:solidFill>
                      <a:latin typeface="思源黑体 CN Heavy" panose="020B0A00000000000000" charset="-122"/>
                      <a:ea typeface="+mj-ea"/>
                      <a:cs typeface="思源黑体 CN Normal" panose="020B0400000000000000" pitchFamily="34" charset="-122"/>
                    </a:rPr>
                    <a:t>  万元</a:t>
                  </a:r>
                  <a:endParaRPr lang="zh-CN" altLang="en-US" sz="1600" dirty="0">
                    <a:solidFill>
                      <a:schemeClr val="bg1"/>
                    </a:solidFill>
                    <a:latin typeface="思源黑体 CN Heavy" panose="020B0A00000000000000" charset="-122"/>
                    <a:ea typeface="+mj-ea"/>
                    <a:cs typeface="思源黑体 CN Normal" panose="020B0400000000000000" pitchFamily="34" charset="-122"/>
                  </a:endParaRPr>
                </a:p>
              </p:txBody>
            </p:sp>
            <p:sp>
              <p:nvSpPr>
                <p:cNvPr id="27" name="小红书平北职场PPT9-20"/>
                <p:cNvSpPr txBox="1"/>
                <p:nvPr/>
              </p:nvSpPr>
              <p:spPr>
                <a:xfrm>
                  <a:off x="538648" y="5973590"/>
                  <a:ext cx="1275375" cy="432491"/>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mn-ea"/>
                      <a:cs typeface="思源黑体 CN Normal" panose="020B0400000000000000" pitchFamily="34" charset="-122"/>
                    </a:rPr>
                    <a:t>表明公司资源战略性向前倾斜</a:t>
                  </a:r>
                  <a:endParaRPr lang="zh-CN" altLang="en-US" sz="1200" dirty="0">
                    <a:solidFill>
                      <a:schemeClr val="bg1"/>
                    </a:solidFill>
                    <a:latin typeface="+mn-ea"/>
                    <a:cs typeface="思源黑体 CN Normal" panose="020B0400000000000000" pitchFamily="34" charset="-122"/>
                  </a:endParaRPr>
                </a:p>
              </p:txBody>
            </p:sp>
            <p:sp>
              <p:nvSpPr>
                <p:cNvPr id="28" name="小红书平北职场PPT9-21"/>
                <p:cNvSpPr txBox="1"/>
                <p:nvPr/>
              </p:nvSpPr>
              <p:spPr>
                <a:xfrm>
                  <a:off x="538648" y="5207168"/>
                  <a:ext cx="1275375" cy="180947"/>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思源黑体 CN Heavy" panose="020B0A00000000000000" charset="-122"/>
                      <a:ea typeface="+mj-ea"/>
                      <a:cs typeface="思源黑体 CN Normal" panose="020B0400000000000000" pitchFamily="34" charset="-122"/>
                    </a:rPr>
                    <a:t>前端费用激增</a:t>
                  </a:r>
                  <a:endParaRPr lang="zh-CN" altLang="en-US" sz="1200" dirty="0">
                    <a:solidFill>
                      <a:schemeClr val="bg1"/>
                    </a:solidFill>
                    <a:latin typeface="思源黑体 CN Heavy" panose="020B0A00000000000000" charset="-122"/>
                    <a:ea typeface="+mj-ea"/>
                    <a:cs typeface="思源黑体 CN Normal" panose="020B0400000000000000" pitchFamily="34" charset="-122"/>
                  </a:endParaRPr>
                </a:p>
              </p:txBody>
            </p:sp>
          </p:grpSp>
        </p:grpSp>
      </p:grpSp>
      <p:grpSp>
        <p:nvGrpSpPr>
          <p:cNvPr id="51" name="小红书平北职场PPT10"/>
          <p:cNvGrpSpPr/>
          <p:nvPr/>
        </p:nvGrpSpPr>
        <p:grpSpPr>
          <a:xfrm>
            <a:off x="522977" y="1106349"/>
            <a:ext cx="8727859" cy="496607"/>
            <a:chOff x="378932" y="1032251"/>
            <a:chExt cx="8672945" cy="560193"/>
          </a:xfrm>
        </p:grpSpPr>
        <p:cxnSp>
          <p:nvCxnSpPr>
            <p:cNvPr id="52" name="小红书平北职场PPT10-1"/>
            <p:cNvCxnSpPr/>
            <p:nvPr/>
          </p:nvCxnSpPr>
          <p:spPr>
            <a:xfrm>
              <a:off x="378932" y="1032251"/>
              <a:ext cx="8672945" cy="0"/>
            </a:xfrm>
            <a:prstGeom prst="line">
              <a:avLst/>
            </a:prstGeom>
            <a:ln w="15875">
              <a:gradFill flip="none" rotWithShape="1">
                <a:gsLst>
                  <a:gs pos="0">
                    <a:schemeClr val="accent1">
                      <a:lumMod val="60000"/>
                      <a:lumOff val="40000"/>
                    </a:schemeClr>
                  </a:gs>
                  <a:gs pos="100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3" name="小红书平北职场PPT10-2"/>
            <p:cNvCxnSpPr/>
            <p:nvPr/>
          </p:nvCxnSpPr>
          <p:spPr>
            <a:xfrm>
              <a:off x="378932" y="1592444"/>
              <a:ext cx="8672945" cy="0"/>
            </a:xfrm>
            <a:prstGeom prst="line">
              <a:avLst/>
            </a:prstGeom>
            <a:ln w="15875">
              <a:gradFill flip="none" rotWithShape="1">
                <a:gsLst>
                  <a:gs pos="0">
                    <a:schemeClr val="accent1">
                      <a:lumMod val="60000"/>
                      <a:lumOff val="40000"/>
                    </a:schemeClr>
                  </a:gs>
                  <a:gs pos="100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54" name="小红书平北职场PPT11"/>
          <p:cNvGrpSpPr/>
          <p:nvPr/>
        </p:nvGrpSpPr>
        <p:grpSpPr>
          <a:xfrm>
            <a:off x="5419039" y="885821"/>
            <a:ext cx="1697331" cy="3834904"/>
            <a:chOff x="5611449" y="7393923"/>
            <a:chExt cx="1613673" cy="3920555"/>
          </a:xfrm>
        </p:grpSpPr>
        <p:sp>
          <p:nvSpPr>
            <p:cNvPr id="55" name="小红书平北职场PPT11-1"/>
            <p:cNvSpPr/>
            <p:nvPr/>
          </p:nvSpPr>
          <p:spPr>
            <a:xfrm rot="10800000" flipV="1">
              <a:off x="5611449" y="7393924"/>
              <a:ext cx="1436431" cy="128209"/>
            </a:xfrm>
            <a:prstGeom prst="trapezoid">
              <a:avLst>
                <a:gd name="adj" fmla="val 79478"/>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56" name="小红书平北职场PPT11-2"/>
            <p:cNvSpPr/>
            <p:nvPr/>
          </p:nvSpPr>
          <p:spPr>
            <a:xfrm>
              <a:off x="5715242" y="7393923"/>
              <a:ext cx="1509880" cy="3920555"/>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aphicFrame>
        <p:nvGraphicFramePr>
          <p:cNvPr id="57" name="小红书平北职场PPT12"/>
          <p:cNvGraphicFramePr>
            <a:graphicFrameLocks noGrp="1"/>
          </p:cNvGraphicFramePr>
          <p:nvPr/>
        </p:nvGraphicFramePr>
        <p:xfrm>
          <a:off x="5378012" y="970427"/>
          <a:ext cx="1590387" cy="3727805"/>
        </p:xfrm>
        <a:graphic>
          <a:graphicData uri="http://schemas.openxmlformats.org/drawingml/2006/table">
            <a:tbl>
              <a:tblPr firstRow="1" bandRow="1">
                <a:effectLst>
                  <a:outerShdw blurRad="50800" dist="38100" dir="5400000" algn="t" rotWithShape="0">
                    <a:schemeClr val="accent1">
                      <a:alpha val="16000"/>
                    </a:schemeClr>
                  </a:outerShdw>
                </a:effectLst>
                <a:tableStyleId>{5C22544A-7EE6-4342-B048-85BDC9FD1C3A}</a:tableStyleId>
              </a:tblPr>
              <a:tblGrid>
                <a:gridCol w="1590387"/>
              </a:tblGrid>
              <a:tr h="679475">
                <a:tc>
                  <a:txBody>
                    <a:bodyPr/>
                    <a:lstStyle/>
                    <a:p>
                      <a:pPr marL="0" algn="r" defTabSz="914400" rtl="0" eaLnBrk="1" latinLnBrk="0" hangingPunct="1"/>
                      <a:endParaRPr lang="zh-CN" altLang="en-US" sz="1600" b="0" kern="1200" baseline="0" dirty="0">
                        <a:solidFill>
                          <a:schemeClr val="bg1"/>
                        </a:solidFill>
                        <a:latin typeface="思源黑体 CN Heavy" panose="020B0A00000000000000" charset="-122"/>
                        <a:ea typeface="+mj-ea"/>
                        <a:cs typeface="思源黑体 CN Normal" panose="020B0400000000000000" pitchFamily="34" charset="-122"/>
                      </a:endParaRPr>
                    </a:p>
                  </a:txBody>
                  <a:tcPr marL="152400" marR="152400" marT="95250" marB="9525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270.3</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55.4</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34.5</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-24.6</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-32.3</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58" name="小红书平北职场PPT13"/>
          <p:cNvGrpSpPr/>
          <p:nvPr/>
        </p:nvGrpSpPr>
        <p:grpSpPr>
          <a:xfrm>
            <a:off x="5776919" y="1748079"/>
            <a:ext cx="209849" cy="2845420"/>
            <a:chOff x="5452183" y="1706515"/>
            <a:chExt cx="199506" cy="2845420"/>
          </a:xfrm>
        </p:grpSpPr>
        <p:sp>
          <p:nvSpPr>
            <p:cNvPr id="59" name="小红书平北职场PPT13-1"/>
            <p:cNvSpPr/>
            <p:nvPr/>
          </p:nvSpPr>
          <p:spPr>
            <a:xfrm flipV="1">
              <a:off x="5452183" y="1706515"/>
              <a:ext cx="199506" cy="351055"/>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60" name="小红书平北职场PPT13-2"/>
            <p:cNvSpPr/>
            <p:nvPr/>
          </p:nvSpPr>
          <p:spPr>
            <a:xfrm flipV="1">
              <a:off x="5452183" y="2325980"/>
              <a:ext cx="199506" cy="351055"/>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61" name="小红书平北职场PPT13-3"/>
            <p:cNvSpPr/>
            <p:nvPr/>
          </p:nvSpPr>
          <p:spPr>
            <a:xfrm flipV="1">
              <a:off x="5452183" y="2945447"/>
              <a:ext cx="199506" cy="351055"/>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62" name="小红书平北职场PPT13-4"/>
            <p:cNvSpPr/>
            <p:nvPr/>
          </p:nvSpPr>
          <p:spPr>
            <a:xfrm rot="10800000" flipV="1">
              <a:off x="5452183" y="3581419"/>
              <a:ext cx="199506" cy="351051"/>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63" name="小红书平北职场PPT13-5"/>
            <p:cNvSpPr/>
            <p:nvPr/>
          </p:nvSpPr>
          <p:spPr>
            <a:xfrm rot="10800000" flipV="1">
              <a:off x="5452183" y="4200884"/>
              <a:ext cx="199506" cy="351051"/>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grpSp>
      <p:sp>
        <p:nvSpPr>
          <p:cNvPr id="69" name="小红书平北职场PPT15"/>
          <p:cNvSpPr txBox="1"/>
          <p:nvPr>
            <p:custDataLst>
              <p:tags r:id="rId8"/>
            </p:custDataLst>
          </p:nvPr>
        </p:nvSpPr>
        <p:spPr>
          <a:xfrm>
            <a:off x="8027630" y="1260678"/>
            <a:ext cx="1018409" cy="215444"/>
          </a:xfrm>
          <a:prstGeom prst="rect">
            <a:avLst/>
          </a:prstGeom>
          <a:noFill/>
        </p:spPr>
        <p:txBody>
          <a:bodyPr wrap="square" lIns="0" tIns="0" rIns="0" bIns="0" rtlCol="0">
            <a:spAutoFit/>
          </a:bodyPr>
          <a:lstStyle/>
          <a:p>
            <a:pPr algn="r"/>
            <a:r>
              <a:rPr lang="zh-CN" altLang="en-US" sz="1400" dirty="0">
                <a:latin typeface="+mj-ea"/>
                <a:ea typeface="+mj-ea"/>
                <a:cs typeface="思源黑体 CN Normal" panose="020B0400000000000000" pitchFamily="34" charset="-122"/>
                <a:sym typeface="+mj-ea"/>
              </a:rPr>
              <a:t>同期涨</a:t>
            </a:r>
            <a:r>
              <a:rPr lang="en-US" altLang="zh-CN" sz="1400" dirty="0">
                <a:latin typeface="+mj-ea"/>
                <a:ea typeface="+mj-ea"/>
                <a:cs typeface="思源黑体 CN Normal" panose="020B0400000000000000" pitchFamily="34" charset="-122"/>
                <a:sym typeface="+mj-ea"/>
              </a:rPr>
              <a:t>/</a:t>
            </a:r>
            <a:r>
              <a:rPr lang="zh-CN" altLang="en-US" sz="1400" dirty="0">
                <a:latin typeface="+mj-ea"/>
                <a:ea typeface="+mj-ea"/>
                <a:cs typeface="思源黑体 CN Normal" panose="020B0400000000000000" pitchFamily="34" charset="-122"/>
                <a:sym typeface="+mj-ea"/>
              </a:rPr>
              <a:t>跌幅</a:t>
            </a:r>
            <a:endParaRPr lang="zh-CN" altLang="en-US" sz="1400" dirty="0">
              <a:latin typeface="+mj-ea"/>
              <a:ea typeface="+mj-ea"/>
              <a:cs typeface="思源黑体 CN Normal" panose="020B0400000000000000" pitchFamily="34" charset="-122"/>
              <a:sym typeface="+mj-ea"/>
            </a:endParaRPr>
          </a:p>
        </p:txBody>
      </p:sp>
      <p:sp>
        <p:nvSpPr>
          <p:cNvPr id="70" name="小红书平北职场PPT16"/>
          <p:cNvSpPr txBox="1"/>
          <p:nvPr/>
        </p:nvSpPr>
        <p:spPr>
          <a:xfrm>
            <a:off x="540951" y="5594826"/>
            <a:ext cx="11245445" cy="951094"/>
          </a:xfrm>
          <a:prstGeom prst="rect">
            <a:avLst/>
          </a:prstGeom>
          <a:noFill/>
        </p:spPr>
        <p:txBody>
          <a:bodyPr wrap="square">
            <a:spAutoFit/>
          </a:bodyPr>
          <a:lstStyle/>
          <a:p>
            <a:pPr marL="171450" indent="-171450">
              <a:lnSpc>
                <a:spcPct val="130000"/>
              </a:lnSpc>
              <a:spcAft>
                <a:spcPts val="600"/>
              </a:spcAft>
              <a:buFont typeface="思源黑体 CN Normal" panose="020B0400000000000000" pitchFamily="34" charset="-122"/>
              <a:buChar char="•"/>
            </a:pPr>
            <a:r>
              <a:rPr lang="zh-CN" altLang="en-US" sz="1200" dirty="0">
                <a:latin typeface="+mn-ea"/>
                <a:cs typeface="思源黑体 CN Normal" panose="020B0400000000000000" pitchFamily="34" charset="-122"/>
              </a:rPr>
              <a:t>本月生产成本整体上升，原材料成本涨幅达</a:t>
            </a:r>
            <a:r>
              <a:rPr lang="en-US" altLang="zh-CN" sz="1200" dirty="0">
                <a:latin typeface="+mn-ea"/>
                <a:cs typeface="思源黑体 CN Normal" panose="020B0400000000000000" pitchFamily="34" charset="-122"/>
              </a:rPr>
              <a:t>27.6%</a:t>
            </a:r>
            <a:r>
              <a:rPr lang="zh-CN" altLang="en-US" sz="1200" dirty="0">
                <a:latin typeface="+mn-ea"/>
                <a:cs typeface="思源黑体 CN Normal" panose="020B0400000000000000" pitchFamily="34" charset="-122"/>
              </a:rPr>
              <a:t>，人工成本增长</a:t>
            </a:r>
            <a:r>
              <a:rPr lang="en-US" altLang="zh-CN" sz="1200" dirty="0">
                <a:latin typeface="+mn-ea"/>
                <a:cs typeface="思源黑体 CN Normal" panose="020B0400000000000000" pitchFamily="34" charset="-122"/>
              </a:rPr>
              <a:t>5.8%</a:t>
            </a:r>
            <a:r>
              <a:rPr lang="zh-CN" altLang="en-US" sz="1200" dirty="0">
                <a:latin typeface="+mn-ea"/>
                <a:cs typeface="思源黑体 CN Normal" panose="020B0400000000000000" pitchFamily="34" charset="-122"/>
              </a:rPr>
              <a:t>。原材料价格上涨是主要驱动因素，对成本管控带来较大挑战</a:t>
            </a:r>
            <a:endParaRPr lang="zh-CN" altLang="en-US" sz="1200" dirty="0">
              <a:latin typeface="+mn-ea"/>
              <a:cs typeface="思源黑体 CN Normal" panose="020B0400000000000000" pitchFamily="34" charset="-122"/>
            </a:endParaRPr>
          </a:p>
          <a:p>
            <a:pPr marL="171450" indent="-171450">
              <a:lnSpc>
                <a:spcPct val="130000"/>
              </a:lnSpc>
              <a:spcAft>
                <a:spcPts val="600"/>
              </a:spcAft>
              <a:buFont typeface="思源黑体 CN Normal" panose="020B0400000000000000" pitchFamily="34" charset="-122"/>
              <a:buChar char="•"/>
            </a:pPr>
            <a:r>
              <a:rPr lang="zh-CN" altLang="en-US" sz="1200" dirty="0">
                <a:latin typeface="+mn-ea"/>
                <a:cs typeface="思源黑体 CN Normal" panose="020B0400000000000000" pitchFamily="34" charset="-122"/>
              </a:rPr>
              <a:t>面对成本上涨压力，公司在能源消耗和设备维护方面管控成效显著，成本分别下降</a:t>
            </a:r>
            <a:r>
              <a:rPr lang="en-US" altLang="zh-CN" sz="1200" dirty="0">
                <a:latin typeface="+mn-ea"/>
                <a:cs typeface="思源黑体 CN Normal" panose="020B0400000000000000" pitchFamily="34" charset="-122"/>
              </a:rPr>
              <a:t>7.9%</a:t>
            </a:r>
            <a:r>
              <a:rPr lang="zh-CN" altLang="en-US" sz="1200" dirty="0">
                <a:latin typeface="+mn-ea"/>
                <a:cs typeface="思源黑体 CN Normal" panose="020B0400000000000000" pitchFamily="34" charset="-122"/>
              </a:rPr>
              <a:t>和</a:t>
            </a:r>
            <a:r>
              <a:rPr lang="en-US" altLang="zh-CN" sz="1200" dirty="0">
                <a:latin typeface="+mn-ea"/>
                <a:cs typeface="思源黑体 CN Normal" panose="020B0400000000000000" pitchFamily="34" charset="-122"/>
              </a:rPr>
              <a:t>17.7%</a:t>
            </a:r>
            <a:r>
              <a:rPr lang="zh-CN" altLang="en-US" sz="1200" dirty="0">
                <a:latin typeface="+mn-ea"/>
                <a:cs typeface="思源黑体 CN Normal" panose="020B0400000000000000" pitchFamily="34" charset="-122"/>
              </a:rPr>
              <a:t>。这部分节约有效对冲了总成本的部分涨幅，运营效率提升</a:t>
            </a:r>
            <a:endParaRPr lang="zh-CN" altLang="en-US" sz="1200" dirty="0">
              <a:latin typeface="+mn-ea"/>
              <a:cs typeface="思源黑体 CN Normal" panose="020B0400000000000000" pitchFamily="34" charset="-122"/>
            </a:endParaRPr>
          </a:p>
          <a:p>
            <a:pPr marL="171450" indent="-171450">
              <a:lnSpc>
                <a:spcPct val="130000"/>
              </a:lnSpc>
              <a:spcAft>
                <a:spcPts val="600"/>
              </a:spcAft>
              <a:buFont typeface="思源黑体 CN Normal" panose="020B0400000000000000" pitchFamily="34" charset="-122"/>
              <a:buChar char="•"/>
            </a:pPr>
            <a:r>
              <a:rPr lang="zh-CN" altLang="en-US" sz="1200" dirty="0">
                <a:latin typeface="+mn-ea"/>
                <a:cs typeface="思源黑体 CN Normal" panose="020B0400000000000000" pitchFamily="34" charset="-122"/>
              </a:rPr>
              <a:t>为持续巩固竞争力，深入分析原材料价格上涨原因，制定战略性应对预案。多领域的优秀管控措施标准化、系统化，并推广至全链条，构建可持续成本优势</a:t>
            </a:r>
            <a:endParaRPr lang="zh-CN" altLang="en-US" sz="1200" dirty="0">
              <a:latin typeface="+mn-ea"/>
              <a:cs typeface="思源黑体 CN Normal" panose="020B0400000000000000" pitchFamily="34" charset="-122"/>
            </a:endParaRPr>
          </a:p>
        </p:txBody>
      </p:sp>
      <p:grpSp>
        <p:nvGrpSpPr>
          <p:cNvPr id="71" name="小红书平北职场PPT17"/>
          <p:cNvGrpSpPr/>
          <p:nvPr/>
        </p:nvGrpSpPr>
        <p:grpSpPr>
          <a:xfrm>
            <a:off x="332276" y="4999925"/>
            <a:ext cx="11580778" cy="514631"/>
            <a:chOff x="332276" y="4999925"/>
            <a:chExt cx="11580778" cy="498421"/>
          </a:xfrm>
        </p:grpSpPr>
        <p:sp>
          <p:nvSpPr>
            <p:cNvPr id="72" name="小红书平北职场PPT17-1"/>
            <p:cNvSpPr/>
            <p:nvPr/>
          </p:nvSpPr>
          <p:spPr>
            <a:xfrm>
              <a:off x="332276" y="4999925"/>
              <a:ext cx="11580778" cy="498421"/>
            </a:xfrm>
            <a:prstGeom prst="round2DiagRect">
              <a:avLst>
                <a:gd name="adj1" fmla="val 27003"/>
                <a:gd name="adj2" fmla="val 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cs typeface="思源黑体 CN Normal" panose="020B0400000000000000" pitchFamily="34" charset="-122"/>
                  <a:sym typeface="思源黑体 CN Normal" panose="020B0400000000000000" pitchFamily="34" charset="-122"/>
                </a:rPr>
                <a:t>      从成本表现分化到管理策略升级</a:t>
              </a:r>
              <a:endParaRPr lang="zh-CN" altLang="en-US" sz="1600" b="1" dirty="0">
                <a:solidFill>
                  <a:schemeClr val="bg1"/>
                </a:solidFill>
                <a:latin typeface="+mj-ea"/>
                <a:ea typeface="+mj-ea"/>
                <a:cs typeface="思源黑体 CN Normal" panose="020B0400000000000000" pitchFamily="34" charset="-122"/>
                <a:sym typeface="思源黑体 CN Normal" panose="020B0400000000000000" pitchFamily="34" charset="-122"/>
              </a:endParaRPr>
            </a:p>
          </p:txBody>
        </p:sp>
        <p:grpSp>
          <p:nvGrpSpPr>
            <p:cNvPr id="73" name="组合 72"/>
            <p:cNvGrpSpPr/>
            <p:nvPr/>
          </p:nvGrpSpPr>
          <p:grpSpPr>
            <a:xfrm>
              <a:off x="726522" y="5249788"/>
              <a:ext cx="10738956" cy="0"/>
              <a:chOff x="726522" y="5263235"/>
              <a:chExt cx="10738956" cy="0"/>
            </a:xfrm>
          </p:grpSpPr>
          <p:cxnSp>
            <p:nvCxnSpPr>
              <p:cNvPr id="74" name="小红书平北职场PPT17-2"/>
              <p:cNvCxnSpPr/>
              <p:nvPr/>
            </p:nvCxnSpPr>
            <p:spPr>
              <a:xfrm>
                <a:off x="726522" y="5263235"/>
                <a:ext cx="3645611" cy="0"/>
              </a:xfrm>
              <a:prstGeom prst="line">
                <a:avLst/>
              </a:prstGeom>
              <a:ln w="15875">
                <a:gradFill flip="none" rotWithShape="1">
                  <a:gsLst>
                    <a:gs pos="0">
                      <a:schemeClr val="bg1">
                        <a:alpha val="0"/>
                      </a:schemeClr>
                    </a:gs>
                    <a:gs pos="100000">
                      <a:schemeClr val="bg1"/>
                    </a:gs>
                  </a:gsLst>
                  <a:lin ang="0" scaled="1"/>
                  <a:tileRect/>
                </a:gradFill>
                <a:tailEnd type="diamond"/>
              </a:ln>
            </p:spPr>
            <p:style>
              <a:lnRef idx="1">
                <a:schemeClr val="accent1"/>
              </a:lnRef>
              <a:fillRef idx="0">
                <a:schemeClr val="accent1"/>
              </a:fillRef>
              <a:effectRef idx="0">
                <a:schemeClr val="accent1"/>
              </a:effectRef>
              <a:fontRef idx="minor">
                <a:schemeClr val="tx1"/>
              </a:fontRef>
            </p:style>
          </p:cxnSp>
          <p:cxnSp>
            <p:nvCxnSpPr>
              <p:cNvPr id="75" name="小红书平北职场PPT17-3"/>
              <p:cNvCxnSpPr/>
              <p:nvPr/>
            </p:nvCxnSpPr>
            <p:spPr>
              <a:xfrm flipH="1">
                <a:off x="7819867" y="5263235"/>
                <a:ext cx="3645611" cy="0"/>
              </a:xfrm>
              <a:prstGeom prst="line">
                <a:avLst/>
              </a:prstGeom>
              <a:ln w="15875">
                <a:gradFill flip="none" rotWithShape="1">
                  <a:gsLst>
                    <a:gs pos="0">
                      <a:schemeClr val="bg1">
                        <a:alpha val="0"/>
                      </a:schemeClr>
                    </a:gs>
                    <a:gs pos="100000">
                      <a:schemeClr val="bg1"/>
                    </a:gs>
                  </a:gsLst>
                  <a:lin ang="0" scaled="1"/>
                  <a:tileRect/>
                </a:gradFill>
                <a:tailEnd type="diamond"/>
              </a:ln>
            </p:spPr>
            <p:style>
              <a:lnRef idx="1">
                <a:schemeClr val="accent1"/>
              </a:lnRef>
              <a:fillRef idx="0">
                <a:schemeClr val="accent1"/>
              </a:fillRef>
              <a:effectRef idx="0">
                <a:schemeClr val="accent1"/>
              </a:effectRef>
              <a:fontRef idx="minor">
                <a:schemeClr val="tx1"/>
              </a:fontRef>
            </p:style>
          </p:cxnSp>
        </p:grpSp>
      </p:grpSp>
      <p:grpSp>
        <p:nvGrpSpPr>
          <p:cNvPr id="100" name="小红书平北职场PPT14"/>
          <p:cNvGrpSpPr/>
          <p:nvPr/>
        </p:nvGrpSpPr>
        <p:grpSpPr>
          <a:xfrm>
            <a:off x="1349482" y="1260678"/>
            <a:ext cx="5294223" cy="215444"/>
            <a:chOff x="1747548" y="1260678"/>
            <a:chExt cx="5033280" cy="215444"/>
          </a:xfrm>
        </p:grpSpPr>
        <p:sp>
          <p:nvSpPr>
            <p:cNvPr id="101" name="小红书平北职场PPT14-1"/>
            <p:cNvSpPr txBox="1"/>
            <p:nvPr>
              <p:custDataLst>
                <p:tags r:id="rId9"/>
              </p:custDataLst>
            </p:nvPr>
          </p:nvSpPr>
          <p:spPr>
            <a:xfrm>
              <a:off x="1747548" y="1260678"/>
              <a:ext cx="359073" cy="215444"/>
            </a:xfrm>
            <a:prstGeom prst="rect">
              <a:avLst/>
            </a:prstGeom>
            <a:noFill/>
          </p:spPr>
          <p:txBody>
            <a:bodyPr wrap="none" lIns="0" tIns="0" rIns="0" bIns="0" rtlCol="0">
              <a:spAutoFit/>
            </a:bodyPr>
            <a:lstStyle/>
            <a:p>
              <a:pPr algn="l"/>
              <a:r>
                <a:rPr lang="zh-CN" altLang="en-US" sz="1400" dirty="0">
                  <a:latin typeface="+mj-ea"/>
                  <a:ea typeface="+mj-ea"/>
                  <a:cs typeface="思源黑体 CN Normal" panose="020B0400000000000000" pitchFamily="34" charset="-122"/>
                  <a:sym typeface="+mj-ea"/>
                </a:rPr>
                <a:t>项目</a:t>
              </a:r>
              <a:endParaRPr lang="zh-CN" altLang="en-US" sz="1400" dirty="0">
                <a:latin typeface="+mj-ea"/>
                <a:ea typeface="+mj-ea"/>
                <a:cs typeface="思源黑体 CN Normal" panose="020B0400000000000000" pitchFamily="34" charset="-122"/>
                <a:sym typeface="+mj-ea"/>
              </a:endParaRPr>
            </a:p>
          </p:txBody>
        </p:sp>
        <p:sp>
          <p:nvSpPr>
            <p:cNvPr id="102" name="小红书平北职场PPT14-2"/>
            <p:cNvSpPr txBox="1"/>
            <p:nvPr>
              <p:custDataLst>
                <p:tags r:id="rId10"/>
              </p:custDataLst>
            </p:nvPr>
          </p:nvSpPr>
          <p:spPr>
            <a:xfrm>
              <a:off x="3019262" y="1260678"/>
              <a:ext cx="718145" cy="215444"/>
            </a:xfrm>
            <a:prstGeom prst="rect">
              <a:avLst/>
            </a:prstGeom>
            <a:noFill/>
          </p:spPr>
          <p:txBody>
            <a:bodyPr wrap="none" lIns="0" tIns="0" rIns="0" bIns="0" rtlCol="0">
              <a:spAutoFit/>
            </a:bodyPr>
            <a:lstStyle/>
            <a:p>
              <a:pPr algn="r"/>
              <a:r>
                <a:rPr lang="zh-CN" altLang="en-US" sz="1400" dirty="0">
                  <a:latin typeface="+mj-ea"/>
                  <a:ea typeface="+mj-ea"/>
                  <a:cs typeface="思源黑体 CN Normal" panose="020B0400000000000000" pitchFamily="34" charset="-122"/>
                  <a:sym typeface="+mj-ea"/>
                </a:rPr>
                <a:t>本月成本</a:t>
              </a:r>
              <a:endParaRPr lang="zh-CN" altLang="en-US" sz="1400" dirty="0">
                <a:latin typeface="+mj-ea"/>
                <a:ea typeface="+mj-ea"/>
                <a:cs typeface="思源黑体 CN Normal" panose="020B0400000000000000" pitchFamily="34" charset="-122"/>
                <a:sym typeface="+mj-ea"/>
              </a:endParaRPr>
            </a:p>
          </p:txBody>
        </p:sp>
        <p:sp>
          <p:nvSpPr>
            <p:cNvPr id="103" name="小红书平北职场PPT14-3"/>
            <p:cNvSpPr txBox="1"/>
            <p:nvPr>
              <p:custDataLst>
                <p:tags r:id="rId11"/>
              </p:custDataLst>
            </p:nvPr>
          </p:nvSpPr>
          <p:spPr>
            <a:xfrm>
              <a:off x="4510619" y="1260678"/>
              <a:ext cx="718145" cy="215444"/>
            </a:xfrm>
            <a:prstGeom prst="rect">
              <a:avLst/>
            </a:prstGeom>
            <a:noFill/>
          </p:spPr>
          <p:txBody>
            <a:bodyPr wrap="none" lIns="0" tIns="0" rIns="0" bIns="0" rtlCol="0">
              <a:spAutoFit/>
            </a:bodyPr>
            <a:lstStyle/>
            <a:p>
              <a:pPr algn="r"/>
              <a:r>
                <a:rPr lang="zh-CN" altLang="en-US" sz="1400" dirty="0">
                  <a:latin typeface="+mj-ea"/>
                  <a:ea typeface="+mj-ea"/>
                  <a:cs typeface="思源黑体 CN Normal" panose="020B0400000000000000" pitchFamily="34" charset="-122"/>
                  <a:sym typeface="+mj-ea"/>
                </a:rPr>
                <a:t>上月成本</a:t>
              </a:r>
              <a:endParaRPr lang="zh-CN" altLang="en-US" sz="1400" dirty="0">
                <a:latin typeface="+mj-ea"/>
                <a:ea typeface="+mj-ea"/>
                <a:cs typeface="思源黑体 CN Normal" panose="020B0400000000000000" pitchFamily="34" charset="-122"/>
                <a:sym typeface="+mj-ea"/>
              </a:endParaRPr>
            </a:p>
          </p:txBody>
        </p:sp>
        <p:sp>
          <p:nvSpPr>
            <p:cNvPr id="104" name="小红书平北职场PPT14-4"/>
            <p:cNvSpPr txBox="1"/>
            <p:nvPr>
              <p:custDataLst>
                <p:tags r:id="rId12"/>
              </p:custDataLst>
            </p:nvPr>
          </p:nvSpPr>
          <p:spPr>
            <a:xfrm>
              <a:off x="6062683" y="1260678"/>
              <a:ext cx="718145" cy="215444"/>
            </a:xfrm>
            <a:prstGeom prst="rect">
              <a:avLst/>
            </a:prstGeom>
            <a:noFill/>
          </p:spPr>
          <p:txBody>
            <a:bodyPr wrap="none" lIns="0" tIns="0" rIns="0" bIns="0" rtlCol="0">
              <a:spAutoFit/>
            </a:bodyPr>
            <a:lstStyle/>
            <a:p>
              <a:pPr algn="r"/>
              <a:r>
                <a:rPr lang="zh-CN" altLang="en-US" sz="1400" dirty="0">
                  <a:solidFill>
                    <a:schemeClr val="bg1"/>
                  </a:solidFill>
                  <a:latin typeface="+mj-ea"/>
                  <a:ea typeface="+mj-ea"/>
                  <a:cs typeface="思源黑体 CN Normal" panose="020B0400000000000000" pitchFamily="34" charset="-122"/>
                  <a:sym typeface="+mj-ea"/>
                </a:rPr>
                <a:t>同期增减</a:t>
              </a:r>
              <a:endParaRPr lang="zh-CN" altLang="en-US" sz="1400" dirty="0">
                <a:solidFill>
                  <a:schemeClr val="bg1"/>
                </a:solidFill>
                <a:latin typeface="+mj-ea"/>
                <a:ea typeface="+mj-ea"/>
                <a:cs typeface="思源黑体 CN Normal" panose="020B0400000000000000" pitchFamily="34" charset="-122"/>
                <a:sym typeface="+mj-ea"/>
              </a:endParaRPr>
            </a:p>
          </p:txBody>
        </p:sp>
      </p:grpSp>
    </p:spTree>
    <p:custDataLst>
      <p:tags r:id="rId13"/>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422815" y="2262174"/>
            <a:ext cx="2964507" cy="429025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3" name="小红书平北职场PPT2"/>
          <p:cNvSpPr/>
          <p:nvPr/>
        </p:nvSpPr>
        <p:spPr>
          <a:xfrm>
            <a:off x="8332872" y="2262174"/>
            <a:ext cx="3558305" cy="17819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4" name="小红书平北职场PPT3"/>
          <p:cNvSpPr/>
          <p:nvPr/>
        </p:nvSpPr>
        <p:spPr>
          <a:xfrm>
            <a:off x="8332872" y="4185592"/>
            <a:ext cx="3558305" cy="2366836"/>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 name="小红书平北职场PPT4"/>
          <p:cNvSpPr/>
          <p:nvPr/>
        </p:nvSpPr>
        <p:spPr>
          <a:xfrm>
            <a:off x="419164" y="4171510"/>
            <a:ext cx="2968157" cy="549115"/>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 name="小红书平北职场PPT5"/>
          <p:cNvSpPr/>
          <p:nvPr/>
        </p:nvSpPr>
        <p:spPr>
          <a:xfrm>
            <a:off x="419164" y="5398949"/>
            <a:ext cx="2968157" cy="549115"/>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7" name="小红书平北职场PPT6"/>
          <p:cNvGrpSpPr/>
          <p:nvPr/>
        </p:nvGrpSpPr>
        <p:grpSpPr>
          <a:xfrm>
            <a:off x="334963" y="184318"/>
            <a:ext cx="11522075" cy="506147"/>
            <a:chOff x="334963" y="184318"/>
            <a:chExt cx="11522075" cy="506147"/>
          </a:xfrm>
        </p:grpSpPr>
        <p:cxnSp>
          <p:nvCxnSpPr>
            <p:cNvPr id="8" name="小红书平北职场PPT6-1"/>
            <p:cNvCxnSpPr/>
            <p:nvPr>
              <p:custDataLst>
                <p:tags r:id="rId4"/>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小红书平北职场PPT6-2"/>
            <p:cNvSpPr txBox="1"/>
            <p:nvPr>
              <p:custDataLst>
                <p:tags r:id="rId5"/>
              </p:custDataLst>
            </p:nvPr>
          </p:nvSpPr>
          <p:spPr>
            <a:xfrm>
              <a:off x="334963" y="184318"/>
              <a:ext cx="5834931"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XX</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公司</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2023</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年度人员离职分析报告</a:t>
              </a:r>
              <a:endPar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10" name="小红书平北职场PPT7"/>
          <p:cNvGrpSpPr/>
          <p:nvPr/>
        </p:nvGrpSpPr>
        <p:grpSpPr>
          <a:xfrm>
            <a:off x="329227" y="919265"/>
            <a:ext cx="11719772" cy="1089289"/>
            <a:chOff x="329227" y="949245"/>
            <a:chExt cx="11719772" cy="1089289"/>
          </a:xfrm>
        </p:grpSpPr>
        <p:sp>
          <p:nvSpPr>
            <p:cNvPr id="11" name="小红书平北职场PPT7-1"/>
            <p:cNvSpPr/>
            <p:nvPr/>
          </p:nvSpPr>
          <p:spPr>
            <a:xfrm>
              <a:off x="329227" y="949245"/>
              <a:ext cx="2138107" cy="1089289"/>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 name="小红书平北职场PPT7-2"/>
            <p:cNvSpPr/>
            <p:nvPr/>
          </p:nvSpPr>
          <p:spPr>
            <a:xfrm>
              <a:off x="455466" y="1316411"/>
              <a:ext cx="1885631"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 name="小红书平北职场PPT7-3"/>
            <p:cNvSpPr txBox="1"/>
            <p:nvPr/>
          </p:nvSpPr>
          <p:spPr>
            <a:xfrm>
              <a:off x="400006" y="1010299"/>
              <a:ext cx="125828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本年年初人数</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4" name="小红书平北职场PPT7-4"/>
            <p:cNvSpPr/>
            <p:nvPr/>
          </p:nvSpPr>
          <p:spPr>
            <a:xfrm>
              <a:off x="2092866" y="1059837"/>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5" name="小红书平北职场PPT7-5"/>
            <p:cNvSpPr txBox="1"/>
            <p:nvPr/>
          </p:nvSpPr>
          <p:spPr>
            <a:xfrm>
              <a:off x="469271"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450</a:t>
              </a:r>
              <a:endPar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16" name="小红书平北职场PPT7-6"/>
            <p:cNvSpPr txBox="1"/>
            <p:nvPr/>
          </p:nvSpPr>
          <p:spPr>
            <a:xfrm>
              <a:off x="1132902"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人</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 name="小红书平北职场PPT7-7"/>
            <p:cNvSpPr/>
            <p:nvPr/>
          </p:nvSpPr>
          <p:spPr>
            <a:xfrm>
              <a:off x="2685188" y="949245"/>
              <a:ext cx="2138108" cy="1089289"/>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8" name="小红书平北职场PPT7-8"/>
            <p:cNvSpPr/>
            <p:nvPr/>
          </p:nvSpPr>
          <p:spPr>
            <a:xfrm>
              <a:off x="2811427" y="1316411"/>
              <a:ext cx="1885632"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9" name="小红书平北职场PPT7-9"/>
            <p:cNvSpPr txBox="1"/>
            <p:nvPr/>
          </p:nvSpPr>
          <p:spPr>
            <a:xfrm>
              <a:off x="2755967" y="1010299"/>
              <a:ext cx="125828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本年入职人数</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0" name="小红书平北职场PPT7-10"/>
            <p:cNvSpPr/>
            <p:nvPr/>
          </p:nvSpPr>
          <p:spPr>
            <a:xfrm>
              <a:off x="4448828" y="1059837"/>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1" name="小红书平北职场PPT7-11"/>
            <p:cNvSpPr txBox="1"/>
            <p:nvPr/>
          </p:nvSpPr>
          <p:spPr>
            <a:xfrm>
              <a:off x="2825232"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120</a:t>
              </a:r>
              <a:endPar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2" name="小红书平北职场PPT7-12"/>
            <p:cNvSpPr txBox="1"/>
            <p:nvPr/>
          </p:nvSpPr>
          <p:spPr>
            <a:xfrm>
              <a:off x="3405734"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人</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3" name="小红书平北职场PPT7-13"/>
            <p:cNvSpPr/>
            <p:nvPr/>
          </p:nvSpPr>
          <p:spPr>
            <a:xfrm>
              <a:off x="5041149" y="949245"/>
              <a:ext cx="2138108" cy="1089289"/>
            </a:xfrm>
            <a:prstGeom prst="rect">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4" name="小红书平北职场PPT7-14"/>
            <p:cNvSpPr/>
            <p:nvPr/>
          </p:nvSpPr>
          <p:spPr>
            <a:xfrm>
              <a:off x="5167386" y="1316411"/>
              <a:ext cx="1885632"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5" name="小红书平北职场PPT7-15"/>
            <p:cNvSpPr txBox="1"/>
            <p:nvPr/>
          </p:nvSpPr>
          <p:spPr>
            <a:xfrm>
              <a:off x="5111928" y="1010299"/>
              <a:ext cx="125828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本年离职人数</a:t>
              </a:r>
              <a:endParaRPr kumimoji="0" lang="en-US" altLang="zh-CN"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6" name="小红书平北职场PPT7-16"/>
            <p:cNvSpPr/>
            <p:nvPr/>
          </p:nvSpPr>
          <p:spPr>
            <a:xfrm>
              <a:off x="6804789" y="1059837"/>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7" name="小红书平北职场PPT7-17"/>
            <p:cNvSpPr txBox="1"/>
            <p:nvPr/>
          </p:nvSpPr>
          <p:spPr>
            <a:xfrm>
              <a:off x="5181193"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80</a:t>
              </a:r>
              <a:endParaRPr kumimoji="0" lang="en-US" altLang="zh-CN" sz="2800" b="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8" name="小红书平北职场PPT7-18"/>
            <p:cNvSpPr txBox="1"/>
            <p:nvPr/>
          </p:nvSpPr>
          <p:spPr>
            <a:xfrm>
              <a:off x="5664712"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人</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9" name="小红书平北职场PPT7-19"/>
            <p:cNvSpPr/>
            <p:nvPr/>
          </p:nvSpPr>
          <p:spPr>
            <a:xfrm>
              <a:off x="7397110" y="949245"/>
              <a:ext cx="2138107" cy="1089289"/>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0" name="小红书平北职场PPT7-20"/>
            <p:cNvSpPr/>
            <p:nvPr/>
          </p:nvSpPr>
          <p:spPr>
            <a:xfrm>
              <a:off x="7523349" y="1316411"/>
              <a:ext cx="1885631"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1" name="小红书平北职场PPT7-21"/>
            <p:cNvSpPr txBox="1"/>
            <p:nvPr/>
          </p:nvSpPr>
          <p:spPr>
            <a:xfrm>
              <a:off x="7467889" y="1010299"/>
              <a:ext cx="125828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年末在职人数</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2" name="小红书平北职场PPT7-22"/>
            <p:cNvSpPr/>
            <p:nvPr/>
          </p:nvSpPr>
          <p:spPr>
            <a:xfrm>
              <a:off x="9160748" y="1070111"/>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33" name="小红书平北职场PPT7-23"/>
            <p:cNvSpPr txBox="1"/>
            <p:nvPr/>
          </p:nvSpPr>
          <p:spPr>
            <a:xfrm>
              <a:off x="7537154"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490</a:t>
              </a:r>
              <a:endPar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34" name="小红书平北职场PPT7-24"/>
            <p:cNvSpPr txBox="1"/>
            <p:nvPr/>
          </p:nvSpPr>
          <p:spPr>
            <a:xfrm>
              <a:off x="8200785"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人</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5" name="小红书平北职场PPT7-25"/>
            <p:cNvSpPr/>
            <p:nvPr/>
          </p:nvSpPr>
          <p:spPr>
            <a:xfrm>
              <a:off x="9753071" y="949245"/>
              <a:ext cx="2138107" cy="1089289"/>
            </a:xfrm>
            <a:prstGeom prst="rect">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6" name="小红书平北职场PPT7-26"/>
            <p:cNvSpPr/>
            <p:nvPr/>
          </p:nvSpPr>
          <p:spPr>
            <a:xfrm>
              <a:off x="9879308" y="1316411"/>
              <a:ext cx="1885631"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7" name="小红书平北职场PPT7-27"/>
            <p:cNvSpPr txBox="1"/>
            <p:nvPr/>
          </p:nvSpPr>
          <p:spPr>
            <a:xfrm>
              <a:off x="9823850" y="1010299"/>
              <a:ext cx="125828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年平均离职率</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8" name="小红书平北职场PPT7-28"/>
            <p:cNvSpPr/>
            <p:nvPr/>
          </p:nvSpPr>
          <p:spPr>
            <a:xfrm>
              <a:off x="11516709" y="1070111"/>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39" name="小红书平北职场PPT7-29"/>
            <p:cNvSpPr txBox="1"/>
            <p:nvPr/>
          </p:nvSpPr>
          <p:spPr>
            <a:xfrm>
              <a:off x="9893115"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16.0</a:t>
              </a:r>
              <a:endParaRPr kumimoji="0" lang="en-US" altLang="zh-CN" sz="2800" b="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40" name="小红书平北职场PPT7-30"/>
            <p:cNvSpPr txBox="1"/>
            <p:nvPr/>
          </p:nvSpPr>
          <p:spPr>
            <a:xfrm>
              <a:off x="10648186"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41" name="组合 40"/>
            <p:cNvGrpSpPr/>
            <p:nvPr/>
          </p:nvGrpSpPr>
          <p:grpSpPr>
            <a:xfrm>
              <a:off x="1649765" y="1490539"/>
              <a:ext cx="10399234" cy="376288"/>
              <a:chOff x="1649765" y="1475041"/>
              <a:chExt cx="10399234" cy="376288"/>
            </a:xfrm>
          </p:grpSpPr>
          <p:grpSp>
            <p:nvGrpSpPr>
              <p:cNvPr id="47" name="组合 46"/>
              <p:cNvGrpSpPr/>
              <p:nvPr/>
            </p:nvGrpSpPr>
            <p:grpSpPr>
              <a:xfrm>
                <a:off x="1649765" y="1475041"/>
                <a:ext cx="934552" cy="376288"/>
                <a:chOff x="1538927" y="1475041"/>
                <a:chExt cx="934552" cy="376288"/>
              </a:xfrm>
            </p:grpSpPr>
            <p:sp>
              <p:nvSpPr>
                <p:cNvPr id="60" name="小红书平北职场PPT7-31"/>
                <p:cNvSpPr txBox="1"/>
                <p:nvPr/>
              </p:nvSpPr>
              <p:spPr>
                <a:xfrm>
                  <a:off x="1538927" y="1475041"/>
                  <a:ext cx="934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7.1</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61" name="小红书平北职场PPT7-32"/>
                <p:cNvSpPr txBox="1"/>
                <p:nvPr/>
              </p:nvSpPr>
              <p:spPr>
                <a:xfrm>
                  <a:off x="1893823"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48" name="组合 47"/>
              <p:cNvGrpSpPr/>
              <p:nvPr/>
            </p:nvGrpSpPr>
            <p:grpSpPr>
              <a:xfrm>
                <a:off x="3881034" y="1475041"/>
                <a:ext cx="1060396" cy="376288"/>
                <a:chOff x="3881034" y="1475041"/>
                <a:chExt cx="1060396" cy="376288"/>
              </a:xfrm>
            </p:grpSpPr>
            <p:sp>
              <p:nvSpPr>
                <p:cNvPr id="58" name="小红书平北职场PPT7-33"/>
                <p:cNvSpPr txBox="1"/>
                <p:nvPr/>
              </p:nvSpPr>
              <p:spPr>
                <a:xfrm>
                  <a:off x="3881034" y="1475041"/>
                  <a:ext cx="934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20.0</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9" name="小红书平北职场PPT7-34"/>
                <p:cNvSpPr txBox="1"/>
                <p:nvPr/>
              </p:nvSpPr>
              <p:spPr>
                <a:xfrm>
                  <a:off x="4416039"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49" name="组合 48"/>
              <p:cNvGrpSpPr/>
              <p:nvPr/>
            </p:nvGrpSpPr>
            <p:grpSpPr>
              <a:xfrm>
                <a:off x="6262882" y="1475041"/>
                <a:ext cx="1018834" cy="376288"/>
                <a:chOff x="6250850" y="1475041"/>
                <a:chExt cx="1018834" cy="376288"/>
              </a:xfrm>
            </p:grpSpPr>
            <p:sp>
              <p:nvSpPr>
                <p:cNvPr id="56" name="小红书平北职场PPT7-35"/>
                <p:cNvSpPr txBox="1"/>
                <p:nvPr/>
              </p:nvSpPr>
              <p:spPr>
                <a:xfrm>
                  <a:off x="6250850" y="1475041"/>
                  <a:ext cx="934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23.1</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7" name="小红书平北职场PPT7-36"/>
                <p:cNvSpPr txBox="1"/>
                <p:nvPr/>
              </p:nvSpPr>
              <p:spPr>
                <a:xfrm>
                  <a:off x="6744293"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0" name="组合 49"/>
              <p:cNvGrpSpPr/>
              <p:nvPr/>
            </p:nvGrpSpPr>
            <p:grpSpPr>
              <a:xfrm>
                <a:off x="8715096" y="1475041"/>
                <a:ext cx="904351" cy="376288"/>
                <a:chOff x="8618842" y="1475041"/>
                <a:chExt cx="904351" cy="376288"/>
              </a:xfrm>
            </p:grpSpPr>
            <p:sp>
              <p:nvSpPr>
                <p:cNvPr id="54" name="小红书平北职场PPT7-37"/>
                <p:cNvSpPr txBox="1"/>
                <p:nvPr/>
              </p:nvSpPr>
              <p:spPr>
                <a:xfrm>
                  <a:off x="8618842" y="1475041"/>
                  <a:ext cx="6730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8.9</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5" name="小红书平北职场PPT7-38"/>
                <p:cNvSpPr txBox="1"/>
                <p:nvPr/>
              </p:nvSpPr>
              <p:spPr>
                <a:xfrm>
                  <a:off x="8997802"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1" name="组合 50"/>
              <p:cNvGrpSpPr/>
              <p:nvPr/>
            </p:nvGrpSpPr>
            <p:grpSpPr>
              <a:xfrm>
                <a:off x="11114447" y="1475041"/>
                <a:ext cx="934552" cy="376288"/>
                <a:chOff x="11018191" y="1475041"/>
                <a:chExt cx="934552" cy="376288"/>
              </a:xfrm>
            </p:grpSpPr>
            <p:sp>
              <p:nvSpPr>
                <p:cNvPr id="52" name="小红书平北职场PPT7-39"/>
                <p:cNvSpPr txBox="1"/>
                <p:nvPr/>
              </p:nvSpPr>
              <p:spPr>
                <a:xfrm>
                  <a:off x="11018191" y="1475041"/>
                  <a:ext cx="934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1.1</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3" name="小红书平北职场PPT7-40"/>
                <p:cNvSpPr txBox="1"/>
                <p:nvPr/>
              </p:nvSpPr>
              <p:spPr>
                <a:xfrm>
                  <a:off x="11317667"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sp>
          <p:nvSpPr>
            <p:cNvPr id="42" name="小红书平北职场PPT7-41"/>
            <p:cNvSpPr/>
            <p:nvPr/>
          </p:nvSpPr>
          <p:spPr>
            <a:xfrm>
              <a:off x="1492258" y="1654464"/>
              <a:ext cx="153260" cy="132120"/>
            </a:xfrm>
            <a:prstGeom prst="triangle">
              <a:avLst/>
            </a:prstGeom>
            <a:gradFill flip="none" rotWithShape="1">
              <a:gsLst>
                <a:gs pos="0">
                  <a:schemeClr val="accent1">
                    <a:lumMod val="60000"/>
                    <a:lumOff val="40000"/>
                  </a:schemeClr>
                </a:gs>
                <a:gs pos="100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3" name="小红书平北职场PPT7-42"/>
            <p:cNvSpPr/>
            <p:nvPr/>
          </p:nvSpPr>
          <p:spPr>
            <a:xfrm>
              <a:off x="3730395" y="1654464"/>
              <a:ext cx="153260" cy="132120"/>
            </a:xfrm>
            <a:prstGeom prst="triangle">
              <a:avLst/>
            </a:prstGeom>
            <a:gradFill flip="none" rotWithShape="1">
              <a:gsLst>
                <a:gs pos="0">
                  <a:schemeClr val="accent1">
                    <a:lumMod val="60000"/>
                    <a:lumOff val="40000"/>
                  </a:schemeClr>
                </a:gs>
                <a:gs pos="100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4" name="小红书平北职场PPT7-43"/>
            <p:cNvSpPr/>
            <p:nvPr/>
          </p:nvSpPr>
          <p:spPr>
            <a:xfrm>
              <a:off x="6049155" y="1654464"/>
              <a:ext cx="153260" cy="132120"/>
            </a:xfrm>
            <a:prstGeom prst="triangle">
              <a:avLst/>
            </a:prstGeom>
            <a:gradFill flip="none" rotWithShape="1">
              <a:gsLst>
                <a:gs pos="0">
                  <a:schemeClr val="accent2">
                    <a:lumMod val="60000"/>
                    <a:lumOff val="40000"/>
                  </a:schemeClr>
                </a:gs>
                <a:gs pos="100000">
                  <a:schemeClr val="accent2"/>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5" name="小红书平北职场PPT7-44"/>
            <p:cNvSpPr/>
            <p:nvPr/>
          </p:nvSpPr>
          <p:spPr>
            <a:xfrm>
              <a:off x="8539101" y="1654464"/>
              <a:ext cx="153260" cy="132120"/>
            </a:xfrm>
            <a:prstGeom prst="triangle">
              <a:avLst/>
            </a:prstGeom>
            <a:gradFill flip="none" rotWithShape="1">
              <a:gsLst>
                <a:gs pos="0">
                  <a:schemeClr val="accent1">
                    <a:lumMod val="60000"/>
                    <a:lumOff val="40000"/>
                  </a:schemeClr>
                </a:gs>
                <a:gs pos="100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6" name="小红书平北职场PPT7-45"/>
            <p:cNvSpPr/>
            <p:nvPr/>
          </p:nvSpPr>
          <p:spPr>
            <a:xfrm>
              <a:off x="10883530" y="1654464"/>
              <a:ext cx="153260" cy="132120"/>
            </a:xfrm>
            <a:prstGeom prst="triangle">
              <a:avLst/>
            </a:prstGeom>
            <a:gradFill flip="none" rotWithShape="1">
              <a:gsLst>
                <a:gs pos="0">
                  <a:schemeClr val="accent2">
                    <a:lumMod val="60000"/>
                    <a:lumOff val="40000"/>
                  </a:schemeClr>
                </a:gs>
                <a:gs pos="100000">
                  <a:schemeClr val="accent2"/>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aphicFrame>
        <p:nvGraphicFramePr>
          <p:cNvPr id="62" name="小红书平北职场PPT8"/>
          <p:cNvGraphicFramePr>
            <a:graphicFrameLocks noGrp="1"/>
          </p:cNvGraphicFramePr>
          <p:nvPr/>
        </p:nvGraphicFramePr>
        <p:xfrm>
          <a:off x="430181" y="2887247"/>
          <a:ext cx="2957141" cy="3692480"/>
        </p:xfrm>
        <a:graphic>
          <a:graphicData uri="http://schemas.openxmlformats.org/drawingml/2006/table">
            <a:tbl>
              <a:tblPr/>
              <a:tblGrid>
                <a:gridCol w="756235"/>
                <a:gridCol w="688436"/>
                <a:gridCol w="756235"/>
                <a:gridCol w="756235"/>
              </a:tblGrid>
              <a:tr h="632480">
                <a:tc>
                  <a:txBody>
                    <a:bodyPr/>
                    <a:lstStyle/>
                    <a:p>
                      <a:pPr algn="r"/>
                      <a:r>
                        <a:rPr lang="zh-CN" altLang="en-US" sz="800" dirty="0">
                          <a:effectLst/>
                          <a:latin typeface="+mn-ea"/>
                          <a:ea typeface="+mn-ea"/>
                          <a:cs typeface="思源黑体 CN Normal" panose="020B0400000000000000" pitchFamily="34" charset="-122"/>
                        </a:rPr>
                        <a:t>部门</a:t>
                      </a:r>
                      <a:endParaRPr lang="zh-CN" altLang="en-US" sz="8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a:lnSpc>
                          <a:spcPct val="120000"/>
                        </a:lnSpc>
                      </a:pPr>
                      <a:r>
                        <a:rPr lang="zh-CN" altLang="en-US" sz="1000" dirty="0">
                          <a:effectLst/>
                          <a:latin typeface="+mn-ea"/>
                          <a:ea typeface="+mn-ea"/>
                          <a:cs typeface="思源黑体 CN Normal" panose="020B0400000000000000" pitchFamily="34" charset="-122"/>
                        </a:rPr>
                        <a:t>离职</a:t>
                      </a:r>
                      <a:endParaRPr lang="en-US" altLang="zh-CN" sz="1000" dirty="0">
                        <a:effectLst/>
                        <a:latin typeface="+mn-ea"/>
                        <a:ea typeface="+mn-ea"/>
                        <a:cs typeface="思源黑体 CN Normal" panose="020B0400000000000000" pitchFamily="34" charset="-122"/>
                      </a:endParaRPr>
                    </a:p>
                    <a:p>
                      <a:pPr algn="r">
                        <a:lnSpc>
                          <a:spcPct val="120000"/>
                        </a:lnSpc>
                      </a:pPr>
                      <a:r>
                        <a:rPr lang="zh-CN" altLang="en-US" sz="1000" dirty="0">
                          <a:effectLst/>
                          <a:latin typeface="+mn-ea"/>
                          <a:ea typeface="+mn-ea"/>
                          <a:cs typeface="思源黑体 CN Normal" panose="020B0400000000000000" pitchFamily="34" charset="-122"/>
                        </a:rPr>
                        <a:t>人数</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a:lnSpc>
                          <a:spcPct val="120000"/>
                        </a:lnSpc>
                      </a:pPr>
                      <a:r>
                        <a:rPr lang="zh-CN" altLang="en-US" sz="1000" dirty="0">
                          <a:effectLst/>
                          <a:latin typeface="+mn-ea"/>
                          <a:ea typeface="+mn-ea"/>
                          <a:cs typeface="思源黑体 CN Normal" panose="020B0400000000000000" pitchFamily="34" charset="-122"/>
                        </a:rPr>
                        <a:t>部门</a:t>
                      </a:r>
                      <a:endParaRPr lang="en-US" altLang="zh-CN" sz="1000" dirty="0">
                        <a:effectLst/>
                        <a:latin typeface="+mn-ea"/>
                        <a:ea typeface="+mn-ea"/>
                        <a:cs typeface="思源黑体 CN Normal" panose="020B0400000000000000" pitchFamily="34" charset="-122"/>
                      </a:endParaRPr>
                    </a:p>
                    <a:p>
                      <a:pPr algn="r">
                        <a:lnSpc>
                          <a:spcPct val="120000"/>
                        </a:lnSpc>
                      </a:pPr>
                      <a:r>
                        <a:rPr lang="zh-CN" altLang="en-US" sz="1000" dirty="0">
                          <a:effectLst/>
                          <a:latin typeface="+mn-ea"/>
                          <a:ea typeface="+mn-ea"/>
                          <a:cs typeface="思源黑体 CN Normal" panose="020B0400000000000000" pitchFamily="34" charset="-122"/>
                        </a:rPr>
                        <a:t>总人数</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a:lnSpc>
                          <a:spcPct val="120000"/>
                        </a:lnSpc>
                      </a:pPr>
                      <a:r>
                        <a:rPr lang="zh-CN" altLang="en-US" sz="1000" dirty="0">
                          <a:effectLst/>
                          <a:latin typeface="+mn-ea"/>
                          <a:ea typeface="+mn-ea"/>
                          <a:cs typeface="思源黑体 CN Normal" panose="020B0400000000000000" pitchFamily="34" charset="-122"/>
                        </a:rPr>
                        <a:t>部门</a:t>
                      </a:r>
                      <a:endParaRPr lang="en-US" altLang="zh-CN" sz="1000" dirty="0">
                        <a:effectLst/>
                        <a:latin typeface="+mn-ea"/>
                        <a:ea typeface="+mn-ea"/>
                        <a:cs typeface="思源黑体 CN Normal" panose="020B0400000000000000" pitchFamily="34" charset="-122"/>
                      </a:endParaRPr>
                    </a:p>
                    <a:p>
                      <a:pPr algn="r">
                        <a:lnSpc>
                          <a:spcPct val="120000"/>
                        </a:lnSpc>
                      </a:pPr>
                      <a:r>
                        <a:rPr lang="zh-CN" altLang="en-US" sz="1000" dirty="0">
                          <a:effectLst/>
                          <a:latin typeface="+mn-ea"/>
                          <a:ea typeface="+mn-ea"/>
                          <a:cs typeface="思源黑体 CN Normal" panose="020B0400000000000000" pitchFamily="34" charset="-122"/>
                        </a:rPr>
                        <a:t>离职率</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r>
              <a:tr h="612000">
                <a:tc>
                  <a:txBody>
                    <a:bodyPr/>
                    <a:lstStyle/>
                    <a:p>
                      <a:pPr algn="r"/>
                      <a:r>
                        <a:rPr lang="zh-CN" altLang="en-US" sz="1000" dirty="0">
                          <a:effectLst/>
                          <a:latin typeface="+mn-ea"/>
                          <a:ea typeface="+mn-ea"/>
                          <a:cs typeface="思源黑体 CN Normal" panose="020B0400000000000000" pitchFamily="34" charset="-122"/>
                        </a:rPr>
                        <a:t>销售部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25</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110</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22.7%</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w="12700" cap="flat" cmpd="sng" algn="ctr">
                      <a:solidFill>
                        <a:schemeClr val="accent1"/>
                      </a:solidFill>
                      <a:prstDash val="solid"/>
                      <a:round/>
                      <a:headEnd type="none" w="med" len="med"/>
                      <a:tailEnd type="none" w="med" len="med"/>
                    </a:lnT>
                    <a:lnB>
                      <a:noFill/>
                    </a:lnB>
                    <a:noFill/>
                  </a:tcPr>
                </a:tc>
              </a:tr>
              <a:tr h="612000">
                <a:tc>
                  <a:txBody>
                    <a:bodyPr/>
                    <a:lstStyle/>
                    <a:p>
                      <a:pPr algn="r">
                        <a:lnSpc>
                          <a:spcPct val="120000"/>
                        </a:lnSpc>
                      </a:pPr>
                      <a:r>
                        <a:rPr lang="zh-CN" altLang="en-US" sz="1000" dirty="0">
                          <a:effectLst/>
                          <a:latin typeface="+mn-ea"/>
                          <a:ea typeface="+mn-ea"/>
                          <a:cs typeface="思源黑体 CN Normal" panose="020B0400000000000000" pitchFamily="34" charset="-122"/>
                        </a:rPr>
                        <a:t>技术部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18</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90</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20.0%</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noFill/>
                  </a:tcPr>
                </a:tc>
              </a:tr>
              <a:tr h="612000">
                <a:tc>
                  <a:txBody>
                    <a:bodyPr/>
                    <a:lstStyle/>
                    <a:p>
                      <a:pPr algn="r">
                        <a:lnSpc>
                          <a:spcPct val="120000"/>
                        </a:lnSpc>
                      </a:pPr>
                      <a:r>
                        <a:rPr lang="zh-CN" altLang="en-US" sz="1000" dirty="0">
                          <a:effectLst/>
                          <a:latin typeface="+mn-ea"/>
                          <a:ea typeface="+mn-ea"/>
                          <a:cs typeface="思源黑体 CN Normal" panose="020B0400000000000000" pitchFamily="34" charset="-122"/>
                        </a:rPr>
                        <a:t>客服部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12</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60</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20.0%</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noFill/>
                  </a:tcPr>
                </a:tc>
              </a:tr>
              <a:tr h="612000">
                <a:tc>
                  <a:txBody>
                    <a:bodyPr/>
                    <a:lstStyle/>
                    <a:p>
                      <a:pPr algn="r">
                        <a:lnSpc>
                          <a:spcPct val="120000"/>
                        </a:lnSpc>
                      </a:pPr>
                      <a:r>
                        <a:rPr lang="zh-CN" altLang="en-US" sz="1000" dirty="0">
                          <a:effectLst/>
                          <a:latin typeface="+mn-ea"/>
                          <a:ea typeface="+mn-ea"/>
                          <a:cs typeface="思源黑体 CN Normal" panose="020B0400000000000000" pitchFamily="34" charset="-122"/>
                        </a:rPr>
                        <a:t>市场部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8</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45</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17.8%</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noFill/>
                  </a:tcPr>
                </a:tc>
              </a:tr>
              <a:tr h="612000">
                <a:tc>
                  <a:txBody>
                    <a:bodyPr/>
                    <a:lstStyle/>
                    <a:p>
                      <a:pPr algn="r"/>
                      <a:r>
                        <a:rPr lang="zh-CN" altLang="en-US" sz="1000" dirty="0">
                          <a:effectLst/>
                          <a:latin typeface="+mn-ea"/>
                          <a:ea typeface="+mn-ea"/>
                          <a:cs typeface="思源黑体 CN Normal" panose="020B0400000000000000" pitchFamily="34" charset="-122"/>
                        </a:rPr>
                        <a:t>行政部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5</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40</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12.5%</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noFill/>
                  </a:tcPr>
                </a:tc>
              </a:tr>
            </a:tbl>
          </a:graphicData>
        </a:graphic>
      </p:graphicFrame>
      <p:grpSp>
        <p:nvGrpSpPr>
          <p:cNvPr id="63" name="小红书平北职场PPT10"/>
          <p:cNvGrpSpPr/>
          <p:nvPr/>
        </p:nvGrpSpPr>
        <p:grpSpPr>
          <a:xfrm>
            <a:off x="8586858" y="2906606"/>
            <a:ext cx="3009490" cy="968310"/>
            <a:chOff x="8278569" y="2766363"/>
            <a:chExt cx="3102800" cy="1417094"/>
          </a:xfrm>
        </p:grpSpPr>
        <p:sp>
          <p:nvSpPr>
            <p:cNvPr id="64" name="小红书平北职场PPT10-1"/>
            <p:cNvSpPr txBox="1"/>
            <p:nvPr/>
          </p:nvSpPr>
          <p:spPr>
            <a:xfrm>
              <a:off x="9184196" y="3095944"/>
              <a:ext cx="1960438" cy="471349"/>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95" b="0" i="0" u="none" strike="noStrike" kern="1200" cap="none" spc="0" normalizeH="0" baseline="0" noProof="0" dirty="0">
                  <a:ln>
                    <a:noFill/>
                  </a:ln>
                  <a:gradFill>
                    <a:gsLst>
                      <a:gs pos="0">
                        <a:schemeClr val="accent2">
                          <a:lumMod val="60000"/>
                          <a:lumOff val="40000"/>
                        </a:schemeClr>
                      </a:gs>
                      <a:gs pos="100000">
                        <a:schemeClr val="accent2"/>
                      </a:gs>
                    </a:gsLst>
                    <a:lin ang="5400000" scaled="0"/>
                  </a:gradFill>
                  <a:effectLst/>
                  <a:uLnTx/>
                  <a:uFillTx/>
                  <a:latin typeface="思源黑体 CN Heavy" panose="020B0A00000000000000" charset="-122"/>
                  <a:ea typeface="思源黑体 CN Heavy" panose="020B0A00000000000000" charset="-122"/>
                  <a:cs typeface="思源黑体 CN Normal" panose="020B0400000000000000" pitchFamily="34" charset="-122"/>
                </a:rPr>
                <a:t>薪酬福利缺乏竞争力</a:t>
              </a:r>
              <a:endParaRPr kumimoji="0" lang="zh-CN" altLang="en-US" sz="1495" b="0" i="0" u="none" strike="noStrike" kern="1200" cap="none" spc="0" normalizeH="0" baseline="0" noProof="0" dirty="0">
                <a:ln>
                  <a:noFill/>
                </a:ln>
                <a:gradFill>
                  <a:gsLst>
                    <a:gs pos="0">
                      <a:schemeClr val="accent2">
                        <a:lumMod val="60000"/>
                        <a:lumOff val="40000"/>
                      </a:schemeClr>
                    </a:gs>
                    <a:gs pos="100000">
                      <a:schemeClr val="accent2"/>
                    </a:gs>
                  </a:gsLst>
                  <a:lin ang="5400000" scaled="0"/>
                </a:gra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5" name="小红书平北职场PPT10-2"/>
            <p:cNvSpPr txBox="1"/>
            <p:nvPr/>
          </p:nvSpPr>
          <p:spPr>
            <a:xfrm>
              <a:off x="8278569" y="3143238"/>
              <a:ext cx="904360" cy="336878"/>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其他方面原因</a:t>
              </a:r>
              <a:endPar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6" name="小红书平北职场PPT10-3"/>
            <p:cNvSpPr txBox="1"/>
            <p:nvPr/>
          </p:nvSpPr>
          <p:spPr>
            <a:xfrm>
              <a:off x="8514934" y="2785414"/>
              <a:ext cx="1162182" cy="370472"/>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45"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工作与生活失衡</a:t>
              </a:r>
              <a:endParaRPr kumimoji="0" lang="zh-CN" altLang="en-US" sz="1045"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7" name="小红书平北职场PPT10-4"/>
            <p:cNvSpPr txBox="1"/>
            <p:nvPr/>
          </p:nvSpPr>
          <p:spPr>
            <a:xfrm>
              <a:off x="9764159" y="3812985"/>
              <a:ext cx="1023354" cy="370472"/>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45"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个人发展瓶颈</a:t>
              </a:r>
              <a:endParaRPr kumimoji="0" lang="zh-CN" altLang="en-US" sz="1045"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8" name="小红书平北职场PPT10-5"/>
            <p:cNvSpPr txBox="1"/>
            <p:nvPr/>
          </p:nvSpPr>
          <p:spPr>
            <a:xfrm>
              <a:off x="10033085" y="3502761"/>
              <a:ext cx="1261344" cy="336878"/>
            </a:xfrm>
            <a:prstGeom prst="rect">
              <a:avLst/>
            </a:prstGeom>
            <a:noFill/>
          </p:spPr>
          <p:txBody>
            <a:bodyPr vert="horz" wrap="none" rtlCol="0">
              <a:spAutoFit/>
            </a:bodyPr>
            <a:lstStyle>
              <a:defPPr>
                <a:defRPr lang="zh-CN"/>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公司文化与管理风格</a:t>
              </a:r>
              <a:endPar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9" name="小红书平北职场PPT10-6"/>
            <p:cNvSpPr txBox="1"/>
            <p:nvPr/>
          </p:nvSpPr>
          <p:spPr>
            <a:xfrm>
              <a:off x="8482200" y="3473543"/>
              <a:ext cx="1446447" cy="403785"/>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95" b="0" i="0" u="none" strike="noStrike" kern="1200" cap="none" spc="0" normalizeH="0" baseline="0" noProof="0" dirty="0">
                  <a:ln>
                    <a:noFill/>
                  </a:ln>
                  <a:gradFill>
                    <a:gsLst>
                      <a:gs pos="0">
                        <a:schemeClr val="accent1">
                          <a:lumMod val="60000"/>
                          <a:lumOff val="40000"/>
                        </a:schemeClr>
                      </a:gs>
                      <a:gs pos="100000">
                        <a:schemeClr val="accent1"/>
                      </a:gs>
                    </a:gsLst>
                    <a:lin ang="5400000" scaled="0"/>
                  </a:gradFill>
                  <a:effectLst/>
                  <a:uLnTx/>
                  <a:uFillTx/>
                  <a:latin typeface="思源黑体 CN Heavy" panose="020B0A00000000000000" charset="-122"/>
                  <a:ea typeface="思源黑体 CN Heavy" panose="020B0A00000000000000" charset="-122"/>
                  <a:cs typeface="思源黑体 CN Normal" panose="020B0400000000000000" pitchFamily="34" charset="-122"/>
                </a:rPr>
                <a:t>职业发展空间有限</a:t>
              </a:r>
              <a:endParaRPr kumimoji="0" lang="zh-CN" altLang="en-US" sz="1195" b="0" i="0" u="none" strike="noStrike" kern="1200" cap="none" spc="0" normalizeH="0" baseline="0" noProof="0" dirty="0">
                <a:ln>
                  <a:noFill/>
                </a:ln>
                <a:gradFill>
                  <a:gsLst>
                    <a:gs pos="0">
                      <a:schemeClr val="accent1">
                        <a:lumMod val="60000"/>
                        <a:lumOff val="40000"/>
                      </a:schemeClr>
                    </a:gs>
                    <a:gs pos="100000">
                      <a:schemeClr val="accent1"/>
                    </a:gs>
                  </a:gsLst>
                  <a:lin ang="5400000" scaled="0"/>
                </a:gra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0" name="小红书平北职场PPT10-7"/>
            <p:cNvSpPr txBox="1"/>
            <p:nvPr/>
          </p:nvSpPr>
          <p:spPr>
            <a:xfrm>
              <a:off x="9777914" y="2766363"/>
              <a:ext cx="1603455" cy="403785"/>
            </a:xfrm>
            <a:prstGeom prst="rect">
              <a:avLst/>
            </a:prstGeom>
            <a:noFill/>
          </p:spPr>
          <p:txBody>
            <a:bodyPr vert="horz" wrap="none" rtlCol="0">
              <a:spAutoFit/>
            </a:bodyPr>
            <a:lstStyle>
              <a:defPPr>
                <a:defRPr lang="zh-CN"/>
              </a:defPPr>
              <a:lvl1pPr>
                <a:defRPr sz="1600">
                  <a:gradFill>
                    <a:gsLst>
                      <a:gs pos="0">
                        <a:schemeClr val="accent1">
                          <a:lumMod val="60000"/>
                          <a:lumOff val="40000"/>
                        </a:schemeClr>
                      </a:gs>
                      <a:gs pos="100000">
                        <a:schemeClr val="accent1"/>
                      </a:gs>
                    </a:gsLst>
                    <a:lin ang="5400000" scaled="0"/>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95" b="0" i="0" u="none" strike="noStrike" kern="1200" cap="none" spc="0" normalizeH="0" baseline="0" noProof="0" dirty="0">
                  <a:ln>
                    <a:noFill/>
                  </a:ln>
                  <a:effectLst/>
                  <a:uLnTx/>
                  <a:uFillTx/>
                  <a:latin typeface="思源黑体 CN Heavy" panose="020B0A00000000000000" charset="-122"/>
                  <a:ea typeface="思源黑体 CN Heavy" panose="020B0A00000000000000" charset="-122"/>
                  <a:cs typeface="思源黑体 CN Normal" panose="020B0400000000000000" pitchFamily="34" charset="-122"/>
                </a:rPr>
                <a:t>不符合公司发展辞退</a:t>
              </a:r>
              <a:endParaRPr kumimoji="0" lang="zh-CN" altLang="en-US" sz="1195" b="0" i="0" u="none" strike="noStrike" kern="1200" cap="none" spc="0" normalizeH="0" baseline="0" noProof="0" dirty="0">
                <a:ln>
                  <a:noFill/>
                </a:ln>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1" name="小红书平北职场PPT10-8"/>
            <p:cNvSpPr txBox="1"/>
            <p:nvPr/>
          </p:nvSpPr>
          <p:spPr>
            <a:xfrm>
              <a:off x="8379316" y="3837520"/>
              <a:ext cx="1142350" cy="336878"/>
            </a:xfrm>
            <a:prstGeom prst="rect">
              <a:avLst/>
            </a:prstGeom>
            <a:noFill/>
          </p:spPr>
          <p:txBody>
            <a:bodyPr vert="horz" wrap="none" rtlCol="0">
              <a:spAutoFit/>
            </a:bodyPr>
            <a:lstStyle>
              <a:defPPr>
                <a:defRPr lang="zh-CN"/>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寻求新的工作体验</a:t>
              </a:r>
              <a:endPar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nvGrpSpPr>
          <p:cNvPr id="72" name="小红书平北职场PPT11"/>
          <p:cNvGrpSpPr/>
          <p:nvPr/>
        </p:nvGrpSpPr>
        <p:grpSpPr>
          <a:xfrm>
            <a:off x="8435346" y="4715063"/>
            <a:ext cx="3343216" cy="1874431"/>
            <a:chOff x="8435346" y="4676963"/>
            <a:chExt cx="3343216" cy="1988766"/>
          </a:xfrm>
        </p:grpSpPr>
        <p:graphicFrame>
          <p:nvGraphicFramePr>
            <p:cNvPr id="73" name="小红书平北职场PPT11-1"/>
            <p:cNvGraphicFramePr/>
            <p:nvPr/>
          </p:nvGraphicFramePr>
          <p:xfrm>
            <a:off x="8435346" y="4676963"/>
            <a:ext cx="3009906" cy="1988766"/>
          </p:xfrm>
          <a:graphic>
            <a:graphicData uri="http://schemas.openxmlformats.org/drawingml/2006/chart">
              <c:chart xmlns:c="http://schemas.openxmlformats.org/drawingml/2006/chart" xmlns:r="http://schemas.openxmlformats.org/officeDocument/2006/relationships" r:id="rId1"/>
            </a:graphicData>
          </a:graphic>
        </p:graphicFrame>
        <p:grpSp>
          <p:nvGrpSpPr>
            <p:cNvPr id="74" name="组合 73"/>
            <p:cNvGrpSpPr/>
            <p:nvPr/>
          </p:nvGrpSpPr>
          <p:grpSpPr>
            <a:xfrm>
              <a:off x="9334564" y="4894010"/>
              <a:ext cx="2442395" cy="246219"/>
              <a:chOff x="8914377" y="5055379"/>
              <a:chExt cx="2442395" cy="246219"/>
            </a:xfrm>
          </p:grpSpPr>
          <p:grpSp>
            <p:nvGrpSpPr>
              <p:cNvPr id="90" name="组合 89"/>
              <p:cNvGrpSpPr/>
              <p:nvPr/>
            </p:nvGrpSpPr>
            <p:grpSpPr>
              <a:xfrm>
                <a:off x="8948507" y="5055379"/>
                <a:ext cx="2408265" cy="246219"/>
                <a:chOff x="8948507" y="5055379"/>
                <a:chExt cx="2408265" cy="246219"/>
              </a:xfrm>
            </p:grpSpPr>
            <p:sp>
              <p:nvSpPr>
                <p:cNvPr id="92" name="小红书平北职场PPT11-2"/>
                <p:cNvSpPr txBox="1"/>
                <p:nvPr/>
              </p:nvSpPr>
              <p:spPr>
                <a:xfrm>
                  <a:off x="10848299" y="5070767"/>
                  <a:ext cx="508473"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12.5%</a:t>
                  </a:r>
                  <a:endParaRPr kumimoji="0" lang="zh-CN" altLang="en-US"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3" name="小红书平北职场PPT11-3"/>
                <p:cNvSpPr/>
                <p:nvPr/>
              </p:nvSpPr>
              <p:spPr>
                <a:xfrm rot="5400000">
                  <a:off x="9034459" y="4976046"/>
                  <a:ext cx="246219" cy="404885"/>
                </a:xfrm>
                <a:prstGeom prst="round2SameRect">
                  <a:avLst>
                    <a:gd name="adj1" fmla="val 50000"/>
                    <a:gd name="adj2" fmla="val 0"/>
                  </a:avLst>
                </a:prstGeom>
                <a:gradFill flip="none" rotWithShape="1">
                  <a:gsLst>
                    <a:gs pos="0">
                      <a:schemeClr val="accent2">
                        <a:lumMod val="60000"/>
                        <a:lumOff val="40000"/>
                      </a:schemeClr>
                    </a:gs>
                    <a:gs pos="100000">
                      <a:schemeClr val="accent2"/>
                    </a:gs>
                  </a:gsLst>
                  <a:lin ang="5400000" scaled="1"/>
                  <a:tileRect/>
                </a:gra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4" name="小红书平北职场PPT11-4"/>
                <p:cNvSpPr txBox="1"/>
                <p:nvPr/>
              </p:nvSpPr>
              <p:spPr>
                <a:xfrm>
                  <a:off x="8948507" y="5070767"/>
                  <a:ext cx="412292"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10</a:t>
                  </a:r>
                  <a:r>
                    <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人</a:t>
                  </a:r>
                  <a:endPar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91" name="小红书平北职场PPT11-5"/>
              <p:cNvSpPr/>
              <p:nvPr/>
            </p:nvSpPr>
            <p:spPr>
              <a:xfrm flipH="1">
                <a:off x="8914377" y="5141624"/>
                <a:ext cx="72000" cy="76392"/>
              </a:xfrm>
              <a:prstGeom prst="ellipse">
                <a:avLst/>
              </a:prstGeom>
              <a:solidFill>
                <a:schemeClr val="bg1"/>
              </a:solidFill>
              <a:ln w="14399"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nvGrpSpPr>
            <p:cNvPr id="75" name="组合 74"/>
            <p:cNvGrpSpPr/>
            <p:nvPr/>
          </p:nvGrpSpPr>
          <p:grpSpPr>
            <a:xfrm>
              <a:off x="9334564" y="5338885"/>
              <a:ext cx="2443998" cy="246219"/>
              <a:chOff x="8914377" y="5419568"/>
              <a:chExt cx="2443998" cy="246219"/>
            </a:xfrm>
          </p:grpSpPr>
          <p:sp>
            <p:nvSpPr>
              <p:cNvPr id="86" name="小红书平北职场PPT11-6"/>
              <p:cNvSpPr txBox="1"/>
              <p:nvPr/>
            </p:nvSpPr>
            <p:spPr>
              <a:xfrm>
                <a:off x="10849902" y="5434955"/>
                <a:ext cx="508473"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15.0%</a:t>
                </a:r>
                <a:endParaRPr kumimoji="0" lang="zh-CN" altLang="en-US"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7" name="小红书平北职场PPT11-7"/>
              <p:cNvSpPr/>
              <p:nvPr/>
            </p:nvSpPr>
            <p:spPr>
              <a:xfrm rot="5400000">
                <a:off x="9034466" y="5340235"/>
                <a:ext cx="246219" cy="404885"/>
              </a:xfrm>
              <a:prstGeom prst="round2SameRect">
                <a:avLst>
                  <a:gd name="adj1" fmla="val 50000"/>
                  <a:gd name="adj2" fmla="val 0"/>
                </a:avLst>
              </a:prstGeom>
              <a:gradFill flip="none" rotWithShape="1">
                <a:gsLst>
                  <a:gs pos="0">
                    <a:schemeClr val="accent2">
                      <a:lumMod val="60000"/>
                      <a:lumOff val="40000"/>
                    </a:schemeClr>
                  </a:gs>
                  <a:gs pos="100000">
                    <a:schemeClr val="accent2"/>
                  </a:gs>
                </a:gsLst>
                <a:lin ang="5400000" scaled="1"/>
                <a:tileRect/>
              </a:gra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8" name="小红书平北职场PPT11-8"/>
              <p:cNvSpPr txBox="1"/>
              <p:nvPr/>
            </p:nvSpPr>
            <p:spPr>
              <a:xfrm>
                <a:off x="8958656" y="5434955"/>
                <a:ext cx="412292"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12</a:t>
                </a:r>
                <a:r>
                  <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人</a:t>
                </a:r>
                <a:endPar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9" name="小红书平北职场PPT11-9"/>
              <p:cNvSpPr/>
              <p:nvPr/>
            </p:nvSpPr>
            <p:spPr>
              <a:xfrm flipH="1">
                <a:off x="8914377" y="5505813"/>
                <a:ext cx="72000" cy="76392"/>
              </a:xfrm>
              <a:prstGeom prst="ellipse">
                <a:avLst/>
              </a:prstGeom>
              <a:solidFill>
                <a:schemeClr val="bg1"/>
              </a:solidFill>
              <a:ln w="14399"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nvGrpSpPr>
            <p:cNvPr id="76" name="组合 75"/>
            <p:cNvGrpSpPr/>
            <p:nvPr/>
          </p:nvGrpSpPr>
          <p:grpSpPr>
            <a:xfrm>
              <a:off x="9334564" y="5760505"/>
              <a:ext cx="2419952" cy="246219"/>
              <a:chOff x="8914377" y="5800847"/>
              <a:chExt cx="2419952" cy="246219"/>
            </a:xfrm>
          </p:grpSpPr>
          <p:sp>
            <p:nvSpPr>
              <p:cNvPr id="82" name="小红书平北职场PPT11-10"/>
              <p:cNvSpPr txBox="1"/>
              <p:nvPr/>
            </p:nvSpPr>
            <p:spPr>
              <a:xfrm>
                <a:off x="10825856" y="5816234"/>
                <a:ext cx="508473"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35.0%</a:t>
                </a:r>
                <a:endParaRPr kumimoji="0" lang="zh-CN" altLang="en-US"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3" name="小红书平北职场PPT11-11"/>
              <p:cNvSpPr/>
              <p:nvPr/>
            </p:nvSpPr>
            <p:spPr>
              <a:xfrm rot="5400000">
                <a:off x="9034472" y="5721514"/>
                <a:ext cx="246219" cy="404885"/>
              </a:xfrm>
              <a:prstGeom prst="round2SameRect">
                <a:avLst>
                  <a:gd name="adj1" fmla="val 50000"/>
                  <a:gd name="adj2" fmla="val 0"/>
                </a:avLst>
              </a:prstGeom>
              <a:gradFill flip="none" rotWithShape="1">
                <a:gsLst>
                  <a:gs pos="0">
                    <a:schemeClr val="accent2">
                      <a:lumMod val="60000"/>
                      <a:lumOff val="40000"/>
                    </a:schemeClr>
                  </a:gs>
                  <a:gs pos="100000">
                    <a:schemeClr val="accent2"/>
                  </a:gs>
                </a:gsLst>
                <a:lin ang="5400000" scaled="1"/>
                <a:tileRect/>
              </a:gra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4" name="小红书平北职场PPT11-12"/>
              <p:cNvSpPr txBox="1"/>
              <p:nvPr/>
            </p:nvSpPr>
            <p:spPr>
              <a:xfrm>
                <a:off x="8934610" y="5816234"/>
                <a:ext cx="412292"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28</a:t>
                </a:r>
                <a:r>
                  <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人</a:t>
                </a:r>
                <a:endPar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5" name="小红书平北职场PPT11-13"/>
              <p:cNvSpPr/>
              <p:nvPr/>
            </p:nvSpPr>
            <p:spPr>
              <a:xfrm flipH="1">
                <a:off x="8914377" y="5887092"/>
                <a:ext cx="72000" cy="76392"/>
              </a:xfrm>
              <a:prstGeom prst="ellipse">
                <a:avLst/>
              </a:prstGeom>
              <a:solidFill>
                <a:schemeClr val="bg1"/>
              </a:solidFill>
              <a:ln w="14399"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nvGrpSpPr>
            <p:cNvPr id="77" name="组合 76"/>
            <p:cNvGrpSpPr/>
            <p:nvPr/>
          </p:nvGrpSpPr>
          <p:grpSpPr>
            <a:xfrm>
              <a:off x="9334564" y="6193551"/>
              <a:ext cx="2421556" cy="246219"/>
              <a:chOff x="8914377" y="6173379"/>
              <a:chExt cx="2421556" cy="246219"/>
            </a:xfrm>
          </p:grpSpPr>
          <p:sp>
            <p:nvSpPr>
              <p:cNvPr id="78" name="小红书平北职场PPT11-14"/>
              <p:cNvSpPr txBox="1"/>
              <p:nvPr/>
            </p:nvSpPr>
            <p:spPr>
              <a:xfrm>
                <a:off x="10827460" y="6188767"/>
                <a:ext cx="508473"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37.5%</a:t>
                </a:r>
                <a:endParaRPr kumimoji="0" lang="zh-CN" altLang="en-US"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9" name="小红书平北职场PPT11-15"/>
              <p:cNvSpPr/>
              <p:nvPr/>
            </p:nvSpPr>
            <p:spPr>
              <a:xfrm rot="5400000">
                <a:off x="9034463" y="6094046"/>
                <a:ext cx="246219" cy="404885"/>
              </a:xfrm>
              <a:prstGeom prst="round2SameRect">
                <a:avLst>
                  <a:gd name="adj1" fmla="val 50000"/>
                  <a:gd name="adj2" fmla="val 0"/>
                </a:avLst>
              </a:prstGeom>
              <a:gradFill flip="none" rotWithShape="1">
                <a:gsLst>
                  <a:gs pos="0">
                    <a:schemeClr val="accent2">
                      <a:lumMod val="60000"/>
                      <a:lumOff val="40000"/>
                    </a:schemeClr>
                  </a:gs>
                  <a:gs pos="100000">
                    <a:schemeClr val="accent2"/>
                  </a:gs>
                </a:gsLst>
                <a:lin ang="5400000" scaled="1"/>
                <a:tileRect/>
              </a:gra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0" name="小红书平北职场PPT11-16"/>
              <p:cNvSpPr txBox="1"/>
              <p:nvPr/>
            </p:nvSpPr>
            <p:spPr>
              <a:xfrm>
                <a:off x="8936214" y="6188767"/>
                <a:ext cx="412292"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30</a:t>
                </a:r>
                <a:r>
                  <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人</a:t>
                </a:r>
                <a:endPar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1" name="小红书平北职场PPT11-17"/>
              <p:cNvSpPr/>
              <p:nvPr/>
            </p:nvSpPr>
            <p:spPr>
              <a:xfrm flipH="1">
                <a:off x="8914377" y="6259625"/>
                <a:ext cx="72000" cy="76392"/>
              </a:xfrm>
              <a:prstGeom prst="ellipse">
                <a:avLst/>
              </a:prstGeom>
              <a:solidFill>
                <a:schemeClr val="bg1"/>
              </a:solidFill>
              <a:ln w="14399"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grpSp>
        <p:nvGrpSpPr>
          <p:cNvPr id="95" name="小红书平北职场PPT12"/>
          <p:cNvGrpSpPr/>
          <p:nvPr/>
        </p:nvGrpSpPr>
        <p:grpSpPr>
          <a:xfrm>
            <a:off x="284267" y="2336301"/>
            <a:ext cx="10543400" cy="2363306"/>
            <a:chOff x="284267" y="2336301"/>
            <a:chExt cx="10543400" cy="2363306"/>
          </a:xfrm>
        </p:grpSpPr>
        <p:grpSp>
          <p:nvGrpSpPr>
            <p:cNvPr id="96" name="组合 95"/>
            <p:cNvGrpSpPr/>
            <p:nvPr/>
          </p:nvGrpSpPr>
          <p:grpSpPr>
            <a:xfrm>
              <a:off x="284267" y="2336301"/>
              <a:ext cx="10543400" cy="2363306"/>
              <a:chOff x="284267" y="2336301"/>
              <a:chExt cx="10543400" cy="2363306"/>
            </a:xfrm>
          </p:grpSpPr>
          <p:grpSp>
            <p:nvGrpSpPr>
              <p:cNvPr id="98" name="组合 97"/>
              <p:cNvGrpSpPr/>
              <p:nvPr/>
            </p:nvGrpSpPr>
            <p:grpSpPr>
              <a:xfrm>
                <a:off x="284267" y="2336301"/>
                <a:ext cx="2964510" cy="431815"/>
                <a:chOff x="194327" y="2319972"/>
                <a:chExt cx="2964510" cy="431815"/>
              </a:xfrm>
            </p:grpSpPr>
            <p:grpSp>
              <p:nvGrpSpPr>
                <p:cNvPr id="105" name="组合 104"/>
                <p:cNvGrpSpPr/>
                <p:nvPr/>
              </p:nvGrpSpPr>
              <p:grpSpPr>
                <a:xfrm>
                  <a:off x="194327" y="2319972"/>
                  <a:ext cx="2964510" cy="431815"/>
                  <a:chOff x="194327" y="2319972"/>
                  <a:chExt cx="2964510" cy="431815"/>
                </a:xfrm>
              </p:grpSpPr>
              <p:sp>
                <p:nvSpPr>
                  <p:cNvPr id="107" name="小红书平北职场PPT12-1"/>
                  <p:cNvSpPr/>
                  <p:nvPr>
                    <p:custDataLst>
                      <p:tags r:id="rId6"/>
                    </p:custDataLst>
                  </p:nvPr>
                </p:nvSpPr>
                <p:spPr>
                  <a:xfrm>
                    <a:off x="194330" y="2391681"/>
                    <a:ext cx="2964507" cy="360106"/>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42619" dist="65824" dir="5400000" algn="ctr" rotWithShape="0">
                      <a:schemeClr val="accent2">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8" name="小红书平北职场PPT12-2"/>
                  <p:cNvSpPr/>
                  <p:nvPr>
                    <p:custDataLst>
                      <p:tags r:id="rId7"/>
                    </p:custDataLst>
                  </p:nvPr>
                </p:nvSpPr>
                <p:spPr>
                  <a:xfrm flipH="1">
                    <a:off x="194327" y="2319972"/>
                    <a:ext cx="134897" cy="75261"/>
                  </a:xfrm>
                  <a:prstGeom prst="rtTriangle">
                    <a:avLst/>
                  </a:prstGeom>
                  <a:solidFill>
                    <a:schemeClr val="accent2">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06" name="小红书平北职场PPT12-3"/>
                <p:cNvSpPr txBox="1"/>
                <p:nvPr/>
              </p:nvSpPr>
              <p:spPr>
                <a:xfrm>
                  <a:off x="302896" y="2421217"/>
                  <a:ext cx="279942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离职人数排名前五的部门</a:t>
                  </a:r>
                  <a:r>
                    <a:rPr kumimoji="0" lang="zh-CN"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名次表</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99" name="组合 98"/>
              <p:cNvGrpSpPr/>
              <p:nvPr/>
            </p:nvGrpSpPr>
            <p:grpSpPr>
              <a:xfrm>
                <a:off x="8209131" y="4267792"/>
                <a:ext cx="2618536" cy="431815"/>
                <a:chOff x="194327" y="2319972"/>
                <a:chExt cx="2618536" cy="431815"/>
              </a:xfrm>
            </p:grpSpPr>
            <p:sp>
              <p:nvSpPr>
                <p:cNvPr id="103" name="小红书平北职场PPT12-4"/>
                <p:cNvSpPr/>
                <p:nvPr>
                  <p:custDataLst>
                    <p:tags r:id="rId8"/>
                  </p:custDataLst>
                </p:nvPr>
              </p:nvSpPr>
              <p:spPr>
                <a:xfrm>
                  <a:off x="194330" y="2391681"/>
                  <a:ext cx="2618533"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4" name="小红书平北职场PPT12-5"/>
                <p:cNvSpPr/>
                <p:nvPr>
                  <p:custDataLst>
                    <p:tags r:id="rId9"/>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00" name="组合 99"/>
              <p:cNvGrpSpPr/>
              <p:nvPr/>
            </p:nvGrpSpPr>
            <p:grpSpPr>
              <a:xfrm>
                <a:off x="8209131" y="2336301"/>
                <a:ext cx="2618536" cy="431815"/>
                <a:chOff x="194327" y="2319972"/>
                <a:chExt cx="2618536" cy="431815"/>
              </a:xfrm>
            </p:grpSpPr>
            <p:sp>
              <p:nvSpPr>
                <p:cNvPr id="101" name="小红书平北职场PPT12-6"/>
                <p:cNvSpPr/>
                <p:nvPr>
                  <p:custDataLst>
                    <p:tags r:id="rId10"/>
                  </p:custDataLst>
                </p:nvPr>
              </p:nvSpPr>
              <p:spPr>
                <a:xfrm>
                  <a:off x="194330" y="2391681"/>
                  <a:ext cx="2618533"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2" name="小红书平北职场PPT12-7"/>
                <p:cNvSpPr/>
                <p:nvPr>
                  <p:custDataLst>
                    <p:tags r:id="rId11"/>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sp>
          <p:nvSpPr>
            <p:cNvPr id="97" name="小红书平北职场PPT12-8"/>
            <p:cNvSpPr txBox="1"/>
            <p:nvPr/>
          </p:nvSpPr>
          <p:spPr>
            <a:xfrm>
              <a:off x="8346554" y="2437546"/>
              <a:ext cx="2210192"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各类离职原因调查分析</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09" name="小红书平北职场PPT13"/>
          <p:cNvSpPr txBox="1"/>
          <p:nvPr/>
        </p:nvSpPr>
        <p:spPr>
          <a:xfrm>
            <a:off x="8346554" y="4355601"/>
            <a:ext cx="2705388"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各类离职员工的工龄分布</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0" name="小红书平北职场PPT14"/>
          <p:cNvSpPr/>
          <p:nvPr/>
        </p:nvSpPr>
        <p:spPr>
          <a:xfrm>
            <a:off x="3539344" y="2262174"/>
            <a:ext cx="4475187" cy="20573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111" name="小红书平北职场PPT15"/>
          <p:cNvSpPr/>
          <p:nvPr/>
        </p:nvSpPr>
        <p:spPr>
          <a:xfrm>
            <a:off x="3539344" y="4494080"/>
            <a:ext cx="4475187" cy="20573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112" name="小红书平北职场PPT16"/>
          <p:cNvGrpSpPr/>
          <p:nvPr/>
        </p:nvGrpSpPr>
        <p:grpSpPr>
          <a:xfrm>
            <a:off x="4884117" y="2399037"/>
            <a:ext cx="2932213" cy="307777"/>
            <a:chOff x="4718366" y="2428917"/>
            <a:chExt cx="2932213" cy="307777"/>
          </a:xfrm>
        </p:grpSpPr>
        <p:sp>
          <p:nvSpPr>
            <p:cNvPr id="113" name="小红书平北职场PPT16-1"/>
            <p:cNvSpPr/>
            <p:nvPr/>
          </p:nvSpPr>
          <p:spPr>
            <a:xfrm>
              <a:off x="4810183" y="2630252"/>
              <a:ext cx="2700000" cy="72000"/>
            </a:xfrm>
            <a:prstGeom prst="rect">
              <a:avLst/>
            </a:prstGeom>
            <a:solidFill>
              <a:schemeClr val="accent1">
                <a:alpha val="3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4" name="小红书平北职场PPT16-2"/>
            <p:cNvSpPr txBox="1"/>
            <p:nvPr/>
          </p:nvSpPr>
          <p:spPr>
            <a:xfrm>
              <a:off x="4718366" y="2428917"/>
              <a:ext cx="2932213"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离职分析</a:t>
              </a:r>
              <a:r>
                <a:rPr kumimoji="0" lang="en-US" altLang="zh-CN"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1400" b="0" i="0" u="none" strike="noStrike" kern="1200" cap="none" spc="0" normalizeH="0" baseline="0" noProof="0" dirty="0">
                  <a:ln>
                    <a:noFill/>
                  </a:ln>
                  <a:gradFill flip="none" rotWithShape="1">
                    <a:gsLst>
                      <a:gs pos="0">
                        <a:schemeClr val="accent1">
                          <a:lumMod val="60000"/>
                          <a:lumOff val="40000"/>
                        </a:schemeClr>
                      </a:gs>
                      <a:gs pos="100000">
                        <a:schemeClr val="accent1"/>
                      </a:gs>
                    </a:gsLst>
                    <a:lin ang="0" scaled="1"/>
                    <a:tileRect/>
                  </a:gradFill>
                  <a:effectLst/>
                  <a:uLnTx/>
                  <a:uFillTx/>
                  <a:latin typeface="思源黑体 CN Heavy" panose="020B0A00000000000000" charset="-122"/>
                  <a:ea typeface="思源黑体 CN Heavy" panose="020B0A00000000000000" charset="-122"/>
                  <a:cs typeface="思源黑体 CN Normal" panose="020B0400000000000000" pitchFamily="34" charset="-122"/>
                </a:rPr>
                <a:t>各部门</a:t>
              </a:r>
              <a:r>
                <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离职类型人数分布</a:t>
              </a:r>
              <a:endPar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15" name="小红书平北职场PPT17"/>
          <p:cNvGrpSpPr/>
          <p:nvPr/>
        </p:nvGrpSpPr>
        <p:grpSpPr>
          <a:xfrm>
            <a:off x="4884117" y="4652188"/>
            <a:ext cx="2932213" cy="307777"/>
            <a:chOff x="4718366" y="2428917"/>
            <a:chExt cx="2932213" cy="307777"/>
          </a:xfrm>
        </p:grpSpPr>
        <p:sp>
          <p:nvSpPr>
            <p:cNvPr id="116" name="小红书平北职场PPT17-1"/>
            <p:cNvSpPr/>
            <p:nvPr/>
          </p:nvSpPr>
          <p:spPr>
            <a:xfrm>
              <a:off x="4810183" y="2630252"/>
              <a:ext cx="2700000" cy="72000"/>
            </a:xfrm>
            <a:prstGeom prst="rect">
              <a:avLst/>
            </a:prstGeom>
            <a:solidFill>
              <a:schemeClr val="accent1">
                <a:alpha val="3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7" name="小红书平北职场PPT17-2"/>
            <p:cNvSpPr txBox="1"/>
            <p:nvPr/>
          </p:nvSpPr>
          <p:spPr>
            <a:xfrm>
              <a:off x="4718366" y="2428917"/>
              <a:ext cx="2932213"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离职分析</a:t>
              </a:r>
              <a:r>
                <a:rPr kumimoji="0" lang="en-US" altLang="zh-CN"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1400" dirty="0">
                  <a:gradFill flip="none" rotWithShape="1">
                    <a:gsLst>
                      <a:gs pos="0">
                        <a:schemeClr val="accent1">
                          <a:lumMod val="60000"/>
                          <a:lumOff val="40000"/>
                        </a:schemeClr>
                      </a:gs>
                      <a:gs pos="100000">
                        <a:schemeClr val="accent1"/>
                      </a:gs>
                    </a:gsLst>
                    <a:lin ang="0" scaled="1"/>
                    <a:tileRect/>
                  </a:gradFill>
                  <a:latin typeface="思源黑体 CN Heavy" panose="020B0A00000000000000" charset="-122"/>
                  <a:ea typeface="思源黑体 CN Heavy" panose="020B0A00000000000000" charset="-122"/>
                  <a:cs typeface="思源黑体 CN Normal" panose="020B0400000000000000" pitchFamily="34" charset="-122"/>
                </a:rPr>
                <a:t>各职级</a:t>
              </a:r>
              <a:r>
                <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离职类型人数分布</a:t>
              </a:r>
              <a:endPar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18" name="小红书平北职场PPT18"/>
          <p:cNvSpPr txBox="1"/>
          <p:nvPr/>
        </p:nvSpPr>
        <p:spPr>
          <a:xfrm flipH="1">
            <a:off x="3625662" y="2560355"/>
            <a:ext cx="3214002" cy="738664"/>
          </a:xfrm>
          <a:prstGeom prst="rect">
            <a:avLst/>
          </a:prstGeom>
          <a:noFill/>
        </p:spPr>
        <p:txBody>
          <a:bodyPr wrap="square">
            <a:spAutoFit/>
          </a:bodyPr>
          <a:lstStyle/>
          <a:p>
            <a:pPr marL="0" marR="0" lvl="0" indent="0" algn="l" defTabSz="914400" rtl="0" eaLnBrk="1" fontAlgn="auto" latinLnBrk="0" hangingPunct="1">
              <a:lnSpc>
                <a:spcPct val="70000"/>
              </a:lnSpc>
              <a:spcBef>
                <a:spcPts val="0"/>
              </a:spcBef>
              <a:spcAft>
                <a:spcPts val="0"/>
              </a:spcAft>
              <a:buClrTx/>
              <a:buSzTx/>
              <a:buFontTx/>
              <a:buNone/>
              <a:defRPr/>
            </a:pPr>
            <a:r>
              <a:rPr kumimoji="0" lang="en-US" altLang="zh-CN" sz="6000" b="1" i="0" u="none" strike="noStrike" kern="1200" cap="none" spc="0" normalizeH="0" baseline="0" noProof="0" dirty="0">
                <a:ln>
                  <a:noFill/>
                </a:ln>
                <a:gradFill flip="none" rotWithShape="1">
                  <a:gsLst>
                    <a:gs pos="0">
                      <a:srgbClr val="000000">
                        <a:alpha val="10000"/>
                      </a:srgbClr>
                    </a:gs>
                    <a:gs pos="100000">
                      <a:srgbClr val="000000">
                        <a:alpha val="0"/>
                      </a:srgbClr>
                    </a:gs>
                  </a:gsLst>
                  <a:lin ang="5400000" scaled="1"/>
                  <a:tileRect/>
                </a:gra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01</a:t>
            </a:r>
            <a:endParaRPr kumimoji="0" lang="en-US" altLang="zh-CN" sz="6000" b="1" i="0" u="none" strike="noStrike" kern="1200" cap="none" spc="0" normalizeH="0" baseline="0" noProof="0" dirty="0">
              <a:ln>
                <a:noFill/>
              </a:ln>
              <a:gradFill flip="none" rotWithShape="1">
                <a:gsLst>
                  <a:gs pos="0">
                    <a:srgbClr val="000000">
                      <a:alpha val="10000"/>
                    </a:srgbClr>
                  </a:gs>
                  <a:gs pos="100000">
                    <a:srgbClr val="000000">
                      <a:alpha val="0"/>
                    </a:srgbClr>
                  </a:gs>
                </a:gsLst>
                <a:lin ang="5400000" scaled="1"/>
                <a:tileRect/>
              </a:gra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9" name="小红书平北职场PPT19"/>
          <p:cNvSpPr txBox="1"/>
          <p:nvPr/>
        </p:nvSpPr>
        <p:spPr>
          <a:xfrm flipH="1">
            <a:off x="3625662" y="4783492"/>
            <a:ext cx="3214002" cy="738664"/>
          </a:xfrm>
          <a:prstGeom prst="rect">
            <a:avLst/>
          </a:prstGeom>
          <a:noFill/>
        </p:spPr>
        <p:txBody>
          <a:bodyPr wrap="square">
            <a:spAutoFit/>
          </a:bodyPr>
          <a:lstStyle/>
          <a:p>
            <a:pPr marL="0" marR="0" lvl="0" indent="0" algn="l" defTabSz="914400" rtl="0" eaLnBrk="1" fontAlgn="auto" latinLnBrk="0" hangingPunct="1">
              <a:lnSpc>
                <a:spcPct val="70000"/>
              </a:lnSpc>
              <a:spcBef>
                <a:spcPts val="0"/>
              </a:spcBef>
              <a:spcAft>
                <a:spcPts val="0"/>
              </a:spcAft>
              <a:buClrTx/>
              <a:buSzTx/>
              <a:buFontTx/>
              <a:buNone/>
              <a:defRPr/>
            </a:pPr>
            <a:r>
              <a:rPr kumimoji="0" lang="en-US" altLang="zh-CN" sz="6000" b="1" i="0" u="none" strike="noStrike" kern="1200" cap="none" spc="0" normalizeH="0" baseline="0" noProof="0" dirty="0">
                <a:ln>
                  <a:noFill/>
                </a:ln>
                <a:gradFill flip="none" rotWithShape="1">
                  <a:gsLst>
                    <a:gs pos="0">
                      <a:srgbClr val="000000">
                        <a:alpha val="10000"/>
                      </a:srgbClr>
                    </a:gs>
                    <a:gs pos="100000">
                      <a:srgbClr val="000000">
                        <a:alpha val="0"/>
                      </a:srgbClr>
                    </a:gs>
                  </a:gsLst>
                  <a:lin ang="5400000" scaled="1"/>
                  <a:tileRect/>
                </a:gra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02</a:t>
            </a:r>
            <a:endParaRPr kumimoji="0" lang="en-US" altLang="zh-CN" sz="6000" b="1" i="0" u="none" strike="noStrike" kern="1200" cap="none" spc="0" normalizeH="0" baseline="0" noProof="0" dirty="0">
              <a:ln>
                <a:noFill/>
              </a:ln>
              <a:gradFill flip="none" rotWithShape="1">
                <a:gsLst>
                  <a:gs pos="0">
                    <a:srgbClr val="000000">
                      <a:alpha val="10000"/>
                    </a:srgbClr>
                  </a:gs>
                  <a:gs pos="100000">
                    <a:srgbClr val="000000">
                      <a:alpha val="0"/>
                    </a:srgbClr>
                  </a:gs>
                </a:gsLst>
                <a:lin ang="5400000" scaled="1"/>
                <a:tileRect/>
              </a:gra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aphicFrame>
        <p:nvGraphicFramePr>
          <p:cNvPr id="120" name="小红书平北职场PPT20"/>
          <p:cNvGraphicFramePr/>
          <p:nvPr/>
        </p:nvGraphicFramePr>
        <p:xfrm>
          <a:off x="3510598" y="2622860"/>
          <a:ext cx="4467335" cy="16895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1" name="小红书平北职场PPT21"/>
          <p:cNvGraphicFramePr/>
          <p:nvPr/>
        </p:nvGraphicFramePr>
        <p:xfrm>
          <a:off x="3510598" y="4845133"/>
          <a:ext cx="4467335" cy="168952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2"/>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5054871" y="4222907"/>
            <a:ext cx="3108643" cy="2348785"/>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3" name="小红书平北职场PPT2"/>
          <p:cNvGrpSpPr/>
          <p:nvPr/>
        </p:nvGrpSpPr>
        <p:grpSpPr>
          <a:xfrm>
            <a:off x="4919974" y="4297033"/>
            <a:ext cx="2830183" cy="431815"/>
            <a:chOff x="194327" y="2319972"/>
            <a:chExt cx="2830183" cy="431815"/>
          </a:xfrm>
        </p:grpSpPr>
        <p:sp>
          <p:nvSpPr>
            <p:cNvPr id="4" name="小红书平北职场PPT2-1"/>
            <p:cNvSpPr/>
            <p:nvPr>
              <p:custDataLst>
                <p:tags r:id="rId4"/>
              </p:custDataLst>
            </p:nvPr>
          </p:nvSpPr>
          <p:spPr>
            <a:xfrm>
              <a:off x="194330" y="2391681"/>
              <a:ext cx="2830180"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5" name="小红书平北职场PPT2-2"/>
            <p:cNvSpPr/>
            <p:nvPr>
              <p:custDataLst>
                <p:tags r:id="rId5"/>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6" name="小红书平北职场PPT3"/>
          <p:cNvSpPr txBox="1"/>
          <p:nvPr/>
        </p:nvSpPr>
        <p:spPr>
          <a:xfrm>
            <a:off x="5019997" y="4410615"/>
            <a:ext cx="2730160" cy="3182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不同部门预算使用情况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 name="小红书平北职场PPT4"/>
          <p:cNvSpPr/>
          <p:nvPr/>
        </p:nvSpPr>
        <p:spPr>
          <a:xfrm>
            <a:off x="5054871" y="925554"/>
            <a:ext cx="6772182" cy="30087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8" name="小红书平北职场PPT5"/>
          <p:cNvGrpSpPr/>
          <p:nvPr/>
        </p:nvGrpSpPr>
        <p:grpSpPr>
          <a:xfrm>
            <a:off x="4919974" y="999680"/>
            <a:ext cx="6487079" cy="431815"/>
            <a:chOff x="194327" y="2319972"/>
            <a:chExt cx="6487079" cy="431815"/>
          </a:xfrm>
        </p:grpSpPr>
        <p:grpSp>
          <p:nvGrpSpPr>
            <p:cNvPr id="9" name="组合 8"/>
            <p:cNvGrpSpPr/>
            <p:nvPr/>
          </p:nvGrpSpPr>
          <p:grpSpPr>
            <a:xfrm>
              <a:off x="194327" y="2319972"/>
              <a:ext cx="6487079" cy="431815"/>
              <a:chOff x="194327" y="2319972"/>
              <a:chExt cx="6487079" cy="431815"/>
            </a:xfrm>
          </p:grpSpPr>
          <p:sp>
            <p:nvSpPr>
              <p:cNvPr id="11" name="小红书平北职场PPT5-1"/>
              <p:cNvSpPr/>
              <p:nvPr>
                <p:custDataLst>
                  <p:tags r:id="rId6"/>
                </p:custDataLst>
              </p:nvPr>
            </p:nvSpPr>
            <p:spPr>
              <a:xfrm>
                <a:off x="194329" y="2391681"/>
                <a:ext cx="6487077" cy="360106"/>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42619" dist="65824" dir="5400000" algn="ctr" rotWithShape="0">
                  <a:schemeClr val="accent2">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 name="小红书平北职场PPT5-2"/>
              <p:cNvSpPr/>
              <p:nvPr>
                <p:custDataLst>
                  <p:tags r:id="rId7"/>
                </p:custDataLst>
              </p:nvPr>
            </p:nvSpPr>
            <p:spPr>
              <a:xfrm flipH="1">
                <a:off x="194327" y="2319972"/>
                <a:ext cx="134897" cy="75261"/>
              </a:xfrm>
              <a:prstGeom prst="rtTriangle">
                <a:avLst/>
              </a:prstGeom>
              <a:solidFill>
                <a:schemeClr val="accent2">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0" name="小红书平北职场PPT5-3"/>
            <p:cNvSpPr txBox="1"/>
            <p:nvPr/>
          </p:nvSpPr>
          <p:spPr>
            <a:xfrm>
              <a:off x="294349" y="2433554"/>
              <a:ext cx="53882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管控重点首当其冲</a:t>
              </a:r>
              <a:r>
                <a:rPr lang="en-US" altLang="zh-CN"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 </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 </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招待差旅，占比最高，超支最重，管控当先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3" name="小红书平北职场PPT6"/>
          <p:cNvGrpSpPr/>
          <p:nvPr/>
        </p:nvGrpSpPr>
        <p:grpSpPr>
          <a:xfrm>
            <a:off x="334963" y="184318"/>
            <a:ext cx="11522075" cy="506147"/>
            <a:chOff x="334963" y="184318"/>
            <a:chExt cx="11522075" cy="506147"/>
          </a:xfrm>
        </p:grpSpPr>
        <p:cxnSp>
          <p:nvCxnSpPr>
            <p:cNvPr id="14" name="小红书平北职场PPT6-1"/>
            <p:cNvCxnSpPr/>
            <p:nvPr>
              <p:custDataLst>
                <p:tags r:id="rId8"/>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小红书平北职场PPT6-2"/>
            <p:cNvSpPr txBox="1"/>
            <p:nvPr>
              <p:custDataLst>
                <p:tags r:id="rId9"/>
              </p:custDataLst>
            </p:nvPr>
          </p:nvSpPr>
          <p:spPr>
            <a:xfrm>
              <a:off x="334963" y="184318"/>
              <a:ext cx="3590727"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财务预算执行分析报告</a:t>
              </a:r>
              <a:endPar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sp>
        <p:nvSpPr>
          <p:cNvPr id="16" name="小红书平北职场PPT8"/>
          <p:cNvSpPr/>
          <p:nvPr/>
        </p:nvSpPr>
        <p:spPr>
          <a:xfrm>
            <a:off x="473512" y="925553"/>
            <a:ext cx="4283292" cy="5626875"/>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17" name="小红书平北职场PPT9"/>
          <p:cNvGrpSpPr/>
          <p:nvPr/>
        </p:nvGrpSpPr>
        <p:grpSpPr>
          <a:xfrm>
            <a:off x="334963" y="999680"/>
            <a:ext cx="4149188" cy="431815"/>
            <a:chOff x="194327" y="2319972"/>
            <a:chExt cx="4149188" cy="431815"/>
          </a:xfrm>
        </p:grpSpPr>
        <p:grpSp>
          <p:nvGrpSpPr>
            <p:cNvPr id="18" name="组合 17"/>
            <p:cNvGrpSpPr/>
            <p:nvPr/>
          </p:nvGrpSpPr>
          <p:grpSpPr>
            <a:xfrm>
              <a:off x="194327" y="2319972"/>
              <a:ext cx="4149188" cy="431815"/>
              <a:chOff x="194327" y="2319972"/>
              <a:chExt cx="4149188" cy="431815"/>
            </a:xfrm>
          </p:grpSpPr>
          <p:sp>
            <p:nvSpPr>
              <p:cNvPr id="20" name="小红书平北职场PPT9-1"/>
              <p:cNvSpPr/>
              <p:nvPr>
                <p:custDataLst>
                  <p:tags r:id="rId10"/>
                </p:custDataLst>
              </p:nvPr>
            </p:nvSpPr>
            <p:spPr>
              <a:xfrm>
                <a:off x="194331" y="2391681"/>
                <a:ext cx="4149184"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1" name="小红书平北职场PPT9-2"/>
              <p:cNvSpPr/>
              <p:nvPr>
                <p:custDataLst>
                  <p:tags r:id="rId11"/>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9" name="小红书平北职场PPT9-3"/>
            <p:cNvSpPr txBox="1"/>
            <p:nvPr/>
          </p:nvSpPr>
          <p:spPr>
            <a:xfrm>
              <a:off x="294350" y="2433554"/>
              <a:ext cx="391426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预算使用趋势分析 </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 </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预算执行率升，超支压力增</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aphicFrame>
        <p:nvGraphicFramePr>
          <p:cNvPr id="22" name="小红书平北职场PPT10"/>
          <p:cNvGraphicFramePr/>
          <p:nvPr/>
        </p:nvGraphicFramePr>
        <p:xfrm>
          <a:off x="495868" y="1536902"/>
          <a:ext cx="4179576" cy="5000536"/>
        </p:xfrm>
        <a:graphic>
          <a:graphicData uri="http://schemas.openxmlformats.org/drawingml/2006/chart">
            <c:chart xmlns:c="http://schemas.openxmlformats.org/drawingml/2006/chart" xmlns:r="http://schemas.openxmlformats.org/officeDocument/2006/relationships" r:id="rId1"/>
          </a:graphicData>
        </a:graphic>
      </p:graphicFrame>
      <p:grpSp>
        <p:nvGrpSpPr>
          <p:cNvPr id="23" name="小红书平北职场PPT11"/>
          <p:cNvGrpSpPr/>
          <p:nvPr/>
        </p:nvGrpSpPr>
        <p:grpSpPr>
          <a:xfrm>
            <a:off x="1410448" y="4597509"/>
            <a:ext cx="501183" cy="409180"/>
            <a:chOff x="1514563" y="2740836"/>
            <a:chExt cx="391286" cy="336633"/>
          </a:xfrm>
        </p:grpSpPr>
        <p:sp>
          <p:nvSpPr>
            <p:cNvPr id="24" name="小红书平北职场PPT11-1"/>
            <p:cNvSpPr/>
            <p:nvPr/>
          </p:nvSpPr>
          <p:spPr>
            <a:xfrm flipH="1">
              <a:off x="1514563" y="2740836"/>
              <a:ext cx="84318" cy="88852"/>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25" name="组合 24"/>
            <p:cNvGrpSpPr/>
            <p:nvPr/>
          </p:nvGrpSpPr>
          <p:grpSpPr>
            <a:xfrm flipV="1">
              <a:off x="1514563" y="2824186"/>
              <a:ext cx="391286" cy="253283"/>
              <a:chOff x="4661020" y="2619222"/>
              <a:chExt cx="499390" cy="323261"/>
            </a:xfrm>
          </p:grpSpPr>
          <p:sp>
            <p:nvSpPr>
              <p:cNvPr id="26" name="小红书平北职场PPT11-2"/>
              <p:cNvSpPr/>
              <p:nvPr/>
            </p:nvSpPr>
            <p:spPr>
              <a:xfrm>
                <a:off x="4686541" y="2647305"/>
                <a:ext cx="436970" cy="295178"/>
              </a:xfrm>
              <a:custGeom>
                <a:avLst/>
                <a:gdLst>
                  <a:gd name="connsiteX0" fmla="*/ 35913 w 436970"/>
                  <a:gd name="connsiteY0" fmla="*/ 0 h 295178"/>
                  <a:gd name="connsiteX1" fmla="*/ 401057 w 436970"/>
                  <a:gd name="connsiteY1" fmla="*/ 0 h 295178"/>
                  <a:gd name="connsiteX2" fmla="*/ 436970 w 436970"/>
                  <a:gd name="connsiteY2" fmla="*/ 35913 h 295178"/>
                  <a:gd name="connsiteX3" fmla="*/ 436970 w 436970"/>
                  <a:gd name="connsiteY3" fmla="*/ 179560 h 295178"/>
                  <a:gd name="connsiteX4" fmla="*/ 401057 w 436970"/>
                  <a:gd name="connsiteY4" fmla="*/ 215473 h 295178"/>
                  <a:gd name="connsiteX5" fmla="*/ 127413 w 436970"/>
                  <a:gd name="connsiteY5" fmla="*/ 215473 h 295178"/>
                  <a:gd name="connsiteX6" fmla="*/ 52880 w 436970"/>
                  <a:gd name="connsiteY6" fmla="*/ 295178 h 295178"/>
                  <a:gd name="connsiteX7" fmla="*/ 52880 w 436970"/>
                  <a:gd name="connsiteY7" fmla="*/ 215473 h 295178"/>
                  <a:gd name="connsiteX8" fmla="*/ 35913 w 436970"/>
                  <a:gd name="connsiteY8" fmla="*/ 215473 h 295178"/>
                  <a:gd name="connsiteX9" fmla="*/ 0 w 436970"/>
                  <a:gd name="connsiteY9" fmla="*/ 179560 h 295178"/>
                  <a:gd name="connsiteX10" fmla="*/ 0 w 436970"/>
                  <a:gd name="connsiteY10" fmla="*/ 35913 h 295178"/>
                  <a:gd name="connsiteX11" fmla="*/ 35913 w 436970"/>
                  <a:gd name="connsiteY11" fmla="*/ 0 h 29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6970" h="295178">
                    <a:moveTo>
                      <a:pt x="35913" y="0"/>
                    </a:moveTo>
                    <a:lnTo>
                      <a:pt x="401057" y="0"/>
                    </a:lnTo>
                    <a:cubicBezTo>
                      <a:pt x="420891" y="0"/>
                      <a:pt x="436970" y="16079"/>
                      <a:pt x="436970" y="35913"/>
                    </a:cubicBezTo>
                    <a:lnTo>
                      <a:pt x="436970" y="179560"/>
                    </a:lnTo>
                    <a:cubicBezTo>
                      <a:pt x="436970" y="199394"/>
                      <a:pt x="420891" y="215473"/>
                      <a:pt x="401057" y="215473"/>
                    </a:cubicBezTo>
                    <a:lnTo>
                      <a:pt x="127413" y="215473"/>
                    </a:lnTo>
                    <a:lnTo>
                      <a:pt x="52880" y="295178"/>
                    </a:lnTo>
                    <a:lnTo>
                      <a:pt x="52880" y="215473"/>
                    </a:lnTo>
                    <a:lnTo>
                      <a:pt x="35913" y="215473"/>
                    </a:lnTo>
                    <a:cubicBezTo>
                      <a:pt x="16079" y="215473"/>
                      <a:pt x="0" y="199394"/>
                      <a:pt x="0" y="179560"/>
                    </a:cubicBezTo>
                    <a:lnTo>
                      <a:pt x="0" y="35913"/>
                    </a:lnTo>
                    <a:cubicBezTo>
                      <a:pt x="0" y="16079"/>
                      <a:pt x="16079" y="0"/>
                      <a:pt x="35913" y="0"/>
                    </a:cubicBezTo>
                    <a:close/>
                  </a:path>
                </a:pathLst>
              </a:custGeom>
              <a:solidFill>
                <a:schemeClr val="bg1">
                  <a:alpha val="90000"/>
                </a:schemeClr>
              </a:solidFill>
              <a:ln w="6048">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chemeClr val="tx1">
                      <a:lumMod val="75000"/>
                      <a:lumOff val="25000"/>
                    </a:schemeClr>
                  </a:solidFill>
                  <a:cs typeface="思源黑体 CN Normal" panose="020B0400000000000000" pitchFamily="34" charset="-122"/>
                </a:endParaRPr>
              </a:p>
            </p:txBody>
          </p:sp>
          <p:sp>
            <p:nvSpPr>
              <p:cNvPr id="27" name="小红书平北职场PPT11-3"/>
              <p:cNvSpPr txBox="1"/>
              <p:nvPr/>
            </p:nvSpPr>
            <p:spPr>
              <a:xfrm flipV="1">
                <a:off x="4661020" y="2619222"/>
                <a:ext cx="499390" cy="264027"/>
              </a:xfrm>
              <a:prstGeom prst="rect">
                <a:avLst/>
              </a:prstGeom>
              <a:noFill/>
            </p:spPr>
            <p:txBody>
              <a:bodyPr wrap="square">
                <a:spAutoFit/>
              </a:bodyPr>
              <a:lstStyle>
                <a:defPPr>
                  <a:defRPr lang="zh-CN"/>
                </a:defPPr>
                <a:lvl1pPr algn="ctr">
                  <a:defRPr sz="1200" spc="300">
                    <a:solidFill>
                      <a:schemeClr val="tx2"/>
                    </a:solidFill>
                  </a:defRPr>
                </a:lvl1pPr>
              </a:lstStyle>
              <a:p>
                <a:r>
                  <a:rPr lang="en-US" altLang="zh-CN" sz="970" spc="0" dirty="0">
                    <a:solidFill>
                      <a:schemeClr val="tx1">
                        <a:lumMod val="75000"/>
                        <a:lumOff val="25000"/>
                      </a:schemeClr>
                    </a:solidFill>
                    <a:cs typeface="思源黑体 CN Normal" panose="020B0400000000000000" pitchFamily="34" charset="-122"/>
                  </a:rPr>
                  <a:t>95%</a:t>
                </a:r>
                <a:endParaRPr lang="zh-CN" altLang="en-US" sz="970" spc="0" dirty="0">
                  <a:solidFill>
                    <a:schemeClr val="tx1">
                      <a:lumMod val="75000"/>
                      <a:lumOff val="25000"/>
                    </a:schemeClr>
                  </a:solidFill>
                  <a:cs typeface="思源黑体 CN Normal" panose="020B0400000000000000" pitchFamily="34" charset="-122"/>
                </a:endParaRPr>
              </a:p>
            </p:txBody>
          </p:sp>
        </p:grpSp>
      </p:grpSp>
      <p:grpSp>
        <p:nvGrpSpPr>
          <p:cNvPr id="28" name="小红书平北职场PPT12"/>
          <p:cNvGrpSpPr/>
          <p:nvPr/>
        </p:nvGrpSpPr>
        <p:grpSpPr>
          <a:xfrm>
            <a:off x="2460883" y="2442001"/>
            <a:ext cx="551557" cy="407043"/>
            <a:chOff x="2823856" y="1945739"/>
            <a:chExt cx="430614" cy="334876"/>
          </a:xfrm>
        </p:grpSpPr>
        <p:sp>
          <p:nvSpPr>
            <p:cNvPr id="29" name="小红书平北职场PPT12-1"/>
            <p:cNvSpPr/>
            <p:nvPr/>
          </p:nvSpPr>
          <p:spPr>
            <a:xfrm flipH="1">
              <a:off x="2840702" y="1945739"/>
              <a:ext cx="84318" cy="88852"/>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30" name="组合 29"/>
            <p:cNvGrpSpPr/>
            <p:nvPr/>
          </p:nvGrpSpPr>
          <p:grpSpPr>
            <a:xfrm flipV="1">
              <a:off x="2823856" y="2018653"/>
              <a:ext cx="430614" cy="261962"/>
              <a:chOff x="4644083" y="2608144"/>
              <a:chExt cx="549583" cy="334339"/>
            </a:xfrm>
          </p:grpSpPr>
          <p:sp>
            <p:nvSpPr>
              <p:cNvPr id="31" name="小红书平北职场PPT12-2"/>
              <p:cNvSpPr/>
              <p:nvPr/>
            </p:nvSpPr>
            <p:spPr>
              <a:xfrm>
                <a:off x="4686541" y="2647305"/>
                <a:ext cx="436970" cy="295178"/>
              </a:xfrm>
              <a:custGeom>
                <a:avLst/>
                <a:gdLst>
                  <a:gd name="connsiteX0" fmla="*/ 35913 w 436970"/>
                  <a:gd name="connsiteY0" fmla="*/ 0 h 295178"/>
                  <a:gd name="connsiteX1" fmla="*/ 401057 w 436970"/>
                  <a:gd name="connsiteY1" fmla="*/ 0 h 295178"/>
                  <a:gd name="connsiteX2" fmla="*/ 436970 w 436970"/>
                  <a:gd name="connsiteY2" fmla="*/ 35913 h 295178"/>
                  <a:gd name="connsiteX3" fmla="*/ 436970 w 436970"/>
                  <a:gd name="connsiteY3" fmla="*/ 179560 h 295178"/>
                  <a:gd name="connsiteX4" fmla="*/ 401057 w 436970"/>
                  <a:gd name="connsiteY4" fmla="*/ 215473 h 295178"/>
                  <a:gd name="connsiteX5" fmla="*/ 127413 w 436970"/>
                  <a:gd name="connsiteY5" fmla="*/ 215473 h 295178"/>
                  <a:gd name="connsiteX6" fmla="*/ 52880 w 436970"/>
                  <a:gd name="connsiteY6" fmla="*/ 295178 h 295178"/>
                  <a:gd name="connsiteX7" fmla="*/ 52880 w 436970"/>
                  <a:gd name="connsiteY7" fmla="*/ 215473 h 295178"/>
                  <a:gd name="connsiteX8" fmla="*/ 35913 w 436970"/>
                  <a:gd name="connsiteY8" fmla="*/ 215473 h 295178"/>
                  <a:gd name="connsiteX9" fmla="*/ 0 w 436970"/>
                  <a:gd name="connsiteY9" fmla="*/ 179560 h 295178"/>
                  <a:gd name="connsiteX10" fmla="*/ 0 w 436970"/>
                  <a:gd name="connsiteY10" fmla="*/ 35913 h 295178"/>
                  <a:gd name="connsiteX11" fmla="*/ 35913 w 436970"/>
                  <a:gd name="connsiteY11" fmla="*/ 0 h 29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6970" h="295178">
                    <a:moveTo>
                      <a:pt x="35913" y="0"/>
                    </a:moveTo>
                    <a:lnTo>
                      <a:pt x="401057" y="0"/>
                    </a:lnTo>
                    <a:cubicBezTo>
                      <a:pt x="420891" y="0"/>
                      <a:pt x="436970" y="16079"/>
                      <a:pt x="436970" y="35913"/>
                    </a:cubicBezTo>
                    <a:lnTo>
                      <a:pt x="436970" y="179560"/>
                    </a:lnTo>
                    <a:cubicBezTo>
                      <a:pt x="436970" y="199394"/>
                      <a:pt x="420891" y="215473"/>
                      <a:pt x="401057" y="215473"/>
                    </a:cubicBezTo>
                    <a:lnTo>
                      <a:pt x="127413" y="215473"/>
                    </a:lnTo>
                    <a:lnTo>
                      <a:pt x="52880" y="295178"/>
                    </a:lnTo>
                    <a:lnTo>
                      <a:pt x="52880" y="215473"/>
                    </a:lnTo>
                    <a:lnTo>
                      <a:pt x="35913" y="215473"/>
                    </a:lnTo>
                    <a:cubicBezTo>
                      <a:pt x="16079" y="215473"/>
                      <a:pt x="0" y="199394"/>
                      <a:pt x="0" y="179560"/>
                    </a:cubicBezTo>
                    <a:lnTo>
                      <a:pt x="0" y="35913"/>
                    </a:lnTo>
                    <a:cubicBezTo>
                      <a:pt x="0" y="16079"/>
                      <a:pt x="16079" y="0"/>
                      <a:pt x="35913" y="0"/>
                    </a:cubicBezTo>
                    <a:close/>
                  </a:path>
                </a:pathLst>
              </a:custGeom>
              <a:solidFill>
                <a:schemeClr val="bg1">
                  <a:alpha val="90000"/>
                </a:schemeClr>
              </a:solidFill>
              <a:ln w="6048">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chemeClr val="tx1">
                      <a:lumMod val="75000"/>
                      <a:lumOff val="25000"/>
                    </a:schemeClr>
                  </a:solidFill>
                  <a:cs typeface="思源黑体 CN Normal" panose="020B0400000000000000" pitchFamily="34" charset="-122"/>
                </a:endParaRPr>
              </a:p>
            </p:txBody>
          </p:sp>
          <p:sp>
            <p:nvSpPr>
              <p:cNvPr id="32" name="小红书平北职场PPT12-3"/>
              <p:cNvSpPr txBox="1"/>
              <p:nvPr/>
            </p:nvSpPr>
            <p:spPr>
              <a:xfrm flipV="1">
                <a:off x="4644083" y="2608144"/>
                <a:ext cx="549583" cy="264025"/>
              </a:xfrm>
              <a:prstGeom prst="rect">
                <a:avLst/>
              </a:prstGeom>
              <a:noFill/>
            </p:spPr>
            <p:txBody>
              <a:bodyPr wrap="square">
                <a:spAutoFit/>
              </a:bodyPr>
              <a:lstStyle>
                <a:defPPr>
                  <a:defRPr lang="zh-CN"/>
                </a:defPPr>
                <a:lvl1pPr algn="ctr">
                  <a:defRPr sz="1200" spc="300">
                    <a:solidFill>
                      <a:schemeClr val="tx2"/>
                    </a:solidFill>
                  </a:defRPr>
                </a:lvl1pPr>
              </a:lstStyle>
              <a:p>
                <a:r>
                  <a:rPr lang="en-US" altLang="zh-CN" sz="970" spc="0" dirty="0">
                    <a:solidFill>
                      <a:schemeClr val="tx1">
                        <a:lumMod val="75000"/>
                        <a:lumOff val="25000"/>
                      </a:schemeClr>
                    </a:solidFill>
                    <a:cs typeface="思源黑体 CN Normal" panose="020B0400000000000000" pitchFamily="34" charset="-122"/>
                  </a:rPr>
                  <a:t>103%</a:t>
                </a:r>
                <a:endParaRPr lang="zh-CN" altLang="en-US" sz="970" spc="0" dirty="0">
                  <a:solidFill>
                    <a:schemeClr val="tx1">
                      <a:lumMod val="75000"/>
                      <a:lumOff val="25000"/>
                    </a:schemeClr>
                  </a:solidFill>
                  <a:cs typeface="思源黑体 CN Normal" panose="020B0400000000000000" pitchFamily="34" charset="-122"/>
                </a:endParaRPr>
              </a:p>
            </p:txBody>
          </p:sp>
        </p:grpSp>
      </p:grpSp>
      <p:grpSp>
        <p:nvGrpSpPr>
          <p:cNvPr id="33" name="小红书平北职场PPT13"/>
          <p:cNvGrpSpPr/>
          <p:nvPr/>
        </p:nvGrpSpPr>
        <p:grpSpPr>
          <a:xfrm>
            <a:off x="3505327" y="1895989"/>
            <a:ext cx="551557" cy="391308"/>
            <a:chOff x="4078802" y="1768356"/>
            <a:chExt cx="430614" cy="321930"/>
          </a:xfrm>
        </p:grpSpPr>
        <p:sp>
          <p:nvSpPr>
            <p:cNvPr id="34" name="小红书平北职场PPT13-1"/>
            <p:cNvSpPr/>
            <p:nvPr/>
          </p:nvSpPr>
          <p:spPr>
            <a:xfrm flipH="1">
              <a:off x="4106423" y="1768356"/>
              <a:ext cx="84318" cy="88852"/>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35" name="组合 34"/>
            <p:cNvGrpSpPr/>
            <p:nvPr/>
          </p:nvGrpSpPr>
          <p:grpSpPr>
            <a:xfrm flipV="1">
              <a:off x="4078802" y="1838772"/>
              <a:ext cx="430614" cy="251514"/>
              <a:chOff x="4644083" y="2621479"/>
              <a:chExt cx="549583" cy="321004"/>
            </a:xfrm>
          </p:grpSpPr>
          <p:sp>
            <p:nvSpPr>
              <p:cNvPr id="36" name="小红书平北职场PPT13-2"/>
              <p:cNvSpPr/>
              <p:nvPr/>
            </p:nvSpPr>
            <p:spPr>
              <a:xfrm>
                <a:off x="4686541" y="2647305"/>
                <a:ext cx="436970" cy="295178"/>
              </a:xfrm>
              <a:custGeom>
                <a:avLst/>
                <a:gdLst>
                  <a:gd name="connsiteX0" fmla="*/ 35913 w 436970"/>
                  <a:gd name="connsiteY0" fmla="*/ 0 h 295178"/>
                  <a:gd name="connsiteX1" fmla="*/ 401057 w 436970"/>
                  <a:gd name="connsiteY1" fmla="*/ 0 h 295178"/>
                  <a:gd name="connsiteX2" fmla="*/ 436970 w 436970"/>
                  <a:gd name="connsiteY2" fmla="*/ 35913 h 295178"/>
                  <a:gd name="connsiteX3" fmla="*/ 436970 w 436970"/>
                  <a:gd name="connsiteY3" fmla="*/ 179560 h 295178"/>
                  <a:gd name="connsiteX4" fmla="*/ 401057 w 436970"/>
                  <a:gd name="connsiteY4" fmla="*/ 215473 h 295178"/>
                  <a:gd name="connsiteX5" fmla="*/ 127413 w 436970"/>
                  <a:gd name="connsiteY5" fmla="*/ 215473 h 295178"/>
                  <a:gd name="connsiteX6" fmla="*/ 52880 w 436970"/>
                  <a:gd name="connsiteY6" fmla="*/ 295178 h 295178"/>
                  <a:gd name="connsiteX7" fmla="*/ 52880 w 436970"/>
                  <a:gd name="connsiteY7" fmla="*/ 215473 h 295178"/>
                  <a:gd name="connsiteX8" fmla="*/ 35913 w 436970"/>
                  <a:gd name="connsiteY8" fmla="*/ 215473 h 295178"/>
                  <a:gd name="connsiteX9" fmla="*/ 0 w 436970"/>
                  <a:gd name="connsiteY9" fmla="*/ 179560 h 295178"/>
                  <a:gd name="connsiteX10" fmla="*/ 0 w 436970"/>
                  <a:gd name="connsiteY10" fmla="*/ 35913 h 295178"/>
                  <a:gd name="connsiteX11" fmla="*/ 35913 w 436970"/>
                  <a:gd name="connsiteY11" fmla="*/ 0 h 29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6970" h="295178">
                    <a:moveTo>
                      <a:pt x="35913" y="0"/>
                    </a:moveTo>
                    <a:lnTo>
                      <a:pt x="401057" y="0"/>
                    </a:lnTo>
                    <a:cubicBezTo>
                      <a:pt x="420891" y="0"/>
                      <a:pt x="436970" y="16079"/>
                      <a:pt x="436970" y="35913"/>
                    </a:cubicBezTo>
                    <a:lnTo>
                      <a:pt x="436970" y="179560"/>
                    </a:lnTo>
                    <a:cubicBezTo>
                      <a:pt x="436970" y="199394"/>
                      <a:pt x="420891" y="215473"/>
                      <a:pt x="401057" y="215473"/>
                    </a:cubicBezTo>
                    <a:lnTo>
                      <a:pt x="127413" y="215473"/>
                    </a:lnTo>
                    <a:lnTo>
                      <a:pt x="52880" y="295178"/>
                    </a:lnTo>
                    <a:lnTo>
                      <a:pt x="52880" y="215473"/>
                    </a:lnTo>
                    <a:lnTo>
                      <a:pt x="35913" y="215473"/>
                    </a:lnTo>
                    <a:cubicBezTo>
                      <a:pt x="16079" y="215473"/>
                      <a:pt x="0" y="199394"/>
                      <a:pt x="0" y="179560"/>
                    </a:cubicBezTo>
                    <a:lnTo>
                      <a:pt x="0" y="35913"/>
                    </a:lnTo>
                    <a:cubicBezTo>
                      <a:pt x="0" y="16079"/>
                      <a:pt x="16079" y="0"/>
                      <a:pt x="35913" y="0"/>
                    </a:cubicBezTo>
                    <a:close/>
                  </a:path>
                </a:pathLst>
              </a:custGeom>
              <a:solidFill>
                <a:schemeClr val="bg1">
                  <a:alpha val="90000"/>
                </a:schemeClr>
              </a:solidFill>
              <a:ln w="6048">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chemeClr val="tx1">
                      <a:lumMod val="75000"/>
                      <a:lumOff val="25000"/>
                    </a:schemeClr>
                  </a:solidFill>
                  <a:cs typeface="思源黑体 CN Normal" panose="020B0400000000000000" pitchFamily="34" charset="-122"/>
                </a:endParaRPr>
              </a:p>
            </p:txBody>
          </p:sp>
          <p:sp>
            <p:nvSpPr>
              <p:cNvPr id="37" name="小红书平北职场PPT13-3"/>
              <p:cNvSpPr txBox="1"/>
              <p:nvPr/>
            </p:nvSpPr>
            <p:spPr>
              <a:xfrm flipV="1">
                <a:off x="4644083" y="2621479"/>
                <a:ext cx="549583" cy="264027"/>
              </a:xfrm>
              <a:prstGeom prst="rect">
                <a:avLst/>
              </a:prstGeom>
              <a:noFill/>
            </p:spPr>
            <p:txBody>
              <a:bodyPr wrap="square">
                <a:spAutoFit/>
              </a:bodyPr>
              <a:lstStyle>
                <a:defPPr>
                  <a:defRPr lang="zh-CN"/>
                </a:defPPr>
                <a:lvl1pPr algn="ctr">
                  <a:defRPr sz="1200" spc="300">
                    <a:solidFill>
                      <a:schemeClr val="tx2"/>
                    </a:solidFill>
                  </a:defRPr>
                </a:lvl1pPr>
              </a:lstStyle>
              <a:p>
                <a:r>
                  <a:rPr lang="en-US" altLang="zh-CN" sz="970" spc="0" dirty="0">
                    <a:solidFill>
                      <a:schemeClr val="tx1">
                        <a:lumMod val="75000"/>
                        <a:lumOff val="25000"/>
                      </a:schemeClr>
                    </a:solidFill>
                    <a:cs typeface="思源黑体 CN Normal" panose="020B0400000000000000" pitchFamily="34" charset="-122"/>
                  </a:rPr>
                  <a:t>105%</a:t>
                </a:r>
                <a:endParaRPr lang="zh-CN" altLang="en-US" sz="970" spc="0" dirty="0">
                  <a:solidFill>
                    <a:schemeClr val="tx1">
                      <a:lumMod val="75000"/>
                      <a:lumOff val="25000"/>
                    </a:schemeClr>
                  </a:solidFill>
                  <a:cs typeface="思源黑体 CN Normal" panose="020B0400000000000000" pitchFamily="34" charset="-122"/>
                </a:endParaRPr>
              </a:p>
            </p:txBody>
          </p:sp>
        </p:grpSp>
      </p:grpSp>
      <p:sp>
        <p:nvSpPr>
          <p:cNvPr id="38" name="小红书平北职场PPT14"/>
          <p:cNvSpPr txBox="1"/>
          <p:nvPr/>
        </p:nvSpPr>
        <p:spPr>
          <a:xfrm>
            <a:off x="600722" y="6257764"/>
            <a:ext cx="991485" cy="215444"/>
          </a:xfrm>
          <a:prstGeom prst="rect">
            <a:avLst/>
          </a:prstGeom>
          <a:noFill/>
        </p:spPr>
        <p:txBody>
          <a:bodyPr wrap="square">
            <a:spAutoFit/>
          </a:bodyPr>
          <a:lstStyle/>
          <a:p>
            <a:pPr algn="l"/>
            <a:r>
              <a:rPr lang="zh-CN" altLang="en-US" sz="800" i="0" dirty="0">
                <a:effectLst/>
                <a:latin typeface="思源黑体 CN Heavy" panose="020B0A00000000000000" charset="-122"/>
                <a:cs typeface="思源黑体 CN Normal" panose="020B0400000000000000" pitchFamily="34" charset="-122"/>
              </a:rPr>
              <a:t>（</a:t>
            </a:r>
            <a:r>
              <a:rPr lang="zh-CN" altLang="en-US" sz="800" dirty="0">
                <a:latin typeface="思源黑体 CN Heavy" panose="020B0A00000000000000" charset="-122"/>
                <a:cs typeface="思源黑体 CN Normal" panose="020B0400000000000000" pitchFamily="34" charset="-122"/>
              </a:rPr>
              <a:t>单位：万元</a:t>
            </a:r>
            <a:r>
              <a:rPr lang="zh-CN" altLang="en-US" sz="800" i="0" dirty="0">
                <a:effectLst/>
                <a:latin typeface="思源黑体 CN Heavy" panose="020B0A00000000000000" charset="-122"/>
                <a:cs typeface="思源黑体 CN Normal" panose="020B0400000000000000" pitchFamily="34" charset="-122"/>
              </a:rPr>
              <a:t>）</a:t>
            </a:r>
            <a:endParaRPr lang="zh-CN" altLang="en-US" sz="800" i="0" dirty="0">
              <a:effectLst/>
              <a:latin typeface="思源黑体 CN Heavy" panose="020B0A00000000000000" charset="-122"/>
              <a:cs typeface="思源黑体 CN Normal" panose="020B0400000000000000" pitchFamily="34" charset="-122"/>
            </a:endParaRPr>
          </a:p>
        </p:txBody>
      </p:sp>
      <p:graphicFrame>
        <p:nvGraphicFramePr>
          <p:cNvPr id="39" name="小红书平北职场PPT15"/>
          <p:cNvGraphicFramePr/>
          <p:nvPr/>
        </p:nvGraphicFramePr>
        <p:xfrm>
          <a:off x="4714976" y="1531303"/>
          <a:ext cx="3415979" cy="2422588"/>
        </p:xfrm>
        <a:graphic>
          <a:graphicData uri="http://schemas.openxmlformats.org/drawingml/2006/chart">
            <c:chart xmlns:c="http://schemas.openxmlformats.org/drawingml/2006/chart" xmlns:r="http://schemas.openxmlformats.org/officeDocument/2006/relationships" r:id="rId2"/>
          </a:graphicData>
        </a:graphic>
      </p:graphicFrame>
      <p:sp>
        <p:nvSpPr>
          <p:cNvPr id="40" name="小红书平北职场PPT16"/>
          <p:cNvSpPr/>
          <p:nvPr/>
        </p:nvSpPr>
        <p:spPr>
          <a:xfrm>
            <a:off x="5983795" y="2071221"/>
            <a:ext cx="872752" cy="87275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aphicFrame>
        <p:nvGraphicFramePr>
          <p:cNvPr id="41" name="小红书平北职场PPT17"/>
          <p:cNvGraphicFramePr/>
          <p:nvPr/>
        </p:nvGraphicFramePr>
        <p:xfrm>
          <a:off x="7750157" y="1525969"/>
          <a:ext cx="3556130" cy="2422589"/>
        </p:xfrm>
        <a:graphic>
          <a:graphicData uri="http://schemas.openxmlformats.org/drawingml/2006/chart">
            <c:chart xmlns:c="http://schemas.openxmlformats.org/drawingml/2006/chart" xmlns:r="http://schemas.openxmlformats.org/officeDocument/2006/relationships" r:id="rId3"/>
          </a:graphicData>
        </a:graphic>
      </p:graphicFrame>
      <p:grpSp>
        <p:nvGrpSpPr>
          <p:cNvPr id="42" name="小红书平北职场PPT18"/>
          <p:cNvGrpSpPr/>
          <p:nvPr/>
        </p:nvGrpSpPr>
        <p:grpSpPr>
          <a:xfrm>
            <a:off x="9552791" y="1689851"/>
            <a:ext cx="1972550" cy="2037270"/>
            <a:chOff x="9552791" y="1689851"/>
            <a:chExt cx="1972550" cy="2037270"/>
          </a:xfrm>
        </p:grpSpPr>
        <p:grpSp>
          <p:nvGrpSpPr>
            <p:cNvPr id="43" name="组合 42"/>
            <p:cNvGrpSpPr/>
            <p:nvPr/>
          </p:nvGrpSpPr>
          <p:grpSpPr>
            <a:xfrm>
              <a:off x="10165978" y="1689851"/>
              <a:ext cx="1359363" cy="310077"/>
              <a:chOff x="10165978" y="1689851"/>
              <a:chExt cx="1359363" cy="310077"/>
            </a:xfrm>
          </p:grpSpPr>
          <p:cxnSp>
            <p:nvCxnSpPr>
              <p:cNvPr id="68" name="小红书平北职场PPT18-1"/>
              <p:cNvCxnSpPr/>
              <p:nvPr/>
            </p:nvCxnSpPr>
            <p:spPr>
              <a:xfrm>
                <a:off x="10165978" y="1850316"/>
                <a:ext cx="1161826"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小红书平北职场PPT18-2"/>
              <p:cNvSpPr/>
              <p:nvPr/>
            </p:nvSpPr>
            <p:spPr>
              <a:xfrm>
                <a:off x="11151891" y="1689851"/>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70" name="组合 69"/>
              <p:cNvGrpSpPr/>
              <p:nvPr/>
            </p:nvGrpSpPr>
            <p:grpSpPr>
              <a:xfrm>
                <a:off x="11101827" y="1737984"/>
                <a:ext cx="423514" cy="248111"/>
                <a:chOff x="11101827" y="1729047"/>
                <a:chExt cx="423514" cy="248111"/>
              </a:xfrm>
            </p:grpSpPr>
            <p:sp>
              <p:nvSpPr>
                <p:cNvPr id="71" name="小红书平北职场PPT18-3"/>
                <p:cNvSpPr txBox="1"/>
                <p:nvPr/>
              </p:nvSpPr>
              <p:spPr>
                <a:xfrm>
                  <a:off x="11101827" y="1761714"/>
                  <a:ext cx="423514"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38.9</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72" name="小红书平北职场PPT18-4"/>
                <p:cNvSpPr/>
                <p:nvPr/>
              </p:nvSpPr>
              <p:spPr>
                <a:xfrm>
                  <a:off x="11280424" y="1729047"/>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44" name="组合 43"/>
            <p:cNvGrpSpPr/>
            <p:nvPr/>
          </p:nvGrpSpPr>
          <p:grpSpPr>
            <a:xfrm>
              <a:off x="10381130" y="2121649"/>
              <a:ext cx="1131387" cy="310077"/>
              <a:chOff x="10381130" y="2095711"/>
              <a:chExt cx="1131387" cy="310077"/>
            </a:xfrm>
          </p:grpSpPr>
          <p:cxnSp>
            <p:nvCxnSpPr>
              <p:cNvPr id="63" name="小红书平北职场PPT18-5"/>
              <p:cNvCxnSpPr/>
              <p:nvPr/>
            </p:nvCxnSpPr>
            <p:spPr>
              <a:xfrm>
                <a:off x="10381130" y="2253538"/>
                <a:ext cx="946674"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4" name="小红书平北职场PPT18-6"/>
              <p:cNvSpPr/>
              <p:nvPr/>
            </p:nvSpPr>
            <p:spPr>
              <a:xfrm>
                <a:off x="11151891" y="2095711"/>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65" name="组合 64"/>
              <p:cNvGrpSpPr/>
              <p:nvPr/>
            </p:nvGrpSpPr>
            <p:grpSpPr>
              <a:xfrm>
                <a:off x="11114651" y="2142987"/>
                <a:ext cx="397866" cy="248112"/>
                <a:chOff x="11114651" y="1729046"/>
                <a:chExt cx="397866" cy="248112"/>
              </a:xfrm>
            </p:grpSpPr>
            <p:sp>
              <p:nvSpPr>
                <p:cNvPr id="66" name="小红书平北职场PPT18-7"/>
                <p:cNvSpPr txBox="1"/>
                <p:nvPr/>
              </p:nvSpPr>
              <p:spPr>
                <a:xfrm>
                  <a:off x="11114651" y="1761714"/>
                  <a:ext cx="397866"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18.2</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67" name="小红书平北职场PPT18-8"/>
                <p:cNvSpPr/>
                <p:nvPr/>
              </p:nvSpPr>
              <p:spPr>
                <a:xfrm>
                  <a:off x="11280424" y="1729046"/>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45" name="组合 44"/>
            <p:cNvGrpSpPr/>
            <p:nvPr/>
          </p:nvGrpSpPr>
          <p:grpSpPr>
            <a:xfrm>
              <a:off x="10800678" y="2553448"/>
              <a:ext cx="692603" cy="310077"/>
              <a:chOff x="10800678" y="2484394"/>
              <a:chExt cx="692603" cy="310077"/>
            </a:xfrm>
          </p:grpSpPr>
          <p:cxnSp>
            <p:nvCxnSpPr>
              <p:cNvPr id="58" name="小红书平北职场PPT18-9"/>
              <p:cNvCxnSpPr/>
              <p:nvPr/>
            </p:nvCxnSpPr>
            <p:spPr>
              <a:xfrm>
                <a:off x="10800678" y="2656760"/>
                <a:ext cx="527126"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小红书平北职场PPT18-10"/>
              <p:cNvSpPr/>
              <p:nvPr/>
            </p:nvSpPr>
            <p:spPr>
              <a:xfrm>
                <a:off x="11151891" y="2484394"/>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60" name="组合 59"/>
              <p:cNvGrpSpPr/>
              <p:nvPr/>
            </p:nvGrpSpPr>
            <p:grpSpPr>
              <a:xfrm>
                <a:off x="11133887" y="2538200"/>
                <a:ext cx="359394" cy="239972"/>
                <a:chOff x="11133887" y="1740598"/>
                <a:chExt cx="359394" cy="239972"/>
              </a:xfrm>
            </p:grpSpPr>
            <p:sp>
              <p:nvSpPr>
                <p:cNvPr id="61" name="小红书平北职场PPT18-11"/>
                <p:cNvSpPr txBox="1"/>
                <p:nvPr/>
              </p:nvSpPr>
              <p:spPr>
                <a:xfrm>
                  <a:off x="11133887" y="1765126"/>
                  <a:ext cx="359394"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0.0</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62" name="小红书平北职场PPT18-12"/>
                <p:cNvSpPr/>
                <p:nvPr/>
              </p:nvSpPr>
              <p:spPr>
                <a:xfrm flipV="1">
                  <a:off x="11280424" y="1740598"/>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46" name="组合 45"/>
            <p:cNvGrpSpPr/>
            <p:nvPr/>
          </p:nvGrpSpPr>
          <p:grpSpPr>
            <a:xfrm>
              <a:off x="9628095" y="2985245"/>
              <a:ext cx="1884422" cy="310077"/>
              <a:chOff x="9628095" y="2899517"/>
              <a:chExt cx="1884422" cy="310077"/>
            </a:xfrm>
          </p:grpSpPr>
          <p:cxnSp>
            <p:nvCxnSpPr>
              <p:cNvPr id="53" name="小红书平北职场PPT18-13"/>
              <p:cNvCxnSpPr/>
              <p:nvPr/>
            </p:nvCxnSpPr>
            <p:spPr>
              <a:xfrm>
                <a:off x="9628095" y="3059982"/>
                <a:ext cx="1699708"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 name="小红书平北职场PPT18-14"/>
              <p:cNvSpPr/>
              <p:nvPr/>
            </p:nvSpPr>
            <p:spPr>
              <a:xfrm>
                <a:off x="11151891" y="2899517"/>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55" name="组合 54"/>
              <p:cNvGrpSpPr/>
              <p:nvPr/>
            </p:nvGrpSpPr>
            <p:grpSpPr>
              <a:xfrm>
                <a:off x="11114651" y="2944545"/>
                <a:ext cx="397866" cy="239973"/>
                <a:chOff x="11114651" y="1740597"/>
                <a:chExt cx="397866" cy="239973"/>
              </a:xfrm>
            </p:grpSpPr>
            <p:sp>
              <p:nvSpPr>
                <p:cNvPr id="56" name="小红书平北职场PPT18-15"/>
                <p:cNvSpPr txBox="1"/>
                <p:nvPr/>
              </p:nvSpPr>
              <p:spPr>
                <a:xfrm>
                  <a:off x="11114651" y="1765126"/>
                  <a:ext cx="397866"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13.3</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57" name="小红书平北职场PPT18-16"/>
                <p:cNvSpPr/>
                <p:nvPr/>
              </p:nvSpPr>
              <p:spPr>
                <a:xfrm flipV="1">
                  <a:off x="11280424" y="1740597"/>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47" name="组合 46"/>
            <p:cNvGrpSpPr/>
            <p:nvPr/>
          </p:nvGrpSpPr>
          <p:grpSpPr>
            <a:xfrm>
              <a:off x="9552791" y="3417044"/>
              <a:ext cx="1972550" cy="310077"/>
              <a:chOff x="9552791" y="3302741"/>
              <a:chExt cx="1972550" cy="310077"/>
            </a:xfrm>
          </p:grpSpPr>
          <p:cxnSp>
            <p:nvCxnSpPr>
              <p:cNvPr id="48" name="小红书平北职场PPT18-17"/>
              <p:cNvCxnSpPr/>
              <p:nvPr/>
            </p:nvCxnSpPr>
            <p:spPr>
              <a:xfrm>
                <a:off x="9552791" y="3463205"/>
                <a:ext cx="1775012"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9" name="小红书平北职场PPT18-18"/>
              <p:cNvSpPr/>
              <p:nvPr/>
            </p:nvSpPr>
            <p:spPr>
              <a:xfrm>
                <a:off x="11151891" y="3302741"/>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50" name="组合 49"/>
              <p:cNvGrpSpPr/>
              <p:nvPr/>
            </p:nvGrpSpPr>
            <p:grpSpPr>
              <a:xfrm>
                <a:off x="11101827" y="3343651"/>
                <a:ext cx="423514" cy="239974"/>
                <a:chOff x="11101827" y="1740596"/>
                <a:chExt cx="423514" cy="239974"/>
              </a:xfrm>
            </p:grpSpPr>
            <p:sp>
              <p:nvSpPr>
                <p:cNvPr id="51" name="小红书平北职场PPT18-19"/>
                <p:cNvSpPr txBox="1"/>
                <p:nvPr/>
              </p:nvSpPr>
              <p:spPr>
                <a:xfrm>
                  <a:off x="11101827" y="1765126"/>
                  <a:ext cx="423514"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26.7</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52" name="小红书平北职场PPT18-20"/>
                <p:cNvSpPr/>
                <p:nvPr/>
              </p:nvSpPr>
              <p:spPr>
                <a:xfrm flipV="1">
                  <a:off x="11280424" y="1740596"/>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sp>
        <p:nvSpPr>
          <p:cNvPr id="73" name="小红书平北职场PPT19"/>
          <p:cNvSpPr/>
          <p:nvPr/>
        </p:nvSpPr>
        <p:spPr>
          <a:xfrm>
            <a:off x="8533771" y="4222204"/>
            <a:ext cx="3293282" cy="2330224"/>
          </a:xfrm>
          <a:prstGeom prst="roundRect">
            <a:avLst>
              <a:gd name="adj" fmla="val 0"/>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nvGrpSpPr>
          <p:cNvPr id="74" name="小红书平北职场PPT20"/>
          <p:cNvGrpSpPr/>
          <p:nvPr/>
        </p:nvGrpSpPr>
        <p:grpSpPr>
          <a:xfrm>
            <a:off x="8678350" y="4738553"/>
            <a:ext cx="2964344" cy="1673273"/>
            <a:chOff x="8704476" y="4829994"/>
            <a:chExt cx="2964344" cy="1673273"/>
          </a:xfrm>
        </p:grpSpPr>
        <p:sp>
          <p:nvSpPr>
            <p:cNvPr id="75" name="小红书平北职场PPT20-1"/>
            <p:cNvSpPr txBox="1"/>
            <p:nvPr/>
          </p:nvSpPr>
          <p:spPr>
            <a:xfrm>
              <a:off x="9098321" y="4829994"/>
              <a:ext cx="2570499" cy="1646989"/>
            </a:xfrm>
            <a:prstGeom prst="rect">
              <a:avLst/>
            </a:prstGeom>
            <a:noFill/>
          </p:spPr>
          <p:txBody>
            <a:bodyPr wrap="square">
              <a:spAutoFit/>
            </a:bodyPr>
            <a:lstStyle/>
            <a:p>
              <a:pPr fontAlgn="base">
                <a:lnSpc>
                  <a:spcPct val="130000"/>
                </a:lnSpc>
                <a:spcAft>
                  <a:spcPts val="800"/>
                </a:spcAft>
              </a:pPr>
              <a:r>
                <a:rPr lang="zh-CN" altLang="en-US" sz="1270" dirty="0">
                  <a:solidFill>
                    <a:schemeClr val="bg1"/>
                  </a:solidFill>
                  <a:latin typeface="+mj-ea"/>
                  <a:ea typeface="+mj-ea"/>
                  <a:cs typeface="思源黑体 CN Normal" panose="020B0400000000000000" pitchFamily="34" charset="-122"/>
                </a:rPr>
                <a:t>暂停</a:t>
              </a:r>
              <a:r>
                <a:rPr lang="zh-CN" altLang="en-US" sz="1000" dirty="0">
                  <a:solidFill>
                    <a:schemeClr val="bg1"/>
                  </a:solidFill>
                  <a:latin typeface="+mn-ea"/>
                  <a:cs typeface="思源黑体 CN Normal" panose="020B0400000000000000" pitchFamily="34" charset="-122"/>
                </a:rPr>
                <a:t>：业务招待及差旅费新申请一律暂停，待专项审计后调整标准</a:t>
              </a:r>
              <a:endParaRPr lang="zh-CN" altLang="en-US" sz="1000" dirty="0">
                <a:solidFill>
                  <a:schemeClr val="bg1"/>
                </a:solidFill>
                <a:latin typeface="+mn-ea"/>
                <a:cs typeface="思源黑体 CN Normal" panose="020B0400000000000000" pitchFamily="34" charset="-122"/>
              </a:endParaRPr>
            </a:p>
            <a:p>
              <a:pPr fontAlgn="base">
                <a:lnSpc>
                  <a:spcPct val="130000"/>
                </a:lnSpc>
                <a:spcAft>
                  <a:spcPts val="800"/>
                </a:spcAft>
              </a:pPr>
              <a:r>
                <a:rPr lang="zh-CN" altLang="en-US" sz="1270" dirty="0">
                  <a:solidFill>
                    <a:schemeClr val="bg1"/>
                  </a:solidFill>
                  <a:latin typeface="+mj-ea"/>
                  <a:ea typeface="+mj-ea"/>
                  <a:cs typeface="思源黑体 CN Normal" panose="020B0400000000000000" pitchFamily="34" charset="-122"/>
                </a:rPr>
                <a:t>审计</a:t>
              </a:r>
              <a:r>
                <a:rPr lang="zh-CN" altLang="en-US" sz="1000" dirty="0">
                  <a:solidFill>
                    <a:schemeClr val="bg1"/>
                  </a:solidFill>
                  <a:latin typeface="+mn-ea"/>
                  <a:cs typeface="思源黑体 CN Normal" panose="020B0400000000000000" pitchFamily="34" charset="-122"/>
                </a:rPr>
                <a:t>：由财务等组成工作组，完成超支费用业务合理性审查</a:t>
              </a:r>
              <a:endParaRPr lang="en-US" altLang="zh-CN" sz="1000" dirty="0">
                <a:solidFill>
                  <a:schemeClr val="bg1"/>
                </a:solidFill>
                <a:latin typeface="+mn-ea"/>
                <a:cs typeface="思源黑体 CN Normal" panose="020B0400000000000000" pitchFamily="34" charset="-122"/>
              </a:endParaRPr>
            </a:p>
            <a:p>
              <a:pPr algn="l" fontAlgn="base">
                <a:lnSpc>
                  <a:spcPct val="130000"/>
                </a:lnSpc>
                <a:spcAft>
                  <a:spcPts val="800"/>
                </a:spcAft>
              </a:pPr>
              <a:r>
                <a:rPr lang="zh-CN" altLang="en-US" sz="1270" dirty="0">
                  <a:solidFill>
                    <a:schemeClr val="bg1"/>
                  </a:solidFill>
                  <a:latin typeface="+mj-ea"/>
                  <a:ea typeface="+mj-ea"/>
                  <a:cs typeface="思源黑体 CN Normal" panose="020B0400000000000000" pitchFamily="34" charset="-122"/>
                </a:rPr>
                <a:t>调配</a:t>
              </a:r>
              <a:r>
                <a:rPr lang="zh-CN" altLang="en-US" sz="1000" dirty="0">
                  <a:solidFill>
                    <a:schemeClr val="bg1"/>
                  </a:solidFill>
                  <a:latin typeface="+mn-ea"/>
                  <a:cs typeface="思源黑体 CN Normal" panose="020B0400000000000000" pitchFamily="34" charset="-122"/>
                </a:rPr>
                <a:t>：按季度将后勤部门结余预算调剂至业务部门</a:t>
              </a:r>
              <a:endParaRPr lang="zh-CN" altLang="en-US" sz="1000" dirty="0">
                <a:solidFill>
                  <a:schemeClr val="bg1"/>
                </a:solidFill>
                <a:latin typeface="+mn-ea"/>
                <a:cs typeface="思源黑体 CN Normal" panose="020B0400000000000000" pitchFamily="34" charset="-122"/>
              </a:endParaRPr>
            </a:p>
          </p:txBody>
        </p:sp>
        <p:grpSp>
          <p:nvGrpSpPr>
            <p:cNvPr id="76" name="组合 75"/>
            <p:cNvGrpSpPr/>
            <p:nvPr/>
          </p:nvGrpSpPr>
          <p:grpSpPr>
            <a:xfrm>
              <a:off x="8704477" y="5403754"/>
              <a:ext cx="2951280" cy="540027"/>
              <a:chOff x="8751194" y="5358565"/>
              <a:chExt cx="2859110" cy="490542"/>
            </a:xfrm>
          </p:grpSpPr>
          <p:cxnSp>
            <p:nvCxnSpPr>
              <p:cNvPr id="80" name="小红书平北职场PPT20-2"/>
              <p:cNvCxnSpPr/>
              <p:nvPr/>
            </p:nvCxnSpPr>
            <p:spPr>
              <a:xfrm>
                <a:off x="8751194" y="5358565"/>
                <a:ext cx="2859110" cy="0"/>
              </a:xfrm>
              <a:prstGeom prst="line">
                <a:avLst/>
              </a:prstGeom>
              <a:ln w="8639">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81" name="小红书平北职场PPT20-3"/>
              <p:cNvCxnSpPr/>
              <p:nvPr/>
            </p:nvCxnSpPr>
            <p:spPr>
              <a:xfrm>
                <a:off x="8751194" y="5849107"/>
                <a:ext cx="2859110" cy="0"/>
              </a:xfrm>
              <a:prstGeom prst="line">
                <a:avLst/>
              </a:prstGeom>
              <a:ln w="8639">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77" name="小红书平北职场PPT20-4"/>
            <p:cNvSpPr/>
            <p:nvPr/>
          </p:nvSpPr>
          <p:spPr>
            <a:xfrm>
              <a:off x="8749112" y="4938342"/>
              <a:ext cx="273669" cy="273669"/>
            </a:xfrm>
            <a:custGeom>
              <a:avLst/>
              <a:gdLst>
                <a:gd name="connsiteX0" fmla="*/ 1027416 w 1668178"/>
                <a:gd name="connsiteY0" fmla="*/ 455358 h 1668177"/>
                <a:gd name="connsiteX1" fmla="*/ 944463 w 1668178"/>
                <a:gd name="connsiteY1" fmla="*/ 538311 h 1668177"/>
                <a:gd name="connsiteX2" fmla="*/ 944463 w 1668178"/>
                <a:gd name="connsiteY2" fmla="*/ 1129866 h 1668177"/>
                <a:gd name="connsiteX3" fmla="*/ 1027416 w 1668178"/>
                <a:gd name="connsiteY3" fmla="*/ 1212819 h 1668177"/>
                <a:gd name="connsiteX4" fmla="*/ 1110369 w 1668178"/>
                <a:gd name="connsiteY4" fmla="*/ 1129866 h 1668177"/>
                <a:gd name="connsiteX5" fmla="*/ 1110369 w 1668178"/>
                <a:gd name="connsiteY5" fmla="*/ 538311 h 1668177"/>
                <a:gd name="connsiteX6" fmla="*/ 1027416 w 1668178"/>
                <a:gd name="connsiteY6" fmla="*/ 455358 h 1668177"/>
                <a:gd name="connsiteX7" fmla="*/ 640742 w 1668178"/>
                <a:gd name="connsiteY7" fmla="*/ 455358 h 1668177"/>
                <a:gd name="connsiteX8" fmla="*/ 557789 w 1668178"/>
                <a:gd name="connsiteY8" fmla="*/ 538311 h 1668177"/>
                <a:gd name="connsiteX9" fmla="*/ 557789 w 1668178"/>
                <a:gd name="connsiteY9" fmla="*/ 1129866 h 1668177"/>
                <a:gd name="connsiteX10" fmla="*/ 640742 w 1668178"/>
                <a:gd name="connsiteY10" fmla="*/ 1212819 h 1668177"/>
                <a:gd name="connsiteX11" fmla="*/ 723695 w 1668178"/>
                <a:gd name="connsiteY11" fmla="*/ 1129866 h 1668177"/>
                <a:gd name="connsiteX12" fmla="*/ 723695 w 1668178"/>
                <a:gd name="connsiteY12" fmla="*/ 538311 h 1668177"/>
                <a:gd name="connsiteX13" fmla="*/ 640742 w 1668178"/>
                <a:gd name="connsiteY13" fmla="*/ 455358 h 1668177"/>
                <a:gd name="connsiteX14" fmla="*/ 834089 w 1668178"/>
                <a:gd name="connsiteY14" fmla="*/ 0 h 1668177"/>
                <a:gd name="connsiteX15" fmla="*/ 1476003 w 1668178"/>
                <a:gd name="connsiteY15" fmla="*/ 192193 h 1668177"/>
                <a:gd name="connsiteX16" fmla="*/ 1668178 w 1668178"/>
                <a:gd name="connsiteY16" fmla="*/ 834089 h 1668177"/>
                <a:gd name="connsiteX17" fmla="*/ 1475985 w 1668178"/>
                <a:gd name="connsiteY17" fmla="*/ 1476003 h 1668177"/>
                <a:gd name="connsiteX18" fmla="*/ 834089 w 1668178"/>
                <a:gd name="connsiteY18" fmla="*/ 1668177 h 1668177"/>
                <a:gd name="connsiteX19" fmla="*/ 192175 w 1668178"/>
                <a:gd name="connsiteY19" fmla="*/ 1475984 h 1668177"/>
                <a:gd name="connsiteX20" fmla="*/ 0 w 1668178"/>
                <a:gd name="connsiteY20" fmla="*/ 834089 h 1668177"/>
                <a:gd name="connsiteX21" fmla="*/ 192193 w 1668178"/>
                <a:gd name="connsiteY21" fmla="*/ 192174 h 1668177"/>
                <a:gd name="connsiteX22" fmla="*/ 834089 w 1668178"/>
                <a:gd name="connsiteY22" fmla="*/ 0 h 166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68178" h="1668177">
                  <a:moveTo>
                    <a:pt x="1027416" y="455358"/>
                  </a:moveTo>
                  <a:cubicBezTo>
                    <a:pt x="981782" y="455358"/>
                    <a:pt x="944463" y="492695"/>
                    <a:pt x="944463" y="538311"/>
                  </a:cubicBezTo>
                  <a:lnTo>
                    <a:pt x="944463" y="1129866"/>
                  </a:lnTo>
                  <a:cubicBezTo>
                    <a:pt x="944463" y="1175500"/>
                    <a:pt x="981800" y="1212819"/>
                    <a:pt x="1027416" y="1212819"/>
                  </a:cubicBezTo>
                  <a:cubicBezTo>
                    <a:pt x="1073051" y="1212819"/>
                    <a:pt x="1110369" y="1175482"/>
                    <a:pt x="1110369" y="1129866"/>
                  </a:cubicBezTo>
                  <a:lnTo>
                    <a:pt x="1110369" y="538311"/>
                  </a:lnTo>
                  <a:cubicBezTo>
                    <a:pt x="1110369" y="492695"/>
                    <a:pt x="1073032" y="455358"/>
                    <a:pt x="1027416" y="455358"/>
                  </a:cubicBezTo>
                  <a:close/>
                  <a:moveTo>
                    <a:pt x="640742" y="455358"/>
                  </a:moveTo>
                  <a:cubicBezTo>
                    <a:pt x="595108" y="455358"/>
                    <a:pt x="557789" y="492695"/>
                    <a:pt x="557789" y="538311"/>
                  </a:cubicBezTo>
                  <a:lnTo>
                    <a:pt x="557789" y="1129866"/>
                  </a:lnTo>
                  <a:cubicBezTo>
                    <a:pt x="557789" y="1175500"/>
                    <a:pt x="595126" y="1212819"/>
                    <a:pt x="640742" y="1212819"/>
                  </a:cubicBezTo>
                  <a:cubicBezTo>
                    <a:pt x="686376" y="1212819"/>
                    <a:pt x="723695" y="1175482"/>
                    <a:pt x="723695" y="1129866"/>
                  </a:cubicBezTo>
                  <a:lnTo>
                    <a:pt x="723695" y="538311"/>
                  </a:lnTo>
                  <a:cubicBezTo>
                    <a:pt x="723695" y="492695"/>
                    <a:pt x="686376" y="455358"/>
                    <a:pt x="640742" y="455358"/>
                  </a:cubicBezTo>
                  <a:close/>
                  <a:moveTo>
                    <a:pt x="834089" y="0"/>
                  </a:moveTo>
                  <a:cubicBezTo>
                    <a:pt x="1110556" y="3795"/>
                    <a:pt x="1339472" y="51792"/>
                    <a:pt x="1476003" y="192193"/>
                  </a:cubicBezTo>
                  <a:cubicBezTo>
                    <a:pt x="1616385" y="328706"/>
                    <a:pt x="1664401" y="557622"/>
                    <a:pt x="1668178" y="834089"/>
                  </a:cubicBezTo>
                  <a:cubicBezTo>
                    <a:pt x="1664382" y="1110556"/>
                    <a:pt x="1616367" y="1339472"/>
                    <a:pt x="1475985" y="1476003"/>
                  </a:cubicBezTo>
                  <a:cubicBezTo>
                    <a:pt x="1339472" y="1616385"/>
                    <a:pt x="1110556" y="1664401"/>
                    <a:pt x="834089" y="1668177"/>
                  </a:cubicBezTo>
                  <a:cubicBezTo>
                    <a:pt x="557622" y="1664382"/>
                    <a:pt x="328706" y="1616385"/>
                    <a:pt x="192175" y="1475984"/>
                  </a:cubicBezTo>
                  <a:cubicBezTo>
                    <a:pt x="51792" y="1339472"/>
                    <a:pt x="3777" y="1110556"/>
                    <a:pt x="0" y="834089"/>
                  </a:cubicBezTo>
                  <a:cubicBezTo>
                    <a:pt x="3795" y="557622"/>
                    <a:pt x="51792" y="328706"/>
                    <a:pt x="192193" y="192174"/>
                  </a:cubicBezTo>
                  <a:cubicBezTo>
                    <a:pt x="328706" y="51792"/>
                    <a:pt x="557622" y="3777"/>
                    <a:pt x="834089" y="0"/>
                  </a:cubicBezTo>
                  <a:close/>
                </a:path>
              </a:pathLst>
            </a:custGeom>
            <a:solidFill>
              <a:sysClr val="window" lastClr="FFFFFF"/>
            </a:solidFill>
            <a:ln w="902" cap="flat">
              <a:noFill/>
              <a:prstDash val="solid"/>
              <a:miter/>
            </a:ln>
            <a:effectLst>
              <a:outerShdw blurRad="46077" dist="34558"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78" name="小红书平北职场PPT20-5"/>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41973" y="5528598"/>
              <a:ext cx="287946" cy="287946"/>
            </a:xfrm>
            <a:prstGeom prst="rect">
              <a:avLst/>
            </a:prstGeom>
            <a:effectLst>
              <a:outerShdw blurRad="46077" dist="34558" dir="5400000" algn="t" rotWithShape="0">
                <a:srgbClr val="420003">
                  <a:alpha val="20000"/>
                </a:srgbClr>
              </a:outerShdw>
            </a:effectLst>
          </p:spPr>
        </p:pic>
        <p:pic>
          <p:nvPicPr>
            <p:cNvPr id="79" name="小红书平北职场PPT20-6"/>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04476" y="6093063"/>
              <a:ext cx="410204" cy="410204"/>
            </a:xfrm>
            <a:prstGeom prst="rect">
              <a:avLst/>
            </a:prstGeom>
            <a:effectLst>
              <a:outerShdw blurRad="46077" dist="34558" dir="5400000" algn="t" rotWithShape="0">
                <a:srgbClr val="420003">
                  <a:alpha val="20000"/>
                </a:srgbClr>
              </a:outerShdw>
            </a:effectLst>
          </p:spPr>
        </p:pic>
      </p:grpSp>
      <p:grpSp>
        <p:nvGrpSpPr>
          <p:cNvPr id="82" name="小红书平北职场PPT21"/>
          <p:cNvGrpSpPr/>
          <p:nvPr/>
        </p:nvGrpSpPr>
        <p:grpSpPr>
          <a:xfrm>
            <a:off x="8533771" y="4332465"/>
            <a:ext cx="3232659" cy="333006"/>
            <a:chOff x="8247669" y="1104057"/>
            <a:chExt cx="3232659" cy="265153"/>
          </a:xfrm>
        </p:grpSpPr>
        <p:sp>
          <p:nvSpPr>
            <p:cNvPr id="83" name="小红书平北职场PPT21-1"/>
            <p:cNvSpPr/>
            <p:nvPr/>
          </p:nvSpPr>
          <p:spPr>
            <a:xfrm>
              <a:off x="8985737" y="1104057"/>
              <a:ext cx="2494591" cy="26515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j-ea"/>
                  <a:ea typeface="+mj-ea"/>
                  <a:cs typeface="思源黑体 CN Normal" panose="020B0400000000000000" pitchFamily="34" charset="-122"/>
                </a:rPr>
                <a:t>年度预算执行重大风险及应对方案</a:t>
              </a:r>
              <a:endParaRPr lang="zh-CN" altLang="en-US" sz="1200" dirty="0">
                <a:solidFill>
                  <a:schemeClr val="tx1"/>
                </a:solidFill>
                <a:latin typeface="+mj-ea"/>
                <a:ea typeface="+mj-ea"/>
                <a:cs typeface="思源黑体 CN Normal" panose="020B0400000000000000" pitchFamily="34" charset="-122"/>
              </a:endParaRPr>
            </a:p>
          </p:txBody>
        </p:sp>
        <p:sp>
          <p:nvSpPr>
            <p:cNvPr id="84" name="小红书平北职场PPT21-2"/>
            <p:cNvSpPr/>
            <p:nvPr/>
          </p:nvSpPr>
          <p:spPr>
            <a:xfrm>
              <a:off x="8247669" y="1104057"/>
              <a:ext cx="738068" cy="26515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思源黑体 CN Heavy" panose="020B0A00000000000000" charset="-122"/>
                  <a:ea typeface="思源黑体 CN Heavy" panose="020B0A00000000000000" charset="-122"/>
                  <a:cs typeface="思源黑体 CN Normal" panose="020B0400000000000000" pitchFamily="34" charset="-122"/>
                </a:rPr>
                <a:t>⭐⭐⭐</a:t>
              </a:r>
              <a:endParaRPr lang="zh-CN" altLang="en-US" sz="1000" dirty="0">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85" name="小红书平北职场PPT22"/>
          <p:cNvSpPr/>
          <p:nvPr/>
        </p:nvSpPr>
        <p:spPr>
          <a:xfrm>
            <a:off x="5090576" y="5510580"/>
            <a:ext cx="2968157" cy="282399"/>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86" name="小红书平北职场PPT23"/>
          <p:cNvSpPr/>
          <p:nvPr/>
        </p:nvSpPr>
        <p:spPr>
          <a:xfrm>
            <a:off x="5090576" y="6161350"/>
            <a:ext cx="2968157" cy="282399"/>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aphicFrame>
        <p:nvGraphicFramePr>
          <p:cNvPr id="87" name="小红书平北职场PPT24"/>
          <p:cNvGraphicFramePr>
            <a:graphicFrameLocks noGrp="1"/>
          </p:cNvGraphicFramePr>
          <p:nvPr/>
        </p:nvGraphicFramePr>
        <p:xfrm>
          <a:off x="5136246" y="4813088"/>
          <a:ext cx="2951211" cy="1667135"/>
        </p:xfrm>
        <a:graphic>
          <a:graphicData uri="http://schemas.openxmlformats.org/drawingml/2006/table">
            <a:tbl>
              <a:tblPr/>
              <a:tblGrid>
                <a:gridCol w="576000"/>
                <a:gridCol w="587737"/>
                <a:gridCol w="587737"/>
                <a:gridCol w="587737"/>
                <a:gridCol w="612000"/>
              </a:tblGrid>
              <a:tr h="333427">
                <a:tc>
                  <a:txBody>
                    <a:bodyPr/>
                    <a:lstStyle/>
                    <a:p>
                      <a:pPr algn="r"/>
                      <a:r>
                        <a:rPr lang="zh-CN" altLang="en-US" sz="800" b="0" dirty="0">
                          <a:effectLst/>
                          <a:latin typeface="+mn-ea"/>
                          <a:ea typeface="+mn-ea"/>
                          <a:cs typeface="思源黑体 CN Normal" panose="020B0400000000000000" pitchFamily="34" charset="-122"/>
                        </a:rPr>
                        <a:t>部门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zh-CN" altLang="en-US" sz="800" b="0" dirty="0">
                          <a:effectLst/>
                          <a:latin typeface="+mn-ea"/>
                          <a:ea typeface="+mn-ea"/>
                          <a:cs typeface="思源黑体 CN Normal" panose="020B0400000000000000" pitchFamily="34" charset="-122"/>
                        </a:rPr>
                        <a:t>预算</a:t>
                      </a:r>
                      <a:endParaRPr lang="zh-CN" altLang="en-US"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b="0" dirty="0">
                          <a:effectLst/>
                          <a:latin typeface="+mn-ea"/>
                          <a:ea typeface="+mn-ea"/>
                          <a:cs typeface="思源黑体 CN Normal" panose="020B0400000000000000" pitchFamily="34" charset="-122"/>
                        </a:rPr>
                        <a:t>支出</a:t>
                      </a:r>
                      <a:endParaRPr lang="zh-CN" altLang="en-US"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b="0" dirty="0">
                          <a:effectLst/>
                          <a:latin typeface="+mj-ea"/>
                          <a:ea typeface="+mj-ea"/>
                          <a:cs typeface="思源黑体 CN Normal" panose="020B0400000000000000" pitchFamily="34" charset="-122"/>
                        </a:rPr>
                        <a:t>超支</a:t>
                      </a:r>
                      <a:endParaRPr lang="zh-CN" altLang="en-US" sz="800" b="0" dirty="0">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b="0" dirty="0">
                          <a:effectLst/>
                          <a:latin typeface="+mn-ea"/>
                          <a:ea typeface="+mn-ea"/>
                          <a:cs typeface="思源黑体 CN Normal" panose="020B0400000000000000" pitchFamily="34" charset="-122"/>
                        </a:rPr>
                        <a:t>执行率</a:t>
                      </a:r>
                      <a:endParaRPr lang="zh-CN" altLang="en-US"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333427">
                <a:tc>
                  <a:txBody>
                    <a:bodyPr/>
                    <a:lstStyle/>
                    <a:p>
                      <a:pPr algn="r"/>
                      <a:r>
                        <a:rPr lang="zh-CN" altLang="en-US" sz="800" b="0" dirty="0">
                          <a:effectLst/>
                          <a:latin typeface="+mn-ea"/>
                          <a:ea typeface="+mn-ea"/>
                          <a:cs typeface="思源黑体 CN Normal" panose="020B0400000000000000" pitchFamily="34" charset="-122"/>
                        </a:rPr>
                        <a:t>销售部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4,000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4,700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-700</a:t>
                      </a:r>
                      <a:endParaRPr lang="zh-CN" altLang="en-US"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117.5%</a:t>
                      </a:r>
                      <a:endParaRPr lang="en-US" altLang="zh-CN" sz="800" b="0" dirty="0">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r h="333427">
                <a:tc>
                  <a:txBody>
                    <a:bodyPr/>
                    <a:lstStyle/>
                    <a:p>
                      <a:pPr algn="r"/>
                      <a:r>
                        <a:rPr lang="zh-CN" altLang="en-US" sz="800" b="0" dirty="0">
                          <a:effectLst/>
                          <a:latin typeface="+mn-ea"/>
                          <a:ea typeface="+mn-ea"/>
                          <a:cs typeface="思源黑体 CN Normal" panose="020B0400000000000000" pitchFamily="34" charset="-122"/>
                        </a:rPr>
                        <a:t>市场部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2,000</a:t>
                      </a:r>
                      <a:endParaRPr lang="en-US" altLang="zh-CN"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2,200</a:t>
                      </a:r>
                      <a:endParaRPr lang="en-US" altLang="zh-CN"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-200</a:t>
                      </a:r>
                      <a:endParaRPr lang="zh-CN" altLang="en-US"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110.0%</a:t>
                      </a:r>
                      <a:endParaRPr lang="en-US" altLang="zh-CN" sz="800" b="0" dirty="0">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r h="333427">
                <a:tc>
                  <a:txBody>
                    <a:bodyPr/>
                    <a:lstStyle/>
                    <a:p>
                      <a:pPr algn="r"/>
                      <a:r>
                        <a:rPr lang="zh-CN" altLang="en-US" sz="800" b="0" dirty="0">
                          <a:effectLst/>
                          <a:latin typeface="+mn-ea"/>
                          <a:ea typeface="+mn-ea"/>
                          <a:cs typeface="思源黑体 CN Normal" panose="020B0400000000000000" pitchFamily="34" charset="-122"/>
                        </a:rPr>
                        <a:t>研发部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2,500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2,350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+150</a:t>
                      </a:r>
                      <a:endParaRPr lang="zh-CN" altLang="en-US"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94.0%</a:t>
                      </a:r>
                      <a:endParaRPr lang="en-US" altLang="zh-CN" sz="800" b="0" dirty="0">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r h="333427">
                <a:tc>
                  <a:txBody>
                    <a:bodyPr/>
                    <a:lstStyle/>
                    <a:p>
                      <a:pPr algn="r"/>
                      <a:r>
                        <a:rPr lang="zh-CN" altLang="en-US" sz="800" b="0" dirty="0">
                          <a:effectLst/>
                          <a:latin typeface="+mn-ea"/>
                          <a:ea typeface="+mn-ea"/>
                          <a:cs typeface="思源黑体 CN Normal" panose="020B0400000000000000" pitchFamily="34" charset="-122"/>
                        </a:rPr>
                        <a:t>行政部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1,500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1,250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+250</a:t>
                      </a:r>
                      <a:endParaRPr lang="zh-CN" altLang="en-US"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83.3%</a:t>
                      </a:r>
                      <a:endParaRPr lang="en-US" altLang="zh-CN" sz="800" b="0" dirty="0">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bl>
          </a:graphicData>
        </a:graphic>
      </p:graphicFrame>
      <p:cxnSp>
        <p:nvCxnSpPr>
          <p:cNvPr id="88" name="小红书平北职场PPT25"/>
          <p:cNvCxnSpPr/>
          <p:nvPr/>
        </p:nvCxnSpPr>
        <p:spPr>
          <a:xfrm>
            <a:off x="5136246" y="5120570"/>
            <a:ext cx="292248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6"/>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8865252" y="927427"/>
            <a:ext cx="2939504" cy="293828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sp>
        <p:nvSpPr>
          <p:cNvPr id="3" name="小红书平北职场PPT2"/>
          <p:cNvSpPr/>
          <p:nvPr/>
        </p:nvSpPr>
        <p:spPr>
          <a:xfrm>
            <a:off x="8863791" y="2911824"/>
            <a:ext cx="2939504" cy="228461"/>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 name="小红书平北职场PPT3"/>
          <p:cNvSpPr/>
          <p:nvPr/>
        </p:nvSpPr>
        <p:spPr>
          <a:xfrm>
            <a:off x="8863791" y="3543529"/>
            <a:ext cx="2939504" cy="228461"/>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5" name="小红书平北职场PPT4"/>
          <p:cNvSpPr/>
          <p:nvPr/>
        </p:nvSpPr>
        <p:spPr>
          <a:xfrm>
            <a:off x="8863791" y="2286965"/>
            <a:ext cx="2939504" cy="228461"/>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 name="小红书平北职场PPT5"/>
          <p:cNvSpPr/>
          <p:nvPr/>
        </p:nvSpPr>
        <p:spPr>
          <a:xfrm flipH="1">
            <a:off x="3789910" y="925555"/>
            <a:ext cx="4631060" cy="3175692"/>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graphicFrame>
        <p:nvGraphicFramePr>
          <p:cNvPr id="7" name="小红书平北职场PPT6"/>
          <p:cNvGraphicFramePr/>
          <p:nvPr/>
        </p:nvGraphicFramePr>
        <p:xfrm>
          <a:off x="3829252" y="1485572"/>
          <a:ext cx="5228520" cy="2645551"/>
        </p:xfrm>
        <a:graphic>
          <a:graphicData uri="http://schemas.openxmlformats.org/drawingml/2006/chart">
            <c:chart xmlns:c="http://schemas.openxmlformats.org/drawingml/2006/chart" xmlns:r="http://schemas.openxmlformats.org/officeDocument/2006/relationships" r:id="rId1"/>
          </a:graphicData>
        </a:graphic>
      </p:graphicFrame>
      <p:grpSp>
        <p:nvGrpSpPr>
          <p:cNvPr id="8" name="小红书平北职场PPT7"/>
          <p:cNvGrpSpPr/>
          <p:nvPr/>
        </p:nvGrpSpPr>
        <p:grpSpPr>
          <a:xfrm>
            <a:off x="334963" y="184318"/>
            <a:ext cx="11522075" cy="506147"/>
            <a:chOff x="334963" y="184318"/>
            <a:chExt cx="11522075" cy="506147"/>
          </a:xfrm>
        </p:grpSpPr>
        <p:cxnSp>
          <p:nvCxnSpPr>
            <p:cNvPr id="9" name="小红书平北职场PPT7-1"/>
            <p:cNvCxnSpPr/>
            <p:nvPr>
              <p:custDataLst>
                <p:tags r:id="rId3"/>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小红书平北职场PPT7-2"/>
            <p:cNvSpPr txBox="1"/>
            <p:nvPr>
              <p:custDataLst>
                <p:tags r:id="rId4"/>
              </p:custDataLst>
            </p:nvPr>
          </p:nvSpPr>
          <p:spPr>
            <a:xfrm>
              <a:off x="334963" y="184318"/>
              <a:ext cx="6822380"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从‘流量红利’到‘留量价值’的运营转型</a:t>
              </a:r>
              <a:endPar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sp>
        <p:nvSpPr>
          <p:cNvPr id="11" name="小红书平北职场PPT8"/>
          <p:cNvSpPr/>
          <p:nvPr/>
        </p:nvSpPr>
        <p:spPr>
          <a:xfrm flipH="1">
            <a:off x="3789908" y="4362857"/>
            <a:ext cx="4631060" cy="218689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12" name="小红书平北职场PPT9"/>
          <p:cNvGrpSpPr/>
          <p:nvPr/>
        </p:nvGrpSpPr>
        <p:grpSpPr>
          <a:xfrm>
            <a:off x="317042" y="919265"/>
            <a:ext cx="3010234" cy="5630490"/>
            <a:chOff x="317042" y="919265"/>
            <a:chExt cx="3279820" cy="5630490"/>
          </a:xfrm>
        </p:grpSpPr>
        <p:sp>
          <p:nvSpPr>
            <p:cNvPr id="13" name="小红书平北职场PPT9-1"/>
            <p:cNvSpPr/>
            <p:nvPr/>
          </p:nvSpPr>
          <p:spPr>
            <a:xfrm>
              <a:off x="317042" y="919265"/>
              <a:ext cx="3279820" cy="5630490"/>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14" name="组合 13"/>
            <p:cNvGrpSpPr/>
            <p:nvPr/>
          </p:nvGrpSpPr>
          <p:grpSpPr>
            <a:xfrm>
              <a:off x="434536" y="1672562"/>
              <a:ext cx="3161596" cy="818593"/>
              <a:chOff x="434536" y="1688891"/>
              <a:chExt cx="3161596" cy="818593"/>
            </a:xfrm>
          </p:grpSpPr>
          <p:grpSp>
            <p:nvGrpSpPr>
              <p:cNvPr id="54" name="组合 53"/>
              <p:cNvGrpSpPr/>
              <p:nvPr/>
            </p:nvGrpSpPr>
            <p:grpSpPr>
              <a:xfrm>
                <a:off x="434536" y="1688891"/>
                <a:ext cx="1474312" cy="818593"/>
                <a:chOff x="2125348" y="1511706"/>
                <a:chExt cx="1706700" cy="947624"/>
              </a:xfrm>
            </p:grpSpPr>
            <p:sp>
              <p:nvSpPr>
                <p:cNvPr id="59" name="小红书平北职场PPT9-2"/>
                <p:cNvSpPr/>
                <p:nvPr/>
              </p:nvSpPr>
              <p:spPr>
                <a:xfrm>
                  <a:off x="2154181" y="1511706"/>
                  <a:ext cx="1649033"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lt1"/>
                    </a:solidFill>
                    <a:cs typeface="思源黑体 CN Normal" panose="020B0400000000000000" pitchFamily="34" charset="-122"/>
                  </a:endParaRPr>
                </a:p>
              </p:txBody>
            </p:sp>
            <p:sp>
              <p:nvSpPr>
                <p:cNvPr id="60" name="小红书平北职场PPT9-3"/>
                <p:cNvSpPr txBox="1"/>
                <p:nvPr/>
              </p:nvSpPr>
              <p:spPr>
                <a:xfrm>
                  <a:off x="2125348" y="2135384"/>
                  <a:ext cx="1706700" cy="293940"/>
                </a:xfrm>
                <a:prstGeom prst="rect">
                  <a:avLst/>
                </a:prstGeom>
                <a:noFill/>
              </p:spPr>
              <p:txBody>
                <a:bodyPr wrap="square" rtlCol="0">
                  <a:spAutoFit/>
                </a:bodyPr>
                <a:lstStyle>
                  <a:defPPr>
                    <a:defRPr lang="zh-CN"/>
                  </a:defPPr>
                  <a:lvl1pPr algn="ctr">
                    <a:defRPr sz="1050">
                      <a:latin typeface="+mn-ea"/>
                    </a:defRPr>
                  </a:lvl1pPr>
                </a:lstStyle>
                <a:p>
                  <a:r>
                    <a:rPr lang="zh-CN" altLang="en-US">
                      <a:cs typeface="思源黑体 CN Normal" panose="020B0400000000000000" pitchFamily="34" charset="-122"/>
                    </a:rPr>
                    <a:t>年度销售额</a:t>
                  </a:r>
                  <a:r>
                    <a:rPr lang="en-US" altLang="zh-CN">
                      <a:cs typeface="思源黑体 CN Normal" panose="020B0400000000000000" pitchFamily="34" charset="-122"/>
                    </a:rPr>
                    <a:t>(</a:t>
                  </a:r>
                  <a:r>
                    <a:rPr lang="zh-CN" altLang="en-US">
                      <a:cs typeface="思源黑体 CN Normal" panose="020B0400000000000000" pitchFamily="34" charset="-122"/>
                    </a:rPr>
                    <a:t>万元</a:t>
                  </a:r>
                  <a:r>
                    <a:rPr lang="en-US" altLang="zh-CN">
                      <a:cs typeface="思源黑体 CN Normal" panose="020B0400000000000000" pitchFamily="34" charset="-122"/>
                    </a:rPr>
                    <a:t>)</a:t>
                  </a:r>
                  <a:endParaRPr lang="en-US" altLang="zh-CN" dirty="0">
                    <a:cs typeface="思源黑体 CN Normal" panose="020B0400000000000000" pitchFamily="34" charset="-122"/>
                  </a:endParaRPr>
                </a:p>
              </p:txBody>
            </p:sp>
            <p:sp>
              <p:nvSpPr>
                <p:cNvPr id="61" name="小红书平北职场PPT9-4"/>
                <p:cNvSpPr txBox="1"/>
                <p:nvPr/>
              </p:nvSpPr>
              <p:spPr>
                <a:xfrm>
                  <a:off x="2329376" y="1587234"/>
                  <a:ext cx="1298644" cy="534435"/>
                </a:xfrm>
                <a:prstGeom prst="rect">
                  <a:avLst/>
                </a:prstGeom>
                <a:noFill/>
              </p:spPr>
              <p:txBody>
                <a:bodyPr wrap="square" rtlCol="0">
                  <a:spAutoFit/>
                </a:bodyPr>
                <a:lstStyle>
                  <a:defPPr>
                    <a:defRPr lang="zh-CN"/>
                  </a:defPPr>
                  <a:lvl1pPr algn="ctr">
                    <a:defRPr sz="2400">
                      <a:gradFill>
                        <a:gsLst>
                          <a:gs pos="0">
                            <a:schemeClr val="accent1">
                              <a:lumMod val="60000"/>
                              <a:lumOff val="40000"/>
                            </a:schemeClr>
                          </a:gs>
                          <a:gs pos="100000">
                            <a:schemeClr val="accent1"/>
                          </a:gs>
                        </a:gsLst>
                        <a:lin ang="2700000" scaled="1"/>
                      </a:gradFill>
                      <a:ea typeface="+mj-ea"/>
                    </a:defRPr>
                  </a:lvl1pPr>
                </a:lstStyle>
                <a:p>
                  <a:r>
                    <a:rPr lang="en-US" altLang="zh-CN">
                      <a:cs typeface="思源黑体 CN Normal" panose="020B0400000000000000" pitchFamily="34" charset="-122"/>
                    </a:rPr>
                    <a:t>2,430</a:t>
                  </a:r>
                  <a:endParaRPr lang="en-US" altLang="zh-CN" dirty="0">
                    <a:cs typeface="思源黑体 CN Normal" panose="020B0400000000000000" pitchFamily="34" charset="-122"/>
                  </a:endParaRPr>
                </a:p>
              </p:txBody>
            </p:sp>
          </p:grpSp>
          <p:grpSp>
            <p:nvGrpSpPr>
              <p:cNvPr id="55" name="组合 54"/>
              <p:cNvGrpSpPr/>
              <p:nvPr/>
            </p:nvGrpSpPr>
            <p:grpSpPr>
              <a:xfrm>
                <a:off x="1849857" y="1688891"/>
                <a:ext cx="1746276" cy="818593"/>
                <a:chOff x="247618" y="1511707"/>
                <a:chExt cx="2021532" cy="947624"/>
              </a:xfrm>
            </p:grpSpPr>
            <p:sp>
              <p:nvSpPr>
                <p:cNvPr id="56" name="小红书平北职场PPT9-5"/>
                <p:cNvSpPr/>
                <p:nvPr/>
              </p:nvSpPr>
              <p:spPr>
                <a:xfrm>
                  <a:off x="433432" y="1511707"/>
                  <a:ext cx="1649032"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lt1"/>
                    </a:solidFill>
                    <a:cs typeface="思源黑体 CN Normal" panose="020B0400000000000000" pitchFamily="34" charset="-122"/>
                  </a:endParaRPr>
                </a:p>
              </p:txBody>
            </p:sp>
            <p:sp>
              <p:nvSpPr>
                <p:cNvPr id="57" name="小红书平北职场PPT9-6"/>
                <p:cNvSpPr txBox="1"/>
                <p:nvPr/>
              </p:nvSpPr>
              <p:spPr>
                <a:xfrm>
                  <a:off x="602691" y="2135385"/>
                  <a:ext cx="1310518" cy="302846"/>
                </a:xfrm>
                <a:prstGeom prst="rect">
                  <a:avLst/>
                </a:prstGeom>
                <a:noFill/>
              </p:spPr>
              <p:txBody>
                <a:bodyPr wrap="square" rtlCol="0">
                  <a:spAutoFit/>
                </a:bodyPr>
                <a:lstStyle>
                  <a:defPPr>
                    <a:defRPr lang="zh-CN"/>
                  </a:defPPr>
                  <a:lvl1pPr algn="ctr">
                    <a:defRPr sz="1050">
                      <a:latin typeface="+mn-ea"/>
                    </a:defRPr>
                  </a:lvl1pPr>
                </a:lstStyle>
                <a:p>
                  <a:r>
                    <a:rPr lang="zh-CN" altLang="en-US" dirty="0">
                      <a:cs typeface="思源黑体 CN Normal" panose="020B0400000000000000" pitchFamily="34" charset="-122"/>
                    </a:rPr>
                    <a:t>订单总数（单）</a:t>
                  </a:r>
                  <a:endParaRPr lang="en-US" altLang="zh-CN" dirty="0">
                    <a:cs typeface="思源黑体 CN Normal" panose="020B0400000000000000" pitchFamily="34" charset="-122"/>
                  </a:endParaRPr>
                </a:p>
              </p:txBody>
            </p:sp>
            <p:sp>
              <p:nvSpPr>
                <p:cNvPr id="58" name="小红书平北职场PPT9-7"/>
                <p:cNvSpPr txBox="1"/>
                <p:nvPr/>
              </p:nvSpPr>
              <p:spPr>
                <a:xfrm>
                  <a:off x="247618" y="1599918"/>
                  <a:ext cx="2021532" cy="532942"/>
                </a:xfrm>
                <a:prstGeom prst="rect">
                  <a:avLst/>
                </a:prstGeom>
                <a:noFill/>
              </p:spPr>
              <p:txBody>
                <a:bodyPr wrap="square" rtlCol="0">
                  <a:spAutoFit/>
                </a:bodyPr>
                <a:lstStyle>
                  <a:defPPr>
                    <a:defRPr lang="zh-CN"/>
                  </a:defPPr>
                  <a:lvl1pPr algn="ctr">
                    <a:defRPr sz="2400">
                      <a:gradFill>
                        <a:gsLst>
                          <a:gs pos="0">
                            <a:schemeClr val="accent1">
                              <a:lumMod val="60000"/>
                              <a:lumOff val="40000"/>
                            </a:schemeClr>
                          </a:gs>
                          <a:gs pos="100000">
                            <a:schemeClr val="accent1"/>
                          </a:gs>
                        </a:gsLst>
                        <a:lin ang="2700000" scaled="1"/>
                      </a:gradFill>
                      <a:ea typeface="+mj-ea"/>
                    </a:defRPr>
                  </a:lvl1pPr>
                </a:lstStyle>
                <a:p>
                  <a:r>
                    <a:rPr lang="en-US" altLang="zh-CN" dirty="0">
                      <a:cs typeface="思源黑体 CN Normal" panose="020B0400000000000000" pitchFamily="34" charset="-122"/>
                    </a:rPr>
                    <a:t>81,500 </a:t>
                  </a:r>
                  <a:endParaRPr lang="en-US" altLang="zh-CN" dirty="0">
                    <a:cs typeface="思源黑体 CN Normal" panose="020B0400000000000000" pitchFamily="34" charset="-122"/>
                  </a:endParaRPr>
                </a:p>
              </p:txBody>
            </p:sp>
          </p:grpSp>
        </p:grpSp>
        <p:grpSp>
          <p:nvGrpSpPr>
            <p:cNvPr id="15" name="组合 14"/>
            <p:cNvGrpSpPr/>
            <p:nvPr/>
          </p:nvGrpSpPr>
          <p:grpSpPr>
            <a:xfrm>
              <a:off x="459443" y="3648415"/>
              <a:ext cx="2975424" cy="818593"/>
              <a:chOff x="459443" y="3599370"/>
              <a:chExt cx="2975424" cy="818593"/>
            </a:xfrm>
          </p:grpSpPr>
          <p:grpSp>
            <p:nvGrpSpPr>
              <p:cNvPr id="46" name="组合 45"/>
              <p:cNvGrpSpPr/>
              <p:nvPr/>
            </p:nvGrpSpPr>
            <p:grpSpPr>
              <a:xfrm>
                <a:off x="459443" y="3599370"/>
                <a:ext cx="1424497" cy="818593"/>
                <a:chOff x="2154181" y="3556920"/>
                <a:chExt cx="1649033" cy="947624"/>
              </a:xfrm>
            </p:grpSpPr>
            <p:sp>
              <p:nvSpPr>
                <p:cNvPr id="51" name="小红书平北职场PPT9-8"/>
                <p:cNvSpPr/>
                <p:nvPr/>
              </p:nvSpPr>
              <p:spPr>
                <a:xfrm>
                  <a:off x="2154181" y="3556920"/>
                  <a:ext cx="1649033"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cs typeface="思源黑体 CN Normal" panose="020B0400000000000000" pitchFamily="34" charset="-122"/>
                  </a:endParaRPr>
                </a:p>
              </p:txBody>
            </p:sp>
            <p:sp>
              <p:nvSpPr>
                <p:cNvPr id="52" name="小红书平北职场PPT9-9"/>
                <p:cNvSpPr txBox="1"/>
                <p:nvPr/>
              </p:nvSpPr>
              <p:spPr>
                <a:xfrm>
                  <a:off x="2323438" y="4137904"/>
                  <a:ext cx="1310518" cy="302846"/>
                </a:xfrm>
                <a:prstGeom prst="rect">
                  <a:avLst/>
                </a:prstGeom>
                <a:noFill/>
              </p:spPr>
              <p:txBody>
                <a:bodyPr wrap="square" rtlCol="0">
                  <a:spAutoFit/>
                </a:bodyPr>
                <a:lstStyle/>
                <a:p>
                  <a:pPr algn="ctr"/>
                  <a:r>
                    <a:rPr lang="zh-CN" altLang="en-US" sz="1050" dirty="0">
                      <a:latin typeface="+mn-ea"/>
                      <a:cs typeface="思源黑体 CN Normal" panose="020B0400000000000000" pitchFamily="34" charset="-122"/>
                    </a:rPr>
                    <a:t>支付转化率</a:t>
                  </a:r>
                  <a:endParaRPr lang="en-US" altLang="zh-CN" sz="1050" dirty="0">
                    <a:latin typeface="+mn-ea"/>
                    <a:cs typeface="思源黑体 CN Normal" panose="020B0400000000000000" pitchFamily="34" charset="-122"/>
                  </a:endParaRPr>
                </a:p>
              </p:txBody>
            </p:sp>
            <p:sp>
              <p:nvSpPr>
                <p:cNvPr id="53" name="小红书平北职场PPT9-10"/>
                <p:cNvSpPr txBox="1"/>
                <p:nvPr/>
              </p:nvSpPr>
              <p:spPr>
                <a:xfrm>
                  <a:off x="2329376" y="3638057"/>
                  <a:ext cx="1298644" cy="534435"/>
                </a:xfrm>
                <a:prstGeom prst="rect">
                  <a:avLst/>
                </a:prstGeom>
                <a:noFill/>
              </p:spPr>
              <p:txBody>
                <a:bodyPr wrap="square" rtlCol="0">
                  <a:spAutoFit/>
                </a:bodyPr>
                <a:lstStyle/>
                <a:p>
                  <a:pPr algn="ctr"/>
                  <a:r>
                    <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rPr>
                    <a:t>3.16%</a:t>
                  </a:r>
                  <a:endPar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endParaRPr>
                </a:p>
              </p:txBody>
            </p:sp>
          </p:grpSp>
          <p:grpSp>
            <p:nvGrpSpPr>
              <p:cNvPr id="47" name="组合 46"/>
              <p:cNvGrpSpPr/>
              <p:nvPr/>
            </p:nvGrpSpPr>
            <p:grpSpPr>
              <a:xfrm>
                <a:off x="2010370" y="3599370"/>
                <a:ext cx="1424497" cy="818593"/>
                <a:chOff x="433431" y="3556920"/>
                <a:chExt cx="1649033" cy="947624"/>
              </a:xfrm>
            </p:grpSpPr>
            <p:sp>
              <p:nvSpPr>
                <p:cNvPr id="48" name="小红书平北职场PPT9-11"/>
                <p:cNvSpPr/>
                <p:nvPr/>
              </p:nvSpPr>
              <p:spPr>
                <a:xfrm>
                  <a:off x="433431" y="3556920"/>
                  <a:ext cx="1649033" cy="947624"/>
                </a:xfrm>
                <a:prstGeom prst="roundRect">
                  <a:avLst>
                    <a:gd name="adj" fmla="val 8615"/>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100" b="1" dirty="0">
                    <a:solidFill>
                      <a:schemeClr val="bg1"/>
                    </a:solidFill>
                    <a:latin typeface="+mj-ea"/>
                    <a:ea typeface="+mj-ea"/>
                    <a:cs typeface="思源黑体 CN Normal" panose="020B0400000000000000" pitchFamily="34" charset="-122"/>
                  </a:endParaRPr>
                </a:p>
              </p:txBody>
            </p:sp>
            <p:sp>
              <p:nvSpPr>
                <p:cNvPr id="49" name="小红书平北职场PPT9-12"/>
                <p:cNvSpPr txBox="1"/>
                <p:nvPr/>
              </p:nvSpPr>
              <p:spPr>
                <a:xfrm>
                  <a:off x="602690" y="4137904"/>
                  <a:ext cx="1310518" cy="302846"/>
                </a:xfrm>
                <a:prstGeom prst="rect">
                  <a:avLst/>
                </a:prstGeom>
                <a:noFill/>
              </p:spPr>
              <p:txBody>
                <a:bodyPr wrap="square" rtlCol="0">
                  <a:spAutoFit/>
                </a:bodyPr>
                <a:lstStyle/>
                <a:p>
                  <a:pPr algn="ctr"/>
                  <a:r>
                    <a:rPr lang="zh-CN" altLang="en-US" sz="1050" dirty="0">
                      <a:solidFill>
                        <a:schemeClr val="bg1"/>
                      </a:solidFill>
                      <a:latin typeface="+mn-ea"/>
                      <a:cs typeface="思源黑体 CN Normal" panose="020B0400000000000000" pitchFamily="34" charset="-122"/>
                    </a:rPr>
                    <a:t>客户复购率</a:t>
                  </a:r>
                  <a:endParaRPr lang="en-US" altLang="zh-CN" sz="1050" dirty="0">
                    <a:solidFill>
                      <a:schemeClr val="bg1"/>
                    </a:solidFill>
                    <a:latin typeface="+mn-ea"/>
                    <a:cs typeface="思源黑体 CN Normal" panose="020B0400000000000000" pitchFamily="34" charset="-122"/>
                  </a:endParaRPr>
                </a:p>
              </p:txBody>
            </p:sp>
            <p:sp>
              <p:nvSpPr>
                <p:cNvPr id="50" name="小红书平北职场PPT9-13"/>
                <p:cNvSpPr txBox="1"/>
                <p:nvPr/>
              </p:nvSpPr>
              <p:spPr>
                <a:xfrm>
                  <a:off x="608626" y="3638057"/>
                  <a:ext cx="1298644" cy="534435"/>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32.1%</a:t>
                  </a:r>
                  <a:endParaRPr lang="en-US" altLang="zh-CN" sz="2400" dirty="0">
                    <a:solidFill>
                      <a:schemeClr val="bg1"/>
                    </a:solidFill>
                    <a:ea typeface="+mj-ea"/>
                    <a:cs typeface="思源黑体 CN Normal" panose="020B0400000000000000" pitchFamily="34" charset="-122"/>
                  </a:endParaRPr>
                </a:p>
              </p:txBody>
            </p:sp>
          </p:grpSp>
        </p:grpSp>
        <p:grpSp>
          <p:nvGrpSpPr>
            <p:cNvPr id="16" name="组合 15"/>
            <p:cNvGrpSpPr/>
            <p:nvPr/>
          </p:nvGrpSpPr>
          <p:grpSpPr>
            <a:xfrm>
              <a:off x="459443" y="2660488"/>
              <a:ext cx="2975424" cy="818594"/>
              <a:chOff x="459443" y="2644370"/>
              <a:chExt cx="2975424" cy="818594"/>
            </a:xfrm>
          </p:grpSpPr>
          <p:grpSp>
            <p:nvGrpSpPr>
              <p:cNvPr id="38" name="组合 37"/>
              <p:cNvGrpSpPr/>
              <p:nvPr/>
            </p:nvGrpSpPr>
            <p:grpSpPr>
              <a:xfrm>
                <a:off x="459443" y="2644370"/>
                <a:ext cx="1424497" cy="818593"/>
                <a:chOff x="2154181" y="2534868"/>
                <a:chExt cx="1649033" cy="947624"/>
              </a:xfrm>
            </p:grpSpPr>
            <p:sp>
              <p:nvSpPr>
                <p:cNvPr id="43" name="小红书平北职场PPT9-14"/>
                <p:cNvSpPr/>
                <p:nvPr/>
              </p:nvSpPr>
              <p:spPr>
                <a:xfrm>
                  <a:off x="2154181" y="2534868"/>
                  <a:ext cx="1649033" cy="947624"/>
                </a:xfrm>
                <a:prstGeom prst="roundRect">
                  <a:avLst>
                    <a:gd name="adj" fmla="val 8615"/>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100" b="1">
                    <a:solidFill>
                      <a:schemeClr val="bg1"/>
                    </a:solidFill>
                    <a:latin typeface="+mj-ea"/>
                    <a:ea typeface="+mj-ea"/>
                    <a:cs typeface="思源黑体 CN Normal" panose="020B0400000000000000" pitchFamily="34" charset="-122"/>
                  </a:endParaRPr>
                </a:p>
              </p:txBody>
            </p:sp>
            <p:sp>
              <p:nvSpPr>
                <p:cNvPr id="44" name="小红书平北职场PPT9-15"/>
                <p:cNvSpPr txBox="1"/>
                <p:nvPr/>
              </p:nvSpPr>
              <p:spPr>
                <a:xfrm>
                  <a:off x="2211995" y="3082851"/>
                  <a:ext cx="1533405" cy="302846"/>
                </a:xfrm>
                <a:prstGeom prst="rect">
                  <a:avLst/>
                </a:prstGeom>
                <a:noFill/>
              </p:spPr>
              <p:txBody>
                <a:bodyPr wrap="square" rtlCol="0">
                  <a:spAutoFit/>
                </a:bodyPr>
                <a:lstStyle/>
                <a:p>
                  <a:pPr algn="ctr"/>
                  <a:r>
                    <a:rPr lang="zh-CN" altLang="en-US" sz="1050" dirty="0">
                      <a:solidFill>
                        <a:schemeClr val="bg1"/>
                      </a:solidFill>
                      <a:latin typeface="+mn-ea"/>
                      <a:cs typeface="思源黑体 CN Normal" panose="020B0400000000000000" pitchFamily="34" charset="-122"/>
                    </a:rPr>
                    <a:t>平均客单价</a:t>
                  </a:r>
                  <a:r>
                    <a:rPr lang="en-US" altLang="zh-CN" sz="1050" dirty="0">
                      <a:solidFill>
                        <a:schemeClr val="bg1"/>
                      </a:solidFill>
                      <a:latin typeface="+mn-ea"/>
                      <a:cs typeface="思源黑体 CN Normal" panose="020B0400000000000000" pitchFamily="34" charset="-122"/>
                    </a:rPr>
                    <a:t>(</a:t>
                  </a:r>
                  <a:r>
                    <a:rPr lang="zh-CN" altLang="en-US" sz="1050" dirty="0">
                      <a:solidFill>
                        <a:schemeClr val="bg1"/>
                      </a:solidFill>
                      <a:latin typeface="+mn-ea"/>
                      <a:cs typeface="思源黑体 CN Normal" panose="020B0400000000000000" pitchFamily="34" charset="-122"/>
                    </a:rPr>
                    <a:t>元</a:t>
                  </a:r>
                  <a:r>
                    <a:rPr lang="en-US" altLang="zh-CN" sz="1050" dirty="0">
                      <a:solidFill>
                        <a:schemeClr val="bg1"/>
                      </a:solidFill>
                      <a:latin typeface="+mn-ea"/>
                      <a:cs typeface="思源黑体 CN Normal" panose="020B0400000000000000" pitchFamily="34" charset="-122"/>
                    </a:rPr>
                    <a:t>)</a:t>
                  </a:r>
                  <a:endParaRPr lang="en-US" altLang="zh-CN" sz="1050" dirty="0">
                    <a:solidFill>
                      <a:schemeClr val="bg1"/>
                    </a:solidFill>
                    <a:latin typeface="+mn-ea"/>
                    <a:cs typeface="思源黑体 CN Normal" panose="020B0400000000000000" pitchFamily="34" charset="-122"/>
                  </a:endParaRPr>
                </a:p>
              </p:txBody>
            </p:sp>
            <p:sp>
              <p:nvSpPr>
                <p:cNvPr id="45" name="小红书平北职场PPT9-16"/>
                <p:cNvSpPr txBox="1"/>
                <p:nvPr/>
              </p:nvSpPr>
              <p:spPr>
                <a:xfrm>
                  <a:off x="2329376" y="2581270"/>
                  <a:ext cx="1298644" cy="534435"/>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298.2 </a:t>
                  </a:r>
                  <a:endParaRPr lang="en-US" altLang="zh-CN" sz="2400" dirty="0">
                    <a:solidFill>
                      <a:schemeClr val="bg1"/>
                    </a:solidFill>
                    <a:ea typeface="+mj-ea"/>
                    <a:cs typeface="思源黑体 CN Normal" panose="020B0400000000000000" pitchFamily="34" charset="-122"/>
                  </a:endParaRPr>
                </a:p>
              </p:txBody>
            </p:sp>
          </p:grpSp>
          <p:grpSp>
            <p:nvGrpSpPr>
              <p:cNvPr id="39" name="组合 38"/>
              <p:cNvGrpSpPr/>
              <p:nvPr/>
            </p:nvGrpSpPr>
            <p:grpSpPr>
              <a:xfrm>
                <a:off x="2010370" y="2644370"/>
                <a:ext cx="1424497" cy="818594"/>
                <a:chOff x="4495986" y="935915"/>
                <a:chExt cx="1649033" cy="926642"/>
              </a:xfrm>
            </p:grpSpPr>
            <p:sp>
              <p:nvSpPr>
                <p:cNvPr id="40" name="小红书平北职场PPT9-17"/>
                <p:cNvSpPr/>
                <p:nvPr/>
              </p:nvSpPr>
              <p:spPr>
                <a:xfrm>
                  <a:off x="4495986" y="935915"/>
                  <a:ext cx="1649033" cy="926642"/>
                </a:xfrm>
                <a:prstGeom prst="roundRect">
                  <a:avLst>
                    <a:gd name="adj" fmla="val 8615"/>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42619" dist="65824"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100" b="1">
                    <a:solidFill>
                      <a:schemeClr val="bg1"/>
                    </a:solidFill>
                    <a:latin typeface="+mj-ea"/>
                    <a:ea typeface="+mj-ea"/>
                    <a:cs typeface="思源黑体 CN Normal" panose="020B0400000000000000" pitchFamily="34" charset="-122"/>
                  </a:endParaRPr>
                </a:p>
              </p:txBody>
            </p:sp>
            <p:sp>
              <p:nvSpPr>
                <p:cNvPr id="41" name="小红书平北职场PPT9-18"/>
                <p:cNvSpPr txBox="1"/>
                <p:nvPr/>
              </p:nvSpPr>
              <p:spPr>
                <a:xfrm>
                  <a:off x="4665245" y="1471764"/>
                  <a:ext cx="1310518" cy="296140"/>
                </a:xfrm>
                <a:prstGeom prst="rect">
                  <a:avLst/>
                </a:prstGeom>
                <a:noFill/>
              </p:spPr>
              <p:txBody>
                <a:bodyPr wrap="square" rtlCol="0">
                  <a:spAutoFit/>
                </a:bodyPr>
                <a:lstStyle/>
                <a:p>
                  <a:pPr algn="ctr"/>
                  <a:r>
                    <a:rPr lang="zh-CN" altLang="en-US" sz="1050" dirty="0">
                      <a:solidFill>
                        <a:schemeClr val="bg1"/>
                      </a:solidFill>
                      <a:latin typeface="+mn-ea"/>
                      <a:cs typeface="思源黑体 CN Normal" panose="020B0400000000000000" pitchFamily="34" charset="-122"/>
                    </a:rPr>
                    <a:t>访客总数</a:t>
                  </a:r>
                  <a:r>
                    <a:rPr lang="en-US" altLang="zh-CN" sz="1050" dirty="0">
                      <a:solidFill>
                        <a:schemeClr val="bg1"/>
                      </a:solidFill>
                      <a:latin typeface="+mn-ea"/>
                      <a:cs typeface="思源黑体 CN Normal" panose="020B0400000000000000" pitchFamily="34" charset="-122"/>
                    </a:rPr>
                    <a:t>(</a:t>
                  </a:r>
                  <a:r>
                    <a:rPr lang="zh-CN" altLang="en-US" sz="1050" dirty="0">
                      <a:solidFill>
                        <a:schemeClr val="bg1"/>
                      </a:solidFill>
                      <a:latin typeface="+mn-ea"/>
                      <a:cs typeface="思源黑体 CN Normal" panose="020B0400000000000000" pitchFamily="34" charset="-122"/>
                    </a:rPr>
                    <a:t>万人</a:t>
                  </a:r>
                  <a:r>
                    <a:rPr lang="en-US" altLang="zh-CN" sz="1050" dirty="0">
                      <a:solidFill>
                        <a:schemeClr val="bg1"/>
                      </a:solidFill>
                      <a:latin typeface="+mn-ea"/>
                      <a:cs typeface="思源黑体 CN Normal" panose="020B0400000000000000" pitchFamily="34" charset="-122"/>
                    </a:rPr>
                    <a:t>)</a:t>
                  </a:r>
                  <a:endParaRPr lang="en-US" altLang="zh-CN" sz="1050" dirty="0">
                    <a:solidFill>
                      <a:schemeClr val="bg1"/>
                    </a:solidFill>
                    <a:latin typeface="+mn-ea"/>
                    <a:cs typeface="思源黑体 CN Normal" panose="020B0400000000000000" pitchFamily="34" charset="-122"/>
                  </a:endParaRPr>
                </a:p>
              </p:txBody>
            </p:sp>
            <p:sp>
              <p:nvSpPr>
                <p:cNvPr id="42" name="小红书平北职场PPT9-19"/>
                <p:cNvSpPr txBox="1"/>
                <p:nvPr/>
              </p:nvSpPr>
              <p:spPr>
                <a:xfrm>
                  <a:off x="4671181" y="988987"/>
                  <a:ext cx="1298644" cy="522601"/>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258</a:t>
                  </a:r>
                  <a:endParaRPr lang="en-US" altLang="zh-CN" sz="2400" dirty="0">
                    <a:solidFill>
                      <a:schemeClr val="bg1"/>
                    </a:solidFill>
                    <a:ea typeface="+mj-ea"/>
                    <a:cs typeface="思源黑体 CN Normal" panose="020B0400000000000000" pitchFamily="34" charset="-122"/>
                  </a:endParaRPr>
                </a:p>
              </p:txBody>
            </p:sp>
          </p:grpSp>
        </p:grpSp>
        <p:grpSp>
          <p:nvGrpSpPr>
            <p:cNvPr id="17" name="组合 16"/>
            <p:cNvGrpSpPr/>
            <p:nvPr/>
          </p:nvGrpSpPr>
          <p:grpSpPr>
            <a:xfrm>
              <a:off x="459443" y="4636341"/>
              <a:ext cx="2975424" cy="818593"/>
              <a:chOff x="459443" y="4576118"/>
              <a:chExt cx="2975424" cy="818593"/>
            </a:xfrm>
          </p:grpSpPr>
          <p:grpSp>
            <p:nvGrpSpPr>
              <p:cNvPr id="30" name="组合 29"/>
              <p:cNvGrpSpPr/>
              <p:nvPr/>
            </p:nvGrpSpPr>
            <p:grpSpPr>
              <a:xfrm>
                <a:off x="459443" y="4576118"/>
                <a:ext cx="1424497" cy="818593"/>
                <a:chOff x="2154181" y="4586351"/>
                <a:chExt cx="1649033" cy="947624"/>
              </a:xfrm>
            </p:grpSpPr>
            <p:sp>
              <p:nvSpPr>
                <p:cNvPr id="35" name="小红书平北职场PPT9-20"/>
                <p:cNvSpPr/>
                <p:nvPr/>
              </p:nvSpPr>
              <p:spPr>
                <a:xfrm>
                  <a:off x="2154181" y="4586351"/>
                  <a:ext cx="1649033" cy="947624"/>
                </a:xfrm>
                <a:prstGeom prst="roundRect">
                  <a:avLst>
                    <a:gd name="adj" fmla="val 8615"/>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100" b="1">
                    <a:solidFill>
                      <a:schemeClr val="bg1"/>
                    </a:solidFill>
                    <a:latin typeface="+mj-ea"/>
                    <a:ea typeface="+mj-ea"/>
                    <a:cs typeface="思源黑体 CN Normal" panose="020B0400000000000000" pitchFamily="34" charset="-122"/>
                  </a:endParaRPr>
                </a:p>
              </p:txBody>
            </p:sp>
            <p:sp>
              <p:nvSpPr>
                <p:cNvPr id="36" name="小红书平北职场PPT9-21"/>
                <p:cNvSpPr txBox="1"/>
                <p:nvPr/>
              </p:nvSpPr>
              <p:spPr>
                <a:xfrm>
                  <a:off x="2329376" y="4651906"/>
                  <a:ext cx="1298644" cy="534435"/>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43.5%</a:t>
                  </a:r>
                  <a:endParaRPr lang="en-US" altLang="zh-CN" sz="2400" dirty="0">
                    <a:solidFill>
                      <a:schemeClr val="bg1"/>
                    </a:solidFill>
                    <a:ea typeface="+mj-ea"/>
                    <a:cs typeface="思源黑体 CN Normal" panose="020B0400000000000000" pitchFamily="34" charset="-122"/>
                  </a:endParaRPr>
                </a:p>
              </p:txBody>
            </p:sp>
            <p:sp>
              <p:nvSpPr>
                <p:cNvPr id="37" name="小红书平北职场PPT9-22"/>
                <p:cNvSpPr txBox="1"/>
                <p:nvPr/>
              </p:nvSpPr>
              <p:spPr>
                <a:xfrm>
                  <a:off x="2323438" y="5173547"/>
                  <a:ext cx="1310518" cy="302846"/>
                </a:xfrm>
                <a:prstGeom prst="rect">
                  <a:avLst/>
                </a:prstGeom>
                <a:noFill/>
              </p:spPr>
              <p:txBody>
                <a:bodyPr wrap="square" rtlCol="0">
                  <a:spAutoFit/>
                </a:bodyPr>
                <a:lstStyle/>
                <a:p>
                  <a:pPr algn="ctr"/>
                  <a:r>
                    <a:rPr lang="zh-CN" altLang="en-US" sz="1050" dirty="0">
                      <a:solidFill>
                        <a:schemeClr val="bg1"/>
                      </a:solidFill>
                      <a:latin typeface="+mn-ea"/>
                      <a:cs typeface="思源黑体 CN Normal" panose="020B0400000000000000" pitchFamily="34" charset="-122"/>
                    </a:rPr>
                    <a:t>毛利率</a:t>
                  </a:r>
                  <a:endParaRPr lang="en-US" altLang="zh-CN" sz="1050" dirty="0">
                    <a:solidFill>
                      <a:schemeClr val="bg1"/>
                    </a:solidFill>
                    <a:latin typeface="+mn-ea"/>
                    <a:cs typeface="思源黑体 CN Normal" panose="020B0400000000000000" pitchFamily="34" charset="-122"/>
                  </a:endParaRPr>
                </a:p>
              </p:txBody>
            </p:sp>
          </p:grpSp>
          <p:grpSp>
            <p:nvGrpSpPr>
              <p:cNvPr id="31" name="组合 30"/>
              <p:cNvGrpSpPr/>
              <p:nvPr/>
            </p:nvGrpSpPr>
            <p:grpSpPr>
              <a:xfrm>
                <a:off x="2010370" y="4576118"/>
                <a:ext cx="1424497" cy="818593"/>
                <a:chOff x="434394" y="4579526"/>
                <a:chExt cx="1649032" cy="947624"/>
              </a:xfrm>
            </p:grpSpPr>
            <p:sp>
              <p:nvSpPr>
                <p:cNvPr id="32" name="小红书平北职场PPT9-23"/>
                <p:cNvSpPr/>
                <p:nvPr/>
              </p:nvSpPr>
              <p:spPr>
                <a:xfrm>
                  <a:off x="434394" y="4579526"/>
                  <a:ext cx="1649032"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lt1"/>
                    </a:solidFill>
                    <a:cs typeface="思源黑体 CN Normal" panose="020B0400000000000000" pitchFamily="34" charset="-122"/>
                  </a:endParaRPr>
                </a:p>
              </p:txBody>
            </p:sp>
            <p:sp>
              <p:nvSpPr>
                <p:cNvPr id="33" name="小红书平北职场PPT9-24"/>
                <p:cNvSpPr txBox="1"/>
                <p:nvPr/>
              </p:nvSpPr>
              <p:spPr>
                <a:xfrm>
                  <a:off x="603653" y="5166721"/>
                  <a:ext cx="1310517" cy="302846"/>
                </a:xfrm>
                <a:prstGeom prst="rect">
                  <a:avLst/>
                </a:prstGeom>
                <a:noFill/>
              </p:spPr>
              <p:txBody>
                <a:bodyPr wrap="square" rtlCol="0">
                  <a:spAutoFit/>
                </a:bodyPr>
                <a:lstStyle/>
                <a:p>
                  <a:pPr algn="ctr"/>
                  <a:r>
                    <a:rPr lang="zh-CN" altLang="en-US" sz="1050" dirty="0">
                      <a:latin typeface="+mn-ea"/>
                      <a:cs typeface="思源黑体 CN Normal" panose="020B0400000000000000" pitchFamily="34" charset="-122"/>
                    </a:rPr>
                    <a:t>推广费用占比</a:t>
                  </a:r>
                  <a:endParaRPr lang="en-US" altLang="zh-CN" sz="1050" dirty="0">
                    <a:latin typeface="+mn-ea"/>
                    <a:cs typeface="思源黑体 CN Normal" panose="020B0400000000000000" pitchFamily="34" charset="-122"/>
                  </a:endParaRPr>
                </a:p>
              </p:txBody>
            </p:sp>
            <p:sp>
              <p:nvSpPr>
                <p:cNvPr id="34" name="小红书平北职场PPT9-25"/>
                <p:cNvSpPr txBox="1"/>
                <p:nvPr/>
              </p:nvSpPr>
              <p:spPr>
                <a:xfrm>
                  <a:off x="609589" y="4645081"/>
                  <a:ext cx="1298644" cy="534435"/>
                </a:xfrm>
                <a:prstGeom prst="rect">
                  <a:avLst/>
                </a:prstGeom>
                <a:noFill/>
              </p:spPr>
              <p:txBody>
                <a:bodyPr wrap="square" rtlCol="0">
                  <a:spAutoFit/>
                </a:bodyPr>
                <a:lstStyle/>
                <a:p>
                  <a:pPr algn="ctr"/>
                  <a:r>
                    <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rPr>
                    <a:t>16.8%</a:t>
                  </a:r>
                  <a:endPar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endParaRPr>
                </a:p>
              </p:txBody>
            </p:sp>
          </p:grpSp>
        </p:grpSp>
        <p:grpSp>
          <p:nvGrpSpPr>
            <p:cNvPr id="18" name="组合 17"/>
            <p:cNvGrpSpPr/>
            <p:nvPr/>
          </p:nvGrpSpPr>
          <p:grpSpPr>
            <a:xfrm>
              <a:off x="433844" y="5624267"/>
              <a:ext cx="3001024" cy="818593"/>
              <a:chOff x="433844" y="5531118"/>
              <a:chExt cx="3001024" cy="818593"/>
            </a:xfrm>
          </p:grpSpPr>
          <p:grpSp>
            <p:nvGrpSpPr>
              <p:cNvPr id="22" name="组合 21"/>
              <p:cNvGrpSpPr/>
              <p:nvPr/>
            </p:nvGrpSpPr>
            <p:grpSpPr>
              <a:xfrm>
                <a:off x="433844" y="5531118"/>
                <a:ext cx="1475063" cy="818593"/>
                <a:chOff x="2124547" y="5602131"/>
                <a:chExt cx="1707570" cy="947624"/>
              </a:xfrm>
            </p:grpSpPr>
            <p:sp>
              <p:nvSpPr>
                <p:cNvPr id="27" name="小红书平北职场PPT9-26"/>
                <p:cNvSpPr/>
                <p:nvPr/>
              </p:nvSpPr>
              <p:spPr>
                <a:xfrm>
                  <a:off x="2154181" y="5602131"/>
                  <a:ext cx="1649033"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思源黑体 CN Normal" panose="020B0400000000000000" pitchFamily="34" charset="-122"/>
                  </a:endParaRPr>
                </a:p>
              </p:txBody>
            </p:sp>
            <p:sp>
              <p:nvSpPr>
                <p:cNvPr id="28" name="小红书平北职场PPT9-27"/>
                <p:cNvSpPr txBox="1"/>
                <p:nvPr/>
              </p:nvSpPr>
              <p:spPr>
                <a:xfrm>
                  <a:off x="2124547" y="6174768"/>
                  <a:ext cx="1707570" cy="292567"/>
                </a:xfrm>
                <a:prstGeom prst="rect">
                  <a:avLst/>
                </a:prstGeom>
                <a:noFill/>
              </p:spPr>
              <p:txBody>
                <a:bodyPr wrap="square" rtlCol="0">
                  <a:spAutoFit/>
                </a:bodyPr>
                <a:lstStyle/>
                <a:p>
                  <a:pPr algn="ctr"/>
                  <a:r>
                    <a:rPr lang="zh-CN" altLang="en-US" sz="1050" dirty="0">
                      <a:latin typeface="+mn-ea"/>
                      <a:cs typeface="思源黑体 CN Normal" panose="020B0400000000000000" pitchFamily="34" charset="-122"/>
                    </a:rPr>
                    <a:t>新品销售占比</a:t>
                  </a:r>
                  <a:endParaRPr lang="en-US" altLang="zh-CN" sz="1050" dirty="0">
                    <a:latin typeface="+mn-ea"/>
                    <a:cs typeface="思源黑体 CN Normal" panose="020B0400000000000000" pitchFamily="34" charset="-122"/>
                  </a:endParaRPr>
                </a:p>
              </p:txBody>
            </p:sp>
            <p:sp>
              <p:nvSpPr>
                <p:cNvPr id="29" name="小红书平北职场PPT9-28"/>
                <p:cNvSpPr txBox="1"/>
                <p:nvPr/>
              </p:nvSpPr>
              <p:spPr>
                <a:xfrm>
                  <a:off x="2329376" y="5683268"/>
                  <a:ext cx="1298644" cy="534435"/>
                </a:xfrm>
                <a:prstGeom prst="rect">
                  <a:avLst/>
                </a:prstGeom>
                <a:noFill/>
              </p:spPr>
              <p:txBody>
                <a:bodyPr wrap="square" rtlCol="0">
                  <a:spAutoFit/>
                </a:bodyPr>
                <a:lstStyle/>
                <a:p>
                  <a:pPr algn="ctr"/>
                  <a:r>
                    <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rPr>
                    <a:t>22.5%</a:t>
                  </a:r>
                  <a:endPar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endParaRPr>
                </a:p>
              </p:txBody>
            </p:sp>
          </p:grpSp>
          <p:grpSp>
            <p:nvGrpSpPr>
              <p:cNvPr id="23" name="组合 22"/>
              <p:cNvGrpSpPr/>
              <p:nvPr/>
            </p:nvGrpSpPr>
            <p:grpSpPr>
              <a:xfrm>
                <a:off x="2010370" y="5531118"/>
                <a:ext cx="1424498" cy="818593"/>
                <a:chOff x="432445" y="5602131"/>
                <a:chExt cx="1649033" cy="947624"/>
              </a:xfrm>
            </p:grpSpPr>
            <p:sp>
              <p:nvSpPr>
                <p:cNvPr id="24" name="小红书平北职场PPT9-29"/>
                <p:cNvSpPr/>
                <p:nvPr/>
              </p:nvSpPr>
              <p:spPr>
                <a:xfrm>
                  <a:off x="432445" y="5602131"/>
                  <a:ext cx="1649033" cy="947624"/>
                </a:xfrm>
                <a:prstGeom prst="roundRect">
                  <a:avLst>
                    <a:gd name="adj" fmla="val 8615"/>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100" b="1" dirty="0">
                    <a:solidFill>
                      <a:schemeClr val="bg1"/>
                    </a:solidFill>
                    <a:latin typeface="+mj-ea"/>
                    <a:ea typeface="+mj-ea"/>
                    <a:cs typeface="思源黑体 CN Normal" panose="020B0400000000000000" pitchFamily="34" charset="-122"/>
                  </a:endParaRPr>
                </a:p>
              </p:txBody>
            </p:sp>
            <p:sp>
              <p:nvSpPr>
                <p:cNvPr id="25" name="小红书平北职场PPT9-30"/>
                <p:cNvSpPr txBox="1"/>
                <p:nvPr/>
              </p:nvSpPr>
              <p:spPr>
                <a:xfrm>
                  <a:off x="601704" y="6174542"/>
                  <a:ext cx="1310517" cy="285032"/>
                </a:xfrm>
                <a:prstGeom prst="rect">
                  <a:avLst/>
                </a:prstGeom>
                <a:noFill/>
              </p:spPr>
              <p:txBody>
                <a:bodyPr wrap="square" rtlCol="0">
                  <a:spAutoFit/>
                </a:bodyPr>
                <a:lstStyle/>
                <a:p>
                  <a:pPr algn="ctr"/>
                  <a:r>
                    <a:rPr lang="en-US" altLang="zh-CN" sz="1000" dirty="0">
                      <a:solidFill>
                        <a:schemeClr val="bg1"/>
                      </a:solidFill>
                      <a:latin typeface="+mn-ea"/>
                      <a:cs typeface="思源黑体 CN Normal" panose="020B0400000000000000" pitchFamily="34" charset="-122"/>
                    </a:rPr>
                    <a:t>DSR</a:t>
                  </a:r>
                  <a:r>
                    <a:rPr lang="zh-CN" altLang="en-US" sz="1000" dirty="0">
                      <a:solidFill>
                        <a:schemeClr val="bg1"/>
                      </a:solidFill>
                      <a:latin typeface="+mn-ea"/>
                      <a:cs typeface="思源黑体 CN Normal" panose="020B0400000000000000" pitchFamily="34" charset="-122"/>
                    </a:rPr>
                    <a:t>评分</a:t>
                  </a:r>
                  <a:endParaRPr lang="en-US" altLang="zh-CN" sz="1000" dirty="0">
                    <a:solidFill>
                      <a:schemeClr val="bg1"/>
                    </a:solidFill>
                    <a:latin typeface="+mn-ea"/>
                    <a:cs typeface="思源黑体 CN Normal" panose="020B0400000000000000" pitchFamily="34" charset="-122"/>
                  </a:endParaRPr>
                </a:p>
              </p:txBody>
            </p:sp>
            <p:sp>
              <p:nvSpPr>
                <p:cNvPr id="26" name="小红书平北职场PPT9-31"/>
                <p:cNvSpPr txBox="1"/>
                <p:nvPr/>
              </p:nvSpPr>
              <p:spPr>
                <a:xfrm>
                  <a:off x="607640" y="5683268"/>
                  <a:ext cx="1298643" cy="534435"/>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4.85</a:t>
                  </a:r>
                  <a:endParaRPr lang="en-US" altLang="zh-CN" sz="2400" dirty="0">
                    <a:solidFill>
                      <a:schemeClr val="bg1"/>
                    </a:solidFill>
                    <a:ea typeface="+mj-ea"/>
                    <a:cs typeface="思源黑体 CN Normal" panose="020B0400000000000000" pitchFamily="34" charset="-122"/>
                  </a:endParaRPr>
                </a:p>
              </p:txBody>
            </p:sp>
          </p:grpSp>
        </p:grpSp>
        <p:grpSp>
          <p:nvGrpSpPr>
            <p:cNvPr id="19" name="组合 18"/>
            <p:cNvGrpSpPr/>
            <p:nvPr/>
          </p:nvGrpSpPr>
          <p:grpSpPr>
            <a:xfrm>
              <a:off x="631911" y="1022662"/>
              <a:ext cx="2691665" cy="469099"/>
              <a:chOff x="645979" y="915761"/>
              <a:chExt cx="2691665" cy="547864"/>
            </a:xfrm>
          </p:grpSpPr>
          <p:sp>
            <p:nvSpPr>
              <p:cNvPr id="20" name="小红书平北职场PPT9-32"/>
              <p:cNvSpPr/>
              <p:nvPr>
                <p:custDataLst>
                  <p:tags r:id="rId5"/>
                </p:custDataLst>
              </p:nvPr>
            </p:nvSpPr>
            <p:spPr>
              <a:xfrm flipV="1">
                <a:off x="645979" y="915761"/>
                <a:ext cx="2691665" cy="547864"/>
              </a:xfrm>
              <a:prstGeom prst="trapezoid">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21" name="小红书平北职场PPT9-33"/>
              <p:cNvSpPr txBox="1"/>
              <p:nvPr/>
            </p:nvSpPr>
            <p:spPr>
              <a:xfrm>
                <a:off x="658146" y="1013815"/>
                <a:ext cx="2674760" cy="3594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2023</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年店铺核心</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KPI</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总览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graphicFrame>
        <p:nvGraphicFramePr>
          <p:cNvPr id="62" name="小红书平北职场PPT10"/>
          <p:cNvGraphicFramePr/>
          <p:nvPr/>
        </p:nvGraphicFramePr>
        <p:xfrm>
          <a:off x="3800169" y="4985460"/>
          <a:ext cx="4631060" cy="9329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3" name="小红书平北职场PPT11"/>
          <p:cNvGraphicFramePr>
            <a:graphicFrameLocks noGrp="1"/>
          </p:cNvGraphicFramePr>
          <p:nvPr/>
        </p:nvGraphicFramePr>
        <p:xfrm>
          <a:off x="3907769" y="5891517"/>
          <a:ext cx="4375455" cy="573897"/>
        </p:xfrm>
        <a:graphic>
          <a:graphicData uri="http://schemas.openxmlformats.org/drawingml/2006/table">
            <a:tbl>
              <a:tblPr>
                <a:tableStyleId>{5C22544A-7EE6-4342-B048-85BDC9FD1C3A}</a:tableStyleId>
              </a:tblPr>
              <a:tblGrid>
                <a:gridCol w="705719"/>
                <a:gridCol w="458717"/>
                <a:gridCol w="458717"/>
                <a:gridCol w="458717"/>
                <a:gridCol w="458717"/>
                <a:gridCol w="458717"/>
                <a:gridCol w="458717"/>
                <a:gridCol w="458717"/>
                <a:gridCol w="458717"/>
              </a:tblGrid>
              <a:tr h="191299">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品类名称</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个人健康</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服装配饰</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厨房电器</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a:solidFill>
                            <a:schemeClr val="tx1"/>
                          </a:solidFill>
                          <a:effectLst/>
                          <a:latin typeface="+mn-ea"/>
                          <a:ea typeface="+mn-ea"/>
                          <a:cs typeface="思源黑体 CN Normal" panose="020B0400000000000000" pitchFamily="34" charset="-122"/>
                        </a:rPr>
                        <a:t>家居环境</a:t>
                      </a:r>
                      <a:endParaRPr lang="zh-CN" altLang="en-US"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a:solidFill>
                            <a:schemeClr val="tx1"/>
                          </a:solidFill>
                          <a:effectLst/>
                          <a:latin typeface="+mn-ea"/>
                          <a:ea typeface="+mn-ea"/>
                          <a:cs typeface="思源黑体 CN Normal" panose="020B0400000000000000" pitchFamily="34" charset="-122"/>
                        </a:rPr>
                        <a:t>运动户外</a:t>
                      </a:r>
                      <a:endParaRPr lang="zh-CN" altLang="en-US"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a:solidFill>
                            <a:schemeClr val="tx1"/>
                          </a:solidFill>
                          <a:effectLst/>
                          <a:latin typeface="+mn-ea"/>
                          <a:ea typeface="+mn-ea"/>
                          <a:cs typeface="思源黑体 CN Normal" panose="020B0400000000000000" pitchFamily="34" charset="-122"/>
                        </a:rPr>
                        <a:t>咖啡器具</a:t>
                      </a:r>
                      <a:endParaRPr lang="zh-CN" altLang="en-US"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数码电子</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配件其他</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91299">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销售额占比 </a:t>
                      </a:r>
                      <a:r>
                        <a:rPr lang="en-US" altLang="zh-CN" sz="600" u="none" strike="noStrike" dirty="0">
                          <a:solidFill>
                            <a:schemeClr val="tx1"/>
                          </a:solidFill>
                          <a:effectLst/>
                          <a:latin typeface="+mn-ea"/>
                          <a:ea typeface="+mn-ea"/>
                          <a:cs typeface="思源黑体 CN Normal" panose="020B0400000000000000" pitchFamily="34" charset="-122"/>
                        </a:rPr>
                        <a:t>(X</a:t>
                      </a:r>
                      <a:r>
                        <a:rPr lang="zh-CN" altLang="en-US" sz="600" u="none" strike="noStrike" dirty="0">
                          <a:solidFill>
                            <a:schemeClr val="tx1"/>
                          </a:solidFill>
                          <a:effectLst/>
                          <a:latin typeface="+mn-ea"/>
                          <a:ea typeface="+mn-ea"/>
                          <a:cs typeface="思源黑体 CN Normal" panose="020B0400000000000000" pitchFamily="34" charset="-122"/>
                        </a:rPr>
                        <a:t>轴</a:t>
                      </a:r>
                      <a:r>
                        <a:rPr lang="en-US" altLang="zh-CN" sz="600" u="none" strike="noStrike" dirty="0">
                          <a:solidFill>
                            <a:schemeClr val="tx1"/>
                          </a:solidFill>
                          <a:effectLst/>
                          <a:latin typeface="+mn-ea"/>
                          <a:ea typeface="+mn-ea"/>
                          <a:cs typeface="思源黑体 CN Normal" panose="020B0400000000000000" pitchFamily="34" charset="-122"/>
                        </a:rPr>
                        <a:t>)</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18%</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35%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22%</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8%</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12%</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8%</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91299">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利润额占比</a:t>
                      </a:r>
                      <a:r>
                        <a:rPr lang="zh-CN" altLang="en-US" sz="600" u="none" strike="noStrike" kern="1200" dirty="0">
                          <a:solidFill>
                            <a:schemeClr val="tx1"/>
                          </a:solidFill>
                          <a:effectLst/>
                          <a:latin typeface="+mn-ea"/>
                          <a:ea typeface="+mn-ea"/>
                          <a:cs typeface="思源黑体 CN Normal" panose="020B0400000000000000" pitchFamily="34" charset="-122"/>
                        </a:rPr>
                        <a:t> </a:t>
                      </a:r>
                      <a:r>
                        <a:rPr lang="en-US" altLang="zh-CN" sz="600" u="none" strike="noStrike" kern="1200" dirty="0">
                          <a:solidFill>
                            <a:schemeClr val="tx1"/>
                          </a:solidFill>
                          <a:effectLst/>
                          <a:latin typeface="+mn-ea"/>
                          <a:ea typeface="+mn-ea"/>
                          <a:cs typeface="思源黑体 CN Normal" panose="020B0400000000000000" pitchFamily="34" charset="-122"/>
                        </a:rPr>
                        <a:t>(Y</a:t>
                      </a:r>
                      <a:r>
                        <a:rPr lang="zh-CN" altLang="en-US" sz="600" u="none" strike="noStrike" kern="1200" dirty="0">
                          <a:solidFill>
                            <a:schemeClr val="tx1"/>
                          </a:solidFill>
                          <a:effectLst/>
                          <a:latin typeface="+mn-ea"/>
                          <a:ea typeface="+mn-ea"/>
                          <a:cs typeface="思源黑体 CN Normal" panose="020B0400000000000000" pitchFamily="34" charset="-122"/>
                        </a:rPr>
                        <a:t>轴</a:t>
                      </a:r>
                      <a:r>
                        <a:rPr lang="en-US" altLang="zh-CN" sz="600" u="none" strike="noStrike" kern="1200" dirty="0">
                          <a:solidFill>
                            <a:schemeClr val="tx1"/>
                          </a:solidFill>
                          <a:effectLst/>
                          <a:latin typeface="+mn-ea"/>
                          <a:ea typeface="+mn-ea"/>
                          <a:cs typeface="思源黑体 CN Normal" panose="020B0400000000000000" pitchFamily="34" charset="-122"/>
                        </a:rPr>
                        <a:t>)</a:t>
                      </a:r>
                      <a:endParaRPr lang="en-US" altLang="zh-CN" sz="600" u="none" strike="noStrike" kern="1200"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a:solidFill>
                            <a:schemeClr val="tx1"/>
                          </a:solidFill>
                          <a:effectLst/>
                          <a:latin typeface="+mn-ea"/>
                          <a:ea typeface="+mn-ea"/>
                          <a:cs typeface="思源黑体 CN Normal" panose="020B0400000000000000" pitchFamily="34" charset="-122"/>
                        </a:rPr>
                        <a:t>6%</a:t>
                      </a:r>
                      <a:endParaRPr lang="en-US" altLang="zh-CN"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a:solidFill>
                            <a:schemeClr val="tx1"/>
                          </a:solidFill>
                          <a:effectLst/>
                          <a:latin typeface="+mn-ea"/>
                          <a:ea typeface="+mn-ea"/>
                          <a:cs typeface="思源黑体 CN Normal" panose="020B0400000000000000" pitchFamily="34" charset="-122"/>
                        </a:rPr>
                        <a:t>38%</a:t>
                      </a:r>
                      <a:endParaRPr lang="en-US" altLang="zh-CN"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20%</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10%</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12%</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7%</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grpSp>
        <p:nvGrpSpPr>
          <p:cNvPr id="64" name="小红书平北职场PPT12"/>
          <p:cNvGrpSpPr/>
          <p:nvPr/>
        </p:nvGrpSpPr>
        <p:grpSpPr>
          <a:xfrm>
            <a:off x="3900085" y="5891517"/>
            <a:ext cx="4417223" cy="573896"/>
            <a:chOff x="4074255" y="5802366"/>
            <a:chExt cx="4688994" cy="669267"/>
          </a:xfrm>
        </p:grpSpPr>
        <p:grpSp>
          <p:nvGrpSpPr>
            <p:cNvPr id="65" name="组合 64"/>
            <p:cNvGrpSpPr/>
            <p:nvPr/>
          </p:nvGrpSpPr>
          <p:grpSpPr>
            <a:xfrm>
              <a:off x="4074255" y="5802366"/>
              <a:ext cx="4688994" cy="669267"/>
              <a:chOff x="4153435" y="5802366"/>
              <a:chExt cx="4609813" cy="669267"/>
            </a:xfrm>
          </p:grpSpPr>
          <p:cxnSp>
            <p:nvCxnSpPr>
              <p:cNvPr id="80" name="小红书平北职场PPT12-1"/>
              <p:cNvCxnSpPr/>
              <p:nvPr/>
            </p:nvCxnSpPr>
            <p:spPr>
              <a:xfrm>
                <a:off x="4153435" y="5802366"/>
                <a:ext cx="4609813" cy="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81" name="小红书平北职场PPT12-2"/>
              <p:cNvCxnSpPr/>
              <p:nvPr/>
            </p:nvCxnSpPr>
            <p:spPr>
              <a:xfrm>
                <a:off x="4153435" y="6035458"/>
                <a:ext cx="4609813" cy="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82" name="小红书平北职场PPT12-3"/>
              <p:cNvCxnSpPr/>
              <p:nvPr/>
            </p:nvCxnSpPr>
            <p:spPr>
              <a:xfrm>
                <a:off x="4153435" y="6261528"/>
                <a:ext cx="4609813" cy="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83" name="小红书平北职场PPT12-4"/>
              <p:cNvCxnSpPr/>
              <p:nvPr/>
            </p:nvCxnSpPr>
            <p:spPr>
              <a:xfrm>
                <a:off x="4153435" y="6471633"/>
                <a:ext cx="4609813" cy="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4075665" y="5805120"/>
              <a:ext cx="1293073" cy="662828"/>
              <a:chOff x="4075665" y="5805120"/>
              <a:chExt cx="1293073" cy="662828"/>
            </a:xfrm>
          </p:grpSpPr>
          <p:cxnSp>
            <p:nvCxnSpPr>
              <p:cNvPr id="77" name="小红书平北职场PPT12-5"/>
              <p:cNvCxnSpPr/>
              <p:nvPr/>
            </p:nvCxnSpPr>
            <p:spPr>
              <a:xfrm>
                <a:off x="4883808"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8" name="小红书平北职场PPT12-6"/>
              <p:cNvCxnSpPr/>
              <p:nvPr/>
            </p:nvCxnSpPr>
            <p:spPr>
              <a:xfrm>
                <a:off x="5368738"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9" name="小红书平北职场PPT12-7"/>
              <p:cNvCxnSpPr/>
              <p:nvPr/>
            </p:nvCxnSpPr>
            <p:spPr>
              <a:xfrm>
                <a:off x="4075665"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5853668" y="5805120"/>
              <a:ext cx="484930" cy="662828"/>
              <a:chOff x="4864195" y="5805120"/>
              <a:chExt cx="484930" cy="662828"/>
            </a:xfrm>
          </p:grpSpPr>
          <p:cxnSp>
            <p:nvCxnSpPr>
              <p:cNvPr id="75" name="小红书平北职场PPT12-8"/>
              <p:cNvCxnSpPr/>
              <p:nvPr/>
            </p:nvCxnSpPr>
            <p:spPr>
              <a:xfrm>
                <a:off x="4864195"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6" name="小红书平北职场PPT12-9"/>
              <p:cNvCxnSpPr/>
              <p:nvPr/>
            </p:nvCxnSpPr>
            <p:spPr>
              <a:xfrm>
                <a:off x="5349125"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6823528" y="5805120"/>
              <a:ext cx="484930" cy="662828"/>
              <a:chOff x="4881114" y="5805120"/>
              <a:chExt cx="484930" cy="662828"/>
            </a:xfrm>
          </p:grpSpPr>
          <p:cxnSp>
            <p:nvCxnSpPr>
              <p:cNvPr id="73" name="小红书平北职场PPT12-10"/>
              <p:cNvCxnSpPr/>
              <p:nvPr/>
            </p:nvCxnSpPr>
            <p:spPr>
              <a:xfrm>
                <a:off x="4881114"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4" name="小红书平北职场PPT12-11"/>
              <p:cNvCxnSpPr/>
              <p:nvPr/>
            </p:nvCxnSpPr>
            <p:spPr>
              <a:xfrm>
                <a:off x="5366044"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a:off x="7793388" y="5805120"/>
              <a:ext cx="969861" cy="662828"/>
              <a:chOff x="4909332" y="5805120"/>
              <a:chExt cx="969861" cy="662828"/>
            </a:xfrm>
          </p:grpSpPr>
          <p:cxnSp>
            <p:nvCxnSpPr>
              <p:cNvPr id="70" name="小红书平北职场PPT12-12"/>
              <p:cNvCxnSpPr/>
              <p:nvPr/>
            </p:nvCxnSpPr>
            <p:spPr>
              <a:xfrm>
                <a:off x="4909332"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1" name="小红书平北职场PPT12-13"/>
              <p:cNvCxnSpPr/>
              <p:nvPr/>
            </p:nvCxnSpPr>
            <p:spPr>
              <a:xfrm>
                <a:off x="5394262"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2" name="小红书平北职场PPT12-14"/>
              <p:cNvCxnSpPr/>
              <p:nvPr/>
            </p:nvCxnSpPr>
            <p:spPr>
              <a:xfrm>
                <a:off x="5879193"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4" name="小红书平北职场PPT13"/>
          <p:cNvGrpSpPr/>
          <p:nvPr/>
        </p:nvGrpSpPr>
        <p:grpSpPr>
          <a:xfrm>
            <a:off x="3660919" y="999680"/>
            <a:ext cx="4634541" cy="431815"/>
            <a:chOff x="194327" y="2319972"/>
            <a:chExt cx="4634541" cy="431815"/>
          </a:xfrm>
        </p:grpSpPr>
        <p:grpSp>
          <p:nvGrpSpPr>
            <p:cNvPr id="85" name="组合 84"/>
            <p:cNvGrpSpPr/>
            <p:nvPr/>
          </p:nvGrpSpPr>
          <p:grpSpPr>
            <a:xfrm>
              <a:off x="194327" y="2319972"/>
              <a:ext cx="4634541" cy="431815"/>
              <a:chOff x="194327" y="2319972"/>
              <a:chExt cx="4634541" cy="431815"/>
            </a:xfrm>
          </p:grpSpPr>
          <p:sp>
            <p:nvSpPr>
              <p:cNvPr id="87" name="小红书平北职场PPT13-1"/>
              <p:cNvSpPr/>
              <p:nvPr>
                <p:custDataLst>
                  <p:tags r:id="rId6"/>
                </p:custDataLst>
              </p:nvPr>
            </p:nvSpPr>
            <p:spPr>
              <a:xfrm>
                <a:off x="194330" y="2391681"/>
                <a:ext cx="4634538"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88" name="小红书平北职场PPT13-2"/>
              <p:cNvSpPr/>
              <p:nvPr>
                <p:custDataLst>
                  <p:tags r:id="rId7"/>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86" name="小红书平北职场PPT13-3"/>
            <p:cNvSpPr txBox="1"/>
            <p:nvPr/>
          </p:nvSpPr>
          <p:spPr>
            <a:xfrm>
              <a:off x="294349" y="2433554"/>
              <a:ext cx="4369793" cy="307777"/>
            </a:xfrm>
            <a:prstGeom prst="rect">
              <a:avLst/>
            </a:prstGeom>
            <a:noFill/>
          </p:spPr>
          <p:txBody>
            <a:bodyPr wrap="square">
              <a:spAutoFit/>
            </a:bodyPr>
            <a:lstStyle/>
            <a:p>
              <a:pPr>
                <a:defRPr/>
              </a:pPr>
              <a:r>
                <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产品贡献解析：年度</a:t>
              </a:r>
              <a:r>
                <a:rPr lang="en-US" altLang="zh-CN"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TOP10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商品销售额与利润排行榜</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89" name="小红书平北职场PPT14"/>
          <p:cNvGrpSpPr/>
          <p:nvPr/>
        </p:nvGrpSpPr>
        <p:grpSpPr>
          <a:xfrm>
            <a:off x="3660919" y="4390157"/>
            <a:ext cx="4634541" cy="431815"/>
            <a:chOff x="194327" y="2319972"/>
            <a:chExt cx="4634541" cy="431815"/>
          </a:xfrm>
        </p:grpSpPr>
        <p:grpSp>
          <p:nvGrpSpPr>
            <p:cNvPr id="90" name="组合 89"/>
            <p:cNvGrpSpPr/>
            <p:nvPr/>
          </p:nvGrpSpPr>
          <p:grpSpPr>
            <a:xfrm>
              <a:off x="194327" y="2319972"/>
              <a:ext cx="4634541" cy="431815"/>
              <a:chOff x="194327" y="2319972"/>
              <a:chExt cx="4634541" cy="431815"/>
            </a:xfrm>
          </p:grpSpPr>
          <p:sp>
            <p:nvSpPr>
              <p:cNvPr id="92" name="小红书平北职场PPT14-1"/>
              <p:cNvSpPr/>
              <p:nvPr>
                <p:custDataLst>
                  <p:tags r:id="rId8"/>
                </p:custDataLst>
              </p:nvPr>
            </p:nvSpPr>
            <p:spPr>
              <a:xfrm>
                <a:off x="194330" y="2391681"/>
                <a:ext cx="4634538"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93" name="小红书平北职场PPT14-2"/>
              <p:cNvSpPr/>
              <p:nvPr>
                <p:custDataLst>
                  <p:tags r:id="rId9"/>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91" name="小红书平北职场PPT14-3"/>
            <p:cNvSpPr txBox="1"/>
            <p:nvPr/>
          </p:nvSpPr>
          <p:spPr>
            <a:xfrm>
              <a:off x="294349" y="2433554"/>
              <a:ext cx="4534519" cy="307777"/>
            </a:xfrm>
            <a:prstGeom prst="rect">
              <a:avLst/>
            </a:prstGeom>
            <a:noFill/>
          </p:spPr>
          <p:txBody>
            <a:bodyPr wrap="square">
              <a:spAutoFit/>
            </a:bodyPr>
            <a:lstStyle/>
            <a:p>
              <a:pPr>
                <a:defRPr/>
              </a:pPr>
              <a:r>
                <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全局视野下的品类价值定位与资源分配战略图</a:t>
              </a:r>
              <a:endPar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aphicFrame>
        <p:nvGraphicFramePr>
          <p:cNvPr id="94" name="小红书平北职场PPT15"/>
          <p:cNvGraphicFramePr>
            <a:graphicFrameLocks noGrp="1"/>
          </p:cNvGraphicFramePr>
          <p:nvPr/>
        </p:nvGraphicFramePr>
        <p:xfrm>
          <a:off x="8784855" y="1505885"/>
          <a:ext cx="2939504" cy="2308860"/>
        </p:xfrm>
        <a:graphic>
          <a:graphicData uri="http://schemas.openxmlformats.org/drawingml/2006/table">
            <a:tbl>
              <a:tblPr/>
              <a:tblGrid>
                <a:gridCol w="857356"/>
                <a:gridCol w="653223"/>
                <a:gridCol w="734876"/>
                <a:gridCol w="694049"/>
              </a:tblGrid>
              <a:tr h="340117">
                <a:tc>
                  <a:txBody>
                    <a:bodyPr/>
                    <a:lstStyle/>
                    <a:p>
                      <a:pPr algn="r"/>
                      <a:r>
                        <a:rPr lang="zh-CN" altLang="en-US" sz="800" dirty="0">
                          <a:effectLst/>
                          <a:latin typeface="+mn-ea"/>
                          <a:ea typeface="+mn-ea"/>
                          <a:cs typeface="思源黑体 CN Normal" panose="020B0400000000000000" pitchFamily="34" charset="-122"/>
                        </a:rPr>
                        <a:t>流量</a:t>
                      </a:r>
                      <a:endParaRPr lang="en-US" altLang="zh-CN" sz="800" dirty="0">
                        <a:effectLst/>
                        <a:latin typeface="+mn-ea"/>
                        <a:ea typeface="+mn-ea"/>
                        <a:cs typeface="思源黑体 CN Normal" panose="020B0400000000000000" pitchFamily="34" charset="-122"/>
                      </a:endParaRPr>
                    </a:p>
                    <a:p>
                      <a:pPr algn="r"/>
                      <a:r>
                        <a:rPr lang="zh-CN" altLang="en-US" sz="800" dirty="0">
                          <a:effectLst/>
                          <a:latin typeface="+mn-ea"/>
                          <a:ea typeface="+mn-ea"/>
                          <a:cs typeface="思源黑体 CN Normal" panose="020B0400000000000000" pitchFamily="34" charset="-122"/>
                        </a:rPr>
                        <a:t>来源</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zh-CN" altLang="en-US" sz="800" dirty="0">
                          <a:effectLst/>
                          <a:latin typeface="+mn-ea"/>
                          <a:ea typeface="+mn-ea"/>
                          <a:cs typeface="思源黑体 CN Normal" panose="020B0400000000000000" pitchFamily="34" charset="-122"/>
                        </a:rPr>
                        <a:t>流量</a:t>
                      </a:r>
                      <a:endParaRPr lang="en-US" altLang="zh-CN" sz="800" dirty="0">
                        <a:effectLst/>
                        <a:latin typeface="+mn-ea"/>
                        <a:ea typeface="+mn-ea"/>
                        <a:cs typeface="思源黑体 CN Normal" panose="020B0400000000000000" pitchFamily="34" charset="-122"/>
                      </a:endParaRPr>
                    </a:p>
                    <a:p>
                      <a:pPr algn="r"/>
                      <a:r>
                        <a:rPr lang="zh-CN" altLang="en-US" sz="800" dirty="0">
                          <a:effectLst/>
                          <a:latin typeface="+mn-ea"/>
                          <a:ea typeface="+mn-ea"/>
                          <a:cs typeface="思源黑体 CN Normal" panose="020B0400000000000000" pitchFamily="34" charset="-122"/>
                        </a:rPr>
                        <a:t>占比</a:t>
                      </a:r>
                      <a:endParaRPr lang="zh-CN" altLang="en-US"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dirty="0">
                          <a:effectLst/>
                          <a:latin typeface="+mn-ea"/>
                          <a:ea typeface="+mn-ea"/>
                          <a:cs typeface="思源黑体 CN Normal" panose="020B0400000000000000" pitchFamily="34" charset="-122"/>
                        </a:rPr>
                        <a:t>支付</a:t>
                      </a:r>
                      <a:endParaRPr lang="en-US" altLang="zh-CN" sz="800" dirty="0">
                        <a:effectLst/>
                        <a:latin typeface="+mn-ea"/>
                        <a:ea typeface="+mn-ea"/>
                        <a:cs typeface="思源黑体 CN Normal" panose="020B0400000000000000" pitchFamily="34" charset="-122"/>
                      </a:endParaRPr>
                    </a:p>
                    <a:p>
                      <a:pPr algn="r"/>
                      <a:r>
                        <a:rPr lang="zh-CN" altLang="en-US" sz="800" dirty="0">
                          <a:effectLst/>
                          <a:latin typeface="+mn-ea"/>
                          <a:ea typeface="+mn-ea"/>
                          <a:cs typeface="思源黑体 CN Normal" panose="020B0400000000000000" pitchFamily="34" charset="-122"/>
                        </a:rPr>
                        <a:t>人数</a:t>
                      </a:r>
                      <a:endParaRPr lang="zh-CN" altLang="en-US"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dirty="0">
                          <a:effectLst/>
                          <a:latin typeface="+mn-ea"/>
                          <a:ea typeface="+mn-ea"/>
                          <a:cs typeface="思源黑体 CN Normal" panose="020B0400000000000000" pitchFamily="34" charset="-122"/>
                        </a:rPr>
                        <a:t>转化</a:t>
                      </a:r>
                      <a:endParaRPr lang="en-US" altLang="zh-CN" sz="800" dirty="0">
                        <a:effectLst/>
                        <a:latin typeface="+mn-ea"/>
                        <a:ea typeface="+mn-ea"/>
                        <a:cs typeface="思源黑体 CN Normal" panose="020B0400000000000000" pitchFamily="34" charset="-122"/>
                      </a:endParaRPr>
                    </a:p>
                    <a:p>
                      <a:pPr algn="r"/>
                      <a:r>
                        <a:rPr lang="zh-CN" altLang="en-US" sz="800" dirty="0">
                          <a:effectLst/>
                          <a:latin typeface="+mn-ea"/>
                          <a:ea typeface="+mn-ea"/>
                          <a:cs typeface="思源黑体 CN Normal" panose="020B0400000000000000" pitchFamily="34" charset="-122"/>
                        </a:rPr>
                        <a:t>率</a:t>
                      </a:r>
                      <a:endParaRPr lang="zh-CN" altLang="en-US"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免费搜索</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a:effectLst/>
                          <a:latin typeface="+mn-ea"/>
                          <a:ea typeface="+mn-ea"/>
                          <a:cs typeface="思源黑体 CN Normal" panose="020B0400000000000000" pitchFamily="34" charset="-122"/>
                        </a:rPr>
                        <a:t>35%</a:t>
                      </a:r>
                      <a:endParaRPr lang="en-US" altLang="zh-CN" sz="80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31,000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3.4%</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信息推广</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25%</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18,500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2.4%</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直播带货</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15%</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15,000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3.3%</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内容种草</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12%</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10,500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2.9%</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平台活动</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8%</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4,500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1.9%</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社群复购</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5%</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2,000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13.2%</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bl>
          </a:graphicData>
        </a:graphic>
      </p:graphicFrame>
      <p:grpSp>
        <p:nvGrpSpPr>
          <p:cNvPr id="95" name="小红书平北职场PPT16"/>
          <p:cNvGrpSpPr/>
          <p:nvPr/>
        </p:nvGrpSpPr>
        <p:grpSpPr>
          <a:xfrm>
            <a:off x="8725701" y="999680"/>
            <a:ext cx="2660218" cy="431815"/>
            <a:chOff x="194327" y="2319972"/>
            <a:chExt cx="2660218" cy="431815"/>
          </a:xfrm>
        </p:grpSpPr>
        <p:grpSp>
          <p:nvGrpSpPr>
            <p:cNvPr id="96" name="组合 95"/>
            <p:cNvGrpSpPr/>
            <p:nvPr/>
          </p:nvGrpSpPr>
          <p:grpSpPr>
            <a:xfrm>
              <a:off x="194327" y="2319972"/>
              <a:ext cx="2660218" cy="431815"/>
              <a:chOff x="194327" y="2319972"/>
              <a:chExt cx="2660218" cy="431815"/>
            </a:xfrm>
          </p:grpSpPr>
          <p:sp>
            <p:nvSpPr>
              <p:cNvPr id="98" name="小红书平北职场PPT16-1"/>
              <p:cNvSpPr/>
              <p:nvPr>
                <p:custDataLst>
                  <p:tags r:id="rId10"/>
                </p:custDataLst>
              </p:nvPr>
            </p:nvSpPr>
            <p:spPr>
              <a:xfrm>
                <a:off x="194330" y="2391681"/>
                <a:ext cx="2660215"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99" name="小红书平北职场PPT16-2"/>
              <p:cNvSpPr/>
              <p:nvPr>
                <p:custDataLst>
                  <p:tags r:id="rId11"/>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97" name="小红书平北职场PPT16-3"/>
            <p:cNvSpPr txBox="1"/>
            <p:nvPr/>
          </p:nvSpPr>
          <p:spPr>
            <a:xfrm>
              <a:off x="294350" y="2433554"/>
              <a:ext cx="2468206" cy="307777"/>
            </a:xfrm>
            <a:prstGeom prst="rect">
              <a:avLst/>
            </a:prstGeom>
            <a:noFill/>
          </p:spPr>
          <p:txBody>
            <a:bodyPr wrap="square">
              <a:spAutoFit/>
            </a:bodyPr>
            <a:lstStyle/>
            <a:p>
              <a:pPr>
                <a:defRPr/>
              </a:pPr>
              <a:r>
                <a:rPr lang="en-US" altLang="zh-CN"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2023</a:t>
              </a:r>
              <a:r>
                <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年流量来源与转化效能</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cxnSp>
        <p:nvCxnSpPr>
          <p:cNvPr id="100" name="小红书平北职场PPT17"/>
          <p:cNvCxnSpPr/>
          <p:nvPr/>
        </p:nvCxnSpPr>
        <p:spPr>
          <a:xfrm>
            <a:off x="8860598" y="1912997"/>
            <a:ext cx="294269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1" name="小红书平北职场PPT18"/>
          <p:cNvGrpSpPr/>
          <p:nvPr/>
        </p:nvGrpSpPr>
        <p:grpSpPr>
          <a:xfrm>
            <a:off x="8779649" y="3967614"/>
            <a:ext cx="3043313" cy="2767299"/>
            <a:chOff x="8912255" y="3925781"/>
            <a:chExt cx="3043313" cy="2767299"/>
          </a:xfrm>
        </p:grpSpPr>
        <p:grpSp>
          <p:nvGrpSpPr>
            <p:cNvPr id="102" name="组合 101"/>
            <p:cNvGrpSpPr/>
            <p:nvPr/>
          </p:nvGrpSpPr>
          <p:grpSpPr>
            <a:xfrm>
              <a:off x="8912255" y="3925781"/>
              <a:ext cx="3043313" cy="682050"/>
              <a:chOff x="8912255" y="4063235"/>
              <a:chExt cx="3043313" cy="682050"/>
            </a:xfrm>
          </p:grpSpPr>
          <p:sp>
            <p:nvSpPr>
              <p:cNvPr id="128" name="小红书平北职场PPT18-1"/>
              <p:cNvSpPr/>
              <p:nvPr/>
            </p:nvSpPr>
            <p:spPr>
              <a:xfrm>
                <a:off x="8919328" y="4201998"/>
                <a:ext cx="3029162" cy="116122"/>
              </a:xfrm>
              <a:prstGeom prst="ellipse">
                <a:avLst/>
              </a:prstGeom>
              <a:gradFill flip="none" rotWithShape="1">
                <a:gsLst>
                  <a:gs pos="24000">
                    <a:schemeClr val="accent2">
                      <a:lumMod val="60000"/>
                      <a:lumOff val="40000"/>
                      <a:alpha val="0"/>
                    </a:schemeClr>
                  </a:gs>
                  <a:gs pos="100000">
                    <a:schemeClr val="accent2">
                      <a:lumMod val="60000"/>
                      <a:lumOff val="40000"/>
                      <a:alpha val="59000"/>
                    </a:schemeClr>
                  </a:gs>
                </a:gsLst>
                <a:lin ang="5400000" scaled="1"/>
                <a:tileRect/>
              </a:gradFill>
              <a:ln w="12095">
                <a:gradFill flip="none" rotWithShape="1">
                  <a:gsLst>
                    <a:gs pos="18000">
                      <a:schemeClr val="accent2">
                        <a:lumMod val="60000"/>
                        <a:lumOff val="40000"/>
                        <a:alpha val="0"/>
                      </a:schemeClr>
                    </a:gs>
                    <a:gs pos="100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29" name="小红书平北职场PPT18-2"/>
              <p:cNvSpPr/>
              <p:nvPr/>
            </p:nvSpPr>
            <p:spPr>
              <a:xfrm>
                <a:off x="8912255" y="4286334"/>
                <a:ext cx="3043313" cy="458951"/>
              </a:xfrm>
              <a:custGeom>
                <a:avLst/>
                <a:gdLst>
                  <a:gd name="connsiteX0" fmla="*/ 0 w 1985229"/>
                  <a:gd name="connsiteY0" fmla="*/ 0 h 539312"/>
                  <a:gd name="connsiteX1" fmla="*/ 15376 w 1985229"/>
                  <a:gd name="connsiteY1" fmla="*/ 0 h 539312"/>
                  <a:gd name="connsiteX2" fmla="*/ 24688 w 1985229"/>
                  <a:gd name="connsiteY2" fmla="*/ 6379 h 539312"/>
                  <a:gd name="connsiteX3" fmla="*/ 992614 w 1985229"/>
                  <a:gd name="connsiteY3" fmla="*/ 60856 h 539312"/>
                  <a:gd name="connsiteX4" fmla="*/ 1960541 w 1985229"/>
                  <a:gd name="connsiteY4" fmla="*/ 6379 h 539312"/>
                  <a:gd name="connsiteX5" fmla="*/ 1969853 w 1985229"/>
                  <a:gd name="connsiteY5" fmla="*/ 0 h 539312"/>
                  <a:gd name="connsiteX6" fmla="*/ 1985229 w 1985229"/>
                  <a:gd name="connsiteY6" fmla="*/ 0 h 539312"/>
                  <a:gd name="connsiteX7" fmla="*/ 1951996 w 1985229"/>
                  <a:gd name="connsiteY7" fmla="*/ 87558 h 539312"/>
                  <a:gd name="connsiteX8" fmla="*/ 1872301 w 1985229"/>
                  <a:gd name="connsiteY8" fmla="*/ 323320 h 539312"/>
                  <a:gd name="connsiteX9" fmla="*/ 1809111 w 1985229"/>
                  <a:gd name="connsiteY9" fmla="*/ 539312 h 539312"/>
                  <a:gd name="connsiteX10" fmla="*/ 176117 w 1985229"/>
                  <a:gd name="connsiteY10" fmla="*/ 539312 h 539312"/>
                  <a:gd name="connsiteX11" fmla="*/ 112927 w 1985229"/>
                  <a:gd name="connsiteY11" fmla="*/ 323321 h 539312"/>
                  <a:gd name="connsiteX12" fmla="*/ 33233 w 1985229"/>
                  <a:gd name="connsiteY12" fmla="*/ 87558 h 53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5229" h="539312">
                    <a:moveTo>
                      <a:pt x="0" y="0"/>
                    </a:moveTo>
                    <a:lnTo>
                      <a:pt x="15376" y="0"/>
                    </a:lnTo>
                    <a:lnTo>
                      <a:pt x="24688" y="6379"/>
                    </a:lnTo>
                    <a:cubicBezTo>
                      <a:pt x="116815" y="37469"/>
                      <a:pt x="515164" y="60856"/>
                      <a:pt x="992614" y="60856"/>
                    </a:cubicBezTo>
                    <a:cubicBezTo>
                      <a:pt x="1470064" y="60856"/>
                      <a:pt x="1868413" y="37469"/>
                      <a:pt x="1960541" y="6379"/>
                    </a:cubicBezTo>
                    <a:lnTo>
                      <a:pt x="1969853" y="0"/>
                    </a:lnTo>
                    <a:lnTo>
                      <a:pt x="1985229" y="0"/>
                    </a:lnTo>
                    <a:lnTo>
                      <a:pt x="1951996" y="87558"/>
                    </a:lnTo>
                    <a:cubicBezTo>
                      <a:pt x="1924619" y="163932"/>
                      <a:pt x="1897990" y="242635"/>
                      <a:pt x="1872301" y="323320"/>
                    </a:cubicBezTo>
                    <a:lnTo>
                      <a:pt x="1809111" y="539312"/>
                    </a:lnTo>
                    <a:lnTo>
                      <a:pt x="176117" y="539312"/>
                    </a:lnTo>
                    <a:lnTo>
                      <a:pt x="112927" y="323321"/>
                    </a:lnTo>
                    <a:cubicBezTo>
                      <a:pt x="87239" y="242635"/>
                      <a:pt x="60610" y="163933"/>
                      <a:pt x="33233" y="87558"/>
                    </a:cubicBezTo>
                    <a:close/>
                  </a:path>
                </a:pathLst>
              </a:custGeom>
              <a:gradFill flip="none" rotWithShape="1">
                <a:gsLst>
                  <a:gs pos="855">
                    <a:schemeClr val="accent2">
                      <a:lumMod val="20000"/>
                      <a:lumOff val="80000"/>
                      <a:alpha val="0"/>
                    </a:schemeClr>
                  </a:gs>
                  <a:gs pos="100000">
                    <a:schemeClr val="accent2">
                      <a:lumMod val="20000"/>
                      <a:lumOff val="80000"/>
                      <a:alpha val="7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思源黑体 CN Normal" panose="020B0400000000000000" pitchFamily="34" charset="-122"/>
                </a:endParaRPr>
              </a:p>
            </p:txBody>
          </p:sp>
          <p:sp>
            <p:nvSpPr>
              <p:cNvPr id="130" name="小红书平北职场PPT18-3"/>
              <p:cNvSpPr txBox="1"/>
              <p:nvPr/>
            </p:nvSpPr>
            <p:spPr>
              <a:xfrm>
                <a:off x="9129799" y="4100676"/>
                <a:ext cx="679673" cy="153888"/>
              </a:xfrm>
              <a:prstGeom prst="rect">
                <a:avLst/>
              </a:prstGeom>
              <a:noFill/>
            </p:spPr>
            <p:txBody>
              <a:bodyPr wrap="none" lIns="0" tIns="0" rIns="0" bIns="0" rtlCol="0">
                <a:spAutoFit/>
              </a:bodyPr>
              <a:lstStyle/>
              <a:p>
                <a:pPr algn="ctr">
                  <a:spcAft>
                    <a:spcPts val="1200"/>
                  </a:spcAft>
                </a:pP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高价值客户 </a:t>
                </a:r>
                <a:endPar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endParaRPr>
              </a:p>
            </p:txBody>
          </p:sp>
          <p:sp>
            <p:nvSpPr>
              <p:cNvPr id="131" name="小红书平北职场PPT18-4"/>
              <p:cNvSpPr txBox="1"/>
              <p:nvPr/>
            </p:nvSpPr>
            <p:spPr>
              <a:xfrm>
                <a:off x="9746539" y="4063235"/>
                <a:ext cx="2133918" cy="215444"/>
              </a:xfrm>
              <a:prstGeom prst="rect">
                <a:avLst/>
              </a:prstGeom>
              <a:noFill/>
            </p:spPr>
            <p:txBody>
              <a:bodyPr wrap="none">
                <a:spAutoFit/>
              </a:bodyPr>
              <a:lstStyle/>
              <a:p>
                <a:r>
                  <a:rPr lang="zh-CN" altLang="en-US" sz="800" dirty="0">
                    <a:latin typeface="+mn-ea"/>
                    <a:cs typeface="思源黑体 CN Normal" panose="020B0400000000000000" pitchFamily="34" charset="-122"/>
                  </a:rPr>
                  <a:t>高复购、高客单，提供专属礼遇和优先服务</a:t>
                </a:r>
                <a:endParaRPr lang="zh-CN" altLang="en-US" sz="800" dirty="0">
                  <a:latin typeface="+mn-ea"/>
                  <a:cs typeface="思源黑体 CN Normal" panose="020B0400000000000000" pitchFamily="34" charset="-122"/>
                </a:endParaRPr>
              </a:p>
            </p:txBody>
          </p:sp>
          <p:sp>
            <p:nvSpPr>
              <p:cNvPr id="132" name="小红书平北职场PPT18-5"/>
              <p:cNvSpPr/>
              <p:nvPr/>
            </p:nvSpPr>
            <p:spPr>
              <a:xfrm>
                <a:off x="9315968" y="4411562"/>
                <a:ext cx="945418"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客户数量占比</a:t>
                </a:r>
                <a:r>
                  <a:rPr lang="en-US" altLang="zh-CN" sz="800" dirty="0">
                    <a:solidFill>
                      <a:schemeClr val="tx1"/>
                    </a:solidFill>
                    <a:latin typeface="+mn-ea"/>
                    <a:cs typeface="思源黑体 CN Normal" panose="020B0400000000000000" pitchFamily="34" charset="-122"/>
                  </a:rPr>
                  <a:t>5%</a:t>
                </a:r>
                <a:endParaRPr lang="en-US" altLang="zh-CN" sz="800" dirty="0">
                  <a:solidFill>
                    <a:schemeClr val="tx1"/>
                  </a:solidFill>
                  <a:latin typeface="+mn-ea"/>
                  <a:cs typeface="思源黑体 CN Normal" panose="020B0400000000000000" pitchFamily="34" charset="-122"/>
                </a:endParaRPr>
              </a:p>
            </p:txBody>
          </p:sp>
          <p:sp>
            <p:nvSpPr>
              <p:cNvPr id="133" name="小红书平北职场PPT18-6"/>
              <p:cNvSpPr/>
              <p:nvPr/>
            </p:nvSpPr>
            <p:spPr>
              <a:xfrm>
                <a:off x="10305321" y="4411562"/>
                <a:ext cx="1299346"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人均年消费额（元）</a:t>
                </a:r>
                <a:r>
                  <a:rPr lang="en-US" altLang="zh-CN" sz="800" dirty="0">
                    <a:solidFill>
                      <a:schemeClr val="tx1"/>
                    </a:solidFill>
                    <a:effectLst/>
                    <a:latin typeface="+mn-ea"/>
                    <a:cs typeface="思源黑体 CN Normal" panose="020B0400000000000000" pitchFamily="34" charset="-122"/>
                  </a:rPr>
                  <a:t>1,215</a:t>
                </a:r>
                <a:endParaRPr lang="en-US" altLang="zh-CN" sz="800" dirty="0">
                  <a:solidFill>
                    <a:schemeClr val="tx1"/>
                  </a:solidFill>
                  <a:effectLst/>
                  <a:latin typeface="+mn-ea"/>
                  <a:cs typeface="思源黑体 CN Normal" panose="020B0400000000000000" pitchFamily="34" charset="-122"/>
                </a:endParaRPr>
              </a:p>
            </p:txBody>
          </p:sp>
        </p:grpSp>
        <p:grpSp>
          <p:nvGrpSpPr>
            <p:cNvPr id="103" name="组合 102"/>
            <p:cNvGrpSpPr/>
            <p:nvPr/>
          </p:nvGrpSpPr>
          <p:grpSpPr>
            <a:xfrm>
              <a:off x="8912255" y="4639910"/>
              <a:ext cx="3043313" cy="658468"/>
              <a:chOff x="8912255" y="4684227"/>
              <a:chExt cx="3043313" cy="658468"/>
            </a:xfrm>
          </p:grpSpPr>
          <p:sp>
            <p:nvSpPr>
              <p:cNvPr id="121" name="小红书平北职场PPT18-7"/>
              <p:cNvSpPr/>
              <p:nvPr/>
            </p:nvSpPr>
            <p:spPr>
              <a:xfrm>
                <a:off x="8919328" y="4799408"/>
                <a:ext cx="3029162" cy="116122"/>
              </a:xfrm>
              <a:prstGeom prst="ellipse">
                <a:avLst/>
              </a:prstGeom>
              <a:gradFill flip="none" rotWithShape="1">
                <a:gsLst>
                  <a:gs pos="24000">
                    <a:schemeClr val="accent2">
                      <a:lumMod val="60000"/>
                      <a:lumOff val="40000"/>
                      <a:alpha val="0"/>
                    </a:schemeClr>
                  </a:gs>
                  <a:gs pos="100000">
                    <a:schemeClr val="accent2">
                      <a:lumMod val="60000"/>
                      <a:lumOff val="40000"/>
                      <a:alpha val="59000"/>
                    </a:schemeClr>
                  </a:gs>
                </a:gsLst>
                <a:lin ang="5400000" scaled="1"/>
                <a:tileRect/>
              </a:gradFill>
              <a:ln w="12095">
                <a:gradFill flip="none" rotWithShape="1">
                  <a:gsLst>
                    <a:gs pos="18000">
                      <a:schemeClr val="accent2">
                        <a:lumMod val="60000"/>
                        <a:lumOff val="40000"/>
                        <a:alpha val="0"/>
                      </a:schemeClr>
                    </a:gs>
                    <a:gs pos="100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22" name="小红书平北职场PPT18-8"/>
              <p:cNvSpPr/>
              <p:nvPr/>
            </p:nvSpPr>
            <p:spPr>
              <a:xfrm>
                <a:off x="8912255" y="4883744"/>
                <a:ext cx="3043313" cy="458951"/>
              </a:xfrm>
              <a:custGeom>
                <a:avLst/>
                <a:gdLst>
                  <a:gd name="connsiteX0" fmla="*/ 0 w 1985229"/>
                  <a:gd name="connsiteY0" fmla="*/ 0 h 539312"/>
                  <a:gd name="connsiteX1" fmla="*/ 15376 w 1985229"/>
                  <a:gd name="connsiteY1" fmla="*/ 0 h 539312"/>
                  <a:gd name="connsiteX2" fmla="*/ 24688 w 1985229"/>
                  <a:gd name="connsiteY2" fmla="*/ 6379 h 539312"/>
                  <a:gd name="connsiteX3" fmla="*/ 992614 w 1985229"/>
                  <a:gd name="connsiteY3" fmla="*/ 60856 h 539312"/>
                  <a:gd name="connsiteX4" fmla="*/ 1960541 w 1985229"/>
                  <a:gd name="connsiteY4" fmla="*/ 6379 h 539312"/>
                  <a:gd name="connsiteX5" fmla="*/ 1969853 w 1985229"/>
                  <a:gd name="connsiteY5" fmla="*/ 0 h 539312"/>
                  <a:gd name="connsiteX6" fmla="*/ 1985229 w 1985229"/>
                  <a:gd name="connsiteY6" fmla="*/ 0 h 539312"/>
                  <a:gd name="connsiteX7" fmla="*/ 1951996 w 1985229"/>
                  <a:gd name="connsiteY7" fmla="*/ 87558 h 539312"/>
                  <a:gd name="connsiteX8" fmla="*/ 1872301 w 1985229"/>
                  <a:gd name="connsiteY8" fmla="*/ 323320 h 539312"/>
                  <a:gd name="connsiteX9" fmla="*/ 1809111 w 1985229"/>
                  <a:gd name="connsiteY9" fmla="*/ 539312 h 539312"/>
                  <a:gd name="connsiteX10" fmla="*/ 176117 w 1985229"/>
                  <a:gd name="connsiteY10" fmla="*/ 539312 h 539312"/>
                  <a:gd name="connsiteX11" fmla="*/ 112927 w 1985229"/>
                  <a:gd name="connsiteY11" fmla="*/ 323321 h 539312"/>
                  <a:gd name="connsiteX12" fmla="*/ 33233 w 1985229"/>
                  <a:gd name="connsiteY12" fmla="*/ 87558 h 53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5229" h="539312">
                    <a:moveTo>
                      <a:pt x="0" y="0"/>
                    </a:moveTo>
                    <a:lnTo>
                      <a:pt x="15376" y="0"/>
                    </a:lnTo>
                    <a:lnTo>
                      <a:pt x="24688" y="6379"/>
                    </a:lnTo>
                    <a:cubicBezTo>
                      <a:pt x="116815" y="37469"/>
                      <a:pt x="515164" y="60856"/>
                      <a:pt x="992614" y="60856"/>
                    </a:cubicBezTo>
                    <a:cubicBezTo>
                      <a:pt x="1470064" y="60856"/>
                      <a:pt x="1868413" y="37469"/>
                      <a:pt x="1960541" y="6379"/>
                    </a:cubicBezTo>
                    <a:lnTo>
                      <a:pt x="1969853" y="0"/>
                    </a:lnTo>
                    <a:lnTo>
                      <a:pt x="1985229" y="0"/>
                    </a:lnTo>
                    <a:lnTo>
                      <a:pt x="1951996" y="87558"/>
                    </a:lnTo>
                    <a:cubicBezTo>
                      <a:pt x="1924619" y="163932"/>
                      <a:pt x="1897990" y="242635"/>
                      <a:pt x="1872301" y="323320"/>
                    </a:cubicBezTo>
                    <a:lnTo>
                      <a:pt x="1809111" y="539312"/>
                    </a:lnTo>
                    <a:lnTo>
                      <a:pt x="176117" y="539312"/>
                    </a:lnTo>
                    <a:lnTo>
                      <a:pt x="112927" y="323321"/>
                    </a:lnTo>
                    <a:cubicBezTo>
                      <a:pt x="87239" y="242635"/>
                      <a:pt x="60610" y="163933"/>
                      <a:pt x="33233" y="87558"/>
                    </a:cubicBezTo>
                    <a:close/>
                  </a:path>
                </a:pathLst>
              </a:custGeom>
              <a:gradFill flip="none" rotWithShape="1">
                <a:gsLst>
                  <a:gs pos="855">
                    <a:schemeClr val="accent2">
                      <a:lumMod val="20000"/>
                      <a:lumOff val="80000"/>
                      <a:alpha val="0"/>
                    </a:schemeClr>
                  </a:gs>
                  <a:gs pos="100000">
                    <a:schemeClr val="accent2">
                      <a:lumMod val="20000"/>
                      <a:lumOff val="80000"/>
                      <a:alpha val="7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思源黑体 CN Normal" panose="020B0400000000000000" pitchFamily="34" charset="-122"/>
                </a:endParaRPr>
              </a:p>
            </p:txBody>
          </p:sp>
          <p:sp>
            <p:nvSpPr>
              <p:cNvPr id="123" name="小红书平北职场PPT18-9"/>
              <p:cNvSpPr txBox="1"/>
              <p:nvPr/>
            </p:nvSpPr>
            <p:spPr>
              <a:xfrm>
                <a:off x="9213155" y="4698086"/>
                <a:ext cx="512961" cy="153888"/>
              </a:xfrm>
              <a:prstGeom prst="rect">
                <a:avLst/>
              </a:prstGeom>
              <a:noFill/>
            </p:spPr>
            <p:txBody>
              <a:bodyPr wrap="none" lIns="0" tIns="0" rIns="0" bIns="0" rtlCol="0">
                <a:spAutoFit/>
              </a:bodyPr>
              <a:lstStyle/>
              <a:p>
                <a:pPr algn="ctr">
                  <a:spcAft>
                    <a:spcPts val="1200"/>
                  </a:spcAft>
                </a:pP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忠实客户</a:t>
                </a:r>
                <a:endPar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endParaRPr>
              </a:p>
            </p:txBody>
          </p:sp>
          <p:sp>
            <p:nvSpPr>
              <p:cNvPr id="124" name="小红书平北职场PPT18-10"/>
              <p:cNvSpPr txBox="1"/>
              <p:nvPr/>
            </p:nvSpPr>
            <p:spPr>
              <a:xfrm>
                <a:off x="9746539" y="4684227"/>
                <a:ext cx="2133918" cy="215444"/>
              </a:xfrm>
              <a:prstGeom prst="rect">
                <a:avLst/>
              </a:prstGeom>
              <a:noFill/>
            </p:spPr>
            <p:txBody>
              <a:bodyPr wrap="none">
                <a:spAutoFit/>
              </a:bodyPr>
              <a:lstStyle/>
              <a:p>
                <a:r>
                  <a:rPr lang="zh-CN" altLang="en-US" sz="800" dirty="0">
                    <a:latin typeface="+mn-ea"/>
                    <a:cs typeface="思源黑体 CN Normal" panose="020B0400000000000000" pitchFamily="34" charset="-122"/>
                  </a:rPr>
                  <a:t>定期复购，是社群中坚力量，加强情感链接</a:t>
                </a:r>
                <a:endParaRPr lang="zh-CN" altLang="en-US" sz="800" dirty="0">
                  <a:latin typeface="+mn-ea"/>
                  <a:cs typeface="思源黑体 CN Normal" panose="020B0400000000000000" pitchFamily="34" charset="-122"/>
                </a:endParaRPr>
              </a:p>
            </p:txBody>
          </p:sp>
          <p:grpSp>
            <p:nvGrpSpPr>
              <p:cNvPr id="125" name="组合 124"/>
              <p:cNvGrpSpPr/>
              <p:nvPr/>
            </p:nvGrpSpPr>
            <p:grpSpPr>
              <a:xfrm>
                <a:off x="9315970" y="5006084"/>
                <a:ext cx="2288701" cy="187964"/>
                <a:chOff x="6165405" y="4041342"/>
                <a:chExt cx="1686111" cy="187964"/>
              </a:xfrm>
            </p:grpSpPr>
            <p:sp>
              <p:nvSpPr>
                <p:cNvPr id="126" name="小红书平北职场PPT18-11"/>
                <p:cNvSpPr/>
                <p:nvPr/>
              </p:nvSpPr>
              <p:spPr>
                <a:xfrm>
                  <a:off x="6165405" y="4041342"/>
                  <a:ext cx="696500"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客户数量占比</a:t>
                  </a:r>
                  <a:r>
                    <a:rPr lang="en-US" altLang="zh-CN" sz="800" dirty="0">
                      <a:solidFill>
                        <a:schemeClr val="tx1"/>
                      </a:solidFill>
                      <a:effectLst/>
                      <a:latin typeface="+mn-ea"/>
                      <a:cs typeface="思源黑体 CN Normal" panose="020B0400000000000000" pitchFamily="34" charset="-122"/>
                    </a:rPr>
                    <a:t>1</a:t>
                  </a:r>
                  <a:r>
                    <a:rPr lang="en-US" altLang="zh-CN" sz="800" dirty="0">
                      <a:solidFill>
                        <a:schemeClr val="tx1"/>
                      </a:solidFill>
                      <a:latin typeface="+mn-ea"/>
                      <a:cs typeface="思源黑体 CN Normal" panose="020B0400000000000000" pitchFamily="34" charset="-122"/>
                    </a:rPr>
                    <a:t>5%</a:t>
                  </a:r>
                  <a:endParaRPr lang="en-US" altLang="zh-CN" sz="800" dirty="0">
                    <a:solidFill>
                      <a:schemeClr val="tx1"/>
                    </a:solidFill>
                    <a:latin typeface="+mn-ea"/>
                    <a:cs typeface="思源黑体 CN Normal" panose="020B0400000000000000" pitchFamily="34" charset="-122"/>
                  </a:endParaRPr>
                </a:p>
              </p:txBody>
            </p:sp>
            <p:sp>
              <p:nvSpPr>
                <p:cNvPr id="127" name="小红书平北职场PPT18-12"/>
                <p:cNvSpPr/>
                <p:nvPr/>
              </p:nvSpPr>
              <p:spPr>
                <a:xfrm>
                  <a:off x="6894273" y="4041342"/>
                  <a:ext cx="957243"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人均年消费额（元）</a:t>
                  </a:r>
                  <a:r>
                    <a:rPr lang="en-US" altLang="zh-CN" sz="800" dirty="0">
                      <a:solidFill>
                        <a:schemeClr val="tx1"/>
                      </a:solidFill>
                      <a:effectLst/>
                      <a:latin typeface="+mn-ea"/>
                      <a:cs typeface="思源黑体 CN Normal" panose="020B0400000000000000" pitchFamily="34" charset="-122"/>
                    </a:rPr>
                    <a:t>567</a:t>
                  </a:r>
                  <a:endParaRPr lang="en-US" altLang="zh-CN" sz="800" dirty="0">
                    <a:solidFill>
                      <a:schemeClr val="tx1"/>
                    </a:solidFill>
                    <a:effectLst/>
                    <a:latin typeface="+mn-ea"/>
                    <a:cs typeface="思源黑体 CN Normal" panose="020B0400000000000000" pitchFamily="34" charset="-122"/>
                  </a:endParaRPr>
                </a:p>
              </p:txBody>
            </p:sp>
          </p:grpSp>
        </p:grpSp>
        <p:grpSp>
          <p:nvGrpSpPr>
            <p:cNvPr id="104" name="组合 103"/>
            <p:cNvGrpSpPr/>
            <p:nvPr/>
          </p:nvGrpSpPr>
          <p:grpSpPr>
            <a:xfrm>
              <a:off x="8912255" y="5326641"/>
              <a:ext cx="3043313" cy="664996"/>
              <a:chOff x="8912255" y="5334993"/>
              <a:chExt cx="3043313" cy="664996"/>
            </a:xfrm>
          </p:grpSpPr>
          <p:sp>
            <p:nvSpPr>
              <p:cNvPr id="113" name="小红书平北职场PPT18-13"/>
              <p:cNvSpPr/>
              <p:nvPr/>
            </p:nvSpPr>
            <p:spPr>
              <a:xfrm>
                <a:off x="8912255" y="5541038"/>
                <a:ext cx="3043313" cy="458951"/>
              </a:xfrm>
              <a:custGeom>
                <a:avLst/>
                <a:gdLst>
                  <a:gd name="connsiteX0" fmla="*/ 0 w 1985229"/>
                  <a:gd name="connsiteY0" fmla="*/ 0 h 539312"/>
                  <a:gd name="connsiteX1" fmla="*/ 15376 w 1985229"/>
                  <a:gd name="connsiteY1" fmla="*/ 0 h 539312"/>
                  <a:gd name="connsiteX2" fmla="*/ 24688 w 1985229"/>
                  <a:gd name="connsiteY2" fmla="*/ 6379 h 539312"/>
                  <a:gd name="connsiteX3" fmla="*/ 992614 w 1985229"/>
                  <a:gd name="connsiteY3" fmla="*/ 60856 h 539312"/>
                  <a:gd name="connsiteX4" fmla="*/ 1960541 w 1985229"/>
                  <a:gd name="connsiteY4" fmla="*/ 6379 h 539312"/>
                  <a:gd name="connsiteX5" fmla="*/ 1969853 w 1985229"/>
                  <a:gd name="connsiteY5" fmla="*/ 0 h 539312"/>
                  <a:gd name="connsiteX6" fmla="*/ 1985229 w 1985229"/>
                  <a:gd name="connsiteY6" fmla="*/ 0 h 539312"/>
                  <a:gd name="connsiteX7" fmla="*/ 1951996 w 1985229"/>
                  <a:gd name="connsiteY7" fmla="*/ 87558 h 539312"/>
                  <a:gd name="connsiteX8" fmla="*/ 1872301 w 1985229"/>
                  <a:gd name="connsiteY8" fmla="*/ 323320 h 539312"/>
                  <a:gd name="connsiteX9" fmla="*/ 1809111 w 1985229"/>
                  <a:gd name="connsiteY9" fmla="*/ 539312 h 539312"/>
                  <a:gd name="connsiteX10" fmla="*/ 176117 w 1985229"/>
                  <a:gd name="connsiteY10" fmla="*/ 539312 h 539312"/>
                  <a:gd name="connsiteX11" fmla="*/ 112927 w 1985229"/>
                  <a:gd name="connsiteY11" fmla="*/ 323321 h 539312"/>
                  <a:gd name="connsiteX12" fmla="*/ 33233 w 1985229"/>
                  <a:gd name="connsiteY12" fmla="*/ 87558 h 53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5229" h="539312">
                    <a:moveTo>
                      <a:pt x="0" y="0"/>
                    </a:moveTo>
                    <a:lnTo>
                      <a:pt x="15376" y="0"/>
                    </a:lnTo>
                    <a:lnTo>
                      <a:pt x="24688" y="6379"/>
                    </a:lnTo>
                    <a:cubicBezTo>
                      <a:pt x="116815" y="37469"/>
                      <a:pt x="515164" y="60856"/>
                      <a:pt x="992614" y="60856"/>
                    </a:cubicBezTo>
                    <a:cubicBezTo>
                      <a:pt x="1470064" y="60856"/>
                      <a:pt x="1868413" y="37469"/>
                      <a:pt x="1960541" y="6379"/>
                    </a:cubicBezTo>
                    <a:lnTo>
                      <a:pt x="1969853" y="0"/>
                    </a:lnTo>
                    <a:lnTo>
                      <a:pt x="1985229" y="0"/>
                    </a:lnTo>
                    <a:lnTo>
                      <a:pt x="1951996" y="87558"/>
                    </a:lnTo>
                    <a:cubicBezTo>
                      <a:pt x="1924619" y="163932"/>
                      <a:pt x="1897990" y="242635"/>
                      <a:pt x="1872301" y="323320"/>
                    </a:cubicBezTo>
                    <a:lnTo>
                      <a:pt x="1809111" y="539312"/>
                    </a:lnTo>
                    <a:lnTo>
                      <a:pt x="176117" y="539312"/>
                    </a:lnTo>
                    <a:lnTo>
                      <a:pt x="112927" y="323321"/>
                    </a:lnTo>
                    <a:cubicBezTo>
                      <a:pt x="87239" y="242635"/>
                      <a:pt x="60610" y="163933"/>
                      <a:pt x="33233" y="87558"/>
                    </a:cubicBezTo>
                    <a:close/>
                  </a:path>
                </a:pathLst>
              </a:custGeom>
              <a:gradFill flip="none" rotWithShape="1">
                <a:gsLst>
                  <a:gs pos="855">
                    <a:schemeClr val="accent2">
                      <a:lumMod val="20000"/>
                      <a:lumOff val="80000"/>
                      <a:alpha val="0"/>
                    </a:schemeClr>
                  </a:gs>
                  <a:gs pos="100000">
                    <a:schemeClr val="accent2">
                      <a:lumMod val="20000"/>
                      <a:lumOff val="80000"/>
                      <a:alpha val="7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思源黑体 CN Normal" panose="020B0400000000000000" pitchFamily="34" charset="-122"/>
                </a:endParaRPr>
              </a:p>
            </p:txBody>
          </p:sp>
          <p:grpSp>
            <p:nvGrpSpPr>
              <p:cNvPr id="114" name="组合 113"/>
              <p:cNvGrpSpPr/>
              <p:nvPr/>
            </p:nvGrpSpPr>
            <p:grpSpPr>
              <a:xfrm>
                <a:off x="8919328" y="5334993"/>
                <a:ext cx="3029162" cy="518497"/>
                <a:chOff x="8919328" y="5334993"/>
                <a:chExt cx="3029162" cy="518497"/>
              </a:xfrm>
            </p:grpSpPr>
            <p:sp>
              <p:nvSpPr>
                <p:cNvPr id="115" name="小红书平北职场PPT18-14"/>
                <p:cNvSpPr/>
                <p:nvPr/>
              </p:nvSpPr>
              <p:spPr>
                <a:xfrm>
                  <a:off x="8919328" y="5456702"/>
                  <a:ext cx="3029162" cy="116122"/>
                </a:xfrm>
                <a:prstGeom prst="ellipse">
                  <a:avLst/>
                </a:prstGeom>
                <a:gradFill flip="none" rotWithShape="1">
                  <a:gsLst>
                    <a:gs pos="24000">
                      <a:schemeClr val="accent2">
                        <a:lumMod val="60000"/>
                        <a:lumOff val="40000"/>
                        <a:alpha val="0"/>
                      </a:schemeClr>
                    </a:gs>
                    <a:gs pos="100000">
                      <a:schemeClr val="accent2">
                        <a:lumMod val="60000"/>
                        <a:lumOff val="40000"/>
                        <a:alpha val="59000"/>
                      </a:schemeClr>
                    </a:gs>
                  </a:gsLst>
                  <a:lin ang="5400000" scaled="1"/>
                  <a:tileRect/>
                </a:gradFill>
                <a:ln w="12095">
                  <a:gradFill flip="none" rotWithShape="1">
                    <a:gsLst>
                      <a:gs pos="18000">
                        <a:schemeClr val="accent2">
                          <a:lumMod val="60000"/>
                          <a:lumOff val="40000"/>
                          <a:alpha val="0"/>
                        </a:schemeClr>
                      </a:gs>
                      <a:gs pos="100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16" name="小红书平北职场PPT18-15"/>
                <p:cNvSpPr txBox="1"/>
                <p:nvPr/>
              </p:nvSpPr>
              <p:spPr>
                <a:xfrm>
                  <a:off x="9213155" y="5355380"/>
                  <a:ext cx="512961" cy="153888"/>
                </a:xfrm>
                <a:prstGeom prst="rect">
                  <a:avLst/>
                </a:prstGeom>
                <a:noFill/>
              </p:spPr>
              <p:txBody>
                <a:bodyPr wrap="none" lIns="0" tIns="0" rIns="0" bIns="0" rtlCol="0">
                  <a:spAutoFit/>
                </a:bodyPr>
                <a:lstStyle/>
                <a:p>
                  <a:pPr algn="ctr">
                    <a:spcAft>
                      <a:spcPts val="1200"/>
                    </a:spcAft>
                  </a:pP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潜力客户</a:t>
                  </a:r>
                  <a:endPar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endParaRPr>
                </a:p>
              </p:txBody>
            </p:sp>
            <p:sp>
              <p:nvSpPr>
                <p:cNvPr id="117" name="小红书平北职场PPT18-16"/>
                <p:cNvSpPr txBox="1"/>
                <p:nvPr/>
              </p:nvSpPr>
              <p:spPr>
                <a:xfrm>
                  <a:off x="9746539" y="5334993"/>
                  <a:ext cx="2068195" cy="215444"/>
                </a:xfrm>
                <a:prstGeom prst="rect">
                  <a:avLst/>
                </a:prstGeom>
                <a:noFill/>
              </p:spPr>
              <p:txBody>
                <a:bodyPr wrap="none">
                  <a:spAutoFit/>
                </a:bodyPr>
                <a:lstStyle/>
                <a:p>
                  <a:r>
                    <a:rPr lang="zh-CN" altLang="en-US" sz="800" dirty="0">
                      <a:latin typeface="+mn-ea"/>
                      <a:cs typeface="思源黑体 CN Normal" panose="020B0400000000000000" pitchFamily="34" charset="-122"/>
                    </a:rPr>
                    <a:t>购买过</a:t>
                  </a:r>
                  <a:r>
                    <a:rPr lang="en-US" altLang="zh-CN" sz="800" dirty="0">
                      <a:latin typeface="+mn-ea"/>
                      <a:cs typeface="思源黑体 CN Normal" panose="020B0400000000000000" pitchFamily="34" charset="-122"/>
                    </a:rPr>
                    <a:t>1-2</a:t>
                  </a:r>
                  <a:r>
                    <a:rPr lang="zh-CN" altLang="en-US" sz="800" dirty="0">
                      <a:latin typeface="+mn-ea"/>
                      <a:cs typeface="思源黑体 CN Normal" panose="020B0400000000000000" pitchFamily="34" charset="-122"/>
                    </a:rPr>
                    <a:t>次，通过精准营销和优惠券促活</a:t>
                  </a:r>
                  <a:endParaRPr lang="zh-CN" altLang="en-US" sz="800" dirty="0">
                    <a:latin typeface="+mn-ea"/>
                    <a:cs typeface="思源黑体 CN Normal" panose="020B0400000000000000" pitchFamily="34" charset="-122"/>
                  </a:endParaRPr>
                </a:p>
              </p:txBody>
            </p:sp>
            <p:grpSp>
              <p:nvGrpSpPr>
                <p:cNvPr id="118" name="组合 117"/>
                <p:cNvGrpSpPr/>
                <p:nvPr/>
              </p:nvGrpSpPr>
              <p:grpSpPr>
                <a:xfrm>
                  <a:off x="9315968" y="5665526"/>
                  <a:ext cx="2288699" cy="187964"/>
                  <a:chOff x="9315968" y="5665526"/>
                  <a:chExt cx="2288699" cy="187964"/>
                </a:xfrm>
              </p:grpSpPr>
              <p:sp>
                <p:nvSpPr>
                  <p:cNvPr id="119" name="小红书平北职场PPT18-17"/>
                  <p:cNvSpPr/>
                  <p:nvPr/>
                </p:nvSpPr>
                <p:spPr>
                  <a:xfrm>
                    <a:off x="9315968" y="5665526"/>
                    <a:ext cx="945418"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客户数量占比</a:t>
                    </a:r>
                    <a:r>
                      <a:rPr lang="en-US" altLang="zh-CN" sz="800" dirty="0">
                        <a:solidFill>
                          <a:schemeClr val="tx1"/>
                        </a:solidFill>
                        <a:latin typeface="+mn-ea"/>
                        <a:cs typeface="思源黑体 CN Normal" panose="020B0400000000000000" pitchFamily="34" charset="-122"/>
                      </a:rPr>
                      <a:t>30%</a:t>
                    </a:r>
                    <a:endParaRPr lang="en-US" altLang="zh-CN" sz="800" dirty="0">
                      <a:solidFill>
                        <a:schemeClr val="tx1"/>
                      </a:solidFill>
                      <a:latin typeface="+mn-ea"/>
                      <a:cs typeface="思源黑体 CN Normal" panose="020B0400000000000000" pitchFamily="34" charset="-122"/>
                    </a:endParaRPr>
                  </a:p>
                </p:txBody>
              </p:sp>
              <p:sp>
                <p:nvSpPr>
                  <p:cNvPr id="120" name="小红书平北职场PPT18-18"/>
                  <p:cNvSpPr/>
                  <p:nvPr/>
                </p:nvSpPr>
                <p:spPr>
                  <a:xfrm>
                    <a:off x="10305321" y="5665526"/>
                    <a:ext cx="1299346"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人均年消费额（元）</a:t>
                    </a:r>
                    <a:r>
                      <a:rPr lang="en-US" altLang="zh-CN" sz="800" dirty="0">
                        <a:solidFill>
                          <a:schemeClr val="tx1"/>
                        </a:solidFill>
                        <a:effectLst/>
                        <a:latin typeface="+mn-ea"/>
                        <a:cs typeface="思源黑体 CN Normal" panose="020B0400000000000000" pitchFamily="34" charset="-122"/>
                      </a:rPr>
                      <a:t>203</a:t>
                    </a:r>
                    <a:endParaRPr lang="en-US" altLang="zh-CN" sz="800" dirty="0">
                      <a:solidFill>
                        <a:schemeClr val="tx1"/>
                      </a:solidFill>
                      <a:effectLst/>
                      <a:latin typeface="+mn-ea"/>
                      <a:cs typeface="思源黑体 CN Normal" panose="020B0400000000000000" pitchFamily="34" charset="-122"/>
                    </a:endParaRPr>
                  </a:p>
                </p:txBody>
              </p:sp>
            </p:grpSp>
          </p:grpSp>
        </p:grpSp>
        <p:grpSp>
          <p:nvGrpSpPr>
            <p:cNvPr id="105" name="组合 104"/>
            <p:cNvGrpSpPr/>
            <p:nvPr/>
          </p:nvGrpSpPr>
          <p:grpSpPr>
            <a:xfrm>
              <a:off x="8912255" y="6021724"/>
              <a:ext cx="3043313" cy="671356"/>
              <a:chOff x="8912255" y="5955985"/>
              <a:chExt cx="3043313" cy="671356"/>
            </a:xfrm>
          </p:grpSpPr>
          <p:sp>
            <p:nvSpPr>
              <p:cNvPr id="106" name="小红书平北职场PPT18-19"/>
              <p:cNvSpPr/>
              <p:nvPr/>
            </p:nvSpPr>
            <p:spPr>
              <a:xfrm>
                <a:off x="8919328" y="6084054"/>
                <a:ext cx="3029162" cy="116122"/>
              </a:xfrm>
              <a:prstGeom prst="ellipse">
                <a:avLst/>
              </a:prstGeom>
              <a:gradFill flip="none" rotWithShape="1">
                <a:gsLst>
                  <a:gs pos="24000">
                    <a:schemeClr val="accent2">
                      <a:lumMod val="60000"/>
                      <a:lumOff val="40000"/>
                      <a:alpha val="0"/>
                    </a:schemeClr>
                  </a:gs>
                  <a:gs pos="100000">
                    <a:schemeClr val="accent2">
                      <a:lumMod val="60000"/>
                      <a:lumOff val="40000"/>
                      <a:alpha val="59000"/>
                    </a:schemeClr>
                  </a:gs>
                </a:gsLst>
                <a:lin ang="5400000" scaled="1"/>
                <a:tileRect/>
              </a:gradFill>
              <a:ln w="12095">
                <a:gradFill flip="none" rotWithShape="1">
                  <a:gsLst>
                    <a:gs pos="18000">
                      <a:schemeClr val="accent2">
                        <a:lumMod val="60000"/>
                        <a:lumOff val="40000"/>
                        <a:alpha val="0"/>
                      </a:schemeClr>
                    </a:gs>
                    <a:gs pos="100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07" name="小红书平北职场PPT18-20"/>
              <p:cNvSpPr txBox="1"/>
              <p:nvPr/>
            </p:nvSpPr>
            <p:spPr>
              <a:xfrm>
                <a:off x="9060068" y="5982732"/>
                <a:ext cx="819135" cy="153888"/>
              </a:xfrm>
              <a:prstGeom prst="rect">
                <a:avLst/>
              </a:prstGeom>
              <a:noFill/>
            </p:spPr>
            <p:txBody>
              <a:bodyPr wrap="none" lIns="0" tIns="0" rIns="0" bIns="0" rtlCol="0">
                <a:spAutoFit/>
              </a:bodyPr>
              <a:lstStyle/>
              <a:p>
                <a:pPr algn="ctr">
                  <a:spcAft>
                    <a:spcPts val="1200"/>
                  </a:spcAft>
                </a:pP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新客</a:t>
                </a:r>
                <a:r>
                  <a:rPr lang="en-US" altLang="zh-CN"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a:t>
                </a: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普通客户</a:t>
                </a:r>
                <a:endPar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endParaRPr>
              </a:p>
            </p:txBody>
          </p:sp>
          <p:sp>
            <p:nvSpPr>
              <p:cNvPr id="108" name="小红书平北职场PPT18-21"/>
              <p:cNvSpPr/>
              <p:nvPr/>
            </p:nvSpPr>
            <p:spPr>
              <a:xfrm>
                <a:off x="8912255" y="6168390"/>
                <a:ext cx="3043313" cy="458951"/>
              </a:xfrm>
              <a:custGeom>
                <a:avLst/>
                <a:gdLst>
                  <a:gd name="connsiteX0" fmla="*/ 0 w 1985229"/>
                  <a:gd name="connsiteY0" fmla="*/ 0 h 539312"/>
                  <a:gd name="connsiteX1" fmla="*/ 15376 w 1985229"/>
                  <a:gd name="connsiteY1" fmla="*/ 0 h 539312"/>
                  <a:gd name="connsiteX2" fmla="*/ 24688 w 1985229"/>
                  <a:gd name="connsiteY2" fmla="*/ 6379 h 539312"/>
                  <a:gd name="connsiteX3" fmla="*/ 992614 w 1985229"/>
                  <a:gd name="connsiteY3" fmla="*/ 60856 h 539312"/>
                  <a:gd name="connsiteX4" fmla="*/ 1960541 w 1985229"/>
                  <a:gd name="connsiteY4" fmla="*/ 6379 h 539312"/>
                  <a:gd name="connsiteX5" fmla="*/ 1969853 w 1985229"/>
                  <a:gd name="connsiteY5" fmla="*/ 0 h 539312"/>
                  <a:gd name="connsiteX6" fmla="*/ 1985229 w 1985229"/>
                  <a:gd name="connsiteY6" fmla="*/ 0 h 539312"/>
                  <a:gd name="connsiteX7" fmla="*/ 1951996 w 1985229"/>
                  <a:gd name="connsiteY7" fmla="*/ 87558 h 539312"/>
                  <a:gd name="connsiteX8" fmla="*/ 1872301 w 1985229"/>
                  <a:gd name="connsiteY8" fmla="*/ 323320 h 539312"/>
                  <a:gd name="connsiteX9" fmla="*/ 1809111 w 1985229"/>
                  <a:gd name="connsiteY9" fmla="*/ 539312 h 539312"/>
                  <a:gd name="connsiteX10" fmla="*/ 176117 w 1985229"/>
                  <a:gd name="connsiteY10" fmla="*/ 539312 h 539312"/>
                  <a:gd name="connsiteX11" fmla="*/ 112927 w 1985229"/>
                  <a:gd name="connsiteY11" fmla="*/ 323321 h 539312"/>
                  <a:gd name="connsiteX12" fmla="*/ 33233 w 1985229"/>
                  <a:gd name="connsiteY12" fmla="*/ 87558 h 53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5229" h="539312">
                    <a:moveTo>
                      <a:pt x="0" y="0"/>
                    </a:moveTo>
                    <a:lnTo>
                      <a:pt x="15376" y="0"/>
                    </a:lnTo>
                    <a:lnTo>
                      <a:pt x="24688" y="6379"/>
                    </a:lnTo>
                    <a:cubicBezTo>
                      <a:pt x="116815" y="37469"/>
                      <a:pt x="515164" y="60856"/>
                      <a:pt x="992614" y="60856"/>
                    </a:cubicBezTo>
                    <a:cubicBezTo>
                      <a:pt x="1470064" y="60856"/>
                      <a:pt x="1868413" y="37469"/>
                      <a:pt x="1960541" y="6379"/>
                    </a:cubicBezTo>
                    <a:lnTo>
                      <a:pt x="1969853" y="0"/>
                    </a:lnTo>
                    <a:lnTo>
                      <a:pt x="1985229" y="0"/>
                    </a:lnTo>
                    <a:lnTo>
                      <a:pt x="1951996" y="87558"/>
                    </a:lnTo>
                    <a:cubicBezTo>
                      <a:pt x="1924619" y="163932"/>
                      <a:pt x="1897990" y="242635"/>
                      <a:pt x="1872301" y="323320"/>
                    </a:cubicBezTo>
                    <a:lnTo>
                      <a:pt x="1809111" y="539312"/>
                    </a:lnTo>
                    <a:lnTo>
                      <a:pt x="176117" y="539312"/>
                    </a:lnTo>
                    <a:lnTo>
                      <a:pt x="112927" y="323321"/>
                    </a:lnTo>
                    <a:cubicBezTo>
                      <a:pt x="87239" y="242635"/>
                      <a:pt x="60610" y="163933"/>
                      <a:pt x="33233" y="87558"/>
                    </a:cubicBezTo>
                    <a:close/>
                  </a:path>
                </a:pathLst>
              </a:custGeom>
              <a:gradFill flip="none" rotWithShape="1">
                <a:gsLst>
                  <a:gs pos="855">
                    <a:schemeClr val="accent2">
                      <a:lumMod val="20000"/>
                      <a:lumOff val="80000"/>
                      <a:alpha val="0"/>
                    </a:schemeClr>
                  </a:gs>
                  <a:gs pos="100000">
                    <a:schemeClr val="accent2">
                      <a:lumMod val="20000"/>
                      <a:lumOff val="80000"/>
                      <a:alpha val="7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思源黑体 CN Normal" panose="020B0400000000000000" pitchFamily="34" charset="-122"/>
                </a:endParaRPr>
              </a:p>
            </p:txBody>
          </p:sp>
          <p:sp>
            <p:nvSpPr>
              <p:cNvPr id="109" name="小红书平北职场PPT18-22"/>
              <p:cNvSpPr txBox="1"/>
              <p:nvPr/>
            </p:nvSpPr>
            <p:spPr>
              <a:xfrm>
                <a:off x="9896168" y="5955985"/>
                <a:ext cx="1620957" cy="215444"/>
              </a:xfrm>
              <a:prstGeom prst="rect">
                <a:avLst/>
              </a:prstGeom>
              <a:noFill/>
            </p:spPr>
            <p:txBody>
              <a:bodyPr wrap="none">
                <a:spAutoFit/>
              </a:bodyPr>
              <a:lstStyle/>
              <a:p>
                <a:r>
                  <a:rPr lang="zh-CN" altLang="en-US" sz="800" dirty="0">
                    <a:latin typeface="+mn-ea"/>
                    <a:cs typeface="思源黑体 CN Normal" panose="020B0400000000000000" pitchFamily="34" charset="-122"/>
                  </a:rPr>
                  <a:t>引流和转化的主要对象，培育品</a:t>
                </a:r>
                <a:endParaRPr lang="zh-CN" altLang="en-US" sz="800" dirty="0">
                  <a:latin typeface="+mn-ea"/>
                  <a:cs typeface="思源黑体 CN Normal" panose="020B0400000000000000" pitchFamily="34" charset="-122"/>
                </a:endParaRPr>
              </a:p>
            </p:txBody>
          </p:sp>
          <p:grpSp>
            <p:nvGrpSpPr>
              <p:cNvPr id="110" name="组合 109"/>
              <p:cNvGrpSpPr/>
              <p:nvPr/>
            </p:nvGrpSpPr>
            <p:grpSpPr>
              <a:xfrm>
                <a:off x="9315970" y="6300191"/>
                <a:ext cx="2288701" cy="187964"/>
                <a:chOff x="6165405" y="4041342"/>
                <a:chExt cx="1686111" cy="187964"/>
              </a:xfrm>
            </p:grpSpPr>
            <p:sp>
              <p:nvSpPr>
                <p:cNvPr id="111" name="小红书平北职场PPT18-23"/>
                <p:cNvSpPr/>
                <p:nvPr/>
              </p:nvSpPr>
              <p:spPr>
                <a:xfrm>
                  <a:off x="6165405" y="4041342"/>
                  <a:ext cx="696500"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客户数量占比</a:t>
                  </a:r>
                  <a:r>
                    <a:rPr lang="en-US" altLang="zh-CN" sz="800" dirty="0">
                      <a:solidFill>
                        <a:schemeClr val="tx1"/>
                      </a:solidFill>
                      <a:latin typeface="+mn-ea"/>
                      <a:cs typeface="思源黑体 CN Normal" panose="020B0400000000000000" pitchFamily="34" charset="-122"/>
                    </a:rPr>
                    <a:t>50%</a:t>
                  </a:r>
                  <a:endParaRPr lang="en-US" altLang="zh-CN" sz="800" dirty="0">
                    <a:solidFill>
                      <a:schemeClr val="tx1"/>
                    </a:solidFill>
                    <a:latin typeface="+mn-ea"/>
                    <a:cs typeface="思源黑体 CN Normal" panose="020B0400000000000000" pitchFamily="34" charset="-122"/>
                  </a:endParaRPr>
                </a:p>
              </p:txBody>
            </p:sp>
            <p:sp>
              <p:nvSpPr>
                <p:cNvPr id="112" name="小红书平北职场PPT18-24"/>
                <p:cNvSpPr/>
                <p:nvPr/>
              </p:nvSpPr>
              <p:spPr>
                <a:xfrm>
                  <a:off x="6894273" y="4041342"/>
                  <a:ext cx="957243"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人均年消费额（元）</a:t>
                  </a:r>
                  <a:r>
                    <a:rPr lang="en-US" altLang="zh-CN" sz="800" dirty="0">
                      <a:solidFill>
                        <a:schemeClr val="tx1"/>
                      </a:solidFill>
                      <a:effectLst/>
                      <a:latin typeface="+mn-ea"/>
                      <a:cs typeface="思源黑体 CN Normal" panose="020B0400000000000000" pitchFamily="34" charset="-122"/>
                    </a:rPr>
                    <a:t>73</a:t>
                  </a:r>
                  <a:endParaRPr lang="en-US" altLang="zh-CN" sz="800" dirty="0">
                    <a:solidFill>
                      <a:schemeClr val="tx1"/>
                    </a:solidFill>
                    <a:effectLst/>
                    <a:latin typeface="+mn-ea"/>
                    <a:cs typeface="思源黑体 CN Normal" panose="020B0400000000000000" pitchFamily="34" charset="-122"/>
                  </a:endParaRPr>
                </a:p>
              </p:txBody>
            </p:sp>
          </p:grpSp>
        </p:grpSp>
      </p:grpSp>
    </p:spTree>
    <p:custDataLst>
      <p:tags r:id="rId12"/>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5591777" y="1881943"/>
            <a:ext cx="1188032" cy="3253836"/>
            <a:chOff x="5591777" y="1881943"/>
            <a:chExt cx="1188032" cy="3253836"/>
          </a:xfrm>
        </p:grpSpPr>
        <p:sp>
          <p:nvSpPr>
            <p:cNvPr id="80" name="小红书平北职场PPT1-1"/>
            <p:cNvSpPr/>
            <p:nvPr/>
          </p:nvSpPr>
          <p:spPr>
            <a:xfrm>
              <a:off x="6087596" y="2299967"/>
              <a:ext cx="196394" cy="2835812"/>
            </a:xfrm>
            <a:custGeom>
              <a:avLst/>
              <a:gdLst/>
              <a:ahLst/>
              <a:cxnLst/>
              <a:rect l="0" t="0" r="0" b="0"/>
              <a:pathLst>
                <a:path w="187" h="2701">
                  <a:moveTo>
                    <a:pt x="4" y="2701"/>
                  </a:moveTo>
                  <a:lnTo>
                    <a:pt x="4" y="0"/>
                  </a:lnTo>
                  <a:moveTo>
                    <a:pt x="182" y="0"/>
                  </a:moveTo>
                  <a:lnTo>
                    <a:pt x="182" y="2701"/>
                  </a:lnTo>
                </a:path>
              </a:pathLst>
            </a:custGeom>
            <a:noFill/>
            <a:ln w="5906" cap="flat">
              <a:solidFill>
                <a:srgbClr val="595757">
                  <a:alpha val="100000"/>
                </a:srgbClr>
              </a:solidFill>
              <a:prstDash val="dash"/>
              <a:miter lim="1000000"/>
            </a:ln>
          </p:spPr>
          <p:txBody>
            <a:bodyPr rtlCol="0"/>
            <a:lstStyle/>
            <a:p>
              <a:pPr algn="ctr"/>
              <a:endParaRPr lang="zh-CN" altLang="en-US">
                <a:cs typeface="思源黑体 CN Normal" panose="020B0400000000000000" pitchFamily="34" charset="-122"/>
              </a:endParaRPr>
            </a:p>
          </p:txBody>
        </p:sp>
        <p:grpSp>
          <p:nvGrpSpPr>
            <p:cNvPr id="81" name="组合 80"/>
            <p:cNvGrpSpPr/>
            <p:nvPr/>
          </p:nvGrpSpPr>
          <p:grpSpPr>
            <a:xfrm>
              <a:off x="5591777" y="1881943"/>
              <a:ext cx="1188032" cy="319006"/>
              <a:chOff x="5591777" y="1881943"/>
              <a:chExt cx="1188032" cy="319006"/>
            </a:xfrm>
          </p:grpSpPr>
          <p:sp>
            <p:nvSpPr>
              <p:cNvPr id="82" name="小红书平北职场PPT1-2"/>
              <p:cNvSpPr/>
              <p:nvPr/>
            </p:nvSpPr>
            <p:spPr>
              <a:xfrm>
                <a:off x="5591777" y="1881943"/>
                <a:ext cx="1188032" cy="319006"/>
              </a:xfrm>
              <a:prstGeom prst="roundRect">
                <a:avLst/>
              </a:prstGeom>
              <a:gradFill flip="none" rotWithShape="1">
                <a:gsLst>
                  <a:gs pos="0">
                    <a:schemeClr val="bg2">
                      <a:lumMod val="90000"/>
                    </a:schemeClr>
                  </a:gs>
                  <a:gs pos="100000">
                    <a:schemeClr val="bg2">
                      <a:lumMod val="50000"/>
                    </a:schemeClr>
                  </a:gs>
                </a:gsLst>
                <a:path path="circle">
                  <a:fillToRect t="100000" r="100000"/>
                </a:path>
                <a:tileRect l="-100000" b="-100000"/>
              </a:gradFill>
              <a:ln cap="flat">
                <a:solidFill>
                  <a:schemeClr val="bg1"/>
                </a:solidFill>
                <a:prstDash val="solid"/>
                <a:miter lim="0"/>
              </a:ln>
              <a:effectLst>
                <a:outerShdw blurRad="165100" dist="76200" dir="5400000" algn="ctr" rotWithShape="0">
                  <a:schemeClr val="bg2">
                    <a:lumMod val="50000"/>
                    <a:alpha val="20000"/>
                  </a:schemeClr>
                </a:outerShdw>
              </a:effectLst>
            </p:spPr>
            <p:txBody>
              <a:bodyPr rtlCol="0"/>
              <a:lstStyle/>
              <a:p>
                <a:pPr algn="ctr"/>
                <a:endParaRPr lang="zh-CN" altLang="en-US" dirty="0">
                  <a:cs typeface="思源黑体 CN Normal" panose="020B0400000000000000" pitchFamily="34" charset="-122"/>
                </a:endParaRPr>
              </a:p>
            </p:txBody>
          </p:sp>
          <p:sp>
            <p:nvSpPr>
              <p:cNvPr id="83" name="小红书平北职场PPT1-3"/>
              <p:cNvSpPr/>
              <p:nvPr/>
            </p:nvSpPr>
            <p:spPr>
              <a:xfrm>
                <a:off x="5676270" y="1951314"/>
                <a:ext cx="1013436" cy="196227"/>
              </a:xfrm>
              <a:prstGeom prst="rect">
                <a:avLst/>
              </a:prstGeom>
            </p:spPr>
            <p:txBody>
              <a:bodyPr vert="horz" wrap="square" lIns="0" tIns="0" rIns="0" bIns="0"/>
              <a:lstStyle/>
              <a:p>
                <a:pPr marL="12700" algn="ctr" rtl="0" eaLnBrk="0">
                  <a:lnSpc>
                    <a:spcPct val="90000"/>
                  </a:lnSpc>
                </a:pPr>
                <a:r>
                  <a:rPr sz="1600" b="1" kern="0" spc="10" dirty="0" err="1">
                    <a:solidFill>
                      <a:srgbClr val="FFFFFF">
                        <a:alpha val="100000"/>
                      </a:srgbClr>
                    </a:solidFill>
                    <a:latin typeface="+mj-ea"/>
                    <a:ea typeface="+mj-ea"/>
                    <a:cs typeface="思源黑体 CN Normal" panose="020B0400000000000000" pitchFamily="34" charset="-122"/>
                  </a:rPr>
                  <a:t>结构详细</a:t>
                </a:r>
                <a:endParaRPr lang="en-US" altLang="en-US" sz="1600" dirty="0">
                  <a:latin typeface="+mj-ea"/>
                  <a:ea typeface="+mj-ea"/>
                  <a:cs typeface="思源黑体 CN Normal" panose="020B0400000000000000" pitchFamily="34" charset="-122"/>
                </a:endParaRPr>
              </a:p>
            </p:txBody>
          </p:sp>
        </p:grpSp>
      </p:grpSp>
      <p:sp>
        <p:nvSpPr>
          <p:cNvPr id="4" name="小红书平北职场PPT2"/>
          <p:cNvSpPr/>
          <p:nvPr/>
        </p:nvSpPr>
        <p:spPr>
          <a:xfrm>
            <a:off x="4436045" y="2715271"/>
            <a:ext cx="3288914" cy="3288914"/>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cxnSp>
        <p:nvCxnSpPr>
          <p:cNvPr id="5" name="小红书平北职场PPT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小红书平北职场PPT5"/>
          <p:cNvGrpSpPr/>
          <p:nvPr/>
        </p:nvGrpSpPr>
        <p:grpSpPr>
          <a:xfrm>
            <a:off x="4408604" y="2667605"/>
            <a:ext cx="3316356" cy="3112818"/>
            <a:chOff x="1781602" y="7502051"/>
            <a:chExt cx="7155249" cy="6744084"/>
          </a:xfrm>
          <a:solidFill>
            <a:schemeClr val="bg1">
              <a:lumMod val="75000"/>
            </a:schemeClr>
          </a:solidFill>
        </p:grpSpPr>
        <p:sp>
          <p:nvSpPr>
            <p:cNvPr id="76" name="小红书平北职场PPT5-1"/>
            <p:cNvSpPr/>
            <p:nvPr/>
          </p:nvSpPr>
          <p:spPr>
            <a:xfrm flipV="1">
              <a:off x="1781602" y="7502051"/>
              <a:ext cx="7155249" cy="6744084"/>
            </a:xfrm>
            <a:custGeom>
              <a:avLst/>
              <a:gdLst>
                <a:gd name="connsiteX0" fmla="*/ 3114931 w 7155249"/>
                <a:gd name="connsiteY0" fmla="*/ 6726420 h 6744084"/>
                <a:gd name="connsiteX1" fmla="*/ 3049263 w 7155249"/>
                <a:gd name="connsiteY1" fmla="*/ 6709289 h 6744084"/>
                <a:gd name="connsiteX2" fmla="*/ 3002438 w 7155249"/>
                <a:gd name="connsiteY2" fmla="*/ 6692159 h 6744084"/>
                <a:gd name="connsiteX3" fmla="*/ 2961895 w 7155249"/>
                <a:gd name="connsiteY3" fmla="*/ 6674457 h 6744084"/>
                <a:gd name="connsiteX4" fmla="*/ 2925920 w 7155249"/>
                <a:gd name="connsiteY4" fmla="*/ 6657326 h 6744084"/>
                <a:gd name="connsiteX5" fmla="*/ 2908789 w 7155249"/>
                <a:gd name="connsiteY5" fmla="*/ 6646477 h 6744084"/>
                <a:gd name="connsiteX6" fmla="*/ 2879095 w 7155249"/>
                <a:gd name="connsiteY6" fmla="*/ 6628204 h 6744084"/>
                <a:gd name="connsiteX7" fmla="*/ 2824276 w 7155249"/>
                <a:gd name="connsiteY7" fmla="*/ 6586519 h 6744084"/>
                <a:gd name="connsiteX8" fmla="*/ 2783162 w 7155249"/>
                <a:gd name="connsiteY8" fmla="*/ 6551116 h 6744084"/>
                <a:gd name="connsiteX9" fmla="*/ 2704931 w 7155249"/>
                <a:gd name="connsiteY9" fmla="*/ 6557397 h 6744084"/>
                <a:gd name="connsiteX10" fmla="*/ 2666101 w 7155249"/>
                <a:gd name="connsiteY10" fmla="*/ 6580809 h 6744084"/>
                <a:gd name="connsiteX11" fmla="*/ 2638120 w 7155249"/>
                <a:gd name="connsiteY11" fmla="*/ 6595084 h 6744084"/>
                <a:gd name="connsiteX12" fmla="*/ 2609568 w 7155249"/>
                <a:gd name="connsiteY12" fmla="*/ 6609360 h 6744084"/>
                <a:gd name="connsiteX13" fmla="*/ 2572451 w 7155249"/>
                <a:gd name="connsiteY13" fmla="*/ 6626491 h 6744084"/>
                <a:gd name="connsiteX14" fmla="*/ 2509067 w 7155249"/>
                <a:gd name="connsiteY14" fmla="*/ 6645906 h 6744084"/>
                <a:gd name="connsiteX15" fmla="*/ 2446253 w 7155249"/>
                <a:gd name="connsiteY15" fmla="*/ 6661894 h 6744084"/>
                <a:gd name="connsiteX16" fmla="*/ 2335473 w 7155249"/>
                <a:gd name="connsiteY16" fmla="*/ 6671602 h 6744084"/>
                <a:gd name="connsiteX17" fmla="*/ 2215557 w 7155249"/>
                <a:gd name="connsiteY17" fmla="*/ 6660181 h 6744084"/>
                <a:gd name="connsiteX18" fmla="*/ 2148746 w 7155249"/>
                <a:gd name="connsiteY18" fmla="*/ 6643622 h 6744084"/>
                <a:gd name="connsiteX19" fmla="*/ 2095069 w 7155249"/>
                <a:gd name="connsiteY19" fmla="*/ 6625920 h 6744084"/>
                <a:gd name="connsiteX20" fmla="*/ 2067660 w 7155249"/>
                <a:gd name="connsiteY20" fmla="*/ 6612215 h 6744084"/>
                <a:gd name="connsiteX21" fmla="*/ 2041392 w 7155249"/>
                <a:gd name="connsiteY21" fmla="*/ 6603079 h 6744084"/>
                <a:gd name="connsiteX22" fmla="*/ 1998565 w 7155249"/>
                <a:gd name="connsiteY22" fmla="*/ 6579667 h 6744084"/>
                <a:gd name="connsiteX23" fmla="*/ 1947172 w 7155249"/>
                <a:gd name="connsiteY23" fmla="*/ 6546547 h 6744084"/>
                <a:gd name="connsiteX24" fmla="*/ 1907200 w 7155249"/>
                <a:gd name="connsiteY24" fmla="*/ 6516854 h 6744084"/>
                <a:gd name="connsiteX25" fmla="*/ 1753592 w 7155249"/>
                <a:gd name="connsiteY25" fmla="*/ 6334126 h 6744084"/>
                <a:gd name="connsiteX26" fmla="*/ 1691921 w 7155249"/>
                <a:gd name="connsiteY26" fmla="*/ 6314712 h 6744084"/>
                <a:gd name="connsiteX27" fmla="*/ 1436099 w 7155249"/>
                <a:gd name="connsiteY27" fmla="*/ 6320993 h 6744084"/>
                <a:gd name="connsiteX28" fmla="*/ 1261934 w 7155249"/>
                <a:gd name="connsiteY28" fmla="*/ 6269601 h 6744084"/>
                <a:gd name="connsiteX29" fmla="*/ 1230527 w 7155249"/>
                <a:gd name="connsiteY29" fmla="*/ 6255896 h 6744084"/>
                <a:gd name="connsiteX30" fmla="*/ 1147728 w 7155249"/>
                <a:gd name="connsiteY30" fmla="*/ 6207359 h 6744084"/>
                <a:gd name="connsiteX31" fmla="*/ 1072923 w 7155249"/>
                <a:gd name="connsiteY31" fmla="*/ 6149686 h 6744084"/>
                <a:gd name="connsiteX32" fmla="*/ 1040374 w 7155249"/>
                <a:gd name="connsiteY32" fmla="*/ 6114282 h 6744084"/>
                <a:gd name="connsiteX33" fmla="*/ 969566 w 7155249"/>
                <a:gd name="connsiteY33" fmla="*/ 6029771 h 6744084"/>
                <a:gd name="connsiteX34" fmla="*/ 949580 w 7155249"/>
                <a:gd name="connsiteY34" fmla="*/ 5992654 h 6744084"/>
                <a:gd name="connsiteX35" fmla="*/ 933020 w 7155249"/>
                <a:gd name="connsiteY35" fmla="*/ 5960677 h 6744084"/>
                <a:gd name="connsiteX36" fmla="*/ 918744 w 7155249"/>
                <a:gd name="connsiteY36" fmla="*/ 5930983 h 6744084"/>
                <a:gd name="connsiteX37" fmla="*/ 902184 w 7155249"/>
                <a:gd name="connsiteY37" fmla="*/ 5893296 h 6744084"/>
                <a:gd name="connsiteX38" fmla="*/ 885053 w 7155249"/>
                <a:gd name="connsiteY38" fmla="*/ 5829341 h 6744084"/>
                <a:gd name="connsiteX39" fmla="*/ 870207 w 7155249"/>
                <a:gd name="connsiteY39" fmla="*/ 5749398 h 6744084"/>
                <a:gd name="connsiteX40" fmla="*/ 863925 w 7155249"/>
                <a:gd name="connsiteY40" fmla="*/ 5687727 h 6744084"/>
                <a:gd name="connsiteX41" fmla="*/ 848507 w 7155249"/>
                <a:gd name="connsiteY41" fmla="*/ 5638048 h 6744084"/>
                <a:gd name="connsiteX42" fmla="*/ 800541 w 7155249"/>
                <a:gd name="connsiteY42" fmla="*/ 5610639 h 6744084"/>
                <a:gd name="connsiteX43" fmla="*/ 754858 w 7155249"/>
                <a:gd name="connsiteY43" fmla="*/ 5591224 h 6744084"/>
                <a:gd name="connsiteX44" fmla="*/ 725165 w 7155249"/>
                <a:gd name="connsiteY44" fmla="*/ 5575806 h 6744084"/>
                <a:gd name="connsiteX45" fmla="*/ 594969 w 7155249"/>
                <a:gd name="connsiteY45" fmla="*/ 5486727 h 6744084"/>
                <a:gd name="connsiteX46" fmla="*/ 496752 w 7155249"/>
                <a:gd name="connsiteY46" fmla="*/ 5369667 h 6744084"/>
                <a:gd name="connsiteX47" fmla="*/ 487044 w 7155249"/>
                <a:gd name="connsiteY47" fmla="*/ 5355391 h 6744084"/>
                <a:gd name="connsiteX48" fmla="*/ 470485 w 7155249"/>
                <a:gd name="connsiteY48" fmla="*/ 5329124 h 6744084"/>
                <a:gd name="connsiteX49" fmla="*/ 448214 w 7155249"/>
                <a:gd name="connsiteY49" fmla="*/ 5289723 h 6744084"/>
                <a:gd name="connsiteX50" fmla="*/ 433939 w 7155249"/>
                <a:gd name="connsiteY50" fmla="*/ 5256604 h 6744084"/>
                <a:gd name="connsiteX51" fmla="*/ 421947 w 7155249"/>
                <a:gd name="connsiteY51" fmla="*/ 5221771 h 6744084"/>
                <a:gd name="connsiteX52" fmla="*/ 399106 w 7155249"/>
                <a:gd name="connsiteY52" fmla="*/ 5141828 h 6744084"/>
                <a:gd name="connsiteX53" fmla="*/ 381975 w 7155249"/>
                <a:gd name="connsiteY53" fmla="*/ 5053319 h 6744084"/>
                <a:gd name="connsiteX54" fmla="*/ 391111 w 7155249"/>
                <a:gd name="connsiteY54" fmla="*/ 4873447 h 6744084"/>
                <a:gd name="connsiteX55" fmla="*/ 396250 w 7155249"/>
                <a:gd name="connsiteY55" fmla="*/ 4782654 h 6744084"/>
                <a:gd name="connsiteX56" fmla="*/ 369412 w 7155249"/>
                <a:gd name="connsiteY56" fmla="*/ 4767236 h 6744084"/>
                <a:gd name="connsiteX57" fmla="*/ 329440 w 7155249"/>
                <a:gd name="connsiteY57" fmla="*/ 4747250 h 6744084"/>
                <a:gd name="connsiteX58" fmla="*/ 308312 w 7155249"/>
                <a:gd name="connsiteY58" fmla="*/ 4733546 h 6744084"/>
                <a:gd name="connsiteX59" fmla="*/ 144997 w 7155249"/>
                <a:gd name="connsiteY59" fmla="*/ 4583937 h 6744084"/>
                <a:gd name="connsiteX60" fmla="*/ 132434 w 7155249"/>
                <a:gd name="connsiteY60" fmla="*/ 4567949 h 6744084"/>
                <a:gd name="connsiteX61" fmla="*/ 117016 w 7155249"/>
                <a:gd name="connsiteY61" fmla="*/ 4549676 h 6744084"/>
                <a:gd name="connsiteX62" fmla="*/ 93033 w 7155249"/>
                <a:gd name="connsiteY62" fmla="*/ 4514844 h 6744084"/>
                <a:gd name="connsiteX63" fmla="*/ 79899 w 7155249"/>
                <a:gd name="connsiteY63" fmla="*/ 4488576 h 6744084"/>
                <a:gd name="connsiteX64" fmla="*/ 67907 w 7155249"/>
                <a:gd name="connsiteY64" fmla="*/ 4462880 h 6744084"/>
                <a:gd name="connsiteX65" fmla="*/ 50205 w 7155249"/>
                <a:gd name="connsiteY65" fmla="*/ 4424051 h 6744084"/>
                <a:gd name="connsiteX66" fmla="*/ 33645 w 7155249"/>
                <a:gd name="connsiteY66" fmla="*/ 4384650 h 6744084"/>
                <a:gd name="connsiteX67" fmla="*/ 16515 w 7155249"/>
                <a:gd name="connsiteY67" fmla="*/ 4321266 h 6744084"/>
                <a:gd name="connsiteX68" fmla="*/ 2810 w 7155249"/>
                <a:gd name="connsiteY68" fmla="*/ 4244178 h 6744084"/>
                <a:gd name="connsiteX69" fmla="*/ -5756 w 7155249"/>
                <a:gd name="connsiteY69" fmla="*/ 4169945 h 6744084"/>
                <a:gd name="connsiteX70" fmla="*/ 33074 w 7155249"/>
                <a:gd name="connsiteY70" fmla="*/ 3942106 h 6744084"/>
                <a:gd name="connsiteX71" fmla="*/ 49063 w 7155249"/>
                <a:gd name="connsiteY71" fmla="*/ 3896995 h 6744084"/>
                <a:gd name="connsiteX72" fmla="*/ 69049 w 7155249"/>
                <a:gd name="connsiteY72" fmla="*/ 3851884 h 6744084"/>
                <a:gd name="connsiteX73" fmla="*/ 85609 w 7155249"/>
                <a:gd name="connsiteY73" fmla="*/ 3823333 h 6744084"/>
                <a:gd name="connsiteX74" fmla="*/ 97601 w 7155249"/>
                <a:gd name="connsiteY74" fmla="*/ 3805060 h 6744084"/>
                <a:gd name="connsiteX75" fmla="*/ 134147 w 7155249"/>
                <a:gd name="connsiteY75" fmla="*/ 3751384 h 6744084"/>
                <a:gd name="connsiteX76" fmla="*/ 182114 w 7155249"/>
                <a:gd name="connsiteY76" fmla="*/ 3692569 h 6744084"/>
                <a:gd name="connsiteX77" fmla="*/ 219231 w 7155249"/>
                <a:gd name="connsiteY77" fmla="*/ 3653739 h 6744084"/>
                <a:gd name="connsiteX78" fmla="*/ 206097 w 7155249"/>
                <a:gd name="connsiteY78" fmla="*/ 3552668 h 6744084"/>
                <a:gd name="connsiteX79" fmla="*/ 219802 w 7155249"/>
                <a:gd name="connsiteY79" fmla="*/ 3260303 h 6744084"/>
                <a:gd name="connsiteX80" fmla="*/ 262058 w 7155249"/>
                <a:gd name="connsiteY80" fmla="*/ 3148383 h 6744084"/>
                <a:gd name="connsiteX81" fmla="*/ 276905 w 7155249"/>
                <a:gd name="connsiteY81" fmla="*/ 3118118 h 6744084"/>
                <a:gd name="connsiteX82" fmla="*/ 291752 w 7155249"/>
                <a:gd name="connsiteY82" fmla="*/ 3091280 h 6744084"/>
                <a:gd name="connsiteX83" fmla="*/ 302601 w 7155249"/>
                <a:gd name="connsiteY83" fmla="*/ 3074149 h 6744084"/>
                <a:gd name="connsiteX84" fmla="*/ 432796 w 7155249"/>
                <a:gd name="connsiteY84" fmla="*/ 2923399 h 6744084"/>
                <a:gd name="connsiteX85" fmla="*/ 453925 w 7155249"/>
                <a:gd name="connsiteY85" fmla="*/ 2906839 h 6744084"/>
                <a:gd name="connsiteX86" fmla="*/ 477337 w 7155249"/>
                <a:gd name="connsiteY86" fmla="*/ 2891993 h 6744084"/>
                <a:gd name="connsiteX87" fmla="*/ 496752 w 7155249"/>
                <a:gd name="connsiteY87" fmla="*/ 2878288 h 6744084"/>
                <a:gd name="connsiteX88" fmla="*/ 515025 w 7155249"/>
                <a:gd name="connsiteY88" fmla="*/ 2862871 h 6744084"/>
                <a:gd name="connsiteX89" fmla="*/ 545290 w 7155249"/>
                <a:gd name="connsiteY89" fmla="*/ 2843456 h 6744084"/>
                <a:gd name="connsiteX90" fmla="*/ 581265 w 7155249"/>
                <a:gd name="connsiteY90" fmla="*/ 2826325 h 6744084"/>
                <a:gd name="connsiteX91" fmla="*/ 624092 w 7155249"/>
                <a:gd name="connsiteY91" fmla="*/ 2809765 h 6744084"/>
                <a:gd name="connsiteX92" fmla="*/ 664064 w 7155249"/>
                <a:gd name="connsiteY92" fmla="*/ 2794919 h 6744084"/>
                <a:gd name="connsiteX93" fmla="*/ 709747 w 7155249"/>
                <a:gd name="connsiteY93" fmla="*/ 2778930 h 6744084"/>
                <a:gd name="connsiteX94" fmla="*/ 866780 w 7155249"/>
                <a:gd name="connsiteY94" fmla="*/ 2765225 h 6744084"/>
                <a:gd name="connsiteX95" fmla="*/ 999260 w 7155249"/>
                <a:gd name="connsiteY95" fmla="*/ 2764083 h 6744084"/>
                <a:gd name="connsiteX96" fmla="*/ 1047797 w 7155249"/>
                <a:gd name="connsiteY96" fmla="*/ 2716688 h 6744084"/>
                <a:gd name="connsiteX97" fmla="*/ 1147728 w 7155249"/>
                <a:gd name="connsiteY97" fmla="*/ 2632177 h 6744084"/>
                <a:gd name="connsiteX98" fmla="*/ 1173424 w 7155249"/>
                <a:gd name="connsiteY98" fmla="*/ 2615046 h 6744084"/>
                <a:gd name="connsiteX99" fmla="*/ 1198550 w 7155249"/>
                <a:gd name="connsiteY99" fmla="*/ 2600770 h 6744084"/>
                <a:gd name="connsiteX100" fmla="*/ 1231669 w 7155249"/>
                <a:gd name="connsiteY100" fmla="*/ 2583069 h 6744084"/>
                <a:gd name="connsiteX101" fmla="*/ 1263647 w 7155249"/>
                <a:gd name="connsiteY101" fmla="*/ 2569364 h 6744084"/>
                <a:gd name="connsiteX102" fmla="*/ 1304190 w 7155249"/>
                <a:gd name="connsiteY102" fmla="*/ 2555089 h 6744084"/>
                <a:gd name="connsiteX103" fmla="*/ 1556015 w 7155249"/>
                <a:gd name="connsiteY103" fmla="*/ 2517972 h 6744084"/>
                <a:gd name="connsiteX104" fmla="*/ 1670793 w 7155249"/>
                <a:gd name="connsiteY104" fmla="*/ 2510549 h 6744084"/>
                <a:gd name="connsiteX105" fmla="*/ 1691921 w 7155249"/>
                <a:gd name="connsiteY105" fmla="*/ 2468293 h 6744084"/>
                <a:gd name="connsiteX106" fmla="*/ 1704484 w 7155249"/>
                <a:gd name="connsiteY106" fmla="*/ 2438029 h 6744084"/>
                <a:gd name="connsiteX107" fmla="*/ 1725041 w 7155249"/>
                <a:gd name="connsiteY107" fmla="*/ 2407193 h 6744084"/>
                <a:gd name="connsiteX108" fmla="*/ 1754734 w 7155249"/>
                <a:gd name="connsiteY108" fmla="*/ 2351233 h 6744084"/>
                <a:gd name="connsiteX109" fmla="*/ 1785570 w 7155249"/>
                <a:gd name="connsiteY109" fmla="*/ 2296415 h 6744084"/>
                <a:gd name="connsiteX110" fmla="*/ 1802701 w 7155249"/>
                <a:gd name="connsiteY110" fmla="*/ 2271290 h 6744084"/>
                <a:gd name="connsiteX111" fmla="*/ 1884358 w 7155249"/>
                <a:gd name="connsiteY111" fmla="*/ 2167363 h 6744084"/>
                <a:gd name="connsiteX112" fmla="*/ 2081364 w 7155249"/>
                <a:gd name="connsiteY112" fmla="*/ 1985206 h 6744084"/>
                <a:gd name="connsiteX113" fmla="*/ 2127047 w 7155249"/>
                <a:gd name="connsiteY113" fmla="*/ 1953229 h 6744084"/>
                <a:gd name="connsiteX114" fmla="*/ 2172729 w 7155249"/>
                <a:gd name="connsiteY114" fmla="*/ 1923536 h 6744084"/>
                <a:gd name="connsiteX115" fmla="*/ 2209275 w 7155249"/>
                <a:gd name="connsiteY115" fmla="*/ 1900695 h 6744084"/>
                <a:gd name="connsiteX116" fmla="*/ 2232688 w 7155249"/>
                <a:gd name="connsiteY116" fmla="*/ 1889845 h 6744084"/>
                <a:gd name="connsiteX117" fmla="*/ 2257242 w 7155249"/>
                <a:gd name="connsiteY117" fmla="*/ 1878425 h 6744084"/>
                <a:gd name="connsiteX118" fmla="*/ 2294930 w 7155249"/>
                <a:gd name="connsiteY118" fmla="*/ 1858439 h 6744084"/>
                <a:gd name="connsiteX119" fmla="*/ 2333760 w 7155249"/>
                <a:gd name="connsiteY119" fmla="*/ 1839595 h 6744084"/>
                <a:gd name="connsiteX120" fmla="*/ 2375446 w 7155249"/>
                <a:gd name="connsiteY120" fmla="*/ 1824749 h 6744084"/>
                <a:gd name="connsiteX121" fmla="*/ 2418273 w 7155249"/>
                <a:gd name="connsiteY121" fmla="*/ 1809902 h 6744084"/>
                <a:gd name="connsiteX122" fmla="*/ 2461100 w 7155249"/>
                <a:gd name="connsiteY122" fmla="*/ 1795055 h 6744084"/>
                <a:gd name="connsiteX123" fmla="*/ 2515348 w 7155249"/>
                <a:gd name="connsiteY123" fmla="*/ 1780209 h 6744084"/>
                <a:gd name="connsiteX124" fmla="*/ 3250837 w 7155249"/>
                <a:gd name="connsiteY124" fmla="*/ 1747089 h 6744084"/>
                <a:gd name="connsiteX125" fmla="*/ 3381603 w 7155249"/>
                <a:gd name="connsiteY125" fmla="*/ 1752800 h 6744084"/>
                <a:gd name="connsiteX126" fmla="*/ 3397592 w 7155249"/>
                <a:gd name="connsiteY126" fmla="*/ 1740237 h 6744084"/>
                <a:gd name="connsiteX127" fmla="*/ 3428999 w 7155249"/>
                <a:gd name="connsiteY127" fmla="*/ 1681422 h 6744084"/>
                <a:gd name="connsiteX128" fmla="*/ 3442132 w 7155249"/>
                <a:gd name="connsiteY128" fmla="*/ 1653441 h 6744084"/>
                <a:gd name="connsiteX129" fmla="*/ 3490670 w 7155249"/>
                <a:gd name="connsiteY129" fmla="*/ 1567217 h 6744084"/>
                <a:gd name="connsiteX130" fmla="*/ 3514082 w 7155249"/>
                <a:gd name="connsiteY130" fmla="*/ 1530671 h 6744084"/>
                <a:gd name="connsiteX131" fmla="*/ 3523219 w 7155249"/>
                <a:gd name="connsiteY131" fmla="*/ 1517538 h 6744084"/>
                <a:gd name="connsiteX132" fmla="*/ 3540350 w 7155249"/>
                <a:gd name="connsiteY132" fmla="*/ 1491270 h 6744084"/>
                <a:gd name="connsiteX133" fmla="*/ 3577467 w 7155249"/>
                <a:gd name="connsiteY133" fmla="*/ 1444446 h 6744084"/>
                <a:gd name="connsiteX134" fmla="*/ 3610586 w 7155249"/>
                <a:gd name="connsiteY134" fmla="*/ 1403333 h 6744084"/>
                <a:gd name="connsiteX135" fmla="*/ 3777328 w 7155249"/>
                <a:gd name="connsiteY135" fmla="*/ 1236023 h 6744084"/>
                <a:gd name="connsiteX136" fmla="*/ 3890963 w 7155249"/>
                <a:gd name="connsiteY136" fmla="*/ 1147514 h 6744084"/>
                <a:gd name="connsiteX137" fmla="*/ 3916088 w 7155249"/>
                <a:gd name="connsiteY137" fmla="*/ 1125815 h 6744084"/>
                <a:gd name="connsiteX138" fmla="*/ 3934932 w 7155249"/>
                <a:gd name="connsiteY138" fmla="*/ 1113252 h 6744084"/>
                <a:gd name="connsiteX139" fmla="*/ 3956061 w 7155249"/>
                <a:gd name="connsiteY139" fmla="*/ 1101261 h 6744084"/>
                <a:gd name="connsiteX140" fmla="*/ 4034292 w 7155249"/>
                <a:gd name="connsiteY140" fmla="*/ 1049869 h 6744084"/>
                <a:gd name="connsiteX141" fmla="*/ 4059988 w 7155249"/>
                <a:gd name="connsiteY141" fmla="*/ 1033309 h 6744084"/>
                <a:gd name="connsiteX142" fmla="*/ 4086827 w 7155249"/>
                <a:gd name="connsiteY142" fmla="*/ 1016749 h 6744084"/>
                <a:gd name="connsiteX143" fmla="*/ 4113665 w 7155249"/>
                <a:gd name="connsiteY143" fmla="*/ 999619 h 6744084"/>
                <a:gd name="connsiteX144" fmla="*/ 4138791 w 7155249"/>
                <a:gd name="connsiteY144" fmla="*/ 987056 h 6744084"/>
                <a:gd name="connsiteX145" fmla="*/ 4175337 w 7155249"/>
                <a:gd name="connsiteY145" fmla="*/ 967070 h 6744084"/>
                <a:gd name="connsiteX146" fmla="*/ 4207885 w 7155249"/>
                <a:gd name="connsiteY146" fmla="*/ 950511 h 6744084"/>
                <a:gd name="connsiteX147" fmla="*/ 4234153 w 7155249"/>
                <a:gd name="connsiteY147" fmla="*/ 936235 h 6744084"/>
                <a:gd name="connsiteX148" fmla="*/ 4262133 w 7155249"/>
                <a:gd name="connsiteY148" fmla="*/ 921388 h 6744084"/>
                <a:gd name="connsiteX149" fmla="*/ 4310671 w 7155249"/>
                <a:gd name="connsiteY149" fmla="*/ 901402 h 6744084"/>
                <a:gd name="connsiteX150" fmla="*/ 4350643 w 7155249"/>
                <a:gd name="connsiteY150" fmla="*/ 884843 h 6744084"/>
                <a:gd name="connsiteX151" fmla="*/ 4378624 w 7155249"/>
                <a:gd name="connsiteY151" fmla="*/ 871138 h 6744084"/>
                <a:gd name="connsiteX152" fmla="*/ 4419738 w 7155249"/>
                <a:gd name="connsiteY152" fmla="*/ 854007 h 6744084"/>
                <a:gd name="connsiteX153" fmla="*/ 4468847 w 7155249"/>
                <a:gd name="connsiteY153" fmla="*/ 836306 h 6744084"/>
                <a:gd name="connsiteX154" fmla="*/ 4503680 w 7155249"/>
                <a:gd name="connsiteY154" fmla="*/ 822030 h 6744084"/>
                <a:gd name="connsiteX155" fmla="*/ 4535658 w 7155249"/>
                <a:gd name="connsiteY155" fmla="*/ 808326 h 6744084"/>
                <a:gd name="connsiteX156" fmla="*/ 4580198 w 7155249"/>
                <a:gd name="connsiteY156" fmla="*/ 788340 h 6744084"/>
                <a:gd name="connsiteX157" fmla="*/ 4611034 w 7155249"/>
                <a:gd name="connsiteY157" fmla="*/ 770638 h 6744084"/>
                <a:gd name="connsiteX158" fmla="*/ 4628165 w 7155249"/>
                <a:gd name="connsiteY158" fmla="*/ 759217 h 6744084"/>
                <a:gd name="connsiteX159" fmla="*/ 4656716 w 7155249"/>
                <a:gd name="connsiteY159" fmla="*/ 742087 h 6744084"/>
                <a:gd name="connsiteX160" fmla="*/ 4684697 w 7155249"/>
                <a:gd name="connsiteY160" fmla="*/ 724956 h 6744084"/>
                <a:gd name="connsiteX161" fmla="*/ 4703541 w 7155249"/>
                <a:gd name="connsiteY161" fmla="*/ 714107 h 6744084"/>
                <a:gd name="connsiteX162" fmla="*/ 4737232 w 7155249"/>
                <a:gd name="connsiteY162" fmla="*/ 690695 h 6744084"/>
                <a:gd name="connsiteX163" fmla="*/ 4829739 w 7155249"/>
                <a:gd name="connsiteY163" fmla="*/ 625027 h 6744084"/>
                <a:gd name="connsiteX164" fmla="*/ 4894836 w 7155249"/>
                <a:gd name="connsiteY164" fmla="*/ 565069 h 6744084"/>
                <a:gd name="connsiteX165" fmla="*/ 5002190 w 7155249"/>
                <a:gd name="connsiteY165" fmla="*/ 455433 h 6744084"/>
                <a:gd name="connsiteX166" fmla="*/ 5018179 w 7155249"/>
                <a:gd name="connsiteY166" fmla="*/ 434305 h 6744084"/>
                <a:gd name="connsiteX167" fmla="*/ 5069572 w 7155249"/>
                <a:gd name="connsiteY167" fmla="*/ 370921 h 6744084"/>
                <a:gd name="connsiteX168" fmla="*/ 5118110 w 7155249"/>
                <a:gd name="connsiteY168" fmla="*/ 308679 h 6744084"/>
                <a:gd name="connsiteX169" fmla="*/ 5162079 w 7155249"/>
                <a:gd name="connsiteY169" fmla="*/ 229878 h 6744084"/>
                <a:gd name="connsiteX170" fmla="*/ 5179210 w 7155249"/>
                <a:gd name="connsiteY170" fmla="*/ 202469 h 6744084"/>
                <a:gd name="connsiteX171" fmla="*/ 5196341 w 7155249"/>
                <a:gd name="connsiteY171" fmla="*/ 177915 h 6744084"/>
                <a:gd name="connsiteX172" fmla="*/ 5285422 w 7155249"/>
                <a:gd name="connsiteY172" fmla="*/ 79699 h 6744084"/>
                <a:gd name="connsiteX173" fmla="*/ 5312831 w 7155249"/>
                <a:gd name="connsiteY173" fmla="*/ 62568 h 6744084"/>
                <a:gd name="connsiteX174" fmla="*/ 5341954 w 7155249"/>
                <a:gd name="connsiteY174" fmla="*/ 45437 h 6744084"/>
                <a:gd name="connsiteX175" fmla="*/ 5364224 w 7155249"/>
                <a:gd name="connsiteY175" fmla="*/ 33446 h 6744084"/>
                <a:gd name="connsiteX176" fmla="*/ 5420756 w 7155249"/>
                <a:gd name="connsiteY176" fmla="*/ 12889 h 6744084"/>
                <a:gd name="connsiteX177" fmla="*/ 5484712 w 7155249"/>
                <a:gd name="connsiteY177" fmla="*/ -245 h 6744084"/>
                <a:gd name="connsiteX178" fmla="*/ 5593208 w 7155249"/>
                <a:gd name="connsiteY178" fmla="*/ -245 h 6744084"/>
                <a:gd name="connsiteX179" fmla="*/ 5646314 w 7155249"/>
                <a:gd name="connsiteY179" fmla="*/ 11176 h 6744084"/>
                <a:gd name="connsiteX180" fmla="*/ 5704559 w 7155249"/>
                <a:gd name="connsiteY180" fmla="*/ 31162 h 6744084"/>
                <a:gd name="connsiteX181" fmla="*/ 5738821 w 7155249"/>
                <a:gd name="connsiteY181" fmla="*/ 48292 h 6744084"/>
                <a:gd name="connsiteX182" fmla="*/ 5850172 w 7155249"/>
                <a:gd name="connsiteY182" fmla="*/ 141940 h 6744084"/>
                <a:gd name="connsiteX183" fmla="*/ 5904991 w 7155249"/>
                <a:gd name="connsiteY183" fmla="*/ 228165 h 6744084"/>
                <a:gd name="connsiteX184" fmla="*/ 5922693 w 7155249"/>
                <a:gd name="connsiteY184" fmla="*/ 262426 h 6744084"/>
                <a:gd name="connsiteX185" fmla="*/ 5920980 w 7155249"/>
                <a:gd name="connsiteY185" fmla="*/ 530808 h 6744084"/>
                <a:gd name="connsiteX186" fmla="*/ 5902136 w 7155249"/>
                <a:gd name="connsiteY186" fmla="*/ 588481 h 6744084"/>
                <a:gd name="connsiteX187" fmla="*/ 5852456 w 7155249"/>
                <a:gd name="connsiteY187" fmla="*/ 716391 h 6744084"/>
                <a:gd name="connsiteX188" fmla="*/ 5835896 w 7155249"/>
                <a:gd name="connsiteY188" fmla="*/ 759789 h 6744084"/>
                <a:gd name="connsiteX189" fmla="*/ 5825047 w 7155249"/>
                <a:gd name="connsiteY189" fmla="*/ 782629 h 6744084"/>
                <a:gd name="connsiteX190" fmla="*/ 5806774 w 7155249"/>
                <a:gd name="connsiteY190" fmla="*/ 822030 h 6744084"/>
                <a:gd name="connsiteX191" fmla="*/ 5791927 w 7155249"/>
                <a:gd name="connsiteY191" fmla="*/ 857434 h 6744084"/>
                <a:gd name="connsiteX192" fmla="*/ 5775938 w 7155249"/>
                <a:gd name="connsiteY192" fmla="*/ 893408 h 6744084"/>
                <a:gd name="connsiteX193" fmla="*/ 5755952 w 7155249"/>
                <a:gd name="connsiteY193" fmla="*/ 936235 h 6744084"/>
                <a:gd name="connsiteX194" fmla="*/ 5744531 w 7155249"/>
                <a:gd name="connsiteY194" fmla="*/ 960789 h 6744084"/>
                <a:gd name="connsiteX195" fmla="*/ 5729684 w 7155249"/>
                <a:gd name="connsiteY195" fmla="*/ 996764 h 6744084"/>
                <a:gd name="connsiteX196" fmla="*/ 5706843 w 7155249"/>
                <a:gd name="connsiteY196" fmla="*/ 1051011 h 6744084"/>
                <a:gd name="connsiteX197" fmla="*/ 5690854 w 7155249"/>
                <a:gd name="connsiteY197" fmla="*/ 1084130 h 6744084"/>
                <a:gd name="connsiteX198" fmla="*/ 5678862 w 7155249"/>
                <a:gd name="connsiteY198" fmla="*/ 1113252 h 6744084"/>
                <a:gd name="connsiteX199" fmla="*/ 5664587 w 7155249"/>
                <a:gd name="connsiteY199" fmla="*/ 1149227 h 6744084"/>
                <a:gd name="connsiteX200" fmla="*/ 5653166 w 7155249"/>
                <a:gd name="connsiteY200" fmla="*/ 1201761 h 6744084"/>
                <a:gd name="connsiteX201" fmla="*/ 5684002 w 7155249"/>
                <a:gd name="connsiteY201" fmla="*/ 1210327 h 6744084"/>
                <a:gd name="connsiteX202" fmla="*/ 5738821 w 7155249"/>
                <a:gd name="connsiteY202" fmla="*/ 1219463 h 6744084"/>
                <a:gd name="connsiteX203" fmla="*/ 5809629 w 7155249"/>
                <a:gd name="connsiteY203" fmla="*/ 1239449 h 6744084"/>
                <a:gd name="connsiteX204" fmla="*/ 5863306 w 7155249"/>
                <a:gd name="connsiteY204" fmla="*/ 1259435 h 6744084"/>
                <a:gd name="connsiteX205" fmla="*/ 5904420 w 7155249"/>
                <a:gd name="connsiteY205" fmla="*/ 1276565 h 6744084"/>
                <a:gd name="connsiteX206" fmla="*/ 5934685 w 7155249"/>
                <a:gd name="connsiteY206" fmla="*/ 1292554 h 6744084"/>
                <a:gd name="connsiteX207" fmla="*/ 5959810 w 7155249"/>
                <a:gd name="connsiteY207" fmla="*/ 1307401 h 6744084"/>
                <a:gd name="connsiteX208" fmla="*/ 5997498 w 7155249"/>
                <a:gd name="connsiteY208" fmla="*/ 1326816 h 6744084"/>
                <a:gd name="connsiteX209" fmla="*/ 6082011 w 7155249"/>
                <a:gd name="connsiteY209" fmla="*/ 1390199 h 6744084"/>
                <a:gd name="connsiteX210" fmla="*/ 6205924 w 7155249"/>
                <a:gd name="connsiteY210" fmla="*/ 1518680 h 6744084"/>
                <a:gd name="connsiteX211" fmla="*/ 6284156 w 7155249"/>
                <a:gd name="connsiteY211" fmla="*/ 1632884 h 6744084"/>
                <a:gd name="connsiteX212" fmla="*/ 6298432 w 7155249"/>
                <a:gd name="connsiteY212" fmla="*/ 1661436 h 6744084"/>
                <a:gd name="connsiteX213" fmla="*/ 6354964 w 7155249"/>
                <a:gd name="connsiteY213" fmla="*/ 1792771 h 6744084"/>
                <a:gd name="connsiteX214" fmla="*/ 6372666 w 7155249"/>
                <a:gd name="connsiteY214" fmla="*/ 1855584 h 6744084"/>
                <a:gd name="connsiteX215" fmla="*/ 6368097 w 7155249"/>
                <a:gd name="connsiteY215" fmla="*/ 2196485 h 6744084"/>
                <a:gd name="connsiteX216" fmla="*/ 6352680 w 7155249"/>
                <a:gd name="connsiteY216" fmla="*/ 2238170 h 6744084"/>
                <a:gd name="connsiteX217" fmla="*/ 6337833 w 7155249"/>
                <a:gd name="connsiteY217" fmla="*/ 2270147 h 6744084"/>
                <a:gd name="connsiteX218" fmla="*/ 6326412 w 7155249"/>
                <a:gd name="connsiteY218" fmla="*/ 2331247 h 6744084"/>
                <a:gd name="connsiteX219" fmla="*/ 6367526 w 7155249"/>
                <a:gd name="connsiteY219" fmla="*/ 2343239 h 6744084"/>
                <a:gd name="connsiteX220" fmla="*/ 6420632 w 7155249"/>
                <a:gd name="connsiteY220" fmla="*/ 2357514 h 6744084"/>
                <a:gd name="connsiteX221" fmla="*/ 6466886 w 7155249"/>
                <a:gd name="connsiteY221" fmla="*/ 2375787 h 6744084"/>
                <a:gd name="connsiteX222" fmla="*/ 6514281 w 7155249"/>
                <a:gd name="connsiteY222" fmla="*/ 2396344 h 6744084"/>
                <a:gd name="connsiteX223" fmla="*/ 6541120 w 7155249"/>
                <a:gd name="connsiteY223" fmla="*/ 2409477 h 6744084"/>
                <a:gd name="connsiteX224" fmla="*/ 6555967 w 7155249"/>
                <a:gd name="connsiteY224" fmla="*/ 2419185 h 6744084"/>
                <a:gd name="connsiteX225" fmla="*/ 6583947 w 7155249"/>
                <a:gd name="connsiteY225" fmla="*/ 2437458 h 6744084"/>
                <a:gd name="connsiteX226" fmla="*/ 6615354 w 7155249"/>
                <a:gd name="connsiteY226" fmla="*/ 2456872 h 6744084"/>
                <a:gd name="connsiteX227" fmla="*/ 6772388 w 7155249"/>
                <a:gd name="connsiteY227" fmla="*/ 2617901 h 6744084"/>
                <a:gd name="connsiteX228" fmla="*/ 6791232 w 7155249"/>
                <a:gd name="connsiteY228" fmla="*/ 2644168 h 6744084"/>
                <a:gd name="connsiteX229" fmla="*/ 6838627 w 7155249"/>
                <a:gd name="connsiteY229" fmla="*/ 2729822 h 6744084"/>
                <a:gd name="connsiteX230" fmla="*/ 6854616 w 7155249"/>
                <a:gd name="connsiteY230" fmla="*/ 2763512 h 6744084"/>
                <a:gd name="connsiteX231" fmla="*/ 6869463 w 7155249"/>
                <a:gd name="connsiteY231" fmla="*/ 2800629 h 6744084"/>
                <a:gd name="connsiteX232" fmla="*/ 6888307 w 7155249"/>
                <a:gd name="connsiteY232" fmla="*/ 2864584 h 6744084"/>
                <a:gd name="connsiteX233" fmla="*/ 6901441 w 7155249"/>
                <a:gd name="connsiteY233" fmla="*/ 3035891 h 6744084"/>
                <a:gd name="connsiteX234" fmla="*/ 6902583 w 7155249"/>
                <a:gd name="connsiteY234" fmla="*/ 3174079 h 6744084"/>
                <a:gd name="connsiteX235" fmla="*/ 6924282 w 7155249"/>
                <a:gd name="connsiteY235" fmla="*/ 3192922 h 6744084"/>
                <a:gd name="connsiteX236" fmla="*/ 7029923 w 7155249"/>
                <a:gd name="connsiteY236" fmla="*/ 3313980 h 6744084"/>
                <a:gd name="connsiteX237" fmla="*/ 7063614 w 7155249"/>
                <a:gd name="connsiteY237" fmla="*/ 3368798 h 6744084"/>
                <a:gd name="connsiteX238" fmla="*/ 7077889 w 7155249"/>
                <a:gd name="connsiteY238" fmla="*/ 3397349 h 6744084"/>
                <a:gd name="connsiteX239" fmla="*/ 7092165 w 7155249"/>
                <a:gd name="connsiteY239" fmla="*/ 3425900 h 6744084"/>
                <a:gd name="connsiteX240" fmla="*/ 7106441 w 7155249"/>
                <a:gd name="connsiteY240" fmla="*/ 3463017 h 6744084"/>
                <a:gd name="connsiteX241" fmla="*/ 7126427 w 7155249"/>
                <a:gd name="connsiteY241" fmla="*/ 3530969 h 6744084"/>
                <a:gd name="connsiteX242" fmla="*/ 7140132 w 7155249"/>
                <a:gd name="connsiteY242" fmla="*/ 3596637 h 6744084"/>
                <a:gd name="connsiteX243" fmla="*/ 7141274 w 7155249"/>
                <a:gd name="connsiteY243" fmla="*/ 3799921 h 6744084"/>
                <a:gd name="connsiteX244" fmla="*/ 7126427 w 7155249"/>
                <a:gd name="connsiteY244" fmla="*/ 3862734 h 6744084"/>
                <a:gd name="connsiteX245" fmla="*/ 7105870 w 7155249"/>
                <a:gd name="connsiteY245" fmla="*/ 3932970 h 6744084"/>
                <a:gd name="connsiteX246" fmla="*/ 7092165 w 7155249"/>
                <a:gd name="connsiteY246" fmla="*/ 3968373 h 6744084"/>
                <a:gd name="connsiteX247" fmla="*/ 7080745 w 7155249"/>
                <a:gd name="connsiteY247" fmla="*/ 3992927 h 6744084"/>
                <a:gd name="connsiteX248" fmla="*/ 7062472 w 7155249"/>
                <a:gd name="connsiteY248" fmla="*/ 4026618 h 6744084"/>
                <a:gd name="connsiteX249" fmla="*/ 7011079 w 7155249"/>
                <a:gd name="connsiteY249" fmla="*/ 4101993 h 6744084"/>
                <a:gd name="connsiteX250" fmla="*/ 6980814 w 7155249"/>
                <a:gd name="connsiteY250" fmla="*/ 4139681 h 6744084"/>
                <a:gd name="connsiteX251" fmla="*/ 6902012 w 7155249"/>
                <a:gd name="connsiteY251" fmla="*/ 4220766 h 6744084"/>
                <a:gd name="connsiteX252" fmla="*/ 6885452 w 7155249"/>
                <a:gd name="connsiteY252" fmla="*/ 4234471 h 6744084"/>
                <a:gd name="connsiteX253" fmla="*/ 6895159 w 7155249"/>
                <a:gd name="connsiteY253" fmla="*/ 4268161 h 6744084"/>
                <a:gd name="connsiteX254" fmla="*/ 6915717 w 7155249"/>
                <a:gd name="connsiteY254" fmla="*/ 4323550 h 6744084"/>
                <a:gd name="connsiteX255" fmla="*/ 6932276 w 7155249"/>
                <a:gd name="connsiteY255" fmla="*/ 4383508 h 6744084"/>
                <a:gd name="connsiteX256" fmla="*/ 6946552 w 7155249"/>
                <a:gd name="connsiteY256" fmla="*/ 4447463 h 6744084"/>
                <a:gd name="connsiteX257" fmla="*/ 6946552 w 7155249"/>
                <a:gd name="connsiteY257" fmla="*/ 4641611 h 6744084"/>
                <a:gd name="connsiteX258" fmla="*/ 6932847 w 7155249"/>
                <a:gd name="connsiteY258" fmla="*/ 4710705 h 6744084"/>
                <a:gd name="connsiteX259" fmla="*/ 6918572 w 7155249"/>
                <a:gd name="connsiteY259" fmla="*/ 4769520 h 6744084"/>
                <a:gd name="connsiteX260" fmla="*/ 6900870 w 7155249"/>
                <a:gd name="connsiteY260" fmla="*/ 4807779 h 6744084"/>
                <a:gd name="connsiteX261" fmla="*/ 6884310 w 7155249"/>
                <a:gd name="connsiteY261" fmla="*/ 4842040 h 6744084"/>
                <a:gd name="connsiteX262" fmla="*/ 6872318 w 7155249"/>
                <a:gd name="connsiteY262" fmla="*/ 4864881 h 6744084"/>
                <a:gd name="connsiteX263" fmla="*/ 6804936 w 7155249"/>
                <a:gd name="connsiteY263" fmla="*/ 4969950 h 6744084"/>
                <a:gd name="connsiteX264" fmla="*/ 6632485 w 7155249"/>
                <a:gd name="connsiteY264" fmla="*/ 5121842 h 6744084"/>
                <a:gd name="connsiteX265" fmla="*/ 6606789 w 7155249"/>
                <a:gd name="connsiteY265" fmla="*/ 5134976 h 6744084"/>
                <a:gd name="connsiteX266" fmla="*/ 6567958 w 7155249"/>
                <a:gd name="connsiteY266" fmla="*/ 5154962 h 6744084"/>
                <a:gd name="connsiteX267" fmla="*/ 6533697 w 7155249"/>
                <a:gd name="connsiteY267" fmla="*/ 5172663 h 6744084"/>
                <a:gd name="connsiteX268" fmla="*/ 6484017 w 7155249"/>
                <a:gd name="connsiteY268" fmla="*/ 5189794 h 6744084"/>
                <a:gd name="connsiteX269" fmla="*/ 6421774 w 7155249"/>
                <a:gd name="connsiteY269" fmla="*/ 5291436 h 6744084"/>
                <a:gd name="connsiteX270" fmla="*/ 6365813 w 7155249"/>
                <a:gd name="connsiteY270" fmla="*/ 5515849 h 6744084"/>
                <a:gd name="connsiteX271" fmla="*/ 6352680 w 7155249"/>
                <a:gd name="connsiteY271" fmla="*/ 5548397 h 6744084"/>
                <a:gd name="connsiteX272" fmla="*/ 6344114 w 7155249"/>
                <a:gd name="connsiteY272" fmla="*/ 5570096 h 6744084"/>
                <a:gd name="connsiteX273" fmla="*/ 6308139 w 7155249"/>
                <a:gd name="connsiteY273" fmla="*/ 5620346 h 6744084"/>
                <a:gd name="connsiteX274" fmla="*/ 6246468 w 7155249"/>
                <a:gd name="connsiteY274" fmla="*/ 5698577 h 6744084"/>
                <a:gd name="connsiteX275" fmla="*/ 6123696 w 7155249"/>
                <a:gd name="connsiteY275" fmla="*/ 5801361 h 6744084"/>
                <a:gd name="connsiteX276" fmla="*/ 6100284 w 7155249"/>
                <a:gd name="connsiteY276" fmla="*/ 5814494 h 6744084"/>
                <a:gd name="connsiteX277" fmla="*/ 5990075 w 7155249"/>
                <a:gd name="connsiteY277" fmla="*/ 5867029 h 6744084"/>
                <a:gd name="connsiteX278" fmla="*/ 5950102 w 7155249"/>
                <a:gd name="connsiteY278" fmla="*/ 5882446 h 6744084"/>
                <a:gd name="connsiteX279" fmla="*/ 5773083 w 7155249"/>
                <a:gd name="connsiteY279" fmla="*/ 5907000 h 6744084"/>
                <a:gd name="connsiteX280" fmla="*/ 5705701 w 7155249"/>
                <a:gd name="connsiteY280" fmla="*/ 5913282 h 6744084"/>
                <a:gd name="connsiteX281" fmla="*/ 5676007 w 7155249"/>
                <a:gd name="connsiteY281" fmla="*/ 5971526 h 6744084"/>
                <a:gd name="connsiteX282" fmla="*/ 5664016 w 7155249"/>
                <a:gd name="connsiteY282" fmla="*/ 6003503 h 6744084"/>
                <a:gd name="connsiteX283" fmla="*/ 5646885 w 7155249"/>
                <a:gd name="connsiteY283" fmla="*/ 6038907 h 6744084"/>
                <a:gd name="connsiteX284" fmla="*/ 5626899 w 7155249"/>
                <a:gd name="connsiteY284" fmla="*/ 6079450 h 6744084"/>
                <a:gd name="connsiteX285" fmla="*/ 5613194 w 7155249"/>
                <a:gd name="connsiteY285" fmla="*/ 6107430 h 6744084"/>
                <a:gd name="connsiteX286" fmla="*/ 5586355 w 7155249"/>
                <a:gd name="connsiteY286" fmla="*/ 6150257 h 6744084"/>
                <a:gd name="connsiteX287" fmla="*/ 5549809 w 7155249"/>
                <a:gd name="connsiteY287" fmla="*/ 6198794 h 6744084"/>
                <a:gd name="connsiteX288" fmla="*/ 5447595 w 7155249"/>
                <a:gd name="connsiteY288" fmla="*/ 6297010 h 6744084"/>
                <a:gd name="connsiteX289" fmla="*/ 5360798 w 7155249"/>
                <a:gd name="connsiteY289" fmla="*/ 6354683 h 6744084"/>
                <a:gd name="connsiteX290" fmla="*/ 5333388 w 7155249"/>
                <a:gd name="connsiteY290" fmla="*/ 6369530 h 6744084"/>
                <a:gd name="connsiteX291" fmla="*/ 5302553 w 7155249"/>
                <a:gd name="connsiteY291" fmla="*/ 6384377 h 6744084"/>
                <a:gd name="connsiteX292" fmla="*/ 5264865 w 7155249"/>
                <a:gd name="connsiteY292" fmla="*/ 6400936 h 6744084"/>
                <a:gd name="connsiteX293" fmla="*/ 5203193 w 7155249"/>
                <a:gd name="connsiteY293" fmla="*/ 6418067 h 6744084"/>
                <a:gd name="connsiteX294" fmla="*/ 5136383 w 7155249"/>
                <a:gd name="connsiteY294" fmla="*/ 6432343 h 6744084"/>
                <a:gd name="connsiteX295" fmla="*/ 4931953 w 7155249"/>
                <a:gd name="connsiteY295" fmla="*/ 6432343 h 6744084"/>
                <a:gd name="connsiteX296" fmla="*/ 4869711 w 7155249"/>
                <a:gd name="connsiteY296" fmla="*/ 6417496 h 6744084"/>
                <a:gd name="connsiteX297" fmla="*/ 4805184 w 7155249"/>
                <a:gd name="connsiteY297" fmla="*/ 6399223 h 6744084"/>
                <a:gd name="connsiteX298" fmla="*/ 4724669 w 7155249"/>
                <a:gd name="connsiteY298" fmla="*/ 6377524 h 6744084"/>
                <a:gd name="connsiteX299" fmla="*/ 4702970 w 7155249"/>
                <a:gd name="connsiteY299" fmla="*/ 6403791 h 6744084"/>
                <a:gd name="connsiteX300" fmla="*/ 4553931 w 7155249"/>
                <a:gd name="connsiteY300" fmla="*/ 6547689 h 6744084"/>
                <a:gd name="connsiteX301" fmla="*/ 4481981 w 7155249"/>
                <a:gd name="connsiteY301" fmla="*/ 6594513 h 6744084"/>
                <a:gd name="connsiteX302" fmla="*/ 4443150 w 7155249"/>
                <a:gd name="connsiteY302" fmla="*/ 6611644 h 6744084"/>
                <a:gd name="connsiteX303" fmla="*/ 4404891 w 7155249"/>
                <a:gd name="connsiteY303" fmla="*/ 6626491 h 6744084"/>
                <a:gd name="connsiteX304" fmla="*/ 4251284 w 7155249"/>
                <a:gd name="connsiteY304" fmla="*/ 6667034 h 6744084"/>
                <a:gd name="connsiteX305" fmla="*/ 4037147 w 7155249"/>
                <a:gd name="connsiteY305" fmla="*/ 6657897 h 6744084"/>
                <a:gd name="connsiteX306" fmla="*/ 3980044 w 7155249"/>
                <a:gd name="connsiteY306" fmla="*/ 6643622 h 6744084"/>
                <a:gd name="connsiteX307" fmla="*/ 3865838 w 7155249"/>
                <a:gd name="connsiteY307" fmla="*/ 6596798 h 6744084"/>
                <a:gd name="connsiteX308" fmla="*/ 3832718 w 7155249"/>
                <a:gd name="connsiteY308" fmla="*/ 6580238 h 6744084"/>
                <a:gd name="connsiteX309" fmla="*/ 3790461 w 7155249"/>
                <a:gd name="connsiteY309" fmla="*/ 6555113 h 6744084"/>
                <a:gd name="connsiteX310" fmla="*/ 3715085 w 7155249"/>
                <a:gd name="connsiteY310" fmla="*/ 6551116 h 6744084"/>
                <a:gd name="connsiteX311" fmla="*/ 3673971 w 7155249"/>
                <a:gd name="connsiteY311" fmla="*/ 6586519 h 6744084"/>
                <a:gd name="connsiteX312" fmla="*/ 3619152 w 7155249"/>
                <a:gd name="connsiteY312" fmla="*/ 6628204 h 6744084"/>
                <a:gd name="connsiteX313" fmla="*/ 3589458 w 7155249"/>
                <a:gd name="connsiteY313" fmla="*/ 6646477 h 6744084"/>
                <a:gd name="connsiteX314" fmla="*/ 3572327 w 7155249"/>
                <a:gd name="connsiteY314" fmla="*/ 6657326 h 6744084"/>
                <a:gd name="connsiteX315" fmla="*/ 3536352 w 7155249"/>
                <a:gd name="connsiteY315" fmla="*/ 6675028 h 6744084"/>
                <a:gd name="connsiteX316" fmla="*/ 3496380 w 7155249"/>
                <a:gd name="connsiteY316" fmla="*/ 6692159 h 6744084"/>
                <a:gd name="connsiteX317" fmla="*/ 3450127 w 7155249"/>
                <a:gd name="connsiteY317" fmla="*/ 6709289 h 6744084"/>
                <a:gd name="connsiteX318" fmla="*/ 3381032 w 7155249"/>
                <a:gd name="connsiteY318" fmla="*/ 6726991 h 6744084"/>
                <a:gd name="connsiteX319" fmla="*/ 3114931 w 7155249"/>
                <a:gd name="connsiteY319" fmla="*/ 6726420 h 6744084"/>
                <a:gd name="connsiteX320" fmla="*/ 3332494 w 7155249"/>
                <a:gd name="connsiteY320" fmla="*/ 6457468 h 6744084"/>
                <a:gd name="connsiteX321" fmla="*/ 3409583 w 7155249"/>
                <a:gd name="connsiteY321" fmla="*/ 6435198 h 6744084"/>
                <a:gd name="connsiteX322" fmla="*/ 3445558 w 7155249"/>
                <a:gd name="connsiteY322" fmla="*/ 6415783 h 6744084"/>
                <a:gd name="connsiteX323" fmla="*/ 3466116 w 7155249"/>
                <a:gd name="connsiteY323" fmla="*/ 6402078 h 6744084"/>
                <a:gd name="connsiteX324" fmla="*/ 3483246 w 7155249"/>
                <a:gd name="connsiteY324" fmla="*/ 6389516 h 6744084"/>
                <a:gd name="connsiteX325" fmla="*/ 3536352 w 7155249"/>
                <a:gd name="connsiteY325" fmla="*/ 6341550 h 6744084"/>
                <a:gd name="connsiteX326" fmla="*/ 3575183 w 7155249"/>
                <a:gd name="connsiteY326" fmla="*/ 6298152 h 6744084"/>
                <a:gd name="connsiteX327" fmla="*/ 3591171 w 7155249"/>
                <a:gd name="connsiteY327" fmla="*/ 6272456 h 6744084"/>
                <a:gd name="connsiteX328" fmla="*/ 3611729 w 7155249"/>
                <a:gd name="connsiteY328" fmla="*/ 6235339 h 6744084"/>
                <a:gd name="connsiteX329" fmla="*/ 3626004 w 7155249"/>
                <a:gd name="connsiteY329" fmla="*/ 6203362 h 6744084"/>
                <a:gd name="connsiteX330" fmla="*/ 3656840 w 7155249"/>
                <a:gd name="connsiteY330" fmla="*/ 6157680 h 6744084"/>
                <a:gd name="connsiteX331" fmla="*/ 3681965 w 7155249"/>
                <a:gd name="connsiteY331" fmla="*/ 6129700 h 6744084"/>
                <a:gd name="connsiteX332" fmla="*/ 3721367 w 7155249"/>
                <a:gd name="connsiteY332" fmla="*/ 6129700 h 6744084"/>
                <a:gd name="connsiteX333" fmla="*/ 3785322 w 7155249"/>
                <a:gd name="connsiteY333" fmla="*/ 6153112 h 6744084"/>
                <a:gd name="connsiteX334" fmla="*/ 3808734 w 7155249"/>
                <a:gd name="connsiteY334" fmla="*/ 6182805 h 6744084"/>
                <a:gd name="connsiteX335" fmla="*/ 3887537 w 7155249"/>
                <a:gd name="connsiteY335" fmla="*/ 6283305 h 6744084"/>
                <a:gd name="connsiteX336" fmla="*/ 3904668 w 7155249"/>
                <a:gd name="connsiteY336" fmla="*/ 6299865 h 6744084"/>
                <a:gd name="connsiteX337" fmla="*/ 3986325 w 7155249"/>
                <a:gd name="connsiteY337" fmla="*/ 6355254 h 6744084"/>
                <a:gd name="connsiteX338" fmla="*/ 4016019 w 7155249"/>
                <a:gd name="connsiteY338" fmla="*/ 6368959 h 6744084"/>
                <a:gd name="connsiteX339" fmla="*/ 4173052 w 7155249"/>
                <a:gd name="connsiteY339" fmla="*/ 6398652 h 6744084"/>
                <a:gd name="connsiteX340" fmla="*/ 4238721 w 7155249"/>
                <a:gd name="connsiteY340" fmla="*/ 6389516 h 6744084"/>
                <a:gd name="connsiteX341" fmla="*/ 4326089 w 7155249"/>
                <a:gd name="connsiteY341" fmla="*/ 6365533 h 6744084"/>
                <a:gd name="connsiteX342" fmla="*/ 4371772 w 7155249"/>
                <a:gd name="connsiteY342" fmla="*/ 6334126 h 6744084"/>
                <a:gd name="connsiteX343" fmla="*/ 4392900 w 7155249"/>
                <a:gd name="connsiteY343" fmla="*/ 6320993 h 6744084"/>
                <a:gd name="connsiteX344" fmla="*/ 4493972 w 7155249"/>
                <a:gd name="connsiteY344" fmla="*/ 6215924 h 6744084"/>
                <a:gd name="connsiteX345" fmla="*/ 4513387 w 7155249"/>
                <a:gd name="connsiteY345" fmla="*/ 6178237 h 6744084"/>
                <a:gd name="connsiteX346" fmla="*/ 4549362 w 7155249"/>
                <a:gd name="connsiteY346" fmla="*/ 5995509 h 6744084"/>
                <a:gd name="connsiteX347" fmla="*/ 4508248 w 7155249"/>
                <a:gd name="connsiteY347" fmla="*/ 5823631 h 6744084"/>
                <a:gd name="connsiteX348" fmla="*/ 4512245 w 7155249"/>
                <a:gd name="connsiteY348" fmla="*/ 5717991 h 6744084"/>
                <a:gd name="connsiteX349" fmla="*/ 4581911 w 7155249"/>
                <a:gd name="connsiteY349" fmla="*/ 5651753 h 6744084"/>
                <a:gd name="connsiteX350" fmla="*/ 4705254 w 7155249"/>
                <a:gd name="connsiteY350" fmla="*/ 5658605 h 6744084"/>
                <a:gd name="connsiteX351" fmla="*/ 4722385 w 7155249"/>
                <a:gd name="connsiteY351" fmla="*/ 5674023 h 6744084"/>
                <a:gd name="connsiteX352" fmla="*/ 4742942 w 7155249"/>
                <a:gd name="connsiteY352" fmla="*/ 5695721 h 6744084"/>
                <a:gd name="connsiteX353" fmla="*/ 4759502 w 7155249"/>
                <a:gd name="connsiteY353" fmla="*/ 5727128 h 6744084"/>
                <a:gd name="connsiteX354" fmla="*/ 4777204 w 7155249"/>
                <a:gd name="connsiteY354" fmla="*/ 5769955 h 6744084"/>
                <a:gd name="connsiteX355" fmla="*/ 4792622 w 7155249"/>
                <a:gd name="connsiteY355" fmla="*/ 5818492 h 6744084"/>
                <a:gd name="connsiteX356" fmla="*/ 4813179 w 7155249"/>
                <a:gd name="connsiteY356" fmla="*/ 6008072 h 6744084"/>
                <a:gd name="connsiteX357" fmla="*/ 4813750 w 7155249"/>
                <a:gd name="connsiteY357" fmla="*/ 6086302 h 6744084"/>
                <a:gd name="connsiteX358" fmla="*/ 4830881 w 7155249"/>
                <a:gd name="connsiteY358" fmla="*/ 6106288 h 6744084"/>
                <a:gd name="connsiteX359" fmla="*/ 4865714 w 7155249"/>
                <a:gd name="connsiteY359" fmla="*/ 6129700 h 6744084"/>
                <a:gd name="connsiteX360" fmla="*/ 4913109 w 7155249"/>
                <a:gd name="connsiteY360" fmla="*/ 6146831 h 6744084"/>
                <a:gd name="connsiteX361" fmla="*/ 5176355 w 7155249"/>
                <a:gd name="connsiteY361" fmla="*/ 6143975 h 6744084"/>
                <a:gd name="connsiteX362" fmla="*/ 5207762 w 7155249"/>
                <a:gd name="connsiteY362" fmla="*/ 6129700 h 6744084"/>
                <a:gd name="connsiteX363" fmla="*/ 5240310 w 7155249"/>
                <a:gd name="connsiteY363" fmla="*/ 6111998 h 6744084"/>
                <a:gd name="connsiteX364" fmla="*/ 5264294 w 7155249"/>
                <a:gd name="connsiteY364" fmla="*/ 6098293 h 6744084"/>
                <a:gd name="connsiteX365" fmla="*/ 5361940 w 7155249"/>
                <a:gd name="connsiteY365" fmla="*/ 5999506 h 6744084"/>
                <a:gd name="connsiteX366" fmla="*/ 5370505 w 7155249"/>
                <a:gd name="connsiteY366" fmla="*/ 5984089 h 6744084"/>
                <a:gd name="connsiteX367" fmla="*/ 5424182 w 7155249"/>
                <a:gd name="connsiteY367" fmla="*/ 5852182 h 6744084"/>
                <a:gd name="connsiteX368" fmla="*/ 5429893 w 7155249"/>
                <a:gd name="connsiteY368" fmla="*/ 5732267 h 6744084"/>
                <a:gd name="connsiteX369" fmla="*/ 5441884 w 7155249"/>
                <a:gd name="connsiteY369" fmla="*/ 5632909 h 6744084"/>
                <a:gd name="connsiteX370" fmla="*/ 5562943 w 7155249"/>
                <a:gd name="connsiteY370" fmla="*/ 5592366 h 6744084"/>
                <a:gd name="connsiteX371" fmla="*/ 5611481 w 7155249"/>
                <a:gd name="connsiteY371" fmla="*/ 5610639 h 6744084"/>
                <a:gd name="connsiteX372" fmla="*/ 5654879 w 7155249"/>
                <a:gd name="connsiteY372" fmla="*/ 5625485 h 6744084"/>
                <a:gd name="connsiteX373" fmla="*/ 5740534 w 7155249"/>
                <a:gd name="connsiteY373" fmla="*/ 5639761 h 6744084"/>
                <a:gd name="connsiteX374" fmla="*/ 5838751 w 7155249"/>
                <a:gd name="connsiteY374" fmla="*/ 5631196 h 6744084"/>
                <a:gd name="connsiteX375" fmla="*/ 5898710 w 7155249"/>
                <a:gd name="connsiteY375" fmla="*/ 5612923 h 6744084"/>
                <a:gd name="connsiteX376" fmla="*/ 5935827 w 7155249"/>
                <a:gd name="connsiteY376" fmla="*/ 5595792 h 6744084"/>
                <a:gd name="connsiteX377" fmla="*/ 5968375 w 7155249"/>
                <a:gd name="connsiteY377" fmla="*/ 5578662 h 6744084"/>
                <a:gd name="connsiteX378" fmla="*/ 5994643 w 7155249"/>
                <a:gd name="connsiteY378" fmla="*/ 5564386 h 6744084"/>
                <a:gd name="connsiteX379" fmla="*/ 6029476 w 7155249"/>
                <a:gd name="connsiteY379" fmla="*/ 5530124 h 6744084"/>
                <a:gd name="connsiteX380" fmla="*/ 6096286 w 7155249"/>
                <a:gd name="connsiteY380" fmla="*/ 5447326 h 6744084"/>
                <a:gd name="connsiteX381" fmla="*/ 6116273 w 7155249"/>
                <a:gd name="connsiteY381" fmla="*/ 5415349 h 6744084"/>
                <a:gd name="connsiteX382" fmla="*/ 6132832 w 7155249"/>
                <a:gd name="connsiteY382" fmla="*/ 5374235 h 6744084"/>
                <a:gd name="connsiteX383" fmla="*/ 6148250 w 7155249"/>
                <a:gd name="connsiteY383" fmla="*/ 5326269 h 6744084"/>
                <a:gd name="connsiteX384" fmla="*/ 6146537 w 7155249"/>
                <a:gd name="connsiteY384" fmla="*/ 5144683 h 6744084"/>
                <a:gd name="connsiteX385" fmla="*/ 6128264 w 7155249"/>
                <a:gd name="connsiteY385" fmla="*/ 5001927 h 6744084"/>
                <a:gd name="connsiteX386" fmla="*/ 6164239 w 7155249"/>
                <a:gd name="connsiteY386" fmla="*/ 4961955 h 6744084"/>
                <a:gd name="connsiteX387" fmla="*/ 6255604 w 7155249"/>
                <a:gd name="connsiteY387" fmla="*/ 4947680 h 6744084"/>
                <a:gd name="connsiteX388" fmla="*/ 6441189 w 7155249"/>
                <a:gd name="connsiteY388" fmla="*/ 4916845 h 6744084"/>
                <a:gd name="connsiteX389" fmla="*/ 6469741 w 7155249"/>
                <a:gd name="connsiteY389" fmla="*/ 4901998 h 6744084"/>
                <a:gd name="connsiteX390" fmla="*/ 6573669 w 7155249"/>
                <a:gd name="connsiteY390" fmla="*/ 4823768 h 6744084"/>
                <a:gd name="connsiteX391" fmla="*/ 6646761 w 7155249"/>
                <a:gd name="connsiteY391" fmla="*/ 4716986 h 6744084"/>
                <a:gd name="connsiteX392" fmla="*/ 6662179 w 7155249"/>
                <a:gd name="connsiteY392" fmla="*/ 4680441 h 6744084"/>
                <a:gd name="connsiteX393" fmla="*/ 6678167 w 7155249"/>
                <a:gd name="connsiteY393" fmla="*/ 4547963 h 6744084"/>
                <a:gd name="connsiteX394" fmla="*/ 6662179 w 7155249"/>
                <a:gd name="connsiteY394" fmla="*/ 4416627 h 6744084"/>
                <a:gd name="connsiteX395" fmla="*/ 6646761 w 7155249"/>
                <a:gd name="connsiteY395" fmla="*/ 4378940 h 6744084"/>
                <a:gd name="connsiteX396" fmla="*/ 6629630 w 7155249"/>
                <a:gd name="connsiteY396" fmla="*/ 4348104 h 6744084"/>
                <a:gd name="connsiteX397" fmla="*/ 6612499 w 7155249"/>
                <a:gd name="connsiteY397" fmla="*/ 4321837 h 6744084"/>
                <a:gd name="connsiteX398" fmla="*/ 6571956 w 7155249"/>
                <a:gd name="connsiteY398" fmla="*/ 4269874 h 6744084"/>
                <a:gd name="connsiteX399" fmla="*/ 6522847 w 7155249"/>
                <a:gd name="connsiteY399" fmla="*/ 4203064 h 6744084"/>
                <a:gd name="connsiteX400" fmla="*/ 6581092 w 7155249"/>
                <a:gd name="connsiteY400" fmla="*/ 4088288 h 6744084"/>
                <a:gd name="connsiteX401" fmla="*/ 6616496 w 7155249"/>
                <a:gd name="connsiteY401" fmla="*/ 4071158 h 6744084"/>
                <a:gd name="connsiteX402" fmla="*/ 6649616 w 7155249"/>
                <a:gd name="connsiteY402" fmla="*/ 4057453 h 6744084"/>
                <a:gd name="connsiteX403" fmla="*/ 6673599 w 7155249"/>
                <a:gd name="connsiteY403" fmla="*/ 4044891 h 6744084"/>
                <a:gd name="connsiteX404" fmla="*/ 6694727 w 7155249"/>
                <a:gd name="connsiteY404" fmla="*/ 4027189 h 6744084"/>
                <a:gd name="connsiteX405" fmla="*/ 6786663 w 7155249"/>
                <a:gd name="connsiteY405" fmla="*/ 3946103 h 6744084"/>
                <a:gd name="connsiteX406" fmla="*/ 6821496 w 7155249"/>
                <a:gd name="connsiteY406" fmla="*/ 3900992 h 6744084"/>
                <a:gd name="connsiteX407" fmla="*/ 6839769 w 7155249"/>
                <a:gd name="connsiteY407" fmla="*/ 3863305 h 6744084"/>
                <a:gd name="connsiteX408" fmla="*/ 6855187 w 7155249"/>
                <a:gd name="connsiteY408" fmla="*/ 3831327 h 6744084"/>
                <a:gd name="connsiteX409" fmla="*/ 6873460 w 7155249"/>
                <a:gd name="connsiteY409" fmla="*/ 3664588 h 6744084"/>
                <a:gd name="connsiteX410" fmla="*/ 6855758 w 7155249"/>
                <a:gd name="connsiteY410" fmla="*/ 3565230 h 6744084"/>
                <a:gd name="connsiteX411" fmla="*/ 6840911 w 7155249"/>
                <a:gd name="connsiteY411" fmla="*/ 3525830 h 6744084"/>
                <a:gd name="connsiteX412" fmla="*/ 6823780 w 7155249"/>
                <a:gd name="connsiteY412" fmla="*/ 3497278 h 6744084"/>
                <a:gd name="connsiteX413" fmla="*/ 6806650 w 7155249"/>
                <a:gd name="connsiteY413" fmla="*/ 3467585 h 6744084"/>
                <a:gd name="connsiteX414" fmla="*/ 6716427 w 7155249"/>
                <a:gd name="connsiteY414" fmla="*/ 3374508 h 6744084"/>
                <a:gd name="connsiteX415" fmla="*/ 6694156 w 7155249"/>
                <a:gd name="connsiteY415" fmla="*/ 3360804 h 6744084"/>
                <a:gd name="connsiteX416" fmla="*/ 6658181 w 7155249"/>
                <a:gd name="connsiteY416" fmla="*/ 3343102 h 6744084"/>
                <a:gd name="connsiteX417" fmla="*/ 6618209 w 7155249"/>
                <a:gd name="connsiteY417" fmla="*/ 3326542 h 6744084"/>
                <a:gd name="connsiteX418" fmla="*/ 6511426 w 7155249"/>
                <a:gd name="connsiteY418" fmla="*/ 3312838 h 6744084"/>
                <a:gd name="connsiteX419" fmla="*/ 6400075 w 7155249"/>
                <a:gd name="connsiteY419" fmla="*/ 3316835 h 6744084"/>
                <a:gd name="connsiteX420" fmla="*/ 6277874 w 7155249"/>
                <a:gd name="connsiteY420" fmla="*/ 3360233 h 6744084"/>
                <a:gd name="connsiteX421" fmla="*/ 6242470 w 7155249"/>
                <a:gd name="connsiteY421" fmla="*/ 3368798 h 6744084"/>
                <a:gd name="connsiteX422" fmla="*/ 6149963 w 7155249"/>
                <a:gd name="connsiteY422" fmla="*/ 3323687 h 6744084"/>
                <a:gd name="connsiteX423" fmla="*/ 6104281 w 7155249"/>
                <a:gd name="connsiteY423" fmla="*/ 3226613 h 6744084"/>
                <a:gd name="connsiteX424" fmla="*/ 6152819 w 7155249"/>
                <a:gd name="connsiteY424" fmla="*/ 3131252 h 6744084"/>
                <a:gd name="connsiteX425" fmla="*/ 6184225 w 7155249"/>
                <a:gd name="connsiteY425" fmla="*/ 3107269 h 6744084"/>
                <a:gd name="connsiteX426" fmla="*/ 6232763 w 7155249"/>
                <a:gd name="connsiteY426" fmla="*/ 3086141 h 6744084"/>
                <a:gd name="connsiteX427" fmla="*/ 6277874 w 7155249"/>
                <a:gd name="connsiteY427" fmla="*/ 3069010 h 6744084"/>
                <a:gd name="connsiteX428" fmla="*/ 6347540 w 7155249"/>
                <a:gd name="connsiteY428" fmla="*/ 3052451 h 6744084"/>
                <a:gd name="connsiteX429" fmla="*/ 6431482 w 7155249"/>
                <a:gd name="connsiteY429" fmla="*/ 3037604 h 6744084"/>
                <a:gd name="connsiteX430" fmla="*/ 6596510 w 7155249"/>
                <a:gd name="connsiteY430" fmla="*/ 3041030 h 6744084"/>
                <a:gd name="connsiteX431" fmla="*/ 6634769 w 7155249"/>
                <a:gd name="connsiteY431" fmla="*/ 3045027 h 6744084"/>
                <a:gd name="connsiteX432" fmla="*/ 6638766 w 7155249"/>
                <a:gd name="connsiteY432" fmla="*/ 3028468 h 6744084"/>
                <a:gd name="connsiteX433" fmla="*/ 6597081 w 7155249"/>
                <a:gd name="connsiteY433" fmla="*/ 2845169 h 6744084"/>
                <a:gd name="connsiteX434" fmla="*/ 6578808 w 7155249"/>
                <a:gd name="connsiteY434" fmla="*/ 2814905 h 6744084"/>
                <a:gd name="connsiteX435" fmla="*/ 6435479 w 7155249"/>
                <a:gd name="connsiteY435" fmla="*/ 2663583 h 6744084"/>
                <a:gd name="connsiteX436" fmla="*/ 6413209 w 7155249"/>
                <a:gd name="connsiteY436" fmla="*/ 2647023 h 6744084"/>
                <a:gd name="connsiteX437" fmla="*/ 6388084 w 7155249"/>
                <a:gd name="connsiteY437" fmla="*/ 2634461 h 6744084"/>
                <a:gd name="connsiteX438" fmla="*/ 6343543 w 7155249"/>
                <a:gd name="connsiteY438" fmla="*/ 2616759 h 6744084"/>
                <a:gd name="connsiteX439" fmla="*/ 6235047 w 7155249"/>
                <a:gd name="connsiteY439" fmla="*/ 2597915 h 6744084"/>
                <a:gd name="connsiteX440" fmla="*/ 2821421 w 7155249"/>
                <a:gd name="connsiteY440" fmla="*/ 2597915 h 6744084"/>
                <a:gd name="connsiteX441" fmla="*/ 2728914 w 7155249"/>
                <a:gd name="connsiteY441" fmla="*/ 2614475 h 6744084"/>
                <a:gd name="connsiteX442" fmla="*/ 2684374 w 7155249"/>
                <a:gd name="connsiteY442" fmla="*/ 2632177 h 6744084"/>
                <a:gd name="connsiteX443" fmla="*/ 2652967 w 7155249"/>
                <a:gd name="connsiteY443" fmla="*/ 2647023 h 6744084"/>
                <a:gd name="connsiteX444" fmla="*/ 2624415 w 7155249"/>
                <a:gd name="connsiteY444" fmla="*/ 2663583 h 6744084"/>
                <a:gd name="connsiteX445" fmla="*/ 2590153 w 7155249"/>
                <a:gd name="connsiteY445" fmla="*/ 2684711 h 6744084"/>
                <a:gd name="connsiteX446" fmla="*/ 2488510 w 7155249"/>
                <a:gd name="connsiteY446" fmla="*/ 2792064 h 6744084"/>
                <a:gd name="connsiteX447" fmla="*/ 2469666 w 7155249"/>
                <a:gd name="connsiteY447" fmla="*/ 2826325 h 6744084"/>
                <a:gd name="connsiteX448" fmla="*/ 2421699 w 7155249"/>
                <a:gd name="connsiteY448" fmla="*/ 3029039 h 6744084"/>
                <a:gd name="connsiteX449" fmla="*/ 2446824 w 7155249"/>
                <a:gd name="connsiteY449" fmla="*/ 3191209 h 6744084"/>
                <a:gd name="connsiteX450" fmla="*/ 2461100 w 7155249"/>
                <a:gd name="connsiteY450" fmla="*/ 3228897 h 6744084"/>
                <a:gd name="connsiteX451" fmla="*/ 2472521 w 7155249"/>
                <a:gd name="connsiteY451" fmla="*/ 3248883 h 6744084"/>
                <a:gd name="connsiteX452" fmla="*/ 2494791 w 7155249"/>
                <a:gd name="connsiteY452" fmla="*/ 3281431 h 6744084"/>
                <a:gd name="connsiteX453" fmla="*/ 2598148 w 7155249"/>
                <a:gd name="connsiteY453" fmla="*/ 3388784 h 6744084"/>
                <a:gd name="connsiteX454" fmla="*/ 2643259 w 7155249"/>
                <a:gd name="connsiteY454" fmla="*/ 3416193 h 6744084"/>
                <a:gd name="connsiteX455" fmla="*/ 2740906 w 7155249"/>
                <a:gd name="connsiteY455" fmla="*/ 3457878 h 6744084"/>
                <a:gd name="connsiteX456" fmla="*/ 2789443 w 7155249"/>
                <a:gd name="connsiteY456" fmla="*/ 3474437 h 6744084"/>
                <a:gd name="connsiteX457" fmla="*/ 3488957 w 7155249"/>
                <a:gd name="connsiteY457" fmla="*/ 3475579 h 6744084"/>
                <a:gd name="connsiteX458" fmla="*/ 4419738 w 7155249"/>
                <a:gd name="connsiteY458" fmla="*/ 3491568 h 6744084"/>
                <a:gd name="connsiteX459" fmla="*/ 4548220 w 7155249"/>
                <a:gd name="connsiteY459" fmla="*/ 3506415 h 6744084"/>
                <a:gd name="connsiteX460" fmla="*/ 4668137 w 7155249"/>
                <a:gd name="connsiteY460" fmla="*/ 3522974 h 6744084"/>
                <a:gd name="connsiteX461" fmla="*/ 4748081 w 7155249"/>
                <a:gd name="connsiteY461" fmla="*/ 3540105 h 6744084"/>
                <a:gd name="connsiteX462" fmla="*/ 4828026 w 7155249"/>
                <a:gd name="connsiteY462" fmla="*/ 3556665 h 6744084"/>
                <a:gd name="connsiteX463" fmla="*/ 4890839 w 7155249"/>
                <a:gd name="connsiteY463" fmla="*/ 3571512 h 6744084"/>
                <a:gd name="connsiteX464" fmla="*/ 4945087 w 7155249"/>
                <a:gd name="connsiteY464" fmla="*/ 3588071 h 6744084"/>
                <a:gd name="connsiteX465" fmla="*/ 4996480 w 7155249"/>
                <a:gd name="connsiteY465" fmla="*/ 3605773 h 6744084"/>
                <a:gd name="connsiteX466" fmla="*/ 5039307 w 7155249"/>
                <a:gd name="connsiteY466" fmla="*/ 3619478 h 6744084"/>
                <a:gd name="connsiteX467" fmla="*/ 5084990 w 7155249"/>
                <a:gd name="connsiteY467" fmla="*/ 3636608 h 6744084"/>
                <a:gd name="connsiteX468" fmla="*/ 5124962 w 7155249"/>
                <a:gd name="connsiteY468" fmla="*/ 3653739 h 6744084"/>
                <a:gd name="connsiteX469" fmla="*/ 5157511 w 7155249"/>
                <a:gd name="connsiteY469" fmla="*/ 3670870 h 6744084"/>
                <a:gd name="connsiteX470" fmla="*/ 5184920 w 7155249"/>
                <a:gd name="connsiteY470" fmla="*/ 3685716 h 6744084"/>
                <a:gd name="connsiteX471" fmla="*/ 5212330 w 7155249"/>
                <a:gd name="connsiteY471" fmla="*/ 3700563 h 6744084"/>
                <a:gd name="connsiteX472" fmla="*/ 5253444 w 7155249"/>
                <a:gd name="connsiteY472" fmla="*/ 3723404 h 6744084"/>
                <a:gd name="connsiteX473" fmla="*/ 5289419 w 7155249"/>
                <a:gd name="connsiteY473" fmla="*/ 3752526 h 6744084"/>
                <a:gd name="connsiteX474" fmla="*/ 5356230 w 7155249"/>
                <a:gd name="connsiteY474" fmla="*/ 3817052 h 6744084"/>
                <a:gd name="connsiteX475" fmla="*/ 5371648 w 7155249"/>
                <a:gd name="connsiteY475" fmla="*/ 3842177 h 6744084"/>
                <a:gd name="connsiteX476" fmla="*/ 5389350 w 7155249"/>
                <a:gd name="connsiteY476" fmla="*/ 3898137 h 6744084"/>
                <a:gd name="connsiteX477" fmla="*/ 5363082 w 7155249"/>
                <a:gd name="connsiteY477" fmla="*/ 3995211 h 6744084"/>
                <a:gd name="connsiteX478" fmla="*/ 5299127 w 7155249"/>
                <a:gd name="connsiteY478" fmla="*/ 4034612 h 6744084"/>
                <a:gd name="connsiteX479" fmla="*/ 5256870 w 7155249"/>
                <a:gd name="connsiteY479" fmla="*/ 4049459 h 6744084"/>
                <a:gd name="connsiteX480" fmla="*/ 5216898 w 7155249"/>
                <a:gd name="connsiteY480" fmla="*/ 4032899 h 6744084"/>
                <a:gd name="connsiteX481" fmla="*/ 5150658 w 7155249"/>
                <a:gd name="connsiteY481" fmla="*/ 3992356 h 6744084"/>
                <a:gd name="connsiteX482" fmla="*/ 5103834 w 7155249"/>
                <a:gd name="connsiteY482" fmla="*/ 3956382 h 6744084"/>
                <a:gd name="connsiteX483" fmla="*/ 5079279 w 7155249"/>
                <a:gd name="connsiteY483" fmla="*/ 3939822 h 6744084"/>
                <a:gd name="connsiteX484" fmla="*/ 5053012 w 7155249"/>
                <a:gd name="connsiteY484" fmla="*/ 3924404 h 6744084"/>
                <a:gd name="connsiteX485" fmla="*/ 5030742 w 7155249"/>
                <a:gd name="connsiteY485" fmla="*/ 3911271 h 6744084"/>
                <a:gd name="connsiteX486" fmla="*/ 5005045 w 7155249"/>
                <a:gd name="connsiteY486" fmla="*/ 3896424 h 6744084"/>
                <a:gd name="connsiteX487" fmla="*/ 4952510 w 7155249"/>
                <a:gd name="connsiteY487" fmla="*/ 3873583 h 6744084"/>
                <a:gd name="connsiteX488" fmla="*/ 4914822 w 7155249"/>
                <a:gd name="connsiteY488" fmla="*/ 3859879 h 6744084"/>
                <a:gd name="connsiteX489" fmla="*/ 4879989 w 7155249"/>
                <a:gd name="connsiteY489" fmla="*/ 3846745 h 6744084"/>
                <a:gd name="connsiteX490" fmla="*/ 4814892 w 7155249"/>
                <a:gd name="connsiteY490" fmla="*/ 3826188 h 6744084"/>
                <a:gd name="connsiteX491" fmla="*/ 4756076 w 7155249"/>
                <a:gd name="connsiteY491" fmla="*/ 3810771 h 6744084"/>
                <a:gd name="connsiteX492" fmla="*/ 4669279 w 7155249"/>
                <a:gd name="connsiteY492" fmla="*/ 3794211 h 6744084"/>
                <a:gd name="connsiteX493" fmla="*/ 4565351 w 7155249"/>
                <a:gd name="connsiteY493" fmla="*/ 3777080 h 6744084"/>
                <a:gd name="connsiteX494" fmla="*/ 4431159 w 7155249"/>
                <a:gd name="connsiteY494" fmla="*/ 3762805 h 6744084"/>
                <a:gd name="connsiteX495" fmla="*/ 4189041 w 7155249"/>
                <a:gd name="connsiteY495" fmla="*/ 3747387 h 6744084"/>
                <a:gd name="connsiteX496" fmla="*/ 3723651 w 7155249"/>
                <a:gd name="connsiteY496" fmla="*/ 3745674 h 6744084"/>
                <a:gd name="connsiteX497" fmla="*/ 2683231 w 7155249"/>
                <a:gd name="connsiteY497" fmla="*/ 3714839 h 6744084"/>
                <a:gd name="connsiteX498" fmla="*/ 2627841 w 7155249"/>
                <a:gd name="connsiteY498" fmla="*/ 3699992 h 6744084"/>
                <a:gd name="connsiteX499" fmla="*/ 2565599 w 7155249"/>
                <a:gd name="connsiteY499" fmla="*/ 3679435 h 6744084"/>
                <a:gd name="connsiteX500" fmla="*/ 2452535 w 7155249"/>
                <a:gd name="connsiteY500" fmla="*/ 3674867 h 6744084"/>
                <a:gd name="connsiteX501" fmla="*/ 2398287 w 7155249"/>
                <a:gd name="connsiteY501" fmla="*/ 3695424 h 6744084"/>
                <a:gd name="connsiteX502" fmla="*/ 2355459 w 7155249"/>
                <a:gd name="connsiteY502" fmla="*/ 3717123 h 6744084"/>
                <a:gd name="connsiteX503" fmla="*/ 2329763 w 7155249"/>
                <a:gd name="connsiteY503" fmla="*/ 3734253 h 6744084"/>
                <a:gd name="connsiteX504" fmla="*/ 2204136 w 7155249"/>
                <a:gd name="connsiteY504" fmla="*/ 3878151 h 6744084"/>
                <a:gd name="connsiteX505" fmla="*/ 2189289 w 7155249"/>
                <a:gd name="connsiteY505" fmla="*/ 3908987 h 6744084"/>
                <a:gd name="connsiteX506" fmla="*/ 2169874 w 7155249"/>
                <a:gd name="connsiteY506" fmla="*/ 3963805 h 6744084"/>
                <a:gd name="connsiteX507" fmla="*/ 2157883 w 7155249"/>
                <a:gd name="connsiteY507" fmla="*/ 4018052 h 6744084"/>
                <a:gd name="connsiteX508" fmla="*/ 2195571 w 7155249"/>
                <a:gd name="connsiteY508" fmla="*/ 4236184 h 6744084"/>
                <a:gd name="connsiteX509" fmla="*/ 2336615 w 7155249"/>
                <a:gd name="connsiteY509" fmla="*/ 4380653 h 6744084"/>
                <a:gd name="connsiteX510" fmla="*/ 2369735 w 7155249"/>
                <a:gd name="connsiteY510" fmla="*/ 4397784 h 6744084"/>
                <a:gd name="connsiteX511" fmla="*/ 2429693 w 7155249"/>
                <a:gd name="connsiteY511" fmla="*/ 4416627 h 6744084"/>
                <a:gd name="connsiteX512" fmla="*/ 2571880 w 7155249"/>
                <a:gd name="connsiteY512" fmla="*/ 4455457 h 6744084"/>
                <a:gd name="connsiteX513" fmla="*/ 2594151 w 7155249"/>
                <a:gd name="connsiteY513" fmla="*/ 4494858 h 6744084"/>
                <a:gd name="connsiteX514" fmla="*/ 2593008 w 7155249"/>
                <a:gd name="connsiteY514" fmla="*/ 4562239 h 6744084"/>
                <a:gd name="connsiteX515" fmla="*/ 2570738 w 7155249"/>
                <a:gd name="connsiteY515" fmla="*/ 4619341 h 6744084"/>
                <a:gd name="connsiteX516" fmla="*/ 2555320 w 7155249"/>
                <a:gd name="connsiteY516" fmla="*/ 4673588 h 6744084"/>
                <a:gd name="connsiteX517" fmla="*/ 2546184 w 7155249"/>
                <a:gd name="connsiteY517" fmla="*/ 4729549 h 6744084"/>
                <a:gd name="connsiteX518" fmla="*/ 2579304 w 7155249"/>
                <a:gd name="connsiteY518" fmla="*/ 4917987 h 6744084"/>
                <a:gd name="connsiteX519" fmla="*/ 2652396 w 7155249"/>
                <a:gd name="connsiteY519" fmla="*/ 5015061 h 6744084"/>
                <a:gd name="connsiteX520" fmla="*/ 2774596 w 7155249"/>
                <a:gd name="connsiteY520" fmla="*/ 5096146 h 6744084"/>
                <a:gd name="connsiteX521" fmla="*/ 2817424 w 7155249"/>
                <a:gd name="connsiteY521" fmla="*/ 5110993 h 6744084"/>
                <a:gd name="connsiteX522" fmla="*/ 2995015 w 7155249"/>
                <a:gd name="connsiteY522" fmla="*/ 5106996 h 6744084"/>
                <a:gd name="connsiteX523" fmla="*/ 3054973 w 7155249"/>
                <a:gd name="connsiteY523" fmla="*/ 5084155 h 6744084"/>
                <a:gd name="connsiteX524" fmla="*/ 3094945 w 7155249"/>
                <a:gd name="connsiteY524" fmla="*/ 5064169 h 6744084"/>
                <a:gd name="connsiteX525" fmla="*/ 3134346 w 7155249"/>
                <a:gd name="connsiteY525" fmla="*/ 5041328 h 6744084"/>
                <a:gd name="connsiteX526" fmla="*/ 3205154 w 7155249"/>
                <a:gd name="connsiteY526" fmla="*/ 5036760 h 6744084"/>
                <a:gd name="connsiteX527" fmla="*/ 3259973 w 7155249"/>
                <a:gd name="connsiteY527" fmla="*/ 5095575 h 6744084"/>
                <a:gd name="connsiteX528" fmla="*/ 3269110 w 7155249"/>
                <a:gd name="connsiteY528" fmla="*/ 5140115 h 6744084"/>
                <a:gd name="connsiteX529" fmla="*/ 3277675 w 7155249"/>
                <a:gd name="connsiteY529" fmla="*/ 5170379 h 6744084"/>
                <a:gd name="connsiteX530" fmla="*/ 3291951 w 7155249"/>
                <a:gd name="connsiteY530" fmla="*/ 5203499 h 6744084"/>
                <a:gd name="connsiteX531" fmla="*/ 3311937 w 7155249"/>
                <a:gd name="connsiteY531" fmla="*/ 5244612 h 6744084"/>
                <a:gd name="connsiteX532" fmla="*/ 3330781 w 7155249"/>
                <a:gd name="connsiteY532" fmla="*/ 5273735 h 6744084"/>
                <a:gd name="connsiteX533" fmla="*/ 3417007 w 7155249"/>
                <a:gd name="connsiteY533" fmla="*/ 5363385 h 6744084"/>
                <a:gd name="connsiteX534" fmla="*/ 3606589 w 7155249"/>
                <a:gd name="connsiteY534" fmla="*/ 5427340 h 6744084"/>
                <a:gd name="connsiteX535" fmla="*/ 3779041 w 7155249"/>
                <a:gd name="connsiteY535" fmla="*/ 5397076 h 6744084"/>
                <a:gd name="connsiteX536" fmla="*/ 3845851 w 7155249"/>
                <a:gd name="connsiteY536" fmla="*/ 5353107 h 6744084"/>
                <a:gd name="connsiteX537" fmla="*/ 3945782 w 7155249"/>
                <a:gd name="connsiteY537" fmla="*/ 5221771 h 6744084"/>
                <a:gd name="connsiteX538" fmla="*/ 3957203 w 7155249"/>
                <a:gd name="connsiteY538" fmla="*/ 5193220 h 6744084"/>
                <a:gd name="connsiteX539" fmla="*/ 3974905 w 7155249"/>
                <a:gd name="connsiteY539" fmla="*/ 5144683 h 6744084"/>
                <a:gd name="connsiteX540" fmla="*/ 3993749 w 7155249"/>
                <a:gd name="connsiteY540" fmla="*/ 5098430 h 6744084"/>
                <a:gd name="connsiteX541" fmla="*/ 4011451 w 7155249"/>
                <a:gd name="connsiteY541" fmla="*/ 5073876 h 6744084"/>
                <a:gd name="connsiteX542" fmla="*/ 4095392 w 7155249"/>
                <a:gd name="connsiteY542" fmla="*/ 5059030 h 6744084"/>
                <a:gd name="connsiteX543" fmla="*/ 4148498 w 7155249"/>
                <a:gd name="connsiteY543" fmla="*/ 5094433 h 6744084"/>
                <a:gd name="connsiteX544" fmla="*/ 4326660 w 7155249"/>
                <a:gd name="connsiteY544" fmla="*/ 5225198 h 6744084"/>
                <a:gd name="connsiteX545" fmla="*/ 4370629 w 7155249"/>
                <a:gd name="connsiteY545" fmla="*/ 5240044 h 6744084"/>
                <a:gd name="connsiteX546" fmla="*/ 4522524 w 7155249"/>
                <a:gd name="connsiteY546" fmla="*/ 5240044 h 6744084"/>
                <a:gd name="connsiteX547" fmla="*/ 4565351 w 7155249"/>
                <a:gd name="connsiteY547" fmla="*/ 5224056 h 6744084"/>
                <a:gd name="connsiteX548" fmla="*/ 4625309 w 7155249"/>
                <a:gd name="connsiteY548" fmla="*/ 5197217 h 6744084"/>
                <a:gd name="connsiteX549" fmla="*/ 4745226 w 7155249"/>
                <a:gd name="connsiteY549" fmla="*/ 5079586 h 6744084"/>
                <a:gd name="connsiteX550" fmla="*/ 4760073 w 7155249"/>
                <a:gd name="connsiteY550" fmla="*/ 5053890 h 6744084"/>
                <a:gd name="connsiteX551" fmla="*/ 4784627 w 7155249"/>
                <a:gd name="connsiteY551" fmla="*/ 4956816 h 6744084"/>
                <a:gd name="connsiteX552" fmla="*/ 4768638 w 7155249"/>
                <a:gd name="connsiteY552" fmla="*/ 4922555 h 6744084"/>
                <a:gd name="connsiteX553" fmla="*/ 4747510 w 7155249"/>
                <a:gd name="connsiteY553" fmla="*/ 4887722 h 6744084"/>
                <a:gd name="connsiteX554" fmla="*/ 4727524 w 7155249"/>
                <a:gd name="connsiteY554" fmla="*/ 4854032 h 6744084"/>
                <a:gd name="connsiteX555" fmla="*/ 4716675 w 7155249"/>
                <a:gd name="connsiteY555" fmla="*/ 4830620 h 6744084"/>
                <a:gd name="connsiteX556" fmla="*/ 4702399 w 7155249"/>
                <a:gd name="connsiteY556" fmla="*/ 4799785 h 6744084"/>
                <a:gd name="connsiteX557" fmla="*/ 4681842 w 7155249"/>
                <a:gd name="connsiteY557" fmla="*/ 4751819 h 6744084"/>
                <a:gd name="connsiteX558" fmla="*/ 4663569 w 7155249"/>
                <a:gd name="connsiteY558" fmla="*/ 4693574 h 6744084"/>
                <a:gd name="connsiteX559" fmla="*/ 4651006 w 7155249"/>
                <a:gd name="connsiteY559" fmla="*/ 4527977 h 6744084"/>
                <a:gd name="connsiteX560" fmla="*/ 4651006 w 7155249"/>
                <a:gd name="connsiteY560" fmla="*/ 4393786 h 6744084"/>
                <a:gd name="connsiteX561" fmla="*/ 4666995 w 7155249"/>
                <a:gd name="connsiteY561" fmla="*/ 4361238 h 6744084"/>
                <a:gd name="connsiteX562" fmla="*/ 4682413 w 7155249"/>
                <a:gd name="connsiteY562" fmla="*/ 4317269 h 6744084"/>
                <a:gd name="connsiteX563" fmla="*/ 4695546 w 7155249"/>
                <a:gd name="connsiteY563" fmla="*/ 4289860 h 6744084"/>
                <a:gd name="connsiteX564" fmla="*/ 4716675 w 7155249"/>
                <a:gd name="connsiteY564" fmla="*/ 4257312 h 6744084"/>
                <a:gd name="connsiteX565" fmla="*/ 4757789 w 7155249"/>
                <a:gd name="connsiteY565" fmla="*/ 4213343 h 6744084"/>
                <a:gd name="connsiteX566" fmla="*/ 4821173 w 7155249"/>
                <a:gd name="connsiteY566" fmla="*/ 4182507 h 6744084"/>
                <a:gd name="connsiteX567" fmla="*/ 4915393 w 7155249"/>
                <a:gd name="connsiteY567" fmla="*/ 4204206 h 6744084"/>
                <a:gd name="connsiteX568" fmla="*/ 4948513 w 7155249"/>
                <a:gd name="connsiteY568" fmla="*/ 4245891 h 6744084"/>
                <a:gd name="connsiteX569" fmla="*/ 4967928 w 7155249"/>
                <a:gd name="connsiteY569" fmla="*/ 4311559 h 6744084"/>
                <a:gd name="connsiteX570" fmla="*/ 4954224 w 7155249"/>
                <a:gd name="connsiteY570" fmla="*/ 4376656 h 6744084"/>
                <a:gd name="connsiteX571" fmla="*/ 4925101 w 7155249"/>
                <a:gd name="connsiteY571" fmla="*/ 4456028 h 6744084"/>
                <a:gd name="connsiteX572" fmla="*/ 4911967 w 7155249"/>
                <a:gd name="connsiteY572" fmla="*/ 4550818 h 6744084"/>
                <a:gd name="connsiteX573" fmla="*/ 4921104 w 7155249"/>
                <a:gd name="connsiteY573" fmla="*/ 4603923 h 6744084"/>
                <a:gd name="connsiteX574" fmla="*/ 4935951 w 7155249"/>
                <a:gd name="connsiteY574" fmla="*/ 4648463 h 6744084"/>
                <a:gd name="connsiteX575" fmla="*/ 4999335 w 7155249"/>
                <a:gd name="connsiteY575" fmla="*/ 4773517 h 6744084"/>
                <a:gd name="connsiteX576" fmla="*/ 5029029 w 7155249"/>
                <a:gd name="connsiteY576" fmla="*/ 4813489 h 6744084"/>
                <a:gd name="connsiteX577" fmla="*/ 5046160 w 7155249"/>
                <a:gd name="connsiteY577" fmla="*/ 4832333 h 6744084"/>
                <a:gd name="connsiteX578" fmla="*/ 5066717 w 7155249"/>
                <a:gd name="connsiteY578" fmla="*/ 4851177 h 6744084"/>
                <a:gd name="connsiteX579" fmla="*/ 5218611 w 7155249"/>
                <a:gd name="connsiteY579" fmla="*/ 4871163 h 6744084"/>
                <a:gd name="connsiteX580" fmla="*/ 5299698 w 7155249"/>
                <a:gd name="connsiteY580" fmla="*/ 4850035 h 6744084"/>
                <a:gd name="connsiteX581" fmla="*/ 5328249 w 7155249"/>
                <a:gd name="connsiteY581" fmla="*/ 4836330 h 6744084"/>
                <a:gd name="connsiteX582" fmla="*/ 5459015 w 7155249"/>
                <a:gd name="connsiteY582" fmla="*/ 4724980 h 6744084"/>
                <a:gd name="connsiteX583" fmla="*/ 5495561 w 7155249"/>
                <a:gd name="connsiteY583" fmla="*/ 4661026 h 6744084"/>
                <a:gd name="connsiteX584" fmla="*/ 5519545 w 7155249"/>
                <a:gd name="connsiteY584" fmla="*/ 4470875 h 6744084"/>
                <a:gd name="connsiteX585" fmla="*/ 5492135 w 7155249"/>
                <a:gd name="connsiteY585" fmla="*/ 4370945 h 6744084"/>
                <a:gd name="connsiteX586" fmla="*/ 5440171 w 7155249"/>
                <a:gd name="connsiteY586" fmla="*/ 4277868 h 6744084"/>
                <a:gd name="connsiteX587" fmla="*/ 5422469 w 7155249"/>
                <a:gd name="connsiteY587" fmla="*/ 4248175 h 6744084"/>
                <a:gd name="connsiteX588" fmla="*/ 5393347 w 7155249"/>
                <a:gd name="connsiteY588" fmla="*/ 4199638 h 6744084"/>
                <a:gd name="connsiteX589" fmla="*/ 5373361 w 7155249"/>
                <a:gd name="connsiteY589" fmla="*/ 4171087 h 6744084"/>
                <a:gd name="connsiteX590" fmla="*/ 5385352 w 7155249"/>
                <a:gd name="connsiteY590" fmla="*/ 4161379 h 6744084"/>
                <a:gd name="connsiteX591" fmla="*/ 5415617 w 7155249"/>
                <a:gd name="connsiteY591" fmla="*/ 4151101 h 6744084"/>
                <a:gd name="connsiteX592" fmla="*/ 5476717 w 7155249"/>
                <a:gd name="connsiteY592" fmla="*/ 4140252 h 6744084"/>
                <a:gd name="connsiteX593" fmla="*/ 5558946 w 7155249"/>
                <a:gd name="connsiteY593" fmla="*/ 4124834 h 6744084"/>
                <a:gd name="connsiteX594" fmla="*/ 5710840 w 7155249"/>
                <a:gd name="connsiteY594" fmla="*/ 4063734 h 6744084"/>
                <a:gd name="connsiteX595" fmla="*/ 5841606 w 7155249"/>
                <a:gd name="connsiteY595" fmla="*/ 3908987 h 6744084"/>
                <a:gd name="connsiteX596" fmla="*/ 5857024 w 7155249"/>
                <a:gd name="connsiteY596" fmla="*/ 3871870 h 6744084"/>
                <a:gd name="connsiteX597" fmla="*/ 5872442 w 7155249"/>
                <a:gd name="connsiteY597" fmla="*/ 3765660 h 6744084"/>
                <a:gd name="connsiteX598" fmla="*/ 5857024 w 7155249"/>
                <a:gd name="connsiteY598" fmla="*/ 3662875 h 6744084"/>
                <a:gd name="connsiteX599" fmla="*/ 5841606 w 7155249"/>
                <a:gd name="connsiteY599" fmla="*/ 3625188 h 6744084"/>
                <a:gd name="connsiteX600" fmla="*/ 5824475 w 7155249"/>
                <a:gd name="connsiteY600" fmla="*/ 3593781 h 6744084"/>
                <a:gd name="connsiteX601" fmla="*/ 5791927 w 7155249"/>
                <a:gd name="connsiteY601" fmla="*/ 3549813 h 6744084"/>
                <a:gd name="connsiteX602" fmla="*/ 5661160 w 7155249"/>
                <a:gd name="connsiteY602" fmla="*/ 3437321 h 6744084"/>
                <a:gd name="connsiteX603" fmla="*/ 5646885 w 7155249"/>
                <a:gd name="connsiteY603" fmla="*/ 3427613 h 6744084"/>
                <a:gd name="connsiteX604" fmla="*/ 5615478 w 7155249"/>
                <a:gd name="connsiteY604" fmla="*/ 3407628 h 6744084"/>
                <a:gd name="connsiteX605" fmla="*/ 5585213 w 7155249"/>
                <a:gd name="connsiteY605" fmla="*/ 3389355 h 6744084"/>
                <a:gd name="connsiteX606" fmla="*/ 5560088 w 7155249"/>
                <a:gd name="connsiteY606" fmla="*/ 3377363 h 6744084"/>
                <a:gd name="connsiteX607" fmla="*/ 5518974 w 7155249"/>
                <a:gd name="connsiteY607" fmla="*/ 3360233 h 6744084"/>
                <a:gd name="connsiteX608" fmla="*/ 5476146 w 7155249"/>
                <a:gd name="connsiteY608" fmla="*/ 3343102 h 6744084"/>
                <a:gd name="connsiteX609" fmla="*/ 5439029 w 7155249"/>
                <a:gd name="connsiteY609" fmla="*/ 3328826 h 6744084"/>
                <a:gd name="connsiteX610" fmla="*/ 5384781 w 7155249"/>
                <a:gd name="connsiteY610" fmla="*/ 3311696 h 6744084"/>
                <a:gd name="connsiteX611" fmla="*/ 5324252 w 7155249"/>
                <a:gd name="connsiteY611" fmla="*/ 3294565 h 6744084"/>
                <a:gd name="connsiteX612" fmla="*/ 5251731 w 7155249"/>
                <a:gd name="connsiteY612" fmla="*/ 3277434 h 6744084"/>
                <a:gd name="connsiteX613" fmla="*/ 5180923 w 7155249"/>
                <a:gd name="connsiteY613" fmla="*/ 3263729 h 6744084"/>
                <a:gd name="connsiteX614" fmla="*/ 5050157 w 7155249"/>
                <a:gd name="connsiteY614" fmla="*/ 3243173 h 6744084"/>
                <a:gd name="connsiteX615" fmla="*/ 4940519 w 7155249"/>
                <a:gd name="connsiteY615" fmla="*/ 3222616 h 6744084"/>
                <a:gd name="connsiteX616" fmla="*/ 4871424 w 7155249"/>
                <a:gd name="connsiteY616" fmla="*/ 3179218 h 6744084"/>
                <a:gd name="connsiteX617" fmla="*/ 4844015 w 7155249"/>
                <a:gd name="connsiteY617" fmla="*/ 3077005 h 6744084"/>
                <a:gd name="connsiteX618" fmla="*/ 4861716 w 7155249"/>
                <a:gd name="connsiteY618" fmla="*/ 3025612 h 6744084"/>
                <a:gd name="connsiteX619" fmla="*/ 4876563 w 7155249"/>
                <a:gd name="connsiteY619" fmla="*/ 3003913 h 6744084"/>
                <a:gd name="connsiteX620" fmla="*/ 4906828 w 7155249"/>
                <a:gd name="connsiteY620" fmla="*/ 2979930 h 6744084"/>
                <a:gd name="connsiteX621" fmla="*/ 4987914 w 7155249"/>
                <a:gd name="connsiteY621" fmla="*/ 2961658 h 6744084"/>
                <a:gd name="connsiteX622" fmla="*/ 5096410 w 7155249"/>
                <a:gd name="connsiteY622" fmla="*/ 2973649 h 6744084"/>
                <a:gd name="connsiteX623" fmla="*/ 5193486 w 7155249"/>
                <a:gd name="connsiteY623" fmla="*/ 2989067 h 6744084"/>
                <a:gd name="connsiteX624" fmla="*/ 5273430 w 7155249"/>
                <a:gd name="connsiteY624" fmla="*/ 3006198 h 6744084"/>
                <a:gd name="connsiteX625" fmla="*/ 5352232 w 7155249"/>
                <a:gd name="connsiteY625" fmla="*/ 3023328 h 6744084"/>
                <a:gd name="connsiteX626" fmla="*/ 5431035 w 7155249"/>
                <a:gd name="connsiteY626" fmla="*/ 3041030 h 6744084"/>
                <a:gd name="connsiteX627" fmla="*/ 5480715 w 7155249"/>
                <a:gd name="connsiteY627" fmla="*/ 3054735 h 6744084"/>
                <a:gd name="connsiteX628" fmla="*/ 5517832 w 7155249"/>
                <a:gd name="connsiteY628" fmla="*/ 3068439 h 6744084"/>
                <a:gd name="connsiteX629" fmla="*/ 5565798 w 7155249"/>
                <a:gd name="connsiteY629" fmla="*/ 3086712 h 6744084"/>
                <a:gd name="connsiteX630" fmla="*/ 5614336 w 7155249"/>
                <a:gd name="connsiteY630" fmla="*/ 3103843 h 6744084"/>
                <a:gd name="connsiteX631" fmla="*/ 5651453 w 7155249"/>
                <a:gd name="connsiteY631" fmla="*/ 3117547 h 6744084"/>
                <a:gd name="connsiteX632" fmla="*/ 5681718 w 7155249"/>
                <a:gd name="connsiteY632" fmla="*/ 3128968 h 6744084"/>
                <a:gd name="connsiteX633" fmla="*/ 5721690 w 7155249"/>
                <a:gd name="connsiteY633" fmla="*/ 3149525 h 6744084"/>
                <a:gd name="connsiteX634" fmla="*/ 5757665 w 7155249"/>
                <a:gd name="connsiteY634" fmla="*/ 3172366 h 6744084"/>
                <a:gd name="connsiteX635" fmla="*/ 5781077 w 7155249"/>
                <a:gd name="connsiteY635" fmla="*/ 3186070 h 6744084"/>
                <a:gd name="connsiteX636" fmla="*/ 5805060 w 7155249"/>
                <a:gd name="connsiteY636" fmla="*/ 3199204 h 6744084"/>
                <a:gd name="connsiteX637" fmla="*/ 5839893 w 7155249"/>
                <a:gd name="connsiteY637" fmla="*/ 3220332 h 6744084"/>
                <a:gd name="connsiteX638" fmla="*/ 6011774 w 7155249"/>
                <a:gd name="connsiteY638" fmla="*/ 3381360 h 6744084"/>
                <a:gd name="connsiteX639" fmla="*/ 6038612 w 7155249"/>
                <a:gd name="connsiteY639" fmla="*/ 3420190 h 6744084"/>
                <a:gd name="connsiteX640" fmla="*/ 6096286 w 7155249"/>
                <a:gd name="connsiteY640" fmla="*/ 3537250 h 6744084"/>
                <a:gd name="connsiteX641" fmla="*/ 6110562 w 7155249"/>
                <a:gd name="connsiteY641" fmla="*/ 3572083 h 6744084"/>
                <a:gd name="connsiteX642" fmla="*/ 6137972 w 7155249"/>
                <a:gd name="connsiteY642" fmla="*/ 3771370 h 6744084"/>
                <a:gd name="connsiteX643" fmla="*/ 6110562 w 7155249"/>
                <a:gd name="connsiteY643" fmla="*/ 3962663 h 6744084"/>
                <a:gd name="connsiteX644" fmla="*/ 6098571 w 7155249"/>
                <a:gd name="connsiteY644" fmla="*/ 3996353 h 6744084"/>
                <a:gd name="connsiteX645" fmla="*/ 6046036 w 7155249"/>
                <a:gd name="connsiteY645" fmla="*/ 4103135 h 6744084"/>
                <a:gd name="connsiteX646" fmla="*/ 6033473 w 7155249"/>
                <a:gd name="connsiteY646" fmla="*/ 4123121 h 6744084"/>
                <a:gd name="connsiteX647" fmla="*/ 5998640 w 7155249"/>
                <a:gd name="connsiteY647" fmla="*/ 4171658 h 6744084"/>
                <a:gd name="connsiteX648" fmla="*/ 5904420 w 7155249"/>
                <a:gd name="connsiteY648" fmla="*/ 4265306 h 6744084"/>
                <a:gd name="connsiteX649" fmla="*/ 5830757 w 7155249"/>
                <a:gd name="connsiteY649" fmla="*/ 4312701 h 6744084"/>
                <a:gd name="connsiteX650" fmla="*/ 5778222 w 7155249"/>
                <a:gd name="connsiteY650" fmla="*/ 4357812 h 6744084"/>
                <a:gd name="connsiteX651" fmla="*/ 5784503 w 7155249"/>
                <a:gd name="connsiteY651" fmla="*/ 4403494 h 6744084"/>
                <a:gd name="connsiteX652" fmla="*/ 5787358 w 7155249"/>
                <a:gd name="connsiteY652" fmla="*/ 4623338 h 6744084"/>
                <a:gd name="connsiteX653" fmla="*/ 5773654 w 7155249"/>
                <a:gd name="connsiteY653" fmla="*/ 4679869 h 6744084"/>
                <a:gd name="connsiteX654" fmla="*/ 5757094 w 7155249"/>
                <a:gd name="connsiteY654" fmla="*/ 4739827 h 6744084"/>
                <a:gd name="connsiteX655" fmla="*/ 5741676 w 7155249"/>
                <a:gd name="connsiteY655" fmla="*/ 4779228 h 6744084"/>
                <a:gd name="connsiteX656" fmla="*/ 5723974 w 7155249"/>
                <a:gd name="connsiteY656" fmla="*/ 4809492 h 6744084"/>
                <a:gd name="connsiteX657" fmla="*/ 5710269 w 7155249"/>
                <a:gd name="connsiteY657" fmla="*/ 4831762 h 6744084"/>
                <a:gd name="connsiteX658" fmla="*/ 5661732 w 7155249"/>
                <a:gd name="connsiteY658" fmla="*/ 4908850 h 6744084"/>
                <a:gd name="connsiteX659" fmla="*/ 5532678 w 7155249"/>
                <a:gd name="connsiteY659" fmla="*/ 5030478 h 6744084"/>
                <a:gd name="connsiteX660" fmla="*/ 5516119 w 7155249"/>
                <a:gd name="connsiteY660" fmla="*/ 5042470 h 6744084"/>
                <a:gd name="connsiteX661" fmla="*/ 5495561 w 7155249"/>
                <a:gd name="connsiteY661" fmla="*/ 5056174 h 6744084"/>
                <a:gd name="connsiteX662" fmla="*/ 5457873 w 7155249"/>
                <a:gd name="connsiteY662" fmla="*/ 5079015 h 6744084"/>
                <a:gd name="connsiteX663" fmla="*/ 5431606 w 7155249"/>
                <a:gd name="connsiteY663" fmla="*/ 5093291 h 6744084"/>
                <a:gd name="connsiteX664" fmla="*/ 5399628 w 7155249"/>
                <a:gd name="connsiteY664" fmla="*/ 5105282 h 6744084"/>
                <a:gd name="connsiteX665" fmla="*/ 5345951 w 7155249"/>
                <a:gd name="connsiteY665" fmla="*/ 5122413 h 6744084"/>
                <a:gd name="connsiteX666" fmla="*/ 5296271 w 7155249"/>
                <a:gd name="connsiteY666" fmla="*/ 5137831 h 6744084"/>
                <a:gd name="connsiteX667" fmla="*/ 5072998 w 7155249"/>
                <a:gd name="connsiteY667" fmla="*/ 5144683 h 6744084"/>
                <a:gd name="connsiteX668" fmla="*/ 5027887 w 7155249"/>
                <a:gd name="connsiteY668" fmla="*/ 5146967 h 6744084"/>
                <a:gd name="connsiteX669" fmla="*/ 5001048 w 7155249"/>
                <a:gd name="connsiteY669" fmla="*/ 5185226 h 6744084"/>
                <a:gd name="connsiteX670" fmla="*/ 4984488 w 7155249"/>
                <a:gd name="connsiteY670" fmla="*/ 5213206 h 6744084"/>
                <a:gd name="connsiteX671" fmla="*/ 4970783 w 7155249"/>
                <a:gd name="connsiteY671" fmla="*/ 5230908 h 6744084"/>
                <a:gd name="connsiteX672" fmla="*/ 4953082 w 7155249"/>
                <a:gd name="connsiteY672" fmla="*/ 5257746 h 6744084"/>
                <a:gd name="connsiteX673" fmla="*/ 4931953 w 7155249"/>
                <a:gd name="connsiteY673" fmla="*/ 5287439 h 6744084"/>
                <a:gd name="connsiteX674" fmla="*/ 4785198 w 7155249"/>
                <a:gd name="connsiteY674" fmla="*/ 5418775 h 6744084"/>
                <a:gd name="connsiteX675" fmla="*/ 4739516 w 7155249"/>
                <a:gd name="connsiteY675" fmla="*/ 5442187 h 6744084"/>
                <a:gd name="connsiteX676" fmla="*/ 4700686 w 7155249"/>
                <a:gd name="connsiteY676" fmla="*/ 5465028 h 6744084"/>
                <a:gd name="connsiteX677" fmla="*/ 4663569 w 7155249"/>
                <a:gd name="connsiteY677" fmla="*/ 5478732 h 6744084"/>
                <a:gd name="connsiteX678" fmla="*/ 4617315 w 7155249"/>
                <a:gd name="connsiteY678" fmla="*/ 5494150 h 6744084"/>
                <a:gd name="connsiteX679" fmla="*/ 4282691 w 7155249"/>
                <a:gd name="connsiteY679" fmla="*/ 5495863 h 6744084"/>
                <a:gd name="connsiteX680" fmla="*/ 4227301 w 7155249"/>
                <a:gd name="connsiteY680" fmla="*/ 5478732 h 6744084"/>
                <a:gd name="connsiteX681" fmla="*/ 4185044 w 7155249"/>
                <a:gd name="connsiteY681" fmla="*/ 5461031 h 6744084"/>
                <a:gd name="connsiteX682" fmla="*/ 4122231 w 7155249"/>
                <a:gd name="connsiteY682" fmla="*/ 5454749 h 6744084"/>
                <a:gd name="connsiteX683" fmla="*/ 4102245 w 7155249"/>
                <a:gd name="connsiteY683" fmla="*/ 5479303 h 6744084"/>
                <a:gd name="connsiteX684" fmla="*/ 4015448 w 7155249"/>
                <a:gd name="connsiteY684" fmla="*/ 5560389 h 6744084"/>
                <a:gd name="connsiteX685" fmla="*/ 3981757 w 7155249"/>
                <a:gd name="connsiteY685" fmla="*/ 5588940 h 6744084"/>
                <a:gd name="connsiteX686" fmla="*/ 3908094 w 7155249"/>
                <a:gd name="connsiteY686" fmla="*/ 5631767 h 6744084"/>
                <a:gd name="connsiteX687" fmla="*/ 3857272 w 7155249"/>
                <a:gd name="connsiteY687" fmla="*/ 5656321 h 6744084"/>
                <a:gd name="connsiteX688" fmla="*/ 3800169 w 7155249"/>
                <a:gd name="connsiteY688" fmla="*/ 5675736 h 6744084"/>
                <a:gd name="connsiteX689" fmla="*/ 3723080 w 7155249"/>
                <a:gd name="connsiteY689" fmla="*/ 5694008 h 6744084"/>
                <a:gd name="connsiteX690" fmla="*/ 3588887 w 7155249"/>
                <a:gd name="connsiteY690" fmla="*/ 5702003 h 6744084"/>
                <a:gd name="connsiteX691" fmla="*/ 3490670 w 7155249"/>
                <a:gd name="connsiteY691" fmla="*/ 5690011 h 6744084"/>
                <a:gd name="connsiteX692" fmla="*/ 3438135 w 7155249"/>
                <a:gd name="connsiteY692" fmla="*/ 5672880 h 6744084"/>
                <a:gd name="connsiteX693" fmla="*/ 3376464 w 7155249"/>
                <a:gd name="connsiteY693" fmla="*/ 5652895 h 6744084"/>
                <a:gd name="connsiteX694" fmla="*/ 3348483 w 7155249"/>
                <a:gd name="connsiteY694" fmla="*/ 5641474 h 6744084"/>
                <a:gd name="connsiteX695" fmla="*/ 3320503 w 7155249"/>
                <a:gd name="connsiteY695" fmla="*/ 5624343 h 6744084"/>
                <a:gd name="connsiteX696" fmla="*/ 3291380 w 7155249"/>
                <a:gd name="connsiteY696" fmla="*/ 5607213 h 6744084"/>
                <a:gd name="connsiteX697" fmla="*/ 3272536 w 7155249"/>
                <a:gd name="connsiteY697" fmla="*/ 5596363 h 6744084"/>
                <a:gd name="connsiteX698" fmla="*/ 3244555 w 7155249"/>
                <a:gd name="connsiteY698" fmla="*/ 5576377 h 6744084"/>
                <a:gd name="connsiteX699" fmla="*/ 3105224 w 7155249"/>
                <a:gd name="connsiteY699" fmla="*/ 5431337 h 6744084"/>
                <a:gd name="connsiteX700" fmla="*/ 3084667 w 7155249"/>
                <a:gd name="connsiteY700" fmla="*/ 5401644 h 6744084"/>
                <a:gd name="connsiteX701" fmla="*/ 3067536 w 7155249"/>
                <a:gd name="connsiteY701" fmla="*/ 5382229 h 6744084"/>
                <a:gd name="connsiteX702" fmla="*/ 2914499 w 7155249"/>
                <a:gd name="connsiteY702" fmla="*/ 5381658 h 6744084"/>
                <a:gd name="connsiteX703" fmla="*/ 2732911 w 7155249"/>
                <a:gd name="connsiteY703" fmla="*/ 5368525 h 6744084"/>
                <a:gd name="connsiteX704" fmla="*/ 2682660 w 7155249"/>
                <a:gd name="connsiteY704" fmla="*/ 5351965 h 6744084"/>
                <a:gd name="connsiteX705" fmla="*/ 2640404 w 7155249"/>
                <a:gd name="connsiteY705" fmla="*/ 5334834 h 6744084"/>
                <a:gd name="connsiteX706" fmla="*/ 2602145 w 7155249"/>
                <a:gd name="connsiteY706" fmla="*/ 5312564 h 6744084"/>
                <a:gd name="connsiteX707" fmla="*/ 2458245 w 7155249"/>
                <a:gd name="connsiteY707" fmla="*/ 5203499 h 6744084"/>
                <a:gd name="connsiteX708" fmla="*/ 2368593 w 7155249"/>
                <a:gd name="connsiteY708" fmla="*/ 5092149 h 6744084"/>
                <a:gd name="connsiteX709" fmla="*/ 2348036 w 7155249"/>
                <a:gd name="connsiteY709" fmla="*/ 5062456 h 6744084"/>
                <a:gd name="connsiteX710" fmla="*/ 2332618 w 7155249"/>
                <a:gd name="connsiteY710" fmla="*/ 5030478 h 6744084"/>
                <a:gd name="connsiteX711" fmla="*/ 2317771 w 7155249"/>
                <a:gd name="connsiteY711" fmla="*/ 4990507 h 6744084"/>
                <a:gd name="connsiteX712" fmla="*/ 2292075 w 7155249"/>
                <a:gd name="connsiteY712" fmla="*/ 4919129 h 6744084"/>
                <a:gd name="connsiteX713" fmla="*/ 2273802 w 7155249"/>
                <a:gd name="connsiteY713" fmla="*/ 4763239 h 6744084"/>
                <a:gd name="connsiteX714" fmla="*/ 2233259 w 7155249"/>
                <a:gd name="connsiteY714" fmla="*/ 4636472 h 6744084"/>
                <a:gd name="connsiteX715" fmla="*/ 2203565 w 7155249"/>
                <a:gd name="connsiteY715" fmla="*/ 4621625 h 6744084"/>
                <a:gd name="connsiteX716" fmla="*/ 2176727 w 7155249"/>
                <a:gd name="connsiteY716" fmla="*/ 4604494 h 6744084"/>
                <a:gd name="connsiteX717" fmla="*/ 2007130 w 7155249"/>
                <a:gd name="connsiteY717" fmla="*/ 4451460 h 6744084"/>
                <a:gd name="connsiteX718" fmla="*/ 1952882 w 7155249"/>
                <a:gd name="connsiteY718" fmla="*/ 4362380 h 6744084"/>
                <a:gd name="connsiteX719" fmla="*/ 1932896 w 7155249"/>
                <a:gd name="connsiteY719" fmla="*/ 4319553 h 6744084"/>
                <a:gd name="connsiteX720" fmla="*/ 1915194 w 7155249"/>
                <a:gd name="connsiteY720" fmla="*/ 4265306 h 6744084"/>
                <a:gd name="connsiteX721" fmla="*/ 1899205 w 7155249"/>
                <a:gd name="connsiteY721" fmla="*/ 4211059 h 6744084"/>
                <a:gd name="connsiteX722" fmla="*/ 1887214 w 7155249"/>
                <a:gd name="connsiteY722" fmla="*/ 4071158 h 6744084"/>
                <a:gd name="connsiteX723" fmla="*/ 1896921 w 7155249"/>
                <a:gd name="connsiteY723" fmla="*/ 3941535 h 6744084"/>
                <a:gd name="connsiteX724" fmla="*/ 1912910 w 7155249"/>
                <a:gd name="connsiteY724" fmla="*/ 3881578 h 6744084"/>
                <a:gd name="connsiteX725" fmla="*/ 1970013 w 7155249"/>
                <a:gd name="connsiteY725" fmla="*/ 3739964 h 6744084"/>
                <a:gd name="connsiteX726" fmla="*/ 1982576 w 7155249"/>
                <a:gd name="connsiteY726" fmla="*/ 3716552 h 6744084"/>
                <a:gd name="connsiteX727" fmla="*/ 2153314 w 7155249"/>
                <a:gd name="connsiteY727" fmla="*/ 3525830 h 6744084"/>
                <a:gd name="connsiteX728" fmla="*/ 2215557 w 7155249"/>
                <a:gd name="connsiteY728" fmla="*/ 3462446 h 6744084"/>
                <a:gd name="connsiteX729" fmla="*/ 2127047 w 7155249"/>
                <a:gd name="connsiteY729" fmla="*/ 3369369 h 6744084"/>
                <a:gd name="connsiteX730" fmla="*/ 2067088 w 7155249"/>
                <a:gd name="connsiteY730" fmla="*/ 3339105 h 6744084"/>
                <a:gd name="connsiteX731" fmla="*/ 1893495 w 7155249"/>
                <a:gd name="connsiteY731" fmla="*/ 3312838 h 6744084"/>
                <a:gd name="connsiteX732" fmla="*/ 1724470 w 7155249"/>
                <a:gd name="connsiteY732" fmla="*/ 3354522 h 6744084"/>
                <a:gd name="connsiteX733" fmla="*/ 1690208 w 7155249"/>
                <a:gd name="connsiteY733" fmla="*/ 3373937 h 6744084"/>
                <a:gd name="connsiteX734" fmla="*/ 1590277 w 7155249"/>
                <a:gd name="connsiteY734" fmla="*/ 3467014 h 6744084"/>
                <a:gd name="connsiteX735" fmla="*/ 1525180 w 7155249"/>
                <a:gd name="connsiteY735" fmla="*/ 3609199 h 6744084"/>
                <a:gd name="connsiteX736" fmla="*/ 1474929 w 7155249"/>
                <a:gd name="connsiteY736" fmla="*/ 3718265 h 6744084"/>
                <a:gd name="connsiteX737" fmla="*/ 1391558 w 7155249"/>
                <a:gd name="connsiteY737" fmla="*/ 3751384 h 6744084"/>
                <a:gd name="connsiteX738" fmla="*/ 1345305 w 7155249"/>
                <a:gd name="connsiteY738" fmla="*/ 3742819 h 6744084"/>
                <a:gd name="connsiteX739" fmla="*/ 1177422 w 7155249"/>
                <a:gd name="connsiteY739" fmla="*/ 3745103 h 6744084"/>
                <a:gd name="connsiteX740" fmla="*/ 1119176 w 7155249"/>
                <a:gd name="connsiteY740" fmla="*/ 3762805 h 6744084"/>
                <a:gd name="connsiteX741" fmla="*/ 1084914 w 7155249"/>
                <a:gd name="connsiteY741" fmla="*/ 3777080 h 6744084"/>
                <a:gd name="connsiteX742" fmla="*/ 1053508 w 7155249"/>
                <a:gd name="connsiteY742" fmla="*/ 3796495 h 6744084"/>
                <a:gd name="connsiteX743" fmla="*/ 933591 w 7155249"/>
                <a:gd name="connsiteY743" fmla="*/ 3904419 h 6744084"/>
                <a:gd name="connsiteX744" fmla="*/ 913605 w 7155249"/>
                <a:gd name="connsiteY744" fmla="*/ 3936967 h 6744084"/>
                <a:gd name="connsiteX745" fmla="*/ 899900 w 7155249"/>
                <a:gd name="connsiteY745" fmla="*/ 3959808 h 6744084"/>
                <a:gd name="connsiteX746" fmla="*/ 882769 w 7155249"/>
                <a:gd name="connsiteY746" fmla="*/ 3996353 h 6744084"/>
                <a:gd name="connsiteX747" fmla="*/ 867922 w 7155249"/>
                <a:gd name="connsiteY747" fmla="*/ 4043177 h 6744084"/>
                <a:gd name="connsiteX748" fmla="*/ 874775 w 7155249"/>
                <a:gd name="connsiteY748" fmla="*/ 4243036 h 6744084"/>
                <a:gd name="connsiteX749" fmla="*/ 903326 w 7155249"/>
                <a:gd name="connsiteY749" fmla="*/ 4316127 h 6744084"/>
                <a:gd name="connsiteX750" fmla="*/ 913605 w 7155249"/>
                <a:gd name="connsiteY750" fmla="*/ 4335542 h 6744084"/>
                <a:gd name="connsiteX751" fmla="*/ 1055792 w 7155249"/>
                <a:gd name="connsiteY751" fmla="*/ 4479440 h 6744084"/>
                <a:gd name="connsiteX752" fmla="*/ 1088912 w 7155249"/>
                <a:gd name="connsiteY752" fmla="*/ 4497142 h 6744084"/>
                <a:gd name="connsiteX753" fmla="*/ 1124316 w 7155249"/>
                <a:gd name="connsiteY753" fmla="*/ 4510846 h 6744084"/>
                <a:gd name="connsiteX754" fmla="*/ 1172853 w 7155249"/>
                <a:gd name="connsiteY754" fmla="*/ 4518841 h 6744084"/>
                <a:gd name="connsiteX755" fmla="*/ 1261363 w 7155249"/>
                <a:gd name="connsiteY755" fmla="*/ 4518841 h 6744084"/>
                <a:gd name="connsiteX756" fmla="*/ 1339023 w 7155249"/>
                <a:gd name="connsiteY756" fmla="*/ 4502281 h 6744084"/>
                <a:gd name="connsiteX757" fmla="*/ 1439525 w 7155249"/>
                <a:gd name="connsiteY757" fmla="*/ 4501710 h 6744084"/>
                <a:gd name="connsiteX758" fmla="*/ 1509191 w 7155249"/>
                <a:gd name="connsiteY758" fmla="*/ 4569091 h 6744084"/>
                <a:gd name="connsiteX759" fmla="*/ 1524609 w 7155249"/>
                <a:gd name="connsiteY759" fmla="*/ 4629048 h 6744084"/>
                <a:gd name="connsiteX760" fmla="*/ 1501767 w 7155249"/>
                <a:gd name="connsiteY760" fmla="*/ 4698142 h 6744084"/>
                <a:gd name="connsiteX761" fmla="*/ 1472074 w 7155249"/>
                <a:gd name="connsiteY761" fmla="*/ 4733546 h 6744084"/>
                <a:gd name="connsiteX762" fmla="*/ 1445235 w 7155249"/>
                <a:gd name="connsiteY762" fmla="*/ 4747821 h 6744084"/>
                <a:gd name="connsiteX763" fmla="*/ 1343021 w 7155249"/>
                <a:gd name="connsiteY763" fmla="*/ 4779228 h 6744084"/>
                <a:gd name="connsiteX764" fmla="*/ 1139162 w 7155249"/>
                <a:gd name="connsiteY764" fmla="*/ 4787222 h 6744084"/>
                <a:gd name="connsiteX765" fmla="*/ 1059218 w 7155249"/>
                <a:gd name="connsiteY765" fmla="*/ 4771233 h 6744084"/>
                <a:gd name="connsiteX766" fmla="*/ 991265 w 7155249"/>
                <a:gd name="connsiteY766" fmla="*/ 4748963 h 6744084"/>
                <a:gd name="connsiteX767" fmla="*/ 950151 w 7155249"/>
                <a:gd name="connsiteY767" fmla="*/ 4733546 h 6744084"/>
                <a:gd name="connsiteX768" fmla="*/ 920457 w 7155249"/>
                <a:gd name="connsiteY768" fmla="*/ 4719270 h 6744084"/>
                <a:gd name="connsiteX769" fmla="*/ 897616 w 7155249"/>
                <a:gd name="connsiteY769" fmla="*/ 4704995 h 6744084"/>
                <a:gd name="connsiteX770" fmla="*/ 874775 w 7155249"/>
                <a:gd name="connsiteY770" fmla="*/ 4690719 h 6744084"/>
                <a:gd name="connsiteX771" fmla="*/ 805680 w 7155249"/>
                <a:gd name="connsiteY771" fmla="*/ 4659313 h 6744084"/>
                <a:gd name="connsiteX772" fmla="*/ 722309 w 7155249"/>
                <a:gd name="connsiteY772" fmla="*/ 4756387 h 6744084"/>
                <a:gd name="connsiteX773" fmla="*/ 705178 w 7155249"/>
                <a:gd name="connsiteY773" fmla="*/ 4784938 h 6744084"/>
                <a:gd name="connsiteX774" fmla="*/ 658354 w 7155249"/>
                <a:gd name="connsiteY774" fmla="*/ 4917416 h 6744084"/>
                <a:gd name="connsiteX775" fmla="*/ 657212 w 7155249"/>
                <a:gd name="connsiteY775" fmla="*/ 5027623 h 6744084"/>
                <a:gd name="connsiteX776" fmla="*/ 716599 w 7155249"/>
                <a:gd name="connsiteY776" fmla="*/ 5212635 h 6744084"/>
                <a:gd name="connsiteX777" fmla="*/ 886195 w 7155249"/>
                <a:gd name="connsiteY777" fmla="*/ 5352536 h 6744084"/>
                <a:gd name="connsiteX778" fmla="*/ 930736 w 7155249"/>
                <a:gd name="connsiteY778" fmla="*/ 5369096 h 6744084"/>
                <a:gd name="connsiteX779" fmla="*/ 1042087 w 7155249"/>
                <a:gd name="connsiteY779" fmla="*/ 5381658 h 6744084"/>
                <a:gd name="connsiteX780" fmla="*/ 1179706 w 7155249"/>
                <a:gd name="connsiteY780" fmla="*/ 5432479 h 6744084"/>
                <a:gd name="connsiteX781" fmla="*/ 1193410 w 7155249"/>
                <a:gd name="connsiteY781" fmla="*/ 5462173 h 6744084"/>
                <a:gd name="connsiteX782" fmla="*/ 1176850 w 7155249"/>
                <a:gd name="connsiteY782" fmla="*/ 5518704 h 6744084"/>
                <a:gd name="connsiteX783" fmla="*/ 1151154 w 7155249"/>
                <a:gd name="connsiteY783" fmla="*/ 5598647 h 6744084"/>
                <a:gd name="connsiteX784" fmla="*/ 1142018 w 7155249"/>
                <a:gd name="connsiteY784" fmla="*/ 5702003 h 6744084"/>
                <a:gd name="connsiteX785" fmla="*/ 1155722 w 7155249"/>
                <a:gd name="connsiteY785" fmla="*/ 5808213 h 6744084"/>
                <a:gd name="connsiteX786" fmla="*/ 1173424 w 7155249"/>
                <a:gd name="connsiteY786" fmla="*/ 5847614 h 6744084"/>
                <a:gd name="connsiteX787" fmla="*/ 1248800 w 7155249"/>
                <a:gd name="connsiteY787" fmla="*/ 5936123 h 6744084"/>
                <a:gd name="connsiteX788" fmla="*/ 1426391 w 7155249"/>
                <a:gd name="connsiteY788" fmla="*/ 6043475 h 6744084"/>
                <a:gd name="connsiteX789" fmla="*/ 1655375 w 7155249"/>
                <a:gd name="connsiteY789" fmla="*/ 6040620 h 6744084"/>
                <a:gd name="connsiteX790" fmla="*/ 1741601 w 7155249"/>
                <a:gd name="connsiteY790" fmla="*/ 5998364 h 6744084"/>
                <a:gd name="connsiteX791" fmla="*/ 1830110 w 7155249"/>
                <a:gd name="connsiteY791" fmla="*/ 5957251 h 6744084"/>
                <a:gd name="connsiteX792" fmla="*/ 1880361 w 7155249"/>
                <a:gd name="connsiteY792" fmla="*/ 5963532 h 6744084"/>
                <a:gd name="connsiteX793" fmla="*/ 1923189 w 7155249"/>
                <a:gd name="connsiteY793" fmla="*/ 6011498 h 6744084"/>
                <a:gd name="connsiteX794" fmla="*/ 1944888 w 7155249"/>
                <a:gd name="connsiteY794" fmla="*/ 6076595 h 6744084"/>
                <a:gd name="connsiteX795" fmla="*/ 1962019 w 7155249"/>
                <a:gd name="connsiteY795" fmla="*/ 6121705 h 6744084"/>
                <a:gd name="connsiteX796" fmla="*/ 1975723 w 7155249"/>
                <a:gd name="connsiteY796" fmla="*/ 6149686 h 6744084"/>
                <a:gd name="connsiteX797" fmla="*/ 1992854 w 7155249"/>
                <a:gd name="connsiteY797" fmla="*/ 6184518 h 6744084"/>
                <a:gd name="connsiteX798" fmla="*/ 2009985 w 7155249"/>
                <a:gd name="connsiteY798" fmla="*/ 6215924 h 6744084"/>
                <a:gd name="connsiteX799" fmla="*/ 2160738 w 7155249"/>
                <a:gd name="connsiteY799" fmla="*/ 6355254 h 6744084"/>
                <a:gd name="connsiteX800" fmla="*/ 2186434 w 7155249"/>
                <a:gd name="connsiteY800" fmla="*/ 6368959 h 6744084"/>
                <a:gd name="connsiteX801" fmla="*/ 2470237 w 7155249"/>
                <a:gd name="connsiteY801" fmla="*/ 6371814 h 6744084"/>
                <a:gd name="connsiteX802" fmla="*/ 2510209 w 7155249"/>
                <a:gd name="connsiteY802" fmla="*/ 6355254 h 6744084"/>
                <a:gd name="connsiteX803" fmla="*/ 2619847 w 7155249"/>
                <a:gd name="connsiteY803" fmla="*/ 6271314 h 6744084"/>
                <a:gd name="connsiteX804" fmla="*/ 2654109 w 7155249"/>
                <a:gd name="connsiteY804" fmla="*/ 6217638 h 6744084"/>
                <a:gd name="connsiteX805" fmla="*/ 2635265 w 7155249"/>
                <a:gd name="connsiteY805" fmla="*/ 6193083 h 6744084"/>
                <a:gd name="connsiteX806" fmla="*/ 2569596 w 7155249"/>
                <a:gd name="connsiteY806" fmla="*/ 6162248 h 6744084"/>
                <a:gd name="connsiteX807" fmla="*/ 2485655 w 7155249"/>
                <a:gd name="connsiteY807" fmla="*/ 6108572 h 6744084"/>
                <a:gd name="connsiteX808" fmla="*/ 2459958 w 7155249"/>
                <a:gd name="connsiteY808" fmla="*/ 6092583 h 6744084"/>
                <a:gd name="connsiteX809" fmla="*/ 2365738 w 7155249"/>
                <a:gd name="connsiteY809" fmla="*/ 5992654 h 6744084"/>
                <a:gd name="connsiteX810" fmla="*/ 2346894 w 7155249"/>
                <a:gd name="connsiteY810" fmla="*/ 5965816 h 6744084"/>
                <a:gd name="connsiteX811" fmla="*/ 2331476 w 7155249"/>
                <a:gd name="connsiteY811" fmla="*/ 5847043 h 6744084"/>
                <a:gd name="connsiteX812" fmla="*/ 2414847 w 7155249"/>
                <a:gd name="connsiteY812" fmla="*/ 5765957 h 6744084"/>
                <a:gd name="connsiteX813" fmla="*/ 2481086 w 7155249"/>
                <a:gd name="connsiteY813" fmla="*/ 5761389 h 6744084"/>
                <a:gd name="connsiteX814" fmla="*/ 2569596 w 7155249"/>
                <a:gd name="connsiteY814" fmla="*/ 5816208 h 6744084"/>
                <a:gd name="connsiteX815" fmla="*/ 2676950 w 7155249"/>
                <a:gd name="connsiteY815" fmla="*/ 5913853 h 6744084"/>
                <a:gd name="connsiteX816" fmla="*/ 2823705 w 7155249"/>
                <a:gd name="connsiteY816" fmla="*/ 5961819 h 6744084"/>
                <a:gd name="connsiteX817" fmla="*/ 2945906 w 7155249"/>
                <a:gd name="connsiteY817" fmla="*/ 5950969 h 6744084"/>
                <a:gd name="connsiteX818" fmla="*/ 2991017 w 7155249"/>
                <a:gd name="connsiteY818" fmla="*/ 5935552 h 6744084"/>
                <a:gd name="connsiteX819" fmla="*/ 3035558 w 7155249"/>
                <a:gd name="connsiteY819" fmla="*/ 5914995 h 6744084"/>
                <a:gd name="connsiteX820" fmla="*/ 3061825 w 7155249"/>
                <a:gd name="connsiteY820" fmla="*/ 5898435 h 6744084"/>
                <a:gd name="connsiteX821" fmla="*/ 3084667 w 7155249"/>
                <a:gd name="connsiteY821" fmla="*/ 5884159 h 6744084"/>
                <a:gd name="connsiteX822" fmla="*/ 3152048 w 7155249"/>
                <a:gd name="connsiteY822" fmla="*/ 5869884 h 6744084"/>
                <a:gd name="connsiteX823" fmla="*/ 3218859 w 7155249"/>
                <a:gd name="connsiteY823" fmla="*/ 5883588 h 6744084"/>
                <a:gd name="connsiteX824" fmla="*/ 3246839 w 7155249"/>
                <a:gd name="connsiteY824" fmla="*/ 5903003 h 6744084"/>
                <a:gd name="connsiteX825" fmla="*/ 3263399 w 7155249"/>
                <a:gd name="connsiteY825" fmla="*/ 5925273 h 6744084"/>
                <a:gd name="connsiteX826" fmla="*/ 3278246 w 7155249"/>
                <a:gd name="connsiteY826" fmla="*/ 5965245 h 6744084"/>
                <a:gd name="connsiteX827" fmla="*/ 3274820 w 7155249"/>
                <a:gd name="connsiteY827" fmla="*/ 6044046 h 6744084"/>
                <a:gd name="connsiteX828" fmla="*/ 3163469 w 7155249"/>
                <a:gd name="connsiteY828" fmla="*/ 6154254 h 6744084"/>
                <a:gd name="connsiteX829" fmla="*/ 3123497 w 7155249"/>
                <a:gd name="connsiteY829" fmla="*/ 6177095 h 6744084"/>
                <a:gd name="connsiteX830" fmla="*/ 3092090 w 7155249"/>
                <a:gd name="connsiteY830" fmla="*/ 6189657 h 6744084"/>
                <a:gd name="connsiteX831" fmla="*/ 3050976 w 7155249"/>
                <a:gd name="connsiteY831" fmla="*/ 6203933 h 6744084"/>
                <a:gd name="connsiteX832" fmla="*/ 2969318 w 7155249"/>
                <a:gd name="connsiteY832" fmla="*/ 6223348 h 6744084"/>
                <a:gd name="connsiteX833" fmla="*/ 2912215 w 7155249"/>
                <a:gd name="connsiteY833" fmla="*/ 6232484 h 6744084"/>
                <a:gd name="connsiteX834" fmla="*/ 2922494 w 7155249"/>
                <a:gd name="connsiteY834" fmla="*/ 6293584 h 6744084"/>
                <a:gd name="connsiteX835" fmla="*/ 3016714 w 7155249"/>
                <a:gd name="connsiteY835" fmla="*/ 6390087 h 6744084"/>
                <a:gd name="connsiteX836" fmla="*/ 3037842 w 7155249"/>
                <a:gd name="connsiteY836" fmla="*/ 6406647 h 6744084"/>
                <a:gd name="connsiteX837" fmla="*/ 3050976 w 7155249"/>
                <a:gd name="connsiteY837" fmla="*/ 6415212 h 6744084"/>
                <a:gd name="connsiteX838" fmla="*/ 3083524 w 7155249"/>
                <a:gd name="connsiteY838" fmla="*/ 6432343 h 6744084"/>
                <a:gd name="connsiteX839" fmla="*/ 3137772 w 7155249"/>
                <a:gd name="connsiteY839" fmla="*/ 6451757 h 6744084"/>
                <a:gd name="connsiteX840" fmla="*/ 3189165 w 7155249"/>
                <a:gd name="connsiteY840" fmla="*/ 6463178 h 6744084"/>
                <a:gd name="connsiteX841" fmla="*/ 3332494 w 7155249"/>
                <a:gd name="connsiteY841" fmla="*/ 6457468 h 6744084"/>
                <a:gd name="connsiteX842" fmla="*/ 537295 w 7155249"/>
                <a:gd name="connsiteY842" fmla="*/ 4534829 h 6744084"/>
                <a:gd name="connsiteX843" fmla="*/ 593827 w 7155249"/>
                <a:gd name="connsiteY843" fmla="*/ 4480582 h 6744084"/>
                <a:gd name="connsiteX844" fmla="*/ 641223 w 7155249"/>
                <a:gd name="connsiteY844" fmla="*/ 4430332 h 6744084"/>
                <a:gd name="connsiteX845" fmla="*/ 634371 w 7155249"/>
                <a:gd name="connsiteY845" fmla="*/ 4392073 h 6744084"/>
                <a:gd name="connsiteX846" fmla="*/ 613813 w 7155249"/>
                <a:gd name="connsiteY846" fmla="*/ 4325263 h 6744084"/>
                <a:gd name="connsiteX847" fmla="*/ 593827 w 7155249"/>
                <a:gd name="connsiteY847" fmla="*/ 4060879 h 6744084"/>
                <a:gd name="connsiteX848" fmla="*/ 611529 w 7155249"/>
                <a:gd name="connsiteY848" fmla="*/ 3958095 h 6744084"/>
                <a:gd name="connsiteX849" fmla="*/ 629231 w 7155249"/>
                <a:gd name="connsiteY849" fmla="*/ 3912413 h 6744084"/>
                <a:gd name="connsiteX850" fmla="*/ 645220 w 7155249"/>
                <a:gd name="connsiteY850" fmla="*/ 3871299 h 6744084"/>
                <a:gd name="connsiteX851" fmla="*/ 661209 w 7155249"/>
                <a:gd name="connsiteY851" fmla="*/ 3835896 h 6744084"/>
                <a:gd name="connsiteX852" fmla="*/ 709747 w 7155249"/>
                <a:gd name="connsiteY852" fmla="*/ 3760520 h 6744084"/>
                <a:gd name="connsiteX853" fmla="*/ 725165 w 7155249"/>
                <a:gd name="connsiteY853" fmla="*/ 3735966 h 6744084"/>
                <a:gd name="connsiteX854" fmla="*/ 738298 w 7155249"/>
                <a:gd name="connsiteY854" fmla="*/ 3717123 h 6744084"/>
                <a:gd name="connsiteX855" fmla="*/ 759426 w 7155249"/>
                <a:gd name="connsiteY855" fmla="*/ 3690856 h 6744084"/>
                <a:gd name="connsiteX856" fmla="*/ 904468 w 7155249"/>
                <a:gd name="connsiteY856" fmla="*/ 3568656 h 6744084"/>
                <a:gd name="connsiteX857" fmla="*/ 919315 w 7155249"/>
                <a:gd name="connsiteY857" fmla="*/ 3560662 h 6744084"/>
                <a:gd name="connsiteX858" fmla="*/ 952435 w 7155249"/>
                <a:gd name="connsiteY858" fmla="*/ 3542389 h 6744084"/>
                <a:gd name="connsiteX859" fmla="*/ 990694 w 7155249"/>
                <a:gd name="connsiteY859" fmla="*/ 3522974 h 6744084"/>
                <a:gd name="connsiteX860" fmla="*/ 1233383 w 7155249"/>
                <a:gd name="connsiteY860" fmla="*/ 3465872 h 6744084"/>
                <a:gd name="connsiteX861" fmla="*/ 1304190 w 7155249"/>
                <a:gd name="connsiteY861" fmla="*/ 3421903 h 6744084"/>
                <a:gd name="connsiteX862" fmla="*/ 1355012 w 7155249"/>
                <a:gd name="connsiteY862" fmla="*/ 3336250 h 6744084"/>
                <a:gd name="connsiteX863" fmla="*/ 1370430 w 7155249"/>
                <a:gd name="connsiteY863" fmla="*/ 3309411 h 6744084"/>
                <a:gd name="connsiteX864" fmla="*/ 1496057 w 7155249"/>
                <a:gd name="connsiteY864" fmla="*/ 3178647 h 6744084"/>
                <a:gd name="connsiteX865" fmla="*/ 1533174 w 7155249"/>
                <a:gd name="connsiteY865" fmla="*/ 3152380 h 6744084"/>
                <a:gd name="connsiteX866" fmla="*/ 1577715 w 7155249"/>
                <a:gd name="connsiteY866" fmla="*/ 3123258 h 6744084"/>
                <a:gd name="connsiteX867" fmla="*/ 1599414 w 7155249"/>
                <a:gd name="connsiteY867" fmla="*/ 3111266 h 6744084"/>
                <a:gd name="connsiteX868" fmla="*/ 1594845 w 7155249"/>
                <a:gd name="connsiteY868" fmla="*/ 3070152 h 6744084"/>
                <a:gd name="connsiteX869" fmla="*/ 1591990 w 7155249"/>
                <a:gd name="connsiteY869" fmla="*/ 2917118 h 6744084"/>
                <a:gd name="connsiteX870" fmla="*/ 1584567 w 7155249"/>
                <a:gd name="connsiteY870" fmla="*/ 2797774 h 6744084"/>
                <a:gd name="connsiteX871" fmla="*/ 1496057 w 7155249"/>
                <a:gd name="connsiteY871" fmla="*/ 2793777 h 6744084"/>
                <a:gd name="connsiteX872" fmla="*/ 1394984 w 7155249"/>
                <a:gd name="connsiteY872" fmla="*/ 2808623 h 6744084"/>
                <a:gd name="connsiteX873" fmla="*/ 1353299 w 7155249"/>
                <a:gd name="connsiteY873" fmla="*/ 2829180 h 6744084"/>
                <a:gd name="connsiteX874" fmla="*/ 1170569 w 7155249"/>
                <a:gd name="connsiteY874" fmla="*/ 2994777 h 6744084"/>
                <a:gd name="connsiteX875" fmla="*/ 1079204 w 7155249"/>
                <a:gd name="connsiteY875" fmla="*/ 3085570 h 6744084"/>
                <a:gd name="connsiteX876" fmla="*/ 1039232 w 7155249"/>
                <a:gd name="connsiteY876" fmla="*/ 3070723 h 6744084"/>
                <a:gd name="connsiteX877" fmla="*/ 862783 w 7155249"/>
                <a:gd name="connsiteY877" fmla="*/ 3031894 h 6744084"/>
                <a:gd name="connsiteX878" fmla="*/ 785123 w 7155249"/>
                <a:gd name="connsiteY878" fmla="*/ 3043885 h 6744084"/>
                <a:gd name="connsiteX879" fmla="*/ 633800 w 7155249"/>
                <a:gd name="connsiteY879" fmla="*/ 3108982 h 6744084"/>
                <a:gd name="connsiteX880" fmla="*/ 532727 w 7155249"/>
                <a:gd name="connsiteY880" fmla="*/ 3214621 h 6744084"/>
                <a:gd name="connsiteX881" fmla="*/ 510457 w 7155249"/>
                <a:gd name="connsiteY881" fmla="*/ 3250596 h 6744084"/>
                <a:gd name="connsiteX882" fmla="*/ 496752 w 7155249"/>
                <a:gd name="connsiteY882" fmla="*/ 3279147 h 6744084"/>
                <a:gd name="connsiteX883" fmla="*/ 481905 w 7155249"/>
                <a:gd name="connsiteY883" fmla="*/ 3323116 h 6744084"/>
                <a:gd name="connsiteX884" fmla="*/ 466487 w 7155249"/>
                <a:gd name="connsiteY884" fmla="*/ 3437321 h 6744084"/>
                <a:gd name="connsiteX885" fmla="*/ 480763 w 7155249"/>
                <a:gd name="connsiteY885" fmla="*/ 3551526 h 6744084"/>
                <a:gd name="connsiteX886" fmla="*/ 499036 w 7155249"/>
                <a:gd name="connsiteY886" fmla="*/ 3599492 h 6744084"/>
                <a:gd name="connsiteX887" fmla="*/ 513312 w 7155249"/>
                <a:gd name="connsiteY887" fmla="*/ 3630898 h 6744084"/>
                <a:gd name="connsiteX888" fmla="*/ 528159 w 7155249"/>
                <a:gd name="connsiteY888" fmla="*/ 3660020 h 6744084"/>
                <a:gd name="connsiteX889" fmla="*/ 546432 w 7155249"/>
                <a:gd name="connsiteY889" fmla="*/ 3695424 h 6744084"/>
                <a:gd name="connsiteX890" fmla="*/ 561279 w 7155249"/>
                <a:gd name="connsiteY890" fmla="*/ 3735395 h 6744084"/>
                <a:gd name="connsiteX891" fmla="*/ 544719 w 7155249"/>
                <a:gd name="connsiteY891" fmla="*/ 3762805 h 6744084"/>
                <a:gd name="connsiteX892" fmla="*/ 511028 w 7155249"/>
                <a:gd name="connsiteY892" fmla="*/ 3784504 h 6744084"/>
                <a:gd name="connsiteX893" fmla="*/ 487615 w 7155249"/>
                <a:gd name="connsiteY893" fmla="*/ 3797066 h 6744084"/>
                <a:gd name="connsiteX894" fmla="*/ 468771 w 7155249"/>
                <a:gd name="connsiteY894" fmla="*/ 3807915 h 6744084"/>
                <a:gd name="connsiteX895" fmla="*/ 438507 w 7155249"/>
                <a:gd name="connsiteY895" fmla="*/ 3829043 h 6744084"/>
                <a:gd name="connsiteX896" fmla="*/ 302601 w 7155249"/>
                <a:gd name="connsiteY896" fmla="*/ 3995211 h 6744084"/>
                <a:gd name="connsiteX897" fmla="*/ 287183 w 7155249"/>
                <a:gd name="connsiteY897" fmla="*/ 4026618 h 6744084"/>
                <a:gd name="connsiteX898" fmla="*/ 285470 w 7155249"/>
                <a:gd name="connsiteY898" fmla="*/ 4286434 h 6744084"/>
                <a:gd name="connsiteX899" fmla="*/ 303172 w 7155249"/>
                <a:gd name="connsiteY899" fmla="*/ 4329261 h 6744084"/>
                <a:gd name="connsiteX900" fmla="*/ 322587 w 7155249"/>
                <a:gd name="connsiteY900" fmla="*/ 4369232 h 6744084"/>
                <a:gd name="connsiteX901" fmla="*/ 339718 w 7155249"/>
                <a:gd name="connsiteY901" fmla="*/ 4396642 h 6744084"/>
                <a:gd name="connsiteX902" fmla="*/ 348855 w 7155249"/>
                <a:gd name="connsiteY902" fmla="*/ 4408062 h 6744084"/>
                <a:gd name="connsiteX903" fmla="*/ 364273 w 7155249"/>
                <a:gd name="connsiteY903" fmla="*/ 4424622 h 6744084"/>
                <a:gd name="connsiteX904" fmla="*/ 399677 w 7155249"/>
                <a:gd name="connsiteY904" fmla="*/ 4461738 h 6744084"/>
                <a:gd name="connsiteX905" fmla="*/ 441362 w 7155249"/>
                <a:gd name="connsiteY905" fmla="*/ 4496571 h 6744084"/>
                <a:gd name="connsiteX906" fmla="*/ 464203 w 7155249"/>
                <a:gd name="connsiteY906" fmla="*/ 4510846 h 6744084"/>
                <a:gd name="connsiteX907" fmla="*/ 491042 w 7155249"/>
                <a:gd name="connsiteY907" fmla="*/ 4525122 h 6744084"/>
                <a:gd name="connsiteX908" fmla="*/ 537295 w 7155249"/>
                <a:gd name="connsiteY908" fmla="*/ 4534829 h 6744084"/>
                <a:gd name="connsiteX909" fmla="*/ 2134470 w 7155249"/>
                <a:gd name="connsiteY909" fmla="*/ 3065013 h 6744084"/>
                <a:gd name="connsiteX910" fmla="*/ 2141323 w 7155249"/>
                <a:gd name="connsiteY910" fmla="*/ 3029610 h 6744084"/>
                <a:gd name="connsiteX911" fmla="*/ 2149317 w 7155249"/>
                <a:gd name="connsiteY911" fmla="*/ 2960516 h 6744084"/>
                <a:gd name="connsiteX912" fmla="*/ 2189289 w 7155249"/>
                <a:gd name="connsiteY912" fmla="*/ 2792635 h 6744084"/>
                <a:gd name="connsiteX913" fmla="*/ 2204136 w 7155249"/>
                <a:gd name="connsiteY913" fmla="*/ 2754947 h 6744084"/>
                <a:gd name="connsiteX914" fmla="*/ 2250390 w 7155249"/>
                <a:gd name="connsiteY914" fmla="*/ 2666438 h 6744084"/>
                <a:gd name="connsiteX915" fmla="*/ 2269805 w 7155249"/>
                <a:gd name="connsiteY915" fmla="*/ 2632748 h 6744084"/>
                <a:gd name="connsiteX916" fmla="*/ 2354317 w 7155249"/>
                <a:gd name="connsiteY916" fmla="*/ 2535103 h 6744084"/>
                <a:gd name="connsiteX917" fmla="*/ 2470808 w 7155249"/>
                <a:gd name="connsiteY917" fmla="*/ 2438029 h 6744084"/>
                <a:gd name="connsiteX918" fmla="*/ 2489652 w 7155249"/>
                <a:gd name="connsiteY918" fmla="*/ 2424324 h 6744084"/>
                <a:gd name="connsiteX919" fmla="*/ 2518774 w 7155249"/>
                <a:gd name="connsiteY919" fmla="*/ 2406622 h 6744084"/>
                <a:gd name="connsiteX920" fmla="*/ 2547897 w 7155249"/>
                <a:gd name="connsiteY920" fmla="*/ 2392347 h 6744084"/>
                <a:gd name="connsiteX921" fmla="*/ 2585585 w 7155249"/>
                <a:gd name="connsiteY921" fmla="*/ 2375787 h 6744084"/>
                <a:gd name="connsiteX922" fmla="*/ 2628412 w 7155249"/>
                <a:gd name="connsiteY922" fmla="*/ 2358085 h 6744084"/>
                <a:gd name="connsiteX923" fmla="*/ 2683802 w 7155249"/>
                <a:gd name="connsiteY923" fmla="*/ 2343239 h 6744084"/>
                <a:gd name="connsiteX924" fmla="*/ 2758037 w 7155249"/>
                <a:gd name="connsiteY924" fmla="*/ 2328392 h 6744084"/>
                <a:gd name="connsiteX925" fmla="*/ 3086380 w 7155249"/>
                <a:gd name="connsiteY925" fmla="*/ 2318113 h 6744084"/>
                <a:gd name="connsiteX926" fmla="*/ 3385029 w 7155249"/>
                <a:gd name="connsiteY926" fmla="*/ 2311261 h 6744084"/>
                <a:gd name="connsiteX927" fmla="*/ 3379890 w 7155249"/>
                <a:gd name="connsiteY927" fmla="*/ 2243880 h 6744084"/>
                <a:gd name="connsiteX928" fmla="*/ 3365043 w 7155249"/>
                <a:gd name="connsiteY928" fmla="*/ 2119968 h 6744084"/>
                <a:gd name="connsiteX929" fmla="*/ 3357049 w 7155249"/>
                <a:gd name="connsiteY929" fmla="*/ 2025749 h 6744084"/>
                <a:gd name="connsiteX930" fmla="*/ 3016714 w 7155249"/>
                <a:gd name="connsiteY930" fmla="*/ 2018326 h 6744084"/>
                <a:gd name="connsiteX931" fmla="*/ 2643259 w 7155249"/>
                <a:gd name="connsiteY931" fmla="*/ 2031459 h 6744084"/>
                <a:gd name="connsiteX932" fmla="*/ 2560460 w 7155249"/>
                <a:gd name="connsiteY932" fmla="*/ 2049732 h 6744084"/>
                <a:gd name="connsiteX933" fmla="*/ 2501072 w 7155249"/>
                <a:gd name="connsiteY933" fmla="*/ 2066292 h 6744084"/>
                <a:gd name="connsiteX934" fmla="*/ 2466811 w 7155249"/>
                <a:gd name="connsiteY934" fmla="*/ 2081138 h 6744084"/>
                <a:gd name="connsiteX935" fmla="*/ 2423983 w 7155249"/>
                <a:gd name="connsiteY935" fmla="*/ 2098269 h 6744084"/>
                <a:gd name="connsiteX936" fmla="*/ 2386295 w 7155249"/>
                <a:gd name="connsiteY936" fmla="*/ 2114829 h 6744084"/>
                <a:gd name="connsiteX937" fmla="*/ 2299498 w 7155249"/>
                <a:gd name="connsiteY937" fmla="*/ 2166792 h 6744084"/>
                <a:gd name="connsiteX938" fmla="*/ 2286936 w 7155249"/>
                <a:gd name="connsiteY938" fmla="*/ 2175357 h 6744084"/>
                <a:gd name="connsiteX939" fmla="*/ 2262952 w 7155249"/>
                <a:gd name="connsiteY939" fmla="*/ 2189062 h 6744084"/>
                <a:gd name="connsiteX940" fmla="*/ 2229832 w 7155249"/>
                <a:gd name="connsiteY940" fmla="*/ 2211332 h 6744084"/>
                <a:gd name="connsiteX941" fmla="*/ 2059665 w 7155249"/>
                <a:gd name="connsiteY941" fmla="*/ 2379213 h 6744084"/>
                <a:gd name="connsiteX942" fmla="*/ 2010556 w 7155249"/>
                <a:gd name="connsiteY942" fmla="*/ 2452304 h 6744084"/>
                <a:gd name="connsiteX943" fmla="*/ 1993425 w 7155249"/>
                <a:gd name="connsiteY943" fmla="*/ 2474574 h 6744084"/>
                <a:gd name="connsiteX944" fmla="*/ 1981434 w 7155249"/>
                <a:gd name="connsiteY944" fmla="*/ 2492276 h 6744084"/>
                <a:gd name="connsiteX945" fmla="*/ 1964874 w 7155249"/>
                <a:gd name="connsiteY945" fmla="*/ 2524253 h 6744084"/>
                <a:gd name="connsiteX946" fmla="*/ 1944888 w 7155249"/>
                <a:gd name="connsiteY946" fmla="*/ 2569935 h 6744084"/>
                <a:gd name="connsiteX947" fmla="*/ 1930041 w 7155249"/>
                <a:gd name="connsiteY947" fmla="*/ 2605339 h 6744084"/>
                <a:gd name="connsiteX948" fmla="*/ 1915194 w 7155249"/>
                <a:gd name="connsiteY948" fmla="*/ 2639029 h 6744084"/>
                <a:gd name="connsiteX949" fmla="*/ 1900918 w 7155249"/>
                <a:gd name="connsiteY949" fmla="*/ 2675575 h 6744084"/>
                <a:gd name="connsiteX950" fmla="*/ 1881503 w 7155249"/>
                <a:gd name="connsiteY950" fmla="*/ 2752663 h 6744084"/>
                <a:gd name="connsiteX951" fmla="*/ 1864372 w 7155249"/>
                <a:gd name="connsiteY951" fmla="*/ 2836603 h 6744084"/>
                <a:gd name="connsiteX952" fmla="*/ 1855236 w 7155249"/>
                <a:gd name="connsiteY952" fmla="*/ 3019331 h 6744084"/>
                <a:gd name="connsiteX953" fmla="*/ 1898634 w 7155249"/>
                <a:gd name="connsiteY953" fmla="*/ 3031894 h 6744084"/>
                <a:gd name="connsiteX954" fmla="*/ 1968300 w 7155249"/>
                <a:gd name="connsiteY954" fmla="*/ 3040459 h 6744084"/>
                <a:gd name="connsiteX955" fmla="*/ 2051671 w 7155249"/>
                <a:gd name="connsiteY955" fmla="*/ 3054164 h 6744084"/>
                <a:gd name="connsiteX956" fmla="*/ 2108774 w 7155249"/>
                <a:gd name="connsiteY956" fmla="*/ 3065584 h 6744084"/>
                <a:gd name="connsiteX957" fmla="*/ 2134470 w 7155249"/>
                <a:gd name="connsiteY957" fmla="*/ 3065013 h 6744084"/>
                <a:gd name="connsiteX958" fmla="*/ 4190754 w 7155249"/>
                <a:gd name="connsiteY958" fmla="*/ 2312974 h 6744084"/>
                <a:gd name="connsiteX959" fmla="*/ 4183331 w 7155249"/>
                <a:gd name="connsiteY959" fmla="*/ 2258727 h 6744084"/>
                <a:gd name="connsiteX960" fmla="*/ 4168484 w 7155249"/>
                <a:gd name="connsiteY960" fmla="*/ 2226750 h 6744084"/>
                <a:gd name="connsiteX961" fmla="*/ 4153066 w 7155249"/>
                <a:gd name="connsiteY961" fmla="*/ 2177642 h 6744084"/>
                <a:gd name="connsiteX962" fmla="*/ 4137077 w 7155249"/>
                <a:gd name="connsiteY962" fmla="*/ 2015471 h 6744084"/>
                <a:gd name="connsiteX963" fmla="*/ 4149640 w 7155249"/>
                <a:gd name="connsiteY963" fmla="*/ 1868717 h 6744084"/>
                <a:gd name="connsiteX964" fmla="*/ 4168484 w 7155249"/>
                <a:gd name="connsiteY964" fmla="*/ 1809331 h 6744084"/>
                <a:gd name="connsiteX965" fmla="*/ 4182760 w 7155249"/>
                <a:gd name="connsiteY965" fmla="*/ 1761936 h 6744084"/>
                <a:gd name="connsiteX966" fmla="*/ 4199320 w 7155249"/>
                <a:gd name="connsiteY966" fmla="*/ 1717967 h 6744084"/>
                <a:gd name="connsiteX967" fmla="*/ 4217593 w 7155249"/>
                <a:gd name="connsiteY967" fmla="*/ 1677995 h 6744084"/>
                <a:gd name="connsiteX968" fmla="*/ 4235295 w 7155249"/>
                <a:gd name="connsiteY968" fmla="*/ 1648873 h 6744084"/>
                <a:gd name="connsiteX969" fmla="*/ 4248429 w 7155249"/>
                <a:gd name="connsiteY969" fmla="*/ 1627174 h 6744084"/>
                <a:gd name="connsiteX970" fmla="*/ 4264989 w 7155249"/>
                <a:gd name="connsiteY970" fmla="*/ 1600336 h 6744084"/>
                <a:gd name="connsiteX971" fmla="*/ 4291827 w 7155249"/>
                <a:gd name="connsiteY971" fmla="*/ 1552941 h 6744084"/>
                <a:gd name="connsiteX972" fmla="*/ 4408889 w 7155249"/>
                <a:gd name="connsiteY972" fmla="*/ 1421606 h 6744084"/>
                <a:gd name="connsiteX973" fmla="*/ 4509961 w 7155249"/>
                <a:gd name="connsiteY973" fmla="*/ 1341662 h 6744084"/>
                <a:gd name="connsiteX974" fmla="*/ 4536800 w 7155249"/>
                <a:gd name="connsiteY974" fmla="*/ 1324531 h 6744084"/>
                <a:gd name="connsiteX975" fmla="*/ 4564780 w 7155249"/>
                <a:gd name="connsiteY975" fmla="*/ 1307401 h 6744084"/>
                <a:gd name="connsiteX976" fmla="*/ 4590477 w 7155249"/>
                <a:gd name="connsiteY976" fmla="*/ 1293696 h 6744084"/>
                <a:gd name="connsiteX977" fmla="*/ 4627594 w 7155249"/>
                <a:gd name="connsiteY977" fmla="*/ 1275423 h 6744084"/>
                <a:gd name="connsiteX978" fmla="*/ 4658429 w 7155249"/>
                <a:gd name="connsiteY978" fmla="*/ 1261148 h 6744084"/>
                <a:gd name="connsiteX979" fmla="*/ 4702970 w 7155249"/>
                <a:gd name="connsiteY979" fmla="*/ 1244588 h 6744084"/>
                <a:gd name="connsiteX980" fmla="*/ 4759502 w 7155249"/>
                <a:gd name="connsiteY980" fmla="*/ 1226886 h 6744084"/>
                <a:gd name="connsiteX981" fmla="*/ 5270575 w 7155249"/>
                <a:gd name="connsiteY981" fmla="*/ 1187486 h 6744084"/>
                <a:gd name="connsiteX982" fmla="*/ 5349948 w 7155249"/>
                <a:gd name="connsiteY982" fmla="*/ 1180062 h 6744084"/>
                <a:gd name="connsiteX983" fmla="*/ 5390492 w 7155249"/>
                <a:gd name="connsiteY983" fmla="*/ 1100690 h 6744084"/>
                <a:gd name="connsiteX984" fmla="*/ 5407623 w 7155249"/>
                <a:gd name="connsiteY984" fmla="*/ 1059005 h 6744084"/>
                <a:gd name="connsiteX985" fmla="*/ 5424753 w 7155249"/>
                <a:gd name="connsiteY985" fmla="*/ 1017320 h 6744084"/>
                <a:gd name="connsiteX986" fmla="*/ 5438458 w 7155249"/>
                <a:gd name="connsiteY986" fmla="*/ 985914 h 6744084"/>
                <a:gd name="connsiteX987" fmla="*/ 5456160 w 7155249"/>
                <a:gd name="connsiteY987" fmla="*/ 943658 h 6744084"/>
                <a:gd name="connsiteX988" fmla="*/ 5470436 w 7155249"/>
                <a:gd name="connsiteY988" fmla="*/ 912252 h 6744084"/>
                <a:gd name="connsiteX989" fmla="*/ 5487567 w 7155249"/>
                <a:gd name="connsiteY989" fmla="*/ 873422 h 6744084"/>
                <a:gd name="connsiteX990" fmla="*/ 5505269 w 7155249"/>
                <a:gd name="connsiteY990" fmla="*/ 834593 h 6744084"/>
                <a:gd name="connsiteX991" fmla="*/ 5516119 w 7155249"/>
                <a:gd name="connsiteY991" fmla="*/ 810610 h 6744084"/>
                <a:gd name="connsiteX992" fmla="*/ 5532678 w 7155249"/>
                <a:gd name="connsiteY992" fmla="*/ 768925 h 6744084"/>
                <a:gd name="connsiteX993" fmla="*/ 5553236 w 7155249"/>
                <a:gd name="connsiteY993" fmla="*/ 718104 h 6744084"/>
                <a:gd name="connsiteX994" fmla="*/ 5568082 w 7155249"/>
                <a:gd name="connsiteY994" fmla="*/ 686126 h 6744084"/>
                <a:gd name="connsiteX995" fmla="*/ 5582358 w 7155249"/>
                <a:gd name="connsiteY995" fmla="*/ 654720 h 6744084"/>
                <a:gd name="connsiteX996" fmla="*/ 5602344 w 7155249"/>
                <a:gd name="connsiteY996" fmla="*/ 605612 h 6744084"/>
                <a:gd name="connsiteX997" fmla="*/ 5618904 w 7155249"/>
                <a:gd name="connsiteY997" fmla="*/ 565640 h 6744084"/>
                <a:gd name="connsiteX998" fmla="*/ 5633180 w 7155249"/>
                <a:gd name="connsiteY998" fmla="*/ 533663 h 6744084"/>
                <a:gd name="connsiteX999" fmla="*/ 5647456 w 7155249"/>
                <a:gd name="connsiteY999" fmla="*/ 501686 h 6744084"/>
                <a:gd name="connsiteX1000" fmla="*/ 5661732 w 7155249"/>
                <a:gd name="connsiteY1000" fmla="*/ 465711 h 6744084"/>
                <a:gd name="connsiteX1001" fmla="*/ 5676007 w 7155249"/>
                <a:gd name="connsiteY1001" fmla="*/ 403469 h 6744084"/>
                <a:gd name="connsiteX1002" fmla="*/ 5661732 w 7155249"/>
                <a:gd name="connsiteY1002" fmla="*/ 346938 h 6744084"/>
                <a:gd name="connsiteX1003" fmla="*/ 5647456 w 7155249"/>
                <a:gd name="connsiteY1003" fmla="*/ 320671 h 6744084"/>
                <a:gd name="connsiteX1004" fmla="*/ 5588068 w 7155249"/>
                <a:gd name="connsiteY1004" fmla="*/ 278415 h 6744084"/>
                <a:gd name="connsiteX1005" fmla="*/ 5484712 w 7155249"/>
                <a:gd name="connsiteY1005" fmla="*/ 273847 h 6744084"/>
                <a:gd name="connsiteX1006" fmla="*/ 5417330 w 7155249"/>
                <a:gd name="connsiteY1006" fmla="*/ 332662 h 6744084"/>
                <a:gd name="connsiteX1007" fmla="*/ 5364795 w 7155249"/>
                <a:gd name="connsiteY1007" fmla="*/ 421742 h 6744084"/>
                <a:gd name="connsiteX1008" fmla="*/ 5337957 w 7155249"/>
                <a:gd name="connsiteY1008" fmla="*/ 460572 h 6744084"/>
                <a:gd name="connsiteX1009" fmla="*/ 5321968 w 7155249"/>
                <a:gd name="connsiteY1009" fmla="*/ 486839 h 6744084"/>
                <a:gd name="connsiteX1010" fmla="*/ 5306550 w 7155249"/>
                <a:gd name="connsiteY1010" fmla="*/ 511393 h 6744084"/>
                <a:gd name="connsiteX1011" fmla="*/ 5273430 w 7155249"/>
                <a:gd name="connsiteY1011" fmla="*/ 553649 h 6744084"/>
                <a:gd name="connsiteX1012" fmla="*/ 5055296 w 7155249"/>
                <a:gd name="connsiteY1012" fmla="*/ 787769 h 6744084"/>
                <a:gd name="connsiteX1013" fmla="*/ 4933666 w 7155249"/>
                <a:gd name="connsiteY1013" fmla="*/ 884843 h 6744084"/>
                <a:gd name="connsiteX1014" fmla="*/ 4907970 w 7155249"/>
                <a:gd name="connsiteY1014" fmla="*/ 903116 h 6744084"/>
                <a:gd name="connsiteX1015" fmla="*/ 4835449 w 7155249"/>
                <a:gd name="connsiteY1015" fmla="*/ 951082 h 6744084"/>
                <a:gd name="connsiteX1016" fmla="*/ 4813750 w 7155249"/>
                <a:gd name="connsiteY1016" fmla="*/ 965928 h 6744084"/>
                <a:gd name="connsiteX1017" fmla="*/ 4794335 w 7155249"/>
                <a:gd name="connsiteY1017" fmla="*/ 979062 h 6744084"/>
                <a:gd name="connsiteX1018" fmla="*/ 4753221 w 7155249"/>
                <a:gd name="connsiteY1018" fmla="*/ 1001903 h 6744084"/>
                <a:gd name="connsiteX1019" fmla="*/ 4724098 w 7155249"/>
                <a:gd name="connsiteY1019" fmla="*/ 1016178 h 6744084"/>
                <a:gd name="connsiteX1020" fmla="*/ 4698973 w 7155249"/>
                <a:gd name="connsiteY1020" fmla="*/ 1027599 h 6744084"/>
                <a:gd name="connsiteX1021" fmla="*/ 4664140 w 7155249"/>
                <a:gd name="connsiteY1021" fmla="*/ 1045872 h 6744084"/>
                <a:gd name="connsiteX1022" fmla="*/ 4631020 w 7155249"/>
                <a:gd name="connsiteY1022" fmla="*/ 1061860 h 6744084"/>
                <a:gd name="connsiteX1023" fmla="*/ 4591048 w 7155249"/>
                <a:gd name="connsiteY1023" fmla="*/ 1078991 h 6744084"/>
                <a:gd name="connsiteX1024" fmla="*/ 4548220 w 7155249"/>
                <a:gd name="connsiteY1024" fmla="*/ 1096122 h 6744084"/>
                <a:gd name="connsiteX1025" fmla="*/ 4511103 w 7155249"/>
                <a:gd name="connsiteY1025" fmla="*/ 1110397 h 6744084"/>
                <a:gd name="connsiteX1026" fmla="*/ 4460281 w 7155249"/>
                <a:gd name="connsiteY1026" fmla="*/ 1130954 h 6744084"/>
                <a:gd name="connsiteX1027" fmla="*/ 4422593 w 7155249"/>
                <a:gd name="connsiteY1027" fmla="*/ 1147514 h 6744084"/>
                <a:gd name="connsiteX1028" fmla="*/ 4401465 w 7155249"/>
                <a:gd name="connsiteY1028" fmla="*/ 1158363 h 6744084"/>
                <a:gd name="connsiteX1029" fmla="*/ 4364348 w 7155249"/>
                <a:gd name="connsiteY1029" fmla="*/ 1175494 h 6744084"/>
                <a:gd name="connsiteX1030" fmla="*/ 4327802 w 7155249"/>
                <a:gd name="connsiteY1030" fmla="*/ 1192625 h 6744084"/>
                <a:gd name="connsiteX1031" fmla="*/ 4292969 w 7155249"/>
                <a:gd name="connsiteY1031" fmla="*/ 1209756 h 6744084"/>
                <a:gd name="connsiteX1032" fmla="*/ 4264989 w 7155249"/>
                <a:gd name="connsiteY1032" fmla="*/ 1225173 h 6744084"/>
                <a:gd name="connsiteX1033" fmla="*/ 4234724 w 7155249"/>
                <a:gd name="connsiteY1033" fmla="*/ 1244588 h 6744084"/>
                <a:gd name="connsiteX1034" fmla="*/ 4185615 w 7155249"/>
                <a:gd name="connsiteY1034" fmla="*/ 1273139 h 6744084"/>
                <a:gd name="connsiteX1035" fmla="*/ 4139933 w 7155249"/>
                <a:gd name="connsiteY1035" fmla="*/ 1299977 h 6744084"/>
                <a:gd name="connsiteX1036" fmla="*/ 4065699 w 7155249"/>
                <a:gd name="connsiteY1036" fmla="*/ 1353083 h 6744084"/>
                <a:gd name="connsiteX1037" fmla="*/ 3980044 w 7155249"/>
                <a:gd name="connsiteY1037" fmla="*/ 1418750 h 6744084"/>
                <a:gd name="connsiteX1038" fmla="*/ 3830434 w 7155249"/>
                <a:gd name="connsiteY1038" fmla="*/ 1564933 h 6744084"/>
                <a:gd name="connsiteX1039" fmla="*/ 3749347 w 7155249"/>
                <a:gd name="connsiteY1039" fmla="*/ 1670572 h 6744084"/>
                <a:gd name="connsiteX1040" fmla="*/ 3732787 w 7155249"/>
                <a:gd name="connsiteY1040" fmla="*/ 1695126 h 6744084"/>
                <a:gd name="connsiteX1041" fmla="*/ 3716798 w 7155249"/>
                <a:gd name="connsiteY1041" fmla="*/ 1720251 h 6744084"/>
                <a:gd name="connsiteX1042" fmla="*/ 3696241 w 7155249"/>
                <a:gd name="connsiteY1042" fmla="*/ 1757939 h 6744084"/>
                <a:gd name="connsiteX1043" fmla="*/ 3683107 w 7155249"/>
                <a:gd name="connsiteY1043" fmla="*/ 1786490 h 6744084"/>
                <a:gd name="connsiteX1044" fmla="*/ 3668832 w 7155249"/>
                <a:gd name="connsiteY1044" fmla="*/ 1821893 h 6744084"/>
                <a:gd name="connsiteX1045" fmla="*/ 3649417 w 7155249"/>
                <a:gd name="connsiteY1045" fmla="*/ 1882993 h 6744084"/>
                <a:gd name="connsiteX1046" fmla="*/ 3637996 w 7155249"/>
                <a:gd name="connsiteY1046" fmla="*/ 1928675 h 6744084"/>
                <a:gd name="connsiteX1047" fmla="*/ 3639138 w 7155249"/>
                <a:gd name="connsiteY1047" fmla="*/ 2166792 h 6744084"/>
                <a:gd name="connsiteX1048" fmla="*/ 3651701 w 7155249"/>
                <a:gd name="connsiteY1048" fmla="*/ 2221039 h 6744084"/>
                <a:gd name="connsiteX1049" fmla="*/ 3690531 w 7155249"/>
                <a:gd name="connsiteY1049" fmla="*/ 2311261 h 6744084"/>
                <a:gd name="connsiteX1050" fmla="*/ 3939501 w 7155249"/>
                <a:gd name="connsiteY1050" fmla="*/ 2318113 h 6744084"/>
                <a:gd name="connsiteX1051" fmla="*/ 4190754 w 7155249"/>
                <a:gd name="connsiteY1051" fmla="*/ 2312974 h 6744084"/>
                <a:gd name="connsiteX1052" fmla="*/ 5927261 w 7155249"/>
                <a:gd name="connsiteY1052" fmla="*/ 2278142 h 6744084"/>
                <a:gd name="connsiteX1053" fmla="*/ 5967804 w 7155249"/>
                <a:gd name="connsiteY1053" fmla="*/ 2263295 h 6744084"/>
                <a:gd name="connsiteX1054" fmla="*/ 5997498 w 7155249"/>
                <a:gd name="connsiteY1054" fmla="*/ 2249020 h 6744084"/>
                <a:gd name="connsiteX1055" fmla="*/ 6098571 w 7155249"/>
                <a:gd name="connsiteY1055" fmla="*/ 2145093 h 6744084"/>
                <a:gd name="connsiteX1056" fmla="*/ 6113417 w 7155249"/>
                <a:gd name="connsiteY1056" fmla="*/ 2104550 h 6744084"/>
                <a:gd name="connsiteX1057" fmla="*/ 6125980 w 7155249"/>
                <a:gd name="connsiteY1057" fmla="*/ 2016042 h 6744084"/>
                <a:gd name="connsiteX1058" fmla="*/ 6113988 w 7155249"/>
                <a:gd name="connsiteY1058" fmla="*/ 1937811 h 6744084"/>
                <a:gd name="connsiteX1059" fmla="*/ 6099142 w 7155249"/>
                <a:gd name="connsiteY1059" fmla="*/ 1883564 h 6744084"/>
                <a:gd name="connsiteX1060" fmla="*/ 6082011 w 7155249"/>
                <a:gd name="connsiteY1060" fmla="*/ 1832172 h 6744084"/>
                <a:gd name="connsiteX1061" fmla="*/ 6065451 w 7155249"/>
                <a:gd name="connsiteY1061" fmla="*/ 1797910 h 6744084"/>
                <a:gd name="connsiteX1062" fmla="*/ 5978654 w 7155249"/>
                <a:gd name="connsiteY1062" fmla="*/ 1663720 h 6744084"/>
                <a:gd name="connsiteX1063" fmla="*/ 5861021 w 7155249"/>
                <a:gd name="connsiteY1063" fmla="*/ 1564362 h 6744084"/>
                <a:gd name="connsiteX1064" fmla="*/ 5838180 w 7155249"/>
                <a:gd name="connsiteY1064" fmla="*/ 1550086 h 6744084"/>
                <a:gd name="connsiteX1065" fmla="*/ 5807916 w 7155249"/>
                <a:gd name="connsiteY1065" fmla="*/ 1531813 h 6744084"/>
                <a:gd name="connsiteX1066" fmla="*/ 5770227 w 7155249"/>
                <a:gd name="connsiteY1066" fmla="*/ 1515825 h 6744084"/>
                <a:gd name="connsiteX1067" fmla="*/ 5727400 w 7155249"/>
                <a:gd name="connsiteY1067" fmla="*/ 1498694 h 6744084"/>
                <a:gd name="connsiteX1068" fmla="*/ 5670297 w 7155249"/>
                <a:gd name="connsiteY1068" fmla="*/ 1482705 h 6744084"/>
                <a:gd name="connsiteX1069" fmla="*/ 5262010 w 7155249"/>
                <a:gd name="connsiteY1069" fmla="*/ 1470143 h 6744084"/>
                <a:gd name="connsiteX1070" fmla="*/ 4856577 w 7155249"/>
                <a:gd name="connsiteY1070" fmla="*/ 1482134 h 6744084"/>
                <a:gd name="connsiteX1071" fmla="*/ 4802329 w 7155249"/>
                <a:gd name="connsiteY1071" fmla="*/ 1498694 h 6744084"/>
                <a:gd name="connsiteX1072" fmla="*/ 4669850 w 7155249"/>
                <a:gd name="connsiteY1072" fmla="*/ 1560935 h 6744084"/>
                <a:gd name="connsiteX1073" fmla="*/ 4556786 w 7155249"/>
                <a:gd name="connsiteY1073" fmla="*/ 1655154 h 6744084"/>
                <a:gd name="connsiteX1074" fmla="*/ 4541368 w 7155249"/>
                <a:gd name="connsiteY1074" fmla="*/ 1675711 h 6744084"/>
                <a:gd name="connsiteX1075" fmla="*/ 4487691 w 7155249"/>
                <a:gd name="connsiteY1075" fmla="*/ 1749944 h 6744084"/>
                <a:gd name="connsiteX1076" fmla="*/ 4464850 w 7155249"/>
                <a:gd name="connsiteY1076" fmla="*/ 1786490 h 6744084"/>
                <a:gd name="connsiteX1077" fmla="*/ 4454000 w 7155249"/>
                <a:gd name="connsiteY1077" fmla="*/ 1809331 h 6744084"/>
                <a:gd name="connsiteX1078" fmla="*/ 4442579 w 7155249"/>
                <a:gd name="connsiteY1078" fmla="*/ 1840166 h 6744084"/>
                <a:gd name="connsiteX1079" fmla="*/ 4422593 w 7155249"/>
                <a:gd name="connsiteY1079" fmla="*/ 1901837 h 6744084"/>
                <a:gd name="connsiteX1080" fmla="*/ 4407747 w 7155249"/>
                <a:gd name="connsiteY1080" fmla="*/ 1953229 h 6744084"/>
                <a:gd name="connsiteX1081" fmla="*/ 4417454 w 7155249"/>
                <a:gd name="connsiteY1081" fmla="*/ 2121681 h 6744084"/>
                <a:gd name="connsiteX1082" fmla="*/ 4588192 w 7155249"/>
                <a:gd name="connsiteY1082" fmla="*/ 2278142 h 6744084"/>
                <a:gd name="connsiteX1083" fmla="*/ 5927261 w 7155249"/>
                <a:gd name="connsiteY1083" fmla="*/ 2278142 h 674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Lst>
              <a:rect l="l" t="t" r="r" b="b"/>
              <a:pathLst>
                <a:path w="7155249" h="6744084">
                  <a:moveTo>
                    <a:pt x="3114931" y="6726420"/>
                  </a:moveTo>
                  <a:cubicBezTo>
                    <a:pt x="3096087" y="6720139"/>
                    <a:pt x="3066394" y="6712715"/>
                    <a:pt x="3049263" y="6709289"/>
                  </a:cubicBezTo>
                  <a:cubicBezTo>
                    <a:pt x="3032132" y="6705863"/>
                    <a:pt x="3011003" y="6698440"/>
                    <a:pt x="3002438" y="6692159"/>
                  </a:cubicBezTo>
                  <a:cubicBezTo>
                    <a:pt x="2994444" y="6686448"/>
                    <a:pt x="2975600" y="6678454"/>
                    <a:pt x="2961895" y="6674457"/>
                  </a:cubicBezTo>
                  <a:cubicBezTo>
                    <a:pt x="2947619" y="6671031"/>
                    <a:pt x="2931630" y="6663036"/>
                    <a:pt x="2925920" y="6657326"/>
                  </a:cubicBezTo>
                  <a:cubicBezTo>
                    <a:pt x="2920781" y="6651616"/>
                    <a:pt x="2912786" y="6646477"/>
                    <a:pt x="2908789" y="6646477"/>
                  </a:cubicBezTo>
                  <a:cubicBezTo>
                    <a:pt x="2905363" y="6646477"/>
                    <a:pt x="2891658" y="6637911"/>
                    <a:pt x="2879095" y="6628204"/>
                  </a:cubicBezTo>
                  <a:cubicBezTo>
                    <a:pt x="2866533" y="6617925"/>
                    <a:pt x="2841978" y="6599082"/>
                    <a:pt x="2824276" y="6586519"/>
                  </a:cubicBezTo>
                  <a:cubicBezTo>
                    <a:pt x="2806003" y="6573957"/>
                    <a:pt x="2787730" y="6557968"/>
                    <a:pt x="2783162" y="6551116"/>
                  </a:cubicBezTo>
                  <a:cubicBezTo>
                    <a:pt x="2770028" y="6530559"/>
                    <a:pt x="2736337" y="6533414"/>
                    <a:pt x="2704931" y="6557397"/>
                  </a:cubicBezTo>
                  <a:cubicBezTo>
                    <a:pt x="2691226" y="6568246"/>
                    <a:pt x="2673524" y="6578525"/>
                    <a:pt x="2666101" y="6580809"/>
                  </a:cubicBezTo>
                  <a:cubicBezTo>
                    <a:pt x="2658677" y="6583093"/>
                    <a:pt x="2646114" y="6589374"/>
                    <a:pt x="2638120" y="6595084"/>
                  </a:cubicBezTo>
                  <a:cubicBezTo>
                    <a:pt x="2630126" y="6600795"/>
                    <a:pt x="2617563" y="6607076"/>
                    <a:pt x="2609568" y="6609360"/>
                  </a:cubicBezTo>
                  <a:cubicBezTo>
                    <a:pt x="2601574" y="6611644"/>
                    <a:pt x="2585014" y="6619067"/>
                    <a:pt x="2572451" y="6626491"/>
                  </a:cubicBezTo>
                  <a:cubicBezTo>
                    <a:pt x="2559889" y="6633343"/>
                    <a:pt x="2531337" y="6642479"/>
                    <a:pt x="2509067" y="6645906"/>
                  </a:cubicBezTo>
                  <a:cubicBezTo>
                    <a:pt x="2486797" y="6649332"/>
                    <a:pt x="2458816" y="6656184"/>
                    <a:pt x="2446253" y="6661894"/>
                  </a:cubicBezTo>
                  <a:cubicBezTo>
                    <a:pt x="2428551" y="6669318"/>
                    <a:pt x="2406281" y="6671602"/>
                    <a:pt x="2335473" y="6671602"/>
                  </a:cubicBezTo>
                  <a:cubicBezTo>
                    <a:pt x="2258384" y="6672173"/>
                    <a:pt x="2242966" y="6670460"/>
                    <a:pt x="2215557" y="6660181"/>
                  </a:cubicBezTo>
                  <a:cubicBezTo>
                    <a:pt x="2198426" y="6653329"/>
                    <a:pt x="2168161" y="6645906"/>
                    <a:pt x="2148746" y="6643622"/>
                  </a:cubicBezTo>
                  <a:cubicBezTo>
                    <a:pt x="2125334" y="6641337"/>
                    <a:pt x="2107632" y="6635056"/>
                    <a:pt x="2095069" y="6625920"/>
                  </a:cubicBezTo>
                  <a:cubicBezTo>
                    <a:pt x="2084790" y="6618496"/>
                    <a:pt x="2072228" y="6612215"/>
                    <a:pt x="2067660" y="6612215"/>
                  </a:cubicBezTo>
                  <a:cubicBezTo>
                    <a:pt x="2062520" y="6612215"/>
                    <a:pt x="2051100" y="6608218"/>
                    <a:pt x="2041392" y="6603079"/>
                  </a:cubicBezTo>
                  <a:cubicBezTo>
                    <a:pt x="2032256" y="6597940"/>
                    <a:pt x="2012840" y="6587661"/>
                    <a:pt x="1998565" y="6579667"/>
                  </a:cubicBezTo>
                  <a:cubicBezTo>
                    <a:pt x="1984289" y="6572244"/>
                    <a:pt x="1961448" y="6557397"/>
                    <a:pt x="1947172" y="6546547"/>
                  </a:cubicBezTo>
                  <a:cubicBezTo>
                    <a:pt x="1932896" y="6535698"/>
                    <a:pt x="1915194" y="6521993"/>
                    <a:pt x="1907200" y="6516854"/>
                  </a:cubicBezTo>
                  <a:cubicBezTo>
                    <a:pt x="1866085" y="6487732"/>
                    <a:pt x="1769010" y="6372385"/>
                    <a:pt x="1753592" y="6334126"/>
                  </a:cubicBezTo>
                  <a:cubicBezTo>
                    <a:pt x="1745027" y="6312428"/>
                    <a:pt x="1724470" y="6306146"/>
                    <a:pt x="1691921" y="6314712"/>
                  </a:cubicBezTo>
                  <a:cubicBezTo>
                    <a:pt x="1654233" y="6324419"/>
                    <a:pt x="1498341" y="6328416"/>
                    <a:pt x="1436099" y="6320993"/>
                  </a:cubicBezTo>
                  <a:cubicBezTo>
                    <a:pt x="1377854" y="6314141"/>
                    <a:pt x="1288202" y="6287873"/>
                    <a:pt x="1261934" y="6269601"/>
                  </a:cubicBezTo>
                  <a:cubicBezTo>
                    <a:pt x="1253940" y="6264462"/>
                    <a:pt x="1240235" y="6258180"/>
                    <a:pt x="1230527" y="6255896"/>
                  </a:cubicBezTo>
                  <a:cubicBezTo>
                    <a:pt x="1212825" y="6251328"/>
                    <a:pt x="1173424" y="6228487"/>
                    <a:pt x="1147728" y="6207359"/>
                  </a:cubicBezTo>
                  <a:cubicBezTo>
                    <a:pt x="1097477" y="6166245"/>
                    <a:pt x="1076349" y="6149686"/>
                    <a:pt x="1072923" y="6149686"/>
                  </a:cubicBezTo>
                  <a:cubicBezTo>
                    <a:pt x="1071210" y="6149686"/>
                    <a:pt x="1056363" y="6133697"/>
                    <a:pt x="1040374" y="6114282"/>
                  </a:cubicBezTo>
                  <a:cubicBezTo>
                    <a:pt x="1011251" y="6078308"/>
                    <a:pt x="990123" y="6053754"/>
                    <a:pt x="969566" y="6029771"/>
                  </a:cubicBezTo>
                  <a:cubicBezTo>
                    <a:pt x="963285" y="6022918"/>
                    <a:pt x="954148" y="6006359"/>
                    <a:pt x="949580" y="5992654"/>
                  </a:cubicBezTo>
                  <a:cubicBezTo>
                    <a:pt x="945012" y="5978949"/>
                    <a:pt x="937588" y="5964674"/>
                    <a:pt x="933020" y="5960677"/>
                  </a:cubicBezTo>
                  <a:cubicBezTo>
                    <a:pt x="929023" y="5957251"/>
                    <a:pt x="922170" y="5944117"/>
                    <a:pt x="918744" y="5930983"/>
                  </a:cubicBezTo>
                  <a:cubicBezTo>
                    <a:pt x="915318" y="5918421"/>
                    <a:pt x="907895" y="5901290"/>
                    <a:pt x="902184" y="5893296"/>
                  </a:cubicBezTo>
                  <a:cubicBezTo>
                    <a:pt x="895332" y="5883588"/>
                    <a:pt x="889051" y="5860747"/>
                    <a:pt x="885053" y="5829341"/>
                  </a:cubicBezTo>
                  <a:cubicBezTo>
                    <a:pt x="882198" y="5802503"/>
                    <a:pt x="875346" y="5766528"/>
                    <a:pt x="870207" y="5749398"/>
                  </a:cubicBezTo>
                  <a:cubicBezTo>
                    <a:pt x="863925" y="5729412"/>
                    <a:pt x="862212" y="5707713"/>
                    <a:pt x="863925" y="5687727"/>
                  </a:cubicBezTo>
                  <a:cubicBezTo>
                    <a:pt x="867351" y="5658605"/>
                    <a:pt x="866209" y="5655750"/>
                    <a:pt x="848507" y="5638048"/>
                  </a:cubicBezTo>
                  <a:cubicBezTo>
                    <a:pt x="837658" y="5627199"/>
                    <a:pt x="818243" y="5616349"/>
                    <a:pt x="800541" y="5610639"/>
                  </a:cubicBezTo>
                  <a:cubicBezTo>
                    <a:pt x="783981" y="5606071"/>
                    <a:pt x="763424" y="5596934"/>
                    <a:pt x="754858" y="5591224"/>
                  </a:cubicBezTo>
                  <a:cubicBezTo>
                    <a:pt x="746293" y="5584943"/>
                    <a:pt x="733159" y="5578090"/>
                    <a:pt x="725165" y="5575806"/>
                  </a:cubicBezTo>
                  <a:cubicBezTo>
                    <a:pt x="705750" y="5570096"/>
                    <a:pt x="636084" y="5522130"/>
                    <a:pt x="594969" y="5486727"/>
                  </a:cubicBezTo>
                  <a:cubicBezTo>
                    <a:pt x="568131" y="5463886"/>
                    <a:pt x="496752" y="5378232"/>
                    <a:pt x="496752" y="5369667"/>
                  </a:cubicBezTo>
                  <a:cubicBezTo>
                    <a:pt x="496752" y="5366241"/>
                    <a:pt x="492755" y="5359388"/>
                    <a:pt x="487044" y="5355391"/>
                  </a:cubicBezTo>
                  <a:cubicBezTo>
                    <a:pt x="481905" y="5350823"/>
                    <a:pt x="474482" y="5339402"/>
                    <a:pt x="470485" y="5329124"/>
                  </a:cubicBezTo>
                  <a:cubicBezTo>
                    <a:pt x="465916" y="5319417"/>
                    <a:pt x="456209" y="5301715"/>
                    <a:pt x="448214" y="5289723"/>
                  </a:cubicBezTo>
                  <a:cubicBezTo>
                    <a:pt x="440220" y="5278303"/>
                    <a:pt x="433939" y="5263456"/>
                    <a:pt x="433939" y="5256604"/>
                  </a:cubicBezTo>
                  <a:cubicBezTo>
                    <a:pt x="433939" y="5249752"/>
                    <a:pt x="428228" y="5234334"/>
                    <a:pt x="421947" y="5221771"/>
                  </a:cubicBezTo>
                  <a:cubicBezTo>
                    <a:pt x="415095" y="5209780"/>
                    <a:pt x="405387" y="5173805"/>
                    <a:pt x="399106" y="5141828"/>
                  </a:cubicBezTo>
                  <a:cubicBezTo>
                    <a:pt x="393395" y="5110422"/>
                    <a:pt x="385972" y="5070450"/>
                    <a:pt x="381975" y="5053319"/>
                  </a:cubicBezTo>
                  <a:cubicBezTo>
                    <a:pt x="373980" y="5016774"/>
                    <a:pt x="378548" y="4924839"/>
                    <a:pt x="391111" y="4873447"/>
                  </a:cubicBezTo>
                  <a:cubicBezTo>
                    <a:pt x="399677" y="4837472"/>
                    <a:pt x="401961" y="4797500"/>
                    <a:pt x="396250" y="4782654"/>
                  </a:cubicBezTo>
                  <a:cubicBezTo>
                    <a:pt x="394537" y="4777515"/>
                    <a:pt x="381975" y="4770662"/>
                    <a:pt x="369412" y="4767236"/>
                  </a:cubicBezTo>
                  <a:cubicBezTo>
                    <a:pt x="356278" y="4763810"/>
                    <a:pt x="338576" y="4754674"/>
                    <a:pt x="329440" y="4747250"/>
                  </a:cubicBezTo>
                  <a:cubicBezTo>
                    <a:pt x="320303" y="4739827"/>
                    <a:pt x="311167" y="4733546"/>
                    <a:pt x="308312" y="4733546"/>
                  </a:cubicBezTo>
                  <a:cubicBezTo>
                    <a:pt x="292894" y="4733546"/>
                    <a:pt x="158701" y="4610776"/>
                    <a:pt x="144997" y="4583937"/>
                  </a:cubicBezTo>
                  <a:cubicBezTo>
                    <a:pt x="140428" y="4574801"/>
                    <a:pt x="134718" y="4567949"/>
                    <a:pt x="132434" y="4567949"/>
                  </a:cubicBezTo>
                  <a:cubicBezTo>
                    <a:pt x="130150" y="4567949"/>
                    <a:pt x="123297" y="4559383"/>
                    <a:pt x="117016" y="4549676"/>
                  </a:cubicBezTo>
                  <a:cubicBezTo>
                    <a:pt x="111306" y="4539398"/>
                    <a:pt x="100456" y="4523409"/>
                    <a:pt x="93033" y="4514844"/>
                  </a:cubicBezTo>
                  <a:cubicBezTo>
                    <a:pt x="85609" y="4505707"/>
                    <a:pt x="79899" y="4493716"/>
                    <a:pt x="79899" y="4488576"/>
                  </a:cubicBezTo>
                  <a:cubicBezTo>
                    <a:pt x="79899" y="4482866"/>
                    <a:pt x="74189" y="4471446"/>
                    <a:pt x="67907" y="4462880"/>
                  </a:cubicBezTo>
                  <a:cubicBezTo>
                    <a:pt x="61055" y="4454315"/>
                    <a:pt x="53061" y="4436613"/>
                    <a:pt x="50205" y="4424051"/>
                  </a:cubicBezTo>
                  <a:cubicBezTo>
                    <a:pt x="47350" y="4410917"/>
                    <a:pt x="39927" y="4393215"/>
                    <a:pt x="33645" y="4384650"/>
                  </a:cubicBezTo>
                  <a:cubicBezTo>
                    <a:pt x="26793" y="4374372"/>
                    <a:pt x="20512" y="4352102"/>
                    <a:pt x="16515" y="4321266"/>
                  </a:cubicBezTo>
                  <a:cubicBezTo>
                    <a:pt x="13659" y="4294999"/>
                    <a:pt x="7378" y="4260738"/>
                    <a:pt x="2810" y="4244178"/>
                  </a:cubicBezTo>
                  <a:cubicBezTo>
                    <a:pt x="-1758" y="4228189"/>
                    <a:pt x="-5756" y="4195070"/>
                    <a:pt x="-5756" y="4169945"/>
                  </a:cubicBezTo>
                  <a:cubicBezTo>
                    <a:pt x="-5756" y="4112271"/>
                    <a:pt x="18228" y="3971228"/>
                    <a:pt x="33074" y="3942106"/>
                  </a:cubicBezTo>
                  <a:cubicBezTo>
                    <a:pt x="39356" y="3929544"/>
                    <a:pt x="46779" y="3908987"/>
                    <a:pt x="49063" y="3896995"/>
                  </a:cubicBezTo>
                  <a:cubicBezTo>
                    <a:pt x="50776" y="3884433"/>
                    <a:pt x="60484" y="3863876"/>
                    <a:pt x="69049" y="3851884"/>
                  </a:cubicBezTo>
                  <a:cubicBezTo>
                    <a:pt x="78186" y="3839322"/>
                    <a:pt x="85609" y="3826759"/>
                    <a:pt x="85609" y="3823333"/>
                  </a:cubicBezTo>
                  <a:cubicBezTo>
                    <a:pt x="85609" y="3820478"/>
                    <a:pt x="91320" y="3811913"/>
                    <a:pt x="97601" y="3805060"/>
                  </a:cubicBezTo>
                  <a:cubicBezTo>
                    <a:pt x="110164" y="3791927"/>
                    <a:pt x="113019" y="3787359"/>
                    <a:pt x="134147" y="3751384"/>
                  </a:cubicBezTo>
                  <a:cubicBezTo>
                    <a:pt x="140428" y="3740535"/>
                    <a:pt x="162128" y="3714268"/>
                    <a:pt x="182114" y="3692569"/>
                  </a:cubicBezTo>
                  <a:lnTo>
                    <a:pt x="219231" y="3653739"/>
                  </a:lnTo>
                  <a:lnTo>
                    <a:pt x="206097" y="3552668"/>
                  </a:lnTo>
                  <a:cubicBezTo>
                    <a:pt x="188966" y="3424758"/>
                    <a:pt x="191821" y="3373366"/>
                    <a:pt x="219802" y="3260303"/>
                  </a:cubicBezTo>
                  <a:cubicBezTo>
                    <a:pt x="231222" y="3211766"/>
                    <a:pt x="249495" y="3164371"/>
                    <a:pt x="262058" y="3148383"/>
                  </a:cubicBezTo>
                  <a:cubicBezTo>
                    <a:pt x="268339" y="3140388"/>
                    <a:pt x="274621" y="3126684"/>
                    <a:pt x="276905" y="3118118"/>
                  </a:cubicBezTo>
                  <a:cubicBezTo>
                    <a:pt x="278618" y="3108982"/>
                    <a:pt x="285470" y="3096990"/>
                    <a:pt x="291752" y="3091280"/>
                  </a:cubicBezTo>
                  <a:cubicBezTo>
                    <a:pt x="297462" y="3086141"/>
                    <a:pt x="302601" y="3078147"/>
                    <a:pt x="302601" y="3074149"/>
                  </a:cubicBezTo>
                  <a:cubicBezTo>
                    <a:pt x="302601" y="3063300"/>
                    <a:pt x="413381" y="2935391"/>
                    <a:pt x="432796" y="2923399"/>
                  </a:cubicBezTo>
                  <a:cubicBezTo>
                    <a:pt x="442504" y="2917689"/>
                    <a:pt x="451641" y="2910266"/>
                    <a:pt x="453925" y="2906839"/>
                  </a:cubicBezTo>
                  <a:cubicBezTo>
                    <a:pt x="455638" y="2903413"/>
                    <a:pt x="466487" y="2896561"/>
                    <a:pt x="477337" y="2891993"/>
                  </a:cubicBezTo>
                  <a:cubicBezTo>
                    <a:pt x="488187" y="2887425"/>
                    <a:pt x="496752" y="2881143"/>
                    <a:pt x="496752" y="2878288"/>
                  </a:cubicBezTo>
                  <a:cubicBezTo>
                    <a:pt x="496752" y="2874862"/>
                    <a:pt x="505317" y="2868010"/>
                    <a:pt x="515025" y="2862871"/>
                  </a:cubicBezTo>
                  <a:cubicBezTo>
                    <a:pt x="525304" y="2857731"/>
                    <a:pt x="539008" y="2849166"/>
                    <a:pt x="545290" y="2843456"/>
                  </a:cubicBezTo>
                  <a:cubicBezTo>
                    <a:pt x="551571" y="2837745"/>
                    <a:pt x="567560" y="2830322"/>
                    <a:pt x="581265" y="2826325"/>
                  </a:cubicBezTo>
                  <a:cubicBezTo>
                    <a:pt x="594398" y="2822899"/>
                    <a:pt x="613813" y="2815476"/>
                    <a:pt x="624092" y="2809765"/>
                  </a:cubicBezTo>
                  <a:cubicBezTo>
                    <a:pt x="633800" y="2804055"/>
                    <a:pt x="652073" y="2797203"/>
                    <a:pt x="664064" y="2794919"/>
                  </a:cubicBezTo>
                  <a:cubicBezTo>
                    <a:pt x="676056" y="2793206"/>
                    <a:pt x="696613" y="2785782"/>
                    <a:pt x="709747" y="2778930"/>
                  </a:cubicBezTo>
                  <a:cubicBezTo>
                    <a:pt x="732017" y="2766938"/>
                    <a:pt x="742296" y="2766367"/>
                    <a:pt x="866780" y="2765225"/>
                  </a:cubicBezTo>
                  <a:lnTo>
                    <a:pt x="999260" y="2764083"/>
                  </a:lnTo>
                  <a:lnTo>
                    <a:pt x="1047797" y="2716688"/>
                  </a:lnTo>
                  <a:cubicBezTo>
                    <a:pt x="1100332" y="2664725"/>
                    <a:pt x="1126029" y="2643597"/>
                    <a:pt x="1147728" y="2632177"/>
                  </a:cubicBezTo>
                  <a:cubicBezTo>
                    <a:pt x="1155722" y="2628180"/>
                    <a:pt x="1167143" y="2620756"/>
                    <a:pt x="1173424" y="2615046"/>
                  </a:cubicBezTo>
                  <a:cubicBezTo>
                    <a:pt x="1179706" y="2609336"/>
                    <a:pt x="1191126" y="2603055"/>
                    <a:pt x="1198550" y="2600770"/>
                  </a:cubicBezTo>
                  <a:cubicBezTo>
                    <a:pt x="1205402" y="2598486"/>
                    <a:pt x="1220820" y="2590492"/>
                    <a:pt x="1231669" y="2583069"/>
                  </a:cubicBezTo>
                  <a:cubicBezTo>
                    <a:pt x="1243090" y="2575645"/>
                    <a:pt x="1257366" y="2569364"/>
                    <a:pt x="1263647" y="2569364"/>
                  </a:cubicBezTo>
                  <a:cubicBezTo>
                    <a:pt x="1269929" y="2569364"/>
                    <a:pt x="1288202" y="2563083"/>
                    <a:pt x="1304190" y="2555089"/>
                  </a:cubicBezTo>
                  <a:cubicBezTo>
                    <a:pt x="1348731" y="2533961"/>
                    <a:pt x="1502909" y="2511120"/>
                    <a:pt x="1556015" y="2517972"/>
                  </a:cubicBezTo>
                  <a:cubicBezTo>
                    <a:pt x="1661656" y="2532248"/>
                    <a:pt x="1651949" y="2532819"/>
                    <a:pt x="1670793" y="2510549"/>
                  </a:cubicBezTo>
                  <a:cubicBezTo>
                    <a:pt x="1681071" y="2499128"/>
                    <a:pt x="1690208" y="2481426"/>
                    <a:pt x="1691921" y="2468293"/>
                  </a:cubicBezTo>
                  <a:cubicBezTo>
                    <a:pt x="1694205" y="2455730"/>
                    <a:pt x="1699915" y="2442026"/>
                    <a:pt x="1704484" y="2438029"/>
                  </a:cubicBezTo>
                  <a:cubicBezTo>
                    <a:pt x="1709052" y="2434031"/>
                    <a:pt x="1718188" y="2420327"/>
                    <a:pt x="1725041" y="2407193"/>
                  </a:cubicBezTo>
                  <a:cubicBezTo>
                    <a:pt x="1731322" y="2394631"/>
                    <a:pt x="1744456" y="2368935"/>
                    <a:pt x="1754734" y="2351233"/>
                  </a:cubicBezTo>
                  <a:cubicBezTo>
                    <a:pt x="1765013" y="2333531"/>
                    <a:pt x="1778718" y="2308406"/>
                    <a:pt x="1785570" y="2296415"/>
                  </a:cubicBezTo>
                  <a:cubicBezTo>
                    <a:pt x="1792422" y="2283852"/>
                    <a:pt x="1800417" y="2272432"/>
                    <a:pt x="1802701" y="2271290"/>
                  </a:cubicBezTo>
                  <a:cubicBezTo>
                    <a:pt x="1807269" y="2269576"/>
                    <a:pt x="1865514" y="2195343"/>
                    <a:pt x="1884358" y="2167363"/>
                  </a:cubicBezTo>
                  <a:cubicBezTo>
                    <a:pt x="1907200" y="2133673"/>
                    <a:pt x="2036824" y="2013758"/>
                    <a:pt x="2081364" y="1985206"/>
                  </a:cubicBezTo>
                  <a:cubicBezTo>
                    <a:pt x="2093927" y="1976641"/>
                    <a:pt x="2114484" y="1962365"/>
                    <a:pt x="2127047" y="1953229"/>
                  </a:cubicBezTo>
                  <a:cubicBezTo>
                    <a:pt x="2139610" y="1943522"/>
                    <a:pt x="2160167" y="1930388"/>
                    <a:pt x="2172729" y="1923536"/>
                  </a:cubicBezTo>
                  <a:cubicBezTo>
                    <a:pt x="2185292" y="1916683"/>
                    <a:pt x="2201852" y="1906405"/>
                    <a:pt x="2209275" y="1900695"/>
                  </a:cubicBezTo>
                  <a:cubicBezTo>
                    <a:pt x="2216699" y="1894414"/>
                    <a:pt x="2226977" y="1889845"/>
                    <a:pt x="2232688" y="1889845"/>
                  </a:cubicBezTo>
                  <a:cubicBezTo>
                    <a:pt x="2238398" y="1889845"/>
                    <a:pt x="2249248" y="1884706"/>
                    <a:pt x="2257242" y="1878425"/>
                  </a:cubicBezTo>
                  <a:cubicBezTo>
                    <a:pt x="2265236" y="1872144"/>
                    <a:pt x="2282367" y="1863007"/>
                    <a:pt x="2294930" y="1858439"/>
                  </a:cubicBezTo>
                  <a:cubicBezTo>
                    <a:pt x="2307493" y="1854442"/>
                    <a:pt x="2325195" y="1845305"/>
                    <a:pt x="2333760" y="1839595"/>
                  </a:cubicBezTo>
                  <a:cubicBezTo>
                    <a:pt x="2342326" y="1833314"/>
                    <a:pt x="2361170" y="1826462"/>
                    <a:pt x="2375446" y="1824749"/>
                  </a:cubicBezTo>
                  <a:cubicBezTo>
                    <a:pt x="2389150" y="1822464"/>
                    <a:pt x="2408565" y="1816183"/>
                    <a:pt x="2418273" y="1809902"/>
                  </a:cubicBezTo>
                  <a:cubicBezTo>
                    <a:pt x="2427980" y="1803621"/>
                    <a:pt x="2447395" y="1797339"/>
                    <a:pt x="2461100" y="1795055"/>
                  </a:cubicBezTo>
                  <a:cubicBezTo>
                    <a:pt x="2475376" y="1792771"/>
                    <a:pt x="2499930" y="1785919"/>
                    <a:pt x="2515348" y="1780209"/>
                  </a:cubicBezTo>
                  <a:cubicBezTo>
                    <a:pt x="2597577" y="1748231"/>
                    <a:pt x="2928204" y="1733385"/>
                    <a:pt x="3250837" y="1747089"/>
                  </a:cubicBezTo>
                  <a:lnTo>
                    <a:pt x="3381603" y="1752800"/>
                  </a:lnTo>
                  <a:lnTo>
                    <a:pt x="3397592" y="1740237"/>
                  </a:lnTo>
                  <a:cubicBezTo>
                    <a:pt x="3414152" y="1726532"/>
                    <a:pt x="3422146" y="1711686"/>
                    <a:pt x="3428999" y="1681422"/>
                  </a:cubicBezTo>
                  <a:cubicBezTo>
                    <a:pt x="3431283" y="1672285"/>
                    <a:pt x="3436993" y="1659723"/>
                    <a:pt x="3442132" y="1653441"/>
                  </a:cubicBezTo>
                  <a:cubicBezTo>
                    <a:pt x="3451840" y="1643163"/>
                    <a:pt x="3465545" y="1618609"/>
                    <a:pt x="3490670" y="1567217"/>
                  </a:cubicBezTo>
                  <a:cubicBezTo>
                    <a:pt x="3498664" y="1551228"/>
                    <a:pt x="3508943" y="1534668"/>
                    <a:pt x="3514082" y="1530671"/>
                  </a:cubicBezTo>
                  <a:cubicBezTo>
                    <a:pt x="3519221" y="1526674"/>
                    <a:pt x="3523219" y="1520393"/>
                    <a:pt x="3523219" y="1517538"/>
                  </a:cubicBezTo>
                  <a:cubicBezTo>
                    <a:pt x="3523219" y="1514682"/>
                    <a:pt x="3530642" y="1502691"/>
                    <a:pt x="3540350" y="1491270"/>
                  </a:cubicBezTo>
                  <a:cubicBezTo>
                    <a:pt x="3549486" y="1479850"/>
                    <a:pt x="3566617" y="1458722"/>
                    <a:pt x="3577467" y="1444446"/>
                  </a:cubicBezTo>
                  <a:cubicBezTo>
                    <a:pt x="3588887" y="1430171"/>
                    <a:pt x="3603734" y="1411898"/>
                    <a:pt x="3610586" y="1403333"/>
                  </a:cubicBezTo>
                  <a:cubicBezTo>
                    <a:pt x="3621436" y="1389628"/>
                    <a:pt x="3743066" y="1267429"/>
                    <a:pt x="3777328" y="1236023"/>
                  </a:cubicBezTo>
                  <a:cubicBezTo>
                    <a:pt x="3790461" y="1223460"/>
                    <a:pt x="3869264" y="1162361"/>
                    <a:pt x="3890963" y="1147514"/>
                  </a:cubicBezTo>
                  <a:cubicBezTo>
                    <a:pt x="3897815" y="1142946"/>
                    <a:pt x="3909236" y="1133238"/>
                    <a:pt x="3916088" y="1125815"/>
                  </a:cubicBezTo>
                  <a:cubicBezTo>
                    <a:pt x="3922941" y="1118963"/>
                    <a:pt x="3931506" y="1113252"/>
                    <a:pt x="3934932" y="1113252"/>
                  </a:cubicBezTo>
                  <a:cubicBezTo>
                    <a:pt x="3938359" y="1113252"/>
                    <a:pt x="3948066" y="1108113"/>
                    <a:pt x="3956061" y="1101261"/>
                  </a:cubicBezTo>
                  <a:cubicBezTo>
                    <a:pt x="3981757" y="1081846"/>
                    <a:pt x="4010308" y="1063002"/>
                    <a:pt x="4034292" y="1049869"/>
                  </a:cubicBezTo>
                  <a:cubicBezTo>
                    <a:pt x="4046855" y="1043016"/>
                    <a:pt x="4058275" y="1035593"/>
                    <a:pt x="4059988" y="1033309"/>
                  </a:cubicBezTo>
                  <a:cubicBezTo>
                    <a:pt x="4061701" y="1031025"/>
                    <a:pt x="4073693" y="1023602"/>
                    <a:pt x="4086827" y="1016749"/>
                  </a:cubicBezTo>
                  <a:cubicBezTo>
                    <a:pt x="4099960" y="1010468"/>
                    <a:pt x="4111952" y="1002474"/>
                    <a:pt x="4113665" y="999619"/>
                  </a:cubicBezTo>
                  <a:cubicBezTo>
                    <a:pt x="4115949" y="996764"/>
                    <a:pt x="4126799" y="991053"/>
                    <a:pt x="4138791" y="987056"/>
                  </a:cubicBezTo>
                  <a:cubicBezTo>
                    <a:pt x="4150211" y="983630"/>
                    <a:pt x="4166771" y="974494"/>
                    <a:pt x="4175337" y="967070"/>
                  </a:cubicBezTo>
                  <a:cubicBezTo>
                    <a:pt x="4183902" y="960218"/>
                    <a:pt x="4198749" y="952795"/>
                    <a:pt x="4207885" y="950511"/>
                  </a:cubicBezTo>
                  <a:cubicBezTo>
                    <a:pt x="4217022" y="948798"/>
                    <a:pt x="4229014" y="941945"/>
                    <a:pt x="4234153" y="936235"/>
                  </a:cubicBezTo>
                  <a:cubicBezTo>
                    <a:pt x="4239292" y="930525"/>
                    <a:pt x="4251855" y="923672"/>
                    <a:pt x="4262133" y="921388"/>
                  </a:cubicBezTo>
                  <a:cubicBezTo>
                    <a:pt x="4271841" y="919104"/>
                    <a:pt x="4293540" y="909968"/>
                    <a:pt x="4310671" y="901402"/>
                  </a:cubicBezTo>
                  <a:cubicBezTo>
                    <a:pt x="4327802" y="892266"/>
                    <a:pt x="4345504" y="884843"/>
                    <a:pt x="4350643" y="884843"/>
                  </a:cubicBezTo>
                  <a:cubicBezTo>
                    <a:pt x="4356354" y="884843"/>
                    <a:pt x="4368916" y="878562"/>
                    <a:pt x="4378624" y="871138"/>
                  </a:cubicBezTo>
                  <a:cubicBezTo>
                    <a:pt x="4388902" y="863715"/>
                    <a:pt x="4407175" y="856292"/>
                    <a:pt x="4419738" y="854007"/>
                  </a:cubicBezTo>
                  <a:cubicBezTo>
                    <a:pt x="4431730" y="852294"/>
                    <a:pt x="4454000" y="844300"/>
                    <a:pt x="4468847" y="836306"/>
                  </a:cubicBezTo>
                  <a:cubicBezTo>
                    <a:pt x="4483694" y="828311"/>
                    <a:pt x="4499112" y="822030"/>
                    <a:pt x="4503680" y="822030"/>
                  </a:cubicBezTo>
                  <a:cubicBezTo>
                    <a:pt x="4508248" y="822030"/>
                    <a:pt x="4522524" y="815749"/>
                    <a:pt x="4535658" y="808326"/>
                  </a:cubicBezTo>
                  <a:cubicBezTo>
                    <a:pt x="4548791" y="800902"/>
                    <a:pt x="4568777" y="791766"/>
                    <a:pt x="4580198" y="788340"/>
                  </a:cubicBezTo>
                  <a:cubicBezTo>
                    <a:pt x="4591619" y="784343"/>
                    <a:pt x="4605894" y="776348"/>
                    <a:pt x="4611034" y="770638"/>
                  </a:cubicBezTo>
                  <a:cubicBezTo>
                    <a:pt x="4616744" y="764357"/>
                    <a:pt x="4624738" y="759217"/>
                    <a:pt x="4628165" y="759217"/>
                  </a:cubicBezTo>
                  <a:cubicBezTo>
                    <a:pt x="4632162" y="759217"/>
                    <a:pt x="4644725" y="751794"/>
                    <a:pt x="4656716" y="742087"/>
                  </a:cubicBezTo>
                  <a:cubicBezTo>
                    <a:pt x="4668708" y="732950"/>
                    <a:pt x="4681271" y="724956"/>
                    <a:pt x="4684697" y="724956"/>
                  </a:cubicBezTo>
                  <a:cubicBezTo>
                    <a:pt x="4688694" y="724956"/>
                    <a:pt x="4696688" y="719817"/>
                    <a:pt x="4703541" y="714107"/>
                  </a:cubicBezTo>
                  <a:cubicBezTo>
                    <a:pt x="4709822" y="707825"/>
                    <a:pt x="4725240" y="697547"/>
                    <a:pt x="4737232" y="690695"/>
                  </a:cubicBezTo>
                  <a:cubicBezTo>
                    <a:pt x="4780059" y="667283"/>
                    <a:pt x="4800045" y="653578"/>
                    <a:pt x="4829739" y="625027"/>
                  </a:cubicBezTo>
                  <a:cubicBezTo>
                    <a:pt x="4845728" y="609609"/>
                    <a:pt x="4875421" y="582200"/>
                    <a:pt x="4894836" y="565069"/>
                  </a:cubicBezTo>
                  <a:cubicBezTo>
                    <a:pt x="4938806" y="526240"/>
                    <a:pt x="5002190" y="461143"/>
                    <a:pt x="5002190" y="455433"/>
                  </a:cubicBezTo>
                  <a:cubicBezTo>
                    <a:pt x="5002190" y="453149"/>
                    <a:pt x="5009043" y="443441"/>
                    <a:pt x="5018179" y="434305"/>
                  </a:cubicBezTo>
                  <a:cubicBezTo>
                    <a:pt x="5042162" y="408038"/>
                    <a:pt x="5059864" y="386910"/>
                    <a:pt x="5069572" y="370921"/>
                  </a:cubicBezTo>
                  <a:cubicBezTo>
                    <a:pt x="5077566" y="358359"/>
                    <a:pt x="5096981" y="333233"/>
                    <a:pt x="5118110" y="308679"/>
                  </a:cubicBezTo>
                  <a:cubicBezTo>
                    <a:pt x="5125533" y="300114"/>
                    <a:pt x="5141522" y="270992"/>
                    <a:pt x="5162079" y="229878"/>
                  </a:cubicBezTo>
                  <a:cubicBezTo>
                    <a:pt x="5168360" y="216745"/>
                    <a:pt x="5176355" y="204182"/>
                    <a:pt x="5179210" y="202469"/>
                  </a:cubicBezTo>
                  <a:cubicBezTo>
                    <a:pt x="5182636" y="200185"/>
                    <a:pt x="5190060" y="189335"/>
                    <a:pt x="5196341" y="177915"/>
                  </a:cubicBezTo>
                  <a:cubicBezTo>
                    <a:pt x="5207762" y="155645"/>
                    <a:pt x="5276856" y="79699"/>
                    <a:pt x="5285422" y="79699"/>
                  </a:cubicBezTo>
                  <a:cubicBezTo>
                    <a:pt x="5288277" y="79699"/>
                    <a:pt x="5300840" y="71704"/>
                    <a:pt x="5312831" y="62568"/>
                  </a:cubicBezTo>
                  <a:cubicBezTo>
                    <a:pt x="5325394" y="52861"/>
                    <a:pt x="5338528" y="45437"/>
                    <a:pt x="5341954" y="45437"/>
                  </a:cubicBezTo>
                  <a:cubicBezTo>
                    <a:pt x="5345951" y="45437"/>
                    <a:pt x="5355659" y="39727"/>
                    <a:pt x="5364224" y="33446"/>
                  </a:cubicBezTo>
                  <a:cubicBezTo>
                    <a:pt x="5372790" y="26593"/>
                    <a:pt x="5398486" y="17457"/>
                    <a:pt x="5420756" y="12889"/>
                  </a:cubicBezTo>
                  <a:cubicBezTo>
                    <a:pt x="5443598" y="8321"/>
                    <a:pt x="5472149" y="2039"/>
                    <a:pt x="5484712" y="-245"/>
                  </a:cubicBezTo>
                  <a:cubicBezTo>
                    <a:pt x="5516119" y="-7097"/>
                    <a:pt x="5574935" y="-7097"/>
                    <a:pt x="5593208" y="-245"/>
                  </a:cubicBezTo>
                  <a:cubicBezTo>
                    <a:pt x="5601202" y="2610"/>
                    <a:pt x="5625186" y="7750"/>
                    <a:pt x="5646314" y="11176"/>
                  </a:cubicBezTo>
                  <a:cubicBezTo>
                    <a:pt x="5668584" y="15173"/>
                    <a:pt x="5693138" y="23167"/>
                    <a:pt x="5704559" y="31162"/>
                  </a:cubicBezTo>
                  <a:cubicBezTo>
                    <a:pt x="5715408" y="38014"/>
                    <a:pt x="5730826" y="46008"/>
                    <a:pt x="5738821" y="48292"/>
                  </a:cubicBezTo>
                  <a:cubicBezTo>
                    <a:pt x="5755381" y="53432"/>
                    <a:pt x="5825047" y="111676"/>
                    <a:pt x="5850172" y="141940"/>
                  </a:cubicBezTo>
                  <a:cubicBezTo>
                    <a:pt x="5877010" y="173918"/>
                    <a:pt x="5897568" y="206466"/>
                    <a:pt x="5904991" y="228165"/>
                  </a:cubicBezTo>
                  <a:cubicBezTo>
                    <a:pt x="5908988" y="239014"/>
                    <a:pt x="5916983" y="254432"/>
                    <a:pt x="5922693" y="262426"/>
                  </a:cubicBezTo>
                  <a:cubicBezTo>
                    <a:pt x="5947818" y="297830"/>
                    <a:pt x="5947247" y="470279"/>
                    <a:pt x="5920980" y="530808"/>
                  </a:cubicBezTo>
                  <a:cubicBezTo>
                    <a:pt x="5914698" y="545654"/>
                    <a:pt x="5906133" y="571351"/>
                    <a:pt x="5902136" y="588481"/>
                  </a:cubicBezTo>
                  <a:cubicBezTo>
                    <a:pt x="5893570" y="622743"/>
                    <a:pt x="5877010" y="664427"/>
                    <a:pt x="5852456" y="716391"/>
                  </a:cubicBezTo>
                  <a:cubicBezTo>
                    <a:pt x="5843320" y="735234"/>
                    <a:pt x="5835896" y="754649"/>
                    <a:pt x="5835896" y="759789"/>
                  </a:cubicBezTo>
                  <a:cubicBezTo>
                    <a:pt x="5835896" y="764928"/>
                    <a:pt x="5830757" y="775206"/>
                    <a:pt x="5825047" y="782629"/>
                  </a:cubicBezTo>
                  <a:cubicBezTo>
                    <a:pt x="5819336" y="790624"/>
                    <a:pt x="5810771" y="808326"/>
                    <a:pt x="5806774" y="822030"/>
                  </a:cubicBezTo>
                  <a:cubicBezTo>
                    <a:pt x="5802776" y="836306"/>
                    <a:pt x="5795924" y="851723"/>
                    <a:pt x="5791927" y="857434"/>
                  </a:cubicBezTo>
                  <a:cubicBezTo>
                    <a:pt x="5787358" y="862573"/>
                    <a:pt x="5779935" y="878562"/>
                    <a:pt x="5775938" y="893408"/>
                  </a:cubicBezTo>
                  <a:cubicBezTo>
                    <a:pt x="5771370" y="907684"/>
                    <a:pt x="5762804" y="927099"/>
                    <a:pt x="5755952" y="936235"/>
                  </a:cubicBezTo>
                  <a:cubicBezTo>
                    <a:pt x="5749670" y="944800"/>
                    <a:pt x="5744531" y="956221"/>
                    <a:pt x="5744531" y="960789"/>
                  </a:cubicBezTo>
                  <a:cubicBezTo>
                    <a:pt x="5744531" y="965357"/>
                    <a:pt x="5737679" y="981346"/>
                    <a:pt x="5729684" y="996764"/>
                  </a:cubicBezTo>
                  <a:cubicBezTo>
                    <a:pt x="5721119" y="1012181"/>
                    <a:pt x="5710840" y="1036735"/>
                    <a:pt x="5706843" y="1051011"/>
                  </a:cubicBezTo>
                  <a:cubicBezTo>
                    <a:pt x="5702275" y="1065857"/>
                    <a:pt x="5695422" y="1080704"/>
                    <a:pt x="5690854" y="1084130"/>
                  </a:cubicBezTo>
                  <a:cubicBezTo>
                    <a:pt x="5686286" y="1088127"/>
                    <a:pt x="5681147" y="1101261"/>
                    <a:pt x="5678862" y="1113252"/>
                  </a:cubicBezTo>
                  <a:cubicBezTo>
                    <a:pt x="5676578" y="1125815"/>
                    <a:pt x="5670297" y="1141804"/>
                    <a:pt x="5664587" y="1149227"/>
                  </a:cubicBezTo>
                  <a:cubicBezTo>
                    <a:pt x="5649740" y="1168071"/>
                    <a:pt x="5644601" y="1191483"/>
                    <a:pt x="5653166" y="1201761"/>
                  </a:cubicBezTo>
                  <a:cubicBezTo>
                    <a:pt x="5657163" y="1206900"/>
                    <a:pt x="5669726" y="1210327"/>
                    <a:pt x="5684002" y="1210327"/>
                  </a:cubicBezTo>
                  <a:cubicBezTo>
                    <a:pt x="5697135" y="1210327"/>
                    <a:pt x="5721690" y="1214324"/>
                    <a:pt x="5738821" y="1219463"/>
                  </a:cubicBezTo>
                  <a:cubicBezTo>
                    <a:pt x="5755952" y="1224031"/>
                    <a:pt x="5787929" y="1233168"/>
                    <a:pt x="5809629" y="1239449"/>
                  </a:cubicBezTo>
                  <a:cubicBezTo>
                    <a:pt x="5831328" y="1245159"/>
                    <a:pt x="5855311" y="1254295"/>
                    <a:pt x="5863306" y="1259435"/>
                  </a:cubicBezTo>
                  <a:cubicBezTo>
                    <a:pt x="5870729" y="1264003"/>
                    <a:pt x="5889002" y="1271997"/>
                    <a:pt x="5904420" y="1276565"/>
                  </a:cubicBezTo>
                  <a:cubicBezTo>
                    <a:pt x="5919267" y="1281134"/>
                    <a:pt x="5932971" y="1287986"/>
                    <a:pt x="5934685" y="1292554"/>
                  </a:cubicBezTo>
                  <a:cubicBezTo>
                    <a:pt x="5936398" y="1297122"/>
                    <a:pt x="5947818" y="1303975"/>
                    <a:pt x="5959810" y="1307401"/>
                  </a:cubicBezTo>
                  <a:cubicBezTo>
                    <a:pt x="5971802" y="1311398"/>
                    <a:pt x="5988362" y="1319963"/>
                    <a:pt x="5997498" y="1326816"/>
                  </a:cubicBezTo>
                  <a:cubicBezTo>
                    <a:pt x="6033473" y="1354796"/>
                    <a:pt x="6059740" y="1374211"/>
                    <a:pt x="6082011" y="1390199"/>
                  </a:cubicBezTo>
                  <a:cubicBezTo>
                    <a:pt x="6113417" y="1413611"/>
                    <a:pt x="6146537" y="1447302"/>
                    <a:pt x="6205924" y="1518680"/>
                  </a:cubicBezTo>
                  <a:cubicBezTo>
                    <a:pt x="6256175" y="1579779"/>
                    <a:pt x="6268738" y="1597481"/>
                    <a:pt x="6284156" y="1632884"/>
                  </a:cubicBezTo>
                  <a:cubicBezTo>
                    <a:pt x="6289295" y="1643734"/>
                    <a:pt x="6295576" y="1656867"/>
                    <a:pt x="6298432" y="1661436"/>
                  </a:cubicBezTo>
                  <a:cubicBezTo>
                    <a:pt x="6318989" y="1693984"/>
                    <a:pt x="6349824" y="1766504"/>
                    <a:pt x="6354964" y="1792771"/>
                  </a:cubicBezTo>
                  <a:cubicBezTo>
                    <a:pt x="6357819" y="1810473"/>
                    <a:pt x="6365813" y="1838453"/>
                    <a:pt x="6372666" y="1855584"/>
                  </a:cubicBezTo>
                  <a:cubicBezTo>
                    <a:pt x="6397791" y="1917254"/>
                    <a:pt x="6394365" y="2144522"/>
                    <a:pt x="6368097" y="2196485"/>
                  </a:cubicBezTo>
                  <a:cubicBezTo>
                    <a:pt x="6361816" y="2208477"/>
                    <a:pt x="6354964" y="2227321"/>
                    <a:pt x="6352680" y="2238170"/>
                  </a:cubicBezTo>
                  <a:cubicBezTo>
                    <a:pt x="6350395" y="2249020"/>
                    <a:pt x="6343543" y="2263295"/>
                    <a:pt x="6337833" y="2270147"/>
                  </a:cubicBezTo>
                  <a:cubicBezTo>
                    <a:pt x="6324128" y="2284994"/>
                    <a:pt x="6317276" y="2320969"/>
                    <a:pt x="6326412" y="2331247"/>
                  </a:cubicBezTo>
                  <a:cubicBezTo>
                    <a:pt x="6329838" y="2335815"/>
                    <a:pt x="6348682" y="2340954"/>
                    <a:pt x="6367526" y="2343239"/>
                  </a:cubicBezTo>
                  <a:cubicBezTo>
                    <a:pt x="6386941" y="2344952"/>
                    <a:pt x="6410925" y="2351804"/>
                    <a:pt x="6420632" y="2357514"/>
                  </a:cubicBezTo>
                  <a:cubicBezTo>
                    <a:pt x="6430340" y="2363795"/>
                    <a:pt x="6450897" y="2371790"/>
                    <a:pt x="6466886" y="2375787"/>
                  </a:cubicBezTo>
                  <a:cubicBezTo>
                    <a:pt x="6482304" y="2379784"/>
                    <a:pt x="6504003" y="2388920"/>
                    <a:pt x="6514281" y="2396344"/>
                  </a:cubicBezTo>
                  <a:cubicBezTo>
                    <a:pt x="6525131" y="2403767"/>
                    <a:pt x="6537123" y="2409477"/>
                    <a:pt x="6541120" y="2409477"/>
                  </a:cubicBezTo>
                  <a:cubicBezTo>
                    <a:pt x="6545117" y="2409477"/>
                    <a:pt x="6551970" y="2413475"/>
                    <a:pt x="6555967" y="2419185"/>
                  </a:cubicBezTo>
                  <a:cubicBezTo>
                    <a:pt x="6560535" y="2424324"/>
                    <a:pt x="6573098" y="2432318"/>
                    <a:pt x="6583947" y="2437458"/>
                  </a:cubicBezTo>
                  <a:cubicBezTo>
                    <a:pt x="6594797" y="2442597"/>
                    <a:pt x="6609073" y="2451162"/>
                    <a:pt x="6615354" y="2456872"/>
                  </a:cubicBezTo>
                  <a:cubicBezTo>
                    <a:pt x="6722137" y="2551091"/>
                    <a:pt x="6738126" y="2567651"/>
                    <a:pt x="6772388" y="2617901"/>
                  </a:cubicBezTo>
                  <a:cubicBezTo>
                    <a:pt x="6776956" y="2625324"/>
                    <a:pt x="6785521" y="2636745"/>
                    <a:pt x="6791232" y="2644168"/>
                  </a:cubicBezTo>
                  <a:cubicBezTo>
                    <a:pt x="6815786" y="2677288"/>
                    <a:pt x="6831204" y="2705268"/>
                    <a:pt x="6838627" y="2729822"/>
                  </a:cubicBezTo>
                  <a:cubicBezTo>
                    <a:pt x="6843196" y="2744669"/>
                    <a:pt x="6850619" y="2759515"/>
                    <a:pt x="6854616" y="2763512"/>
                  </a:cubicBezTo>
                  <a:cubicBezTo>
                    <a:pt x="6859184" y="2766938"/>
                    <a:pt x="6866037" y="2784069"/>
                    <a:pt x="6869463" y="2800629"/>
                  </a:cubicBezTo>
                  <a:cubicBezTo>
                    <a:pt x="6872889" y="2817760"/>
                    <a:pt x="6881455" y="2846311"/>
                    <a:pt x="6888307" y="2864584"/>
                  </a:cubicBezTo>
                  <a:cubicBezTo>
                    <a:pt x="6899728" y="2894848"/>
                    <a:pt x="6900870" y="2909123"/>
                    <a:pt x="6901441" y="3035891"/>
                  </a:cubicBezTo>
                  <a:lnTo>
                    <a:pt x="6902583" y="3174079"/>
                  </a:lnTo>
                  <a:lnTo>
                    <a:pt x="6924282" y="3192922"/>
                  </a:lnTo>
                  <a:cubicBezTo>
                    <a:pt x="6961399" y="3224329"/>
                    <a:pt x="6974533" y="3240317"/>
                    <a:pt x="7029923" y="3313980"/>
                  </a:cubicBezTo>
                  <a:cubicBezTo>
                    <a:pt x="7048196" y="3339105"/>
                    <a:pt x="7063614" y="3363659"/>
                    <a:pt x="7063614" y="3368798"/>
                  </a:cubicBezTo>
                  <a:cubicBezTo>
                    <a:pt x="7063614" y="3373937"/>
                    <a:pt x="7069895" y="3386500"/>
                    <a:pt x="7077889" y="3397349"/>
                  </a:cubicBezTo>
                  <a:cubicBezTo>
                    <a:pt x="7085884" y="3408199"/>
                    <a:pt x="7092165" y="3420761"/>
                    <a:pt x="7092165" y="3425900"/>
                  </a:cubicBezTo>
                  <a:cubicBezTo>
                    <a:pt x="7092165" y="3431611"/>
                    <a:pt x="7098447" y="3448170"/>
                    <a:pt x="7106441" y="3463017"/>
                  </a:cubicBezTo>
                  <a:cubicBezTo>
                    <a:pt x="7115007" y="3479006"/>
                    <a:pt x="7123572" y="3506986"/>
                    <a:pt x="7126427" y="3530969"/>
                  </a:cubicBezTo>
                  <a:cubicBezTo>
                    <a:pt x="7129282" y="3553239"/>
                    <a:pt x="7135564" y="3582932"/>
                    <a:pt x="7140132" y="3596637"/>
                  </a:cubicBezTo>
                  <a:cubicBezTo>
                    <a:pt x="7152124" y="3630327"/>
                    <a:pt x="7152695" y="3771370"/>
                    <a:pt x="7141274" y="3799921"/>
                  </a:cubicBezTo>
                  <a:cubicBezTo>
                    <a:pt x="7136706" y="3810200"/>
                    <a:pt x="7129853" y="3838751"/>
                    <a:pt x="7126427" y="3862734"/>
                  </a:cubicBezTo>
                  <a:cubicBezTo>
                    <a:pt x="7123001" y="3887288"/>
                    <a:pt x="7113293" y="3918694"/>
                    <a:pt x="7105870" y="3932970"/>
                  </a:cubicBezTo>
                  <a:cubicBezTo>
                    <a:pt x="7098447" y="3947245"/>
                    <a:pt x="7092165" y="3963234"/>
                    <a:pt x="7092165" y="3968373"/>
                  </a:cubicBezTo>
                  <a:cubicBezTo>
                    <a:pt x="7092165" y="3974084"/>
                    <a:pt x="7087026" y="3984933"/>
                    <a:pt x="7080745" y="3992927"/>
                  </a:cubicBezTo>
                  <a:cubicBezTo>
                    <a:pt x="7073892" y="4000922"/>
                    <a:pt x="7065898" y="4016339"/>
                    <a:pt x="7062472" y="4026618"/>
                  </a:cubicBezTo>
                  <a:cubicBezTo>
                    <a:pt x="7056761" y="4043177"/>
                    <a:pt x="7030494" y="4082007"/>
                    <a:pt x="7011079" y="4101993"/>
                  </a:cubicBezTo>
                  <a:cubicBezTo>
                    <a:pt x="7007082" y="4106561"/>
                    <a:pt x="6993377" y="4123121"/>
                    <a:pt x="6980814" y="4139681"/>
                  </a:cubicBezTo>
                  <a:cubicBezTo>
                    <a:pt x="6959115" y="4168232"/>
                    <a:pt x="6936845" y="4191073"/>
                    <a:pt x="6902012" y="4220766"/>
                  </a:cubicBezTo>
                  <a:lnTo>
                    <a:pt x="6885452" y="4234471"/>
                  </a:lnTo>
                  <a:lnTo>
                    <a:pt x="6895159" y="4268161"/>
                  </a:lnTo>
                  <a:cubicBezTo>
                    <a:pt x="6900870" y="4287005"/>
                    <a:pt x="6910006" y="4312130"/>
                    <a:pt x="6915717" y="4323550"/>
                  </a:cubicBezTo>
                  <a:cubicBezTo>
                    <a:pt x="6921998" y="4334971"/>
                    <a:pt x="6928850" y="4362380"/>
                    <a:pt x="6932276" y="4383508"/>
                  </a:cubicBezTo>
                  <a:cubicBezTo>
                    <a:pt x="6935132" y="4405207"/>
                    <a:pt x="6941413" y="4433758"/>
                    <a:pt x="6946552" y="4447463"/>
                  </a:cubicBezTo>
                  <a:cubicBezTo>
                    <a:pt x="6958544" y="4481153"/>
                    <a:pt x="6958544" y="4608491"/>
                    <a:pt x="6946552" y="4641611"/>
                  </a:cubicBezTo>
                  <a:cubicBezTo>
                    <a:pt x="6941984" y="4654744"/>
                    <a:pt x="6935703" y="4686151"/>
                    <a:pt x="6932847" y="4710705"/>
                  </a:cubicBezTo>
                  <a:cubicBezTo>
                    <a:pt x="6929421" y="4735830"/>
                    <a:pt x="6923140" y="4762097"/>
                    <a:pt x="6918572" y="4769520"/>
                  </a:cubicBezTo>
                  <a:cubicBezTo>
                    <a:pt x="6913432" y="4776373"/>
                    <a:pt x="6906009" y="4793503"/>
                    <a:pt x="6900870" y="4807779"/>
                  </a:cubicBezTo>
                  <a:cubicBezTo>
                    <a:pt x="6896301" y="4821483"/>
                    <a:pt x="6888307" y="4836901"/>
                    <a:pt x="6884310" y="4842040"/>
                  </a:cubicBezTo>
                  <a:cubicBezTo>
                    <a:pt x="6879742" y="4846609"/>
                    <a:pt x="6874602" y="4856887"/>
                    <a:pt x="6872318" y="4864881"/>
                  </a:cubicBezTo>
                  <a:cubicBezTo>
                    <a:pt x="6868321" y="4878015"/>
                    <a:pt x="6833488" y="4932833"/>
                    <a:pt x="6804936" y="4969950"/>
                  </a:cubicBezTo>
                  <a:cubicBezTo>
                    <a:pt x="6770675" y="5015061"/>
                    <a:pt x="6649616" y="5121842"/>
                    <a:pt x="6632485" y="5121842"/>
                  </a:cubicBezTo>
                  <a:cubicBezTo>
                    <a:pt x="6629059" y="5121842"/>
                    <a:pt x="6617638" y="5128123"/>
                    <a:pt x="6606789" y="5134976"/>
                  </a:cubicBezTo>
                  <a:cubicBezTo>
                    <a:pt x="6595939" y="5142399"/>
                    <a:pt x="6578237" y="5151535"/>
                    <a:pt x="6567958" y="5154962"/>
                  </a:cubicBezTo>
                  <a:cubicBezTo>
                    <a:pt x="6557680" y="5158388"/>
                    <a:pt x="6542262" y="5166382"/>
                    <a:pt x="6533697" y="5172663"/>
                  </a:cubicBezTo>
                  <a:cubicBezTo>
                    <a:pt x="6525131" y="5178374"/>
                    <a:pt x="6502861" y="5186368"/>
                    <a:pt x="6484017" y="5189794"/>
                  </a:cubicBezTo>
                  <a:cubicBezTo>
                    <a:pt x="6432053" y="5198930"/>
                    <a:pt x="6426914" y="5208067"/>
                    <a:pt x="6421774" y="5291436"/>
                  </a:cubicBezTo>
                  <a:cubicBezTo>
                    <a:pt x="6416635" y="5381658"/>
                    <a:pt x="6393794" y="5474164"/>
                    <a:pt x="6365813" y="5515849"/>
                  </a:cubicBezTo>
                  <a:cubicBezTo>
                    <a:pt x="6360674" y="5523843"/>
                    <a:pt x="6354964" y="5538690"/>
                    <a:pt x="6352680" y="5548397"/>
                  </a:cubicBezTo>
                  <a:cubicBezTo>
                    <a:pt x="6350395" y="5558676"/>
                    <a:pt x="6346398" y="5568383"/>
                    <a:pt x="6344114" y="5570096"/>
                  </a:cubicBezTo>
                  <a:cubicBezTo>
                    <a:pt x="6341259" y="5571809"/>
                    <a:pt x="6324699" y="5594650"/>
                    <a:pt x="6308139" y="5620346"/>
                  </a:cubicBezTo>
                  <a:cubicBezTo>
                    <a:pt x="6291008" y="5646042"/>
                    <a:pt x="6263599" y="5681446"/>
                    <a:pt x="6246468" y="5698577"/>
                  </a:cubicBezTo>
                  <a:cubicBezTo>
                    <a:pt x="6207638" y="5738548"/>
                    <a:pt x="6132832" y="5801361"/>
                    <a:pt x="6123696" y="5801361"/>
                  </a:cubicBezTo>
                  <a:cubicBezTo>
                    <a:pt x="6119699" y="5801361"/>
                    <a:pt x="6109420" y="5807071"/>
                    <a:pt x="6100284" y="5814494"/>
                  </a:cubicBezTo>
                  <a:cubicBezTo>
                    <a:pt x="6078584" y="5832196"/>
                    <a:pt x="6014629" y="5862461"/>
                    <a:pt x="5990075" y="5867029"/>
                  </a:cubicBezTo>
                  <a:cubicBezTo>
                    <a:pt x="5979225" y="5869313"/>
                    <a:pt x="5960952" y="5876165"/>
                    <a:pt x="5950102" y="5882446"/>
                  </a:cubicBezTo>
                  <a:cubicBezTo>
                    <a:pt x="5930116" y="5894438"/>
                    <a:pt x="5894712" y="5899577"/>
                    <a:pt x="5773083" y="5907000"/>
                  </a:cubicBezTo>
                  <a:cubicBezTo>
                    <a:pt x="5743389" y="5909284"/>
                    <a:pt x="5713124" y="5911569"/>
                    <a:pt x="5705701" y="5913282"/>
                  </a:cubicBezTo>
                  <a:cubicBezTo>
                    <a:pt x="5690854" y="5916137"/>
                    <a:pt x="5676007" y="5945259"/>
                    <a:pt x="5676007" y="5971526"/>
                  </a:cubicBezTo>
                  <a:cubicBezTo>
                    <a:pt x="5676007" y="5980662"/>
                    <a:pt x="5670868" y="5994938"/>
                    <a:pt x="5664016" y="6003503"/>
                  </a:cubicBezTo>
                  <a:cubicBezTo>
                    <a:pt x="5657734" y="6011498"/>
                    <a:pt x="5649740" y="6027486"/>
                    <a:pt x="5646885" y="6038907"/>
                  </a:cubicBezTo>
                  <a:cubicBezTo>
                    <a:pt x="5643459" y="6049756"/>
                    <a:pt x="5634893" y="6068029"/>
                    <a:pt x="5626899" y="6079450"/>
                  </a:cubicBezTo>
                  <a:cubicBezTo>
                    <a:pt x="5619475" y="6090870"/>
                    <a:pt x="5613194" y="6103433"/>
                    <a:pt x="5613194" y="6107430"/>
                  </a:cubicBezTo>
                  <a:cubicBezTo>
                    <a:pt x="5613194" y="6111998"/>
                    <a:pt x="5601202" y="6130842"/>
                    <a:pt x="5586355" y="6150257"/>
                  </a:cubicBezTo>
                  <a:cubicBezTo>
                    <a:pt x="5570938" y="6169100"/>
                    <a:pt x="5554949" y="6191370"/>
                    <a:pt x="5549809" y="6198794"/>
                  </a:cubicBezTo>
                  <a:cubicBezTo>
                    <a:pt x="5531536" y="6226774"/>
                    <a:pt x="5508695" y="6248473"/>
                    <a:pt x="5447595" y="6297010"/>
                  </a:cubicBezTo>
                  <a:cubicBezTo>
                    <a:pt x="5392205" y="6340408"/>
                    <a:pt x="5380213" y="6348402"/>
                    <a:pt x="5360798" y="6354683"/>
                  </a:cubicBezTo>
                  <a:cubicBezTo>
                    <a:pt x="5349377" y="6358680"/>
                    <a:pt x="5336815" y="6365533"/>
                    <a:pt x="5333388" y="6369530"/>
                  </a:cubicBezTo>
                  <a:cubicBezTo>
                    <a:pt x="5329391" y="6374098"/>
                    <a:pt x="5315686" y="6380950"/>
                    <a:pt x="5302553" y="6384377"/>
                  </a:cubicBezTo>
                  <a:cubicBezTo>
                    <a:pt x="5289990" y="6387803"/>
                    <a:pt x="5272859" y="6395226"/>
                    <a:pt x="5264865" y="6400936"/>
                  </a:cubicBezTo>
                  <a:cubicBezTo>
                    <a:pt x="5256299" y="6407218"/>
                    <a:pt x="5230032" y="6414070"/>
                    <a:pt x="5203193" y="6418067"/>
                  </a:cubicBezTo>
                  <a:cubicBezTo>
                    <a:pt x="5177497" y="6421493"/>
                    <a:pt x="5147803" y="6427774"/>
                    <a:pt x="5136383" y="6432343"/>
                  </a:cubicBezTo>
                  <a:cubicBezTo>
                    <a:pt x="5108402" y="6444334"/>
                    <a:pt x="4959934" y="6444334"/>
                    <a:pt x="4931953" y="6432343"/>
                  </a:cubicBezTo>
                  <a:cubicBezTo>
                    <a:pt x="4921104" y="6427774"/>
                    <a:pt x="4893123" y="6420922"/>
                    <a:pt x="4869711" y="6417496"/>
                  </a:cubicBezTo>
                  <a:cubicBezTo>
                    <a:pt x="4846870" y="6414070"/>
                    <a:pt x="4817747" y="6406075"/>
                    <a:pt x="4805184" y="6399223"/>
                  </a:cubicBezTo>
                  <a:cubicBezTo>
                    <a:pt x="4777204" y="6384948"/>
                    <a:pt x="4730950" y="6372385"/>
                    <a:pt x="4724669" y="6377524"/>
                  </a:cubicBezTo>
                  <a:cubicBezTo>
                    <a:pt x="4721814" y="6379237"/>
                    <a:pt x="4712106" y="6391229"/>
                    <a:pt x="4702970" y="6403791"/>
                  </a:cubicBezTo>
                  <a:cubicBezTo>
                    <a:pt x="4677844" y="6437482"/>
                    <a:pt x="4573917" y="6538553"/>
                    <a:pt x="4553931" y="6547689"/>
                  </a:cubicBezTo>
                  <a:cubicBezTo>
                    <a:pt x="4536229" y="6555684"/>
                    <a:pt x="4508819" y="6573957"/>
                    <a:pt x="4481981" y="6594513"/>
                  </a:cubicBezTo>
                  <a:cubicBezTo>
                    <a:pt x="4473415" y="6600795"/>
                    <a:pt x="4456284" y="6608218"/>
                    <a:pt x="4443150" y="6611644"/>
                  </a:cubicBezTo>
                  <a:cubicBezTo>
                    <a:pt x="4430017" y="6614499"/>
                    <a:pt x="4412886" y="6620781"/>
                    <a:pt x="4404891" y="6626491"/>
                  </a:cubicBezTo>
                  <a:cubicBezTo>
                    <a:pt x="4391758" y="6635056"/>
                    <a:pt x="4367203" y="6641337"/>
                    <a:pt x="4251284" y="6667034"/>
                  </a:cubicBezTo>
                  <a:cubicBezTo>
                    <a:pt x="4199891" y="6678454"/>
                    <a:pt x="4076548" y="6673315"/>
                    <a:pt x="4037147" y="6657897"/>
                  </a:cubicBezTo>
                  <a:cubicBezTo>
                    <a:pt x="4022871" y="6652187"/>
                    <a:pt x="3997175" y="6645906"/>
                    <a:pt x="3980044" y="6643622"/>
                  </a:cubicBezTo>
                  <a:cubicBezTo>
                    <a:pt x="3952634" y="6639624"/>
                    <a:pt x="3909807" y="6622494"/>
                    <a:pt x="3865838" y="6596798"/>
                  </a:cubicBezTo>
                  <a:cubicBezTo>
                    <a:pt x="3857843" y="6592229"/>
                    <a:pt x="3842996" y="6584806"/>
                    <a:pt x="3832718" y="6580238"/>
                  </a:cubicBezTo>
                  <a:cubicBezTo>
                    <a:pt x="3822439" y="6575670"/>
                    <a:pt x="3803024" y="6564249"/>
                    <a:pt x="3790461" y="6555113"/>
                  </a:cubicBezTo>
                  <a:cubicBezTo>
                    <a:pt x="3760768" y="6533414"/>
                    <a:pt x="3727648" y="6531701"/>
                    <a:pt x="3715085" y="6551116"/>
                  </a:cubicBezTo>
                  <a:cubicBezTo>
                    <a:pt x="3710517" y="6557968"/>
                    <a:pt x="3692244" y="6573957"/>
                    <a:pt x="3673971" y="6586519"/>
                  </a:cubicBezTo>
                  <a:cubicBezTo>
                    <a:pt x="3656269" y="6599082"/>
                    <a:pt x="3631715" y="6617925"/>
                    <a:pt x="3619152" y="6628204"/>
                  </a:cubicBezTo>
                  <a:cubicBezTo>
                    <a:pt x="3606589" y="6637911"/>
                    <a:pt x="3592885" y="6646477"/>
                    <a:pt x="3589458" y="6646477"/>
                  </a:cubicBezTo>
                  <a:cubicBezTo>
                    <a:pt x="3585461" y="6646477"/>
                    <a:pt x="3577467" y="6651616"/>
                    <a:pt x="3572327" y="6657326"/>
                  </a:cubicBezTo>
                  <a:cubicBezTo>
                    <a:pt x="3566617" y="6663036"/>
                    <a:pt x="3550628" y="6671031"/>
                    <a:pt x="3536352" y="6675028"/>
                  </a:cubicBezTo>
                  <a:cubicBezTo>
                    <a:pt x="3521506" y="6678454"/>
                    <a:pt x="3503804" y="6686448"/>
                    <a:pt x="3496380" y="6692159"/>
                  </a:cubicBezTo>
                  <a:cubicBezTo>
                    <a:pt x="3488957" y="6697869"/>
                    <a:pt x="3467829" y="6705863"/>
                    <a:pt x="3450127" y="6709289"/>
                  </a:cubicBezTo>
                  <a:cubicBezTo>
                    <a:pt x="3432425" y="6712715"/>
                    <a:pt x="3401018" y="6720710"/>
                    <a:pt x="3381032" y="6726991"/>
                  </a:cubicBezTo>
                  <a:cubicBezTo>
                    <a:pt x="3329068" y="6742980"/>
                    <a:pt x="3165182" y="6742409"/>
                    <a:pt x="3114931" y="6726420"/>
                  </a:cubicBezTo>
                  <a:close/>
                  <a:moveTo>
                    <a:pt x="3332494" y="6457468"/>
                  </a:moveTo>
                  <a:cubicBezTo>
                    <a:pt x="3366756" y="6451186"/>
                    <a:pt x="3401589" y="6440908"/>
                    <a:pt x="3409583" y="6435198"/>
                  </a:cubicBezTo>
                  <a:cubicBezTo>
                    <a:pt x="3418149" y="6429487"/>
                    <a:pt x="3434138" y="6420922"/>
                    <a:pt x="3445558" y="6415783"/>
                  </a:cubicBezTo>
                  <a:cubicBezTo>
                    <a:pt x="3456979" y="6411215"/>
                    <a:pt x="3466116" y="6404933"/>
                    <a:pt x="3466116" y="6402078"/>
                  </a:cubicBezTo>
                  <a:cubicBezTo>
                    <a:pt x="3466116" y="6399223"/>
                    <a:pt x="3474110" y="6393513"/>
                    <a:pt x="3483246" y="6389516"/>
                  </a:cubicBezTo>
                  <a:cubicBezTo>
                    <a:pt x="3492954" y="6385519"/>
                    <a:pt x="3516366" y="6363820"/>
                    <a:pt x="3536352" y="6341550"/>
                  </a:cubicBezTo>
                  <a:cubicBezTo>
                    <a:pt x="3555767" y="6319280"/>
                    <a:pt x="3573469" y="6299865"/>
                    <a:pt x="3575183" y="6298152"/>
                  </a:cubicBezTo>
                  <a:cubicBezTo>
                    <a:pt x="3577467" y="6296439"/>
                    <a:pt x="3584319" y="6285018"/>
                    <a:pt x="3591171" y="6272456"/>
                  </a:cubicBezTo>
                  <a:cubicBezTo>
                    <a:pt x="3598024" y="6259893"/>
                    <a:pt x="3607160" y="6243334"/>
                    <a:pt x="3611729" y="6235339"/>
                  </a:cubicBezTo>
                  <a:cubicBezTo>
                    <a:pt x="3615726" y="6227345"/>
                    <a:pt x="3622578" y="6213069"/>
                    <a:pt x="3626004" y="6203362"/>
                  </a:cubicBezTo>
                  <a:cubicBezTo>
                    <a:pt x="3629431" y="6193655"/>
                    <a:pt x="3643706" y="6173098"/>
                    <a:pt x="3656840" y="6157680"/>
                  </a:cubicBezTo>
                  <a:lnTo>
                    <a:pt x="3681965" y="6129700"/>
                  </a:lnTo>
                  <a:lnTo>
                    <a:pt x="3721367" y="6129700"/>
                  </a:lnTo>
                  <a:cubicBezTo>
                    <a:pt x="3760768" y="6129700"/>
                    <a:pt x="3761910" y="6130271"/>
                    <a:pt x="3785322" y="6153112"/>
                  </a:cubicBezTo>
                  <a:cubicBezTo>
                    <a:pt x="3797885" y="6166245"/>
                    <a:pt x="3808734" y="6179379"/>
                    <a:pt x="3808734" y="6182805"/>
                  </a:cubicBezTo>
                  <a:cubicBezTo>
                    <a:pt x="3808734" y="6190228"/>
                    <a:pt x="3869835" y="6267888"/>
                    <a:pt x="3887537" y="6283305"/>
                  </a:cubicBezTo>
                  <a:cubicBezTo>
                    <a:pt x="3891534" y="6286731"/>
                    <a:pt x="3899528" y="6294155"/>
                    <a:pt x="3904668" y="6299865"/>
                  </a:cubicBezTo>
                  <a:cubicBezTo>
                    <a:pt x="3917801" y="6314141"/>
                    <a:pt x="3978331" y="6355254"/>
                    <a:pt x="3986325" y="6355254"/>
                  </a:cubicBezTo>
                  <a:cubicBezTo>
                    <a:pt x="3989751" y="6355254"/>
                    <a:pt x="4002885" y="6361536"/>
                    <a:pt x="4016019" y="6368959"/>
                  </a:cubicBezTo>
                  <a:cubicBezTo>
                    <a:pt x="4040573" y="6383806"/>
                    <a:pt x="4153637" y="6404933"/>
                    <a:pt x="4173052" y="6398652"/>
                  </a:cubicBezTo>
                  <a:cubicBezTo>
                    <a:pt x="4178192" y="6396939"/>
                    <a:pt x="4207885" y="6392942"/>
                    <a:pt x="4238721" y="6389516"/>
                  </a:cubicBezTo>
                  <a:cubicBezTo>
                    <a:pt x="4283833" y="6384948"/>
                    <a:pt x="4299822" y="6380379"/>
                    <a:pt x="4326089" y="6365533"/>
                  </a:cubicBezTo>
                  <a:cubicBezTo>
                    <a:pt x="4343791" y="6355825"/>
                    <a:pt x="4364348" y="6341550"/>
                    <a:pt x="4371772" y="6334126"/>
                  </a:cubicBezTo>
                  <a:cubicBezTo>
                    <a:pt x="4379195" y="6327274"/>
                    <a:pt x="4388331" y="6320993"/>
                    <a:pt x="4392900" y="6320993"/>
                  </a:cubicBezTo>
                  <a:cubicBezTo>
                    <a:pt x="4405462" y="6320993"/>
                    <a:pt x="4481410" y="6242192"/>
                    <a:pt x="4493972" y="6215924"/>
                  </a:cubicBezTo>
                  <a:cubicBezTo>
                    <a:pt x="4500254" y="6203362"/>
                    <a:pt x="4509390" y="6186231"/>
                    <a:pt x="4513387" y="6178237"/>
                  </a:cubicBezTo>
                  <a:cubicBezTo>
                    <a:pt x="4532231" y="6145117"/>
                    <a:pt x="4552788" y="6038907"/>
                    <a:pt x="4549362" y="5995509"/>
                  </a:cubicBezTo>
                  <a:cubicBezTo>
                    <a:pt x="4544794" y="5945830"/>
                    <a:pt x="4525379" y="5863032"/>
                    <a:pt x="4508248" y="5823631"/>
                  </a:cubicBezTo>
                  <a:cubicBezTo>
                    <a:pt x="4489404" y="5780804"/>
                    <a:pt x="4489975" y="5759676"/>
                    <a:pt x="4512245" y="5717991"/>
                  </a:cubicBezTo>
                  <a:cubicBezTo>
                    <a:pt x="4529376" y="5685443"/>
                    <a:pt x="4539655" y="5675165"/>
                    <a:pt x="4581911" y="5651753"/>
                  </a:cubicBezTo>
                  <a:cubicBezTo>
                    <a:pt x="4610463" y="5635193"/>
                    <a:pt x="4705254" y="5640903"/>
                    <a:pt x="4705254" y="5658605"/>
                  </a:cubicBezTo>
                  <a:cubicBezTo>
                    <a:pt x="4705254" y="5661460"/>
                    <a:pt x="4713248" y="5668312"/>
                    <a:pt x="4722385" y="5674023"/>
                  </a:cubicBezTo>
                  <a:cubicBezTo>
                    <a:pt x="4732092" y="5679162"/>
                    <a:pt x="4741229" y="5688869"/>
                    <a:pt x="4742942" y="5695721"/>
                  </a:cubicBezTo>
                  <a:cubicBezTo>
                    <a:pt x="4744655" y="5702003"/>
                    <a:pt x="4752078" y="5716278"/>
                    <a:pt x="4759502" y="5727128"/>
                  </a:cubicBezTo>
                  <a:cubicBezTo>
                    <a:pt x="4766925" y="5737977"/>
                    <a:pt x="4774920" y="5757392"/>
                    <a:pt x="4777204" y="5769955"/>
                  </a:cubicBezTo>
                  <a:cubicBezTo>
                    <a:pt x="4778917" y="5782517"/>
                    <a:pt x="4786340" y="5804216"/>
                    <a:pt x="4792622" y="5818492"/>
                  </a:cubicBezTo>
                  <a:cubicBezTo>
                    <a:pt x="4806897" y="5850469"/>
                    <a:pt x="4813179" y="5907000"/>
                    <a:pt x="4813179" y="6008072"/>
                  </a:cubicBezTo>
                  <a:lnTo>
                    <a:pt x="4813750" y="6086302"/>
                  </a:lnTo>
                  <a:lnTo>
                    <a:pt x="4830881" y="6106288"/>
                  </a:lnTo>
                  <a:cubicBezTo>
                    <a:pt x="4840588" y="6117137"/>
                    <a:pt x="4856577" y="6127987"/>
                    <a:pt x="4865714" y="6129700"/>
                  </a:cubicBezTo>
                  <a:cubicBezTo>
                    <a:pt x="4875421" y="6131984"/>
                    <a:pt x="4896549" y="6139978"/>
                    <a:pt x="4913109" y="6146831"/>
                  </a:cubicBezTo>
                  <a:cubicBezTo>
                    <a:pt x="4969070" y="6173098"/>
                    <a:pt x="5131814" y="6170814"/>
                    <a:pt x="5176355" y="6143975"/>
                  </a:cubicBezTo>
                  <a:cubicBezTo>
                    <a:pt x="5185491" y="6138265"/>
                    <a:pt x="5199767" y="6131984"/>
                    <a:pt x="5207762" y="6129700"/>
                  </a:cubicBezTo>
                  <a:cubicBezTo>
                    <a:pt x="5215756" y="6127416"/>
                    <a:pt x="5230032" y="6119421"/>
                    <a:pt x="5240310" y="6111998"/>
                  </a:cubicBezTo>
                  <a:cubicBezTo>
                    <a:pt x="5250018" y="6104575"/>
                    <a:pt x="5260867" y="6098293"/>
                    <a:pt x="5264294" y="6098293"/>
                  </a:cubicBezTo>
                  <a:cubicBezTo>
                    <a:pt x="5273430" y="6098293"/>
                    <a:pt x="5361940" y="6008643"/>
                    <a:pt x="5361940" y="5999506"/>
                  </a:cubicBezTo>
                  <a:cubicBezTo>
                    <a:pt x="5361940" y="5994938"/>
                    <a:pt x="5365937" y="5988086"/>
                    <a:pt x="5370505" y="5984089"/>
                  </a:cubicBezTo>
                  <a:cubicBezTo>
                    <a:pt x="5386494" y="5970384"/>
                    <a:pt x="5417901" y="5893867"/>
                    <a:pt x="5424182" y="5852182"/>
                  </a:cubicBezTo>
                  <a:cubicBezTo>
                    <a:pt x="5428180" y="5829341"/>
                    <a:pt x="5430464" y="5775665"/>
                    <a:pt x="5429893" y="5732267"/>
                  </a:cubicBezTo>
                  <a:cubicBezTo>
                    <a:pt x="5429322" y="5660318"/>
                    <a:pt x="5430464" y="5651182"/>
                    <a:pt x="5441884" y="5632909"/>
                  </a:cubicBezTo>
                  <a:cubicBezTo>
                    <a:pt x="5472149" y="5583230"/>
                    <a:pt x="5518403" y="5568383"/>
                    <a:pt x="5562943" y="5592366"/>
                  </a:cubicBezTo>
                  <a:cubicBezTo>
                    <a:pt x="5577790" y="5600360"/>
                    <a:pt x="5599489" y="5608355"/>
                    <a:pt x="5611481" y="5610639"/>
                  </a:cubicBezTo>
                  <a:cubicBezTo>
                    <a:pt x="5623472" y="5612923"/>
                    <a:pt x="5642887" y="5619204"/>
                    <a:pt x="5654879" y="5625485"/>
                  </a:cubicBezTo>
                  <a:cubicBezTo>
                    <a:pt x="5670297" y="5633480"/>
                    <a:pt x="5694280" y="5636906"/>
                    <a:pt x="5740534" y="5639761"/>
                  </a:cubicBezTo>
                  <a:cubicBezTo>
                    <a:pt x="5795353" y="5642616"/>
                    <a:pt x="5809058" y="5641474"/>
                    <a:pt x="5838751" y="5631196"/>
                  </a:cubicBezTo>
                  <a:cubicBezTo>
                    <a:pt x="5857595" y="5624914"/>
                    <a:pt x="5884434" y="5616349"/>
                    <a:pt x="5898710" y="5612923"/>
                  </a:cubicBezTo>
                  <a:cubicBezTo>
                    <a:pt x="5912985" y="5609497"/>
                    <a:pt x="5929545" y="5601502"/>
                    <a:pt x="5935827" y="5595792"/>
                  </a:cubicBezTo>
                  <a:cubicBezTo>
                    <a:pt x="5942108" y="5590653"/>
                    <a:pt x="5956955" y="5582659"/>
                    <a:pt x="5968375" y="5578662"/>
                  </a:cubicBezTo>
                  <a:cubicBezTo>
                    <a:pt x="5980367" y="5575235"/>
                    <a:pt x="5991788" y="5568383"/>
                    <a:pt x="5994643" y="5564386"/>
                  </a:cubicBezTo>
                  <a:cubicBezTo>
                    <a:pt x="5996927" y="5559818"/>
                    <a:pt x="6012916" y="5544400"/>
                    <a:pt x="6029476" y="5530124"/>
                  </a:cubicBezTo>
                  <a:cubicBezTo>
                    <a:pt x="6063167" y="5501002"/>
                    <a:pt x="6082582" y="5477590"/>
                    <a:pt x="6096286" y="5447326"/>
                  </a:cubicBezTo>
                  <a:cubicBezTo>
                    <a:pt x="6101426" y="5436476"/>
                    <a:pt x="6109991" y="5422201"/>
                    <a:pt x="6116273" y="5415349"/>
                  </a:cubicBezTo>
                  <a:cubicBezTo>
                    <a:pt x="6121983" y="5409067"/>
                    <a:pt x="6129406" y="5390795"/>
                    <a:pt x="6132832" y="5374235"/>
                  </a:cubicBezTo>
                  <a:cubicBezTo>
                    <a:pt x="6135688" y="5357675"/>
                    <a:pt x="6142540" y="5335976"/>
                    <a:pt x="6148250" y="5326269"/>
                  </a:cubicBezTo>
                  <a:cubicBezTo>
                    <a:pt x="6163668" y="5297147"/>
                    <a:pt x="6162526" y="5186939"/>
                    <a:pt x="6146537" y="5144683"/>
                  </a:cubicBezTo>
                  <a:cubicBezTo>
                    <a:pt x="6126551" y="5094433"/>
                    <a:pt x="6119128" y="5032762"/>
                    <a:pt x="6128264" y="5001927"/>
                  </a:cubicBezTo>
                  <a:cubicBezTo>
                    <a:pt x="6134546" y="4979657"/>
                    <a:pt x="6139685" y="4974518"/>
                    <a:pt x="6164239" y="4961955"/>
                  </a:cubicBezTo>
                  <a:cubicBezTo>
                    <a:pt x="6189365" y="4949393"/>
                    <a:pt x="6200214" y="4947680"/>
                    <a:pt x="6255604" y="4947680"/>
                  </a:cubicBezTo>
                  <a:cubicBezTo>
                    <a:pt x="6327554" y="4947109"/>
                    <a:pt x="6420061" y="4932262"/>
                    <a:pt x="6441189" y="4916845"/>
                  </a:cubicBezTo>
                  <a:cubicBezTo>
                    <a:pt x="6449184" y="4911134"/>
                    <a:pt x="6461747" y="4904282"/>
                    <a:pt x="6469741" y="4901998"/>
                  </a:cubicBezTo>
                  <a:cubicBezTo>
                    <a:pt x="6493724" y="4894575"/>
                    <a:pt x="6539407" y="4859742"/>
                    <a:pt x="6573669" y="4823768"/>
                  </a:cubicBezTo>
                  <a:cubicBezTo>
                    <a:pt x="6605646" y="4790077"/>
                    <a:pt x="6646761" y="4729549"/>
                    <a:pt x="6646761" y="4716986"/>
                  </a:cubicBezTo>
                  <a:cubicBezTo>
                    <a:pt x="6646761" y="4712989"/>
                    <a:pt x="6653613" y="4697000"/>
                    <a:pt x="6662179" y="4680441"/>
                  </a:cubicBezTo>
                  <a:cubicBezTo>
                    <a:pt x="6677596" y="4651318"/>
                    <a:pt x="6678167" y="4649034"/>
                    <a:pt x="6678167" y="4547963"/>
                  </a:cubicBezTo>
                  <a:cubicBezTo>
                    <a:pt x="6678167" y="4446892"/>
                    <a:pt x="6677596" y="4444608"/>
                    <a:pt x="6662179" y="4416627"/>
                  </a:cubicBezTo>
                  <a:cubicBezTo>
                    <a:pt x="6653613" y="4401210"/>
                    <a:pt x="6646761" y="4384079"/>
                    <a:pt x="6646761" y="4378940"/>
                  </a:cubicBezTo>
                  <a:cubicBezTo>
                    <a:pt x="6646761" y="4373801"/>
                    <a:pt x="6639337" y="4360096"/>
                    <a:pt x="6629630" y="4348104"/>
                  </a:cubicBezTo>
                  <a:cubicBezTo>
                    <a:pt x="6620493" y="4336113"/>
                    <a:pt x="6612499" y="4324692"/>
                    <a:pt x="6612499" y="4321837"/>
                  </a:cubicBezTo>
                  <a:cubicBezTo>
                    <a:pt x="6612499" y="4319553"/>
                    <a:pt x="6594226" y="4296141"/>
                    <a:pt x="6571956" y="4269874"/>
                  </a:cubicBezTo>
                  <a:cubicBezTo>
                    <a:pt x="6549685" y="4243607"/>
                    <a:pt x="6527415" y="4213914"/>
                    <a:pt x="6522847" y="4203064"/>
                  </a:cubicBezTo>
                  <a:cubicBezTo>
                    <a:pt x="6504574" y="4160237"/>
                    <a:pt x="6533125" y="4103706"/>
                    <a:pt x="6581092" y="4088288"/>
                  </a:cubicBezTo>
                  <a:cubicBezTo>
                    <a:pt x="6593655" y="4084291"/>
                    <a:pt x="6609644" y="4076297"/>
                    <a:pt x="6616496" y="4071158"/>
                  </a:cubicBezTo>
                  <a:cubicBezTo>
                    <a:pt x="6623919" y="4065447"/>
                    <a:pt x="6638766" y="4059166"/>
                    <a:pt x="6649616" y="4057453"/>
                  </a:cubicBezTo>
                  <a:cubicBezTo>
                    <a:pt x="6661037" y="4055169"/>
                    <a:pt x="6671886" y="4049459"/>
                    <a:pt x="6673599" y="4044891"/>
                  </a:cubicBezTo>
                  <a:cubicBezTo>
                    <a:pt x="6675312" y="4040322"/>
                    <a:pt x="6685020" y="4032328"/>
                    <a:pt x="6694727" y="4027189"/>
                  </a:cubicBezTo>
                  <a:cubicBezTo>
                    <a:pt x="6722137" y="4013484"/>
                    <a:pt x="6761538" y="3978652"/>
                    <a:pt x="6786663" y="3946103"/>
                  </a:cubicBezTo>
                  <a:cubicBezTo>
                    <a:pt x="6799226" y="3929544"/>
                    <a:pt x="6815215" y="3909558"/>
                    <a:pt x="6821496" y="3900992"/>
                  </a:cubicBezTo>
                  <a:cubicBezTo>
                    <a:pt x="6828349" y="3892427"/>
                    <a:pt x="6836914" y="3875296"/>
                    <a:pt x="6839769" y="3863305"/>
                  </a:cubicBezTo>
                  <a:cubicBezTo>
                    <a:pt x="6843196" y="3851313"/>
                    <a:pt x="6850048" y="3837038"/>
                    <a:pt x="6855187" y="3831327"/>
                  </a:cubicBezTo>
                  <a:cubicBezTo>
                    <a:pt x="6868892" y="3816481"/>
                    <a:pt x="6876886" y="3742819"/>
                    <a:pt x="6873460" y="3664588"/>
                  </a:cubicBezTo>
                  <a:cubicBezTo>
                    <a:pt x="6871176" y="3608628"/>
                    <a:pt x="6868321" y="3592639"/>
                    <a:pt x="6855758" y="3565230"/>
                  </a:cubicBezTo>
                  <a:cubicBezTo>
                    <a:pt x="6847764" y="3547528"/>
                    <a:pt x="6840911" y="3529827"/>
                    <a:pt x="6840911" y="3525830"/>
                  </a:cubicBezTo>
                  <a:cubicBezTo>
                    <a:pt x="6840911" y="3521832"/>
                    <a:pt x="6832917" y="3509270"/>
                    <a:pt x="6823780" y="3497278"/>
                  </a:cubicBezTo>
                  <a:cubicBezTo>
                    <a:pt x="6814644" y="3485287"/>
                    <a:pt x="6806650" y="3472153"/>
                    <a:pt x="6806650" y="3467585"/>
                  </a:cubicBezTo>
                  <a:cubicBezTo>
                    <a:pt x="6806650" y="3458449"/>
                    <a:pt x="6725563" y="3374508"/>
                    <a:pt x="6716427" y="3374508"/>
                  </a:cubicBezTo>
                  <a:cubicBezTo>
                    <a:pt x="6713000" y="3374508"/>
                    <a:pt x="6703293" y="3368227"/>
                    <a:pt x="6694156" y="3360804"/>
                  </a:cubicBezTo>
                  <a:cubicBezTo>
                    <a:pt x="6685591" y="3353380"/>
                    <a:pt x="6669031" y="3345386"/>
                    <a:pt x="6658181" y="3343102"/>
                  </a:cubicBezTo>
                  <a:cubicBezTo>
                    <a:pt x="6647332" y="3340818"/>
                    <a:pt x="6629059" y="3333394"/>
                    <a:pt x="6618209" y="3326542"/>
                  </a:cubicBezTo>
                  <a:cubicBezTo>
                    <a:pt x="6600507" y="3315693"/>
                    <a:pt x="6587945" y="3314551"/>
                    <a:pt x="6511426" y="3312838"/>
                  </a:cubicBezTo>
                  <a:cubicBezTo>
                    <a:pt x="6462889" y="3311696"/>
                    <a:pt x="6413780" y="3313409"/>
                    <a:pt x="6400075" y="3316835"/>
                  </a:cubicBezTo>
                  <a:cubicBezTo>
                    <a:pt x="6368097" y="3324258"/>
                    <a:pt x="6299574" y="3348812"/>
                    <a:pt x="6277874" y="3360233"/>
                  </a:cubicBezTo>
                  <a:cubicBezTo>
                    <a:pt x="6268738" y="3364801"/>
                    <a:pt x="6252749" y="3368798"/>
                    <a:pt x="6242470" y="3368798"/>
                  </a:cubicBezTo>
                  <a:cubicBezTo>
                    <a:pt x="6220200" y="3368798"/>
                    <a:pt x="6171092" y="3344815"/>
                    <a:pt x="6149963" y="3323687"/>
                  </a:cubicBezTo>
                  <a:cubicBezTo>
                    <a:pt x="6131690" y="3305414"/>
                    <a:pt x="6104281" y="3247170"/>
                    <a:pt x="6104281" y="3226613"/>
                  </a:cubicBezTo>
                  <a:cubicBezTo>
                    <a:pt x="6104281" y="3204343"/>
                    <a:pt x="6135117" y="3143243"/>
                    <a:pt x="6152819" y="3131252"/>
                  </a:cubicBezTo>
                  <a:cubicBezTo>
                    <a:pt x="6160813" y="3124971"/>
                    <a:pt x="6175089" y="3114692"/>
                    <a:pt x="6184225" y="3107269"/>
                  </a:cubicBezTo>
                  <a:cubicBezTo>
                    <a:pt x="6193362" y="3100417"/>
                    <a:pt x="6215061" y="3090709"/>
                    <a:pt x="6232763" y="3086141"/>
                  </a:cubicBezTo>
                  <a:cubicBezTo>
                    <a:pt x="6249894" y="3081573"/>
                    <a:pt x="6270451" y="3073578"/>
                    <a:pt x="6277874" y="3069010"/>
                  </a:cubicBezTo>
                  <a:cubicBezTo>
                    <a:pt x="6284727" y="3064442"/>
                    <a:pt x="6316134" y="3057019"/>
                    <a:pt x="6347540" y="3052451"/>
                  </a:cubicBezTo>
                  <a:cubicBezTo>
                    <a:pt x="6378376" y="3047882"/>
                    <a:pt x="6416635" y="3041030"/>
                    <a:pt x="6431482" y="3037604"/>
                  </a:cubicBezTo>
                  <a:cubicBezTo>
                    <a:pt x="6458320" y="3030752"/>
                    <a:pt x="6489727" y="3031323"/>
                    <a:pt x="6596510" y="3041030"/>
                  </a:cubicBezTo>
                  <a:lnTo>
                    <a:pt x="6634769" y="3045027"/>
                  </a:lnTo>
                  <a:lnTo>
                    <a:pt x="6638766" y="3028468"/>
                  </a:lnTo>
                  <a:cubicBezTo>
                    <a:pt x="6645619" y="3002771"/>
                    <a:pt x="6615925" y="2874291"/>
                    <a:pt x="6597081" y="2845169"/>
                  </a:cubicBezTo>
                  <a:cubicBezTo>
                    <a:pt x="6591942" y="2837745"/>
                    <a:pt x="6583947" y="2824041"/>
                    <a:pt x="6578808" y="2814905"/>
                  </a:cubicBezTo>
                  <a:cubicBezTo>
                    <a:pt x="6544546" y="2754376"/>
                    <a:pt x="6481162" y="2687566"/>
                    <a:pt x="6435479" y="2663583"/>
                  </a:cubicBezTo>
                  <a:cubicBezTo>
                    <a:pt x="6427485" y="2659586"/>
                    <a:pt x="6417206" y="2652163"/>
                    <a:pt x="6413209" y="2647023"/>
                  </a:cubicBezTo>
                  <a:cubicBezTo>
                    <a:pt x="6409212" y="2642455"/>
                    <a:pt x="6397791" y="2636745"/>
                    <a:pt x="6388084" y="2634461"/>
                  </a:cubicBezTo>
                  <a:cubicBezTo>
                    <a:pt x="6377805" y="2632748"/>
                    <a:pt x="6357819" y="2624753"/>
                    <a:pt x="6343543" y="2616759"/>
                  </a:cubicBezTo>
                  <a:cubicBezTo>
                    <a:pt x="6320702" y="2605339"/>
                    <a:pt x="6304142" y="2602484"/>
                    <a:pt x="6235047" y="2597915"/>
                  </a:cubicBezTo>
                  <a:cubicBezTo>
                    <a:pt x="6123125" y="2590492"/>
                    <a:pt x="2913928" y="2590492"/>
                    <a:pt x="2821421" y="2597915"/>
                  </a:cubicBezTo>
                  <a:cubicBezTo>
                    <a:pt x="2770599" y="2601912"/>
                    <a:pt x="2744332" y="2606481"/>
                    <a:pt x="2728914" y="2614475"/>
                  </a:cubicBezTo>
                  <a:cubicBezTo>
                    <a:pt x="2717493" y="2620756"/>
                    <a:pt x="2697507" y="2628751"/>
                    <a:pt x="2684374" y="2632177"/>
                  </a:cubicBezTo>
                  <a:cubicBezTo>
                    <a:pt x="2671811" y="2635603"/>
                    <a:pt x="2657535" y="2641884"/>
                    <a:pt x="2652967" y="2647023"/>
                  </a:cubicBezTo>
                  <a:cubicBezTo>
                    <a:pt x="2647828" y="2651592"/>
                    <a:pt x="2635265" y="2659015"/>
                    <a:pt x="2624415" y="2663583"/>
                  </a:cubicBezTo>
                  <a:cubicBezTo>
                    <a:pt x="2612995" y="2668151"/>
                    <a:pt x="2597577" y="2677859"/>
                    <a:pt x="2590153" y="2684711"/>
                  </a:cubicBezTo>
                  <a:cubicBezTo>
                    <a:pt x="2546755" y="2723541"/>
                    <a:pt x="2498788" y="2774362"/>
                    <a:pt x="2488510" y="2792064"/>
                  </a:cubicBezTo>
                  <a:cubicBezTo>
                    <a:pt x="2482799" y="2802913"/>
                    <a:pt x="2474234" y="2818331"/>
                    <a:pt x="2469666" y="2826325"/>
                  </a:cubicBezTo>
                  <a:cubicBezTo>
                    <a:pt x="2431407" y="2895990"/>
                    <a:pt x="2421128" y="2937104"/>
                    <a:pt x="2421699" y="3029039"/>
                  </a:cubicBezTo>
                  <a:cubicBezTo>
                    <a:pt x="2421699" y="3103843"/>
                    <a:pt x="2430265" y="3158661"/>
                    <a:pt x="2446824" y="3191209"/>
                  </a:cubicBezTo>
                  <a:cubicBezTo>
                    <a:pt x="2454819" y="3207198"/>
                    <a:pt x="2461100" y="3223758"/>
                    <a:pt x="2461100" y="3228897"/>
                  </a:cubicBezTo>
                  <a:cubicBezTo>
                    <a:pt x="2461100" y="3233465"/>
                    <a:pt x="2466240" y="3242602"/>
                    <a:pt x="2472521" y="3248883"/>
                  </a:cubicBezTo>
                  <a:cubicBezTo>
                    <a:pt x="2478231" y="3254593"/>
                    <a:pt x="2488510" y="3269440"/>
                    <a:pt x="2494791" y="3281431"/>
                  </a:cubicBezTo>
                  <a:cubicBezTo>
                    <a:pt x="2507925" y="3307698"/>
                    <a:pt x="2571309" y="3372795"/>
                    <a:pt x="2598148" y="3388784"/>
                  </a:cubicBezTo>
                  <a:cubicBezTo>
                    <a:pt x="2608426" y="3395065"/>
                    <a:pt x="2628983" y="3407057"/>
                    <a:pt x="2643259" y="3416193"/>
                  </a:cubicBezTo>
                  <a:cubicBezTo>
                    <a:pt x="2674666" y="3435037"/>
                    <a:pt x="2679234" y="3436750"/>
                    <a:pt x="2740906" y="3457878"/>
                  </a:cubicBezTo>
                  <a:lnTo>
                    <a:pt x="2789443" y="3474437"/>
                  </a:lnTo>
                  <a:lnTo>
                    <a:pt x="3488957" y="3475579"/>
                  </a:lnTo>
                  <a:cubicBezTo>
                    <a:pt x="4262705" y="3476721"/>
                    <a:pt x="4357496" y="3478435"/>
                    <a:pt x="4419738" y="3491568"/>
                  </a:cubicBezTo>
                  <a:cubicBezTo>
                    <a:pt x="4443150" y="3496136"/>
                    <a:pt x="4501396" y="3502989"/>
                    <a:pt x="4548220" y="3506415"/>
                  </a:cubicBezTo>
                  <a:cubicBezTo>
                    <a:pt x="4603039" y="3509841"/>
                    <a:pt x="4645867" y="3516122"/>
                    <a:pt x="4668137" y="3522974"/>
                  </a:cubicBezTo>
                  <a:cubicBezTo>
                    <a:pt x="4686981" y="3529256"/>
                    <a:pt x="4722956" y="3536679"/>
                    <a:pt x="4748081" y="3540105"/>
                  </a:cubicBezTo>
                  <a:cubicBezTo>
                    <a:pt x="4773207" y="3543531"/>
                    <a:pt x="4809182" y="3550955"/>
                    <a:pt x="4828026" y="3556665"/>
                  </a:cubicBezTo>
                  <a:cubicBezTo>
                    <a:pt x="4846870" y="3562946"/>
                    <a:pt x="4875421" y="3569227"/>
                    <a:pt x="4890839" y="3571512"/>
                  </a:cubicBezTo>
                  <a:cubicBezTo>
                    <a:pt x="4906828" y="3573225"/>
                    <a:pt x="4930811" y="3581219"/>
                    <a:pt x="4945087" y="3588071"/>
                  </a:cubicBezTo>
                  <a:cubicBezTo>
                    <a:pt x="4959363" y="3595495"/>
                    <a:pt x="4982204" y="3603489"/>
                    <a:pt x="4996480" y="3605773"/>
                  </a:cubicBezTo>
                  <a:cubicBezTo>
                    <a:pt x="5010756" y="3608057"/>
                    <a:pt x="5030171" y="3614338"/>
                    <a:pt x="5039307" y="3619478"/>
                  </a:cubicBezTo>
                  <a:cubicBezTo>
                    <a:pt x="5049015" y="3625188"/>
                    <a:pt x="5069572" y="3632611"/>
                    <a:pt x="5084990" y="3636608"/>
                  </a:cubicBezTo>
                  <a:cubicBezTo>
                    <a:pt x="5100979" y="3640605"/>
                    <a:pt x="5118681" y="3648600"/>
                    <a:pt x="5124962" y="3653739"/>
                  </a:cubicBezTo>
                  <a:cubicBezTo>
                    <a:pt x="5131243" y="3659449"/>
                    <a:pt x="5146090" y="3667444"/>
                    <a:pt x="5157511" y="3670870"/>
                  </a:cubicBezTo>
                  <a:cubicBezTo>
                    <a:pt x="5168931" y="3674867"/>
                    <a:pt x="5181494" y="3681148"/>
                    <a:pt x="5184920" y="3685716"/>
                  </a:cubicBezTo>
                  <a:cubicBezTo>
                    <a:pt x="5188346" y="3690285"/>
                    <a:pt x="5200909" y="3696566"/>
                    <a:pt x="5212330" y="3700563"/>
                  </a:cubicBezTo>
                  <a:cubicBezTo>
                    <a:pt x="5223750" y="3703989"/>
                    <a:pt x="5242594" y="3714839"/>
                    <a:pt x="5253444" y="3723404"/>
                  </a:cubicBezTo>
                  <a:cubicBezTo>
                    <a:pt x="5264294" y="3732540"/>
                    <a:pt x="5280854" y="3745674"/>
                    <a:pt x="5289419" y="3752526"/>
                  </a:cubicBezTo>
                  <a:cubicBezTo>
                    <a:pt x="5319684" y="3777080"/>
                    <a:pt x="5356230" y="3812484"/>
                    <a:pt x="5356230" y="3817052"/>
                  </a:cubicBezTo>
                  <a:cubicBezTo>
                    <a:pt x="5356230" y="3819336"/>
                    <a:pt x="5363082" y="3830756"/>
                    <a:pt x="5371648" y="3842177"/>
                  </a:cubicBezTo>
                  <a:cubicBezTo>
                    <a:pt x="5383639" y="3858166"/>
                    <a:pt x="5387636" y="3870157"/>
                    <a:pt x="5389350" y="3898137"/>
                  </a:cubicBezTo>
                  <a:cubicBezTo>
                    <a:pt x="5392776" y="3948387"/>
                    <a:pt x="5387636" y="3967802"/>
                    <a:pt x="5363082" y="3995211"/>
                  </a:cubicBezTo>
                  <a:cubicBezTo>
                    <a:pt x="5346522" y="4014055"/>
                    <a:pt x="5332817" y="4022621"/>
                    <a:pt x="5299127" y="4034612"/>
                  </a:cubicBezTo>
                  <a:lnTo>
                    <a:pt x="5256870" y="4049459"/>
                  </a:lnTo>
                  <a:lnTo>
                    <a:pt x="5216898" y="4032899"/>
                  </a:lnTo>
                  <a:cubicBezTo>
                    <a:pt x="5191202" y="4022621"/>
                    <a:pt x="5167218" y="4007774"/>
                    <a:pt x="5150658" y="3992356"/>
                  </a:cubicBezTo>
                  <a:cubicBezTo>
                    <a:pt x="5136383" y="3978652"/>
                    <a:pt x="5115254" y="3962663"/>
                    <a:pt x="5103834" y="3956382"/>
                  </a:cubicBezTo>
                  <a:cubicBezTo>
                    <a:pt x="5092413" y="3950672"/>
                    <a:pt x="5080993" y="3943248"/>
                    <a:pt x="5079279" y="3939822"/>
                  </a:cubicBezTo>
                  <a:cubicBezTo>
                    <a:pt x="5076995" y="3936396"/>
                    <a:pt x="5065575" y="3929544"/>
                    <a:pt x="5053012" y="3924404"/>
                  </a:cubicBezTo>
                  <a:cubicBezTo>
                    <a:pt x="5041020" y="3919836"/>
                    <a:pt x="5030742" y="3913555"/>
                    <a:pt x="5030742" y="3911271"/>
                  </a:cubicBezTo>
                  <a:cubicBezTo>
                    <a:pt x="5030742" y="3908416"/>
                    <a:pt x="5019321" y="3902134"/>
                    <a:pt x="5005045" y="3896424"/>
                  </a:cubicBezTo>
                  <a:cubicBezTo>
                    <a:pt x="4990770" y="3891285"/>
                    <a:pt x="4967357" y="3881007"/>
                    <a:pt x="4952510" y="3873583"/>
                  </a:cubicBezTo>
                  <a:cubicBezTo>
                    <a:pt x="4938235" y="3866160"/>
                    <a:pt x="4921104" y="3859879"/>
                    <a:pt x="4914822" y="3859879"/>
                  </a:cubicBezTo>
                  <a:cubicBezTo>
                    <a:pt x="4908541" y="3859879"/>
                    <a:pt x="4892552" y="3853597"/>
                    <a:pt x="4879989" y="3846745"/>
                  </a:cubicBezTo>
                  <a:cubicBezTo>
                    <a:pt x="4866856" y="3839322"/>
                    <a:pt x="4837733" y="3830185"/>
                    <a:pt x="4814892" y="3826188"/>
                  </a:cubicBezTo>
                  <a:cubicBezTo>
                    <a:pt x="4791480" y="3822762"/>
                    <a:pt x="4765212" y="3815910"/>
                    <a:pt x="4756076" y="3810771"/>
                  </a:cubicBezTo>
                  <a:cubicBezTo>
                    <a:pt x="4746939" y="3806202"/>
                    <a:pt x="4708109" y="3798779"/>
                    <a:pt x="4669279" y="3794211"/>
                  </a:cubicBezTo>
                  <a:cubicBezTo>
                    <a:pt x="4631020" y="3789072"/>
                    <a:pt x="4584195" y="3781648"/>
                    <a:pt x="4565351" y="3777080"/>
                  </a:cubicBezTo>
                  <a:cubicBezTo>
                    <a:pt x="4546507" y="3772512"/>
                    <a:pt x="4485978" y="3766231"/>
                    <a:pt x="4431159" y="3762805"/>
                  </a:cubicBezTo>
                  <a:cubicBezTo>
                    <a:pt x="4376340" y="3759378"/>
                    <a:pt x="4267273" y="3752526"/>
                    <a:pt x="4189041" y="3747387"/>
                  </a:cubicBezTo>
                  <a:cubicBezTo>
                    <a:pt x="4061130" y="3739393"/>
                    <a:pt x="4013735" y="3738822"/>
                    <a:pt x="3723651" y="3745674"/>
                  </a:cubicBezTo>
                  <a:cubicBezTo>
                    <a:pt x="3235990" y="3757094"/>
                    <a:pt x="2749471" y="3742819"/>
                    <a:pt x="2683231" y="3714839"/>
                  </a:cubicBezTo>
                  <a:cubicBezTo>
                    <a:pt x="2672382" y="3710270"/>
                    <a:pt x="2647828" y="3703989"/>
                    <a:pt x="2627841" y="3699992"/>
                  </a:cubicBezTo>
                  <a:cubicBezTo>
                    <a:pt x="2607855" y="3696566"/>
                    <a:pt x="2579875" y="3687429"/>
                    <a:pt x="2565599" y="3679435"/>
                  </a:cubicBezTo>
                  <a:cubicBezTo>
                    <a:pt x="2534763" y="3662875"/>
                    <a:pt x="2487939" y="3661162"/>
                    <a:pt x="2452535" y="3674867"/>
                  </a:cubicBezTo>
                  <a:cubicBezTo>
                    <a:pt x="2439972" y="3680006"/>
                    <a:pt x="2415418" y="3689142"/>
                    <a:pt x="2398287" y="3695424"/>
                  </a:cubicBezTo>
                  <a:cubicBezTo>
                    <a:pt x="2381156" y="3701705"/>
                    <a:pt x="2361741" y="3711412"/>
                    <a:pt x="2355459" y="3717123"/>
                  </a:cubicBezTo>
                  <a:cubicBezTo>
                    <a:pt x="2349178" y="3722262"/>
                    <a:pt x="2337757" y="3730256"/>
                    <a:pt x="2329763" y="3734253"/>
                  </a:cubicBezTo>
                  <a:cubicBezTo>
                    <a:pt x="2292075" y="3753668"/>
                    <a:pt x="2204136" y="3854739"/>
                    <a:pt x="2204136" y="3878151"/>
                  </a:cubicBezTo>
                  <a:cubicBezTo>
                    <a:pt x="2204136" y="3883291"/>
                    <a:pt x="2197284" y="3896424"/>
                    <a:pt x="2189289" y="3908987"/>
                  </a:cubicBezTo>
                  <a:cubicBezTo>
                    <a:pt x="2180153" y="3922120"/>
                    <a:pt x="2172729" y="3943819"/>
                    <a:pt x="2169874" y="3963805"/>
                  </a:cubicBezTo>
                  <a:cubicBezTo>
                    <a:pt x="2167019" y="3982078"/>
                    <a:pt x="2161880" y="4006632"/>
                    <a:pt x="2157883" y="4018052"/>
                  </a:cubicBezTo>
                  <a:cubicBezTo>
                    <a:pt x="2144178" y="4060879"/>
                    <a:pt x="2163022" y="4171087"/>
                    <a:pt x="2195571" y="4236184"/>
                  </a:cubicBezTo>
                  <a:cubicBezTo>
                    <a:pt x="2222409" y="4289289"/>
                    <a:pt x="2298927" y="4367519"/>
                    <a:pt x="2336615" y="4380653"/>
                  </a:cubicBezTo>
                  <a:cubicBezTo>
                    <a:pt x="2346894" y="4384079"/>
                    <a:pt x="2361741" y="4392073"/>
                    <a:pt x="2369735" y="4397784"/>
                  </a:cubicBezTo>
                  <a:cubicBezTo>
                    <a:pt x="2377730" y="4403494"/>
                    <a:pt x="2404568" y="4412059"/>
                    <a:pt x="2429693" y="4416627"/>
                  </a:cubicBezTo>
                  <a:cubicBezTo>
                    <a:pt x="2497646" y="4429761"/>
                    <a:pt x="2557034" y="4445750"/>
                    <a:pt x="2571880" y="4455457"/>
                  </a:cubicBezTo>
                  <a:cubicBezTo>
                    <a:pt x="2579304" y="4460596"/>
                    <a:pt x="2589011" y="4476585"/>
                    <a:pt x="2594151" y="4494858"/>
                  </a:cubicBezTo>
                  <a:cubicBezTo>
                    <a:pt x="2603287" y="4523409"/>
                    <a:pt x="2603287" y="4526835"/>
                    <a:pt x="2593008" y="4562239"/>
                  </a:cubicBezTo>
                  <a:cubicBezTo>
                    <a:pt x="2587298" y="4582795"/>
                    <a:pt x="2577020" y="4608491"/>
                    <a:pt x="2570738" y="4619341"/>
                  </a:cubicBezTo>
                  <a:cubicBezTo>
                    <a:pt x="2564457" y="4630190"/>
                    <a:pt x="2557605" y="4654744"/>
                    <a:pt x="2555320" y="4673588"/>
                  </a:cubicBezTo>
                  <a:cubicBezTo>
                    <a:pt x="2553036" y="4692432"/>
                    <a:pt x="2549039" y="4717557"/>
                    <a:pt x="2546184" y="4729549"/>
                  </a:cubicBezTo>
                  <a:cubicBezTo>
                    <a:pt x="2536476" y="4766665"/>
                    <a:pt x="2554749" y="4870021"/>
                    <a:pt x="2579304" y="4917987"/>
                  </a:cubicBezTo>
                  <a:cubicBezTo>
                    <a:pt x="2602145" y="4962526"/>
                    <a:pt x="2604429" y="4965953"/>
                    <a:pt x="2652396" y="5015061"/>
                  </a:cubicBezTo>
                  <a:cubicBezTo>
                    <a:pt x="2690084" y="5053890"/>
                    <a:pt x="2744332" y="5089865"/>
                    <a:pt x="2774596" y="5096146"/>
                  </a:cubicBezTo>
                  <a:cubicBezTo>
                    <a:pt x="2784875" y="5098430"/>
                    <a:pt x="2804290" y="5105282"/>
                    <a:pt x="2817424" y="5110993"/>
                  </a:cubicBezTo>
                  <a:cubicBezTo>
                    <a:pt x="2854541" y="5128123"/>
                    <a:pt x="2936198" y="5125839"/>
                    <a:pt x="2995015" y="5106996"/>
                  </a:cubicBezTo>
                  <a:cubicBezTo>
                    <a:pt x="3020140" y="5098430"/>
                    <a:pt x="3046978" y="5088152"/>
                    <a:pt x="3054973" y="5084155"/>
                  </a:cubicBezTo>
                  <a:cubicBezTo>
                    <a:pt x="3062967" y="5079586"/>
                    <a:pt x="3080669" y="5071021"/>
                    <a:pt x="3094945" y="5064169"/>
                  </a:cubicBezTo>
                  <a:cubicBezTo>
                    <a:pt x="3109221" y="5057316"/>
                    <a:pt x="3126923" y="5047038"/>
                    <a:pt x="3134346" y="5041328"/>
                  </a:cubicBezTo>
                  <a:cubicBezTo>
                    <a:pt x="3149764" y="5029336"/>
                    <a:pt x="3185739" y="5027052"/>
                    <a:pt x="3205154" y="5036760"/>
                  </a:cubicBezTo>
                  <a:cubicBezTo>
                    <a:pt x="3226853" y="5048180"/>
                    <a:pt x="3254263" y="5077302"/>
                    <a:pt x="3259973" y="5095575"/>
                  </a:cubicBezTo>
                  <a:cubicBezTo>
                    <a:pt x="3262828" y="5105282"/>
                    <a:pt x="3266826" y="5125268"/>
                    <a:pt x="3269110" y="5140115"/>
                  </a:cubicBezTo>
                  <a:cubicBezTo>
                    <a:pt x="3270823" y="5154962"/>
                    <a:pt x="3274820" y="5168666"/>
                    <a:pt x="3277675" y="5170379"/>
                  </a:cubicBezTo>
                  <a:cubicBezTo>
                    <a:pt x="3280530" y="5172092"/>
                    <a:pt x="3286812" y="5186939"/>
                    <a:pt x="3291951" y="5203499"/>
                  </a:cubicBezTo>
                  <a:cubicBezTo>
                    <a:pt x="3297661" y="5219487"/>
                    <a:pt x="3306227" y="5238331"/>
                    <a:pt x="3311937" y="5244612"/>
                  </a:cubicBezTo>
                  <a:cubicBezTo>
                    <a:pt x="3317647" y="5250894"/>
                    <a:pt x="3326213" y="5264027"/>
                    <a:pt x="3330781" y="5273735"/>
                  </a:cubicBezTo>
                  <a:cubicBezTo>
                    <a:pt x="3340489" y="5293149"/>
                    <a:pt x="3383887" y="5338260"/>
                    <a:pt x="3417007" y="5363385"/>
                  </a:cubicBezTo>
                  <a:cubicBezTo>
                    <a:pt x="3470684" y="5404499"/>
                    <a:pt x="3513511" y="5418775"/>
                    <a:pt x="3606589" y="5427340"/>
                  </a:cubicBezTo>
                  <a:cubicBezTo>
                    <a:pt x="3655127" y="5431337"/>
                    <a:pt x="3753915" y="5414207"/>
                    <a:pt x="3779041" y="5397076"/>
                  </a:cubicBezTo>
                  <a:cubicBezTo>
                    <a:pt x="3804737" y="5379374"/>
                    <a:pt x="3825865" y="5365098"/>
                    <a:pt x="3845851" y="5353107"/>
                  </a:cubicBezTo>
                  <a:cubicBezTo>
                    <a:pt x="3868693" y="5338831"/>
                    <a:pt x="3945782" y="5237760"/>
                    <a:pt x="3945782" y="5221771"/>
                  </a:cubicBezTo>
                  <a:cubicBezTo>
                    <a:pt x="3945782" y="5215490"/>
                    <a:pt x="3950921" y="5202928"/>
                    <a:pt x="3957203" y="5193220"/>
                  </a:cubicBezTo>
                  <a:cubicBezTo>
                    <a:pt x="3963484" y="5184084"/>
                    <a:pt x="3971478" y="5161814"/>
                    <a:pt x="3974905" y="5144683"/>
                  </a:cubicBezTo>
                  <a:cubicBezTo>
                    <a:pt x="3978331" y="5127552"/>
                    <a:pt x="3986896" y="5106425"/>
                    <a:pt x="3993749" y="5098430"/>
                  </a:cubicBezTo>
                  <a:cubicBezTo>
                    <a:pt x="4000030" y="5089865"/>
                    <a:pt x="4008595" y="5079015"/>
                    <a:pt x="4011451" y="5073876"/>
                  </a:cubicBezTo>
                  <a:cubicBezTo>
                    <a:pt x="4018874" y="5061885"/>
                    <a:pt x="4065128" y="5053890"/>
                    <a:pt x="4095392" y="5059030"/>
                  </a:cubicBezTo>
                  <a:cubicBezTo>
                    <a:pt x="4114807" y="5063027"/>
                    <a:pt x="4126228" y="5069879"/>
                    <a:pt x="4148498" y="5094433"/>
                  </a:cubicBezTo>
                  <a:cubicBezTo>
                    <a:pt x="4210170" y="5159530"/>
                    <a:pt x="4286688" y="5216061"/>
                    <a:pt x="4326660" y="5225198"/>
                  </a:cubicBezTo>
                  <a:cubicBezTo>
                    <a:pt x="4340936" y="5228053"/>
                    <a:pt x="4360351" y="5234905"/>
                    <a:pt x="4370629" y="5240044"/>
                  </a:cubicBezTo>
                  <a:cubicBezTo>
                    <a:pt x="4395755" y="5253749"/>
                    <a:pt x="4501967" y="5253749"/>
                    <a:pt x="4522524" y="5240044"/>
                  </a:cubicBezTo>
                  <a:cubicBezTo>
                    <a:pt x="4530518" y="5235476"/>
                    <a:pt x="4549933" y="5228053"/>
                    <a:pt x="4565351" y="5224056"/>
                  </a:cubicBezTo>
                  <a:cubicBezTo>
                    <a:pt x="4581340" y="5220629"/>
                    <a:pt x="4608179" y="5208067"/>
                    <a:pt x="4625309" y="5197217"/>
                  </a:cubicBezTo>
                  <a:cubicBezTo>
                    <a:pt x="4661284" y="5173805"/>
                    <a:pt x="4745226" y="5091578"/>
                    <a:pt x="4745226" y="5079586"/>
                  </a:cubicBezTo>
                  <a:cubicBezTo>
                    <a:pt x="4745226" y="5075018"/>
                    <a:pt x="4752078" y="5063598"/>
                    <a:pt x="4760073" y="5053890"/>
                  </a:cubicBezTo>
                  <a:cubicBezTo>
                    <a:pt x="4777775" y="5032762"/>
                    <a:pt x="4790338" y="4983654"/>
                    <a:pt x="4784627" y="4956816"/>
                  </a:cubicBezTo>
                  <a:cubicBezTo>
                    <a:pt x="4782343" y="4946538"/>
                    <a:pt x="4774920" y="4931120"/>
                    <a:pt x="4768638" y="4922555"/>
                  </a:cubicBezTo>
                  <a:cubicBezTo>
                    <a:pt x="4761786" y="4914560"/>
                    <a:pt x="4752078" y="4898572"/>
                    <a:pt x="4747510" y="4887722"/>
                  </a:cubicBezTo>
                  <a:cubicBezTo>
                    <a:pt x="4742371" y="4876873"/>
                    <a:pt x="4733234" y="4862026"/>
                    <a:pt x="4727524" y="4854032"/>
                  </a:cubicBezTo>
                  <a:cubicBezTo>
                    <a:pt x="4721814" y="4846609"/>
                    <a:pt x="4716675" y="4836330"/>
                    <a:pt x="4716675" y="4830620"/>
                  </a:cubicBezTo>
                  <a:cubicBezTo>
                    <a:pt x="4716675" y="4825481"/>
                    <a:pt x="4710393" y="4811205"/>
                    <a:pt x="4702399" y="4799785"/>
                  </a:cubicBezTo>
                  <a:cubicBezTo>
                    <a:pt x="4694404" y="4787793"/>
                    <a:pt x="4685268" y="4766665"/>
                    <a:pt x="4681842" y="4751819"/>
                  </a:cubicBezTo>
                  <a:cubicBezTo>
                    <a:pt x="4678986" y="4736972"/>
                    <a:pt x="4670421" y="4710705"/>
                    <a:pt x="4663569" y="4693574"/>
                  </a:cubicBezTo>
                  <a:cubicBezTo>
                    <a:pt x="4651577" y="4664452"/>
                    <a:pt x="4651006" y="4653031"/>
                    <a:pt x="4651006" y="4527977"/>
                  </a:cubicBezTo>
                  <a:lnTo>
                    <a:pt x="4651006" y="4393786"/>
                  </a:lnTo>
                  <a:lnTo>
                    <a:pt x="4666995" y="4361238"/>
                  </a:lnTo>
                  <a:cubicBezTo>
                    <a:pt x="4675560" y="4343536"/>
                    <a:pt x="4682413" y="4323550"/>
                    <a:pt x="4682413" y="4317269"/>
                  </a:cubicBezTo>
                  <a:cubicBezTo>
                    <a:pt x="4682413" y="4310988"/>
                    <a:pt x="4688123" y="4298996"/>
                    <a:pt x="4695546" y="4289860"/>
                  </a:cubicBezTo>
                  <a:cubicBezTo>
                    <a:pt x="4702399" y="4281295"/>
                    <a:pt x="4712106" y="4266448"/>
                    <a:pt x="4716675" y="4257312"/>
                  </a:cubicBezTo>
                  <a:cubicBezTo>
                    <a:pt x="4721243" y="4248175"/>
                    <a:pt x="4740087" y="4228189"/>
                    <a:pt x="4757789" y="4213343"/>
                  </a:cubicBezTo>
                  <a:cubicBezTo>
                    <a:pt x="4784627" y="4191073"/>
                    <a:pt x="4796048" y="4185362"/>
                    <a:pt x="4821173" y="4182507"/>
                  </a:cubicBezTo>
                  <a:cubicBezTo>
                    <a:pt x="4857148" y="4177939"/>
                    <a:pt x="4896549" y="4187076"/>
                    <a:pt x="4915393" y="4204206"/>
                  </a:cubicBezTo>
                  <a:cubicBezTo>
                    <a:pt x="4922817" y="4211059"/>
                    <a:pt x="4937664" y="4229902"/>
                    <a:pt x="4948513" y="4245891"/>
                  </a:cubicBezTo>
                  <a:cubicBezTo>
                    <a:pt x="4965644" y="4271587"/>
                    <a:pt x="4967928" y="4279582"/>
                    <a:pt x="4967928" y="4311559"/>
                  </a:cubicBezTo>
                  <a:cubicBezTo>
                    <a:pt x="4967928" y="4338397"/>
                    <a:pt x="4964502" y="4355528"/>
                    <a:pt x="4954224" y="4376656"/>
                  </a:cubicBezTo>
                  <a:cubicBezTo>
                    <a:pt x="4946800" y="4392073"/>
                    <a:pt x="4933666" y="4428048"/>
                    <a:pt x="4925101" y="4456028"/>
                  </a:cubicBezTo>
                  <a:cubicBezTo>
                    <a:pt x="4911967" y="4497713"/>
                    <a:pt x="4909683" y="4513701"/>
                    <a:pt x="4911967" y="4550818"/>
                  </a:cubicBezTo>
                  <a:cubicBezTo>
                    <a:pt x="4913680" y="4575943"/>
                    <a:pt x="4917678" y="4599355"/>
                    <a:pt x="4921104" y="4603923"/>
                  </a:cubicBezTo>
                  <a:cubicBezTo>
                    <a:pt x="4924530" y="4607920"/>
                    <a:pt x="4931382" y="4627906"/>
                    <a:pt x="4935951" y="4648463"/>
                  </a:cubicBezTo>
                  <a:cubicBezTo>
                    <a:pt x="4945087" y="4687864"/>
                    <a:pt x="4967928" y="4731833"/>
                    <a:pt x="4999335" y="4773517"/>
                  </a:cubicBezTo>
                  <a:cubicBezTo>
                    <a:pt x="5010185" y="4787793"/>
                    <a:pt x="5023889" y="4805495"/>
                    <a:pt x="5029029" y="4813489"/>
                  </a:cubicBezTo>
                  <a:cubicBezTo>
                    <a:pt x="5034739" y="4821483"/>
                    <a:pt x="5042162" y="4830049"/>
                    <a:pt x="5046160" y="4832333"/>
                  </a:cubicBezTo>
                  <a:cubicBezTo>
                    <a:pt x="5050157" y="4834617"/>
                    <a:pt x="5059864" y="4843182"/>
                    <a:pt x="5066717" y="4851177"/>
                  </a:cubicBezTo>
                  <a:cubicBezTo>
                    <a:pt x="5086703" y="4872876"/>
                    <a:pt x="5141522" y="4880299"/>
                    <a:pt x="5218611" y="4871163"/>
                  </a:cubicBezTo>
                  <a:cubicBezTo>
                    <a:pt x="5266007" y="4866023"/>
                    <a:pt x="5283709" y="4861455"/>
                    <a:pt x="5299698" y="4850035"/>
                  </a:cubicBezTo>
                  <a:cubicBezTo>
                    <a:pt x="5310547" y="4842611"/>
                    <a:pt x="5323681" y="4836330"/>
                    <a:pt x="5328249" y="4836330"/>
                  </a:cubicBezTo>
                  <a:cubicBezTo>
                    <a:pt x="5347093" y="4836330"/>
                    <a:pt x="5431035" y="4764381"/>
                    <a:pt x="5459015" y="4724980"/>
                  </a:cubicBezTo>
                  <a:cubicBezTo>
                    <a:pt x="5468152" y="4712418"/>
                    <a:pt x="5484712" y="4683867"/>
                    <a:pt x="5495561" y="4661026"/>
                  </a:cubicBezTo>
                  <a:cubicBezTo>
                    <a:pt x="5520116" y="4612489"/>
                    <a:pt x="5527539" y="4554815"/>
                    <a:pt x="5519545" y="4470875"/>
                  </a:cubicBezTo>
                  <a:cubicBezTo>
                    <a:pt x="5515547" y="4424622"/>
                    <a:pt x="5511550" y="4409775"/>
                    <a:pt x="5492135" y="4370945"/>
                  </a:cubicBezTo>
                  <a:cubicBezTo>
                    <a:pt x="5461871" y="4309846"/>
                    <a:pt x="5450450" y="4289289"/>
                    <a:pt x="5440171" y="4277868"/>
                  </a:cubicBezTo>
                  <a:cubicBezTo>
                    <a:pt x="5435603" y="4272729"/>
                    <a:pt x="5427609" y="4259025"/>
                    <a:pt x="5422469" y="4248175"/>
                  </a:cubicBezTo>
                  <a:cubicBezTo>
                    <a:pt x="5417330" y="4237326"/>
                    <a:pt x="5404196" y="4215627"/>
                    <a:pt x="5393347" y="4199638"/>
                  </a:cubicBezTo>
                  <a:lnTo>
                    <a:pt x="5373361" y="4171087"/>
                  </a:lnTo>
                  <a:lnTo>
                    <a:pt x="5385352" y="4161379"/>
                  </a:lnTo>
                  <a:cubicBezTo>
                    <a:pt x="5392205" y="4155669"/>
                    <a:pt x="5405909" y="4151101"/>
                    <a:pt x="5415617" y="4151101"/>
                  </a:cubicBezTo>
                  <a:cubicBezTo>
                    <a:pt x="5425896" y="4151101"/>
                    <a:pt x="5453305" y="4145962"/>
                    <a:pt x="5476717" y="4140252"/>
                  </a:cubicBezTo>
                  <a:cubicBezTo>
                    <a:pt x="5500130" y="4133970"/>
                    <a:pt x="5537247" y="4127118"/>
                    <a:pt x="5558946" y="4124834"/>
                  </a:cubicBezTo>
                  <a:cubicBezTo>
                    <a:pt x="5598347" y="4120837"/>
                    <a:pt x="5654879" y="4098567"/>
                    <a:pt x="5710840" y="4063734"/>
                  </a:cubicBezTo>
                  <a:cubicBezTo>
                    <a:pt x="5750812" y="4039180"/>
                    <a:pt x="5841606" y="3931828"/>
                    <a:pt x="5841606" y="3908987"/>
                  </a:cubicBezTo>
                  <a:cubicBezTo>
                    <a:pt x="5841606" y="3906132"/>
                    <a:pt x="5848459" y="3889572"/>
                    <a:pt x="5857024" y="3871870"/>
                  </a:cubicBezTo>
                  <a:cubicBezTo>
                    <a:pt x="5871871" y="3842177"/>
                    <a:pt x="5872442" y="3834754"/>
                    <a:pt x="5872442" y="3765660"/>
                  </a:cubicBezTo>
                  <a:cubicBezTo>
                    <a:pt x="5872442" y="3695995"/>
                    <a:pt x="5871300" y="3689713"/>
                    <a:pt x="5857024" y="3662875"/>
                  </a:cubicBezTo>
                  <a:cubicBezTo>
                    <a:pt x="5848459" y="3647458"/>
                    <a:pt x="5841606" y="3630327"/>
                    <a:pt x="5841606" y="3625188"/>
                  </a:cubicBezTo>
                  <a:cubicBezTo>
                    <a:pt x="5841606" y="3620049"/>
                    <a:pt x="5834183" y="3605773"/>
                    <a:pt x="5824475" y="3593781"/>
                  </a:cubicBezTo>
                  <a:cubicBezTo>
                    <a:pt x="5815339" y="3581219"/>
                    <a:pt x="5800492" y="3561804"/>
                    <a:pt x="5791927" y="3549813"/>
                  </a:cubicBezTo>
                  <a:cubicBezTo>
                    <a:pt x="5763946" y="3511554"/>
                    <a:pt x="5677720" y="3437321"/>
                    <a:pt x="5661160" y="3437321"/>
                  </a:cubicBezTo>
                  <a:cubicBezTo>
                    <a:pt x="5657734" y="3437321"/>
                    <a:pt x="5650882" y="3433324"/>
                    <a:pt x="5646885" y="3427613"/>
                  </a:cubicBezTo>
                  <a:cubicBezTo>
                    <a:pt x="5642316" y="3422474"/>
                    <a:pt x="5628041" y="3413909"/>
                    <a:pt x="5615478" y="3407628"/>
                  </a:cubicBezTo>
                  <a:cubicBezTo>
                    <a:pt x="5602344" y="3401917"/>
                    <a:pt x="5588639" y="3393923"/>
                    <a:pt x="5585213" y="3389355"/>
                  </a:cubicBezTo>
                  <a:cubicBezTo>
                    <a:pt x="5581216" y="3384787"/>
                    <a:pt x="5569795" y="3379076"/>
                    <a:pt x="5560088" y="3377363"/>
                  </a:cubicBezTo>
                  <a:cubicBezTo>
                    <a:pt x="5549809" y="3375079"/>
                    <a:pt x="5531536" y="3367656"/>
                    <a:pt x="5518974" y="3360233"/>
                  </a:cubicBezTo>
                  <a:cubicBezTo>
                    <a:pt x="5506411" y="3353380"/>
                    <a:pt x="5486996" y="3345386"/>
                    <a:pt x="5476146" y="3343102"/>
                  </a:cubicBezTo>
                  <a:cubicBezTo>
                    <a:pt x="5465297" y="3340818"/>
                    <a:pt x="5448737" y="3334536"/>
                    <a:pt x="5439029" y="3328826"/>
                  </a:cubicBezTo>
                  <a:cubicBezTo>
                    <a:pt x="5429893" y="3323116"/>
                    <a:pt x="5405338" y="3315122"/>
                    <a:pt x="5384781" y="3311696"/>
                  </a:cubicBezTo>
                  <a:cubicBezTo>
                    <a:pt x="5364224" y="3307698"/>
                    <a:pt x="5337386" y="3300275"/>
                    <a:pt x="5324252" y="3294565"/>
                  </a:cubicBezTo>
                  <a:cubicBezTo>
                    <a:pt x="5311689" y="3288284"/>
                    <a:pt x="5279140" y="3280860"/>
                    <a:pt x="5251731" y="3277434"/>
                  </a:cubicBezTo>
                  <a:cubicBezTo>
                    <a:pt x="5224892" y="3274008"/>
                    <a:pt x="5192915" y="3268298"/>
                    <a:pt x="5180923" y="3263729"/>
                  </a:cubicBezTo>
                  <a:cubicBezTo>
                    <a:pt x="5153514" y="3254022"/>
                    <a:pt x="5129530" y="3250596"/>
                    <a:pt x="5050157" y="3243173"/>
                  </a:cubicBezTo>
                  <a:cubicBezTo>
                    <a:pt x="5013040" y="3239746"/>
                    <a:pt x="4967357" y="3231181"/>
                    <a:pt x="4940519" y="3222616"/>
                  </a:cubicBezTo>
                  <a:cubicBezTo>
                    <a:pt x="4898834" y="3209482"/>
                    <a:pt x="4891981" y="3205485"/>
                    <a:pt x="4871424" y="3179218"/>
                  </a:cubicBezTo>
                  <a:cubicBezTo>
                    <a:pt x="4845157" y="3146670"/>
                    <a:pt x="4839446" y="3125542"/>
                    <a:pt x="4844015" y="3077005"/>
                  </a:cubicBezTo>
                  <a:cubicBezTo>
                    <a:pt x="4846299" y="3051880"/>
                    <a:pt x="4850867" y="3038746"/>
                    <a:pt x="4861716" y="3025612"/>
                  </a:cubicBezTo>
                  <a:cubicBezTo>
                    <a:pt x="4869711" y="3015905"/>
                    <a:pt x="4876563" y="3006198"/>
                    <a:pt x="4876563" y="3003913"/>
                  </a:cubicBezTo>
                  <a:cubicBezTo>
                    <a:pt x="4876563" y="3001629"/>
                    <a:pt x="4890268" y="2990780"/>
                    <a:pt x="4906828" y="2979930"/>
                  </a:cubicBezTo>
                  <a:cubicBezTo>
                    <a:pt x="4935380" y="2961087"/>
                    <a:pt x="4938235" y="2960516"/>
                    <a:pt x="4987914" y="2961658"/>
                  </a:cubicBezTo>
                  <a:cubicBezTo>
                    <a:pt x="5016466" y="2962229"/>
                    <a:pt x="5065004" y="2967368"/>
                    <a:pt x="5096410" y="2973649"/>
                  </a:cubicBezTo>
                  <a:cubicBezTo>
                    <a:pt x="5127817" y="2979930"/>
                    <a:pt x="5171787" y="2986783"/>
                    <a:pt x="5193486" y="2989067"/>
                  </a:cubicBezTo>
                  <a:cubicBezTo>
                    <a:pt x="5215756" y="2991351"/>
                    <a:pt x="5251731" y="2998774"/>
                    <a:pt x="5273430" y="3006198"/>
                  </a:cubicBezTo>
                  <a:cubicBezTo>
                    <a:pt x="5295700" y="3013050"/>
                    <a:pt x="5331104" y="3021044"/>
                    <a:pt x="5352232" y="3023328"/>
                  </a:cubicBezTo>
                  <a:cubicBezTo>
                    <a:pt x="5373932" y="3025612"/>
                    <a:pt x="5409336" y="3033607"/>
                    <a:pt x="5431035" y="3041030"/>
                  </a:cubicBezTo>
                  <a:cubicBezTo>
                    <a:pt x="5452734" y="3048453"/>
                    <a:pt x="5475004" y="3054735"/>
                    <a:pt x="5480715" y="3054735"/>
                  </a:cubicBezTo>
                  <a:cubicBezTo>
                    <a:pt x="5486996" y="3054735"/>
                    <a:pt x="5503556" y="3061016"/>
                    <a:pt x="5517832" y="3068439"/>
                  </a:cubicBezTo>
                  <a:cubicBezTo>
                    <a:pt x="5532107" y="3076434"/>
                    <a:pt x="5553807" y="3084428"/>
                    <a:pt x="5565798" y="3086712"/>
                  </a:cubicBezTo>
                  <a:cubicBezTo>
                    <a:pt x="5577790" y="3088996"/>
                    <a:pt x="5599489" y="3096419"/>
                    <a:pt x="5614336" y="3103843"/>
                  </a:cubicBezTo>
                  <a:cubicBezTo>
                    <a:pt x="5629183" y="3111266"/>
                    <a:pt x="5645743" y="3117547"/>
                    <a:pt x="5651453" y="3117547"/>
                  </a:cubicBezTo>
                  <a:cubicBezTo>
                    <a:pt x="5657163" y="3117547"/>
                    <a:pt x="5670868" y="3122687"/>
                    <a:pt x="5681718" y="3128968"/>
                  </a:cubicBezTo>
                  <a:cubicBezTo>
                    <a:pt x="5692567" y="3135249"/>
                    <a:pt x="5710840" y="3144956"/>
                    <a:pt x="5721690" y="3149525"/>
                  </a:cubicBezTo>
                  <a:cubicBezTo>
                    <a:pt x="5732539" y="3154664"/>
                    <a:pt x="5749099" y="3164942"/>
                    <a:pt x="5757665" y="3172366"/>
                  </a:cubicBezTo>
                  <a:cubicBezTo>
                    <a:pt x="5766801" y="3179789"/>
                    <a:pt x="5777080" y="3186070"/>
                    <a:pt x="5781077" y="3186070"/>
                  </a:cubicBezTo>
                  <a:cubicBezTo>
                    <a:pt x="5785645" y="3186070"/>
                    <a:pt x="5795924" y="3191780"/>
                    <a:pt x="5805060" y="3199204"/>
                  </a:cubicBezTo>
                  <a:cubicBezTo>
                    <a:pt x="5813626" y="3206056"/>
                    <a:pt x="5829615" y="3215763"/>
                    <a:pt x="5839893" y="3220332"/>
                  </a:cubicBezTo>
                  <a:cubicBezTo>
                    <a:pt x="5869016" y="3234036"/>
                    <a:pt x="5985506" y="3343102"/>
                    <a:pt x="6011774" y="3381360"/>
                  </a:cubicBezTo>
                  <a:cubicBezTo>
                    <a:pt x="6018626" y="3391639"/>
                    <a:pt x="6030618" y="3409341"/>
                    <a:pt x="6038612" y="3420190"/>
                  </a:cubicBezTo>
                  <a:cubicBezTo>
                    <a:pt x="6058027" y="3448741"/>
                    <a:pt x="6091718" y="3517264"/>
                    <a:pt x="6096286" y="3537250"/>
                  </a:cubicBezTo>
                  <a:cubicBezTo>
                    <a:pt x="6098571" y="3546957"/>
                    <a:pt x="6104852" y="3562375"/>
                    <a:pt x="6110562" y="3572083"/>
                  </a:cubicBezTo>
                  <a:cubicBezTo>
                    <a:pt x="6123125" y="3592639"/>
                    <a:pt x="6138543" y="3705131"/>
                    <a:pt x="6137972" y="3771370"/>
                  </a:cubicBezTo>
                  <a:cubicBezTo>
                    <a:pt x="6137972" y="3835896"/>
                    <a:pt x="6123696" y="3934683"/>
                    <a:pt x="6110562" y="3962663"/>
                  </a:cubicBezTo>
                  <a:cubicBezTo>
                    <a:pt x="6104281" y="3976939"/>
                    <a:pt x="6098571" y="3991785"/>
                    <a:pt x="6098571" y="3996353"/>
                  </a:cubicBezTo>
                  <a:cubicBezTo>
                    <a:pt x="6098571" y="4007203"/>
                    <a:pt x="6053459" y="4098567"/>
                    <a:pt x="6046036" y="4103135"/>
                  </a:cubicBezTo>
                  <a:cubicBezTo>
                    <a:pt x="6043181" y="4104848"/>
                    <a:pt x="6037470" y="4113984"/>
                    <a:pt x="6033473" y="4123121"/>
                  </a:cubicBezTo>
                  <a:cubicBezTo>
                    <a:pt x="6029476" y="4132257"/>
                    <a:pt x="6014058" y="4153956"/>
                    <a:pt x="5998640" y="4171658"/>
                  </a:cubicBezTo>
                  <a:cubicBezTo>
                    <a:pt x="5972944" y="4200209"/>
                    <a:pt x="5954100" y="4219053"/>
                    <a:pt x="5904420" y="4265306"/>
                  </a:cubicBezTo>
                  <a:cubicBezTo>
                    <a:pt x="5888431" y="4280153"/>
                    <a:pt x="5866161" y="4294428"/>
                    <a:pt x="5830757" y="4312701"/>
                  </a:cubicBezTo>
                  <a:cubicBezTo>
                    <a:pt x="5807345" y="4324692"/>
                    <a:pt x="5786216" y="4343536"/>
                    <a:pt x="5778222" y="4357812"/>
                  </a:cubicBezTo>
                  <a:cubicBezTo>
                    <a:pt x="5774796" y="4364093"/>
                    <a:pt x="5777080" y="4379511"/>
                    <a:pt x="5784503" y="4403494"/>
                  </a:cubicBezTo>
                  <a:cubicBezTo>
                    <a:pt x="5798779" y="4449747"/>
                    <a:pt x="5801063" y="4589077"/>
                    <a:pt x="5787358" y="4623338"/>
                  </a:cubicBezTo>
                  <a:cubicBezTo>
                    <a:pt x="5782790" y="4635330"/>
                    <a:pt x="5776509" y="4661026"/>
                    <a:pt x="5773654" y="4679869"/>
                  </a:cubicBezTo>
                  <a:cubicBezTo>
                    <a:pt x="5770799" y="4699284"/>
                    <a:pt x="5763375" y="4726693"/>
                    <a:pt x="5757094" y="4739827"/>
                  </a:cubicBezTo>
                  <a:cubicBezTo>
                    <a:pt x="5750812" y="4753532"/>
                    <a:pt x="5743960" y="4771233"/>
                    <a:pt x="5741676" y="4779228"/>
                  </a:cubicBezTo>
                  <a:cubicBezTo>
                    <a:pt x="5739392" y="4787222"/>
                    <a:pt x="5731397" y="4800927"/>
                    <a:pt x="5723974" y="4809492"/>
                  </a:cubicBezTo>
                  <a:cubicBezTo>
                    <a:pt x="5716551" y="4818628"/>
                    <a:pt x="5710269" y="4828336"/>
                    <a:pt x="5710269" y="4831762"/>
                  </a:cubicBezTo>
                  <a:cubicBezTo>
                    <a:pt x="5710269" y="4838043"/>
                    <a:pt x="5674294" y="4895146"/>
                    <a:pt x="5661732" y="4908850"/>
                  </a:cubicBezTo>
                  <a:cubicBezTo>
                    <a:pt x="5619475" y="4955674"/>
                    <a:pt x="5545241" y="5025339"/>
                    <a:pt x="5532678" y="5030478"/>
                  </a:cubicBezTo>
                  <a:cubicBezTo>
                    <a:pt x="5523542" y="5034475"/>
                    <a:pt x="5516119" y="5039615"/>
                    <a:pt x="5516119" y="5042470"/>
                  </a:cubicBezTo>
                  <a:cubicBezTo>
                    <a:pt x="5516119" y="5045325"/>
                    <a:pt x="5506982" y="5051035"/>
                    <a:pt x="5495561" y="5056174"/>
                  </a:cubicBezTo>
                  <a:cubicBezTo>
                    <a:pt x="5484141" y="5060743"/>
                    <a:pt x="5467581" y="5071021"/>
                    <a:pt x="5457873" y="5079015"/>
                  </a:cubicBezTo>
                  <a:cubicBezTo>
                    <a:pt x="5448737" y="5087010"/>
                    <a:pt x="5436745" y="5093291"/>
                    <a:pt x="5431606" y="5093291"/>
                  </a:cubicBezTo>
                  <a:cubicBezTo>
                    <a:pt x="5425896" y="5093291"/>
                    <a:pt x="5411620" y="5098430"/>
                    <a:pt x="5399628" y="5105282"/>
                  </a:cubicBezTo>
                  <a:cubicBezTo>
                    <a:pt x="5387636" y="5111564"/>
                    <a:pt x="5363653" y="5119558"/>
                    <a:pt x="5345951" y="5122413"/>
                  </a:cubicBezTo>
                  <a:cubicBezTo>
                    <a:pt x="5328249" y="5125839"/>
                    <a:pt x="5305979" y="5132692"/>
                    <a:pt x="5296271" y="5137831"/>
                  </a:cubicBezTo>
                  <a:cubicBezTo>
                    <a:pt x="5272859" y="5150393"/>
                    <a:pt x="5116397" y="5154962"/>
                    <a:pt x="5072998" y="5144683"/>
                  </a:cubicBezTo>
                  <a:cubicBezTo>
                    <a:pt x="5046160" y="5137831"/>
                    <a:pt x="5041020" y="5138402"/>
                    <a:pt x="5027887" y="5146967"/>
                  </a:cubicBezTo>
                  <a:cubicBezTo>
                    <a:pt x="5019321" y="5152677"/>
                    <a:pt x="5007330" y="5169808"/>
                    <a:pt x="5001048" y="5185226"/>
                  </a:cubicBezTo>
                  <a:cubicBezTo>
                    <a:pt x="4994767" y="5200644"/>
                    <a:pt x="4987343" y="5213206"/>
                    <a:pt x="4984488" y="5213206"/>
                  </a:cubicBezTo>
                  <a:cubicBezTo>
                    <a:pt x="4981633" y="5213206"/>
                    <a:pt x="4975352" y="5221200"/>
                    <a:pt x="4970783" y="5230908"/>
                  </a:cubicBezTo>
                  <a:cubicBezTo>
                    <a:pt x="4965644" y="5240044"/>
                    <a:pt x="4957650" y="5252607"/>
                    <a:pt x="4953082" y="5257746"/>
                  </a:cubicBezTo>
                  <a:cubicBezTo>
                    <a:pt x="4947942" y="5262885"/>
                    <a:pt x="4938806" y="5276590"/>
                    <a:pt x="4931953" y="5287439"/>
                  </a:cubicBezTo>
                  <a:cubicBezTo>
                    <a:pt x="4917107" y="5310280"/>
                    <a:pt x="4814321" y="5402786"/>
                    <a:pt x="4785198" y="5418775"/>
                  </a:cubicBezTo>
                  <a:cubicBezTo>
                    <a:pt x="4774349" y="5424485"/>
                    <a:pt x="4753792" y="5435334"/>
                    <a:pt x="4739516" y="5442187"/>
                  </a:cubicBezTo>
                  <a:cubicBezTo>
                    <a:pt x="4725240" y="5449039"/>
                    <a:pt x="4708109" y="5459317"/>
                    <a:pt x="4700686" y="5465028"/>
                  </a:cubicBezTo>
                  <a:cubicBezTo>
                    <a:pt x="4693833" y="5470167"/>
                    <a:pt x="4676702" y="5477019"/>
                    <a:pt x="4663569" y="5478732"/>
                  </a:cubicBezTo>
                  <a:cubicBezTo>
                    <a:pt x="4650435" y="5481016"/>
                    <a:pt x="4629307" y="5487869"/>
                    <a:pt x="4617315" y="5494150"/>
                  </a:cubicBezTo>
                  <a:cubicBezTo>
                    <a:pt x="4565351" y="5520417"/>
                    <a:pt x="4344362" y="5521559"/>
                    <a:pt x="4282691" y="5495863"/>
                  </a:cubicBezTo>
                  <a:cubicBezTo>
                    <a:pt x="4265560" y="5489011"/>
                    <a:pt x="4240434" y="5481016"/>
                    <a:pt x="4227301" y="5478732"/>
                  </a:cubicBezTo>
                  <a:cubicBezTo>
                    <a:pt x="4214738" y="5477019"/>
                    <a:pt x="4195323" y="5469025"/>
                    <a:pt x="4185044" y="5461031"/>
                  </a:cubicBezTo>
                  <a:cubicBezTo>
                    <a:pt x="4164487" y="5446184"/>
                    <a:pt x="4137077" y="5443329"/>
                    <a:pt x="4122231" y="5454749"/>
                  </a:cubicBezTo>
                  <a:cubicBezTo>
                    <a:pt x="4117091" y="5458746"/>
                    <a:pt x="4107955" y="5469596"/>
                    <a:pt x="4102245" y="5479303"/>
                  </a:cubicBezTo>
                  <a:cubicBezTo>
                    <a:pt x="4092537" y="5495292"/>
                    <a:pt x="4071980" y="5514707"/>
                    <a:pt x="4015448" y="5560389"/>
                  </a:cubicBezTo>
                  <a:cubicBezTo>
                    <a:pt x="4004598" y="5568954"/>
                    <a:pt x="3989751" y="5581517"/>
                    <a:pt x="3981757" y="5588940"/>
                  </a:cubicBezTo>
                  <a:cubicBezTo>
                    <a:pt x="3967481" y="5602073"/>
                    <a:pt x="3949208" y="5612352"/>
                    <a:pt x="3908094" y="5631767"/>
                  </a:cubicBezTo>
                  <a:cubicBezTo>
                    <a:pt x="3896102" y="5638048"/>
                    <a:pt x="3873261" y="5648897"/>
                    <a:pt x="3857272" y="5656321"/>
                  </a:cubicBezTo>
                  <a:cubicBezTo>
                    <a:pt x="3841854" y="5663744"/>
                    <a:pt x="3816158" y="5672880"/>
                    <a:pt x="3800169" y="5675736"/>
                  </a:cubicBezTo>
                  <a:cubicBezTo>
                    <a:pt x="3784751" y="5679162"/>
                    <a:pt x="3749918" y="5687156"/>
                    <a:pt x="3723080" y="5694008"/>
                  </a:cubicBezTo>
                  <a:cubicBezTo>
                    <a:pt x="3680252" y="5704287"/>
                    <a:pt x="3664834" y="5705429"/>
                    <a:pt x="3588887" y="5702003"/>
                  </a:cubicBezTo>
                  <a:cubicBezTo>
                    <a:pt x="3528358" y="5699148"/>
                    <a:pt x="3499806" y="5695721"/>
                    <a:pt x="3490670" y="5690011"/>
                  </a:cubicBezTo>
                  <a:cubicBezTo>
                    <a:pt x="3483818" y="5684872"/>
                    <a:pt x="3459834" y="5677449"/>
                    <a:pt x="3438135" y="5672880"/>
                  </a:cubicBezTo>
                  <a:cubicBezTo>
                    <a:pt x="3415865" y="5668312"/>
                    <a:pt x="3388455" y="5659176"/>
                    <a:pt x="3376464" y="5652895"/>
                  </a:cubicBezTo>
                  <a:cubicBezTo>
                    <a:pt x="3364472" y="5646613"/>
                    <a:pt x="3351909" y="5641474"/>
                    <a:pt x="3348483" y="5641474"/>
                  </a:cubicBezTo>
                  <a:cubicBezTo>
                    <a:pt x="3345057" y="5641474"/>
                    <a:pt x="3332494" y="5634051"/>
                    <a:pt x="3320503" y="5624343"/>
                  </a:cubicBezTo>
                  <a:cubicBezTo>
                    <a:pt x="3308511" y="5615207"/>
                    <a:pt x="3295377" y="5607213"/>
                    <a:pt x="3291380" y="5607213"/>
                  </a:cubicBezTo>
                  <a:cubicBezTo>
                    <a:pt x="3286812" y="5607213"/>
                    <a:pt x="3278246" y="5602073"/>
                    <a:pt x="3272536" y="5596363"/>
                  </a:cubicBezTo>
                  <a:cubicBezTo>
                    <a:pt x="3266255" y="5590082"/>
                    <a:pt x="3253692" y="5580946"/>
                    <a:pt x="3244555" y="5576377"/>
                  </a:cubicBezTo>
                  <a:cubicBezTo>
                    <a:pt x="3226853" y="5567241"/>
                    <a:pt x="3112076" y="5447326"/>
                    <a:pt x="3105224" y="5431337"/>
                  </a:cubicBezTo>
                  <a:cubicBezTo>
                    <a:pt x="3102940" y="5426198"/>
                    <a:pt x="3093803" y="5412493"/>
                    <a:pt x="3084667" y="5401644"/>
                  </a:cubicBezTo>
                  <a:lnTo>
                    <a:pt x="3067536" y="5382229"/>
                  </a:lnTo>
                  <a:lnTo>
                    <a:pt x="2914499" y="5381658"/>
                  </a:lnTo>
                  <a:cubicBezTo>
                    <a:pt x="2767173" y="5381658"/>
                    <a:pt x="2759750" y="5381087"/>
                    <a:pt x="2732911" y="5368525"/>
                  </a:cubicBezTo>
                  <a:cubicBezTo>
                    <a:pt x="2717493" y="5361672"/>
                    <a:pt x="2694652" y="5354249"/>
                    <a:pt x="2682660" y="5351965"/>
                  </a:cubicBezTo>
                  <a:cubicBezTo>
                    <a:pt x="2670098" y="5350252"/>
                    <a:pt x="2651254" y="5342829"/>
                    <a:pt x="2640404" y="5334834"/>
                  </a:cubicBezTo>
                  <a:cubicBezTo>
                    <a:pt x="2628983" y="5327411"/>
                    <a:pt x="2611853" y="5317703"/>
                    <a:pt x="2602145" y="5312564"/>
                  </a:cubicBezTo>
                  <a:cubicBezTo>
                    <a:pt x="2536476" y="5280587"/>
                    <a:pt x="2538761" y="5282300"/>
                    <a:pt x="2458245" y="5203499"/>
                  </a:cubicBezTo>
                  <a:cubicBezTo>
                    <a:pt x="2413134" y="5160101"/>
                    <a:pt x="2390863" y="5132121"/>
                    <a:pt x="2368593" y="5092149"/>
                  </a:cubicBezTo>
                  <a:cubicBezTo>
                    <a:pt x="2363454" y="5082442"/>
                    <a:pt x="2354317" y="5069308"/>
                    <a:pt x="2348036" y="5062456"/>
                  </a:cubicBezTo>
                  <a:cubicBezTo>
                    <a:pt x="2341755" y="5056174"/>
                    <a:pt x="2334902" y="5041328"/>
                    <a:pt x="2332618" y="5030478"/>
                  </a:cubicBezTo>
                  <a:cubicBezTo>
                    <a:pt x="2330334" y="5019629"/>
                    <a:pt x="2323482" y="5001356"/>
                    <a:pt x="2317771" y="4990507"/>
                  </a:cubicBezTo>
                  <a:cubicBezTo>
                    <a:pt x="2312061" y="4979657"/>
                    <a:pt x="2300640" y="4947680"/>
                    <a:pt x="2292075" y="4919129"/>
                  </a:cubicBezTo>
                  <a:cubicBezTo>
                    <a:pt x="2278370" y="4874018"/>
                    <a:pt x="2276657" y="4855174"/>
                    <a:pt x="2273802" y="4763239"/>
                  </a:cubicBezTo>
                  <a:cubicBezTo>
                    <a:pt x="2270947" y="4647892"/>
                    <a:pt x="2270376" y="4646750"/>
                    <a:pt x="2233259" y="4636472"/>
                  </a:cubicBezTo>
                  <a:cubicBezTo>
                    <a:pt x="2221267" y="4633617"/>
                    <a:pt x="2208133" y="4626764"/>
                    <a:pt x="2203565" y="4621625"/>
                  </a:cubicBezTo>
                  <a:cubicBezTo>
                    <a:pt x="2199568" y="4617057"/>
                    <a:pt x="2187576" y="4609062"/>
                    <a:pt x="2176727" y="4604494"/>
                  </a:cubicBezTo>
                  <a:cubicBezTo>
                    <a:pt x="2143036" y="4590790"/>
                    <a:pt x="2038537" y="4496000"/>
                    <a:pt x="2007130" y="4451460"/>
                  </a:cubicBezTo>
                  <a:cubicBezTo>
                    <a:pt x="1987715" y="4424051"/>
                    <a:pt x="1959164" y="4377227"/>
                    <a:pt x="1952882" y="4362380"/>
                  </a:cubicBezTo>
                  <a:cubicBezTo>
                    <a:pt x="1948885" y="4354386"/>
                    <a:pt x="1940320" y="4335542"/>
                    <a:pt x="1932896" y="4319553"/>
                  </a:cubicBezTo>
                  <a:cubicBezTo>
                    <a:pt x="1924902" y="4304136"/>
                    <a:pt x="1917478" y="4279582"/>
                    <a:pt x="1915194" y="4265306"/>
                  </a:cubicBezTo>
                  <a:cubicBezTo>
                    <a:pt x="1913481" y="4251030"/>
                    <a:pt x="1906058" y="4227047"/>
                    <a:pt x="1899205" y="4211059"/>
                  </a:cubicBezTo>
                  <a:cubicBezTo>
                    <a:pt x="1888356" y="4185362"/>
                    <a:pt x="1887214" y="4172229"/>
                    <a:pt x="1887214" y="4071158"/>
                  </a:cubicBezTo>
                  <a:cubicBezTo>
                    <a:pt x="1887214" y="3976368"/>
                    <a:pt x="1888927" y="3956953"/>
                    <a:pt x="1896921" y="3941535"/>
                  </a:cubicBezTo>
                  <a:cubicBezTo>
                    <a:pt x="1902631" y="3931828"/>
                    <a:pt x="1909484" y="3904990"/>
                    <a:pt x="1912910" y="3881578"/>
                  </a:cubicBezTo>
                  <a:cubicBezTo>
                    <a:pt x="1918620" y="3845032"/>
                    <a:pt x="1943746" y="3782790"/>
                    <a:pt x="1970013" y="3739964"/>
                  </a:cubicBezTo>
                  <a:cubicBezTo>
                    <a:pt x="1972868" y="3735395"/>
                    <a:pt x="1978579" y="3724546"/>
                    <a:pt x="1982576" y="3716552"/>
                  </a:cubicBezTo>
                  <a:cubicBezTo>
                    <a:pt x="2009985" y="3661733"/>
                    <a:pt x="2093927" y="3568656"/>
                    <a:pt x="2153314" y="3525830"/>
                  </a:cubicBezTo>
                  <a:cubicBezTo>
                    <a:pt x="2190431" y="3498991"/>
                    <a:pt x="2215557" y="3473866"/>
                    <a:pt x="2215557" y="3462446"/>
                  </a:cubicBezTo>
                  <a:cubicBezTo>
                    <a:pt x="2215557" y="3449312"/>
                    <a:pt x="2162451" y="3393352"/>
                    <a:pt x="2127047" y="3369369"/>
                  </a:cubicBezTo>
                  <a:cubicBezTo>
                    <a:pt x="2111629" y="3359091"/>
                    <a:pt x="2084219" y="3345386"/>
                    <a:pt x="2067088" y="3339105"/>
                  </a:cubicBezTo>
                  <a:cubicBezTo>
                    <a:pt x="1987144" y="3311124"/>
                    <a:pt x="1983718" y="3310553"/>
                    <a:pt x="1893495" y="3312838"/>
                  </a:cubicBezTo>
                  <a:cubicBezTo>
                    <a:pt x="1804414" y="3315693"/>
                    <a:pt x="1784999" y="3320261"/>
                    <a:pt x="1724470" y="3354522"/>
                  </a:cubicBezTo>
                  <a:cubicBezTo>
                    <a:pt x="1716475" y="3359091"/>
                    <a:pt x="1701057" y="3367656"/>
                    <a:pt x="1690208" y="3373937"/>
                  </a:cubicBezTo>
                  <a:cubicBezTo>
                    <a:pt x="1666224" y="3387071"/>
                    <a:pt x="1609692" y="3439605"/>
                    <a:pt x="1590277" y="3467014"/>
                  </a:cubicBezTo>
                  <a:cubicBezTo>
                    <a:pt x="1565152" y="3501847"/>
                    <a:pt x="1530319" y="3577793"/>
                    <a:pt x="1525180" y="3609199"/>
                  </a:cubicBezTo>
                  <a:cubicBezTo>
                    <a:pt x="1519469" y="3642890"/>
                    <a:pt x="1492060" y="3702847"/>
                    <a:pt x="1474929" y="3718265"/>
                  </a:cubicBezTo>
                  <a:cubicBezTo>
                    <a:pt x="1459511" y="3732540"/>
                    <a:pt x="1411544" y="3751384"/>
                    <a:pt x="1391558" y="3751384"/>
                  </a:cubicBezTo>
                  <a:cubicBezTo>
                    <a:pt x="1381280" y="3751384"/>
                    <a:pt x="1360723" y="3747387"/>
                    <a:pt x="1345305" y="3742819"/>
                  </a:cubicBezTo>
                  <a:cubicBezTo>
                    <a:pt x="1304190" y="3730256"/>
                    <a:pt x="1217965" y="3731398"/>
                    <a:pt x="1177422" y="3745103"/>
                  </a:cubicBezTo>
                  <a:cubicBezTo>
                    <a:pt x="1159720" y="3751384"/>
                    <a:pt x="1133452" y="3759378"/>
                    <a:pt x="1119176" y="3762805"/>
                  </a:cubicBezTo>
                  <a:cubicBezTo>
                    <a:pt x="1104901" y="3766802"/>
                    <a:pt x="1089483" y="3773083"/>
                    <a:pt x="1084914" y="3777080"/>
                  </a:cubicBezTo>
                  <a:cubicBezTo>
                    <a:pt x="1080346" y="3781077"/>
                    <a:pt x="1066070" y="3789643"/>
                    <a:pt x="1053508" y="3796495"/>
                  </a:cubicBezTo>
                  <a:cubicBezTo>
                    <a:pt x="1008967" y="3820478"/>
                    <a:pt x="979274" y="3847316"/>
                    <a:pt x="933591" y="3904419"/>
                  </a:cubicBezTo>
                  <a:cubicBezTo>
                    <a:pt x="922741" y="3918123"/>
                    <a:pt x="913605" y="3932970"/>
                    <a:pt x="913605" y="3936967"/>
                  </a:cubicBezTo>
                  <a:cubicBezTo>
                    <a:pt x="913605" y="3941535"/>
                    <a:pt x="907324" y="3951243"/>
                    <a:pt x="899900" y="3959808"/>
                  </a:cubicBezTo>
                  <a:cubicBezTo>
                    <a:pt x="892477" y="3967802"/>
                    <a:pt x="885053" y="3984362"/>
                    <a:pt x="882769" y="3996353"/>
                  </a:cubicBezTo>
                  <a:cubicBezTo>
                    <a:pt x="881056" y="4008345"/>
                    <a:pt x="874204" y="4029473"/>
                    <a:pt x="867922" y="4043177"/>
                  </a:cubicBezTo>
                  <a:cubicBezTo>
                    <a:pt x="849078" y="4084862"/>
                    <a:pt x="851934" y="4168232"/>
                    <a:pt x="874775" y="4243036"/>
                  </a:cubicBezTo>
                  <a:cubicBezTo>
                    <a:pt x="884482" y="4275584"/>
                    <a:pt x="897045" y="4308704"/>
                    <a:pt x="903326" y="4316127"/>
                  </a:cubicBezTo>
                  <a:cubicBezTo>
                    <a:pt x="909037" y="4323550"/>
                    <a:pt x="913605" y="4332116"/>
                    <a:pt x="913605" y="4335542"/>
                  </a:cubicBezTo>
                  <a:cubicBezTo>
                    <a:pt x="913605" y="4358954"/>
                    <a:pt x="1021530" y="4468591"/>
                    <a:pt x="1055792" y="4479440"/>
                  </a:cubicBezTo>
                  <a:cubicBezTo>
                    <a:pt x="1063215" y="4481724"/>
                    <a:pt x="1078062" y="4489718"/>
                    <a:pt x="1088912" y="4497142"/>
                  </a:cubicBezTo>
                  <a:cubicBezTo>
                    <a:pt x="1100332" y="4504565"/>
                    <a:pt x="1116321" y="4510846"/>
                    <a:pt x="1124316" y="4510846"/>
                  </a:cubicBezTo>
                  <a:cubicBezTo>
                    <a:pt x="1132310" y="4510846"/>
                    <a:pt x="1154580" y="4514844"/>
                    <a:pt x="1172853" y="4518841"/>
                  </a:cubicBezTo>
                  <a:cubicBezTo>
                    <a:pt x="1201405" y="4525693"/>
                    <a:pt x="1214539" y="4525693"/>
                    <a:pt x="1261363" y="4518841"/>
                  </a:cubicBezTo>
                  <a:cubicBezTo>
                    <a:pt x="1291628" y="4514272"/>
                    <a:pt x="1326461" y="4506849"/>
                    <a:pt x="1339023" y="4502281"/>
                  </a:cubicBezTo>
                  <a:cubicBezTo>
                    <a:pt x="1383564" y="4486292"/>
                    <a:pt x="1404692" y="4485721"/>
                    <a:pt x="1439525" y="4501710"/>
                  </a:cubicBezTo>
                  <a:cubicBezTo>
                    <a:pt x="1474929" y="4518270"/>
                    <a:pt x="1486921" y="4530261"/>
                    <a:pt x="1509191" y="4569091"/>
                  </a:cubicBezTo>
                  <a:cubicBezTo>
                    <a:pt x="1521182" y="4589648"/>
                    <a:pt x="1524609" y="4603352"/>
                    <a:pt x="1524609" y="4629048"/>
                  </a:cubicBezTo>
                  <a:cubicBezTo>
                    <a:pt x="1524609" y="4658742"/>
                    <a:pt x="1521753" y="4666736"/>
                    <a:pt x="1501767" y="4698142"/>
                  </a:cubicBezTo>
                  <a:cubicBezTo>
                    <a:pt x="1489205" y="4717557"/>
                    <a:pt x="1475500" y="4733546"/>
                    <a:pt x="1472074" y="4733546"/>
                  </a:cubicBezTo>
                  <a:cubicBezTo>
                    <a:pt x="1468077" y="4733546"/>
                    <a:pt x="1456085" y="4739827"/>
                    <a:pt x="1445235" y="4747821"/>
                  </a:cubicBezTo>
                  <a:cubicBezTo>
                    <a:pt x="1430959" y="4757529"/>
                    <a:pt x="1399553" y="4766665"/>
                    <a:pt x="1343021" y="4779228"/>
                  </a:cubicBezTo>
                  <a:cubicBezTo>
                    <a:pt x="1251656" y="4798643"/>
                    <a:pt x="1199692" y="4800927"/>
                    <a:pt x="1139162" y="4787222"/>
                  </a:cubicBezTo>
                  <a:cubicBezTo>
                    <a:pt x="1117463" y="4782654"/>
                    <a:pt x="1081488" y="4775231"/>
                    <a:pt x="1059218" y="4771233"/>
                  </a:cubicBezTo>
                  <a:cubicBezTo>
                    <a:pt x="1037519" y="4767236"/>
                    <a:pt x="1006683" y="4756958"/>
                    <a:pt x="991265" y="4748963"/>
                  </a:cubicBezTo>
                  <a:cubicBezTo>
                    <a:pt x="975847" y="4740398"/>
                    <a:pt x="957574" y="4733546"/>
                    <a:pt x="950151" y="4733546"/>
                  </a:cubicBezTo>
                  <a:cubicBezTo>
                    <a:pt x="943299" y="4733546"/>
                    <a:pt x="929594" y="4727264"/>
                    <a:pt x="920457" y="4719270"/>
                  </a:cubicBezTo>
                  <a:cubicBezTo>
                    <a:pt x="910750" y="4711276"/>
                    <a:pt x="900471" y="4704995"/>
                    <a:pt x="897616" y="4704995"/>
                  </a:cubicBezTo>
                  <a:cubicBezTo>
                    <a:pt x="894190" y="4704995"/>
                    <a:pt x="883911" y="4698713"/>
                    <a:pt x="874775" y="4690719"/>
                  </a:cubicBezTo>
                  <a:cubicBezTo>
                    <a:pt x="855360" y="4674159"/>
                    <a:pt x="822240" y="4659313"/>
                    <a:pt x="805680" y="4659313"/>
                  </a:cubicBezTo>
                  <a:cubicBezTo>
                    <a:pt x="794259" y="4659313"/>
                    <a:pt x="739440" y="4722696"/>
                    <a:pt x="722309" y="4756387"/>
                  </a:cubicBezTo>
                  <a:cubicBezTo>
                    <a:pt x="717170" y="4767236"/>
                    <a:pt x="709176" y="4780370"/>
                    <a:pt x="705178" y="4784938"/>
                  </a:cubicBezTo>
                  <a:cubicBezTo>
                    <a:pt x="691474" y="4801498"/>
                    <a:pt x="662922" y="4881441"/>
                    <a:pt x="658354" y="4917416"/>
                  </a:cubicBezTo>
                  <a:cubicBezTo>
                    <a:pt x="655499" y="4937401"/>
                    <a:pt x="655499" y="4987080"/>
                    <a:pt x="657212" y="5027623"/>
                  </a:cubicBezTo>
                  <a:cubicBezTo>
                    <a:pt x="661209" y="5111564"/>
                    <a:pt x="668061" y="5132692"/>
                    <a:pt x="716599" y="5212635"/>
                  </a:cubicBezTo>
                  <a:cubicBezTo>
                    <a:pt x="752003" y="5270879"/>
                    <a:pt x="842797" y="5345684"/>
                    <a:pt x="886195" y="5352536"/>
                  </a:cubicBezTo>
                  <a:cubicBezTo>
                    <a:pt x="899329" y="5354820"/>
                    <a:pt x="919315" y="5362243"/>
                    <a:pt x="930736" y="5369096"/>
                  </a:cubicBezTo>
                  <a:cubicBezTo>
                    <a:pt x="949009" y="5380516"/>
                    <a:pt x="957574" y="5381658"/>
                    <a:pt x="1042087" y="5381658"/>
                  </a:cubicBezTo>
                  <a:cubicBezTo>
                    <a:pt x="1149441" y="5381658"/>
                    <a:pt x="1158006" y="5384513"/>
                    <a:pt x="1179706" y="5432479"/>
                  </a:cubicBezTo>
                  <a:lnTo>
                    <a:pt x="1193410" y="5462173"/>
                  </a:lnTo>
                  <a:lnTo>
                    <a:pt x="1176850" y="5518704"/>
                  </a:lnTo>
                  <a:cubicBezTo>
                    <a:pt x="1167714" y="5550110"/>
                    <a:pt x="1156293" y="5586085"/>
                    <a:pt x="1151154" y="5598647"/>
                  </a:cubicBezTo>
                  <a:cubicBezTo>
                    <a:pt x="1144873" y="5615207"/>
                    <a:pt x="1142589" y="5643758"/>
                    <a:pt x="1142018" y="5702003"/>
                  </a:cubicBezTo>
                  <a:cubicBezTo>
                    <a:pt x="1142018" y="5776236"/>
                    <a:pt x="1143160" y="5784801"/>
                    <a:pt x="1155722" y="5808213"/>
                  </a:cubicBezTo>
                  <a:cubicBezTo>
                    <a:pt x="1163146" y="5821918"/>
                    <a:pt x="1171140" y="5839620"/>
                    <a:pt x="1173424" y="5847614"/>
                  </a:cubicBezTo>
                  <a:cubicBezTo>
                    <a:pt x="1178564" y="5864745"/>
                    <a:pt x="1184274" y="5871597"/>
                    <a:pt x="1248800" y="5936123"/>
                  </a:cubicBezTo>
                  <a:cubicBezTo>
                    <a:pt x="1305904" y="5993225"/>
                    <a:pt x="1347589" y="6018350"/>
                    <a:pt x="1426391" y="6043475"/>
                  </a:cubicBezTo>
                  <a:cubicBezTo>
                    <a:pt x="1508620" y="6069171"/>
                    <a:pt x="1583425" y="6068600"/>
                    <a:pt x="1655375" y="6040620"/>
                  </a:cubicBezTo>
                  <a:cubicBezTo>
                    <a:pt x="1699915" y="6023489"/>
                    <a:pt x="1706197" y="6020634"/>
                    <a:pt x="1741601" y="5998364"/>
                  </a:cubicBezTo>
                  <a:cubicBezTo>
                    <a:pt x="1796420" y="5964674"/>
                    <a:pt x="1803843" y="5961248"/>
                    <a:pt x="1830110" y="5957251"/>
                  </a:cubicBezTo>
                  <a:cubicBezTo>
                    <a:pt x="1847812" y="5954966"/>
                    <a:pt x="1863801" y="5956679"/>
                    <a:pt x="1880361" y="5963532"/>
                  </a:cubicBezTo>
                  <a:cubicBezTo>
                    <a:pt x="1902060" y="5971526"/>
                    <a:pt x="1907200" y="5977236"/>
                    <a:pt x="1923189" y="6011498"/>
                  </a:cubicBezTo>
                  <a:cubicBezTo>
                    <a:pt x="1932896" y="6032626"/>
                    <a:pt x="1942604" y="6061748"/>
                    <a:pt x="1944888" y="6076595"/>
                  </a:cubicBezTo>
                  <a:cubicBezTo>
                    <a:pt x="1946601" y="6091441"/>
                    <a:pt x="1954595" y="6111998"/>
                    <a:pt x="1962019" y="6121705"/>
                  </a:cubicBezTo>
                  <a:cubicBezTo>
                    <a:pt x="1969442" y="6131984"/>
                    <a:pt x="1975723" y="6144546"/>
                    <a:pt x="1975723" y="6149686"/>
                  </a:cubicBezTo>
                  <a:cubicBezTo>
                    <a:pt x="1975723" y="6155396"/>
                    <a:pt x="1983147" y="6170814"/>
                    <a:pt x="1992854" y="6184518"/>
                  </a:cubicBezTo>
                  <a:cubicBezTo>
                    <a:pt x="2001991" y="6198223"/>
                    <a:pt x="2009985" y="6212498"/>
                    <a:pt x="2009985" y="6215924"/>
                  </a:cubicBezTo>
                  <a:cubicBezTo>
                    <a:pt x="2009985" y="6237052"/>
                    <a:pt x="2137896" y="6354683"/>
                    <a:pt x="2160738" y="6355254"/>
                  </a:cubicBezTo>
                  <a:cubicBezTo>
                    <a:pt x="2164164" y="6355254"/>
                    <a:pt x="2175585" y="6361536"/>
                    <a:pt x="2186434" y="6368959"/>
                  </a:cubicBezTo>
                  <a:cubicBezTo>
                    <a:pt x="2238398" y="6404362"/>
                    <a:pt x="2398287" y="6406075"/>
                    <a:pt x="2470237" y="6371814"/>
                  </a:cubicBezTo>
                  <a:cubicBezTo>
                    <a:pt x="2489081" y="6362678"/>
                    <a:pt x="2507354" y="6355254"/>
                    <a:pt x="2510209" y="6355254"/>
                  </a:cubicBezTo>
                  <a:cubicBezTo>
                    <a:pt x="2519916" y="6355254"/>
                    <a:pt x="2581588" y="6307859"/>
                    <a:pt x="2619847" y="6271314"/>
                  </a:cubicBezTo>
                  <a:cubicBezTo>
                    <a:pt x="2652396" y="6240478"/>
                    <a:pt x="2655822" y="6234768"/>
                    <a:pt x="2654109" y="6217638"/>
                  </a:cubicBezTo>
                  <a:cubicBezTo>
                    <a:pt x="2652967" y="6201649"/>
                    <a:pt x="2649541" y="6197652"/>
                    <a:pt x="2635265" y="6193083"/>
                  </a:cubicBezTo>
                  <a:cubicBezTo>
                    <a:pt x="2613566" y="6186802"/>
                    <a:pt x="2601574" y="6181092"/>
                    <a:pt x="2569596" y="6162248"/>
                  </a:cubicBezTo>
                  <a:cubicBezTo>
                    <a:pt x="2514206" y="6129129"/>
                    <a:pt x="2505070" y="6123419"/>
                    <a:pt x="2485655" y="6108572"/>
                  </a:cubicBezTo>
                  <a:cubicBezTo>
                    <a:pt x="2474234" y="6099436"/>
                    <a:pt x="2462813" y="6092583"/>
                    <a:pt x="2459958" y="6092583"/>
                  </a:cubicBezTo>
                  <a:cubicBezTo>
                    <a:pt x="2451393" y="6092583"/>
                    <a:pt x="2376017" y="6012069"/>
                    <a:pt x="2365738" y="5992654"/>
                  </a:cubicBezTo>
                  <a:cubicBezTo>
                    <a:pt x="2360599" y="5983518"/>
                    <a:pt x="2352033" y="5970955"/>
                    <a:pt x="2346894" y="5965816"/>
                  </a:cubicBezTo>
                  <a:cubicBezTo>
                    <a:pt x="2330905" y="5950398"/>
                    <a:pt x="2322340" y="5885301"/>
                    <a:pt x="2331476" y="5847043"/>
                  </a:cubicBezTo>
                  <a:cubicBezTo>
                    <a:pt x="2341755" y="5804216"/>
                    <a:pt x="2365738" y="5781375"/>
                    <a:pt x="2414847" y="5765957"/>
                  </a:cubicBezTo>
                  <a:cubicBezTo>
                    <a:pt x="2448538" y="5755679"/>
                    <a:pt x="2455961" y="5755108"/>
                    <a:pt x="2481086" y="5761389"/>
                  </a:cubicBezTo>
                  <a:cubicBezTo>
                    <a:pt x="2525056" y="5772810"/>
                    <a:pt x="2541616" y="5783088"/>
                    <a:pt x="2569596" y="5816208"/>
                  </a:cubicBezTo>
                  <a:cubicBezTo>
                    <a:pt x="2592437" y="5844188"/>
                    <a:pt x="2627270" y="5875594"/>
                    <a:pt x="2676950" y="5913853"/>
                  </a:cubicBezTo>
                  <a:cubicBezTo>
                    <a:pt x="2700933" y="5932125"/>
                    <a:pt x="2772312" y="5955537"/>
                    <a:pt x="2823705" y="5961819"/>
                  </a:cubicBezTo>
                  <a:cubicBezTo>
                    <a:pt x="2879095" y="5968671"/>
                    <a:pt x="2918496" y="5965245"/>
                    <a:pt x="2945906" y="5950969"/>
                  </a:cubicBezTo>
                  <a:cubicBezTo>
                    <a:pt x="2957327" y="5944688"/>
                    <a:pt x="2977884" y="5937836"/>
                    <a:pt x="2991017" y="5935552"/>
                  </a:cubicBezTo>
                  <a:cubicBezTo>
                    <a:pt x="3004151" y="5933839"/>
                    <a:pt x="3024137" y="5924131"/>
                    <a:pt x="3035558" y="5914995"/>
                  </a:cubicBezTo>
                  <a:cubicBezTo>
                    <a:pt x="3046978" y="5905858"/>
                    <a:pt x="3058970" y="5898435"/>
                    <a:pt x="3061825" y="5898435"/>
                  </a:cubicBezTo>
                  <a:cubicBezTo>
                    <a:pt x="3065251" y="5898435"/>
                    <a:pt x="3074959" y="5892154"/>
                    <a:pt x="3084667" y="5884159"/>
                  </a:cubicBezTo>
                  <a:cubicBezTo>
                    <a:pt x="3100084" y="5871026"/>
                    <a:pt x="3106366" y="5869884"/>
                    <a:pt x="3152048" y="5869884"/>
                  </a:cubicBezTo>
                  <a:cubicBezTo>
                    <a:pt x="3196589" y="5869884"/>
                    <a:pt x="3204583" y="5871597"/>
                    <a:pt x="3218859" y="5883588"/>
                  </a:cubicBezTo>
                  <a:cubicBezTo>
                    <a:pt x="3227424" y="5890441"/>
                    <a:pt x="3240558" y="5899577"/>
                    <a:pt x="3246839" y="5903003"/>
                  </a:cubicBezTo>
                  <a:cubicBezTo>
                    <a:pt x="3253692" y="5906429"/>
                    <a:pt x="3261115" y="5916708"/>
                    <a:pt x="3263399" y="5925273"/>
                  </a:cubicBezTo>
                  <a:cubicBezTo>
                    <a:pt x="3265112" y="5933839"/>
                    <a:pt x="3271965" y="5951540"/>
                    <a:pt x="3278246" y="5965245"/>
                  </a:cubicBezTo>
                  <a:cubicBezTo>
                    <a:pt x="3291951" y="5995509"/>
                    <a:pt x="3291951" y="5997793"/>
                    <a:pt x="3274820" y="6044046"/>
                  </a:cubicBezTo>
                  <a:cubicBezTo>
                    <a:pt x="3255976" y="6093725"/>
                    <a:pt x="3229138" y="6119992"/>
                    <a:pt x="3163469" y="6154254"/>
                  </a:cubicBezTo>
                  <a:cubicBezTo>
                    <a:pt x="3152619" y="6159964"/>
                    <a:pt x="3134346" y="6170243"/>
                    <a:pt x="3123497" y="6177095"/>
                  </a:cubicBezTo>
                  <a:cubicBezTo>
                    <a:pt x="3112647" y="6183947"/>
                    <a:pt x="3098371" y="6189657"/>
                    <a:pt x="3092090" y="6189657"/>
                  </a:cubicBezTo>
                  <a:cubicBezTo>
                    <a:pt x="3085809" y="6189657"/>
                    <a:pt x="3066965" y="6195939"/>
                    <a:pt x="3050976" y="6203933"/>
                  </a:cubicBezTo>
                  <a:cubicBezTo>
                    <a:pt x="3032132" y="6212498"/>
                    <a:pt x="3001867" y="6219922"/>
                    <a:pt x="2969318" y="6223348"/>
                  </a:cubicBezTo>
                  <a:cubicBezTo>
                    <a:pt x="2940767" y="6226203"/>
                    <a:pt x="2915070" y="6230771"/>
                    <a:pt x="2912215" y="6232484"/>
                  </a:cubicBezTo>
                  <a:cubicBezTo>
                    <a:pt x="2900794" y="6239336"/>
                    <a:pt x="2906505" y="6273598"/>
                    <a:pt x="2922494" y="6293584"/>
                  </a:cubicBezTo>
                  <a:cubicBezTo>
                    <a:pt x="2967034" y="6348973"/>
                    <a:pt x="2997299" y="6380379"/>
                    <a:pt x="3016714" y="6390087"/>
                  </a:cubicBezTo>
                  <a:cubicBezTo>
                    <a:pt x="3028134" y="6396368"/>
                    <a:pt x="3037842" y="6403791"/>
                    <a:pt x="3037842" y="6406647"/>
                  </a:cubicBezTo>
                  <a:cubicBezTo>
                    <a:pt x="3037842" y="6409502"/>
                    <a:pt x="3043552" y="6413499"/>
                    <a:pt x="3050976" y="6415212"/>
                  </a:cubicBezTo>
                  <a:cubicBezTo>
                    <a:pt x="3057828" y="6417496"/>
                    <a:pt x="3072675" y="6425490"/>
                    <a:pt x="3083524" y="6432343"/>
                  </a:cubicBezTo>
                  <a:cubicBezTo>
                    <a:pt x="3094374" y="6439766"/>
                    <a:pt x="3118928" y="6448902"/>
                    <a:pt x="3137772" y="6451757"/>
                  </a:cubicBezTo>
                  <a:cubicBezTo>
                    <a:pt x="3156617" y="6455184"/>
                    <a:pt x="3180029" y="6460323"/>
                    <a:pt x="3189165" y="6463178"/>
                  </a:cubicBezTo>
                  <a:cubicBezTo>
                    <a:pt x="3217717" y="6471743"/>
                    <a:pt x="3267397" y="6470030"/>
                    <a:pt x="3332494" y="6457468"/>
                  </a:cubicBezTo>
                  <a:close/>
                  <a:moveTo>
                    <a:pt x="537295" y="4534829"/>
                  </a:moveTo>
                  <a:cubicBezTo>
                    <a:pt x="542435" y="4532545"/>
                    <a:pt x="567560" y="4507991"/>
                    <a:pt x="593827" y="4480582"/>
                  </a:cubicBezTo>
                  <a:lnTo>
                    <a:pt x="641223" y="4430332"/>
                  </a:lnTo>
                  <a:lnTo>
                    <a:pt x="634371" y="4392073"/>
                  </a:lnTo>
                  <a:cubicBezTo>
                    <a:pt x="630373" y="4370945"/>
                    <a:pt x="621237" y="4341252"/>
                    <a:pt x="613813" y="4325263"/>
                  </a:cubicBezTo>
                  <a:cubicBezTo>
                    <a:pt x="593256" y="4280724"/>
                    <a:pt x="584691" y="4168232"/>
                    <a:pt x="593827" y="4060879"/>
                  </a:cubicBezTo>
                  <a:cubicBezTo>
                    <a:pt x="598967" y="3998067"/>
                    <a:pt x="602964" y="3972370"/>
                    <a:pt x="611529" y="3958095"/>
                  </a:cubicBezTo>
                  <a:cubicBezTo>
                    <a:pt x="617240" y="3947816"/>
                    <a:pt x="625234" y="3927260"/>
                    <a:pt x="629231" y="3912413"/>
                  </a:cubicBezTo>
                  <a:cubicBezTo>
                    <a:pt x="632657" y="3897566"/>
                    <a:pt x="640081" y="3879294"/>
                    <a:pt x="645220" y="3871299"/>
                  </a:cubicBezTo>
                  <a:cubicBezTo>
                    <a:pt x="650930" y="3863305"/>
                    <a:pt x="657783" y="3847316"/>
                    <a:pt x="661209" y="3835896"/>
                  </a:cubicBezTo>
                  <a:cubicBezTo>
                    <a:pt x="666919" y="3815339"/>
                    <a:pt x="675485" y="3801634"/>
                    <a:pt x="709747" y="3760520"/>
                  </a:cubicBezTo>
                  <a:cubicBezTo>
                    <a:pt x="718312" y="3749671"/>
                    <a:pt x="725165" y="3738822"/>
                    <a:pt x="725165" y="3735966"/>
                  </a:cubicBezTo>
                  <a:cubicBezTo>
                    <a:pt x="725165" y="3733111"/>
                    <a:pt x="730875" y="3724546"/>
                    <a:pt x="738298" y="3717123"/>
                  </a:cubicBezTo>
                  <a:cubicBezTo>
                    <a:pt x="745151" y="3709699"/>
                    <a:pt x="754858" y="3697708"/>
                    <a:pt x="759426" y="3690856"/>
                  </a:cubicBezTo>
                  <a:cubicBezTo>
                    <a:pt x="771418" y="3672583"/>
                    <a:pt x="895332" y="3568656"/>
                    <a:pt x="904468" y="3568656"/>
                  </a:cubicBezTo>
                  <a:cubicBezTo>
                    <a:pt x="909037" y="3568656"/>
                    <a:pt x="915318" y="3564659"/>
                    <a:pt x="919315" y="3560662"/>
                  </a:cubicBezTo>
                  <a:cubicBezTo>
                    <a:pt x="922741" y="3556094"/>
                    <a:pt x="938159" y="3547528"/>
                    <a:pt x="952435" y="3542389"/>
                  </a:cubicBezTo>
                  <a:cubicBezTo>
                    <a:pt x="967282" y="3536679"/>
                    <a:pt x="984413" y="3528114"/>
                    <a:pt x="990694" y="3522974"/>
                  </a:cubicBezTo>
                  <a:cubicBezTo>
                    <a:pt x="1019246" y="3499562"/>
                    <a:pt x="1162575" y="3465872"/>
                    <a:pt x="1233383" y="3465872"/>
                  </a:cubicBezTo>
                  <a:cubicBezTo>
                    <a:pt x="1266502" y="3465872"/>
                    <a:pt x="1295625" y="3447599"/>
                    <a:pt x="1304190" y="3421903"/>
                  </a:cubicBezTo>
                  <a:cubicBezTo>
                    <a:pt x="1311614" y="3400775"/>
                    <a:pt x="1332171" y="3365943"/>
                    <a:pt x="1355012" y="3336250"/>
                  </a:cubicBezTo>
                  <a:cubicBezTo>
                    <a:pt x="1363578" y="3324829"/>
                    <a:pt x="1370430" y="3312838"/>
                    <a:pt x="1370430" y="3309411"/>
                  </a:cubicBezTo>
                  <a:cubicBezTo>
                    <a:pt x="1370430" y="3301417"/>
                    <a:pt x="1476071" y="3191780"/>
                    <a:pt x="1496057" y="3178647"/>
                  </a:cubicBezTo>
                  <a:cubicBezTo>
                    <a:pt x="1504051" y="3173508"/>
                    <a:pt x="1520611" y="3161516"/>
                    <a:pt x="1533174" y="3152380"/>
                  </a:cubicBezTo>
                  <a:cubicBezTo>
                    <a:pt x="1545737" y="3142672"/>
                    <a:pt x="1565723" y="3129539"/>
                    <a:pt x="1577715" y="3123258"/>
                  </a:cubicBezTo>
                  <a:lnTo>
                    <a:pt x="1599414" y="3111266"/>
                  </a:lnTo>
                  <a:lnTo>
                    <a:pt x="1594845" y="3070152"/>
                  </a:lnTo>
                  <a:cubicBezTo>
                    <a:pt x="1592561" y="3047311"/>
                    <a:pt x="1590848" y="2978788"/>
                    <a:pt x="1591990" y="2917118"/>
                  </a:cubicBezTo>
                  <a:cubicBezTo>
                    <a:pt x="1593132" y="2821186"/>
                    <a:pt x="1591990" y="2804055"/>
                    <a:pt x="1584567" y="2797774"/>
                  </a:cubicBezTo>
                  <a:cubicBezTo>
                    <a:pt x="1577715" y="2792064"/>
                    <a:pt x="1556586" y="2790921"/>
                    <a:pt x="1496057" y="2793777"/>
                  </a:cubicBezTo>
                  <a:cubicBezTo>
                    <a:pt x="1430959" y="2796632"/>
                    <a:pt x="1412686" y="2799487"/>
                    <a:pt x="1394984" y="2808623"/>
                  </a:cubicBezTo>
                  <a:cubicBezTo>
                    <a:pt x="1382993" y="2815476"/>
                    <a:pt x="1364149" y="2824612"/>
                    <a:pt x="1353299" y="2829180"/>
                  </a:cubicBezTo>
                  <a:cubicBezTo>
                    <a:pt x="1278494" y="2861157"/>
                    <a:pt x="1204831" y="2927967"/>
                    <a:pt x="1170569" y="2994777"/>
                  </a:cubicBezTo>
                  <a:cubicBezTo>
                    <a:pt x="1125458" y="3081573"/>
                    <a:pt x="1115179" y="3091851"/>
                    <a:pt x="1079204" y="3085570"/>
                  </a:cubicBezTo>
                  <a:cubicBezTo>
                    <a:pt x="1068355" y="3083857"/>
                    <a:pt x="1050082" y="3077005"/>
                    <a:pt x="1039232" y="3070723"/>
                  </a:cubicBezTo>
                  <a:cubicBezTo>
                    <a:pt x="1018104" y="3058732"/>
                    <a:pt x="897616" y="3031894"/>
                    <a:pt x="862783" y="3031894"/>
                  </a:cubicBezTo>
                  <a:cubicBezTo>
                    <a:pt x="851934" y="3031894"/>
                    <a:pt x="817101" y="3037604"/>
                    <a:pt x="785123" y="3043885"/>
                  </a:cubicBezTo>
                  <a:cubicBezTo>
                    <a:pt x="731446" y="3055877"/>
                    <a:pt x="704036" y="3067297"/>
                    <a:pt x="633800" y="3108982"/>
                  </a:cubicBezTo>
                  <a:cubicBezTo>
                    <a:pt x="605248" y="3126113"/>
                    <a:pt x="542435" y="3191780"/>
                    <a:pt x="532727" y="3214621"/>
                  </a:cubicBezTo>
                  <a:cubicBezTo>
                    <a:pt x="527588" y="3225471"/>
                    <a:pt x="517880" y="3242031"/>
                    <a:pt x="510457" y="3250596"/>
                  </a:cubicBezTo>
                  <a:cubicBezTo>
                    <a:pt x="503033" y="3259732"/>
                    <a:pt x="496752" y="3272295"/>
                    <a:pt x="496752" y="3279147"/>
                  </a:cubicBezTo>
                  <a:cubicBezTo>
                    <a:pt x="496752" y="3285999"/>
                    <a:pt x="489900" y="3305985"/>
                    <a:pt x="481905" y="3323116"/>
                  </a:cubicBezTo>
                  <a:cubicBezTo>
                    <a:pt x="468200" y="3352238"/>
                    <a:pt x="467058" y="3360804"/>
                    <a:pt x="466487" y="3437321"/>
                  </a:cubicBezTo>
                  <a:cubicBezTo>
                    <a:pt x="465916" y="3514980"/>
                    <a:pt x="467058" y="3522403"/>
                    <a:pt x="480763" y="3551526"/>
                  </a:cubicBezTo>
                  <a:cubicBezTo>
                    <a:pt x="488758" y="3568656"/>
                    <a:pt x="496752" y="3590355"/>
                    <a:pt x="499036" y="3599492"/>
                  </a:cubicBezTo>
                  <a:cubicBezTo>
                    <a:pt x="501320" y="3609199"/>
                    <a:pt x="507602" y="3622904"/>
                    <a:pt x="513312" y="3630898"/>
                  </a:cubicBezTo>
                  <a:cubicBezTo>
                    <a:pt x="519022" y="3638892"/>
                    <a:pt x="525875" y="3652026"/>
                    <a:pt x="528159" y="3660020"/>
                  </a:cubicBezTo>
                  <a:cubicBezTo>
                    <a:pt x="530443" y="3668015"/>
                    <a:pt x="538437" y="3684003"/>
                    <a:pt x="546432" y="3695424"/>
                  </a:cubicBezTo>
                  <a:cubicBezTo>
                    <a:pt x="554426" y="3706844"/>
                    <a:pt x="561279" y="3725117"/>
                    <a:pt x="561279" y="3735395"/>
                  </a:cubicBezTo>
                  <a:cubicBezTo>
                    <a:pt x="562421" y="3750813"/>
                    <a:pt x="559565" y="3755381"/>
                    <a:pt x="544719" y="3762805"/>
                  </a:cubicBezTo>
                  <a:cubicBezTo>
                    <a:pt x="535011" y="3767944"/>
                    <a:pt x="520164" y="3777651"/>
                    <a:pt x="511028" y="3784504"/>
                  </a:cubicBezTo>
                  <a:cubicBezTo>
                    <a:pt x="502462" y="3791356"/>
                    <a:pt x="491613" y="3797066"/>
                    <a:pt x="487615" y="3797066"/>
                  </a:cubicBezTo>
                  <a:cubicBezTo>
                    <a:pt x="483047" y="3797066"/>
                    <a:pt x="474482" y="3802205"/>
                    <a:pt x="468771" y="3807915"/>
                  </a:cubicBezTo>
                  <a:cubicBezTo>
                    <a:pt x="462490" y="3814197"/>
                    <a:pt x="448785" y="3823904"/>
                    <a:pt x="438507" y="3829043"/>
                  </a:cubicBezTo>
                  <a:cubicBezTo>
                    <a:pt x="397964" y="3850171"/>
                    <a:pt x="317448" y="3947816"/>
                    <a:pt x="302601" y="3995211"/>
                  </a:cubicBezTo>
                  <a:cubicBezTo>
                    <a:pt x="298604" y="4007203"/>
                    <a:pt x="291752" y="4021479"/>
                    <a:pt x="287183" y="4026618"/>
                  </a:cubicBezTo>
                  <a:cubicBezTo>
                    <a:pt x="264913" y="4051743"/>
                    <a:pt x="263771" y="4249317"/>
                    <a:pt x="285470" y="4286434"/>
                  </a:cubicBezTo>
                  <a:cubicBezTo>
                    <a:pt x="291752" y="4296712"/>
                    <a:pt x="299175" y="4316127"/>
                    <a:pt x="303172" y="4329261"/>
                  </a:cubicBezTo>
                  <a:cubicBezTo>
                    <a:pt x="306599" y="4342394"/>
                    <a:pt x="315164" y="4360667"/>
                    <a:pt x="322587" y="4369232"/>
                  </a:cubicBezTo>
                  <a:cubicBezTo>
                    <a:pt x="330011" y="4377798"/>
                    <a:pt x="337434" y="4390360"/>
                    <a:pt x="339718" y="4396642"/>
                  </a:cubicBezTo>
                  <a:cubicBezTo>
                    <a:pt x="341431" y="4402923"/>
                    <a:pt x="346000" y="4408062"/>
                    <a:pt x="348855" y="4408062"/>
                  </a:cubicBezTo>
                  <a:cubicBezTo>
                    <a:pt x="351710" y="4408062"/>
                    <a:pt x="358562" y="4415485"/>
                    <a:pt x="364273" y="4424622"/>
                  </a:cubicBezTo>
                  <a:cubicBezTo>
                    <a:pt x="369983" y="4433758"/>
                    <a:pt x="385972" y="4450318"/>
                    <a:pt x="399677" y="4461738"/>
                  </a:cubicBezTo>
                  <a:cubicBezTo>
                    <a:pt x="413952" y="4472588"/>
                    <a:pt x="432796" y="4488576"/>
                    <a:pt x="441362" y="4496571"/>
                  </a:cubicBezTo>
                  <a:cubicBezTo>
                    <a:pt x="449927" y="4504565"/>
                    <a:pt x="460777" y="4510846"/>
                    <a:pt x="464203" y="4510846"/>
                  </a:cubicBezTo>
                  <a:cubicBezTo>
                    <a:pt x="468200" y="4510846"/>
                    <a:pt x="480192" y="4517128"/>
                    <a:pt x="491042" y="4525122"/>
                  </a:cubicBezTo>
                  <a:cubicBezTo>
                    <a:pt x="510457" y="4539398"/>
                    <a:pt x="520735" y="4541682"/>
                    <a:pt x="537295" y="4534829"/>
                  </a:cubicBezTo>
                  <a:close/>
                  <a:moveTo>
                    <a:pt x="2134470" y="3065013"/>
                  </a:moveTo>
                  <a:cubicBezTo>
                    <a:pt x="2138467" y="3061016"/>
                    <a:pt x="2141323" y="3045027"/>
                    <a:pt x="2141323" y="3029610"/>
                  </a:cubicBezTo>
                  <a:cubicBezTo>
                    <a:pt x="2141894" y="3013621"/>
                    <a:pt x="2145320" y="2982786"/>
                    <a:pt x="2149317" y="2960516"/>
                  </a:cubicBezTo>
                  <a:cubicBezTo>
                    <a:pt x="2172729" y="2839459"/>
                    <a:pt x="2181866" y="2800629"/>
                    <a:pt x="2189289" y="2792635"/>
                  </a:cubicBezTo>
                  <a:cubicBezTo>
                    <a:pt x="2193858" y="2787495"/>
                    <a:pt x="2200710" y="2770365"/>
                    <a:pt x="2204136" y="2754947"/>
                  </a:cubicBezTo>
                  <a:cubicBezTo>
                    <a:pt x="2209846" y="2728680"/>
                    <a:pt x="2222409" y="2704697"/>
                    <a:pt x="2250390" y="2666438"/>
                  </a:cubicBezTo>
                  <a:cubicBezTo>
                    <a:pt x="2256671" y="2658444"/>
                    <a:pt x="2265236" y="2643026"/>
                    <a:pt x="2269805" y="2632748"/>
                  </a:cubicBezTo>
                  <a:cubicBezTo>
                    <a:pt x="2280083" y="2609336"/>
                    <a:pt x="2277228" y="2612762"/>
                    <a:pt x="2354317" y="2535103"/>
                  </a:cubicBezTo>
                  <a:cubicBezTo>
                    <a:pt x="2410849" y="2478000"/>
                    <a:pt x="2458816" y="2438029"/>
                    <a:pt x="2470808" y="2438029"/>
                  </a:cubicBezTo>
                  <a:cubicBezTo>
                    <a:pt x="2473663" y="2438029"/>
                    <a:pt x="2482228" y="2431747"/>
                    <a:pt x="2489652" y="2424324"/>
                  </a:cubicBezTo>
                  <a:cubicBezTo>
                    <a:pt x="2496504" y="2416330"/>
                    <a:pt x="2509638" y="2408335"/>
                    <a:pt x="2518774" y="2406622"/>
                  </a:cubicBezTo>
                  <a:cubicBezTo>
                    <a:pt x="2527340" y="2404338"/>
                    <a:pt x="2541045" y="2398057"/>
                    <a:pt x="2547897" y="2392347"/>
                  </a:cubicBezTo>
                  <a:cubicBezTo>
                    <a:pt x="2555320" y="2386636"/>
                    <a:pt x="2572451" y="2379213"/>
                    <a:pt x="2585585" y="2375787"/>
                  </a:cubicBezTo>
                  <a:cubicBezTo>
                    <a:pt x="2598719" y="2371790"/>
                    <a:pt x="2618134" y="2364366"/>
                    <a:pt x="2628412" y="2358085"/>
                  </a:cubicBezTo>
                  <a:cubicBezTo>
                    <a:pt x="2638120" y="2352375"/>
                    <a:pt x="2663245" y="2345523"/>
                    <a:pt x="2683802" y="2343239"/>
                  </a:cubicBezTo>
                  <a:cubicBezTo>
                    <a:pt x="2704360" y="2340954"/>
                    <a:pt x="2737479" y="2334673"/>
                    <a:pt x="2758037" y="2328392"/>
                  </a:cubicBezTo>
                  <a:cubicBezTo>
                    <a:pt x="2791727" y="2319256"/>
                    <a:pt x="2820279" y="2318113"/>
                    <a:pt x="3086380" y="2318113"/>
                  </a:cubicBezTo>
                  <a:cubicBezTo>
                    <a:pt x="3305656" y="2318113"/>
                    <a:pt x="3379890" y="2316400"/>
                    <a:pt x="3385029" y="2311261"/>
                  </a:cubicBezTo>
                  <a:cubicBezTo>
                    <a:pt x="3394737" y="2301554"/>
                    <a:pt x="3393595" y="2286707"/>
                    <a:pt x="3379890" y="2243880"/>
                  </a:cubicBezTo>
                  <a:cubicBezTo>
                    <a:pt x="3371324" y="2216471"/>
                    <a:pt x="3367327" y="2184494"/>
                    <a:pt x="3365043" y="2119968"/>
                  </a:cubicBezTo>
                  <a:cubicBezTo>
                    <a:pt x="3363330" y="2072573"/>
                    <a:pt x="3359333" y="2029746"/>
                    <a:pt x="3357049" y="2025749"/>
                  </a:cubicBezTo>
                  <a:cubicBezTo>
                    <a:pt x="3353051" y="2020039"/>
                    <a:pt x="3288525" y="2018326"/>
                    <a:pt x="3016714" y="2018326"/>
                  </a:cubicBezTo>
                  <a:cubicBezTo>
                    <a:pt x="2683231" y="2018326"/>
                    <a:pt x="2680947" y="2018326"/>
                    <a:pt x="2643259" y="2031459"/>
                  </a:cubicBezTo>
                  <a:cubicBezTo>
                    <a:pt x="2622702" y="2038312"/>
                    <a:pt x="2585585" y="2046877"/>
                    <a:pt x="2560460" y="2049732"/>
                  </a:cubicBezTo>
                  <a:cubicBezTo>
                    <a:pt x="2533050" y="2053158"/>
                    <a:pt x="2509638" y="2059439"/>
                    <a:pt x="2501072" y="2066292"/>
                  </a:cubicBezTo>
                  <a:cubicBezTo>
                    <a:pt x="2493078" y="2072002"/>
                    <a:pt x="2477660" y="2078854"/>
                    <a:pt x="2466811" y="2081138"/>
                  </a:cubicBezTo>
                  <a:cubicBezTo>
                    <a:pt x="2455961" y="2083423"/>
                    <a:pt x="2436546" y="2091417"/>
                    <a:pt x="2423983" y="2098269"/>
                  </a:cubicBezTo>
                  <a:cubicBezTo>
                    <a:pt x="2411420" y="2105121"/>
                    <a:pt x="2394290" y="2112545"/>
                    <a:pt x="2386295" y="2114829"/>
                  </a:cubicBezTo>
                  <a:cubicBezTo>
                    <a:pt x="2366880" y="2118826"/>
                    <a:pt x="2305780" y="2155943"/>
                    <a:pt x="2299498" y="2166792"/>
                  </a:cubicBezTo>
                  <a:cubicBezTo>
                    <a:pt x="2297214" y="2171360"/>
                    <a:pt x="2291504" y="2175357"/>
                    <a:pt x="2286936" y="2175357"/>
                  </a:cubicBezTo>
                  <a:cubicBezTo>
                    <a:pt x="2282938" y="2175357"/>
                    <a:pt x="2272089" y="2181639"/>
                    <a:pt x="2262952" y="2189062"/>
                  </a:cubicBezTo>
                  <a:cubicBezTo>
                    <a:pt x="2254387" y="2196485"/>
                    <a:pt x="2239540" y="2206193"/>
                    <a:pt x="2229832" y="2211332"/>
                  </a:cubicBezTo>
                  <a:cubicBezTo>
                    <a:pt x="2210417" y="2221039"/>
                    <a:pt x="2084219" y="2345523"/>
                    <a:pt x="2059665" y="2379213"/>
                  </a:cubicBezTo>
                  <a:cubicBezTo>
                    <a:pt x="2031685" y="2417472"/>
                    <a:pt x="2016267" y="2440313"/>
                    <a:pt x="2010556" y="2452304"/>
                  </a:cubicBezTo>
                  <a:cubicBezTo>
                    <a:pt x="2007701" y="2458585"/>
                    <a:pt x="2000278" y="2468864"/>
                    <a:pt x="1993425" y="2474574"/>
                  </a:cubicBezTo>
                  <a:cubicBezTo>
                    <a:pt x="1987144" y="2480855"/>
                    <a:pt x="1981434" y="2488279"/>
                    <a:pt x="1981434" y="2492276"/>
                  </a:cubicBezTo>
                  <a:cubicBezTo>
                    <a:pt x="1981434" y="2495702"/>
                    <a:pt x="1974010" y="2509978"/>
                    <a:pt x="1964874" y="2524253"/>
                  </a:cubicBezTo>
                  <a:cubicBezTo>
                    <a:pt x="1955737" y="2537958"/>
                    <a:pt x="1947172" y="2558515"/>
                    <a:pt x="1944888" y="2569935"/>
                  </a:cubicBezTo>
                  <a:cubicBezTo>
                    <a:pt x="1942604" y="2581927"/>
                    <a:pt x="1936322" y="2597344"/>
                    <a:pt x="1930041" y="2605339"/>
                  </a:cubicBezTo>
                  <a:cubicBezTo>
                    <a:pt x="1923760" y="2613333"/>
                    <a:pt x="1916907" y="2628180"/>
                    <a:pt x="1915194" y="2639029"/>
                  </a:cubicBezTo>
                  <a:cubicBezTo>
                    <a:pt x="1912910" y="2649308"/>
                    <a:pt x="1906629" y="2665867"/>
                    <a:pt x="1900918" y="2675575"/>
                  </a:cubicBezTo>
                  <a:cubicBezTo>
                    <a:pt x="1894637" y="2685853"/>
                    <a:pt x="1886643" y="2718972"/>
                    <a:pt x="1881503" y="2752663"/>
                  </a:cubicBezTo>
                  <a:cubicBezTo>
                    <a:pt x="1876935" y="2785211"/>
                    <a:pt x="1868941" y="2822899"/>
                    <a:pt x="1864372" y="2836603"/>
                  </a:cubicBezTo>
                  <a:cubicBezTo>
                    <a:pt x="1852952" y="2869152"/>
                    <a:pt x="1846099" y="3002200"/>
                    <a:pt x="1855236" y="3019331"/>
                  </a:cubicBezTo>
                  <a:cubicBezTo>
                    <a:pt x="1860946" y="3030181"/>
                    <a:pt x="1866656" y="3031894"/>
                    <a:pt x="1898634" y="3031894"/>
                  </a:cubicBezTo>
                  <a:cubicBezTo>
                    <a:pt x="1918620" y="3031894"/>
                    <a:pt x="1950027" y="3035891"/>
                    <a:pt x="1968300" y="3040459"/>
                  </a:cubicBezTo>
                  <a:cubicBezTo>
                    <a:pt x="1986573" y="3045027"/>
                    <a:pt x="2024261" y="3050737"/>
                    <a:pt x="2051671" y="3054164"/>
                  </a:cubicBezTo>
                  <a:cubicBezTo>
                    <a:pt x="2079651" y="3057019"/>
                    <a:pt x="2105348" y="3062158"/>
                    <a:pt x="2108774" y="3065584"/>
                  </a:cubicBezTo>
                  <a:cubicBezTo>
                    <a:pt x="2116768" y="3073578"/>
                    <a:pt x="2125905" y="3073578"/>
                    <a:pt x="2134470" y="3065013"/>
                  </a:cubicBezTo>
                  <a:close/>
                  <a:moveTo>
                    <a:pt x="4190754" y="2312974"/>
                  </a:moveTo>
                  <a:cubicBezTo>
                    <a:pt x="4202746" y="2304980"/>
                    <a:pt x="4199891" y="2282710"/>
                    <a:pt x="4183331" y="2258727"/>
                  </a:cubicBezTo>
                  <a:cubicBezTo>
                    <a:pt x="4175337" y="2246735"/>
                    <a:pt x="4168484" y="2231889"/>
                    <a:pt x="4168484" y="2226750"/>
                  </a:cubicBezTo>
                  <a:cubicBezTo>
                    <a:pt x="4168484" y="2221039"/>
                    <a:pt x="4161632" y="2198769"/>
                    <a:pt x="4153066" y="2177642"/>
                  </a:cubicBezTo>
                  <a:cubicBezTo>
                    <a:pt x="4137649" y="2138812"/>
                    <a:pt x="4137077" y="2135957"/>
                    <a:pt x="4137077" y="2015471"/>
                  </a:cubicBezTo>
                  <a:cubicBezTo>
                    <a:pt x="4137077" y="1900124"/>
                    <a:pt x="4137649" y="1890987"/>
                    <a:pt x="4149640" y="1868717"/>
                  </a:cubicBezTo>
                  <a:cubicBezTo>
                    <a:pt x="4156493" y="1855584"/>
                    <a:pt x="4165058" y="1829317"/>
                    <a:pt x="4168484" y="1809331"/>
                  </a:cubicBezTo>
                  <a:cubicBezTo>
                    <a:pt x="4171910" y="1789916"/>
                    <a:pt x="4178192" y="1768788"/>
                    <a:pt x="4182760" y="1761936"/>
                  </a:cubicBezTo>
                  <a:cubicBezTo>
                    <a:pt x="4186757" y="1755084"/>
                    <a:pt x="4194181" y="1735669"/>
                    <a:pt x="4199320" y="1717967"/>
                  </a:cubicBezTo>
                  <a:cubicBezTo>
                    <a:pt x="4204459" y="1700265"/>
                    <a:pt x="4212454" y="1682564"/>
                    <a:pt x="4217593" y="1677995"/>
                  </a:cubicBezTo>
                  <a:cubicBezTo>
                    <a:pt x="4222732" y="1673998"/>
                    <a:pt x="4230727" y="1660865"/>
                    <a:pt x="4235295" y="1648873"/>
                  </a:cubicBezTo>
                  <a:cubicBezTo>
                    <a:pt x="4239863" y="1636882"/>
                    <a:pt x="4246145" y="1627174"/>
                    <a:pt x="4248429" y="1627174"/>
                  </a:cubicBezTo>
                  <a:cubicBezTo>
                    <a:pt x="4250713" y="1627174"/>
                    <a:pt x="4258136" y="1615183"/>
                    <a:pt x="4264989" y="1600336"/>
                  </a:cubicBezTo>
                  <a:cubicBezTo>
                    <a:pt x="4271270" y="1584918"/>
                    <a:pt x="4283833" y="1563791"/>
                    <a:pt x="4291827" y="1552941"/>
                  </a:cubicBezTo>
                  <a:cubicBezTo>
                    <a:pt x="4306674" y="1531813"/>
                    <a:pt x="4383763" y="1446160"/>
                    <a:pt x="4408889" y="1421606"/>
                  </a:cubicBezTo>
                  <a:cubicBezTo>
                    <a:pt x="4434014" y="1397623"/>
                    <a:pt x="4504822" y="1341662"/>
                    <a:pt x="4509961" y="1341662"/>
                  </a:cubicBezTo>
                  <a:cubicBezTo>
                    <a:pt x="4512816" y="1341662"/>
                    <a:pt x="4524808" y="1334239"/>
                    <a:pt x="4536800" y="1324531"/>
                  </a:cubicBezTo>
                  <a:cubicBezTo>
                    <a:pt x="4548791" y="1315395"/>
                    <a:pt x="4561354" y="1307401"/>
                    <a:pt x="4564780" y="1307401"/>
                  </a:cubicBezTo>
                  <a:cubicBezTo>
                    <a:pt x="4568777" y="1307401"/>
                    <a:pt x="4580198" y="1301119"/>
                    <a:pt x="4590477" y="1293696"/>
                  </a:cubicBezTo>
                  <a:cubicBezTo>
                    <a:pt x="4601326" y="1285702"/>
                    <a:pt x="4617886" y="1277707"/>
                    <a:pt x="4627594" y="1275423"/>
                  </a:cubicBezTo>
                  <a:cubicBezTo>
                    <a:pt x="4637301" y="1273139"/>
                    <a:pt x="4651006" y="1266858"/>
                    <a:pt x="4658429" y="1261148"/>
                  </a:cubicBezTo>
                  <a:cubicBezTo>
                    <a:pt x="4665853" y="1255437"/>
                    <a:pt x="4685839" y="1248014"/>
                    <a:pt x="4702970" y="1244588"/>
                  </a:cubicBezTo>
                  <a:cubicBezTo>
                    <a:pt x="4720101" y="1240591"/>
                    <a:pt x="4745797" y="1233168"/>
                    <a:pt x="4759502" y="1226886"/>
                  </a:cubicBezTo>
                  <a:cubicBezTo>
                    <a:pt x="4799474" y="1209185"/>
                    <a:pt x="5080993" y="1187486"/>
                    <a:pt x="5270575" y="1187486"/>
                  </a:cubicBezTo>
                  <a:cubicBezTo>
                    <a:pt x="5324252" y="1187486"/>
                    <a:pt x="5344809" y="1185773"/>
                    <a:pt x="5349948" y="1180062"/>
                  </a:cubicBezTo>
                  <a:cubicBezTo>
                    <a:pt x="5360227" y="1167500"/>
                    <a:pt x="5390492" y="1108113"/>
                    <a:pt x="5390492" y="1100690"/>
                  </a:cubicBezTo>
                  <a:cubicBezTo>
                    <a:pt x="5390492" y="1096693"/>
                    <a:pt x="5398486" y="1077849"/>
                    <a:pt x="5407623" y="1059005"/>
                  </a:cubicBezTo>
                  <a:cubicBezTo>
                    <a:pt x="5416759" y="1040161"/>
                    <a:pt x="5424753" y="1021318"/>
                    <a:pt x="5424753" y="1017320"/>
                  </a:cubicBezTo>
                  <a:cubicBezTo>
                    <a:pt x="5424753" y="1013323"/>
                    <a:pt x="5431035" y="999048"/>
                    <a:pt x="5438458" y="985914"/>
                  </a:cubicBezTo>
                  <a:cubicBezTo>
                    <a:pt x="5445882" y="972781"/>
                    <a:pt x="5453876" y="953937"/>
                    <a:pt x="5456160" y="943658"/>
                  </a:cubicBezTo>
                  <a:cubicBezTo>
                    <a:pt x="5457873" y="933380"/>
                    <a:pt x="5464726" y="919104"/>
                    <a:pt x="5470436" y="912252"/>
                  </a:cubicBezTo>
                  <a:cubicBezTo>
                    <a:pt x="5476146" y="904829"/>
                    <a:pt x="5483570" y="887127"/>
                    <a:pt x="5487567" y="873422"/>
                  </a:cubicBezTo>
                  <a:cubicBezTo>
                    <a:pt x="5491564" y="859718"/>
                    <a:pt x="5498988" y="842016"/>
                    <a:pt x="5505269" y="834593"/>
                  </a:cubicBezTo>
                  <a:cubicBezTo>
                    <a:pt x="5510979" y="826598"/>
                    <a:pt x="5516119" y="815749"/>
                    <a:pt x="5516119" y="810610"/>
                  </a:cubicBezTo>
                  <a:cubicBezTo>
                    <a:pt x="5516119" y="804899"/>
                    <a:pt x="5523542" y="786056"/>
                    <a:pt x="5532678" y="768925"/>
                  </a:cubicBezTo>
                  <a:cubicBezTo>
                    <a:pt x="5541815" y="751794"/>
                    <a:pt x="5550951" y="728953"/>
                    <a:pt x="5553236" y="718104"/>
                  </a:cubicBezTo>
                  <a:cubicBezTo>
                    <a:pt x="5555520" y="707825"/>
                    <a:pt x="5562372" y="693550"/>
                    <a:pt x="5568082" y="686126"/>
                  </a:cubicBezTo>
                  <a:cubicBezTo>
                    <a:pt x="5573793" y="678703"/>
                    <a:pt x="5580074" y="664999"/>
                    <a:pt x="5582358" y="654720"/>
                  </a:cubicBezTo>
                  <a:cubicBezTo>
                    <a:pt x="5584071" y="644442"/>
                    <a:pt x="5593779" y="622743"/>
                    <a:pt x="5602344" y="605612"/>
                  </a:cubicBezTo>
                  <a:cubicBezTo>
                    <a:pt x="5611481" y="588481"/>
                    <a:pt x="5618904" y="570780"/>
                    <a:pt x="5618904" y="565640"/>
                  </a:cubicBezTo>
                  <a:cubicBezTo>
                    <a:pt x="5618904" y="560501"/>
                    <a:pt x="5625757" y="546225"/>
                    <a:pt x="5633180" y="533663"/>
                  </a:cubicBezTo>
                  <a:cubicBezTo>
                    <a:pt x="5641174" y="521100"/>
                    <a:pt x="5647456" y="506825"/>
                    <a:pt x="5647456" y="501686"/>
                  </a:cubicBezTo>
                  <a:cubicBezTo>
                    <a:pt x="5647456" y="496546"/>
                    <a:pt x="5653737" y="480558"/>
                    <a:pt x="5661732" y="465711"/>
                  </a:cubicBezTo>
                  <a:cubicBezTo>
                    <a:pt x="5672581" y="445154"/>
                    <a:pt x="5676007" y="430308"/>
                    <a:pt x="5676007" y="403469"/>
                  </a:cubicBezTo>
                  <a:cubicBezTo>
                    <a:pt x="5676007" y="374918"/>
                    <a:pt x="5673152" y="363498"/>
                    <a:pt x="5661732" y="346938"/>
                  </a:cubicBezTo>
                  <a:cubicBezTo>
                    <a:pt x="5653737" y="335518"/>
                    <a:pt x="5647456" y="323526"/>
                    <a:pt x="5647456" y="320671"/>
                  </a:cubicBezTo>
                  <a:cubicBezTo>
                    <a:pt x="5647456" y="314961"/>
                    <a:pt x="5624043" y="298401"/>
                    <a:pt x="5588068" y="278415"/>
                  </a:cubicBezTo>
                  <a:cubicBezTo>
                    <a:pt x="5568082" y="266995"/>
                    <a:pt x="5509266" y="264711"/>
                    <a:pt x="5484712" y="273847"/>
                  </a:cubicBezTo>
                  <a:cubicBezTo>
                    <a:pt x="5460728" y="282983"/>
                    <a:pt x="5430464" y="309250"/>
                    <a:pt x="5417330" y="332662"/>
                  </a:cubicBezTo>
                  <a:cubicBezTo>
                    <a:pt x="5405338" y="353790"/>
                    <a:pt x="5388778" y="381771"/>
                    <a:pt x="5364795" y="421742"/>
                  </a:cubicBezTo>
                  <a:cubicBezTo>
                    <a:pt x="5358514" y="432021"/>
                    <a:pt x="5346522" y="449722"/>
                    <a:pt x="5337957" y="460572"/>
                  </a:cubicBezTo>
                  <a:cubicBezTo>
                    <a:pt x="5328820" y="471992"/>
                    <a:pt x="5321968" y="483413"/>
                    <a:pt x="5321968" y="486839"/>
                  </a:cubicBezTo>
                  <a:cubicBezTo>
                    <a:pt x="5321968" y="489694"/>
                    <a:pt x="5315115" y="500544"/>
                    <a:pt x="5306550" y="511393"/>
                  </a:cubicBezTo>
                  <a:cubicBezTo>
                    <a:pt x="5297413" y="521671"/>
                    <a:pt x="5283138" y="540515"/>
                    <a:pt x="5273430" y="553649"/>
                  </a:cubicBezTo>
                  <a:cubicBezTo>
                    <a:pt x="5230032" y="613035"/>
                    <a:pt x="5128959" y="721530"/>
                    <a:pt x="5055296" y="787769"/>
                  </a:cubicBezTo>
                  <a:cubicBezTo>
                    <a:pt x="4994767" y="842587"/>
                    <a:pt x="4955937" y="873422"/>
                    <a:pt x="4933666" y="884843"/>
                  </a:cubicBezTo>
                  <a:cubicBezTo>
                    <a:pt x="4925672" y="888840"/>
                    <a:pt x="4914251" y="897405"/>
                    <a:pt x="4907970" y="903116"/>
                  </a:cubicBezTo>
                  <a:cubicBezTo>
                    <a:pt x="4890839" y="919675"/>
                    <a:pt x="4859432" y="940232"/>
                    <a:pt x="4835449" y="951082"/>
                  </a:cubicBezTo>
                  <a:cubicBezTo>
                    <a:pt x="4823457" y="956221"/>
                    <a:pt x="4813750" y="962502"/>
                    <a:pt x="4813750" y="965928"/>
                  </a:cubicBezTo>
                  <a:cubicBezTo>
                    <a:pt x="4813750" y="968783"/>
                    <a:pt x="4805184" y="974494"/>
                    <a:pt x="4794335" y="979062"/>
                  </a:cubicBezTo>
                  <a:cubicBezTo>
                    <a:pt x="4783485" y="983630"/>
                    <a:pt x="4765212" y="993908"/>
                    <a:pt x="4753221" y="1001903"/>
                  </a:cubicBezTo>
                  <a:cubicBezTo>
                    <a:pt x="4741800" y="1009897"/>
                    <a:pt x="4728666" y="1016178"/>
                    <a:pt x="4724098" y="1016178"/>
                  </a:cubicBezTo>
                  <a:cubicBezTo>
                    <a:pt x="4719530" y="1016178"/>
                    <a:pt x="4708109" y="1021318"/>
                    <a:pt x="4698973" y="1027599"/>
                  </a:cubicBezTo>
                  <a:cubicBezTo>
                    <a:pt x="4690407" y="1034451"/>
                    <a:pt x="4674418" y="1042445"/>
                    <a:pt x="4664140" y="1045872"/>
                  </a:cubicBezTo>
                  <a:cubicBezTo>
                    <a:pt x="4653861" y="1049298"/>
                    <a:pt x="4639014" y="1056721"/>
                    <a:pt x="4631020" y="1061860"/>
                  </a:cubicBezTo>
                  <a:cubicBezTo>
                    <a:pt x="4623025" y="1067571"/>
                    <a:pt x="4605323" y="1074994"/>
                    <a:pt x="4591048" y="1078991"/>
                  </a:cubicBezTo>
                  <a:cubicBezTo>
                    <a:pt x="4576772" y="1082417"/>
                    <a:pt x="4557928" y="1090412"/>
                    <a:pt x="4548220" y="1096122"/>
                  </a:cubicBezTo>
                  <a:cubicBezTo>
                    <a:pt x="4539084" y="1101832"/>
                    <a:pt x="4521953" y="1108113"/>
                    <a:pt x="4511103" y="1110397"/>
                  </a:cubicBezTo>
                  <a:cubicBezTo>
                    <a:pt x="4500254" y="1112681"/>
                    <a:pt x="4477412" y="1122389"/>
                    <a:pt x="4460281" y="1130954"/>
                  </a:cubicBezTo>
                  <a:cubicBezTo>
                    <a:pt x="4443150" y="1140091"/>
                    <a:pt x="4426591" y="1147514"/>
                    <a:pt x="4422593" y="1147514"/>
                  </a:cubicBezTo>
                  <a:cubicBezTo>
                    <a:pt x="4418596" y="1147514"/>
                    <a:pt x="4409460" y="1152653"/>
                    <a:pt x="4401465" y="1158363"/>
                  </a:cubicBezTo>
                  <a:cubicBezTo>
                    <a:pt x="4394042" y="1164645"/>
                    <a:pt x="4377482" y="1172068"/>
                    <a:pt x="4364348" y="1175494"/>
                  </a:cubicBezTo>
                  <a:cubicBezTo>
                    <a:pt x="4351785" y="1178920"/>
                    <a:pt x="4335226" y="1186344"/>
                    <a:pt x="4327802" y="1192625"/>
                  </a:cubicBezTo>
                  <a:cubicBezTo>
                    <a:pt x="4320379" y="1198335"/>
                    <a:pt x="4304390" y="1205758"/>
                    <a:pt x="4292969" y="1209756"/>
                  </a:cubicBezTo>
                  <a:cubicBezTo>
                    <a:pt x="4281549" y="1213753"/>
                    <a:pt x="4268986" y="1220605"/>
                    <a:pt x="4264989" y="1225173"/>
                  </a:cubicBezTo>
                  <a:cubicBezTo>
                    <a:pt x="4261562" y="1229741"/>
                    <a:pt x="4247858" y="1238307"/>
                    <a:pt x="4234724" y="1244588"/>
                  </a:cubicBezTo>
                  <a:cubicBezTo>
                    <a:pt x="4222161" y="1250869"/>
                    <a:pt x="4199891" y="1263432"/>
                    <a:pt x="4185615" y="1273139"/>
                  </a:cubicBezTo>
                  <a:cubicBezTo>
                    <a:pt x="4171339" y="1282276"/>
                    <a:pt x="4150782" y="1294838"/>
                    <a:pt x="4139933" y="1299977"/>
                  </a:cubicBezTo>
                  <a:cubicBezTo>
                    <a:pt x="4121660" y="1309114"/>
                    <a:pt x="4108526" y="1318821"/>
                    <a:pt x="4065699" y="1353083"/>
                  </a:cubicBezTo>
                  <a:cubicBezTo>
                    <a:pt x="4047426" y="1367929"/>
                    <a:pt x="4009737" y="1396480"/>
                    <a:pt x="3980044" y="1418750"/>
                  </a:cubicBezTo>
                  <a:cubicBezTo>
                    <a:pt x="3952063" y="1438736"/>
                    <a:pt x="3892105" y="1498123"/>
                    <a:pt x="3830434" y="1564933"/>
                  </a:cubicBezTo>
                  <a:cubicBezTo>
                    <a:pt x="3781896" y="1617467"/>
                    <a:pt x="3761910" y="1643734"/>
                    <a:pt x="3749347" y="1670572"/>
                  </a:cubicBezTo>
                  <a:cubicBezTo>
                    <a:pt x="3744779" y="1680279"/>
                    <a:pt x="3737355" y="1691129"/>
                    <a:pt x="3732787" y="1695126"/>
                  </a:cubicBezTo>
                  <a:cubicBezTo>
                    <a:pt x="3728219" y="1698552"/>
                    <a:pt x="3720796" y="1709973"/>
                    <a:pt x="3716798" y="1720251"/>
                  </a:cubicBezTo>
                  <a:cubicBezTo>
                    <a:pt x="3712801" y="1730530"/>
                    <a:pt x="3703094" y="1747089"/>
                    <a:pt x="3696241" y="1757939"/>
                  </a:cubicBezTo>
                  <a:cubicBezTo>
                    <a:pt x="3688818" y="1768788"/>
                    <a:pt x="3683107" y="1781351"/>
                    <a:pt x="3683107" y="1786490"/>
                  </a:cubicBezTo>
                  <a:cubicBezTo>
                    <a:pt x="3683107" y="1791629"/>
                    <a:pt x="3676826" y="1807618"/>
                    <a:pt x="3668832" y="1821893"/>
                  </a:cubicBezTo>
                  <a:cubicBezTo>
                    <a:pt x="3661408" y="1836740"/>
                    <a:pt x="3652272" y="1864149"/>
                    <a:pt x="3649417" y="1882993"/>
                  </a:cubicBezTo>
                  <a:cubicBezTo>
                    <a:pt x="3646561" y="1902408"/>
                    <a:pt x="3641422" y="1922965"/>
                    <a:pt x="3637996" y="1928675"/>
                  </a:cubicBezTo>
                  <a:cubicBezTo>
                    <a:pt x="3618581" y="1964649"/>
                    <a:pt x="3619723" y="2112545"/>
                    <a:pt x="3639138" y="2166792"/>
                  </a:cubicBezTo>
                  <a:cubicBezTo>
                    <a:pt x="3643706" y="2179355"/>
                    <a:pt x="3649417" y="2203909"/>
                    <a:pt x="3651701" y="2221039"/>
                  </a:cubicBezTo>
                  <a:cubicBezTo>
                    <a:pt x="3655127" y="2247878"/>
                    <a:pt x="3671687" y="2286707"/>
                    <a:pt x="3690531" y="2311261"/>
                  </a:cubicBezTo>
                  <a:cubicBezTo>
                    <a:pt x="3694528" y="2316400"/>
                    <a:pt x="3751060" y="2318113"/>
                    <a:pt x="3939501" y="2318113"/>
                  </a:cubicBezTo>
                  <a:cubicBezTo>
                    <a:pt x="4073122" y="2318113"/>
                    <a:pt x="4186186" y="2315829"/>
                    <a:pt x="4190754" y="2312974"/>
                  </a:cubicBezTo>
                  <a:close/>
                  <a:moveTo>
                    <a:pt x="5927261" y="2278142"/>
                  </a:moveTo>
                  <a:cubicBezTo>
                    <a:pt x="5944392" y="2274716"/>
                    <a:pt x="5962094" y="2268434"/>
                    <a:pt x="5967804" y="2263295"/>
                  </a:cubicBezTo>
                  <a:cubicBezTo>
                    <a:pt x="5972944" y="2258727"/>
                    <a:pt x="5986077" y="2252446"/>
                    <a:pt x="5997498" y="2249020"/>
                  </a:cubicBezTo>
                  <a:cubicBezTo>
                    <a:pt x="6026621" y="2241025"/>
                    <a:pt x="6098571" y="2166792"/>
                    <a:pt x="6098571" y="2145093"/>
                  </a:cubicBezTo>
                  <a:cubicBezTo>
                    <a:pt x="6098571" y="2138241"/>
                    <a:pt x="6105423" y="2119968"/>
                    <a:pt x="6113417" y="2104550"/>
                  </a:cubicBezTo>
                  <a:cubicBezTo>
                    <a:pt x="6127693" y="2077712"/>
                    <a:pt x="6128264" y="2072573"/>
                    <a:pt x="6125980" y="2016042"/>
                  </a:cubicBezTo>
                  <a:cubicBezTo>
                    <a:pt x="6124267" y="1975499"/>
                    <a:pt x="6120270" y="1949803"/>
                    <a:pt x="6113988" y="1937811"/>
                  </a:cubicBezTo>
                  <a:cubicBezTo>
                    <a:pt x="6108849" y="1928104"/>
                    <a:pt x="6101997" y="1903550"/>
                    <a:pt x="6099142" y="1883564"/>
                  </a:cubicBezTo>
                  <a:cubicBezTo>
                    <a:pt x="6095715" y="1863578"/>
                    <a:pt x="6088292" y="1840737"/>
                    <a:pt x="6082011" y="1832172"/>
                  </a:cubicBezTo>
                  <a:cubicBezTo>
                    <a:pt x="6076300" y="1824178"/>
                    <a:pt x="6068877" y="1808760"/>
                    <a:pt x="6065451" y="1797910"/>
                  </a:cubicBezTo>
                  <a:cubicBezTo>
                    <a:pt x="6058598" y="1772785"/>
                    <a:pt x="6023765" y="1719109"/>
                    <a:pt x="5978654" y="1663720"/>
                  </a:cubicBezTo>
                  <a:cubicBezTo>
                    <a:pt x="5955242" y="1635169"/>
                    <a:pt x="5871300" y="1564362"/>
                    <a:pt x="5861021" y="1564362"/>
                  </a:cubicBezTo>
                  <a:cubicBezTo>
                    <a:pt x="5857024" y="1564362"/>
                    <a:pt x="5846746" y="1558080"/>
                    <a:pt x="5838180" y="1550086"/>
                  </a:cubicBezTo>
                  <a:cubicBezTo>
                    <a:pt x="5829615" y="1542092"/>
                    <a:pt x="5815910" y="1534097"/>
                    <a:pt x="5807916" y="1531813"/>
                  </a:cubicBezTo>
                  <a:cubicBezTo>
                    <a:pt x="5799921" y="1530100"/>
                    <a:pt x="5782790" y="1522677"/>
                    <a:pt x="5770227" y="1515825"/>
                  </a:cubicBezTo>
                  <a:cubicBezTo>
                    <a:pt x="5757665" y="1508401"/>
                    <a:pt x="5738250" y="1500978"/>
                    <a:pt x="5727400" y="1498694"/>
                  </a:cubicBezTo>
                  <a:cubicBezTo>
                    <a:pt x="5716551" y="1496981"/>
                    <a:pt x="5690854" y="1489557"/>
                    <a:pt x="5670297" y="1482705"/>
                  </a:cubicBezTo>
                  <a:cubicBezTo>
                    <a:pt x="5633751" y="1470143"/>
                    <a:pt x="5628041" y="1470143"/>
                    <a:pt x="5262010" y="1470143"/>
                  </a:cubicBezTo>
                  <a:cubicBezTo>
                    <a:pt x="4897120" y="1470143"/>
                    <a:pt x="4890268" y="1470143"/>
                    <a:pt x="4856577" y="1482134"/>
                  </a:cubicBezTo>
                  <a:cubicBezTo>
                    <a:pt x="4837733" y="1488986"/>
                    <a:pt x="4813179" y="1496410"/>
                    <a:pt x="4802329" y="1498694"/>
                  </a:cubicBezTo>
                  <a:cubicBezTo>
                    <a:pt x="4782343" y="1502691"/>
                    <a:pt x="4710393" y="1536381"/>
                    <a:pt x="4669850" y="1560935"/>
                  </a:cubicBezTo>
                  <a:cubicBezTo>
                    <a:pt x="4646438" y="1574640"/>
                    <a:pt x="4556786" y="1650015"/>
                    <a:pt x="4556786" y="1655154"/>
                  </a:cubicBezTo>
                  <a:cubicBezTo>
                    <a:pt x="4556786" y="1657438"/>
                    <a:pt x="4549933" y="1666575"/>
                    <a:pt x="4541368" y="1675711"/>
                  </a:cubicBezTo>
                  <a:cubicBezTo>
                    <a:pt x="4519669" y="1698552"/>
                    <a:pt x="4502538" y="1722535"/>
                    <a:pt x="4487691" y="1749944"/>
                  </a:cubicBezTo>
                  <a:cubicBezTo>
                    <a:pt x="4480839" y="1762507"/>
                    <a:pt x="4470560" y="1779067"/>
                    <a:pt x="4464850" y="1786490"/>
                  </a:cubicBezTo>
                  <a:cubicBezTo>
                    <a:pt x="4458568" y="1793913"/>
                    <a:pt x="4454000" y="1804192"/>
                    <a:pt x="4454000" y="1809331"/>
                  </a:cubicBezTo>
                  <a:cubicBezTo>
                    <a:pt x="4454000" y="1814470"/>
                    <a:pt x="4448861" y="1828175"/>
                    <a:pt x="4442579" y="1840166"/>
                  </a:cubicBezTo>
                  <a:cubicBezTo>
                    <a:pt x="4436298" y="1852158"/>
                    <a:pt x="4427162" y="1879567"/>
                    <a:pt x="4422593" y="1901837"/>
                  </a:cubicBezTo>
                  <a:cubicBezTo>
                    <a:pt x="4418025" y="1924107"/>
                    <a:pt x="4411173" y="1946948"/>
                    <a:pt x="4407747" y="1953229"/>
                  </a:cubicBezTo>
                  <a:cubicBezTo>
                    <a:pt x="4398610" y="1970931"/>
                    <a:pt x="4404891" y="2074857"/>
                    <a:pt x="4417454" y="2121681"/>
                  </a:cubicBezTo>
                  <a:cubicBezTo>
                    <a:pt x="4439153" y="2199912"/>
                    <a:pt x="4511674" y="2266150"/>
                    <a:pt x="4588192" y="2278142"/>
                  </a:cubicBezTo>
                  <a:cubicBezTo>
                    <a:pt x="4632733" y="2284994"/>
                    <a:pt x="5891857" y="2284994"/>
                    <a:pt x="5927261" y="2278142"/>
                  </a:cubicBezTo>
                  <a:close/>
                </a:path>
              </a:pathLst>
            </a:custGeom>
            <a:grp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77" name="小红书平北职场PPT5-2"/>
            <p:cNvSpPr/>
            <p:nvPr/>
          </p:nvSpPr>
          <p:spPr>
            <a:xfrm flipV="1">
              <a:off x="3217746" y="8497423"/>
              <a:ext cx="619257" cy="790376"/>
            </a:xfrm>
            <a:custGeom>
              <a:avLst/>
              <a:gdLst>
                <a:gd name="connsiteX0" fmla="*/ 413984 w 619257"/>
                <a:gd name="connsiteY0" fmla="*/ 767830 h 790376"/>
                <a:gd name="connsiteX1" fmla="*/ 336324 w 619257"/>
                <a:gd name="connsiteY1" fmla="*/ 675324 h 790376"/>
                <a:gd name="connsiteX2" fmla="*/ 322048 w 619257"/>
                <a:gd name="connsiteY2" fmla="*/ 617079 h 790376"/>
                <a:gd name="connsiteX3" fmla="*/ 310628 w 619257"/>
                <a:gd name="connsiteY3" fmla="*/ 497164 h 790376"/>
                <a:gd name="connsiteX4" fmla="*/ 282076 w 619257"/>
                <a:gd name="connsiteY4" fmla="*/ 373252 h 790376"/>
                <a:gd name="connsiteX5" fmla="*/ 172438 w 619257"/>
                <a:gd name="connsiteY5" fmla="*/ 319576 h 790376"/>
                <a:gd name="connsiteX6" fmla="*/ 150739 w 619257"/>
                <a:gd name="connsiteY6" fmla="*/ 308155 h 790376"/>
                <a:gd name="connsiteX7" fmla="*/ 126756 w 619257"/>
                <a:gd name="connsiteY7" fmla="*/ 293880 h 790376"/>
                <a:gd name="connsiteX8" fmla="*/ 105056 w 619257"/>
                <a:gd name="connsiteY8" fmla="*/ 279604 h 790376"/>
                <a:gd name="connsiteX9" fmla="*/ 85641 w 619257"/>
                <a:gd name="connsiteY9" fmla="*/ 265328 h 790376"/>
                <a:gd name="connsiteX10" fmla="*/ 51379 w 619257"/>
                <a:gd name="connsiteY10" fmla="*/ 232209 h 790376"/>
                <a:gd name="connsiteX11" fmla="*/ 14262 w 619257"/>
                <a:gd name="connsiteY11" fmla="*/ 190524 h 790376"/>
                <a:gd name="connsiteX12" fmla="*/ -2869 w 619257"/>
                <a:gd name="connsiteY12" fmla="*/ 122572 h 790376"/>
                <a:gd name="connsiteX13" fmla="*/ 13120 w 619257"/>
                <a:gd name="connsiteY13" fmla="*/ 54049 h 790376"/>
                <a:gd name="connsiteX14" fmla="*/ 99346 w 619257"/>
                <a:gd name="connsiteY14" fmla="*/ -5908 h 790376"/>
                <a:gd name="connsiteX15" fmla="*/ 141031 w 619257"/>
                <a:gd name="connsiteY15" fmla="*/ -8763 h 790376"/>
                <a:gd name="connsiteX16" fmla="*/ 166728 w 619257"/>
                <a:gd name="connsiteY16" fmla="*/ -3624 h 790376"/>
                <a:gd name="connsiteX17" fmla="*/ 271227 w 619257"/>
                <a:gd name="connsiteY17" fmla="*/ 72322 h 790376"/>
                <a:gd name="connsiteX18" fmla="*/ 380294 w 619257"/>
                <a:gd name="connsiteY18" fmla="*/ 125427 h 790376"/>
                <a:gd name="connsiteX19" fmla="*/ 416840 w 619257"/>
                <a:gd name="connsiteY19" fmla="*/ 133993 h 790376"/>
                <a:gd name="connsiteX20" fmla="*/ 483079 w 619257"/>
                <a:gd name="connsiteY20" fmla="*/ 142558 h 790376"/>
                <a:gd name="connsiteX21" fmla="*/ 600141 w 619257"/>
                <a:gd name="connsiteY21" fmla="*/ 175106 h 790376"/>
                <a:gd name="connsiteX22" fmla="*/ 614988 w 619257"/>
                <a:gd name="connsiteY22" fmla="*/ 241916 h 790376"/>
                <a:gd name="connsiteX23" fmla="*/ 600141 w 619257"/>
                <a:gd name="connsiteY23" fmla="*/ 315578 h 790376"/>
                <a:gd name="connsiteX24" fmla="*/ 583010 w 619257"/>
                <a:gd name="connsiteY24" fmla="*/ 438349 h 790376"/>
                <a:gd name="connsiteX25" fmla="*/ 583581 w 619257"/>
                <a:gd name="connsiteY25" fmla="*/ 597093 h 790376"/>
                <a:gd name="connsiteX26" fmla="*/ 563595 w 619257"/>
                <a:gd name="connsiteY26" fmla="*/ 731855 h 790376"/>
                <a:gd name="connsiteX27" fmla="*/ 540753 w 619257"/>
                <a:gd name="connsiteY27" fmla="*/ 753554 h 790376"/>
                <a:gd name="connsiteX28" fmla="*/ 519054 w 619257"/>
                <a:gd name="connsiteY28" fmla="*/ 765545 h 790376"/>
                <a:gd name="connsiteX29" fmla="*/ 472230 w 619257"/>
                <a:gd name="connsiteY29" fmla="*/ 780392 h 790376"/>
                <a:gd name="connsiteX30" fmla="*/ 413984 w 619257"/>
                <a:gd name="connsiteY30" fmla="*/ 767830 h 79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9257" h="790376">
                  <a:moveTo>
                    <a:pt x="413984" y="767830"/>
                  </a:moveTo>
                  <a:cubicBezTo>
                    <a:pt x="367731" y="743276"/>
                    <a:pt x="343177" y="713582"/>
                    <a:pt x="336324" y="675324"/>
                  </a:cubicBezTo>
                  <a:cubicBezTo>
                    <a:pt x="332898" y="657051"/>
                    <a:pt x="326617" y="630784"/>
                    <a:pt x="322048" y="617079"/>
                  </a:cubicBezTo>
                  <a:cubicBezTo>
                    <a:pt x="316338" y="601091"/>
                    <a:pt x="312341" y="557693"/>
                    <a:pt x="310628" y="497164"/>
                  </a:cubicBezTo>
                  <a:cubicBezTo>
                    <a:pt x="306631" y="376107"/>
                    <a:pt x="307202" y="377820"/>
                    <a:pt x="282076" y="373252"/>
                  </a:cubicBezTo>
                  <a:cubicBezTo>
                    <a:pt x="259806" y="369255"/>
                    <a:pt x="195850" y="337848"/>
                    <a:pt x="172438" y="319576"/>
                  </a:cubicBezTo>
                  <a:cubicBezTo>
                    <a:pt x="165015" y="313294"/>
                    <a:pt x="155307" y="308155"/>
                    <a:pt x="150739" y="308155"/>
                  </a:cubicBezTo>
                  <a:cubicBezTo>
                    <a:pt x="146742" y="308155"/>
                    <a:pt x="135892" y="301874"/>
                    <a:pt x="126756" y="293880"/>
                  </a:cubicBezTo>
                  <a:cubicBezTo>
                    <a:pt x="117048" y="285885"/>
                    <a:pt x="107341" y="279604"/>
                    <a:pt x="105056" y="279604"/>
                  </a:cubicBezTo>
                  <a:cubicBezTo>
                    <a:pt x="102201" y="279604"/>
                    <a:pt x="93636" y="273323"/>
                    <a:pt x="85641" y="265328"/>
                  </a:cubicBezTo>
                  <a:cubicBezTo>
                    <a:pt x="77647" y="257905"/>
                    <a:pt x="62229" y="243058"/>
                    <a:pt x="51379" y="232209"/>
                  </a:cubicBezTo>
                  <a:cubicBezTo>
                    <a:pt x="40530" y="221930"/>
                    <a:pt x="23970" y="203087"/>
                    <a:pt x="14262" y="190524"/>
                  </a:cubicBezTo>
                  <a:cubicBezTo>
                    <a:pt x="-1726" y="169967"/>
                    <a:pt x="-2869" y="164257"/>
                    <a:pt x="-2869" y="122572"/>
                  </a:cubicBezTo>
                  <a:cubicBezTo>
                    <a:pt x="-2869" y="81459"/>
                    <a:pt x="-1155" y="74606"/>
                    <a:pt x="13120" y="54049"/>
                  </a:cubicBezTo>
                  <a:cubicBezTo>
                    <a:pt x="38817" y="17504"/>
                    <a:pt x="64513" y="-198"/>
                    <a:pt x="99346" y="-5908"/>
                  </a:cubicBezTo>
                  <a:cubicBezTo>
                    <a:pt x="116477" y="-8763"/>
                    <a:pt x="134750" y="-9905"/>
                    <a:pt x="141031" y="-8763"/>
                  </a:cubicBezTo>
                  <a:cubicBezTo>
                    <a:pt x="146742" y="-7621"/>
                    <a:pt x="158162" y="-5337"/>
                    <a:pt x="166728" y="-3624"/>
                  </a:cubicBezTo>
                  <a:cubicBezTo>
                    <a:pt x="179862" y="-769"/>
                    <a:pt x="235252" y="39774"/>
                    <a:pt x="271227" y="72322"/>
                  </a:cubicBezTo>
                  <a:cubicBezTo>
                    <a:pt x="287215" y="87169"/>
                    <a:pt x="366018" y="125427"/>
                    <a:pt x="380294" y="125427"/>
                  </a:cubicBezTo>
                  <a:cubicBezTo>
                    <a:pt x="387146" y="125427"/>
                    <a:pt x="403706" y="129425"/>
                    <a:pt x="416840" y="133993"/>
                  </a:cubicBezTo>
                  <a:cubicBezTo>
                    <a:pt x="429973" y="138561"/>
                    <a:pt x="459667" y="142558"/>
                    <a:pt x="483079" y="142558"/>
                  </a:cubicBezTo>
                  <a:cubicBezTo>
                    <a:pt x="547606" y="142558"/>
                    <a:pt x="579013" y="151123"/>
                    <a:pt x="600141" y="175106"/>
                  </a:cubicBezTo>
                  <a:cubicBezTo>
                    <a:pt x="617843" y="195663"/>
                    <a:pt x="617843" y="196805"/>
                    <a:pt x="614988" y="241916"/>
                  </a:cubicBezTo>
                  <a:cubicBezTo>
                    <a:pt x="613274" y="272181"/>
                    <a:pt x="608135" y="297306"/>
                    <a:pt x="600141" y="315578"/>
                  </a:cubicBezTo>
                  <a:cubicBezTo>
                    <a:pt x="589862" y="337848"/>
                    <a:pt x="587007" y="358405"/>
                    <a:pt x="583010" y="438349"/>
                  </a:cubicBezTo>
                  <a:cubicBezTo>
                    <a:pt x="580155" y="491454"/>
                    <a:pt x="580726" y="562261"/>
                    <a:pt x="583581" y="597093"/>
                  </a:cubicBezTo>
                  <a:cubicBezTo>
                    <a:pt x="589862" y="677037"/>
                    <a:pt x="585865" y="703875"/>
                    <a:pt x="563595" y="731855"/>
                  </a:cubicBezTo>
                  <a:cubicBezTo>
                    <a:pt x="554458" y="743847"/>
                    <a:pt x="543609" y="753554"/>
                    <a:pt x="540753" y="753554"/>
                  </a:cubicBezTo>
                  <a:cubicBezTo>
                    <a:pt x="537898" y="753554"/>
                    <a:pt x="528191" y="758693"/>
                    <a:pt x="519054" y="765545"/>
                  </a:cubicBezTo>
                  <a:cubicBezTo>
                    <a:pt x="509347" y="772398"/>
                    <a:pt x="489361" y="778679"/>
                    <a:pt x="472230" y="780392"/>
                  </a:cubicBezTo>
                  <a:cubicBezTo>
                    <a:pt x="447675" y="782676"/>
                    <a:pt x="437968" y="780392"/>
                    <a:pt x="413984" y="767830"/>
                  </a:cubicBezTo>
                  <a:close/>
                </a:path>
              </a:pathLst>
            </a:custGeom>
            <a:grp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78" name="小红书平北职场PPT5-3"/>
            <p:cNvSpPr/>
            <p:nvPr/>
          </p:nvSpPr>
          <p:spPr>
            <a:xfrm flipV="1">
              <a:off x="4499711" y="9526938"/>
              <a:ext cx="1775123" cy="762434"/>
            </a:xfrm>
            <a:custGeom>
              <a:avLst/>
              <a:gdLst>
                <a:gd name="connsiteX0" fmla="*/ 1030051 w 1775123"/>
                <a:gd name="connsiteY0" fmla="*/ 752652 h 762434"/>
                <a:gd name="connsiteX1" fmla="*/ 1005497 w 1775123"/>
                <a:gd name="connsiteY1" fmla="*/ 744087 h 762434"/>
                <a:gd name="connsiteX2" fmla="*/ 956959 w 1775123"/>
                <a:gd name="connsiteY2" fmla="*/ 672709 h 762434"/>
                <a:gd name="connsiteX3" fmla="*/ 932976 w 1775123"/>
                <a:gd name="connsiteY3" fmla="*/ 636163 h 762434"/>
                <a:gd name="connsiteX4" fmla="*/ 919271 w 1775123"/>
                <a:gd name="connsiteY4" fmla="*/ 614464 h 762434"/>
                <a:gd name="connsiteX5" fmla="*/ 833045 w 1775123"/>
                <a:gd name="connsiteY5" fmla="*/ 529382 h 762434"/>
                <a:gd name="connsiteX6" fmla="*/ 809062 w 1775123"/>
                <a:gd name="connsiteY6" fmla="*/ 516819 h 762434"/>
                <a:gd name="connsiteX7" fmla="*/ 575510 w 1775123"/>
                <a:gd name="connsiteY7" fmla="*/ 477419 h 762434"/>
                <a:gd name="connsiteX8" fmla="*/ 462446 w 1775123"/>
                <a:gd name="connsiteY8" fmla="*/ 519674 h 762434"/>
                <a:gd name="connsiteX9" fmla="*/ 441318 w 1775123"/>
                <a:gd name="connsiteY9" fmla="*/ 529382 h 762434"/>
                <a:gd name="connsiteX10" fmla="*/ 418476 w 1775123"/>
                <a:gd name="connsiteY10" fmla="*/ 543086 h 762434"/>
                <a:gd name="connsiteX11" fmla="*/ 300844 w 1775123"/>
                <a:gd name="connsiteY11" fmla="*/ 609325 h 762434"/>
                <a:gd name="connsiteX12" fmla="*/ 231178 w 1775123"/>
                <a:gd name="connsiteY12" fmla="*/ 573351 h 762434"/>
                <a:gd name="connsiteX13" fmla="*/ 216331 w 1775123"/>
                <a:gd name="connsiteY13" fmla="*/ 523671 h 762434"/>
                <a:gd name="connsiteX14" fmla="*/ 202627 w 1775123"/>
                <a:gd name="connsiteY14" fmla="*/ 472279 h 762434"/>
                <a:gd name="connsiteX15" fmla="*/ 190635 w 1775123"/>
                <a:gd name="connsiteY15" fmla="*/ 431737 h 762434"/>
                <a:gd name="connsiteX16" fmla="*/ 89562 w 1775123"/>
                <a:gd name="connsiteY16" fmla="*/ 263855 h 762434"/>
                <a:gd name="connsiteX17" fmla="*/ -5800 w 1775123"/>
                <a:gd name="connsiteY17" fmla="*/ 121099 h 762434"/>
                <a:gd name="connsiteX18" fmla="*/ 27891 w 1775123"/>
                <a:gd name="connsiteY18" fmla="*/ 26880 h 762434"/>
                <a:gd name="connsiteX19" fmla="*/ 131248 w 1775123"/>
                <a:gd name="connsiteY19" fmla="*/ -6239 h 762434"/>
                <a:gd name="connsiteX20" fmla="*/ 194061 w 1775123"/>
                <a:gd name="connsiteY20" fmla="*/ 11463 h 762434"/>
                <a:gd name="connsiteX21" fmla="*/ 219758 w 1775123"/>
                <a:gd name="connsiteY21" fmla="*/ 26880 h 762434"/>
                <a:gd name="connsiteX22" fmla="*/ 326540 w 1775123"/>
                <a:gd name="connsiteY22" fmla="*/ 125668 h 762434"/>
                <a:gd name="connsiteX23" fmla="*/ 359089 w 1775123"/>
                <a:gd name="connsiteY23" fmla="*/ 164497 h 762434"/>
                <a:gd name="connsiteX24" fmla="*/ 376791 w 1775123"/>
                <a:gd name="connsiteY24" fmla="*/ 191906 h 762434"/>
                <a:gd name="connsiteX25" fmla="*/ 425900 w 1775123"/>
                <a:gd name="connsiteY25" fmla="*/ 243870 h 762434"/>
                <a:gd name="connsiteX26" fmla="*/ 452167 w 1775123"/>
                <a:gd name="connsiteY26" fmla="*/ 233020 h 762434"/>
                <a:gd name="connsiteX27" fmla="*/ 829619 w 1775123"/>
                <a:gd name="connsiteY27" fmla="*/ 235875 h 762434"/>
                <a:gd name="connsiteX28" fmla="*/ 871304 w 1775123"/>
                <a:gd name="connsiteY28" fmla="*/ 249580 h 762434"/>
                <a:gd name="connsiteX29" fmla="*/ 902140 w 1775123"/>
                <a:gd name="connsiteY29" fmla="*/ 263855 h 762434"/>
                <a:gd name="connsiteX30" fmla="*/ 927837 w 1775123"/>
                <a:gd name="connsiteY30" fmla="*/ 278131 h 762434"/>
                <a:gd name="connsiteX31" fmla="*/ 1042043 w 1775123"/>
                <a:gd name="connsiteY31" fmla="*/ 355790 h 762434"/>
                <a:gd name="connsiteX32" fmla="*/ 1074592 w 1775123"/>
                <a:gd name="connsiteY32" fmla="*/ 379773 h 762434"/>
                <a:gd name="connsiteX33" fmla="*/ 1094007 w 1775123"/>
                <a:gd name="connsiteY33" fmla="*/ 391765 h 762434"/>
                <a:gd name="connsiteX34" fmla="*/ 1119132 w 1775123"/>
                <a:gd name="connsiteY34" fmla="*/ 379202 h 762434"/>
                <a:gd name="connsiteX35" fmla="*/ 1159104 w 1775123"/>
                <a:gd name="connsiteY35" fmla="*/ 357503 h 762434"/>
                <a:gd name="connsiteX36" fmla="*/ 1195079 w 1775123"/>
                <a:gd name="connsiteY36" fmla="*/ 344370 h 762434"/>
                <a:gd name="connsiteX37" fmla="*/ 1243046 w 1775123"/>
                <a:gd name="connsiteY37" fmla="*/ 326097 h 762434"/>
                <a:gd name="connsiteX38" fmla="*/ 1289870 w 1775123"/>
                <a:gd name="connsiteY38" fmla="*/ 312393 h 762434"/>
                <a:gd name="connsiteX39" fmla="*/ 1366389 w 1775123"/>
                <a:gd name="connsiteY39" fmla="*/ 302685 h 762434"/>
                <a:gd name="connsiteX40" fmla="*/ 1486876 w 1775123"/>
                <a:gd name="connsiteY40" fmla="*/ 300401 h 762434"/>
                <a:gd name="connsiteX41" fmla="*/ 1632489 w 1775123"/>
                <a:gd name="connsiteY41" fmla="*/ 326097 h 762434"/>
                <a:gd name="connsiteX42" fmla="*/ 1668464 w 1775123"/>
                <a:gd name="connsiteY42" fmla="*/ 343799 h 762434"/>
                <a:gd name="connsiteX43" fmla="*/ 1758116 w 1775123"/>
                <a:gd name="connsiteY43" fmla="*/ 436876 h 762434"/>
                <a:gd name="connsiteX44" fmla="*/ 1758687 w 1775123"/>
                <a:gd name="connsiteY44" fmla="*/ 515106 h 762434"/>
                <a:gd name="connsiteX45" fmla="*/ 1747267 w 1775123"/>
                <a:gd name="connsiteY45" fmla="*/ 543657 h 762434"/>
                <a:gd name="connsiteX46" fmla="*/ 1720428 w 1775123"/>
                <a:gd name="connsiteY46" fmla="*/ 572209 h 762434"/>
                <a:gd name="connsiteX47" fmla="*/ 1693019 w 1775123"/>
                <a:gd name="connsiteY47" fmla="*/ 595050 h 762434"/>
                <a:gd name="connsiteX48" fmla="*/ 1630205 w 1775123"/>
                <a:gd name="connsiteY48" fmla="*/ 595050 h 762434"/>
                <a:gd name="connsiteX49" fmla="*/ 1544551 w 1775123"/>
                <a:gd name="connsiteY49" fmla="*/ 580774 h 762434"/>
                <a:gd name="connsiteX50" fmla="*/ 1424634 w 1775123"/>
                <a:gd name="connsiteY50" fmla="*/ 566498 h 762434"/>
                <a:gd name="connsiteX51" fmla="*/ 1309286 w 1775123"/>
                <a:gd name="connsiteY51" fmla="*/ 579632 h 762434"/>
                <a:gd name="connsiteX52" fmla="*/ 1283589 w 1775123"/>
                <a:gd name="connsiteY52" fmla="*/ 592194 h 762434"/>
                <a:gd name="connsiteX53" fmla="*/ 1155107 w 1775123"/>
                <a:gd name="connsiteY53" fmla="*/ 692124 h 762434"/>
                <a:gd name="connsiteX54" fmla="*/ 1083728 w 1775123"/>
                <a:gd name="connsiteY54" fmla="*/ 752081 h 762434"/>
                <a:gd name="connsiteX55" fmla="*/ 1059174 w 1775123"/>
                <a:gd name="connsiteY55" fmla="*/ 754365 h 762434"/>
                <a:gd name="connsiteX56" fmla="*/ 1030051 w 1775123"/>
                <a:gd name="connsiteY56" fmla="*/ 752652 h 76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75123" h="762434">
                  <a:moveTo>
                    <a:pt x="1030051" y="752652"/>
                  </a:moveTo>
                  <a:cubicBezTo>
                    <a:pt x="1020344" y="750368"/>
                    <a:pt x="1009494" y="746371"/>
                    <a:pt x="1005497" y="744087"/>
                  </a:cubicBezTo>
                  <a:cubicBezTo>
                    <a:pt x="997502" y="738948"/>
                    <a:pt x="972377" y="701831"/>
                    <a:pt x="956959" y="672709"/>
                  </a:cubicBezTo>
                  <a:cubicBezTo>
                    <a:pt x="951249" y="661288"/>
                    <a:pt x="940399" y="644729"/>
                    <a:pt x="932976" y="636163"/>
                  </a:cubicBezTo>
                  <a:cubicBezTo>
                    <a:pt x="925552" y="627027"/>
                    <a:pt x="919271" y="617319"/>
                    <a:pt x="919271" y="614464"/>
                  </a:cubicBezTo>
                  <a:cubicBezTo>
                    <a:pt x="919271" y="607041"/>
                    <a:pt x="840469" y="529382"/>
                    <a:pt x="833045" y="529382"/>
                  </a:cubicBezTo>
                  <a:cubicBezTo>
                    <a:pt x="829619" y="529382"/>
                    <a:pt x="818770" y="523671"/>
                    <a:pt x="809062" y="516819"/>
                  </a:cubicBezTo>
                  <a:cubicBezTo>
                    <a:pt x="763951" y="484842"/>
                    <a:pt x="634897" y="462572"/>
                    <a:pt x="575510" y="477419"/>
                  </a:cubicBezTo>
                  <a:cubicBezTo>
                    <a:pt x="536109" y="487126"/>
                    <a:pt x="477864" y="508825"/>
                    <a:pt x="462446" y="519674"/>
                  </a:cubicBezTo>
                  <a:cubicBezTo>
                    <a:pt x="455022" y="524814"/>
                    <a:pt x="445315" y="529382"/>
                    <a:pt x="441318" y="529382"/>
                  </a:cubicBezTo>
                  <a:cubicBezTo>
                    <a:pt x="437321" y="529382"/>
                    <a:pt x="427042" y="535663"/>
                    <a:pt x="418476" y="543086"/>
                  </a:cubicBezTo>
                  <a:cubicBezTo>
                    <a:pt x="365371" y="589910"/>
                    <a:pt x="330538" y="609325"/>
                    <a:pt x="300844" y="609325"/>
                  </a:cubicBezTo>
                  <a:cubicBezTo>
                    <a:pt x="280858" y="608754"/>
                    <a:pt x="241457" y="588768"/>
                    <a:pt x="231178" y="573351"/>
                  </a:cubicBezTo>
                  <a:cubicBezTo>
                    <a:pt x="226610" y="565356"/>
                    <a:pt x="219758" y="543086"/>
                    <a:pt x="216331" y="523671"/>
                  </a:cubicBezTo>
                  <a:cubicBezTo>
                    <a:pt x="213476" y="503686"/>
                    <a:pt x="207195" y="480845"/>
                    <a:pt x="202627" y="472279"/>
                  </a:cubicBezTo>
                  <a:cubicBezTo>
                    <a:pt x="198058" y="463714"/>
                    <a:pt x="192348" y="445441"/>
                    <a:pt x="190635" y="431737"/>
                  </a:cubicBezTo>
                  <a:cubicBezTo>
                    <a:pt x="182640" y="383200"/>
                    <a:pt x="131248" y="297546"/>
                    <a:pt x="89562" y="263855"/>
                  </a:cubicBezTo>
                  <a:cubicBezTo>
                    <a:pt x="16470" y="205040"/>
                    <a:pt x="-5800" y="171921"/>
                    <a:pt x="-5800" y="121099"/>
                  </a:cubicBezTo>
                  <a:cubicBezTo>
                    <a:pt x="-5800" y="73133"/>
                    <a:pt x="481" y="55432"/>
                    <a:pt x="27891" y="26880"/>
                  </a:cubicBezTo>
                  <a:cubicBezTo>
                    <a:pt x="59298" y="-5668"/>
                    <a:pt x="71289" y="-9665"/>
                    <a:pt x="131248" y="-6239"/>
                  </a:cubicBezTo>
                  <a:cubicBezTo>
                    <a:pt x="168936" y="-3955"/>
                    <a:pt x="178643" y="-1100"/>
                    <a:pt x="194061" y="11463"/>
                  </a:cubicBezTo>
                  <a:cubicBezTo>
                    <a:pt x="203769" y="20028"/>
                    <a:pt x="215760" y="26880"/>
                    <a:pt x="219758" y="26880"/>
                  </a:cubicBezTo>
                  <a:cubicBezTo>
                    <a:pt x="231178" y="26880"/>
                    <a:pt x="289423" y="81128"/>
                    <a:pt x="326540" y="125668"/>
                  </a:cubicBezTo>
                  <a:cubicBezTo>
                    <a:pt x="335106" y="135375"/>
                    <a:pt x="349953" y="153077"/>
                    <a:pt x="359089" y="164497"/>
                  </a:cubicBezTo>
                  <a:cubicBezTo>
                    <a:pt x="368797" y="175918"/>
                    <a:pt x="376791" y="188480"/>
                    <a:pt x="376791" y="191906"/>
                  </a:cubicBezTo>
                  <a:cubicBezTo>
                    <a:pt x="376791" y="201043"/>
                    <a:pt x="416763" y="243870"/>
                    <a:pt x="425900" y="243870"/>
                  </a:cubicBezTo>
                  <a:cubicBezTo>
                    <a:pt x="429897" y="243870"/>
                    <a:pt x="441889" y="238730"/>
                    <a:pt x="452167" y="233020"/>
                  </a:cubicBezTo>
                  <a:cubicBezTo>
                    <a:pt x="509270" y="199901"/>
                    <a:pt x="756527" y="201614"/>
                    <a:pt x="829619" y="235875"/>
                  </a:cubicBezTo>
                  <a:cubicBezTo>
                    <a:pt x="846179" y="243299"/>
                    <a:pt x="864452" y="249580"/>
                    <a:pt x="871304" y="249580"/>
                  </a:cubicBezTo>
                  <a:cubicBezTo>
                    <a:pt x="877586" y="249580"/>
                    <a:pt x="891291" y="255861"/>
                    <a:pt x="902140" y="263855"/>
                  </a:cubicBezTo>
                  <a:cubicBezTo>
                    <a:pt x="912990" y="271850"/>
                    <a:pt x="924410" y="278131"/>
                    <a:pt x="927837" y="278131"/>
                  </a:cubicBezTo>
                  <a:cubicBezTo>
                    <a:pt x="940399" y="278131"/>
                    <a:pt x="1002071" y="319816"/>
                    <a:pt x="1042043" y="355790"/>
                  </a:cubicBezTo>
                  <a:cubicBezTo>
                    <a:pt x="1049466" y="362643"/>
                    <a:pt x="1063742" y="373492"/>
                    <a:pt x="1074592" y="379773"/>
                  </a:cubicBezTo>
                  <a:lnTo>
                    <a:pt x="1094007" y="391765"/>
                  </a:lnTo>
                  <a:lnTo>
                    <a:pt x="1119132" y="379202"/>
                  </a:lnTo>
                  <a:cubicBezTo>
                    <a:pt x="1133408" y="372350"/>
                    <a:pt x="1151110" y="362643"/>
                    <a:pt x="1159104" y="357503"/>
                  </a:cubicBezTo>
                  <a:cubicBezTo>
                    <a:pt x="1167099" y="352364"/>
                    <a:pt x="1183088" y="346083"/>
                    <a:pt x="1195079" y="344370"/>
                  </a:cubicBezTo>
                  <a:cubicBezTo>
                    <a:pt x="1207071" y="342086"/>
                    <a:pt x="1228770" y="334091"/>
                    <a:pt x="1243046" y="326097"/>
                  </a:cubicBezTo>
                  <a:cubicBezTo>
                    <a:pt x="1257322" y="318674"/>
                    <a:pt x="1278450" y="312393"/>
                    <a:pt x="1289870" y="312393"/>
                  </a:cubicBezTo>
                  <a:cubicBezTo>
                    <a:pt x="1300720" y="312393"/>
                    <a:pt x="1335553" y="308395"/>
                    <a:pt x="1366389" y="302685"/>
                  </a:cubicBezTo>
                  <a:cubicBezTo>
                    <a:pt x="1415497" y="294691"/>
                    <a:pt x="1432057" y="294691"/>
                    <a:pt x="1486876" y="300401"/>
                  </a:cubicBezTo>
                  <a:cubicBezTo>
                    <a:pt x="1596514" y="312393"/>
                    <a:pt x="1622211" y="316961"/>
                    <a:pt x="1632489" y="326097"/>
                  </a:cubicBezTo>
                  <a:cubicBezTo>
                    <a:pt x="1638200" y="331236"/>
                    <a:pt x="1654189" y="339231"/>
                    <a:pt x="1668464" y="343799"/>
                  </a:cubicBezTo>
                  <a:cubicBezTo>
                    <a:pt x="1702155" y="355790"/>
                    <a:pt x="1743269" y="398046"/>
                    <a:pt x="1758116" y="436876"/>
                  </a:cubicBezTo>
                  <a:cubicBezTo>
                    <a:pt x="1772963" y="474563"/>
                    <a:pt x="1772963" y="487126"/>
                    <a:pt x="1758687" y="515106"/>
                  </a:cubicBezTo>
                  <a:cubicBezTo>
                    <a:pt x="1752406" y="527669"/>
                    <a:pt x="1747267" y="540231"/>
                    <a:pt x="1747267" y="543657"/>
                  </a:cubicBezTo>
                  <a:cubicBezTo>
                    <a:pt x="1747267" y="547083"/>
                    <a:pt x="1735275" y="560217"/>
                    <a:pt x="1720428" y="572209"/>
                  </a:cubicBezTo>
                  <a:lnTo>
                    <a:pt x="1693019" y="595050"/>
                  </a:lnTo>
                  <a:lnTo>
                    <a:pt x="1630205" y="595050"/>
                  </a:lnTo>
                  <a:cubicBezTo>
                    <a:pt x="1573102" y="595050"/>
                    <a:pt x="1565108" y="593907"/>
                    <a:pt x="1544551" y="580774"/>
                  </a:cubicBezTo>
                  <a:cubicBezTo>
                    <a:pt x="1522280" y="567069"/>
                    <a:pt x="1518283" y="566498"/>
                    <a:pt x="1424634" y="566498"/>
                  </a:cubicBezTo>
                  <a:cubicBezTo>
                    <a:pt x="1333269" y="566498"/>
                    <a:pt x="1326417" y="567069"/>
                    <a:pt x="1309286" y="579632"/>
                  </a:cubicBezTo>
                  <a:cubicBezTo>
                    <a:pt x="1299578" y="586484"/>
                    <a:pt x="1288157" y="592194"/>
                    <a:pt x="1283589" y="592194"/>
                  </a:cubicBezTo>
                  <a:cubicBezTo>
                    <a:pt x="1266458" y="592194"/>
                    <a:pt x="1210497" y="635592"/>
                    <a:pt x="1155107" y="692124"/>
                  </a:cubicBezTo>
                  <a:cubicBezTo>
                    <a:pt x="1115135" y="733237"/>
                    <a:pt x="1092294" y="752081"/>
                    <a:pt x="1083728" y="752081"/>
                  </a:cubicBezTo>
                  <a:cubicBezTo>
                    <a:pt x="1076305" y="752081"/>
                    <a:pt x="1065455" y="753223"/>
                    <a:pt x="1059174" y="754365"/>
                  </a:cubicBezTo>
                  <a:cubicBezTo>
                    <a:pt x="1052892" y="756078"/>
                    <a:pt x="1039759" y="754936"/>
                    <a:pt x="1030051" y="752652"/>
                  </a:cubicBezTo>
                  <a:close/>
                </a:path>
              </a:pathLst>
            </a:custGeom>
            <a:grp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79" name="小红书平北职场PPT5-4"/>
            <p:cNvSpPr/>
            <p:nvPr/>
          </p:nvSpPr>
          <p:spPr>
            <a:xfrm flipV="1">
              <a:off x="4756675" y="10941793"/>
              <a:ext cx="1422654" cy="528275"/>
            </a:xfrm>
            <a:custGeom>
              <a:avLst/>
              <a:gdLst>
                <a:gd name="connsiteX0" fmla="*/ 79157 w 1422654"/>
                <a:gd name="connsiteY0" fmla="*/ 515710 h 528275"/>
                <a:gd name="connsiteX1" fmla="*/ 8920 w 1422654"/>
                <a:gd name="connsiteY1" fmla="*/ 447759 h 528275"/>
                <a:gd name="connsiteX2" fmla="*/ 4922 w 1422654"/>
                <a:gd name="connsiteY2" fmla="*/ 356395 h 528275"/>
                <a:gd name="connsiteX3" fmla="*/ 19198 w 1422654"/>
                <a:gd name="connsiteY3" fmla="*/ 316423 h 528275"/>
                <a:gd name="connsiteX4" fmla="*/ 35187 w 1422654"/>
                <a:gd name="connsiteY4" fmla="*/ 286730 h 528275"/>
                <a:gd name="connsiteX5" fmla="*/ 27764 w 1422654"/>
                <a:gd name="connsiteY5" fmla="*/ 222204 h 528275"/>
                <a:gd name="connsiteX6" fmla="*/ -5927 w 1422654"/>
                <a:gd name="connsiteY6" fmla="*/ 118278 h 528275"/>
                <a:gd name="connsiteX7" fmla="*/ 50605 w 1422654"/>
                <a:gd name="connsiteY7" fmla="*/ 19490 h 528275"/>
                <a:gd name="connsiteX8" fmla="*/ 111705 w 1422654"/>
                <a:gd name="connsiteY8" fmla="*/ -3351 h 528275"/>
                <a:gd name="connsiteX9" fmla="*/ 247611 w 1422654"/>
                <a:gd name="connsiteY9" fmla="*/ 62317 h 528275"/>
                <a:gd name="connsiteX10" fmla="*/ 285870 w 1422654"/>
                <a:gd name="connsiteY10" fmla="*/ 125701 h 528275"/>
                <a:gd name="connsiteX11" fmla="*/ 805509 w 1422654"/>
                <a:gd name="connsiteY11" fmla="*/ 130840 h 528275"/>
                <a:gd name="connsiteX12" fmla="*/ 1317153 w 1422654"/>
                <a:gd name="connsiteY12" fmla="*/ 130840 h 528275"/>
                <a:gd name="connsiteX13" fmla="*/ 1338852 w 1422654"/>
                <a:gd name="connsiteY13" fmla="*/ 147971 h 528275"/>
                <a:gd name="connsiteX14" fmla="*/ 1365690 w 1422654"/>
                <a:gd name="connsiteY14" fmla="*/ 165102 h 528275"/>
                <a:gd name="connsiteX15" fmla="*/ 1384534 w 1422654"/>
                <a:gd name="connsiteY15" fmla="*/ 196508 h 528275"/>
                <a:gd name="connsiteX16" fmla="*/ 1406805 w 1422654"/>
                <a:gd name="connsiteY16" fmla="*/ 227914 h 528275"/>
                <a:gd name="connsiteX17" fmla="*/ 1407376 w 1422654"/>
                <a:gd name="connsiteY17" fmla="*/ 293011 h 528275"/>
                <a:gd name="connsiteX18" fmla="*/ 1387961 w 1422654"/>
                <a:gd name="connsiteY18" fmla="*/ 320420 h 528275"/>
                <a:gd name="connsiteX19" fmla="*/ 1308587 w 1422654"/>
                <a:gd name="connsiteY19" fmla="*/ 387230 h 528275"/>
                <a:gd name="connsiteX20" fmla="*/ 786665 w 1422654"/>
                <a:gd name="connsiteY20" fmla="*/ 393511 h 528275"/>
                <a:gd name="connsiteX21" fmla="*/ 294435 w 1422654"/>
                <a:gd name="connsiteY21" fmla="*/ 393511 h 528275"/>
                <a:gd name="connsiteX22" fmla="*/ 269881 w 1422654"/>
                <a:gd name="connsiteY22" fmla="*/ 419778 h 528275"/>
                <a:gd name="connsiteX23" fmla="*/ 245327 w 1422654"/>
                <a:gd name="connsiteY23" fmla="*/ 454040 h 528275"/>
                <a:gd name="connsiteX24" fmla="*/ 222485 w 1422654"/>
                <a:gd name="connsiteY24" fmla="*/ 485446 h 528275"/>
                <a:gd name="connsiteX25" fmla="*/ 79157 w 1422654"/>
                <a:gd name="connsiteY25" fmla="*/ 515710 h 52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2654" h="528275">
                  <a:moveTo>
                    <a:pt x="79157" y="515710"/>
                  </a:moveTo>
                  <a:cubicBezTo>
                    <a:pt x="48892" y="506574"/>
                    <a:pt x="30048" y="487730"/>
                    <a:pt x="8920" y="447759"/>
                  </a:cubicBezTo>
                  <a:cubicBezTo>
                    <a:pt x="-8211" y="414639"/>
                    <a:pt x="-9924" y="388372"/>
                    <a:pt x="4922" y="356395"/>
                  </a:cubicBezTo>
                  <a:cubicBezTo>
                    <a:pt x="10633" y="343832"/>
                    <a:pt x="16914" y="326130"/>
                    <a:pt x="19198" y="316423"/>
                  </a:cubicBezTo>
                  <a:cubicBezTo>
                    <a:pt x="21482" y="307287"/>
                    <a:pt x="28906" y="293582"/>
                    <a:pt x="35187" y="286730"/>
                  </a:cubicBezTo>
                  <a:cubicBezTo>
                    <a:pt x="47750" y="273025"/>
                    <a:pt x="47750" y="270170"/>
                    <a:pt x="27764" y="222204"/>
                  </a:cubicBezTo>
                  <a:cubicBezTo>
                    <a:pt x="-1930" y="148542"/>
                    <a:pt x="-5927" y="136550"/>
                    <a:pt x="-5927" y="118278"/>
                  </a:cubicBezTo>
                  <a:cubicBezTo>
                    <a:pt x="-5927" y="91439"/>
                    <a:pt x="22053" y="41760"/>
                    <a:pt x="50605" y="19490"/>
                  </a:cubicBezTo>
                  <a:cubicBezTo>
                    <a:pt x="70020" y="4073"/>
                    <a:pt x="81441" y="-495"/>
                    <a:pt x="111705" y="-3351"/>
                  </a:cubicBezTo>
                  <a:cubicBezTo>
                    <a:pt x="177945" y="-10774"/>
                    <a:pt x="223628" y="11496"/>
                    <a:pt x="247611" y="62317"/>
                  </a:cubicBezTo>
                  <a:cubicBezTo>
                    <a:pt x="266455" y="101718"/>
                    <a:pt x="277304" y="120562"/>
                    <a:pt x="285870" y="125701"/>
                  </a:cubicBezTo>
                  <a:cubicBezTo>
                    <a:pt x="290438" y="128556"/>
                    <a:pt x="507430" y="130840"/>
                    <a:pt x="805509" y="130840"/>
                  </a:cubicBezTo>
                  <a:lnTo>
                    <a:pt x="1317153" y="130840"/>
                  </a:lnTo>
                  <a:lnTo>
                    <a:pt x="1338852" y="147971"/>
                  </a:lnTo>
                  <a:cubicBezTo>
                    <a:pt x="1350844" y="157678"/>
                    <a:pt x="1362835" y="165102"/>
                    <a:pt x="1365690" y="165102"/>
                  </a:cubicBezTo>
                  <a:cubicBezTo>
                    <a:pt x="1367975" y="165102"/>
                    <a:pt x="1376540" y="179377"/>
                    <a:pt x="1384534" y="196508"/>
                  </a:cubicBezTo>
                  <a:cubicBezTo>
                    <a:pt x="1392529" y="215352"/>
                    <a:pt x="1401665" y="227914"/>
                    <a:pt x="1406805" y="227914"/>
                  </a:cubicBezTo>
                  <a:cubicBezTo>
                    <a:pt x="1419938" y="227914"/>
                    <a:pt x="1419938" y="287872"/>
                    <a:pt x="1407376" y="293011"/>
                  </a:cubicBezTo>
                  <a:cubicBezTo>
                    <a:pt x="1402236" y="294724"/>
                    <a:pt x="1393671" y="307287"/>
                    <a:pt x="1387961" y="320420"/>
                  </a:cubicBezTo>
                  <a:cubicBezTo>
                    <a:pt x="1371972" y="356395"/>
                    <a:pt x="1344562" y="379236"/>
                    <a:pt x="1308587" y="387230"/>
                  </a:cubicBezTo>
                  <a:cubicBezTo>
                    <a:pt x="1287459" y="391798"/>
                    <a:pt x="1129283" y="393511"/>
                    <a:pt x="786665" y="393511"/>
                  </a:cubicBezTo>
                  <a:lnTo>
                    <a:pt x="294435" y="393511"/>
                  </a:lnTo>
                  <a:lnTo>
                    <a:pt x="269881" y="419778"/>
                  </a:lnTo>
                  <a:cubicBezTo>
                    <a:pt x="256176" y="434625"/>
                    <a:pt x="245327" y="450043"/>
                    <a:pt x="245327" y="454040"/>
                  </a:cubicBezTo>
                  <a:cubicBezTo>
                    <a:pt x="245327" y="458608"/>
                    <a:pt x="235048" y="472313"/>
                    <a:pt x="222485" y="485446"/>
                  </a:cubicBezTo>
                  <a:cubicBezTo>
                    <a:pt x="187653" y="521421"/>
                    <a:pt x="134547" y="532841"/>
                    <a:pt x="79157" y="515710"/>
                  </a:cubicBezTo>
                  <a:close/>
                </a:path>
              </a:pathLst>
            </a:custGeom>
            <a:grp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grpSp>
      <p:grpSp>
        <p:nvGrpSpPr>
          <p:cNvPr id="7" name="小红书平北职场PPT6"/>
          <p:cNvGrpSpPr/>
          <p:nvPr/>
        </p:nvGrpSpPr>
        <p:grpSpPr>
          <a:xfrm>
            <a:off x="474098" y="2002894"/>
            <a:ext cx="2996333" cy="2235954"/>
            <a:chOff x="521148" y="1859029"/>
            <a:chExt cx="2996333" cy="2235954"/>
          </a:xfrm>
        </p:grpSpPr>
        <p:grpSp>
          <p:nvGrpSpPr>
            <p:cNvPr id="70" name="组合 69"/>
            <p:cNvGrpSpPr/>
            <p:nvPr/>
          </p:nvGrpSpPr>
          <p:grpSpPr>
            <a:xfrm>
              <a:off x="521148" y="1859029"/>
              <a:ext cx="2996333" cy="1092099"/>
              <a:chOff x="676272" y="3934340"/>
              <a:chExt cx="2996333" cy="1092099"/>
            </a:xfrm>
          </p:grpSpPr>
          <p:grpSp>
            <p:nvGrpSpPr>
              <p:cNvPr id="72" name="显眼包PPT14"/>
              <p:cNvGrpSpPr/>
              <p:nvPr/>
            </p:nvGrpSpPr>
            <p:grpSpPr>
              <a:xfrm>
                <a:off x="749870" y="4387793"/>
                <a:ext cx="2750470" cy="638646"/>
                <a:chOff x="8005763" y="4287074"/>
                <a:chExt cx="2750470" cy="638646"/>
              </a:xfrm>
            </p:grpSpPr>
            <p:sp>
              <p:nvSpPr>
                <p:cNvPr id="74" name="小红书平北职场PPT6-1"/>
                <p:cNvSpPr/>
                <p:nvPr/>
              </p:nvSpPr>
              <p:spPr>
                <a:xfrm>
                  <a:off x="8005763" y="4287074"/>
                  <a:ext cx="2750470" cy="638646"/>
                </a:xfrm>
                <a:prstGeom prst="roundRect">
                  <a:avLst>
                    <a:gd name="adj" fmla="val 10701"/>
                  </a:avLst>
                </a:prstGeom>
                <a:gradFill flip="none" rotWithShape="1">
                  <a:gsLst>
                    <a:gs pos="0">
                      <a:schemeClr val="accent1">
                        <a:lumMod val="60000"/>
                        <a:lumOff val="40000"/>
                      </a:schemeClr>
                    </a:gs>
                    <a:gs pos="100000">
                      <a:schemeClr val="accent1"/>
                    </a:gs>
                  </a:gsLst>
                  <a:lin ang="0" scaled="1"/>
                  <a:tileRect/>
                </a:gradFill>
                <a:ln w="12700" cap="flat" cmpd="sng" algn="ctr">
                  <a:gradFill>
                    <a:gsLst>
                      <a:gs pos="0">
                        <a:srgbClr val="FFFFFF"/>
                      </a:gs>
                      <a:gs pos="100000">
                        <a:srgbClr val="FFFFFF">
                          <a:alpha val="0"/>
                        </a:srgbClr>
                      </a:gs>
                    </a:gsLst>
                    <a:lin ang="5400000" scaled="1"/>
                  </a:gradFill>
                  <a:prstDash val="solid"/>
                  <a:miter lim="800000"/>
                </a:ln>
                <a:effectLst>
                  <a:outerShdw blurRad="101600" dist="38100" dir="5400000" algn="t" rotWithShape="0">
                    <a:srgbClr val="A13422">
                      <a:alpha val="28000"/>
                    </a:srgbClr>
                  </a:outerShdw>
                </a:effectLst>
              </p:spPr>
              <p:txBody>
                <a:bodyPr rot="0" spcFirstLastPara="0" vertOverflow="overflow" horzOverflow="overflow" vert="horz" wrap="none" lIns="93269" tIns="46634" rIns="93269" bIns="46634"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5" name="小红书平北职场PPT6-2"/>
                <p:cNvSpPr txBox="1"/>
                <p:nvPr/>
              </p:nvSpPr>
              <p:spPr>
                <a:xfrm>
                  <a:off x="8151665" y="4375632"/>
                  <a:ext cx="2458666" cy="464807"/>
                </a:xfrm>
                <a:prstGeom prst="rect">
                  <a:avLst/>
                </a:prstGeom>
                <a:noFill/>
              </p:spPr>
              <p:txBody>
                <a:bodyPr wrap="square" lIns="0" tIns="0" rIns="0" bIns="0" rtlCol="0">
                  <a:spAutoFit/>
                </a:bodyPr>
                <a:lstStyle>
                  <a:defPPr>
                    <a:defRPr lang="en-US"/>
                  </a:defPPr>
                  <a:lvl1pPr>
                    <a:lnSpc>
                      <a:spcPct val="120000"/>
                    </a:lnSpc>
                    <a:defRPr sz="1200">
                      <a:solidFill>
                        <a:schemeClr val="accent1"/>
                      </a:solidFill>
                      <a:latin typeface="+mj-ea"/>
                      <a:ea typeface="+mj-ea"/>
                      <a:cs typeface="Times New Roman" panose="02020603050405020304" charset="0"/>
                    </a:defRPr>
                  </a:lvl1p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方案理想化且缺乏弹性，低估技术复杂度与日常干扰</a:t>
                  </a:r>
                  <a:endParaRPr kumimoji="0" lang="en-US" altLang="zh-CN"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73" name="小红书平北职场PPT6-3"/>
              <p:cNvSpPr txBox="1"/>
              <p:nvPr/>
            </p:nvSpPr>
            <p:spPr>
              <a:xfrm>
                <a:off x="676272" y="3934340"/>
                <a:ext cx="2996333" cy="369332"/>
              </a:xfrm>
              <a:prstGeom prst="rect">
                <a:avLst/>
              </a:prstGeom>
              <a:noFill/>
            </p:spPr>
            <p:txBody>
              <a:bodyPr wrap="none">
                <a:spAutoFit/>
              </a:bodyPr>
              <a:lstStyle/>
              <a:p>
                <a:r>
                  <a:rPr lang="en-US" altLang="zh-CN"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 </a:t>
                </a:r>
                <a:r>
                  <a:rPr lang="zh-CN" altLang="en-US"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理性脑</a:t>
                </a:r>
                <a:r>
                  <a:rPr lang="zh-CN" altLang="en-US" sz="1600" dirty="0">
                    <a:latin typeface="+mj-ea"/>
                    <a:ea typeface="+mj-ea"/>
                    <a:cs typeface="思源黑体 CN Normal" panose="020B0400000000000000" pitchFamily="34" charset="-122"/>
                  </a:rPr>
                  <a:t>：规划脱节，预见不足</a:t>
                </a:r>
                <a:endParaRPr lang="zh-CN" altLang="en-US" dirty="0">
                  <a:latin typeface="+mj-ea"/>
                  <a:ea typeface="+mj-ea"/>
                  <a:cs typeface="思源黑体 CN Normal" panose="020B0400000000000000" pitchFamily="34" charset="-122"/>
                </a:endParaRPr>
              </a:p>
            </p:txBody>
          </p:sp>
        </p:grpSp>
        <p:sp>
          <p:nvSpPr>
            <p:cNvPr id="71" name="小红书平北职场PPT6-4"/>
            <p:cNvSpPr txBox="1"/>
            <p:nvPr/>
          </p:nvSpPr>
          <p:spPr>
            <a:xfrm>
              <a:off x="606866" y="3058674"/>
              <a:ext cx="2875174" cy="1036309"/>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rPr>
                <a:t>项目初期方案逻辑严谨但过于理想化，低估了技术复杂性与日常任务干扰。因缺乏弹性空间，计划难以严格执行，中期便显著偏离现实</a:t>
              </a:r>
              <a:endPar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endParaRPr>
            </a:p>
          </p:txBody>
        </p:sp>
      </p:grpSp>
      <p:grpSp>
        <p:nvGrpSpPr>
          <p:cNvPr id="8" name="小红书平北职场PPT7"/>
          <p:cNvGrpSpPr/>
          <p:nvPr/>
        </p:nvGrpSpPr>
        <p:grpSpPr>
          <a:xfrm>
            <a:off x="8997683" y="2368593"/>
            <a:ext cx="2996333" cy="2530215"/>
            <a:chOff x="8529632" y="2275269"/>
            <a:chExt cx="2996333" cy="2530215"/>
          </a:xfrm>
        </p:grpSpPr>
        <p:grpSp>
          <p:nvGrpSpPr>
            <p:cNvPr id="64" name="组合 63"/>
            <p:cNvGrpSpPr/>
            <p:nvPr/>
          </p:nvGrpSpPr>
          <p:grpSpPr>
            <a:xfrm>
              <a:off x="8529632" y="2275269"/>
              <a:ext cx="2996333" cy="1092099"/>
              <a:chOff x="690127" y="3934340"/>
              <a:chExt cx="2996333" cy="1092099"/>
            </a:xfrm>
          </p:grpSpPr>
          <p:grpSp>
            <p:nvGrpSpPr>
              <p:cNvPr id="66" name="显眼包PPT14"/>
              <p:cNvGrpSpPr/>
              <p:nvPr/>
            </p:nvGrpSpPr>
            <p:grpSpPr>
              <a:xfrm>
                <a:off x="749870" y="4387793"/>
                <a:ext cx="2750470" cy="638646"/>
                <a:chOff x="8005763" y="4287074"/>
                <a:chExt cx="2750470" cy="638646"/>
              </a:xfrm>
            </p:grpSpPr>
            <p:sp>
              <p:nvSpPr>
                <p:cNvPr id="68" name="小红书平北职场PPT7-1"/>
                <p:cNvSpPr/>
                <p:nvPr/>
              </p:nvSpPr>
              <p:spPr>
                <a:xfrm>
                  <a:off x="8005763" y="4287074"/>
                  <a:ext cx="2750470" cy="638646"/>
                </a:xfrm>
                <a:prstGeom prst="roundRect">
                  <a:avLst>
                    <a:gd name="adj" fmla="val 10701"/>
                  </a:avLst>
                </a:prstGeom>
                <a:gradFill flip="none" rotWithShape="1">
                  <a:gsLst>
                    <a:gs pos="0">
                      <a:schemeClr val="accent2">
                        <a:lumMod val="60000"/>
                        <a:lumOff val="40000"/>
                      </a:schemeClr>
                    </a:gs>
                    <a:gs pos="100000">
                      <a:schemeClr val="accent2"/>
                    </a:gs>
                  </a:gsLst>
                  <a:lin ang="0" scaled="1"/>
                  <a:tileRect/>
                </a:gradFill>
                <a:ln w="12700" cap="flat" cmpd="sng" algn="ctr">
                  <a:gradFill>
                    <a:gsLst>
                      <a:gs pos="0">
                        <a:srgbClr val="FFFFFF"/>
                      </a:gs>
                      <a:gs pos="100000">
                        <a:srgbClr val="FFFFFF">
                          <a:alpha val="0"/>
                        </a:srgbClr>
                      </a:gs>
                    </a:gsLst>
                    <a:lin ang="5400000" scaled="1"/>
                  </a:gradFill>
                  <a:prstDash val="solid"/>
                  <a:miter lim="800000"/>
                </a:ln>
                <a:effectLst>
                  <a:outerShdw blurRad="101600" dist="38100" dir="5400000" algn="t" rotWithShape="0">
                    <a:srgbClr val="A13422">
                      <a:alpha val="28000"/>
                    </a:srgbClr>
                  </a:outerShdw>
                </a:effectLst>
              </p:spPr>
              <p:txBody>
                <a:bodyPr rot="0" spcFirstLastPara="0" vertOverflow="overflow" horzOverflow="overflow" vert="horz" wrap="none" lIns="93269" tIns="46634" rIns="93269" bIns="46634"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9" name="小红书平北职场PPT7-2"/>
                <p:cNvSpPr txBox="1"/>
                <p:nvPr/>
              </p:nvSpPr>
              <p:spPr>
                <a:xfrm>
                  <a:off x="8151665" y="4375632"/>
                  <a:ext cx="2361509" cy="464807"/>
                </a:xfrm>
                <a:prstGeom prst="rect">
                  <a:avLst/>
                </a:prstGeom>
                <a:noFill/>
              </p:spPr>
              <p:txBody>
                <a:bodyPr wrap="square" lIns="0" tIns="0" rIns="0" bIns="0" rtlCol="0">
                  <a:spAutoFit/>
                </a:bodyPr>
                <a:lstStyle>
                  <a:defPPr>
                    <a:defRPr lang="en-US"/>
                  </a:defPPr>
                  <a:lvl1pPr>
                    <a:lnSpc>
                      <a:spcPct val="120000"/>
                    </a:lnSpc>
                    <a:defRPr sz="1200">
                      <a:solidFill>
                        <a:schemeClr val="accent1"/>
                      </a:solidFill>
                      <a:latin typeface="+mj-ea"/>
                      <a:ea typeface="+mj-ea"/>
                      <a:cs typeface="Times New Roman" panose="02020603050405020304" charset="0"/>
                    </a:defRPr>
                  </a:lvl1p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频繁变更与持续高压致团队疲惫，被动执行取代主动创新</a:t>
                  </a:r>
                  <a:endParaRPr kumimoji="0" lang="en-US" altLang="zh-CN"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67" name="小红书平北职场PPT7-3"/>
              <p:cNvSpPr txBox="1"/>
              <p:nvPr/>
            </p:nvSpPr>
            <p:spPr>
              <a:xfrm>
                <a:off x="690127" y="3934340"/>
                <a:ext cx="2996333" cy="369332"/>
              </a:xfrm>
              <a:prstGeom prst="rect">
                <a:avLst/>
              </a:prstGeom>
              <a:noFill/>
            </p:spPr>
            <p:txBody>
              <a:bodyPr wrap="none">
                <a:spAutoFit/>
              </a:bodyPr>
              <a:lstStyle/>
              <a:p>
                <a:r>
                  <a:rPr lang="zh-CN" altLang="en-US"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情绪脑</a:t>
                </a:r>
                <a:r>
                  <a:rPr lang="zh-CN" altLang="en-US" sz="1600" dirty="0">
                    <a:latin typeface="+mj-ea"/>
                    <a:ea typeface="+mj-ea"/>
                    <a:cs typeface="思源黑体 CN Normal" panose="020B0400000000000000" pitchFamily="34" charset="-122"/>
                  </a:rPr>
                  <a:t>：士气损耗，氛围沉滞</a:t>
                </a:r>
                <a:endParaRPr lang="zh-CN" altLang="en-US" dirty="0">
                  <a:latin typeface="+mj-ea"/>
                  <a:ea typeface="+mj-ea"/>
                  <a:cs typeface="思源黑体 CN Normal" panose="020B0400000000000000" pitchFamily="34" charset="-122"/>
                </a:endParaRPr>
              </a:p>
            </p:txBody>
          </p:sp>
        </p:grpSp>
        <p:sp>
          <p:nvSpPr>
            <p:cNvPr id="65" name="小红书平北职场PPT7-4"/>
            <p:cNvSpPr txBox="1"/>
            <p:nvPr/>
          </p:nvSpPr>
          <p:spPr>
            <a:xfrm>
              <a:off x="8576672" y="3529109"/>
              <a:ext cx="2875174" cy="1276375"/>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rPr>
                <a:t>频繁的变更与高压攻坚持续消耗团队热情，使成员从积极转为疲惫，甚至产生挫败感。这种情绪蔓延后，团队氛围变得沉滞，成员倾向于被动执行与保守方案，创造力与工作热情明显削弱。</a:t>
              </a:r>
              <a:endPar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endParaRPr>
            </a:p>
          </p:txBody>
        </p:sp>
      </p:grpSp>
      <p:grpSp>
        <p:nvGrpSpPr>
          <p:cNvPr id="9" name="小红书平北职场PPT8"/>
          <p:cNvGrpSpPr/>
          <p:nvPr/>
        </p:nvGrpSpPr>
        <p:grpSpPr>
          <a:xfrm>
            <a:off x="1310452" y="4732547"/>
            <a:ext cx="8973631" cy="1773998"/>
            <a:chOff x="587999" y="4766380"/>
            <a:chExt cx="8973631" cy="1773998"/>
          </a:xfrm>
        </p:grpSpPr>
        <p:grpSp>
          <p:nvGrpSpPr>
            <p:cNvPr id="58" name="组合 57"/>
            <p:cNvGrpSpPr/>
            <p:nvPr/>
          </p:nvGrpSpPr>
          <p:grpSpPr>
            <a:xfrm>
              <a:off x="587999" y="4766380"/>
              <a:ext cx="2996333" cy="1092099"/>
              <a:chOff x="690127" y="3934340"/>
              <a:chExt cx="2996333" cy="1092099"/>
            </a:xfrm>
          </p:grpSpPr>
          <p:grpSp>
            <p:nvGrpSpPr>
              <p:cNvPr id="60" name="显眼包PPT14"/>
              <p:cNvGrpSpPr/>
              <p:nvPr/>
            </p:nvGrpSpPr>
            <p:grpSpPr>
              <a:xfrm>
                <a:off x="749870" y="4387793"/>
                <a:ext cx="2750470" cy="638646"/>
                <a:chOff x="8005763" y="4287074"/>
                <a:chExt cx="2750470" cy="638646"/>
              </a:xfrm>
            </p:grpSpPr>
            <p:sp>
              <p:nvSpPr>
                <p:cNvPr id="62" name="小红书平北职场PPT8-1"/>
                <p:cNvSpPr/>
                <p:nvPr/>
              </p:nvSpPr>
              <p:spPr>
                <a:xfrm>
                  <a:off x="8005763" y="4287074"/>
                  <a:ext cx="2750470" cy="638646"/>
                </a:xfrm>
                <a:prstGeom prst="roundRect">
                  <a:avLst>
                    <a:gd name="adj" fmla="val 10701"/>
                  </a:avLst>
                </a:prstGeom>
                <a:gradFill flip="none" rotWithShape="1">
                  <a:gsLst>
                    <a:gs pos="0">
                      <a:schemeClr val="accent1">
                        <a:lumMod val="60000"/>
                        <a:lumOff val="40000"/>
                      </a:schemeClr>
                    </a:gs>
                    <a:gs pos="100000">
                      <a:schemeClr val="accent1"/>
                    </a:gs>
                  </a:gsLst>
                  <a:lin ang="0" scaled="1"/>
                  <a:tileRect/>
                </a:gradFill>
                <a:ln w="12700" cap="flat" cmpd="sng" algn="ctr">
                  <a:gradFill>
                    <a:gsLst>
                      <a:gs pos="0">
                        <a:srgbClr val="FFFFFF"/>
                      </a:gs>
                      <a:gs pos="100000">
                        <a:srgbClr val="FFFFFF">
                          <a:alpha val="0"/>
                        </a:srgbClr>
                      </a:gs>
                    </a:gsLst>
                    <a:lin ang="5400000" scaled="1"/>
                  </a:gradFill>
                  <a:prstDash val="solid"/>
                  <a:miter lim="800000"/>
                </a:ln>
                <a:effectLst>
                  <a:outerShdw blurRad="101600" dist="38100" dir="5400000" algn="t" rotWithShape="0">
                    <a:srgbClr val="A13422">
                      <a:alpha val="28000"/>
                    </a:srgbClr>
                  </a:outerShdw>
                </a:effectLst>
              </p:spPr>
              <p:txBody>
                <a:bodyPr rot="0" spcFirstLastPara="0" vertOverflow="overflow" horzOverflow="overflow" vert="horz" wrap="none" lIns="93269" tIns="46634" rIns="93269" bIns="46634"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小红书平北职场PPT8-2"/>
                <p:cNvSpPr txBox="1"/>
                <p:nvPr/>
              </p:nvSpPr>
              <p:spPr>
                <a:xfrm>
                  <a:off x="8151665" y="4375632"/>
                  <a:ext cx="2458666" cy="464807"/>
                </a:xfrm>
                <a:prstGeom prst="rect">
                  <a:avLst/>
                </a:prstGeom>
                <a:noFill/>
              </p:spPr>
              <p:txBody>
                <a:bodyPr wrap="square" lIns="0" tIns="0" rIns="0" bIns="0" rtlCol="0">
                  <a:spAutoFit/>
                </a:bodyPr>
                <a:lstStyle>
                  <a:defPPr>
                    <a:defRPr lang="en-US"/>
                  </a:defPPr>
                  <a:lvl1pPr>
                    <a:lnSpc>
                      <a:spcPct val="120000"/>
                    </a:lnSpc>
                    <a:defRPr sz="1200">
                      <a:solidFill>
                        <a:schemeClr val="accent1"/>
                      </a:solidFill>
                      <a:latin typeface="+mj-ea"/>
                      <a:ea typeface="+mj-ea"/>
                      <a:cs typeface="Times New Roman" panose="02020603050405020304" charset="0"/>
                    </a:defRPr>
                  </a:lvl1p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对未知与超载的本能恐惧，引发拖延与回避行为</a:t>
                  </a:r>
                  <a:endParaRPr kumimoji="0" lang="en-US" altLang="zh-CN"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61" name="小红书平北职场PPT8-3"/>
              <p:cNvSpPr txBox="1"/>
              <p:nvPr/>
            </p:nvSpPr>
            <p:spPr>
              <a:xfrm>
                <a:off x="690127" y="3934340"/>
                <a:ext cx="2996333" cy="369332"/>
              </a:xfrm>
              <a:prstGeom prst="rect">
                <a:avLst/>
              </a:prstGeom>
              <a:noFill/>
            </p:spPr>
            <p:txBody>
              <a:bodyPr wrap="none">
                <a:spAutoFit/>
              </a:bodyPr>
              <a:lstStyle/>
              <a:p>
                <a:r>
                  <a:rPr lang="zh-CN" altLang="en-US"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本能脑</a:t>
                </a:r>
                <a:r>
                  <a:rPr lang="zh-CN" altLang="en-US" sz="1600" dirty="0">
                    <a:latin typeface="+mj-ea"/>
                    <a:ea typeface="+mj-ea"/>
                    <a:cs typeface="思源黑体 CN Normal" panose="020B0400000000000000" pitchFamily="34" charset="-122"/>
                  </a:rPr>
                  <a:t>：防御启动，回避增长</a:t>
                </a:r>
                <a:endParaRPr lang="zh-CN" altLang="en-US" dirty="0">
                  <a:latin typeface="+mj-ea"/>
                  <a:ea typeface="+mj-ea"/>
                  <a:cs typeface="思源黑体 CN Normal" panose="020B0400000000000000" pitchFamily="34" charset="-122"/>
                </a:endParaRPr>
              </a:p>
            </p:txBody>
          </p:sp>
        </p:grpSp>
        <p:sp>
          <p:nvSpPr>
            <p:cNvPr id="59" name="小红书平北职场PPT8-4"/>
            <p:cNvSpPr txBox="1"/>
            <p:nvPr/>
          </p:nvSpPr>
          <p:spPr>
            <a:xfrm>
              <a:off x="622364" y="5984200"/>
              <a:ext cx="8939266" cy="556178"/>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rPr>
                <a:t>面对新技术的不确定性和紧迫的截止日期，团队成员出于安全本能，不自觉地启动了心理防御机制，表现为回避困难任务、拖延关键决策，这进一步加剧了进度滞后，形成恶性循环</a:t>
              </a:r>
              <a:endPar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endParaRPr>
            </a:p>
          </p:txBody>
        </p:sp>
      </p:grpSp>
      <p:sp>
        <p:nvSpPr>
          <p:cNvPr id="10" name="小红书平北职场PPT9"/>
          <p:cNvSpPr/>
          <p:nvPr/>
        </p:nvSpPr>
        <p:spPr>
          <a:xfrm>
            <a:off x="4471893" y="2437410"/>
            <a:ext cx="838217" cy="838217"/>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1" name="小红书平北职场PPT10"/>
          <p:cNvSpPr txBox="1"/>
          <p:nvPr/>
        </p:nvSpPr>
        <p:spPr>
          <a:xfrm>
            <a:off x="4587350" y="2609659"/>
            <a:ext cx="575799" cy="561436"/>
          </a:xfrm>
          <a:prstGeom prst="rect">
            <a:avLst/>
          </a:prstGeom>
          <a:noFill/>
        </p:spPr>
        <p:txBody>
          <a:bodyPr wrap="none">
            <a:spAutoFit/>
          </a:bodyPr>
          <a:lstStyle/>
          <a:p>
            <a:r>
              <a:rPr lang="zh-CN" altLang="en-US" sz="1525" dirty="0">
                <a:solidFill>
                  <a:schemeClr val="bg1"/>
                </a:solidFill>
                <a:latin typeface="+mj-ea"/>
                <a:ea typeface="+mj-ea"/>
                <a:cs typeface="思源黑体 CN Normal" panose="020B0400000000000000" pitchFamily="34" charset="-122"/>
              </a:rPr>
              <a:t>管理</a:t>
            </a:r>
            <a:endParaRPr lang="en-US" altLang="zh-CN" sz="1450" dirty="0">
              <a:solidFill>
                <a:schemeClr val="bg1"/>
              </a:solidFill>
              <a:latin typeface="+mj-ea"/>
              <a:ea typeface="+mj-ea"/>
              <a:cs typeface="思源黑体 CN Normal" panose="020B0400000000000000" pitchFamily="34" charset="-122"/>
            </a:endParaRPr>
          </a:p>
          <a:p>
            <a:r>
              <a:rPr lang="zh-CN" altLang="en-US" sz="1525" dirty="0">
                <a:solidFill>
                  <a:schemeClr val="bg1"/>
                </a:solidFill>
                <a:latin typeface="+mj-ea"/>
                <a:ea typeface="+mj-ea"/>
                <a:cs typeface="思源黑体 CN Normal" panose="020B0400000000000000" pitchFamily="34" charset="-122"/>
              </a:rPr>
              <a:t>逻辑</a:t>
            </a:r>
            <a:endParaRPr lang="zh-CN" altLang="en-US" sz="1525" dirty="0">
              <a:solidFill>
                <a:schemeClr val="bg1"/>
              </a:solidFill>
              <a:latin typeface="+mj-ea"/>
              <a:ea typeface="+mj-ea"/>
              <a:cs typeface="思源黑体 CN Normal" panose="020B0400000000000000" pitchFamily="34" charset="-122"/>
            </a:endParaRPr>
          </a:p>
        </p:txBody>
      </p:sp>
      <p:sp>
        <p:nvSpPr>
          <p:cNvPr id="12" name="小红书平北职场PPT11"/>
          <p:cNvSpPr txBox="1"/>
          <p:nvPr/>
        </p:nvSpPr>
        <p:spPr>
          <a:xfrm>
            <a:off x="4747072" y="2512207"/>
            <a:ext cx="220893" cy="234551"/>
          </a:xfrm>
          <a:prstGeom prst="rect">
            <a:avLst/>
          </a:prstGeom>
          <a:noFill/>
        </p:spPr>
        <p:txBody>
          <a:bodyPr wrap="none" lIns="0" tIns="0" rIns="0" bIns="0" rtlCol="0">
            <a:spAutoFit/>
          </a:bodyPr>
          <a:lstStyle/>
          <a:p>
            <a:pPr marL="48895" algn="ctr">
              <a:spcAft>
                <a:spcPts val="600"/>
              </a:spcAft>
              <a:buClr>
                <a:schemeClr val="accent1"/>
              </a:buClr>
            </a:pPr>
            <a:r>
              <a:rPr lang="en-US" altLang="zh-CN"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rPr>
              <a:t>01</a:t>
            </a:r>
            <a:endParaRPr lang="zh-CN" altLang="en-US"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endParaRPr>
          </a:p>
        </p:txBody>
      </p:sp>
      <p:grpSp>
        <p:nvGrpSpPr>
          <p:cNvPr id="13" name="小红书平北职场PPT12"/>
          <p:cNvGrpSpPr/>
          <p:nvPr/>
        </p:nvGrpSpPr>
        <p:grpSpPr>
          <a:xfrm>
            <a:off x="3557942" y="2321280"/>
            <a:ext cx="980727" cy="599201"/>
            <a:chOff x="3330477" y="2293620"/>
            <a:chExt cx="1029763" cy="629161"/>
          </a:xfrm>
        </p:grpSpPr>
        <p:sp>
          <p:nvSpPr>
            <p:cNvPr id="55" name="小红书平北职场PPT12-1"/>
            <p:cNvSpPr/>
            <p:nvPr/>
          </p:nvSpPr>
          <p:spPr>
            <a:xfrm>
              <a:off x="4257136" y="2819677"/>
              <a:ext cx="103104" cy="103104"/>
            </a:xfrm>
            <a:prstGeom prst="ellipse">
              <a:avLst/>
            </a:prstGeom>
            <a:solidFill>
              <a:schemeClr val="bg1"/>
            </a:solidFill>
            <a:ln w="12095">
              <a:solidFill>
                <a:schemeClr val="accent3"/>
              </a:solidFill>
            </a:ln>
            <a:effectLst>
              <a:outerShdw blurRad="157238" dist="72571" dir="5400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cxnSp>
          <p:nvCxnSpPr>
            <p:cNvPr id="56" name="小红书平北职场PPT12-2"/>
            <p:cNvCxnSpPr/>
            <p:nvPr/>
          </p:nvCxnSpPr>
          <p:spPr>
            <a:xfrm>
              <a:off x="3742947" y="2871229"/>
              <a:ext cx="516438" cy="0"/>
            </a:xfrm>
            <a:prstGeom prst="line">
              <a:avLst/>
            </a:prstGeom>
            <a:ln w="12095"/>
          </p:spPr>
          <p:style>
            <a:lnRef idx="1">
              <a:schemeClr val="accent1"/>
            </a:lnRef>
            <a:fillRef idx="0">
              <a:schemeClr val="accent1"/>
            </a:fillRef>
            <a:effectRef idx="0">
              <a:schemeClr val="accent1"/>
            </a:effectRef>
            <a:fontRef idx="minor">
              <a:schemeClr val="tx1"/>
            </a:fontRef>
          </p:style>
        </p:cxnSp>
        <p:cxnSp>
          <p:nvCxnSpPr>
            <p:cNvPr id="57" name="小红书平北职场PPT12-3"/>
            <p:cNvCxnSpPr/>
            <p:nvPr/>
          </p:nvCxnSpPr>
          <p:spPr>
            <a:xfrm>
              <a:off x="3330477" y="2293620"/>
              <a:ext cx="416123" cy="577609"/>
            </a:xfrm>
            <a:prstGeom prst="line">
              <a:avLst/>
            </a:prstGeom>
            <a:ln w="12095">
              <a:headEnd type="triangle"/>
            </a:ln>
          </p:spPr>
          <p:style>
            <a:lnRef idx="1">
              <a:schemeClr val="accent1"/>
            </a:lnRef>
            <a:fillRef idx="0">
              <a:schemeClr val="accent1"/>
            </a:fillRef>
            <a:effectRef idx="0">
              <a:schemeClr val="accent1"/>
            </a:effectRef>
            <a:fontRef idx="minor">
              <a:schemeClr val="tx1"/>
            </a:fontRef>
          </p:style>
        </p:cxnSp>
      </p:grpSp>
      <p:grpSp>
        <p:nvGrpSpPr>
          <p:cNvPr id="14" name="小红书平北职场PPT13"/>
          <p:cNvGrpSpPr/>
          <p:nvPr/>
        </p:nvGrpSpPr>
        <p:grpSpPr>
          <a:xfrm>
            <a:off x="7167730" y="3035395"/>
            <a:ext cx="838217" cy="838217"/>
            <a:chOff x="7401171" y="3302989"/>
            <a:chExt cx="880128" cy="880128"/>
          </a:xfrm>
        </p:grpSpPr>
        <p:sp>
          <p:nvSpPr>
            <p:cNvPr id="52" name="小红书平北职场PPT13-1"/>
            <p:cNvSpPr/>
            <p:nvPr/>
          </p:nvSpPr>
          <p:spPr>
            <a:xfrm>
              <a:off x="7401171" y="3302989"/>
              <a:ext cx="880128" cy="880128"/>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53" name="小红书平北职场PPT13-2"/>
            <p:cNvSpPr txBox="1"/>
            <p:nvPr/>
          </p:nvSpPr>
          <p:spPr>
            <a:xfrm>
              <a:off x="7557785" y="3472668"/>
              <a:ext cx="665182" cy="589508"/>
            </a:xfrm>
            <a:prstGeom prst="rect">
              <a:avLst/>
            </a:prstGeom>
            <a:noFill/>
          </p:spPr>
          <p:txBody>
            <a:bodyPr wrap="none">
              <a:spAutoFit/>
            </a:bodyPr>
            <a:lstStyle/>
            <a:p>
              <a:r>
                <a:rPr lang="zh-CN" altLang="en-US" sz="1525" dirty="0">
                  <a:solidFill>
                    <a:schemeClr val="bg1"/>
                  </a:solidFill>
                  <a:latin typeface="+mj-ea"/>
                  <a:ea typeface="+mj-ea"/>
                  <a:cs typeface="思源黑体 CN Normal" panose="020B0400000000000000" pitchFamily="34" charset="-122"/>
                </a:rPr>
                <a:t>管理 </a:t>
              </a:r>
              <a:endParaRPr lang="zh-CN" altLang="en-US" sz="1450" dirty="0">
                <a:solidFill>
                  <a:schemeClr val="bg1"/>
                </a:solidFill>
                <a:latin typeface="+mj-ea"/>
                <a:ea typeface="+mj-ea"/>
                <a:cs typeface="思源黑体 CN Normal" panose="020B0400000000000000" pitchFamily="34" charset="-122"/>
              </a:endParaRPr>
            </a:p>
            <a:p>
              <a:r>
                <a:rPr lang="zh-CN" altLang="en-US" sz="1525" dirty="0">
                  <a:solidFill>
                    <a:schemeClr val="bg1"/>
                  </a:solidFill>
                  <a:latin typeface="+mj-ea"/>
                  <a:ea typeface="+mj-ea"/>
                  <a:cs typeface="思源黑体 CN Normal" panose="020B0400000000000000" pitchFamily="34" charset="-122"/>
                </a:rPr>
                <a:t>情绪</a:t>
              </a:r>
              <a:endParaRPr lang="zh-CN" altLang="en-US" sz="1525" dirty="0">
                <a:solidFill>
                  <a:schemeClr val="bg1"/>
                </a:solidFill>
                <a:latin typeface="+mj-ea"/>
                <a:ea typeface="+mj-ea"/>
                <a:cs typeface="思源黑体 CN Normal" panose="020B0400000000000000" pitchFamily="34" charset="-122"/>
              </a:endParaRPr>
            </a:p>
          </p:txBody>
        </p:sp>
        <p:sp>
          <p:nvSpPr>
            <p:cNvPr id="54" name="小红书平北职场PPT13-3"/>
            <p:cNvSpPr txBox="1"/>
            <p:nvPr/>
          </p:nvSpPr>
          <p:spPr>
            <a:xfrm>
              <a:off x="7690292" y="3383858"/>
              <a:ext cx="270180" cy="246279"/>
            </a:xfrm>
            <a:prstGeom prst="rect">
              <a:avLst/>
            </a:prstGeom>
            <a:noFill/>
          </p:spPr>
          <p:txBody>
            <a:bodyPr wrap="none" lIns="0" tIns="0" rIns="0" bIns="0" rtlCol="0">
              <a:spAutoFit/>
            </a:bodyPr>
            <a:lstStyle/>
            <a:p>
              <a:pPr marL="48895" algn="ctr">
                <a:spcAft>
                  <a:spcPts val="600"/>
                </a:spcAft>
                <a:buClr>
                  <a:schemeClr val="accent1"/>
                </a:buClr>
              </a:pPr>
              <a:r>
                <a:rPr lang="en-US" altLang="zh-CN"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rPr>
                <a:t>02</a:t>
              </a:r>
              <a:endParaRPr lang="zh-CN" altLang="en-US"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endParaRPr>
            </a:p>
          </p:txBody>
        </p:sp>
      </p:grpSp>
      <p:grpSp>
        <p:nvGrpSpPr>
          <p:cNvPr id="15" name="小红书平北职场PPT14"/>
          <p:cNvGrpSpPr/>
          <p:nvPr/>
        </p:nvGrpSpPr>
        <p:grpSpPr>
          <a:xfrm flipH="1">
            <a:off x="7928891" y="2658176"/>
            <a:ext cx="948353" cy="823793"/>
            <a:chOff x="3364469" y="2057798"/>
            <a:chExt cx="995771" cy="864983"/>
          </a:xfrm>
        </p:grpSpPr>
        <p:sp>
          <p:nvSpPr>
            <p:cNvPr id="49" name="小红书平北职场PPT14-1"/>
            <p:cNvSpPr/>
            <p:nvPr/>
          </p:nvSpPr>
          <p:spPr>
            <a:xfrm>
              <a:off x="4257136" y="2819677"/>
              <a:ext cx="103104" cy="103104"/>
            </a:xfrm>
            <a:prstGeom prst="ellipse">
              <a:avLst/>
            </a:prstGeom>
            <a:solidFill>
              <a:schemeClr val="bg1"/>
            </a:solidFill>
            <a:ln w="12095">
              <a:solidFill>
                <a:schemeClr val="accent2"/>
              </a:solidFill>
            </a:ln>
            <a:effectLst>
              <a:outerShdw blurRad="157238" dist="72571" dir="5400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cxnSp>
          <p:nvCxnSpPr>
            <p:cNvPr id="50" name="小红书平北职场PPT14-2"/>
            <p:cNvCxnSpPr/>
            <p:nvPr/>
          </p:nvCxnSpPr>
          <p:spPr>
            <a:xfrm>
              <a:off x="3742947" y="2871229"/>
              <a:ext cx="516438" cy="0"/>
            </a:xfrm>
            <a:prstGeom prst="line">
              <a:avLst/>
            </a:prstGeom>
            <a:ln w="1209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小红书平北职场PPT14-3"/>
            <p:cNvCxnSpPr/>
            <p:nvPr/>
          </p:nvCxnSpPr>
          <p:spPr>
            <a:xfrm>
              <a:off x="3364469" y="2057798"/>
              <a:ext cx="382130" cy="813431"/>
            </a:xfrm>
            <a:prstGeom prst="line">
              <a:avLst/>
            </a:prstGeom>
            <a:ln w="12095">
              <a:solidFill>
                <a:schemeClr val="accent2"/>
              </a:solidFill>
              <a:headEnd type="triangle"/>
            </a:ln>
          </p:spPr>
          <p:style>
            <a:lnRef idx="1">
              <a:schemeClr val="accent1"/>
            </a:lnRef>
            <a:fillRef idx="0">
              <a:schemeClr val="accent1"/>
            </a:fillRef>
            <a:effectRef idx="0">
              <a:schemeClr val="accent1"/>
            </a:effectRef>
            <a:fontRef idx="minor">
              <a:schemeClr val="tx1"/>
            </a:fontRef>
          </p:style>
        </p:cxnSp>
      </p:grpSp>
      <p:grpSp>
        <p:nvGrpSpPr>
          <p:cNvPr id="16" name="小红书平北职场PPT15"/>
          <p:cNvGrpSpPr/>
          <p:nvPr/>
        </p:nvGrpSpPr>
        <p:grpSpPr>
          <a:xfrm>
            <a:off x="4341315" y="4904005"/>
            <a:ext cx="2526972" cy="882431"/>
            <a:chOff x="4027604" y="4844582"/>
            <a:chExt cx="2653320" cy="926552"/>
          </a:xfrm>
        </p:grpSpPr>
        <p:sp>
          <p:nvSpPr>
            <p:cNvPr id="42" name="小红书平北职场PPT15-1"/>
            <p:cNvSpPr/>
            <p:nvPr/>
          </p:nvSpPr>
          <p:spPr>
            <a:xfrm>
              <a:off x="5800796" y="4891006"/>
              <a:ext cx="880128" cy="880128"/>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43" name="小红书平北职场PPT15-2"/>
            <p:cNvSpPr txBox="1"/>
            <p:nvPr/>
          </p:nvSpPr>
          <p:spPr>
            <a:xfrm>
              <a:off x="6063634" y="4985685"/>
              <a:ext cx="265601" cy="246278"/>
            </a:xfrm>
            <a:prstGeom prst="rect">
              <a:avLst/>
            </a:prstGeom>
            <a:noFill/>
          </p:spPr>
          <p:txBody>
            <a:bodyPr wrap="none" lIns="0" tIns="0" rIns="0" bIns="0" rtlCol="0">
              <a:spAutoFit/>
            </a:bodyPr>
            <a:lstStyle/>
            <a:p>
              <a:pPr marL="48895" algn="ctr">
                <a:spcAft>
                  <a:spcPts val="600"/>
                </a:spcAft>
                <a:buClr>
                  <a:schemeClr val="accent1"/>
                </a:buClr>
              </a:pPr>
              <a:r>
                <a:rPr lang="en-US" altLang="zh-CN"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rPr>
                <a:t>03</a:t>
              </a:r>
              <a:endParaRPr lang="zh-CN" altLang="en-US"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endParaRPr>
            </a:p>
          </p:txBody>
        </p:sp>
        <p:sp>
          <p:nvSpPr>
            <p:cNvPr id="44" name="小红书平北职场PPT15-3"/>
            <p:cNvSpPr txBox="1"/>
            <p:nvPr/>
          </p:nvSpPr>
          <p:spPr>
            <a:xfrm>
              <a:off x="5935740" y="5067727"/>
              <a:ext cx="604589" cy="589507"/>
            </a:xfrm>
            <a:prstGeom prst="rect">
              <a:avLst/>
            </a:prstGeom>
            <a:noFill/>
          </p:spPr>
          <p:txBody>
            <a:bodyPr wrap="none">
              <a:spAutoFit/>
            </a:bodyPr>
            <a:lstStyle/>
            <a:p>
              <a:r>
                <a:rPr lang="zh-CN" altLang="en-US" sz="1525" dirty="0">
                  <a:solidFill>
                    <a:schemeClr val="bg1"/>
                  </a:solidFill>
                  <a:latin typeface="+mj-ea"/>
                  <a:ea typeface="+mj-ea"/>
                  <a:cs typeface="思源黑体 CN Normal" panose="020B0400000000000000" pitchFamily="34" charset="-122"/>
                </a:rPr>
                <a:t>管理</a:t>
              </a:r>
              <a:endParaRPr lang="zh-CN" altLang="en-US" sz="1450" dirty="0">
                <a:solidFill>
                  <a:schemeClr val="bg1"/>
                </a:solidFill>
                <a:latin typeface="+mj-ea"/>
                <a:ea typeface="+mj-ea"/>
                <a:cs typeface="思源黑体 CN Normal" panose="020B0400000000000000" pitchFamily="34" charset="-122"/>
              </a:endParaRPr>
            </a:p>
            <a:p>
              <a:r>
                <a:rPr lang="zh-CN" altLang="en-US" sz="1525" dirty="0">
                  <a:solidFill>
                    <a:schemeClr val="bg1"/>
                  </a:solidFill>
                  <a:latin typeface="+mj-ea"/>
                  <a:ea typeface="+mj-ea"/>
                  <a:cs typeface="思源黑体 CN Normal" panose="020B0400000000000000" pitchFamily="34" charset="-122"/>
                </a:rPr>
                <a:t>本能</a:t>
              </a:r>
              <a:endParaRPr lang="zh-CN" altLang="en-US" sz="1525" dirty="0">
                <a:solidFill>
                  <a:schemeClr val="bg1"/>
                </a:solidFill>
                <a:latin typeface="+mj-ea"/>
                <a:ea typeface="+mj-ea"/>
                <a:cs typeface="思源黑体 CN Normal" panose="020B0400000000000000" pitchFamily="34" charset="-122"/>
              </a:endParaRPr>
            </a:p>
          </p:txBody>
        </p:sp>
        <p:grpSp>
          <p:nvGrpSpPr>
            <p:cNvPr id="45" name="组合 44"/>
            <p:cNvGrpSpPr/>
            <p:nvPr/>
          </p:nvGrpSpPr>
          <p:grpSpPr>
            <a:xfrm>
              <a:off x="4027604" y="4844582"/>
              <a:ext cx="1833331" cy="629161"/>
              <a:chOff x="2526909" y="2293620"/>
              <a:chExt cx="1833331" cy="629161"/>
            </a:xfrm>
          </p:grpSpPr>
          <p:sp>
            <p:nvSpPr>
              <p:cNvPr id="46" name="小红书平北职场PPT15-4"/>
              <p:cNvSpPr/>
              <p:nvPr/>
            </p:nvSpPr>
            <p:spPr>
              <a:xfrm>
                <a:off x="4257136" y="2819677"/>
                <a:ext cx="103104" cy="103104"/>
              </a:xfrm>
              <a:prstGeom prst="ellipse">
                <a:avLst/>
              </a:prstGeom>
              <a:solidFill>
                <a:schemeClr val="bg1"/>
              </a:solidFill>
              <a:ln w="12095">
                <a:solidFill>
                  <a:schemeClr val="accent3"/>
                </a:solidFill>
              </a:ln>
              <a:effectLst>
                <a:outerShdw blurRad="157238" dist="72571" dir="5400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cxnSp>
            <p:nvCxnSpPr>
              <p:cNvPr id="47" name="小红书平北职场PPT15-5"/>
              <p:cNvCxnSpPr/>
              <p:nvPr/>
            </p:nvCxnSpPr>
            <p:spPr>
              <a:xfrm>
                <a:off x="2965967" y="2871229"/>
                <a:ext cx="1293418" cy="0"/>
              </a:xfrm>
              <a:prstGeom prst="line">
                <a:avLst/>
              </a:prstGeom>
              <a:ln w="12095"/>
            </p:spPr>
            <p:style>
              <a:lnRef idx="1">
                <a:schemeClr val="accent1"/>
              </a:lnRef>
              <a:fillRef idx="0">
                <a:schemeClr val="accent1"/>
              </a:fillRef>
              <a:effectRef idx="0">
                <a:schemeClr val="accent1"/>
              </a:effectRef>
              <a:fontRef idx="minor">
                <a:schemeClr val="tx1"/>
              </a:fontRef>
            </p:style>
          </p:cxnSp>
          <p:cxnSp>
            <p:nvCxnSpPr>
              <p:cNvPr id="48" name="小红书平北职场PPT15-6"/>
              <p:cNvCxnSpPr/>
              <p:nvPr/>
            </p:nvCxnSpPr>
            <p:spPr>
              <a:xfrm>
                <a:off x="2526909" y="2293620"/>
                <a:ext cx="416123" cy="577609"/>
              </a:xfrm>
              <a:prstGeom prst="line">
                <a:avLst/>
              </a:prstGeom>
              <a:ln w="12095">
                <a:headEnd type="triangle"/>
              </a:ln>
            </p:spPr>
            <p:style>
              <a:lnRef idx="1">
                <a:schemeClr val="accent1"/>
              </a:lnRef>
              <a:fillRef idx="0">
                <a:schemeClr val="accent1"/>
              </a:fillRef>
              <a:effectRef idx="0">
                <a:schemeClr val="accent1"/>
              </a:effectRef>
              <a:fontRef idx="minor">
                <a:schemeClr val="tx1"/>
              </a:fontRef>
            </p:style>
          </p:cxnSp>
        </p:grpSp>
      </p:grpSp>
      <p:grpSp>
        <p:nvGrpSpPr>
          <p:cNvPr id="17" name="小红书平北职场PPT1"/>
          <p:cNvGrpSpPr/>
          <p:nvPr/>
        </p:nvGrpSpPr>
        <p:grpSpPr>
          <a:xfrm>
            <a:off x="333203" y="852625"/>
            <a:ext cx="11523835" cy="809818"/>
            <a:chOff x="333203" y="852625"/>
            <a:chExt cx="11523835" cy="809818"/>
          </a:xfrm>
        </p:grpSpPr>
        <p:sp>
          <p:nvSpPr>
            <p:cNvPr id="38" name="小红书平北职场PPT1-1"/>
            <p:cNvSpPr/>
            <p:nvPr/>
          </p:nvSpPr>
          <p:spPr>
            <a:xfrm>
              <a:off x="334963" y="852625"/>
              <a:ext cx="11522075" cy="789757"/>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9" name="小红书平北职场PPT1-2"/>
            <p:cNvSpPr txBox="1"/>
            <p:nvPr/>
          </p:nvSpPr>
          <p:spPr>
            <a:xfrm>
              <a:off x="1185934" y="951461"/>
              <a:ext cx="10480779" cy="592085"/>
            </a:xfrm>
            <a:prstGeom prst="rect">
              <a:avLst/>
            </a:prstGeom>
            <a:noFill/>
          </p:spPr>
          <p:txBody>
            <a:bodyPr wrap="square">
              <a:spAutoFit/>
            </a:bodyPr>
            <a:lstStyle/>
            <a:p>
              <a:pPr algn="just">
                <a:lnSpc>
                  <a:spcPct val="120000"/>
                </a:lnSpc>
              </a:pPr>
              <a:r>
                <a:rPr lang="zh-CN" altLang="en-US" sz="1400" dirty="0">
                  <a:latin typeface="+mn-ea"/>
                  <a:cs typeface="思源黑体 CN Normal" panose="020B0400000000000000" pitchFamily="34" charset="-122"/>
                </a:rPr>
                <a:t>人类大脑是进化形成的三重系统：最古老的“本能脑”负责生存本能，确保安全；在此基础上发展的“情绪脑”负责情感和喜好，驱动情绪反应；最外层的“理性脑”则主导逻辑、分析与规划。我们的一切决策和行为，都是这三个脑系统协同或冲突的结果</a:t>
              </a:r>
              <a:endParaRPr lang="zh-CN" altLang="en-US" sz="1400" dirty="0">
                <a:latin typeface="+mn-ea"/>
                <a:cs typeface="思源黑体 CN Normal" panose="020B0400000000000000" pitchFamily="34" charset="-122"/>
              </a:endParaRPr>
            </a:p>
          </p:txBody>
        </p:sp>
        <p:sp>
          <p:nvSpPr>
            <p:cNvPr id="40" name="小红书平北职场PPT1-3"/>
            <p:cNvSpPr/>
            <p:nvPr/>
          </p:nvSpPr>
          <p:spPr>
            <a:xfrm>
              <a:off x="333203" y="852625"/>
              <a:ext cx="833335" cy="809818"/>
            </a:xfrm>
            <a:custGeom>
              <a:avLst/>
              <a:gdLst>
                <a:gd name="connsiteX0" fmla="*/ 0 w 833335"/>
                <a:gd name="connsiteY0" fmla="*/ 0 h 809818"/>
                <a:gd name="connsiteX1" fmla="*/ 735315 w 833335"/>
                <a:gd name="connsiteY1" fmla="*/ 0 h 809818"/>
                <a:gd name="connsiteX2" fmla="*/ 735315 w 833335"/>
                <a:gd name="connsiteY2" fmla="*/ 338026 h 809818"/>
                <a:gd name="connsiteX3" fmla="*/ 833335 w 833335"/>
                <a:gd name="connsiteY3" fmla="*/ 394878 h 809818"/>
                <a:gd name="connsiteX4" fmla="*/ 735315 w 833335"/>
                <a:gd name="connsiteY4" fmla="*/ 451730 h 809818"/>
                <a:gd name="connsiteX5" fmla="*/ 735315 w 833335"/>
                <a:gd name="connsiteY5" fmla="*/ 809818 h 809818"/>
                <a:gd name="connsiteX6" fmla="*/ 0 w 833335"/>
                <a:gd name="connsiteY6" fmla="*/ 809818 h 80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335" h="809818">
                  <a:moveTo>
                    <a:pt x="0" y="0"/>
                  </a:moveTo>
                  <a:lnTo>
                    <a:pt x="735315" y="0"/>
                  </a:lnTo>
                  <a:lnTo>
                    <a:pt x="735315" y="338026"/>
                  </a:lnTo>
                  <a:lnTo>
                    <a:pt x="833335" y="394878"/>
                  </a:lnTo>
                  <a:lnTo>
                    <a:pt x="735315" y="451730"/>
                  </a:lnTo>
                  <a:lnTo>
                    <a:pt x="735315" y="809818"/>
                  </a:lnTo>
                  <a:lnTo>
                    <a:pt x="0" y="809818"/>
                  </a:lnTo>
                  <a:close/>
                </a:path>
              </a:pathLst>
            </a:cu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endParaRPr>
            </a:p>
          </p:txBody>
        </p:sp>
        <p:sp>
          <p:nvSpPr>
            <p:cNvPr id="41" name="小红书平北职场PPT1-4"/>
            <p:cNvSpPr txBox="1"/>
            <p:nvPr/>
          </p:nvSpPr>
          <p:spPr>
            <a:xfrm>
              <a:off x="360997" y="934369"/>
              <a:ext cx="646331" cy="646331"/>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模型</a:t>
              </a:r>
              <a:endParaRPr lang="en-US" altLang="zh-CN" dirty="0">
                <a:solidFill>
                  <a:schemeClr val="bg1"/>
                </a:solidFill>
                <a:latin typeface="+mj-ea"/>
                <a:ea typeface="+mj-ea"/>
                <a:cs typeface="思源黑体 CN Normal" panose="020B0400000000000000" pitchFamily="34" charset="-122"/>
              </a:endParaRPr>
            </a:p>
            <a:p>
              <a:r>
                <a:rPr lang="zh-CN" altLang="en-US" dirty="0">
                  <a:solidFill>
                    <a:schemeClr val="bg1"/>
                  </a:solidFill>
                  <a:latin typeface="+mj-ea"/>
                  <a:ea typeface="+mj-ea"/>
                  <a:cs typeface="思源黑体 CN Normal" panose="020B0400000000000000" pitchFamily="34" charset="-122"/>
                </a:rPr>
                <a:t>概述</a:t>
              </a:r>
              <a:endParaRPr lang="zh-CN" altLang="en-US" dirty="0">
                <a:solidFill>
                  <a:schemeClr val="bg1"/>
                </a:solidFill>
                <a:latin typeface="+mj-ea"/>
                <a:ea typeface="+mj-ea"/>
                <a:cs typeface="思源黑体 CN Normal" panose="020B0400000000000000" pitchFamily="34" charset="-122"/>
              </a:endParaRPr>
            </a:p>
          </p:txBody>
        </p:sp>
      </p:grpSp>
      <p:sp>
        <p:nvSpPr>
          <p:cNvPr id="19" name="小红书平北职场PPT1-2"/>
          <p:cNvSpPr txBox="1"/>
          <p:nvPr>
            <p:custDataLst>
              <p:tags r:id="rId2"/>
            </p:custDataLst>
          </p:nvPr>
        </p:nvSpPr>
        <p:spPr>
          <a:xfrm>
            <a:off x="334963" y="184318"/>
            <a:ext cx="4308872"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模型四：三脑理论思维模型</a:t>
            </a:r>
            <a:endParaRPr lang="zh-CN" altLang="en-US" sz="2800" dirty="0">
              <a:latin typeface="+mj-ea"/>
              <a:ea typeface="+mj-ea"/>
              <a:cs typeface="思源黑体 CN Normal" panose="020B0400000000000000" pitchFamily="34" charset="-122"/>
              <a:sym typeface="+mj-ea"/>
            </a:endParaRPr>
          </a:p>
        </p:txBody>
      </p:sp>
    </p:spTree>
    <p:custDataLst>
      <p:tags r:id="rId3"/>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49.xml><?xml version="1.0" encoding="utf-8"?>
<p:tagLst xmlns:p="http://schemas.openxmlformats.org/presentationml/2006/main">
  <p:tag name="SHADOWSIZE" val="93"/>
</p:tagLst>
</file>

<file path=ppt/tags/tag50.xml><?xml version="1.0" encoding="utf-8"?>
<p:tagLst xmlns:p="http://schemas.openxmlformats.org/presentationml/2006/main">
  <p:tag name="SHADOWSIZE" val="93"/>
</p:tagLst>
</file>

<file path=ppt/tags/tag51.xml><?xml version="1.0" encoding="utf-8"?>
<p:tagLst xmlns:p="http://schemas.openxmlformats.org/presentationml/2006/main">
  <p:tag name="SHADOWSIZE" val="93"/>
</p:tagLst>
</file>

<file path=ppt/tags/tag52.xml><?xml version="1.0" encoding="utf-8"?>
<p:tagLst xmlns:p="http://schemas.openxmlformats.org/presentationml/2006/main">
  <p:tag name="SHADOWSIZE" val="93"/>
</p:tagLst>
</file>

<file path=ppt/tags/tag53.xml><?xml version="1.0" encoding="utf-8"?>
<p:tagLst xmlns:p="http://schemas.openxmlformats.org/presentationml/2006/main">
  <p:tag name="SHADOWSIZE" val="93"/>
</p:tagLst>
</file>

<file path=ppt/tags/tag54.xml><?xml version="1.0" encoding="utf-8"?>
<p:tagLst xmlns:p="http://schemas.openxmlformats.org/presentationml/2006/main">
  <p:tag name="SHADOWSIZE" val="93"/>
</p:tagLst>
</file>

<file path=ppt/tags/tag55.xml><?xml version="1.0" encoding="utf-8"?>
<p:tagLst xmlns:p="http://schemas.openxmlformats.org/presentationml/2006/main">
  <p:tag name="KSO_WM_SLIDE_NOBEATY" val="1"/>
</p:tagLst>
</file>

<file path=ppt/tags/tag56.xml><?xml version="1.0" encoding="utf-8"?>
<p:tagLst xmlns:p="http://schemas.openxmlformats.org/presentationml/2006/main">
  <p:tag name="SHADOWSIZE" val="93"/>
</p:tagLst>
</file>

<file path=ppt/tags/tag57.xml><?xml version="1.0" encoding="utf-8"?>
<p:tagLst xmlns:p="http://schemas.openxmlformats.org/presentationml/2006/main">
  <p:tag name="SHADOWSIZE" val="93"/>
</p:tagLst>
</file>

<file path=ppt/tags/tag58.xml><?xml version="1.0" encoding="utf-8"?>
<p:tagLst xmlns:p="http://schemas.openxmlformats.org/presentationml/2006/main">
  <p:tag name="SHADOWSIZE" val="93"/>
</p:tagLst>
</file>

<file path=ppt/tags/tag59.xml><?xml version="1.0" encoding="utf-8"?>
<p:tagLst xmlns:p="http://schemas.openxmlformats.org/presentationml/2006/main">
  <p:tag name="SHADOWSIZE" val="93"/>
</p:tagLst>
</file>

<file path=ppt/tags/tag60.xml><?xml version="1.0" encoding="utf-8"?>
<p:tagLst xmlns:p="http://schemas.openxmlformats.org/presentationml/2006/main">
  <p:tag name="SHADOWSIZE" val="93"/>
</p:tagLst>
</file>

<file path=ppt/tags/tag61.xml><?xml version="1.0" encoding="utf-8"?>
<p:tagLst xmlns:p="http://schemas.openxmlformats.org/presentationml/2006/main">
  <p:tag name="SHADOWSIZE" val="93"/>
</p:tagLst>
</file>

<file path=ppt/tags/tag62.xml><?xml version="1.0" encoding="utf-8"?>
<p:tagLst xmlns:p="http://schemas.openxmlformats.org/presentationml/2006/main">
  <p:tag name="SHADOWSIZE" val="93"/>
</p:tagLst>
</file>

<file path=ppt/tags/tag63.xml><?xml version="1.0" encoding="utf-8"?>
<p:tagLst xmlns:p="http://schemas.openxmlformats.org/presentationml/2006/main">
  <p:tag name="SHADOWSIZE" val="93"/>
</p:tagLst>
</file>

<file path=ppt/tags/tag64.xml><?xml version="1.0" encoding="utf-8"?>
<p:tagLst xmlns:p="http://schemas.openxmlformats.org/presentationml/2006/main">
  <p:tag name="KSO_WM_SLIDE_NOBEATY" val="1"/>
</p:tagLst>
</file>

<file path=ppt/tags/tag65.xml><?xml version="1.0" encoding="utf-8"?>
<p:tagLst xmlns:p="http://schemas.openxmlformats.org/presentationml/2006/main">
  <p:tag name="KSO_WM_SLIDE_NOBEATY" val="1"/>
</p:tagLst>
</file>

<file path=ppt/tags/tag66.xml><?xml version="1.0" encoding="utf-8"?>
<p:tagLst xmlns:p="http://schemas.openxmlformats.org/presentationml/2006/main">
  <p:tag name="KSO_WM_SLIDE_NOBEATY" val="1"/>
</p:tagLst>
</file>

<file path=ppt/tags/tag67.xml><?xml version="1.0" encoding="utf-8"?>
<p:tagLst xmlns:p="http://schemas.openxmlformats.org/presentationml/2006/main">
  <p:tag name="KSO_WM_SLIDE_NOBEATY" val="1"/>
</p:tagLst>
</file>

<file path=ppt/tags/tag68.xml><?xml version="1.0" encoding="utf-8"?>
<p:tagLst xmlns:p="http://schemas.openxmlformats.org/presentationml/2006/main">
  <p:tag name="KSO_WM_SLIDE_NOBEATY" val="1"/>
</p:tagLst>
</file>

<file path=ppt/tags/tag69.xml><?xml version="1.0" encoding="utf-8"?>
<p:tagLst xmlns:p="http://schemas.openxmlformats.org/presentationml/2006/main">
  <p:tag name="KSO_WM_SLIDE_NOBEATY" val="1"/>
</p:tagLst>
</file>

<file path=ppt/tags/tag70.xml><?xml version="1.0" encoding="utf-8"?>
<p:tagLst xmlns:p="http://schemas.openxmlformats.org/presentationml/2006/main">
  <p:tag name="KSO_WM_SLIDE_NOBEATY" val="1"/>
</p:tagLst>
</file>

<file path=ppt/tags/tag71.xml><?xml version="1.0" encoding="utf-8"?>
<p:tagLst xmlns:p="http://schemas.openxmlformats.org/presentationml/2006/main">
  <p:tag name="KSO_WM_SLIDE_NOBEATY" val="1"/>
</p:tagLst>
</file>

<file path=ppt/tags/tag7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6.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7.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8.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9.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0.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1.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6.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7.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8.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9.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0.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1.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6.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7.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8.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9.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0.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1.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6.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7.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8.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9.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0.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1.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6.xml><?xml version="1.0" encoding="utf-8"?>
<p:tagLst xmlns:p="http://schemas.openxmlformats.org/presentationml/2006/main">
  <p:tag name="KSO_WM_SLIDE_NOBEATY" val="1"/>
</p:tagLst>
</file>

<file path=ppt/tags/tag117.xml><?xml version="1.0" encoding="utf-8"?>
<p:tagLst xmlns:p="http://schemas.openxmlformats.org/presentationml/2006/main">
  <p:tag name="KSO_WM_SLIDE_NOBEATY" val="1"/>
</p:tagLst>
</file>

<file path=ppt/tags/tag118.xml><?xml version="1.0" encoding="utf-8"?>
<p:tagLst xmlns:p="http://schemas.openxmlformats.org/presentationml/2006/main">
  <p:tag name="KSO_WM_SLIDE_NOBEATY" val="1"/>
</p:tagLst>
</file>

<file path=ppt/tags/tag119.xml><?xml version="1.0" encoding="utf-8"?>
<p:tagLst xmlns:p="http://schemas.openxmlformats.org/presentationml/2006/main">
  <p:tag name="KSO_WM_SLIDE_NOBEATY" val="1"/>
</p:tagLst>
</file>

<file path=ppt/tags/tag120.xml><?xml version="1.0" encoding="utf-8"?>
<p:tagLst xmlns:p="http://schemas.openxmlformats.org/presentationml/2006/main">
  <p:tag name="KSO_WM_SLIDE_NOBEATY" val="1"/>
</p:tagLst>
</file>

<file path=ppt/tags/tag121.xml><?xml version="1.0" encoding="utf-8"?>
<p:tagLst xmlns:p="http://schemas.openxmlformats.org/presentationml/2006/main">
  <p:tag name="KSO_WM_SLIDE_NOBEATY" val="1"/>
</p:tagLst>
</file>

<file path=ppt/tags/tag122.xml><?xml version="1.0" encoding="utf-8"?>
<p:tagLst xmlns:p="http://schemas.openxmlformats.org/presentationml/2006/main">
  <p:tag name="PA" val="v5.2.5"/>
</p:tagLst>
</file>

<file path=ppt/tags/tag123.xml><?xml version="1.0" encoding="utf-8"?>
<p:tagLst xmlns:p="http://schemas.openxmlformats.org/presentationml/2006/main">
  <p:tag name="PA" val="v5.2.5"/>
</p:tagLst>
</file>

<file path=ppt/tags/tag124.xml><?xml version="1.0" encoding="utf-8"?>
<p:tagLst xmlns:p="http://schemas.openxmlformats.org/presentationml/2006/main">
  <p:tag name="KSO_WM_SLIDE_NOBEATY" val="1"/>
</p:tagLst>
</file>

<file path=ppt/tags/tag125.xml><?xml version="1.0" encoding="utf-8"?>
<p:tagLst xmlns:p="http://schemas.openxmlformats.org/presentationml/2006/main">
  <p:tag name="SHADOWSIZE" val="100"/>
</p:tagLst>
</file>

<file path=ppt/tags/tag126.xml><?xml version="1.0" encoding="utf-8"?>
<p:tagLst xmlns:p="http://schemas.openxmlformats.org/presentationml/2006/main">
  <p:tag name="SHADOWSIZE" val="100"/>
</p:tagLst>
</file>

<file path=ppt/tags/tag127.xml><?xml version="1.0" encoding="utf-8"?>
<p:tagLst xmlns:p="http://schemas.openxmlformats.org/presentationml/2006/main">
  <p:tag name="SHADOWSIZE" val="100"/>
</p:tagLst>
</file>

<file path=ppt/tags/tag128.xml><?xml version="1.0" encoding="utf-8"?>
<p:tagLst xmlns:p="http://schemas.openxmlformats.org/presentationml/2006/main">
  <p:tag name="SHADOWSIZE" val="100"/>
</p:tagLst>
</file>

<file path=ppt/tags/tag129.xml><?xml version="1.0" encoding="utf-8"?>
<p:tagLst xmlns:p="http://schemas.openxmlformats.org/presentationml/2006/main">
  <p:tag name="SHADOWSIZE" val="100"/>
</p:tagLst>
</file>

<file path=ppt/tags/tag130.xml><?xml version="1.0" encoding="utf-8"?>
<p:tagLst xmlns:p="http://schemas.openxmlformats.org/presentationml/2006/main">
  <p:tag name="SHADOWSIZE" val="100"/>
</p:tagLst>
</file>

<file path=ppt/tags/tag131.xml><?xml version="1.0" encoding="utf-8"?>
<p:tagLst xmlns:p="http://schemas.openxmlformats.org/presentationml/2006/main">
  <p:tag name="SHADOWSIZE" val="100"/>
</p:tagLst>
</file>

<file path=ppt/tags/tag132.xml><?xml version="1.0" encoding="utf-8"?>
<p:tagLst xmlns:p="http://schemas.openxmlformats.org/presentationml/2006/main">
  <p:tag name="ADJUSTMENTS" val="13.20402"/>
  <p:tag name="SHADOWSIZE" val="100"/>
</p:tagLst>
</file>

<file path=ppt/tags/tag133.xml><?xml version="1.0" encoding="utf-8"?>
<p:tagLst xmlns:p="http://schemas.openxmlformats.org/presentationml/2006/main">
  <p:tag name="ADJUSTMENTS" val="13.20402"/>
  <p:tag name="SHADOWSIZE" val="100"/>
</p:tagLst>
</file>

<file path=ppt/tags/tag134.xml><?xml version="1.0" encoding="utf-8"?>
<p:tagLst xmlns:p="http://schemas.openxmlformats.org/presentationml/2006/main">
  <p:tag name="SHADOWSIZE" val="100"/>
</p:tagLst>
</file>

<file path=ppt/tags/tag135.xml><?xml version="1.0" encoding="utf-8"?>
<p:tagLst xmlns:p="http://schemas.openxmlformats.org/presentationml/2006/main">
  <p:tag name="ADJUSTMENTS" val="13.20402"/>
  <p:tag name="SHADOWSIZE" val="100"/>
</p:tagLst>
</file>

<file path=ppt/tags/tag136.xml><?xml version="1.0" encoding="utf-8"?>
<p:tagLst xmlns:p="http://schemas.openxmlformats.org/presentationml/2006/main">
  <p:tag name="ADJUSTMENTS" val="13.20402"/>
  <p:tag name="SHADOWSIZE" val="100"/>
</p:tagLst>
</file>

<file path=ppt/tags/tag137.xml><?xml version="1.0" encoding="utf-8"?>
<p:tagLst xmlns:p="http://schemas.openxmlformats.org/presentationml/2006/main">
  <p:tag name="SHADOWSIZE" val="100"/>
</p:tagLst>
</file>

<file path=ppt/tags/tag138.xml><?xml version="1.0" encoding="utf-8"?>
<p:tagLst xmlns:p="http://schemas.openxmlformats.org/presentationml/2006/main">
  <p:tag name="SHADOWSIZE" val="100"/>
</p:tagLst>
</file>

<file path=ppt/tags/tag139.xml><?xml version="1.0" encoding="utf-8"?>
<p:tagLst xmlns:p="http://schemas.openxmlformats.org/presentationml/2006/main">
  <p:tag name="SHADOWSIZE" val="100"/>
</p:tagLst>
</file>

<file path=ppt/tags/tag140.xml><?xml version="1.0" encoding="utf-8"?>
<p:tagLst xmlns:p="http://schemas.openxmlformats.org/presentationml/2006/main">
  <p:tag name="SHADOWSIZE" val="100"/>
</p:tagLst>
</file>

<file path=ppt/tags/tag141.xml><?xml version="1.0" encoding="utf-8"?>
<p:tagLst xmlns:p="http://schemas.openxmlformats.org/presentationml/2006/main">
  <p:tag name="SHADOWSIZE" val="100"/>
</p:tagLst>
</file>

<file path=ppt/tags/tag142.xml><?xml version="1.0" encoding="utf-8"?>
<p:tagLst xmlns:p="http://schemas.openxmlformats.org/presentationml/2006/main">
  <p:tag name="SHADOWSIZE" val="100"/>
</p:tagLst>
</file>

<file path=ppt/tags/tag143.xml><?xml version="1.0" encoding="utf-8"?>
<p:tagLst xmlns:p="http://schemas.openxmlformats.org/presentationml/2006/main">
  <p:tag name="SHADOWSIZE" val="100"/>
</p:tagLst>
</file>

<file path=ppt/tags/tag144.xml><?xml version="1.0" encoding="utf-8"?>
<p:tagLst xmlns:p="http://schemas.openxmlformats.org/presentationml/2006/main">
  <p:tag name="SHADOWSIZE" val="100"/>
</p:tagLst>
</file>

<file path=ppt/tags/tag145.xml><?xml version="1.0" encoding="utf-8"?>
<p:tagLst xmlns:p="http://schemas.openxmlformats.org/presentationml/2006/main">
  <p:tag name="ADJUSTMENTS" val="13.20402"/>
  <p:tag name="SHADOWSIZE" val="100"/>
</p:tagLst>
</file>

<file path=ppt/tags/tag146.xml><?xml version="1.0" encoding="utf-8"?>
<p:tagLst xmlns:p="http://schemas.openxmlformats.org/presentationml/2006/main">
  <p:tag name="ADJUSTMENTS" val="13.20402"/>
  <p:tag name="SHADOWSIZE" val="100"/>
</p:tagLst>
</file>

<file path=ppt/tags/tag147.xml><?xml version="1.0" encoding="utf-8"?>
<p:tagLst xmlns:p="http://schemas.openxmlformats.org/presentationml/2006/main">
  <p:tag name="SHADOWSIZE" val="100"/>
</p:tagLst>
</file>

<file path=ppt/tags/tag148.xml><?xml version="1.0" encoding="utf-8"?>
<p:tagLst xmlns:p="http://schemas.openxmlformats.org/presentationml/2006/main">
  <p:tag name="SHADOWSIZE" val="100"/>
</p:tagLst>
</file>

<file path=ppt/tags/tag149.xml><?xml version="1.0" encoding="utf-8"?>
<p:tagLst xmlns:p="http://schemas.openxmlformats.org/presentationml/2006/main">
  <p:tag name="SHADOWSIZE" val="100"/>
</p:tagLst>
</file>

<file path=ppt/tags/tag150.xml><?xml version="1.0" encoding="utf-8"?>
<p:tagLst xmlns:p="http://schemas.openxmlformats.org/presentationml/2006/main">
  <p:tag name="SHADOWSIZE" val="100"/>
</p:tagLst>
</file>

<file path=ppt/tags/tag151.xml><?xml version="1.0" encoding="utf-8"?>
<p:tagLst xmlns:p="http://schemas.openxmlformats.org/presentationml/2006/main">
  <p:tag name="SHADOWSIZE" val="100"/>
</p:tagLst>
</file>

<file path=ppt/tags/tag152.xml><?xml version="1.0" encoding="utf-8"?>
<p:tagLst xmlns:p="http://schemas.openxmlformats.org/presentationml/2006/main">
  <p:tag name="SHADOWSIZE" val="100"/>
</p:tagLst>
</file>

<file path=ppt/tags/tag153.xml><?xml version="1.0" encoding="utf-8"?>
<p:tagLst xmlns:p="http://schemas.openxmlformats.org/presentationml/2006/main">
  <p:tag name="SHADOWSIZE" val="100"/>
</p:tagLst>
</file>

<file path=ppt/tags/tag154.xml><?xml version="1.0" encoding="utf-8"?>
<p:tagLst xmlns:p="http://schemas.openxmlformats.org/presentationml/2006/main">
  <p:tag name="SHADOWSIZE" val="100"/>
</p:tagLst>
</file>

<file path=ppt/tags/tag155.xml><?xml version="1.0" encoding="utf-8"?>
<p:tagLst xmlns:p="http://schemas.openxmlformats.org/presentationml/2006/main">
  <p:tag name="SHADOWSIZE" val="100"/>
</p:tagLst>
</file>

<file path=ppt/tags/tag156.xml><?xml version="1.0" encoding="utf-8"?>
<p:tagLst xmlns:p="http://schemas.openxmlformats.org/presentationml/2006/main">
  <p:tag name="KSO_WM_SLIDE_NOBEATY" val="1"/>
</p:tagLst>
</file>

<file path=ppt/tags/tag157.xml><?xml version="1.0" encoding="utf-8"?>
<p:tagLst xmlns:p="http://schemas.openxmlformats.org/presentationml/2006/main">
  <p:tag name="KSO_WM_SLIDE_NOBEATY" val="1"/>
</p:tagLst>
</file>

<file path=ppt/tags/tag158.xml><?xml version="1.0" encoding="utf-8"?>
<p:tagLst xmlns:p="http://schemas.openxmlformats.org/presentationml/2006/main">
  <p:tag name="KSO_WM_SLIDE_NOBEATY" val="1"/>
</p:tagLst>
</file>

<file path=ppt/tags/tag159.xml><?xml version="1.0" encoding="utf-8"?>
<p:tagLst xmlns:p="http://schemas.openxmlformats.org/presentationml/2006/main">
  <p:tag name="BEFORENAME" val="Straight Connector 29"/>
</p:tagLst>
</file>

<file path=ppt/tags/tag160.xml><?xml version="1.0" encoding="utf-8"?>
<p:tagLst xmlns:p="http://schemas.openxmlformats.org/presentationml/2006/main">
  <p:tag name="BEFORENAME" val="TextBox 1"/>
</p:tagLst>
</file>

<file path=ppt/tags/tag161.xml><?xml version="1.0" encoding="utf-8"?>
<p:tagLst xmlns:p="http://schemas.openxmlformats.org/presentationml/2006/main">
  <p:tag name="KSO_WM_SLIDE_NOBEATY" val="1"/>
</p:tagLst>
</file>

<file path=ppt/tags/tag162.xml><?xml version="1.0" encoding="utf-8"?>
<p:tagLst xmlns:p="http://schemas.openxmlformats.org/presentationml/2006/main">
  <p:tag name="BEFORENAME" val="Straight Connector 29"/>
</p:tagLst>
</file>

<file path=ppt/tags/tag163.xml><?xml version="1.0" encoding="utf-8"?>
<p:tagLst xmlns:p="http://schemas.openxmlformats.org/presentationml/2006/main">
  <p:tag name="BEFORENAME" val="TextBox 1"/>
</p:tagLst>
</file>

<file path=ppt/tags/tag164.xml><?xml version="1.0" encoding="utf-8"?>
<p:tagLst xmlns:p="http://schemas.openxmlformats.org/presentationml/2006/main">
  <p:tag name="KSO_WM_SLIDE_NOBEATY" val="1"/>
</p:tagLst>
</file>

<file path=ppt/tags/tag165.xml><?xml version="1.0" encoding="utf-8"?>
<p:tagLst xmlns:p="http://schemas.openxmlformats.org/presentationml/2006/main">
  <p:tag name="BEFORENAME" val="Straight Connector 29"/>
</p:tagLst>
</file>

<file path=ppt/tags/tag166.xml><?xml version="1.0" encoding="utf-8"?>
<p:tagLst xmlns:p="http://schemas.openxmlformats.org/presentationml/2006/main">
  <p:tag name="BEFORENAME" val="TextBox 1"/>
</p:tagLst>
</file>

<file path=ppt/tags/tag167.xml><?xml version="1.0" encoding="utf-8"?>
<p:tagLst xmlns:p="http://schemas.openxmlformats.org/presentationml/2006/main">
  <p:tag name="KSO_WM_SLIDE_NOBEATY" val="1"/>
</p:tagLst>
</file>

<file path=ppt/tags/tag168.xml><?xml version="1.0" encoding="utf-8"?>
<p:tagLst xmlns:p="http://schemas.openxmlformats.org/presentationml/2006/main">
  <p:tag name="BEFORENAME" val="Straight Connector 29"/>
</p:tagLst>
</file>

<file path=ppt/tags/tag169.xml><?xml version="1.0" encoding="utf-8"?>
<p:tagLst xmlns:p="http://schemas.openxmlformats.org/presentationml/2006/main">
  <p:tag name="BEFORENAME" val="TextBox 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BEFORENAME" val="Straight Connector 29"/>
</p:tagLst>
</file>

<file path=ppt/tags/tag172.xml><?xml version="1.0" encoding="utf-8"?>
<p:tagLst xmlns:p="http://schemas.openxmlformats.org/presentationml/2006/main">
  <p:tag name="BEFORENAME" val="TextBox 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BEFORENAME" val="Straight Connector 29"/>
</p:tagLst>
</file>

<file path=ppt/tags/tag175.xml><?xml version="1.0" encoding="utf-8"?>
<p:tagLst xmlns:p="http://schemas.openxmlformats.org/presentationml/2006/main">
  <p:tag name="BEFORENAME" val="TextBox 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BEFORENAME" val="Straight Connector 29"/>
</p:tagLst>
</file>

<file path=ppt/tags/tag178.xml><?xml version="1.0" encoding="utf-8"?>
<p:tagLst xmlns:p="http://schemas.openxmlformats.org/presentationml/2006/main">
  <p:tag name="BEFORENAME" val="TextBox 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BEFORENAME" val="Straight Connector 29"/>
</p:tagLst>
</file>

<file path=ppt/tags/tag181.xml><?xml version="1.0" encoding="utf-8"?>
<p:tagLst xmlns:p="http://schemas.openxmlformats.org/presentationml/2006/main">
  <p:tag name="BEFORENAME" val="TextBox 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BEFORENAME" val="Straight Connector 29"/>
</p:tagLst>
</file>

<file path=ppt/tags/tag184.xml><?xml version="1.0" encoding="utf-8"?>
<p:tagLst xmlns:p="http://schemas.openxmlformats.org/presentationml/2006/main">
  <p:tag name="BEFORENAME" val="TextBox 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BEFORENAME" val="Straight Connector 29"/>
</p:tagLst>
</file>

<file path=ppt/tags/tag187.xml><?xml version="1.0" encoding="utf-8"?>
<p:tagLst xmlns:p="http://schemas.openxmlformats.org/presentationml/2006/main">
  <p:tag name="BEFORENAME" val="TextBox 1"/>
</p:tagLst>
</file>

<file path=ppt/tags/tag188.xml><?xml version="1.0" encoding="utf-8"?>
<p:tagLst xmlns:p="http://schemas.openxmlformats.org/presentationml/2006/main">
  <p:tag name="KSO_WM_SLIDE_NOBEATY" val="1"/>
</p:tagLst>
</file>

<file path=ppt/tags/tag189.xml><?xml version="1.0" encoding="utf-8"?>
<p:tagLst xmlns:p="http://schemas.openxmlformats.org/presentationml/2006/main">
  <p:tag name="BEFORENAME" val="Straight Connector 29"/>
</p:tagLst>
</file>

<file path=ppt/tags/tag190.xml><?xml version="1.0" encoding="utf-8"?>
<p:tagLst xmlns:p="http://schemas.openxmlformats.org/presentationml/2006/main">
  <p:tag name="BEFORENAME" val="TextBox 1"/>
</p:tagLst>
</file>

<file path=ppt/tags/tag191.xml><?xml version="1.0" encoding="utf-8"?>
<p:tagLst xmlns:p="http://schemas.openxmlformats.org/presentationml/2006/main">
  <p:tag name="ESVMK000002" val="000002; 2025/6/16 15:21:00 ; ©鳍迹会讲-www.pptx.cn"/>
</p:tagLst>
</file>

<file path=ppt/tags/tag192.xml><?xml version="1.0" encoding="utf-8"?>
<p:tagLst xmlns:p="http://schemas.openxmlformats.org/presentationml/2006/main">
  <p:tag name="ESVMK000002" val="000002; 2025/6/16 15:21:00 ; ©鳍迹会讲-www.pptx.cn"/>
</p:tagLst>
</file>

<file path=ppt/tags/tag193.xml><?xml version="1.0" encoding="utf-8"?>
<p:tagLst xmlns:p="http://schemas.openxmlformats.org/presentationml/2006/main">
  <p:tag name="ESVMK000002" val="000002; 2025/6/16 15:21:00 ; ©鳍迹会讲-www.pptx.cn"/>
</p:tagLst>
</file>

<file path=ppt/tags/tag194.xml><?xml version="1.0" encoding="utf-8"?>
<p:tagLst xmlns:p="http://schemas.openxmlformats.org/presentationml/2006/main">
  <p:tag name="KSO_WM_SLIDE_NOBEATY" val="1"/>
</p:tagLst>
</file>

<file path=ppt/tags/tag195.xml><?xml version="1.0" encoding="utf-8"?>
<p:tagLst xmlns:p="http://schemas.openxmlformats.org/presentationml/2006/main">
  <p:tag name="BEFORENAME" val="Straight Connector 29"/>
</p:tagLst>
</file>

<file path=ppt/tags/tag196.xml><?xml version="1.0" encoding="utf-8"?>
<p:tagLst xmlns:p="http://schemas.openxmlformats.org/presentationml/2006/main">
  <p:tag name="BEFORENAME" val="TextBox 1"/>
</p:tagLst>
</file>

<file path=ppt/tags/tag197.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198.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199.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0.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1.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2.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3.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4.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5.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6.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7.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8.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9.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0.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1.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2.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3.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4.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5.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6.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7.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8.xml><?xml version="1.0" encoding="utf-8"?>
<p:tagLst xmlns:p="http://schemas.openxmlformats.org/presentationml/2006/main">
  <p:tag name="KSO_WM_SLIDE_NOBEATY" val="1"/>
</p:tagLst>
</file>

<file path=ppt/tags/tag219.xml><?xml version="1.0" encoding="utf-8"?>
<p:tagLst xmlns:p="http://schemas.openxmlformats.org/presentationml/2006/main">
  <p:tag name="BEFORENAME" val="Straight Connector 29"/>
</p:tagLst>
</file>

<file path=ppt/tags/tag220.xml><?xml version="1.0" encoding="utf-8"?>
<p:tagLst xmlns:p="http://schemas.openxmlformats.org/presentationml/2006/main">
  <p:tag name="BEFORENAME" val="TextBox 1"/>
</p:tagLst>
</file>

<file path=ppt/tags/tag221.xml><?xml version="1.0" encoding="utf-8"?>
<p:tagLst xmlns:p="http://schemas.openxmlformats.org/presentationml/2006/main">
  <p:tag name="PA" val="v5.2.11"/>
</p:tagLst>
</file>

<file path=ppt/tags/tag222.xml><?xml version="1.0" encoding="utf-8"?>
<p:tagLst xmlns:p="http://schemas.openxmlformats.org/presentationml/2006/main">
  <p:tag name="PA" val="v5.2.11"/>
</p:tagLst>
</file>

<file path=ppt/tags/tag223.xml><?xml version="1.0" encoding="utf-8"?>
<p:tagLst xmlns:p="http://schemas.openxmlformats.org/presentationml/2006/main">
  <p:tag name="PA" val="v5.2.11"/>
</p:tagLst>
</file>

<file path=ppt/tags/tag224.xml><?xml version="1.0" encoding="utf-8"?>
<p:tagLst xmlns:p="http://schemas.openxmlformats.org/presentationml/2006/main">
  <p:tag name="PA" val="v5.2.11"/>
</p:tagLst>
</file>

<file path=ppt/tags/tag225.xml><?xml version="1.0" encoding="utf-8"?>
<p:tagLst xmlns:p="http://schemas.openxmlformats.org/presentationml/2006/main">
  <p:tag name="PA" val="v5.2.11"/>
</p:tagLst>
</file>

<file path=ppt/tags/tag226.xml><?xml version="1.0" encoding="utf-8"?>
<p:tagLst xmlns:p="http://schemas.openxmlformats.org/presentationml/2006/main">
  <p:tag name="PA" val="v5.2.11"/>
</p:tagLst>
</file>

<file path=ppt/tags/tag227.xml><?xml version="1.0" encoding="utf-8"?>
<p:tagLst xmlns:p="http://schemas.openxmlformats.org/presentationml/2006/main">
  <p:tag name="PA" val="v5.2.11"/>
</p:tagLst>
</file>

<file path=ppt/tags/tag228.xml><?xml version="1.0" encoding="utf-8"?>
<p:tagLst xmlns:p="http://schemas.openxmlformats.org/presentationml/2006/main">
  <p:tag name="PA" val="v5.2.11"/>
</p:tagLst>
</file>

<file path=ppt/tags/tag229.xml><?xml version="1.0" encoding="utf-8"?>
<p:tagLst xmlns:p="http://schemas.openxmlformats.org/presentationml/2006/main">
  <p:tag name="PA" val="v5.2.11"/>
</p:tagLst>
</file>

<file path=ppt/tags/tag230.xml><?xml version="1.0" encoding="utf-8"?>
<p:tagLst xmlns:p="http://schemas.openxmlformats.org/presentationml/2006/main">
  <p:tag name="PA" val="v5.2.11"/>
</p:tagLst>
</file>

<file path=ppt/tags/tag231.xml><?xml version="1.0" encoding="utf-8"?>
<p:tagLst xmlns:p="http://schemas.openxmlformats.org/presentationml/2006/main">
  <p:tag name="PA" val="v5.2.11"/>
</p:tagLst>
</file>

<file path=ppt/tags/tag232.xml><?xml version="1.0" encoding="utf-8"?>
<p:tagLst xmlns:p="http://schemas.openxmlformats.org/presentationml/2006/main">
  <p:tag name="PA" val="v5.2.11"/>
</p:tagLst>
</file>

<file path=ppt/tags/tag233.xml><?xml version="1.0" encoding="utf-8"?>
<p:tagLst xmlns:p="http://schemas.openxmlformats.org/presentationml/2006/main">
  <p:tag name="KSO_WM_SLIDE_NOBEATY" val="1"/>
</p:tagLst>
</file>

<file path=ppt/tags/tag234.xml><?xml version="1.0" encoding="utf-8"?>
<p:tagLst xmlns:p="http://schemas.openxmlformats.org/presentationml/2006/main">
  <p:tag name="BEFORENAME" val="Straight Connector 29"/>
</p:tagLst>
</file>

<file path=ppt/tags/tag235.xml><?xml version="1.0" encoding="utf-8"?>
<p:tagLst xmlns:p="http://schemas.openxmlformats.org/presentationml/2006/main">
  <p:tag name="BEFORENAME" val="TextBox 1"/>
</p:tagLst>
</file>

<file path=ppt/tags/tag236.xml><?xml version="1.0" encoding="utf-8"?>
<p:tagLst xmlns:p="http://schemas.openxmlformats.org/presentationml/2006/main">
  <p:tag name="KSO_WM_SLIDE_NOBEATY" val="1"/>
</p:tagLst>
</file>

<file path=ppt/tags/tag237.xml><?xml version="1.0" encoding="utf-8"?>
<p:tagLst xmlns:p="http://schemas.openxmlformats.org/presentationml/2006/main">
  <p:tag name="BEFORENAME" val="Straight Connector 29"/>
</p:tagLst>
</file>

<file path=ppt/tags/tag238.xml><?xml version="1.0" encoding="utf-8"?>
<p:tagLst xmlns:p="http://schemas.openxmlformats.org/presentationml/2006/main">
  <p:tag name="BEFORENAME" val="TextBox 1"/>
</p:tagLst>
</file>

<file path=ppt/tags/tag239.xml><?xml version="1.0" encoding="utf-8"?>
<p:tagLst xmlns:p="http://schemas.openxmlformats.org/presentationml/2006/main">
  <p:tag name="KSO_WM_SLIDE_NOBEATY" val="1"/>
</p:tagLst>
</file>

<file path=ppt/tags/tag240.xml><?xml version="1.0" encoding="utf-8"?>
<p:tagLst xmlns:p="http://schemas.openxmlformats.org/presentationml/2006/main">
  <p:tag name="BEFORENAME" val="Straight Connector 29"/>
</p:tagLst>
</file>

<file path=ppt/tags/tag241.xml><?xml version="1.0" encoding="utf-8"?>
<p:tagLst xmlns:p="http://schemas.openxmlformats.org/presentationml/2006/main">
  <p:tag name="BEFORENAME" val="TextBox 1"/>
</p:tagLst>
</file>

<file path=ppt/tags/tag242.xml><?xml version="1.0" encoding="utf-8"?>
<p:tagLst xmlns:p="http://schemas.openxmlformats.org/presentationml/2006/main">
  <p:tag name="KSO_WM_SLIDE_NOBEATY" val="1"/>
</p:tagLst>
</file>

<file path=ppt/tags/tag243.xml><?xml version="1.0" encoding="utf-8"?>
<p:tagLst xmlns:p="http://schemas.openxmlformats.org/presentationml/2006/main">
  <p:tag name="BEFORENAME" val="Straight Connector 29"/>
</p:tagLst>
</file>

<file path=ppt/tags/tag244.xml><?xml version="1.0" encoding="utf-8"?>
<p:tagLst xmlns:p="http://schemas.openxmlformats.org/presentationml/2006/main">
  <p:tag name="BEFORENAME" val="TextBox 1"/>
</p:tagLst>
</file>

<file path=ppt/tags/tag245.xml><?xml version="1.0" encoding="utf-8"?>
<p:tagLst xmlns:p="http://schemas.openxmlformats.org/presentationml/2006/main">
  <p:tag name="KSO_WM_SLIDE_NOBEATY" val="1"/>
</p:tagLst>
</file>

<file path=ppt/tags/tag246.xml><?xml version="1.0" encoding="utf-8"?>
<p:tagLst xmlns:p="http://schemas.openxmlformats.org/presentationml/2006/main">
  <p:tag name="BEFORENAME" val="Straight Connector 29"/>
</p:tagLst>
</file>

<file path=ppt/tags/tag247.xml><?xml version="1.0" encoding="utf-8"?>
<p:tagLst xmlns:p="http://schemas.openxmlformats.org/presentationml/2006/main">
  <p:tag name="BEFORENAME" val="TextBox 1"/>
</p:tagLst>
</file>

<file path=ppt/tags/tag248.xml><?xml version="1.0" encoding="utf-8"?>
<p:tagLst xmlns:p="http://schemas.openxmlformats.org/presentationml/2006/main">
  <p:tag name="KSO_WM_SLIDE_NOBEATY" val="1"/>
</p:tagLst>
</file>

<file path=ppt/tags/tag249.xml><?xml version="1.0" encoding="utf-8"?>
<p:tagLst xmlns:p="http://schemas.openxmlformats.org/presentationml/2006/main">
  <p:tag name="BEFORENAME" val="Straight Connector 29"/>
</p:tagLst>
</file>

<file path=ppt/tags/tag250.xml><?xml version="1.0" encoding="utf-8"?>
<p:tagLst xmlns:p="http://schemas.openxmlformats.org/presentationml/2006/main">
  <p:tag name="BEFORENAME" val="TextBox 1"/>
</p:tagLst>
</file>

<file path=ppt/tags/tag251.xml><?xml version="1.0" encoding="utf-8"?>
<p:tagLst xmlns:p="http://schemas.openxmlformats.org/presentationml/2006/main">
  <p:tag name="SHADOWSIZE" val="99"/>
  <p:tag name="TEXTSHADOWSIZE" val="100"/>
</p:tagLst>
</file>

<file path=ppt/tags/tag252.xml><?xml version="1.0" encoding="utf-8"?>
<p:tagLst xmlns:p="http://schemas.openxmlformats.org/presentationml/2006/main">
  <p:tag name="SHADOWSIZE" val="99"/>
  <p:tag name="TEXTSHADOWSIZE" val="100"/>
</p:tagLst>
</file>

<file path=ppt/tags/tag253.xml><?xml version="1.0" encoding="utf-8"?>
<p:tagLst xmlns:p="http://schemas.openxmlformats.org/presentationml/2006/main">
  <p:tag name="SHADOWSIZE" val="99"/>
  <p:tag name="TEXTSHADOWSIZE" val="100"/>
</p:tagLst>
</file>

<file path=ppt/tags/tag254.xml><?xml version="1.0" encoding="utf-8"?>
<p:tagLst xmlns:p="http://schemas.openxmlformats.org/presentationml/2006/main">
  <p:tag name="SHADOWSIZE" val="99"/>
  <p:tag name="TEXTSHADOWSIZE" val="100"/>
</p:tagLst>
</file>

<file path=ppt/tags/tag255.xml><?xml version="1.0" encoding="utf-8"?>
<p:tagLst xmlns:p="http://schemas.openxmlformats.org/presentationml/2006/main">
  <p:tag name="SHADOWSIZE" val="108"/>
  <p:tag name="TEXTSHADOWSIZE" val="100"/>
</p:tagLst>
</file>

<file path=ppt/tags/tag256.xml><?xml version="1.0" encoding="utf-8"?>
<p:tagLst xmlns:p="http://schemas.openxmlformats.org/presentationml/2006/main">
  <p:tag name="SHADOWSIZE" val="99"/>
  <p:tag name="TEXTSHADOWSIZE" val="100"/>
</p:tagLst>
</file>

<file path=ppt/tags/tag257.xml><?xml version="1.0" encoding="utf-8"?>
<p:tagLst xmlns:p="http://schemas.openxmlformats.org/presentationml/2006/main">
  <p:tag name="SHADOWSIZE" val="99"/>
  <p:tag name="TEXTSHADOWSIZE" val="100"/>
</p:tagLst>
</file>

<file path=ppt/tags/tag258.xml><?xml version="1.0" encoding="utf-8"?>
<p:tagLst xmlns:p="http://schemas.openxmlformats.org/presentationml/2006/main">
  <p:tag name="SHADOWSIZE" val="99"/>
  <p:tag name="TEXTSHADOWSIZE" val="100"/>
</p:tagLst>
</file>

<file path=ppt/tags/tag259.xml><?xml version="1.0" encoding="utf-8"?>
<p:tagLst xmlns:p="http://schemas.openxmlformats.org/presentationml/2006/main">
  <p:tag name="SHADOWSIZE" val="99"/>
  <p:tag name="TEXTSHADOWSIZE" val="100"/>
</p:tagLst>
</file>

<file path=ppt/tags/tag260.xml><?xml version="1.0" encoding="utf-8"?>
<p:tagLst xmlns:p="http://schemas.openxmlformats.org/presentationml/2006/main">
  <p:tag name="SHADOWSIZE" val="108"/>
  <p:tag name="TEXTSHADOWSIZE" val="100"/>
</p:tagLst>
</file>

<file path=ppt/tags/tag261.xml><?xml version="1.0" encoding="utf-8"?>
<p:tagLst xmlns:p="http://schemas.openxmlformats.org/presentationml/2006/main">
  <p:tag name="SHADOWSIZE" val="99"/>
  <p:tag name="TEXTSHADOWSIZE" val="100"/>
</p:tagLst>
</file>

<file path=ppt/tags/tag262.xml><?xml version="1.0" encoding="utf-8"?>
<p:tagLst xmlns:p="http://schemas.openxmlformats.org/presentationml/2006/main">
  <p:tag name="KSO_WM_SLIDE_NOBEATY" val="1"/>
</p:tagLst>
</file>

<file path=ppt/tags/tag263.xml><?xml version="1.0" encoding="utf-8"?>
<p:tagLst xmlns:p="http://schemas.openxmlformats.org/presentationml/2006/main">
  <p:tag name="BEFORENAME" val="Straight Connector 29"/>
</p:tagLst>
</file>

<file path=ppt/tags/tag264.xml><?xml version="1.0" encoding="utf-8"?>
<p:tagLst xmlns:p="http://schemas.openxmlformats.org/presentationml/2006/main">
  <p:tag name="BEFORENAME" val="TextBox 1"/>
</p:tagLst>
</file>

<file path=ppt/tags/tag265.xml><?xml version="1.0" encoding="utf-8"?>
<p:tagLst xmlns:p="http://schemas.openxmlformats.org/presentationml/2006/main">
  <p:tag name="KSO_WM_SLIDE_NOBEATY" val="1"/>
</p:tagLst>
</file>

<file path=ppt/tags/tag266.xml><?xml version="1.0" encoding="utf-8"?>
<p:tagLst xmlns:p="http://schemas.openxmlformats.org/presentationml/2006/main">
  <p:tag name="BEFORENAME" val="Straight Connector 29"/>
</p:tagLst>
</file>

<file path=ppt/tags/tag267.xml><?xml version="1.0" encoding="utf-8"?>
<p:tagLst xmlns:p="http://schemas.openxmlformats.org/presentationml/2006/main">
  <p:tag name="BEFORENAME" val="TextBox 1"/>
</p:tagLst>
</file>

<file path=ppt/tags/tag268.xml><?xml version="1.0" encoding="utf-8"?>
<p:tagLst xmlns:p="http://schemas.openxmlformats.org/presentationml/2006/main">
  <p:tag name="BEFORENAME" val="TextBox 1"/>
</p:tagLst>
</file>

<file path=ppt/tags/tag269.xml><?xml version="1.0" encoding="utf-8"?>
<p:tagLst xmlns:p="http://schemas.openxmlformats.org/presentationml/2006/main">
  <p:tag name="BEFORENAME" val="TextBox 1"/>
</p:tagLst>
</file>

<file path=ppt/tags/tag270.xml><?xml version="1.0" encoding="utf-8"?>
<p:tagLst xmlns:p="http://schemas.openxmlformats.org/presentationml/2006/main">
  <p:tag name="BEFORENAME" val="TextBox 1"/>
</p:tagLst>
</file>

<file path=ppt/tags/tag271.xml><?xml version="1.0" encoding="utf-8"?>
<p:tagLst xmlns:p="http://schemas.openxmlformats.org/presentationml/2006/main">
  <p:tag name="BEFORENAME" val="TextBox 1"/>
</p:tagLst>
</file>

<file path=ppt/tags/tag272.xml><?xml version="1.0" encoding="utf-8"?>
<p:tagLst xmlns:p="http://schemas.openxmlformats.org/presentationml/2006/main">
  <p:tag name="BEFORENAME" val="TextBox 1"/>
</p:tagLst>
</file>

<file path=ppt/tags/tag273.xml><?xml version="1.0" encoding="utf-8"?>
<p:tagLst xmlns:p="http://schemas.openxmlformats.org/presentationml/2006/main">
  <p:tag name="KSO_WM_SLIDE_NOBEATY" val="1"/>
</p:tagLst>
</file>

<file path=ppt/tags/tag274.xml><?xml version="1.0" encoding="utf-8"?>
<p:tagLst xmlns:p="http://schemas.openxmlformats.org/presentationml/2006/main">
  <p:tag name="BEFORENAME" val="Straight Connector 29"/>
</p:tagLst>
</file>

<file path=ppt/tags/tag275.xml><?xml version="1.0" encoding="utf-8"?>
<p:tagLst xmlns:p="http://schemas.openxmlformats.org/presentationml/2006/main">
  <p:tag name="BEFORENAME" val="TextBox 1"/>
</p:tagLst>
</file>

<file path=ppt/tags/tag276.xml><?xml version="1.0" encoding="utf-8"?>
<p:tagLst xmlns:p="http://schemas.openxmlformats.org/presentationml/2006/main">
  <p:tag name="PA" val="v5.2.11"/>
</p:tagLst>
</file>

<file path=ppt/tags/tag277.xml><?xml version="1.0" encoding="utf-8"?>
<p:tagLst xmlns:p="http://schemas.openxmlformats.org/presentationml/2006/main">
  <p:tag name="PA" val="v5.2.11"/>
</p:tagLst>
</file>

<file path=ppt/tags/tag278.xml><?xml version="1.0" encoding="utf-8"?>
<p:tagLst xmlns:p="http://schemas.openxmlformats.org/presentationml/2006/main">
  <p:tag name="PA" val="v5.2.11"/>
</p:tagLst>
</file>

<file path=ppt/tags/tag279.xml><?xml version="1.0" encoding="utf-8"?>
<p:tagLst xmlns:p="http://schemas.openxmlformats.org/presentationml/2006/main">
  <p:tag name="PA" val="v5.2.11"/>
</p:tagLst>
</file>

<file path=ppt/tags/tag280.xml><?xml version="1.0" encoding="utf-8"?>
<p:tagLst xmlns:p="http://schemas.openxmlformats.org/presentationml/2006/main">
  <p:tag name="PA" val="v5.2.11"/>
</p:tagLst>
</file>

<file path=ppt/tags/tag281.xml><?xml version="1.0" encoding="utf-8"?>
<p:tagLst xmlns:p="http://schemas.openxmlformats.org/presentationml/2006/main">
  <p:tag name="PA" val="v5.2.11"/>
</p:tagLst>
</file>

<file path=ppt/tags/tag282.xml><?xml version="1.0" encoding="utf-8"?>
<p:tagLst xmlns:p="http://schemas.openxmlformats.org/presentationml/2006/main">
  <p:tag name="KSO_WM_SLIDE_NOBEATY" val="1"/>
</p:tagLst>
</file>

<file path=ppt/tags/tag283.xml><?xml version="1.0" encoding="utf-8"?>
<p:tagLst xmlns:p="http://schemas.openxmlformats.org/presentationml/2006/main">
  <p:tag name="PA" val="v5.2.11"/>
</p:tagLst>
</file>

<file path=ppt/tags/tag284.xml><?xml version="1.0" encoding="utf-8"?>
<p:tagLst xmlns:p="http://schemas.openxmlformats.org/presentationml/2006/main">
  <p:tag name="PA" val="v5.2.11"/>
</p:tagLst>
</file>

<file path=ppt/tags/tag285.xml><?xml version="1.0" encoding="utf-8"?>
<p:tagLst xmlns:p="http://schemas.openxmlformats.org/presentationml/2006/main">
  <p:tag name="PA" val="v5.2.11"/>
</p:tagLst>
</file>

<file path=ppt/tags/tag286.xml><?xml version="1.0" encoding="utf-8"?>
<p:tagLst xmlns:p="http://schemas.openxmlformats.org/presentationml/2006/main">
  <p:tag name="PA" val="v5.2.11"/>
</p:tagLst>
</file>

<file path=ppt/tags/tag287.xml><?xml version="1.0" encoding="utf-8"?>
<p:tagLst xmlns:p="http://schemas.openxmlformats.org/presentationml/2006/main">
  <p:tag name="BEFORENAME" val="Straight Connector 29"/>
</p:tagLst>
</file>

<file path=ppt/tags/tag288.xml><?xml version="1.0" encoding="utf-8"?>
<p:tagLst xmlns:p="http://schemas.openxmlformats.org/presentationml/2006/main">
  <p:tag name="BEFORENAME" val="TextBox 1"/>
</p:tagLst>
</file>

<file path=ppt/tags/tag289.xml><?xml version="1.0" encoding="utf-8"?>
<p:tagLst xmlns:p="http://schemas.openxmlformats.org/presentationml/2006/main">
  <p:tag name="PA" val="v5.2.11"/>
</p:tagLst>
</file>

<file path=ppt/tags/tag290.xml><?xml version="1.0" encoding="utf-8"?>
<p:tagLst xmlns:p="http://schemas.openxmlformats.org/presentationml/2006/main">
  <p:tag name="PA" val="v5.2.11"/>
</p:tagLst>
</file>

<file path=ppt/tags/tag291.xml><?xml version="1.0" encoding="utf-8"?>
<p:tagLst xmlns:p="http://schemas.openxmlformats.org/presentationml/2006/main">
  <p:tag name="KSO_WM_SLIDE_NOBEATY" val="1"/>
</p:tagLst>
</file>

<file path=ppt/tags/tag292.xml><?xml version="1.0" encoding="utf-8"?>
<p:tagLst xmlns:p="http://schemas.openxmlformats.org/presentationml/2006/main">
  <p:tag name="BEFORENAME" val="Straight Connector 29"/>
</p:tagLst>
</file>

<file path=ppt/tags/tag293.xml><?xml version="1.0" encoding="utf-8"?>
<p:tagLst xmlns:p="http://schemas.openxmlformats.org/presentationml/2006/main">
  <p:tag name="BEFORENAME" val="TextBox 1"/>
</p:tagLst>
</file>

<file path=ppt/tags/tag294.xml><?xml version="1.0" encoding="utf-8"?>
<p:tagLst xmlns:p="http://schemas.openxmlformats.org/presentationml/2006/main">
  <p:tag name="PA" val="v5.2.11"/>
</p:tagLst>
</file>

<file path=ppt/tags/tag295.xml><?xml version="1.0" encoding="utf-8"?>
<p:tagLst xmlns:p="http://schemas.openxmlformats.org/presentationml/2006/main">
  <p:tag name="PA" val="v5.2.11"/>
</p:tagLst>
</file>

<file path=ppt/tags/tag296.xml><?xml version="1.0" encoding="utf-8"?>
<p:tagLst xmlns:p="http://schemas.openxmlformats.org/presentationml/2006/main">
  <p:tag name="PA" val="v5.2.11"/>
</p:tagLst>
</file>

<file path=ppt/tags/tag297.xml><?xml version="1.0" encoding="utf-8"?>
<p:tagLst xmlns:p="http://schemas.openxmlformats.org/presentationml/2006/main">
  <p:tag name="PA" val="v5.2.11"/>
</p:tagLst>
</file>

<file path=ppt/tags/tag298.xml><?xml version="1.0" encoding="utf-8"?>
<p:tagLst xmlns:p="http://schemas.openxmlformats.org/presentationml/2006/main">
  <p:tag name="PA" val="v5.2.11"/>
</p:tagLst>
</file>

<file path=ppt/tags/tag299.xml><?xml version="1.0" encoding="utf-8"?>
<p:tagLst xmlns:p="http://schemas.openxmlformats.org/presentationml/2006/main">
  <p:tag name="PA" val="v5.2.11"/>
</p:tagLst>
</file>

<file path=ppt/tags/tag300.xml><?xml version="1.0" encoding="utf-8"?>
<p:tagLst xmlns:p="http://schemas.openxmlformats.org/presentationml/2006/main">
  <p:tag name="PA" val="v5.2.11"/>
</p:tagLst>
</file>

<file path=ppt/tags/tag301.xml><?xml version="1.0" encoding="utf-8"?>
<p:tagLst xmlns:p="http://schemas.openxmlformats.org/presentationml/2006/main">
  <p:tag name="KSO_WM_SLIDE_NOBEATY" val="1"/>
</p:tagLst>
</file>

<file path=ppt/tags/tag302.xml><?xml version="1.0" encoding="utf-8"?>
<p:tagLst xmlns:p="http://schemas.openxmlformats.org/presentationml/2006/main">
  <p:tag name="BEFORENAME" val="Straight Connector 29"/>
</p:tagLst>
</file>

<file path=ppt/tags/tag303.xml><?xml version="1.0" encoding="utf-8"?>
<p:tagLst xmlns:p="http://schemas.openxmlformats.org/presentationml/2006/main">
  <p:tag name="BEFORENAME" val="TextBox 1"/>
</p:tagLst>
</file>

<file path=ppt/tags/tag304.xml><?xml version="1.0" encoding="utf-8"?>
<p:tagLst xmlns:p="http://schemas.openxmlformats.org/presentationml/2006/main">
  <p:tag name="KSO_WM_SLIDE_NOBEATY" val="1"/>
</p:tagLst>
</file>

<file path=ppt/theme/theme1.xml><?xml version="1.0" encoding="utf-8"?>
<a:theme xmlns:a="http://schemas.openxmlformats.org/drawingml/2006/main" name="Office 主题​​">
  <a:themeElements>
    <a:clrScheme name="逻辑图-1蓝红色">
      <a:dk1>
        <a:sysClr val="windowText" lastClr="000000"/>
      </a:dk1>
      <a:lt1>
        <a:sysClr val="window" lastClr="FFFFFF"/>
      </a:lt1>
      <a:dk2>
        <a:srgbClr val="023E80"/>
      </a:dk2>
      <a:lt2>
        <a:srgbClr val="BA3023"/>
      </a:lt2>
      <a:accent1>
        <a:srgbClr val="023E80"/>
      </a:accent1>
      <a:accent2>
        <a:srgbClr val="BA3023"/>
      </a:accent2>
      <a:accent3>
        <a:srgbClr val="5186D4"/>
      </a:accent3>
      <a:accent4>
        <a:srgbClr val="DC7163"/>
      </a:accent4>
      <a:accent5>
        <a:srgbClr val="1E87FB"/>
      </a:accent5>
      <a:accent6>
        <a:srgbClr val="FFC000"/>
      </a:accent6>
      <a:hlink>
        <a:srgbClr val="0026E5"/>
      </a:hlink>
      <a:folHlink>
        <a:srgbClr val="7E1FAD"/>
      </a:folHlink>
    </a:clrScheme>
    <a:fontScheme name="逻辑图供稿 wps">
      <a:majorFont>
        <a:latin typeface="Roboto Black"/>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50">
      <a:dk1>
        <a:sysClr val="windowText" lastClr="000000"/>
      </a:dk1>
      <a:lt1>
        <a:sysClr val="window" lastClr="FFFFFF"/>
      </a:lt1>
      <a:dk2>
        <a:srgbClr val="000000"/>
      </a:dk2>
      <a:lt2>
        <a:srgbClr val="E7E6E6"/>
      </a:lt2>
      <a:accent1>
        <a:srgbClr val="1D4273"/>
      </a:accent1>
      <a:accent2>
        <a:srgbClr val="A13422"/>
      </a:accent2>
      <a:accent3>
        <a:srgbClr val="1D4273"/>
      </a:accent3>
      <a:accent4>
        <a:srgbClr val="A13422"/>
      </a:accent4>
      <a:accent5>
        <a:srgbClr val="1D4273"/>
      </a:accent5>
      <a:accent6>
        <a:srgbClr val="A13422"/>
      </a:accent6>
      <a:hlink>
        <a:srgbClr val="1D4273"/>
      </a:hlink>
      <a:folHlink>
        <a:srgbClr val="A13422"/>
      </a:folHlink>
    </a:clrScheme>
    <a:fontScheme name="自定义 35">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思源黑体 CN Heavy"/>
        <a:ea typeface=""/>
        <a:cs typeface=""/>
        <a:font script="Jpan" typeface="游ゴシック Light"/>
        <a:font script="Hang" typeface="맑은 고딕"/>
        <a:font script="Hans" typeface="思源黑体 CN Heavy"/>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Heavy"/>
        <a:ea typeface="思源黑体 CN Heavy"/>
        <a:cs typeface=""/>
      </a:majorFont>
      <a:minorFont>
        <a:latin typeface="思源黑体 CN Heavy"/>
        <a:ea typeface="思源黑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Normal"/>
        <a:font script="Hebr" typeface="思源黑体 CN Norm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Normal"/>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思源黑体 CN Normal"/>
        <a:font script="Hebr" typeface="思源黑体 CN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Normal"/>
        <a:font script="Hant" typeface="新細明體"/>
        <a:font script="Arab" typeface="思源黑体 CN Normal"/>
        <a:font script="Hebr" typeface="思源黑体 CN Norm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Normal"/>
        <a:font script="Uigh" typeface="Microsoft Uighur"/>
        <a:font script="Geor" typeface="Sylfaen"/>
      </a:majorFont>
      <a:minorFont>
        <a:latin typeface="思源黑体 CN Normal"/>
        <a:ea typeface=""/>
        <a:cs typeface=""/>
        <a:font script="Jpan" typeface="ＭＳ Ｐゴシック"/>
        <a:font script="Hang" typeface="맑은 고딕"/>
        <a:font script="Hans" typeface="思源黑体 CN Normal"/>
        <a:font script="Hant" typeface="新細明體"/>
        <a:font script="Arab" typeface="思源黑体 CN Normal"/>
        <a:font script="Hebr" typeface="思源黑体 CN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16859</Words>
  <Application>WPS 演示</Application>
  <PresentationFormat>宽屏</PresentationFormat>
  <Paragraphs>3105</Paragraphs>
  <Slides>49</Slides>
  <Notes>10</Notes>
  <HiddenSlides>0</HiddenSlides>
  <MMClips>0</MMClips>
  <ScaleCrop>false</ScaleCrop>
  <HeadingPairs>
    <vt:vector size="6" baseType="variant">
      <vt:variant>
        <vt:lpstr>已用的字体</vt:lpstr>
      </vt:variant>
      <vt:variant>
        <vt:i4>25</vt:i4>
      </vt:variant>
      <vt:variant>
        <vt:lpstr>主题</vt:lpstr>
      </vt:variant>
      <vt:variant>
        <vt:i4>4</vt:i4>
      </vt:variant>
      <vt:variant>
        <vt:lpstr>幻灯片标题</vt:lpstr>
      </vt:variant>
      <vt:variant>
        <vt:i4>49</vt:i4>
      </vt:variant>
    </vt:vector>
  </HeadingPairs>
  <TitlesOfParts>
    <vt:vector size="78" baseType="lpstr">
      <vt:lpstr>Arial</vt:lpstr>
      <vt:lpstr>宋体</vt:lpstr>
      <vt:lpstr>Wingdings</vt:lpstr>
      <vt:lpstr>思源黑体 CN Normal</vt:lpstr>
      <vt:lpstr>思源黑体 CN Heavy</vt:lpstr>
      <vt:lpstr>Roboto</vt:lpstr>
      <vt:lpstr>PingFang-SC-Regular</vt:lpstr>
      <vt:lpstr>Segoe Print</vt:lpstr>
      <vt:lpstr>ui-sans-serif</vt:lpstr>
      <vt:lpstr>OPPOSans B</vt:lpstr>
      <vt:lpstr>PingFangSC-Semibold</vt:lpstr>
      <vt:lpstr>微软雅黑</vt:lpstr>
      <vt:lpstr>Arial Unicode MS</vt:lpstr>
      <vt:lpstr>inherit</vt:lpstr>
      <vt:lpstr>思源宋体 CN Heavy</vt:lpstr>
      <vt:lpstr>OPPOSans M</vt:lpstr>
      <vt:lpstr>DM Sans Medium</vt:lpstr>
      <vt:lpstr>Barlow SemiBold</vt:lpstr>
      <vt:lpstr>Calibri</vt:lpstr>
      <vt:lpstr>Barlow Medium</vt:lpstr>
      <vt:lpstr>思源黑体 CN Regular</vt:lpstr>
      <vt:lpstr>OPPOSans R</vt:lpstr>
      <vt:lpstr>Calibri Light</vt:lpstr>
      <vt:lpstr>Symbol</vt:lpstr>
      <vt:lpstr>Times New Roman</vt:lpstr>
      <vt:lpstr>Office 主题​​</vt:lpstr>
      <vt:lpstr>1_Office 主题​​</vt:lpstr>
      <vt:lpstr>2_Office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b013242</dc:creator>
  <cp:lastModifiedBy>Administrator</cp:lastModifiedBy>
  <cp:revision>357</cp:revision>
  <dcterms:created xsi:type="dcterms:W3CDTF">2023-04-25T05:55:00Z</dcterms:created>
  <dcterms:modified xsi:type="dcterms:W3CDTF">2025-11-13T02:06:20Z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D9C6D5C059894C09B4CC39065A261B5E_12</vt:lpwstr>
  </property>
  <property fmtid="{D5CDD505-2E9C-101B-9397-08002B2CF9AE}" pid="3" name="KSOProductBuildVer">
    <vt:lpwstr>2052-11.1.0.11176</vt:lpwstr>
  </property>
  <property fmtid="{D5CDD505-2E9C-101B-9397-08002B2CF9AE}" pid="4" name="KSOTemplateUUID">
    <vt:lpwstr>v1.0_mb_u0n3lp97ocl7Rpm2xCS8+w==</vt:lpwstr>
  </property>
</Properties>
</file>