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  <p:sldMasterId id="2147483674" r:id="rId3"/>
    <p:sldMasterId id="2147483676" r:id="rId4"/>
  </p:sldMasterIdLst>
  <p:notesMasterIdLst>
    <p:notesMasterId r:id="rId47"/>
  </p:notesMasterIdLst>
  <p:handoutMasterIdLst>
    <p:handoutMasterId r:id="rId48"/>
  </p:handoutMasterIdLst>
  <p:sldIdLst>
    <p:sldId id="5881" r:id="rId10"/>
    <p:sldId id="5882" r:id="rId11"/>
    <p:sldId id="5883" r:id="rId12"/>
    <p:sldId id="5884" r:id="rId13"/>
    <p:sldId id="5885" r:id="rId14"/>
    <p:sldId id="5898" r:id="rId15"/>
    <p:sldId id="5899" r:id="rId16"/>
    <p:sldId id="5900" r:id="rId17"/>
    <p:sldId id="5901" r:id="rId18"/>
    <p:sldId id="5902" r:id="rId19"/>
    <p:sldId id="5903" r:id="rId20"/>
    <p:sldId id="5904" r:id="rId21"/>
    <p:sldId id="5905" r:id="rId22"/>
    <p:sldId id="5906" r:id="rId23"/>
    <p:sldId id="5907" r:id="rId24"/>
    <p:sldId id="5908" r:id="rId25"/>
    <p:sldId id="5925" r:id="rId26"/>
    <p:sldId id="5926" r:id="rId27"/>
    <p:sldId id="5927" r:id="rId28"/>
    <p:sldId id="5928" r:id="rId29"/>
    <p:sldId id="5929" r:id="rId30"/>
    <p:sldId id="5930" r:id="rId31"/>
    <p:sldId id="5931" r:id="rId32"/>
    <p:sldId id="5932" r:id="rId33"/>
    <p:sldId id="5933" r:id="rId34"/>
    <p:sldId id="5934" r:id="rId35"/>
    <p:sldId id="5935" r:id="rId36"/>
    <p:sldId id="5936" r:id="rId37"/>
    <p:sldId id="5946" r:id="rId38"/>
    <p:sldId id="5947" r:id="rId39"/>
    <p:sldId id="5948" r:id="rId40"/>
    <p:sldId id="5949" r:id="rId41"/>
    <p:sldId id="5950" r:id="rId42"/>
    <p:sldId id="5951" r:id="rId43"/>
    <p:sldId id="5952" r:id="rId44"/>
    <p:sldId id="5953" r:id="rId45"/>
    <p:sldId id="5954" r:id="rId46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67">
          <p15:clr>
            <a:srgbClr val="A4A3A4"/>
          </p15:clr>
        </p15:guide>
        <p15:guide id="2" pos="7433">
          <p15:clr>
            <a:srgbClr val="A4A3A4"/>
          </p15:clr>
        </p15:guide>
        <p15:guide id="3" orient="horz" pos="701">
          <p15:clr>
            <a:srgbClr val="A4A3A4"/>
          </p15:clr>
        </p15:guide>
        <p15:guide id="4" orient="horz" pos="39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1D24"/>
    <a:srgbClr val="44546A"/>
    <a:srgbClr val="C4C4C4"/>
    <a:srgbClr val="E6646B"/>
    <a:srgbClr val="5B0E13"/>
    <a:srgbClr val="88161C"/>
    <a:srgbClr val="ECEBEB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3" d="100"/>
          <a:sy n="123" d="100"/>
        </p:scale>
        <p:origin x="232" y="200"/>
      </p:cViewPr>
      <p:guideLst>
        <p:guide pos="167"/>
        <p:guide pos="7433"/>
        <p:guide orient="horz" pos="701"/>
        <p:guide orient="horz" pos="39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53" Type="http://schemas.openxmlformats.org/officeDocument/2006/relationships/tags" Target="tags/tag1.xml"/><Relationship Id="rId54" Type="http://schemas.openxmlformats.org/officeDocument/2006/relationships/presProps" Target="pres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___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___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___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___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___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___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___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___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05F-0747-8846-BB9EC913DA0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5F-0747-8846-BB9EC913DA0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05F-0747-8846-BB9EC913DA0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05F-0747-8846-BB9EC913DA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96-DA4F-8DFE-93A1B3A9E268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96-DA4F-8DFE-93A1B3A9E268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596-DA4F-8DFE-93A1B3A9E26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</c:v>
                </c:pt>
                <c:pt idx="1">
                  <c:v>280</c:v>
                </c:pt>
                <c:pt idx="2">
                  <c:v>120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596-DA4F-8DFE-93A1B3A9E2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2BF-6D46-B1E9-83122E8B95C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2BF-6D46-B1E9-83122E8B95C1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2BF-6D46-B1E9-83122E8B95C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2BF-6D46-B1E9-83122E8B95C1}"/>
              </c:ext>
            </c:extLst>
          </c:dPt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39185695322301"/>
                      <c:h val="0.303434414424879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2BF-6D46-B1E9-83122E8B9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8.6999999999999993</c:v>
                </c:pt>
                <c:pt idx="1">
                  <c:v>12.3</c:v>
                </c:pt>
                <c:pt idx="2">
                  <c:v>5.5</c:v>
                </c:pt>
                <c:pt idx="3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2BF-6D46-B1E9-83122E8B9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502-694A-A3DF-289FD28D226B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502-694A-A3DF-289FD28D226B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502-694A-A3DF-289FD28D226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502-694A-A3DF-289FD28D22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93614296"/>
        <c:axId val="1293606376"/>
      </c:line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71-3141-B079-89C815B3F7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71-3141-B079-89C815B3F7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3-7B71-3141-B079-89C815B3F7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4"/>
        <c:axId val="1813296960"/>
        <c:axId val="1813294440"/>
      </c:barChart>
      <c:catAx>
        <c:axId val="18132969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13294440"/>
        <c:crosses val="autoZero"/>
        <c:auto val="1"/>
        <c:lblAlgn val="ctr"/>
        <c:lblOffset val="100"/>
        <c:noMultiLvlLbl val="0"/>
      </c:catAx>
      <c:valAx>
        <c:axId val="1813294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13296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64-1641-B1EA-51D939CE79B6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464-1641-B1EA-51D939CE79B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464-1641-B1EA-51D939CE79B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464-1641-B1EA-51D939CE79B6}"/>
              </c:ext>
            </c:extLst>
          </c:dPt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64-1641-B1EA-51D939CE79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93-114A-B6FC-4548AB2EE94B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593-114A-B6FC-4548AB2EE94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593-114A-B6FC-4548AB2EE94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593-114A-B6FC-4548AB2EE94B}"/>
              </c:ext>
            </c:extLst>
          </c:dPt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93-114A-B6FC-4548AB2EE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1270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yyyy/m/d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30</c:v>
                </c:pt>
                <c:pt idx="2">
                  <c:v>31</c:v>
                </c:pt>
                <c:pt idx="3">
                  <c:v>30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41-DF4F-95D8-B3C71D362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yyyy/m/d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2C41-DF4F-95D8-B3C71D362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37948720"/>
        <c:axId val="937950160"/>
      </c:radarChart>
      <c:catAx>
        <c:axId val="937948720"/>
        <c:scaling>
          <c:orientation val="minMax"/>
        </c:scaling>
        <c:delete val="1"/>
        <c:axPos val="b"/>
        <c:numFmt formatCode="yyyy/m/d" sourceLinked="1"/>
        <c:majorTickMark val="none"/>
        <c:minorTickMark val="none"/>
        <c:tickLblPos val="nextTo"/>
        <c:crossAx val="937950160"/>
        <c:crosses val="autoZero"/>
        <c:auto val="1"/>
        <c:lblAlgn val="ctr"/>
        <c:lblOffset val="100"/>
        <c:noMultiLvlLbl val="0"/>
      </c:catAx>
      <c:valAx>
        <c:axId val="93795016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37948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  <a:ea typeface="思源黑体 CN Bold" panose="020B0800000000000000" charset="-122"/>
                <a:cs typeface="Roboto" panose="02000000000000000000" charset="0"/>
              </a:rPr>
              <a:t>2026/5/27</a:t>
            </a:fld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  <a:ea typeface="思源黑体 CN Bold" panose="020B0800000000000000" charset="-122"/>
                <a:cs typeface="Roboto" panose="02000000000000000000" charset="0"/>
              </a:rPr>
              <a:t>‹#›</a:t>
            </a:fld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E2369E73-B522-416C-8762-6779C652F64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9751EC1A-DE98-4399-B0EE-DFEB03D880B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5543C3B3-0A11-4369-9A0C-64D95D3C1F3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F077451C-4E6D-4F1B-9FF2-A014A181AF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Layout" Target="../slideLayouts/slideLayout1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Layout" Target="../slideLayouts/slideLayout13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Layout" Target="../slideLayouts/slideLayout1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18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Layout" Target="../slideLayouts/slideLayou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slideLayout" Target="../slideLayouts/slideLayou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slideLayout" Target="../slideLayouts/slideLayou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slideLayout" Target="../slideLayouts/slideLayout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slideLayout" Target="../slideLayouts/slideLayout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slideLayout" Target="../slideLayouts/slideLayout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Layout" Target="../slideLayouts/slideLayout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Layout" Target="../slideLayouts/slideLayou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Layout" Target="../slideLayouts/slideLayout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tags" Target="../tags/tag66.xml"/><Relationship Id="rId3" Type="http://schemas.openxmlformats.org/officeDocument/2006/relationships/tags" Target="../tags/tag67.xml"/><Relationship Id="rId4" Type="http://schemas.openxmlformats.org/officeDocument/2006/relationships/tags" Target="../tags/tag68.xml"/><Relationship Id="rId5" Type="http://schemas.openxmlformats.org/officeDocument/2006/relationships/tags" Target="../tags/tag69.xml"/><Relationship Id="rId6" Type="http://schemas.openxmlformats.org/officeDocument/2006/relationships/tags" Target="../tags/tag70.xml"/><Relationship Id="rId7" Type="http://schemas.openxmlformats.org/officeDocument/2006/relationships/tags" Target="../tags/tag71.xml"/><Relationship Id="rId8" Type="http://schemas.openxmlformats.org/officeDocument/2006/relationships/tags" Target="../tags/tag72.xml"/><Relationship Id="rId9" Type="http://schemas.openxmlformats.org/officeDocument/2006/relationships/tags" Target="../tags/tag73.xml"/><Relationship Id="rId10" Type="http://schemas.openxmlformats.org/officeDocument/2006/relationships/tags" Target="../tags/tag74.xml"/><Relationship Id="rId11" Type="http://schemas.openxmlformats.org/officeDocument/2006/relationships/tags" Target="../tags/tag75.xml"/><Relationship Id="rId12" Type="http://schemas.openxmlformats.org/officeDocument/2006/relationships/tags" Target="../tags/tag76.xml"/><Relationship Id="rId13" Type="http://schemas.openxmlformats.org/officeDocument/2006/relationships/tags" Target="../tags/tag77.xml"/><Relationship Id="rId14" Type="http://schemas.openxmlformats.org/officeDocument/2006/relationships/tags" Target="../tags/tag78.xml"/><Relationship Id="rId15" Type="http://schemas.openxmlformats.org/officeDocument/2006/relationships/tags" Target="../tags/tag79.xml"/><Relationship Id="rId16" Type="http://schemas.openxmlformats.org/officeDocument/2006/relationships/tags" Target="../tags/tag80.xml"/><Relationship Id="rId17" Type="http://schemas.openxmlformats.org/officeDocument/2006/relationships/tags" Target="../tags/tag81.xml"/><Relationship Id="rId18" Type="http://schemas.openxmlformats.org/officeDocument/2006/relationships/tags" Target="../tags/tag82.xml"/><Relationship Id="rId19" Type="http://schemas.openxmlformats.org/officeDocument/2006/relationships/tags" Target="../tags/tag83.xml"/><Relationship Id="rId20" Type="http://schemas.openxmlformats.org/officeDocument/2006/relationships/tags" Target="../tags/tag84.xml"/><Relationship Id="rId21" Type="http://schemas.openxmlformats.org/officeDocument/2006/relationships/tags" Target="../tags/tag85.xml"/><Relationship Id="rId22" Type="http://schemas.openxmlformats.org/officeDocument/2006/relationships/tags" Target="../tags/tag86.xml"/><Relationship Id="rId23" Type="http://schemas.openxmlformats.org/officeDocument/2006/relationships/tags" Target="../tags/tag87.xml"/><Relationship Id="rId24" Type="http://schemas.openxmlformats.org/officeDocument/2006/relationships/tags" Target="../tags/tag88.xml"/><Relationship Id="rId25" Type="http://schemas.openxmlformats.org/officeDocument/2006/relationships/tags" Target="../tags/tag89.xml"/><Relationship Id="rId26" Type="http://schemas.openxmlformats.org/officeDocument/2006/relationships/tags" Target="../tags/tag90.xml"/><Relationship Id="rId27" Type="http://schemas.openxmlformats.org/officeDocument/2006/relationships/tags" Target="../tags/tag91.xml"/><Relationship Id="rId28" Type="http://schemas.openxmlformats.org/officeDocument/2006/relationships/tags" Target="../tags/tag92.xml"/><Relationship Id="rId29" Type="http://schemas.openxmlformats.org/officeDocument/2006/relationships/tags" Target="../tags/tag93.xml"/><Relationship Id="rId30" Type="http://schemas.openxmlformats.org/officeDocument/2006/relationships/tags" Target="../tags/tag94.xml"/><Relationship Id="rId31" Type="http://schemas.openxmlformats.org/officeDocument/2006/relationships/tags" Target="../tags/tag95.xml"/><Relationship Id="rId32" Type="http://schemas.openxmlformats.org/officeDocument/2006/relationships/tags" Target="../tags/tag96.xml"/><Relationship Id="rId33" Type="http://schemas.openxmlformats.org/officeDocument/2006/relationships/tags" Target="../tags/tag97.xml"/><Relationship Id="rId34" Type="http://schemas.openxmlformats.org/officeDocument/2006/relationships/tags" Target="../tags/tag98.xml"/><Relationship Id="rId35" Type="http://schemas.openxmlformats.org/officeDocument/2006/relationships/tags" Target="../tags/tag99.xml"/><Relationship Id="rId36" Type="http://schemas.openxmlformats.org/officeDocument/2006/relationships/tags" Target="../tags/tag100.xml"/><Relationship Id="rId37" Type="http://schemas.openxmlformats.org/officeDocument/2006/relationships/tags" Target="../tags/tag101.xml"/><Relationship Id="rId38" Type="http://schemas.openxmlformats.org/officeDocument/2006/relationships/tags" Target="../tags/tag102.xml"/><Relationship Id="rId39" Type="http://schemas.openxmlformats.org/officeDocument/2006/relationships/tags" Target="../tags/tag103.xml"/><Relationship Id="rId40" Type="http://schemas.openxmlformats.org/officeDocument/2006/relationships/tags" Target="../tags/tag104.xml"/><Relationship Id="rId41" Type="http://schemas.openxmlformats.org/officeDocument/2006/relationships/tags" Target="../tags/tag105.xml"/><Relationship Id="rId42" Type="http://schemas.openxmlformats.org/officeDocument/2006/relationships/slideLayout" Target="../slideLayouts/slideLayout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slideLayout" Target="../slideLayouts/slideLayout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107.xml"/><Relationship Id="rId2" Type="http://schemas.openxmlformats.org/officeDocument/2006/relationships/slideLayout" Target="../slideLayouts/slideLayout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slideLayout" Target="../slideLayouts/slideLayout1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109.xml"/><Relationship Id="rId2" Type="http://schemas.openxmlformats.org/officeDocument/2006/relationships/slideLayout" Target="../slideLayouts/slideLayout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slideLayout" Target="../slideLayouts/slideLayout18.xml"/><Relationship Id="rId3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368300" y="5627291"/>
            <a:ext cx="11455400" cy="880422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368300" y="1983128"/>
            <a:ext cx="3354660" cy="355435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4627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年中数据分析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78926" y="1080665"/>
            <a:ext cx="2824502" cy="73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i="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  <a:cs typeface="Roboto" panose="02000000000000000000" charset="0"/>
              </a:rPr>
              <a:t>优化产线效率，人力支出环比下降</a:t>
            </a:r>
            <a:endParaRPr lang="zh-CN" altLang="en-US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370484" y="1133784"/>
            <a:ext cx="608442" cy="608442"/>
            <a:chOff x="647214" y="1220618"/>
            <a:chExt cx="516255" cy="516255"/>
          </a:xfrm>
        </p:grpSpPr>
        <p:sp>
          <p:nvSpPr>
            <p:cNvPr id="52" name="矩形 51"/>
            <p:cNvSpPr/>
            <p:nvPr/>
          </p:nvSpPr>
          <p:spPr>
            <a:xfrm>
              <a:off x="647214" y="1220618"/>
              <a:ext cx="516255" cy="51625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Roboto" panose="02000000000000000000" charset="0"/>
              </a:endParaRPr>
            </a:p>
          </p:txBody>
        </p:sp>
        <p:grpSp>
          <p:nvGrpSpPr>
            <p:cNvPr id="53" name="Google Shape;5620;p76"/>
            <p:cNvGrpSpPr/>
            <p:nvPr/>
          </p:nvGrpSpPr>
          <p:grpSpPr>
            <a:xfrm>
              <a:off x="808138" y="1284729"/>
              <a:ext cx="188688" cy="402498"/>
              <a:chOff x="4584850" y="4399275"/>
              <a:chExt cx="225875" cy="481825"/>
            </a:xfrm>
            <a:solidFill>
              <a:schemeClr val="bg1"/>
            </a:solidFill>
          </p:grpSpPr>
          <p:sp>
            <p:nvSpPr>
              <p:cNvPr id="54" name="Google Shape;5621;p76"/>
              <p:cNvSpPr/>
              <p:nvPr/>
            </p:nvSpPr>
            <p:spPr>
              <a:xfrm>
                <a:off x="4655400" y="4399275"/>
                <a:ext cx="84700" cy="847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3389" extrusionOk="0">
                    <a:moveTo>
                      <a:pt x="1696" y="1"/>
                    </a:moveTo>
                    <a:cubicBezTo>
                      <a:pt x="759" y="1"/>
                      <a:pt x="0" y="760"/>
                      <a:pt x="0" y="1696"/>
                    </a:cubicBezTo>
                    <a:cubicBezTo>
                      <a:pt x="0" y="2630"/>
                      <a:pt x="759" y="3389"/>
                      <a:pt x="1696" y="3389"/>
                    </a:cubicBezTo>
                    <a:cubicBezTo>
                      <a:pt x="2629" y="3389"/>
                      <a:pt x="3388" y="2630"/>
                      <a:pt x="3388" y="1696"/>
                    </a:cubicBezTo>
                    <a:cubicBezTo>
                      <a:pt x="3388" y="760"/>
                      <a:pt x="2629" y="1"/>
                      <a:pt x="169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Normal" panose="020B0400000000000000" charset="-122"/>
                  <a:ea typeface="+mn-ea"/>
                  <a:cs typeface="Roboto" panose="02000000000000000000" charset="0"/>
                </a:endParaRPr>
              </a:p>
            </p:txBody>
          </p:sp>
          <p:sp>
            <p:nvSpPr>
              <p:cNvPr id="55" name="Google Shape;5622;p76"/>
              <p:cNvSpPr/>
              <p:nvPr/>
            </p:nvSpPr>
            <p:spPr>
              <a:xfrm>
                <a:off x="4584850" y="4512200"/>
                <a:ext cx="225875" cy="368900"/>
              </a:xfrm>
              <a:custGeom>
                <a:avLst/>
                <a:gdLst/>
                <a:ahLst/>
                <a:cxnLst/>
                <a:rect l="l" t="t" r="r" b="b"/>
                <a:pathLst>
                  <a:path w="9035" h="14756" extrusionOk="0">
                    <a:moveTo>
                      <a:pt x="2259" y="1"/>
                    </a:moveTo>
                    <a:cubicBezTo>
                      <a:pt x="1013" y="1"/>
                      <a:pt x="1" y="1052"/>
                      <a:pt x="1" y="2298"/>
                    </a:cubicBezTo>
                    <a:lnTo>
                      <a:pt x="1" y="5686"/>
                    </a:lnTo>
                    <a:cubicBezTo>
                      <a:pt x="1" y="6280"/>
                      <a:pt x="414" y="6792"/>
                      <a:pt x="1106" y="6792"/>
                    </a:cubicBezTo>
                    <a:cubicBezTo>
                      <a:pt x="1284" y="6792"/>
                      <a:pt x="1480" y="6758"/>
                      <a:pt x="1693" y="6683"/>
                    </a:cubicBezTo>
                    <a:lnTo>
                      <a:pt x="1693" y="13627"/>
                    </a:lnTo>
                    <a:cubicBezTo>
                      <a:pt x="1693" y="14250"/>
                      <a:pt x="2199" y="14756"/>
                      <a:pt x="2822" y="14756"/>
                    </a:cubicBezTo>
                    <a:cubicBezTo>
                      <a:pt x="3446" y="14756"/>
                      <a:pt x="3952" y="14250"/>
                      <a:pt x="3952" y="13627"/>
                    </a:cubicBezTo>
                    <a:lnTo>
                      <a:pt x="3952" y="9637"/>
                    </a:lnTo>
                    <a:cubicBezTo>
                      <a:pt x="3952" y="9324"/>
                      <a:pt x="4204" y="9074"/>
                      <a:pt x="4518" y="9074"/>
                    </a:cubicBezTo>
                    <a:cubicBezTo>
                      <a:pt x="4828" y="9074"/>
                      <a:pt x="5081" y="9324"/>
                      <a:pt x="5081" y="9637"/>
                    </a:cubicBezTo>
                    <a:lnTo>
                      <a:pt x="5081" y="13627"/>
                    </a:lnTo>
                    <a:cubicBezTo>
                      <a:pt x="5081" y="14250"/>
                      <a:pt x="5587" y="14756"/>
                      <a:pt x="6210" y="14756"/>
                    </a:cubicBezTo>
                    <a:cubicBezTo>
                      <a:pt x="6833" y="14756"/>
                      <a:pt x="7339" y="14250"/>
                      <a:pt x="7339" y="13627"/>
                    </a:cubicBezTo>
                    <a:lnTo>
                      <a:pt x="7339" y="6683"/>
                    </a:lnTo>
                    <a:cubicBezTo>
                      <a:pt x="7552" y="6758"/>
                      <a:pt x="7749" y="6792"/>
                      <a:pt x="7927" y="6792"/>
                    </a:cubicBezTo>
                    <a:cubicBezTo>
                      <a:pt x="8619" y="6792"/>
                      <a:pt x="9035" y="6280"/>
                      <a:pt x="9035" y="5686"/>
                    </a:cubicBezTo>
                    <a:lnTo>
                      <a:pt x="9035" y="2298"/>
                    </a:lnTo>
                    <a:cubicBezTo>
                      <a:pt x="9035" y="1052"/>
                      <a:pt x="8020" y="1"/>
                      <a:pt x="67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Normal" panose="020B0400000000000000" charset="-122"/>
                  <a:ea typeface="+mn-ea"/>
                  <a:cs typeface="Roboto" panose="02000000000000000000" charset="0"/>
                </a:endParaRPr>
              </a:p>
            </p:txBody>
          </p:sp>
        </p:grpSp>
      </p:grpSp>
      <p:sp>
        <p:nvSpPr>
          <p:cNvPr id="58" name="文本框 57"/>
          <p:cNvSpPr txBox="1"/>
          <p:nvPr/>
        </p:nvSpPr>
        <p:spPr>
          <a:xfrm>
            <a:off x="1963747" y="1383888"/>
            <a:ext cx="711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ea"/>
                <a:ea typeface="+mj-ea"/>
                <a:cs typeface="Roboto" panose="02000000000000000000" charset="0"/>
              </a:rPr>
              <a:t>9%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 rot="10800000" flipH="1">
            <a:off x="2628711" y="1512817"/>
            <a:ext cx="194156" cy="190920"/>
            <a:chOff x="3265714" y="1753437"/>
            <a:chExt cx="301451" cy="296427"/>
          </a:xfrm>
        </p:grpSpPr>
        <p:sp>
          <p:nvSpPr>
            <p:cNvPr id="62" name="矩形 478"/>
            <p:cNvSpPr/>
            <p:nvPr/>
          </p:nvSpPr>
          <p:spPr>
            <a:xfrm rot="5400000">
              <a:off x="3326004" y="1753437"/>
              <a:ext cx="241161" cy="241161"/>
            </a:xfrm>
            <a:custGeom>
              <a:avLst/>
              <a:gdLst>
                <a:gd name="connsiteX0" fmla="*/ 0 w 241161"/>
                <a:gd name="connsiteY0" fmla="*/ 0 h 241161"/>
                <a:gd name="connsiteX1" fmla="*/ 241161 w 241161"/>
                <a:gd name="connsiteY1" fmla="*/ 0 h 241161"/>
                <a:gd name="connsiteX2" fmla="*/ 241161 w 241161"/>
                <a:gd name="connsiteY2" fmla="*/ 241161 h 241161"/>
                <a:gd name="connsiteX3" fmla="*/ 0 w 241161"/>
                <a:gd name="connsiteY3" fmla="*/ 241161 h 241161"/>
                <a:gd name="connsiteX4" fmla="*/ 0 w 241161"/>
                <a:gd name="connsiteY4" fmla="*/ 0 h 241161"/>
                <a:gd name="connsiteX0-1" fmla="*/ 241161 w 332601"/>
                <a:gd name="connsiteY0-2" fmla="*/ 241161 h 332601"/>
                <a:gd name="connsiteX1-3" fmla="*/ 0 w 332601"/>
                <a:gd name="connsiteY1-4" fmla="*/ 241161 h 332601"/>
                <a:gd name="connsiteX2-5" fmla="*/ 0 w 332601"/>
                <a:gd name="connsiteY2-6" fmla="*/ 0 h 332601"/>
                <a:gd name="connsiteX3-7" fmla="*/ 241161 w 332601"/>
                <a:gd name="connsiteY3-8" fmla="*/ 0 h 332601"/>
                <a:gd name="connsiteX4-9" fmla="*/ 332601 w 332601"/>
                <a:gd name="connsiteY4-10" fmla="*/ 332601 h 332601"/>
                <a:gd name="connsiteX0-11" fmla="*/ 241161 w 241161"/>
                <a:gd name="connsiteY0-12" fmla="*/ 241161 h 241161"/>
                <a:gd name="connsiteX1-13" fmla="*/ 0 w 241161"/>
                <a:gd name="connsiteY1-14" fmla="*/ 241161 h 241161"/>
                <a:gd name="connsiteX2-15" fmla="*/ 0 w 241161"/>
                <a:gd name="connsiteY2-16" fmla="*/ 0 h 241161"/>
                <a:gd name="connsiteX3-17" fmla="*/ 241161 w 241161"/>
                <a:gd name="connsiteY3-18" fmla="*/ 0 h 241161"/>
                <a:gd name="connsiteX0-19" fmla="*/ 0 w 241161"/>
                <a:gd name="connsiteY0-20" fmla="*/ 241161 h 241161"/>
                <a:gd name="connsiteX1-21" fmla="*/ 0 w 241161"/>
                <a:gd name="connsiteY1-22" fmla="*/ 0 h 241161"/>
                <a:gd name="connsiteX2-23" fmla="*/ 241161 w 241161"/>
                <a:gd name="connsiteY2-24" fmla="*/ 0 h 24116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41161" h="241161">
                  <a:moveTo>
                    <a:pt x="0" y="241161"/>
                  </a:moveTo>
                  <a:lnTo>
                    <a:pt x="0" y="0"/>
                  </a:lnTo>
                  <a:lnTo>
                    <a:pt x="241161" y="0"/>
                  </a:lnTo>
                </a:path>
              </a:pathLst>
            </a:custGeom>
            <a:noFill/>
            <a:ln w="3175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2"/>
                </a:solidFill>
                <a:cs typeface="Roboto" panose="02000000000000000000" charset="0"/>
              </a:endParaRPr>
            </a:p>
          </p:txBody>
        </p:sp>
        <p:cxnSp>
          <p:nvCxnSpPr>
            <p:cNvPr id="63" name="直线连接符 615"/>
            <p:cNvCxnSpPr/>
            <p:nvPr/>
          </p:nvCxnSpPr>
          <p:spPr>
            <a:xfrm flipH="1">
              <a:off x="3265714" y="1773534"/>
              <a:ext cx="276330" cy="276330"/>
            </a:xfrm>
            <a:prstGeom prst="line">
              <a:avLst/>
            </a:prstGeom>
            <a:ln w="3810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线连接符 11"/>
          <p:cNvCxnSpPr/>
          <p:nvPr/>
        </p:nvCxnSpPr>
        <p:spPr>
          <a:xfrm>
            <a:off x="355600" y="1860677"/>
            <a:ext cx="336736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504196" y="2129520"/>
            <a:ext cx="3165625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通过自动化升级与技能培训，单位工时产出提升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15%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，但区域薪资上涨仍带来压力。</a:t>
            </a:r>
          </a:p>
        </p:txBody>
      </p:sp>
      <p:sp>
        <p:nvSpPr>
          <p:cNvPr id="3" name="矩形 2"/>
          <p:cNvSpPr/>
          <p:nvPr/>
        </p:nvSpPr>
        <p:spPr>
          <a:xfrm>
            <a:off x="591981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一线生产工资</a:t>
            </a:r>
          </a:p>
        </p:txBody>
      </p:sp>
      <p:sp>
        <p:nvSpPr>
          <p:cNvPr id="12" name="矩形 11"/>
          <p:cNvSpPr/>
          <p:nvPr/>
        </p:nvSpPr>
        <p:spPr>
          <a:xfrm>
            <a:off x="2146816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仓储分拣人力</a:t>
            </a:r>
          </a:p>
        </p:txBody>
      </p:sp>
      <p:sp>
        <p:nvSpPr>
          <p:cNvPr id="14" name="矩形 13"/>
          <p:cNvSpPr/>
          <p:nvPr/>
        </p:nvSpPr>
        <p:spPr>
          <a:xfrm>
            <a:off x="591981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管理及技术岗</a:t>
            </a:r>
          </a:p>
        </p:txBody>
      </p:sp>
      <p:sp>
        <p:nvSpPr>
          <p:cNvPr id="17" name="矩形 16"/>
          <p:cNvSpPr/>
          <p:nvPr/>
        </p:nvSpPr>
        <p:spPr>
          <a:xfrm>
            <a:off x="2146816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外包临时工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3302606" y="5179677"/>
            <a:ext cx="5586788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b="1" i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dirty="0">
                <a:cs typeface="Roboto" panose="02000000000000000000" charset="0"/>
              </a:rPr>
              <a:t>物流仓储成本受油价影响显著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2325687" y="5656610"/>
            <a:ext cx="7540625" cy="33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通过自动化升级与技能培训，单位工时产出提升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15%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，但区域薪资上涨仍带来压力。</a:t>
            </a:r>
          </a:p>
        </p:txBody>
      </p:sp>
      <p:sp>
        <p:nvSpPr>
          <p:cNvPr id="30" name="Google Shape;4568;p74"/>
          <p:cNvSpPr/>
          <p:nvPr/>
        </p:nvSpPr>
        <p:spPr>
          <a:xfrm rot="18029453">
            <a:off x="3308119" y="1276302"/>
            <a:ext cx="2869647" cy="1481726"/>
          </a:xfrm>
          <a:custGeom>
            <a:avLst/>
            <a:gdLst/>
            <a:ahLst/>
            <a:cxnLst/>
            <a:rect l="l" t="t" r="r" b="b"/>
            <a:pathLst>
              <a:path w="20642" h="10656" extrusionOk="0">
                <a:moveTo>
                  <a:pt x="10321" y="0"/>
                </a:moveTo>
                <a:cubicBezTo>
                  <a:pt x="4630" y="0"/>
                  <a:pt x="1" y="4630"/>
                  <a:pt x="1" y="10321"/>
                </a:cubicBezTo>
                <a:cubicBezTo>
                  <a:pt x="1" y="10385"/>
                  <a:pt x="2" y="10450"/>
                  <a:pt x="4" y="10514"/>
                </a:cubicBezTo>
                <a:cubicBezTo>
                  <a:pt x="1580" y="9686"/>
                  <a:pt x="3307" y="9273"/>
                  <a:pt x="5033" y="9273"/>
                </a:cubicBezTo>
                <a:cubicBezTo>
                  <a:pt x="6858" y="9273"/>
                  <a:pt x="8681" y="9735"/>
                  <a:pt x="10321" y="10655"/>
                </a:cubicBezTo>
                <a:cubicBezTo>
                  <a:pt x="11962" y="9735"/>
                  <a:pt x="13786" y="9273"/>
                  <a:pt x="15610" y="9273"/>
                </a:cubicBezTo>
                <a:cubicBezTo>
                  <a:pt x="17337" y="9273"/>
                  <a:pt x="19065" y="9686"/>
                  <a:pt x="20640" y="10514"/>
                </a:cubicBezTo>
                <a:cubicBezTo>
                  <a:pt x="20640" y="10450"/>
                  <a:pt x="20642" y="10385"/>
                  <a:pt x="20642" y="10321"/>
                </a:cubicBezTo>
                <a:cubicBezTo>
                  <a:pt x="20642" y="4630"/>
                  <a:pt x="16012" y="0"/>
                  <a:pt x="1032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黑体 CN Normal" panose="020B0400000000000000" charset="-122"/>
              <a:ea typeface="+mn-ea"/>
              <a:cs typeface="Roboto" panose="02000000000000000000" charset="0"/>
            </a:endParaRPr>
          </a:p>
        </p:txBody>
      </p:sp>
      <p:sp>
        <p:nvSpPr>
          <p:cNvPr id="32" name="Google Shape;4570;p74"/>
          <p:cNvSpPr/>
          <p:nvPr/>
        </p:nvSpPr>
        <p:spPr>
          <a:xfrm rot="18029453">
            <a:off x="5532771" y="1366637"/>
            <a:ext cx="1360586" cy="1289835"/>
          </a:xfrm>
          <a:custGeom>
            <a:avLst/>
            <a:gdLst/>
            <a:ahLst/>
            <a:cxnLst/>
            <a:rect l="l" t="t" r="r" b="b"/>
            <a:pathLst>
              <a:path w="9787" h="9276" extrusionOk="0">
                <a:moveTo>
                  <a:pt x="4781" y="1"/>
                </a:moveTo>
                <a:cubicBezTo>
                  <a:pt x="3141" y="1"/>
                  <a:pt x="1499" y="393"/>
                  <a:pt x="1" y="1178"/>
                </a:cubicBezTo>
                <a:cubicBezTo>
                  <a:pt x="2747" y="2923"/>
                  <a:pt x="4656" y="5871"/>
                  <a:pt x="4984" y="9276"/>
                </a:cubicBezTo>
                <a:cubicBezTo>
                  <a:pt x="7683" y="7574"/>
                  <a:pt x="9542" y="4656"/>
                  <a:pt x="9787" y="1300"/>
                </a:cubicBezTo>
                <a:cubicBezTo>
                  <a:pt x="8232" y="434"/>
                  <a:pt x="6507" y="1"/>
                  <a:pt x="478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黑体 CN Normal" panose="020B0400000000000000" charset="-122"/>
              <a:ea typeface="+mn-ea"/>
              <a:cs typeface="Roboto" panose="02000000000000000000" charset="0"/>
            </a:endParaRPr>
          </a:p>
        </p:txBody>
      </p:sp>
      <p:grpSp>
        <p:nvGrpSpPr>
          <p:cNvPr id="144" name="组合 143"/>
          <p:cNvGrpSpPr/>
          <p:nvPr/>
        </p:nvGrpSpPr>
        <p:grpSpPr>
          <a:xfrm>
            <a:off x="4714902" y="2624925"/>
            <a:ext cx="2649892" cy="2505460"/>
            <a:chOff x="4714902" y="3042849"/>
            <a:chExt cx="2649892" cy="2505460"/>
          </a:xfr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2700000" scaled="0"/>
          </a:gradFill>
        </p:grpSpPr>
        <p:sp>
          <p:nvSpPr>
            <p:cNvPr id="33" name="Google Shape;4571;p74"/>
            <p:cNvSpPr/>
            <p:nvPr/>
          </p:nvSpPr>
          <p:spPr>
            <a:xfrm rot="18029453">
              <a:off x="4990040" y="3173556"/>
              <a:ext cx="2099615" cy="2649892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  <p:sp>
          <p:nvSpPr>
            <p:cNvPr id="34" name="Google Shape;4572;p74"/>
            <p:cNvSpPr/>
            <p:nvPr/>
          </p:nvSpPr>
          <p:spPr>
            <a:xfrm rot="18029453">
              <a:off x="4771023" y="3078224"/>
              <a:ext cx="1360586" cy="1289835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5851599" y="1100409"/>
            <a:ext cx="2649892" cy="2964504"/>
            <a:chOff x="5851599" y="1518333"/>
            <a:chExt cx="2649892" cy="2964504"/>
          </a:xfr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>
                  <a:lumMod val="95000"/>
                </a:schemeClr>
              </a:gs>
            </a:gsLst>
            <a:lin ang="2700000" scaled="0"/>
          </a:gradFill>
        </p:grpSpPr>
        <p:sp>
          <p:nvSpPr>
            <p:cNvPr id="31" name="Google Shape;4569;p74"/>
            <p:cNvSpPr/>
            <p:nvPr/>
          </p:nvSpPr>
          <p:spPr>
            <a:xfrm rot="18029453">
              <a:off x="6126807" y="1243125"/>
              <a:ext cx="2099476" cy="2649892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  <p:sp>
          <p:nvSpPr>
            <p:cNvPr id="35" name="Google Shape;4573;p74"/>
            <p:cNvSpPr/>
            <p:nvPr/>
          </p:nvSpPr>
          <p:spPr>
            <a:xfrm rot="18029453">
              <a:off x="6332590" y="3153528"/>
              <a:ext cx="1399512" cy="1259105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3840807" y="2176292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人工成本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866221" y="1641411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28%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09646" y="2176292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制造成本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735060" y="1641411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45%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303783" y="4366006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其他成本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329197" y="3831125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27%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840611" y="164141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alpha val="40000"/>
                  </a:schemeClr>
                </a:solidFill>
                <a:latin typeface="+mn-ea"/>
                <a:cs typeface="Roboto" panose="02000000000000000000" charset="0"/>
              </a:rPr>
              <a:t>01</a:t>
            </a:r>
            <a:endParaRPr lang="zh-CN" altLang="en-US" dirty="0">
              <a:solidFill>
                <a:schemeClr val="bg1">
                  <a:alpha val="40000"/>
                </a:scheme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701201" y="318644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alpha val="40000"/>
                  </a:schemeClr>
                </a:solidFill>
                <a:latin typeface="+mn-ea"/>
                <a:cs typeface="Roboto" panose="02000000000000000000" charset="0"/>
              </a:rPr>
              <a:t>02</a:t>
            </a:r>
            <a:endParaRPr lang="zh-CN" altLang="en-US" dirty="0">
              <a:solidFill>
                <a:schemeClr val="bg1">
                  <a:alpha val="40000"/>
                </a:scheme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895160" y="318644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alpha val="40000"/>
                  </a:schemeClr>
                </a:solidFill>
                <a:latin typeface="+mn-ea"/>
                <a:cs typeface="Roboto" panose="02000000000000000000" charset="0"/>
              </a:rPr>
              <a:t>03</a:t>
            </a:r>
            <a:endParaRPr lang="zh-CN" altLang="en-US" dirty="0">
              <a:solidFill>
                <a:schemeClr val="bg1">
                  <a:alpha val="40000"/>
                </a:scheme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85" name="箭头: V 形 84"/>
          <p:cNvSpPr/>
          <p:nvPr/>
        </p:nvSpPr>
        <p:spPr>
          <a:xfrm flipH="1">
            <a:off x="4595685" y="1362910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86" name="箭头: V 形 85"/>
          <p:cNvSpPr/>
          <p:nvPr/>
        </p:nvSpPr>
        <p:spPr>
          <a:xfrm>
            <a:off x="7419960" y="1362910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87" name="箭头: V 形 86"/>
          <p:cNvSpPr/>
          <p:nvPr/>
        </p:nvSpPr>
        <p:spPr>
          <a:xfrm rot="5400000">
            <a:off x="5994284" y="4717866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881981" y="3453443"/>
            <a:ext cx="759364" cy="628920"/>
            <a:chOff x="881981" y="3623869"/>
            <a:chExt cx="759364" cy="628920"/>
          </a:xfrm>
        </p:grpSpPr>
        <p:grpSp>
          <p:nvGrpSpPr>
            <p:cNvPr id="36" name="组合 35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9" name="弧形 28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7128000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58%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414811" y="3567678"/>
            <a:ext cx="75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22%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881981" y="4667378"/>
            <a:ext cx="759364" cy="628920"/>
            <a:chOff x="881981" y="3623869"/>
            <a:chExt cx="759364" cy="628920"/>
          </a:xfrm>
        </p:grpSpPr>
        <p:grpSp>
          <p:nvGrpSpPr>
            <p:cNvPr id="93" name="组合 92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96" name="弧形 95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938969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94" name="文本框 93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15%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2414811" y="4667378"/>
            <a:ext cx="759364" cy="628920"/>
            <a:chOff x="881981" y="3623869"/>
            <a:chExt cx="759364" cy="628920"/>
          </a:xfrm>
        </p:grpSpPr>
        <p:grpSp>
          <p:nvGrpSpPr>
            <p:cNvPr id="98" name="组合 97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00" name="椭圆 99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01" name="弧形 100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726249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99" name="文本框 98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5%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2466673" y="3456406"/>
            <a:ext cx="640299" cy="640298"/>
            <a:chOff x="2977601" y="3014493"/>
            <a:chExt cx="1518729" cy="1518728"/>
          </a:xfrm>
        </p:grpSpPr>
        <p:sp>
          <p:nvSpPr>
            <p:cNvPr id="102" name="椭圆 101"/>
            <p:cNvSpPr/>
            <p:nvPr/>
          </p:nvSpPr>
          <p:spPr>
            <a:xfrm>
              <a:off x="2977601" y="3014493"/>
              <a:ext cx="1518728" cy="1518728"/>
            </a:xfrm>
            <a:prstGeom prst="ellipse">
              <a:avLst/>
            </a:prstGeom>
            <a:noFill/>
            <a:ln w="381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03" name="弧形 102"/>
            <p:cNvSpPr/>
            <p:nvPr/>
          </p:nvSpPr>
          <p:spPr>
            <a:xfrm>
              <a:off x="2977603" y="3014493"/>
              <a:ext cx="1518727" cy="1518728"/>
            </a:xfrm>
            <a:prstGeom prst="arc">
              <a:avLst>
                <a:gd name="adj1" fmla="val 16200000"/>
                <a:gd name="adj2" fmla="val 20952000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06" name="矩形 105"/>
          <p:cNvSpPr/>
          <p:nvPr/>
        </p:nvSpPr>
        <p:spPr>
          <a:xfrm>
            <a:off x="8457604" y="1983128"/>
            <a:ext cx="3354660" cy="355435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388572" y="1080665"/>
            <a:ext cx="2824502" cy="73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b="1" i="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  <a:cs typeface="Roboto" panose="02000000000000000000" charset="0"/>
              </a:rPr>
              <a:t>原材料波动推高成本，但工艺改进对冲部分风险</a:t>
            </a:r>
            <a:endParaRPr lang="zh-CN" altLang="en-US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11224783" y="1133784"/>
            <a:ext cx="608442" cy="60844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Roboto" panose="02000000000000000000" charset="0"/>
            </a:endParaRPr>
          </a:p>
        </p:txBody>
      </p:sp>
      <p:cxnSp>
        <p:nvCxnSpPr>
          <p:cNvPr id="117" name="直线连接符 11"/>
          <p:cNvCxnSpPr/>
          <p:nvPr/>
        </p:nvCxnSpPr>
        <p:spPr>
          <a:xfrm>
            <a:off x="8457604" y="1860677"/>
            <a:ext cx="335466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/>
        </p:nvSpPr>
        <p:spPr>
          <a:xfrm>
            <a:off x="8593500" y="2129520"/>
            <a:ext cx="3165625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铜材价格上涨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12%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，但通过标准化生产降低废品率至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3%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（原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5%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），节省成本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230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万元。</a:t>
            </a:r>
          </a:p>
        </p:txBody>
      </p:sp>
      <p:sp>
        <p:nvSpPr>
          <p:cNvPr id="119" name="矩形 118"/>
          <p:cNvSpPr/>
          <p:nvPr/>
        </p:nvSpPr>
        <p:spPr>
          <a:xfrm>
            <a:off x="8681285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原材料采购</a:t>
            </a:r>
          </a:p>
        </p:txBody>
      </p:sp>
      <p:sp>
        <p:nvSpPr>
          <p:cNvPr id="120" name="矩形 119"/>
          <p:cNvSpPr/>
          <p:nvPr/>
        </p:nvSpPr>
        <p:spPr>
          <a:xfrm>
            <a:off x="10236120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设备折旧</a:t>
            </a:r>
          </a:p>
        </p:txBody>
      </p:sp>
      <p:sp>
        <p:nvSpPr>
          <p:cNvPr id="121" name="矩形 120"/>
          <p:cNvSpPr/>
          <p:nvPr/>
        </p:nvSpPr>
        <p:spPr>
          <a:xfrm>
            <a:off x="8681285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能源消耗</a:t>
            </a:r>
          </a:p>
        </p:txBody>
      </p:sp>
      <p:sp>
        <p:nvSpPr>
          <p:cNvPr id="122" name="矩形 121"/>
          <p:cNvSpPr/>
          <p:nvPr/>
        </p:nvSpPr>
        <p:spPr>
          <a:xfrm>
            <a:off x="10236120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质量损耗</a:t>
            </a:r>
          </a:p>
        </p:txBody>
      </p:sp>
      <p:grpSp>
        <p:nvGrpSpPr>
          <p:cNvPr id="123" name="组合 122"/>
          <p:cNvGrpSpPr/>
          <p:nvPr/>
        </p:nvGrpSpPr>
        <p:grpSpPr>
          <a:xfrm>
            <a:off x="8971285" y="3453443"/>
            <a:ext cx="759364" cy="628920"/>
            <a:chOff x="881981" y="3623869"/>
            <a:chExt cx="759364" cy="628920"/>
          </a:xfrm>
        </p:grpSpPr>
        <p:grpSp>
          <p:nvGrpSpPr>
            <p:cNvPr id="124" name="组合 123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26" name="椭圆 125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27" name="弧形 126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587465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25" name="文本框 124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65%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10504115" y="3567678"/>
            <a:ext cx="75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18%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8971285" y="4667378"/>
            <a:ext cx="759364" cy="628920"/>
            <a:chOff x="881981" y="3623869"/>
            <a:chExt cx="759364" cy="628920"/>
          </a:xfrm>
        </p:grpSpPr>
        <p:grpSp>
          <p:nvGrpSpPr>
            <p:cNvPr id="130" name="组合 129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32" name="椭圆 131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3" name="弧形 132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8307984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31" name="文本框 130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10%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10504115" y="4667378"/>
            <a:ext cx="759364" cy="628920"/>
            <a:chOff x="881981" y="3623869"/>
            <a:chExt cx="759364" cy="628920"/>
          </a:xfrm>
        </p:grpSpPr>
        <p:grpSp>
          <p:nvGrpSpPr>
            <p:cNvPr id="135" name="组合 134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37" name="椭圆 136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8" name="弧形 137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7457861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36" name="文本框 135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7%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10555977" y="3456406"/>
            <a:ext cx="640299" cy="640298"/>
            <a:chOff x="2977601" y="3014493"/>
            <a:chExt cx="1518729" cy="1518728"/>
          </a:xfrm>
        </p:grpSpPr>
        <p:sp>
          <p:nvSpPr>
            <p:cNvPr id="140" name="椭圆 139"/>
            <p:cNvSpPr/>
            <p:nvPr/>
          </p:nvSpPr>
          <p:spPr>
            <a:xfrm>
              <a:off x="2977601" y="3014493"/>
              <a:ext cx="1518728" cy="1518728"/>
            </a:xfrm>
            <a:prstGeom prst="ellipse">
              <a:avLst/>
            </a:prstGeom>
            <a:noFill/>
            <a:ln w="381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1" name="弧形 140"/>
            <p:cNvSpPr/>
            <p:nvPr/>
          </p:nvSpPr>
          <p:spPr>
            <a:xfrm>
              <a:off x="2977603" y="3014493"/>
              <a:ext cx="1518727" cy="1518728"/>
            </a:xfrm>
            <a:prstGeom prst="arc">
              <a:avLst>
                <a:gd name="adj1" fmla="val 16200000"/>
                <a:gd name="adj2" fmla="val 19966674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1176705" y="6036827"/>
            <a:ext cx="2171525" cy="305853"/>
            <a:chOff x="355600" y="6294662"/>
            <a:chExt cx="2171525" cy="305853"/>
          </a:xfrm>
        </p:grpSpPr>
        <p:sp>
          <p:nvSpPr>
            <p:cNvPr id="74" name="矩形 73"/>
            <p:cNvSpPr/>
            <p:nvPr/>
          </p:nvSpPr>
          <p:spPr>
            <a:xfrm>
              <a:off x="1844311" y="6313403"/>
              <a:ext cx="682814" cy="268372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+mj-ea"/>
                  <a:ea typeface="+mj-ea"/>
                  <a:cs typeface="Roboto" panose="02000000000000000000" charset="0"/>
                </a:rPr>
                <a:t>40%</a:t>
              </a:r>
              <a:endParaRPr lang="zh-CN" altLang="en-US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55600" y="6294662"/>
              <a:ext cx="1473200" cy="305853"/>
            </a:xfrm>
            <a:prstGeom prst="rect">
              <a:avLst/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+mn-ea"/>
                  <a:cs typeface="Roboto" panose="02000000000000000000" charset="0"/>
                </a:rPr>
                <a:t>运输费用</a:t>
              </a:r>
            </a:p>
          </p:txBody>
        </p:sp>
      </p:grpSp>
      <p:sp>
        <p:nvSpPr>
          <p:cNvPr id="77" name="矩形 76"/>
          <p:cNvSpPr/>
          <p:nvPr/>
        </p:nvSpPr>
        <p:spPr>
          <a:xfrm>
            <a:off x="5345049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rPr>
              <a:t>30%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856338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仓储租金</a:t>
            </a:r>
          </a:p>
        </p:txBody>
      </p:sp>
      <p:sp>
        <p:nvSpPr>
          <p:cNvPr id="80" name="矩形 79"/>
          <p:cNvSpPr/>
          <p:nvPr/>
        </p:nvSpPr>
        <p:spPr>
          <a:xfrm>
            <a:off x="8024682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rPr>
              <a:t>20%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535971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库存损耗</a:t>
            </a:r>
          </a:p>
        </p:txBody>
      </p:sp>
      <p:sp>
        <p:nvSpPr>
          <p:cNvPr id="83" name="矩形 82"/>
          <p:cNvSpPr/>
          <p:nvPr/>
        </p:nvSpPr>
        <p:spPr>
          <a:xfrm>
            <a:off x="10704315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rPr>
              <a:t>10%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215604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保险及税费</a:t>
            </a:r>
          </a:p>
        </p:txBody>
      </p:sp>
      <p:grpSp>
        <p:nvGrpSpPr>
          <p:cNvPr id="147" name="组合 146"/>
          <p:cNvGrpSpPr/>
          <p:nvPr/>
        </p:nvGrpSpPr>
        <p:grpSpPr>
          <a:xfrm>
            <a:off x="814395" y="6027782"/>
            <a:ext cx="302588" cy="302588"/>
            <a:chOff x="3861775" y="2457822"/>
            <a:chExt cx="762000" cy="762000"/>
          </a:xfrm>
        </p:grpSpPr>
        <p:sp>
          <p:nvSpPr>
            <p:cNvPr id="148" name="Rectangle: Rounded Corners 27"/>
            <p:cNvSpPr/>
            <p:nvPr/>
          </p:nvSpPr>
          <p:spPr>
            <a:xfrm>
              <a:off x="3861775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49" name="图形 148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50" name="组合 149"/>
          <p:cNvGrpSpPr/>
          <p:nvPr/>
        </p:nvGrpSpPr>
        <p:grpSpPr>
          <a:xfrm>
            <a:off x="3476661" y="6027782"/>
            <a:ext cx="302588" cy="302588"/>
            <a:chOff x="3837791" y="2457822"/>
            <a:chExt cx="762000" cy="762000"/>
          </a:xfrm>
        </p:grpSpPr>
        <p:sp>
          <p:nvSpPr>
            <p:cNvPr id="151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ID" sz="1200" kern="0">
                <a:solidFill>
                  <a:srgbClr val="FEFFFF"/>
                </a:solidFill>
                <a:latin typeface="Roboto" panose="02000000000000000000" charset="0"/>
                <a:cs typeface="Arial" panose="020B0604020202020204" pitchFamily="34" charset="0"/>
              </a:endParaRPr>
            </a:p>
          </p:txBody>
        </p:sp>
        <p:pic>
          <p:nvPicPr>
            <p:cNvPr id="152" name="图形 151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</p:pic>
      </p:grpSp>
      <p:sp>
        <p:nvSpPr>
          <p:cNvPr id="154" name="Rectangle: Rounded Corners 27"/>
          <p:cNvSpPr/>
          <p:nvPr/>
        </p:nvSpPr>
        <p:spPr>
          <a:xfrm>
            <a:off x="6148451" y="6027782"/>
            <a:ext cx="302588" cy="3025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635000" dist="254000" dir="2700000" sx="90000" sy="9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lstStyle/>
          <a:p>
            <a:pPr algn="ctr"/>
            <a:endParaRPr lang="en-ID" sz="1200" kern="0">
              <a:solidFill>
                <a:srgbClr val="FEFFFF"/>
              </a:solidFill>
              <a:latin typeface="Roboto" panose="02000000000000000000" charset="0"/>
              <a:cs typeface="Arial" panose="020B0604020202020204" pitchFamily="34" charset="0"/>
            </a:endParaRPr>
          </a:p>
        </p:txBody>
      </p:sp>
      <p:pic>
        <p:nvPicPr>
          <p:cNvPr id="155" name="图形 154" descr="条形图 纯色填充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045" y="6079466"/>
            <a:ext cx="181553" cy="181553"/>
          </a:xfrm>
          <a:prstGeom prst="rect">
            <a:avLst/>
          </a:prstGeom>
        </p:spPr>
      </p:pic>
      <p:sp>
        <p:nvSpPr>
          <p:cNvPr id="157" name="Rectangle: Rounded Corners 27"/>
          <p:cNvSpPr/>
          <p:nvPr/>
        </p:nvSpPr>
        <p:spPr>
          <a:xfrm>
            <a:off x="8820241" y="6027782"/>
            <a:ext cx="302588" cy="3025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635000" dist="254000" dir="2700000" sx="90000" sy="9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lstStyle/>
          <a:p>
            <a:pPr algn="ctr"/>
            <a:endParaRPr lang="en-ID" sz="1200" kern="0">
              <a:solidFill>
                <a:srgbClr val="FEFFFF"/>
              </a:solidFill>
              <a:latin typeface="Roboto" panose="02000000000000000000" charset="0"/>
              <a:cs typeface="Arial" panose="020B0604020202020204" pitchFamily="34" charset="0"/>
            </a:endParaRPr>
          </a:p>
        </p:txBody>
      </p:sp>
      <p:pic>
        <p:nvPicPr>
          <p:cNvPr id="158" name="图形 157" descr="条形图 纯色填充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35" y="6079466"/>
            <a:ext cx="181553" cy="181553"/>
          </a:xfrm>
          <a:prstGeom prst="rect">
            <a:avLst/>
          </a:prstGeom>
        </p:spPr>
      </p:pic>
      <p:grpSp>
        <p:nvGrpSpPr>
          <p:cNvPr id="160" name="Google Shape;6643;p79"/>
          <p:cNvGrpSpPr/>
          <p:nvPr/>
        </p:nvGrpSpPr>
        <p:grpSpPr>
          <a:xfrm>
            <a:off x="11339566" y="1255459"/>
            <a:ext cx="378876" cy="369332"/>
            <a:chOff x="-31817400" y="3910025"/>
            <a:chExt cx="301675" cy="294075"/>
          </a:xfrm>
          <a:solidFill>
            <a:schemeClr val="bg1"/>
          </a:solidFill>
        </p:grpSpPr>
        <p:sp>
          <p:nvSpPr>
            <p:cNvPr id="161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2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3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355600" y="1024845"/>
            <a:ext cx="2673350" cy="99478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spc="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阶段</a:t>
            </a:r>
          </a:p>
        </p:txBody>
      </p:sp>
      <p:sp>
        <p:nvSpPr>
          <p:cNvPr id="220" name="矩形 219"/>
          <p:cNvSpPr/>
          <p:nvPr/>
        </p:nvSpPr>
        <p:spPr>
          <a:xfrm>
            <a:off x="355600" y="5312940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5600" y="2110120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355600" y="4245334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355600" y="3177727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072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四段内容页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年中总结路径规划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任意多边形: 形状 175"/>
          <p:cNvSpPr/>
          <p:nvPr/>
        </p:nvSpPr>
        <p:spPr>
          <a:xfrm>
            <a:off x="4865899" y="5320738"/>
            <a:ext cx="2357330" cy="980492"/>
          </a:xfrm>
          <a:custGeom>
            <a:avLst/>
            <a:gdLst>
              <a:gd name="connsiteX0" fmla="*/ 0 w 2357330"/>
              <a:gd name="connsiteY0" fmla="*/ 0 h 980492"/>
              <a:gd name="connsiteX1" fmla="*/ 2357330 w 2357330"/>
              <a:gd name="connsiteY1" fmla="*/ 0 h 980492"/>
              <a:gd name="connsiteX2" fmla="*/ 2298744 w 2357330"/>
              <a:gd name="connsiteY2" fmla="*/ 391362 h 980492"/>
              <a:gd name="connsiteX3" fmla="*/ 2252684 w 2357330"/>
              <a:gd name="connsiteY3" fmla="*/ 811768 h 980492"/>
              <a:gd name="connsiteX4" fmla="*/ 2240663 w 2357330"/>
              <a:gd name="connsiteY4" fmla="*/ 980492 h 980492"/>
              <a:gd name="connsiteX5" fmla="*/ 116668 w 2357330"/>
              <a:gd name="connsiteY5" fmla="*/ 980492 h 980492"/>
              <a:gd name="connsiteX6" fmla="*/ 104646 w 2357330"/>
              <a:gd name="connsiteY6" fmla="*/ 811768 h 980492"/>
              <a:gd name="connsiteX7" fmla="*/ 58586 w 2357330"/>
              <a:gd name="connsiteY7" fmla="*/ 391362 h 980492"/>
              <a:gd name="connsiteX8" fmla="*/ 0 w 2357330"/>
              <a:gd name="connsiteY8" fmla="*/ 0 h 9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7330" h="980492">
                <a:moveTo>
                  <a:pt x="0" y="0"/>
                </a:moveTo>
                <a:lnTo>
                  <a:pt x="2357330" y="0"/>
                </a:lnTo>
                <a:lnTo>
                  <a:pt x="2298744" y="391362"/>
                </a:lnTo>
                <a:cubicBezTo>
                  <a:pt x="2280463" y="532379"/>
                  <a:pt x="2265118" y="672561"/>
                  <a:pt x="2252684" y="811768"/>
                </a:cubicBezTo>
                <a:lnTo>
                  <a:pt x="2240663" y="980492"/>
                </a:lnTo>
                <a:lnTo>
                  <a:pt x="116668" y="980492"/>
                </a:lnTo>
                <a:lnTo>
                  <a:pt x="104646" y="811768"/>
                </a:lnTo>
                <a:cubicBezTo>
                  <a:pt x="92212" y="672561"/>
                  <a:pt x="76868" y="532379"/>
                  <a:pt x="58586" y="39136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207" name="椭圆 206"/>
          <p:cNvSpPr/>
          <p:nvPr/>
        </p:nvSpPr>
        <p:spPr>
          <a:xfrm>
            <a:off x="4865899" y="5220475"/>
            <a:ext cx="2357330" cy="200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9" name="任意多边形: 形状 208"/>
          <p:cNvSpPr/>
          <p:nvPr/>
        </p:nvSpPr>
        <p:spPr>
          <a:xfrm>
            <a:off x="4633019" y="4250532"/>
            <a:ext cx="2823088" cy="1026146"/>
          </a:xfrm>
          <a:custGeom>
            <a:avLst/>
            <a:gdLst>
              <a:gd name="connsiteX0" fmla="*/ 0 w 2823088"/>
              <a:gd name="connsiteY0" fmla="*/ 0 h 1026146"/>
              <a:gd name="connsiteX1" fmla="*/ 2823088 w 2823088"/>
              <a:gd name="connsiteY1" fmla="*/ 0 h 1026146"/>
              <a:gd name="connsiteX2" fmla="*/ 2776181 w 2823088"/>
              <a:gd name="connsiteY2" fmla="*/ 173751 h 1026146"/>
              <a:gd name="connsiteX3" fmla="*/ 2676772 w 2823088"/>
              <a:gd name="connsiteY3" fmla="*/ 606602 h 1026146"/>
              <a:gd name="connsiteX4" fmla="*/ 2607080 w 2823088"/>
              <a:gd name="connsiteY4" fmla="*/ 974080 h 1026146"/>
              <a:gd name="connsiteX5" fmla="*/ 2610743 w 2823088"/>
              <a:gd name="connsiteY5" fmla="*/ 975613 h 1026146"/>
              <a:gd name="connsiteX6" fmla="*/ 2606448 w 2823088"/>
              <a:gd name="connsiteY6" fmla="*/ 977411 h 1026146"/>
              <a:gd name="connsiteX7" fmla="*/ 2605864 w 2823088"/>
              <a:gd name="connsiteY7" fmla="*/ 980491 h 1026146"/>
              <a:gd name="connsiteX8" fmla="*/ 2599088 w 2823088"/>
              <a:gd name="connsiteY8" fmla="*/ 980491 h 1026146"/>
              <a:gd name="connsiteX9" fmla="*/ 2586409 w 2823088"/>
              <a:gd name="connsiteY9" fmla="*/ 985798 h 1026146"/>
              <a:gd name="connsiteX10" fmla="*/ 1412974 w 2823088"/>
              <a:gd name="connsiteY10" fmla="*/ 1026146 h 1026146"/>
              <a:gd name="connsiteX11" fmla="*/ 239540 w 2823088"/>
              <a:gd name="connsiteY11" fmla="*/ 985798 h 1026146"/>
              <a:gd name="connsiteX12" fmla="*/ 226861 w 2823088"/>
              <a:gd name="connsiteY12" fmla="*/ 980491 h 1026146"/>
              <a:gd name="connsiteX13" fmla="*/ 217225 w 2823088"/>
              <a:gd name="connsiteY13" fmla="*/ 980491 h 1026146"/>
              <a:gd name="connsiteX14" fmla="*/ 216395 w 2823088"/>
              <a:gd name="connsiteY14" fmla="*/ 976111 h 1026146"/>
              <a:gd name="connsiteX15" fmla="*/ 215205 w 2823088"/>
              <a:gd name="connsiteY15" fmla="*/ 975613 h 1026146"/>
              <a:gd name="connsiteX16" fmla="*/ 216220 w 2823088"/>
              <a:gd name="connsiteY16" fmla="*/ 975189 h 1026146"/>
              <a:gd name="connsiteX17" fmla="*/ 146316 w 2823088"/>
              <a:gd name="connsiteY17" fmla="*/ 606602 h 1026146"/>
              <a:gd name="connsiteX18" fmla="*/ 46907 w 2823088"/>
              <a:gd name="connsiteY18" fmla="*/ 173751 h 102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23088" h="1026146">
                <a:moveTo>
                  <a:pt x="0" y="0"/>
                </a:moveTo>
                <a:lnTo>
                  <a:pt x="2823088" y="0"/>
                </a:lnTo>
                <a:lnTo>
                  <a:pt x="2776181" y="173751"/>
                </a:lnTo>
                <a:cubicBezTo>
                  <a:pt x="2740037" y="318489"/>
                  <a:pt x="2706909" y="462819"/>
                  <a:pt x="2676772" y="606602"/>
                </a:cubicBezTo>
                <a:lnTo>
                  <a:pt x="2607080" y="974080"/>
                </a:lnTo>
                <a:lnTo>
                  <a:pt x="2610743" y="975613"/>
                </a:lnTo>
                <a:lnTo>
                  <a:pt x="2606448" y="977411"/>
                </a:lnTo>
                <a:lnTo>
                  <a:pt x="2605864" y="980491"/>
                </a:lnTo>
                <a:lnTo>
                  <a:pt x="2599088" y="980491"/>
                </a:lnTo>
                <a:lnTo>
                  <a:pt x="2586409" y="985798"/>
                </a:lnTo>
                <a:cubicBezTo>
                  <a:pt x="2474721" y="1008825"/>
                  <a:pt x="1991796" y="1026146"/>
                  <a:pt x="1412974" y="1026146"/>
                </a:cubicBezTo>
                <a:cubicBezTo>
                  <a:pt x="834153" y="1026146"/>
                  <a:pt x="351227" y="1008825"/>
                  <a:pt x="239540" y="985798"/>
                </a:cubicBezTo>
                <a:lnTo>
                  <a:pt x="226861" y="980491"/>
                </a:lnTo>
                <a:lnTo>
                  <a:pt x="217225" y="980491"/>
                </a:lnTo>
                <a:lnTo>
                  <a:pt x="216395" y="976111"/>
                </a:lnTo>
                <a:lnTo>
                  <a:pt x="215205" y="975613"/>
                </a:lnTo>
                <a:lnTo>
                  <a:pt x="216220" y="975189"/>
                </a:lnTo>
                <a:lnTo>
                  <a:pt x="146316" y="606602"/>
                </a:lnTo>
                <a:cubicBezTo>
                  <a:pt x="116179" y="462819"/>
                  <a:pt x="83052" y="318489"/>
                  <a:pt x="46907" y="17375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205" name="椭圆 204"/>
          <p:cNvSpPr/>
          <p:nvPr/>
        </p:nvSpPr>
        <p:spPr>
          <a:xfrm>
            <a:off x="4633018" y="4148123"/>
            <a:ext cx="2823089" cy="200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8" name="任意多边形: 形状 207"/>
          <p:cNvSpPr/>
          <p:nvPr/>
        </p:nvSpPr>
        <p:spPr>
          <a:xfrm>
            <a:off x="4295628" y="3180327"/>
            <a:ext cx="3497870" cy="1024553"/>
          </a:xfrm>
          <a:custGeom>
            <a:avLst/>
            <a:gdLst>
              <a:gd name="connsiteX0" fmla="*/ 0 w 3497870"/>
              <a:gd name="connsiteY0" fmla="*/ 0 h 1024553"/>
              <a:gd name="connsiteX1" fmla="*/ 3497870 w 3497870"/>
              <a:gd name="connsiteY1" fmla="*/ 0 h 1024553"/>
              <a:gd name="connsiteX2" fmla="*/ 3366860 w 3497870"/>
              <a:gd name="connsiteY2" fmla="*/ 371795 h 1024553"/>
              <a:gd name="connsiteX3" fmla="*/ 3231085 w 3497870"/>
              <a:gd name="connsiteY3" fmla="*/ 808668 h 1024553"/>
              <a:gd name="connsiteX4" fmla="*/ 3186567 w 3497870"/>
              <a:gd name="connsiteY4" fmla="*/ 973574 h 1024553"/>
              <a:gd name="connsiteX5" fmla="*/ 3187846 w 3497870"/>
              <a:gd name="connsiteY5" fmla="*/ 974020 h 1024553"/>
              <a:gd name="connsiteX6" fmla="*/ 3186301 w 3497870"/>
              <a:gd name="connsiteY6" fmla="*/ 974559 h 1024553"/>
              <a:gd name="connsiteX7" fmla="*/ 3184699 w 3497870"/>
              <a:gd name="connsiteY7" fmla="*/ 980491 h 1024553"/>
              <a:gd name="connsiteX8" fmla="*/ 3169280 w 3497870"/>
              <a:gd name="connsiteY8" fmla="*/ 980491 h 1024553"/>
              <a:gd name="connsiteX9" fmla="*/ 3158626 w 3497870"/>
              <a:gd name="connsiteY9" fmla="*/ 984205 h 1024553"/>
              <a:gd name="connsiteX10" fmla="*/ 1749571 w 3497870"/>
              <a:gd name="connsiteY10" fmla="*/ 1024553 h 1024553"/>
              <a:gd name="connsiteX11" fmla="*/ 340517 w 3497870"/>
              <a:gd name="connsiteY11" fmla="*/ 984205 h 1024553"/>
              <a:gd name="connsiteX12" fmla="*/ 329863 w 3497870"/>
              <a:gd name="connsiteY12" fmla="*/ 980491 h 1024553"/>
              <a:gd name="connsiteX13" fmla="*/ 313172 w 3497870"/>
              <a:gd name="connsiteY13" fmla="*/ 980491 h 1024553"/>
              <a:gd name="connsiteX14" fmla="*/ 311439 w 3497870"/>
              <a:gd name="connsiteY14" fmla="*/ 974070 h 1024553"/>
              <a:gd name="connsiteX15" fmla="*/ 311296 w 3497870"/>
              <a:gd name="connsiteY15" fmla="*/ 974020 h 1024553"/>
              <a:gd name="connsiteX16" fmla="*/ 311414 w 3497870"/>
              <a:gd name="connsiteY16" fmla="*/ 973979 h 1024553"/>
              <a:gd name="connsiteX17" fmla="*/ 266785 w 3497870"/>
              <a:gd name="connsiteY17" fmla="*/ 808668 h 1024553"/>
              <a:gd name="connsiteX18" fmla="*/ 131010 w 3497870"/>
              <a:gd name="connsiteY18" fmla="*/ 371795 h 102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97870" h="1024553">
                <a:moveTo>
                  <a:pt x="0" y="0"/>
                </a:moveTo>
                <a:lnTo>
                  <a:pt x="3497870" y="0"/>
                </a:lnTo>
                <a:lnTo>
                  <a:pt x="3366860" y="371795"/>
                </a:lnTo>
                <a:cubicBezTo>
                  <a:pt x="3318540" y="517588"/>
                  <a:pt x="3273291" y="663260"/>
                  <a:pt x="3231085" y="808668"/>
                </a:cubicBezTo>
                <a:lnTo>
                  <a:pt x="3186567" y="973574"/>
                </a:lnTo>
                <a:lnTo>
                  <a:pt x="3187846" y="974020"/>
                </a:lnTo>
                <a:lnTo>
                  <a:pt x="3186301" y="974559"/>
                </a:lnTo>
                <a:lnTo>
                  <a:pt x="3184699" y="980491"/>
                </a:lnTo>
                <a:lnTo>
                  <a:pt x="3169280" y="980491"/>
                </a:lnTo>
                <a:lnTo>
                  <a:pt x="3158626" y="984205"/>
                </a:lnTo>
                <a:cubicBezTo>
                  <a:pt x="3024512" y="1007232"/>
                  <a:pt x="2444616" y="1024553"/>
                  <a:pt x="1749571" y="1024553"/>
                </a:cubicBezTo>
                <a:cubicBezTo>
                  <a:pt x="1054526" y="1024553"/>
                  <a:pt x="474631" y="1007232"/>
                  <a:pt x="340517" y="984205"/>
                </a:cubicBezTo>
                <a:lnTo>
                  <a:pt x="329863" y="980491"/>
                </a:lnTo>
                <a:lnTo>
                  <a:pt x="313172" y="980491"/>
                </a:lnTo>
                <a:lnTo>
                  <a:pt x="311439" y="974070"/>
                </a:lnTo>
                <a:lnTo>
                  <a:pt x="311296" y="974020"/>
                </a:lnTo>
                <a:lnTo>
                  <a:pt x="311414" y="973979"/>
                </a:lnTo>
                <a:lnTo>
                  <a:pt x="266785" y="808668"/>
                </a:lnTo>
                <a:cubicBezTo>
                  <a:pt x="224580" y="663260"/>
                  <a:pt x="179330" y="517588"/>
                  <a:pt x="131010" y="37179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200" name="椭圆 199"/>
          <p:cNvSpPr/>
          <p:nvPr/>
        </p:nvSpPr>
        <p:spPr>
          <a:xfrm>
            <a:off x="4295629" y="3036399"/>
            <a:ext cx="3497870" cy="2804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9" name="任意多边形: 形状 198"/>
          <p:cNvSpPr/>
          <p:nvPr/>
        </p:nvSpPr>
        <p:spPr>
          <a:xfrm>
            <a:off x="3845006" y="2110120"/>
            <a:ext cx="4399116" cy="1044204"/>
          </a:xfrm>
          <a:custGeom>
            <a:avLst/>
            <a:gdLst>
              <a:gd name="connsiteX0" fmla="*/ 0 w 4399116"/>
              <a:gd name="connsiteY0" fmla="*/ 0 h 1044204"/>
              <a:gd name="connsiteX1" fmla="*/ 4399116 w 4399116"/>
              <a:gd name="connsiteY1" fmla="*/ 0 h 1044204"/>
              <a:gd name="connsiteX2" fmla="*/ 4311758 w 4399116"/>
              <a:gd name="connsiteY2" fmla="*/ 183400 h 1044204"/>
              <a:gd name="connsiteX3" fmla="*/ 4144463 w 4399116"/>
              <a:gd name="connsiteY3" fmla="*/ 566919 h 1044204"/>
              <a:gd name="connsiteX4" fmla="*/ 3983167 w 4399116"/>
              <a:gd name="connsiteY4" fmla="*/ 975319 h 1044204"/>
              <a:gd name="connsiteX5" fmla="*/ 3985496 w 4399116"/>
              <a:gd name="connsiteY5" fmla="*/ 976199 h 1044204"/>
              <a:gd name="connsiteX6" fmla="*/ 3982350 w 4399116"/>
              <a:gd name="connsiteY6" fmla="*/ 977388 h 1044204"/>
              <a:gd name="connsiteX7" fmla="*/ 3981124 w 4399116"/>
              <a:gd name="connsiteY7" fmla="*/ 980491 h 1044204"/>
              <a:gd name="connsiteX8" fmla="*/ 3974133 w 4399116"/>
              <a:gd name="connsiteY8" fmla="*/ 980491 h 1044204"/>
              <a:gd name="connsiteX9" fmla="*/ 3949212 w 4399116"/>
              <a:gd name="connsiteY9" fmla="*/ 989904 h 1044204"/>
              <a:gd name="connsiteX10" fmla="*/ 2199558 w 4399116"/>
              <a:gd name="connsiteY10" fmla="*/ 1044204 h 1044204"/>
              <a:gd name="connsiteX11" fmla="*/ 449904 w 4399116"/>
              <a:gd name="connsiteY11" fmla="*/ 989904 h 1044204"/>
              <a:gd name="connsiteX12" fmla="*/ 424983 w 4399116"/>
              <a:gd name="connsiteY12" fmla="*/ 980491 h 1044204"/>
              <a:gd name="connsiteX13" fmla="*/ 417993 w 4399116"/>
              <a:gd name="connsiteY13" fmla="*/ 980491 h 1044204"/>
              <a:gd name="connsiteX14" fmla="*/ 416768 w 4399116"/>
              <a:gd name="connsiteY14" fmla="*/ 977388 h 1044204"/>
              <a:gd name="connsiteX15" fmla="*/ 413620 w 4399116"/>
              <a:gd name="connsiteY15" fmla="*/ 976199 h 1044204"/>
              <a:gd name="connsiteX16" fmla="*/ 415951 w 4399116"/>
              <a:gd name="connsiteY16" fmla="*/ 975319 h 1044204"/>
              <a:gd name="connsiteX17" fmla="*/ 254653 w 4399116"/>
              <a:gd name="connsiteY17" fmla="*/ 566919 h 1044204"/>
              <a:gd name="connsiteX18" fmla="*/ 87358 w 4399116"/>
              <a:gd name="connsiteY18" fmla="*/ 183400 h 104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9116" h="1044204">
                <a:moveTo>
                  <a:pt x="0" y="0"/>
                </a:moveTo>
                <a:lnTo>
                  <a:pt x="4399116" y="0"/>
                </a:lnTo>
                <a:lnTo>
                  <a:pt x="4311758" y="183400"/>
                </a:lnTo>
                <a:cubicBezTo>
                  <a:pt x="4254220" y="309540"/>
                  <a:pt x="4198427" y="437398"/>
                  <a:pt x="4144463" y="566919"/>
                </a:cubicBezTo>
                <a:lnTo>
                  <a:pt x="3983167" y="975319"/>
                </a:lnTo>
                <a:lnTo>
                  <a:pt x="3985496" y="976199"/>
                </a:lnTo>
                <a:lnTo>
                  <a:pt x="3982350" y="977388"/>
                </a:lnTo>
                <a:lnTo>
                  <a:pt x="3981124" y="980491"/>
                </a:lnTo>
                <a:lnTo>
                  <a:pt x="3974133" y="980491"/>
                </a:lnTo>
                <a:lnTo>
                  <a:pt x="3949212" y="989904"/>
                </a:lnTo>
                <a:cubicBezTo>
                  <a:pt x="3782680" y="1020893"/>
                  <a:pt x="3062611" y="1044204"/>
                  <a:pt x="2199558" y="1044204"/>
                </a:cubicBezTo>
                <a:cubicBezTo>
                  <a:pt x="1336506" y="1044204"/>
                  <a:pt x="616436" y="1020893"/>
                  <a:pt x="449904" y="989904"/>
                </a:cubicBezTo>
                <a:lnTo>
                  <a:pt x="424983" y="980491"/>
                </a:lnTo>
                <a:lnTo>
                  <a:pt x="417993" y="980491"/>
                </a:lnTo>
                <a:lnTo>
                  <a:pt x="416768" y="977388"/>
                </a:lnTo>
                <a:lnTo>
                  <a:pt x="413620" y="976199"/>
                </a:lnTo>
                <a:lnTo>
                  <a:pt x="415951" y="975319"/>
                </a:lnTo>
                <a:lnTo>
                  <a:pt x="254653" y="566919"/>
                </a:lnTo>
                <a:cubicBezTo>
                  <a:pt x="200690" y="437398"/>
                  <a:pt x="144897" y="309540"/>
                  <a:pt x="87358" y="18340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195" name="椭圆 194"/>
          <p:cNvSpPr/>
          <p:nvPr/>
        </p:nvSpPr>
        <p:spPr>
          <a:xfrm>
            <a:off x="3845006" y="1951861"/>
            <a:ext cx="4399116" cy="2804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5149" y="554150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产品验证期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5535450" y="5760905"/>
            <a:ext cx="10182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2024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14" name="矩形 213"/>
          <p:cNvSpPr/>
          <p:nvPr/>
        </p:nvSpPr>
        <p:spPr>
          <a:xfrm>
            <a:off x="5375149" y="450915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天使轮投入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5" name="矩形 214"/>
          <p:cNvSpPr/>
          <p:nvPr/>
        </p:nvSpPr>
        <p:spPr>
          <a:xfrm>
            <a:off x="5535450" y="4728555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2025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16" name="矩形 215"/>
          <p:cNvSpPr/>
          <p:nvPr/>
        </p:nvSpPr>
        <p:spPr>
          <a:xfrm>
            <a:off x="5375149" y="341792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市场扩张期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7" name="矩形 216"/>
          <p:cNvSpPr/>
          <p:nvPr/>
        </p:nvSpPr>
        <p:spPr>
          <a:xfrm>
            <a:off x="5474334" y="3637327"/>
            <a:ext cx="11404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2026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5536880" y="2349912"/>
            <a:ext cx="101536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A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轮投入</a:t>
            </a:r>
            <a:endParaRPr lang="zh-CN" altLang="en-US" b="1" i="0" dirty="0">
              <a:solidFill>
                <a:schemeClr val="bg1"/>
              </a:soli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5535450" y="2569317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2027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16623" y="5473180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完成前期开发与种子用户测试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1016623" y="4431349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投入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800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万，启动小批量生产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1016623" y="3389519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占领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3%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细分市场，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Pre-A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轮铺垫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1016623" y="2263435"/>
            <a:ext cx="2674615" cy="730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投入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5000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万，拓展产品线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16462" y="2115591"/>
            <a:ext cx="1247979" cy="4266750"/>
            <a:chOff x="3616462" y="1270749"/>
            <a:chExt cx="1247979" cy="4266750"/>
          </a:xfrm>
        </p:grpSpPr>
        <p:sp>
          <p:nvSpPr>
            <p:cNvPr id="14" name="任意多边形: 形状 13"/>
            <p:cNvSpPr/>
            <p:nvPr/>
          </p:nvSpPr>
          <p:spPr>
            <a:xfrm>
              <a:off x="3711160" y="1455217"/>
              <a:ext cx="1153281" cy="4082282"/>
            </a:xfrm>
            <a:custGeom>
              <a:avLst/>
              <a:gdLst>
                <a:gd name="connsiteX0" fmla="*/ 24907 w 1061841"/>
                <a:gd name="connsiteY0" fmla="*/ 0 h 3990842"/>
                <a:gd name="connsiteX1" fmla="*/ 164250 w 1061841"/>
                <a:gd name="connsiteY1" fmla="*/ 336499 h 3990842"/>
                <a:gd name="connsiteX2" fmla="*/ 718941 w 1061841"/>
                <a:gd name="connsiteY2" fmla="*/ 1913271 h 3990842"/>
                <a:gd name="connsiteX3" fmla="*/ 1061841 w 1061841"/>
                <a:gd name="connsiteY3" fmla="*/ 3990842 h 3990842"/>
                <a:gd name="connsiteX4" fmla="*/ 0 w 1061841"/>
                <a:gd name="connsiteY4" fmla="*/ 12137 h 3990842"/>
                <a:gd name="connsiteX5" fmla="*/ 22811 w 1061841"/>
                <a:gd name="connsiteY5" fmla="*/ 1487 h 3990842"/>
                <a:gd name="connsiteX0-1" fmla="*/ 1061841 w 1153281"/>
                <a:gd name="connsiteY0-2" fmla="*/ 3990842 h 4082282"/>
                <a:gd name="connsiteX1-3" fmla="*/ 0 w 1153281"/>
                <a:gd name="connsiteY1-4" fmla="*/ 12137 h 4082282"/>
                <a:gd name="connsiteX2-5" fmla="*/ 22811 w 1153281"/>
                <a:gd name="connsiteY2-6" fmla="*/ 1487 h 4082282"/>
                <a:gd name="connsiteX3-7" fmla="*/ 24907 w 1153281"/>
                <a:gd name="connsiteY3-8" fmla="*/ 0 h 4082282"/>
                <a:gd name="connsiteX4-9" fmla="*/ 164250 w 1153281"/>
                <a:gd name="connsiteY4-10" fmla="*/ 336499 h 4082282"/>
                <a:gd name="connsiteX5-11" fmla="*/ 718941 w 1153281"/>
                <a:gd name="connsiteY5-12" fmla="*/ 1913271 h 4082282"/>
                <a:gd name="connsiteX6" fmla="*/ 1153281 w 1153281"/>
                <a:gd name="connsiteY6" fmla="*/ 4082282 h 4082282"/>
                <a:gd name="connsiteX0-13" fmla="*/ 1061841 w 1153281"/>
                <a:gd name="connsiteY0-14" fmla="*/ 3990842 h 4082282"/>
                <a:gd name="connsiteX1-15" fmla="*/ 1051340 w 1153281"/>
                <a:gd name="connsiteY1-16" fmla="*/ 4021658 h 4082282"/>
                <a:gd name="connsiteX2-17" fmla="*/ 0 w 1153281"/>
                <a:gd name="connsiteY2-18" fmla="*/ 12137 h 4082282"/>
                <a:gd name="connsiteX3-19" fmla="*/ 22811 w 1153281"/>
                <a:gd name="connsiteY3-20" fmla="*/ 1487 h 4082282"/>
                <a:gd name="connsiteX4-21" fmla="*/ 24907 w 1153281"/>
                <a:gd name="connsiteY4-22" fmla="*/ 0 h 4082282"/>
                <a:gd name="connsiteX5-23" fmla="*/ 164250 w 1153281"/>
                <a:gd name="connsiteY5-24" fmla="*/ 336499 h 4082282"/>
                <a:gd name="connsiteX6-25" fmla="*/ 718941 w 1153281"/>
                <a:gd name="connsiteY6-26" fmla="*/ 1913271 h 4082282"/>
                <a:gd name="connsiteX7" fmla="*/ 1153281 w 1153281"/>
                <a:gd name="connsiteY7" fmla="*/ 4082282 h 4082282"/>
                <a:gd name="connsiteX0-27" fmla="*/ 1061841 w 1153281"/>
                <a:gd name="connsiteY0-28" fmla="*/ 3990842 h 4082282"/>
                <a:gd name="connsiteX1-29" fmla="*/ 1051340 w 1153281"/>
                <a:gd name="connsiteY1-30" fmla="*/ 4021658 h 4082282"/>
                <a:gd name="connsiteX2-31" fmla="*/ 1032290 w 1153281"/>
                <a:gd name="connsiteY2-32" fmla="*/ 4016896 h 4082282"/>
                <a:gd name="connsiteX3-33" fmla="*/ 0 w 1153281"/>
                <a:gd name="connsiteY3-34" fmla="*/ 12137 h 4082282"/>
                <a:gd name="connsiteX4-35" fmla="*/ 22811 w 1153281"/>
                <a:gd name="connsiteY4-36" fmla="*/ 1487 h 4082282"/>
                <a:gd name="connsiteX5-37" fmla="*/ 24907 w 1153281"/>
                <a:gd name="connsiteY5-38" fmla="*/ 0 h 4082282"/>
                <a:gd name="connsiteX6-39" fmla="*/ 164250 w 1153281"/>
                <a:gd name="connsiteY6-40" fmla="*/ 336499 h 4082282"/>
                <a:gd name="connsiteX7-41" fmla="*/ 718941 w 1153281"/>
                <a:gd name="connsiteY7-42" fmla="*/ 1913271 h 4082282"/>
                <a:gd name="connsiteX8" fmla="*/ 1153281 w 1153281"/>
                <a:gd name="connsiteY8" fmla="*/ 4082282 h 4082282"/>
                <a:gd name="connsiteX0-43" fmla="*/ 1061841 w 1153281"/>
                <a:gd name="connsiteY0-44" fmla="*/ 3990842 h 4082282"/>
                <a:gd name="connsiteX1-45" fmla="*/ 1051340 w 1153281"/>
                <a:gd name="connsiteY1-46" fmla="*/ 4021658 h 4082282"/>
                <a:gd name="connsiteX2-47" fmla="*/ 0 w 1153281"/>
                <a:gd name="connsiteY2-48" fmla="*/ 12137 h 4082282"/>
                <a:gd name="connsiteX3-49" fmla="*/ 22811 w 1153281"/>
                <a:gd name="connsiteY3-50" fmla="*/ 1487 h 4082282"/>
                <a:gd name="connsiteX4-51" fmla="*/ 24907 w 1153281"/>
                <a:gd name="connsiteY4-52" fmla="*/ 0 h 4082282"/>
                <a:gd name="connsiteX5-53" fmla="*/ 164250 w 1153281"/>
                <a:gd name="connsiteY5-54" fmla="*/ 336499 h 4082282"/>
                <a:gd name="connsiteX6-55" fmla="*/ 718941 w 1153281"/>
                <a:gd name="connsiteY6-56" fmla="*/ 1913271 h 4082282"/>
                <a:gd name="connsiteX7-57" fmla="*/ 1153281 w 1153281"/>
                <a:gd name="connsiteY7-58" fmla="*/ 4082282 h 4082282"/>
                <a:gd name="connsiteX0-59" fmla="*/ 1061841 w 1153281"/>
                <a:gd name="connsiteY0-60" fmla="*/ 3990842 h 4082282"/>
                <a:gd name="connsiteX1-61" fmla="*/ 0 w 1153281"/>
                <a:gd name="connsiteY1-62" fmla="*/ 12137 h 4082282"/>
                <a:gd name="connsiteX2-63" fmla="*/ 22811 w 1153281"/>
                <a:gd name="connsiteY2-64" fmla="*/ 1487 h 4082282"/>
                <a:gd name="connsiteX3-65" fmla="*/ 24907 w 1153281"/>
                <a:gd name="connsiteY3-66" fmla="*/ 0 h 4082282"/>
                <a:gd name="connsiteX4-67" fmla="*/ 164250 w 1153281"/>
                <a:gd name="connsiteY4-68" fmla="*/ 336499 h 4082282"/>
                <a:gd name="connsiteX5-69" fmla="*/ 718941 w 1153281"/>
                <a:gd name="connsiteY5-70" fmla="*/ 1913271 h 4082282"/>
                <a:gd name="connsiteX6-71" fmla="*/ 1153281 w 1153281"/>
                <a:gd name="connsiteY6-72" fmla="*/ 4082282 h 4082282"/>
                <a:gd name="connsiteX0-73" fmla="*/ 0 w 1153281"/>
                <a:gd name="connsiteY0-74" fmla="*/ 12137 h 4082282"/>
                <a:gd name="connsiteX1-75" fmla="*/ 22811 w 1153281"/>
                <a:gd name="connsiteY1-76" fmla="*/ 1487 h 4082282"/>
                <a:gd name="connsiteX2-77" fmla="*/ 24907 w 1153281"/>
                <a:gd name="connsiteY2-78" fmla="*/ 0 h 4082282"/>
                <a:gd name="connsiteX3-79" fmla="*/ 164250 w 1153281"/>
                <a:gd name="connsiteY3-80" fmla="*/ 336499 h 4082282"/>
                <a:gd name="connsiteX4-81" fmla="*/ 718941 w 1153281"/>
                <a:gd name="connsiteY4-82" fmla="*/ 1913271 h 4082282"/>
                <a:gd name="connsiteX5-83" fmla="*/ 1153281 w 1153281"/>
                <a:gd name="connsiteY5-84" fmla="*/ 4082282 h 4082282"/>
                <a:gd name="connsiteX0-85" fmla="*/ 0 w 1153281"/>
                <a:gd name="connsiteY0-86" fmla="*/ 12137 h 4082282"/>
                <a:gd name="connsiteX1-87" fmla="*/ 22811 w 1153281"/>
                <a:gd name="connsiteY1-88" fmla="*/ 1487 h 4082282"/>
                <a:gd name="connsiteX2-89" fmla="*/ 24907 w 1153281"/>
                <a:gd name="connsiteY2-90" fmla="*/ 0 h 4082282"/>
                <a:gd name="connsiteX3-91" fmla="*/ 164250 w 1153281"/>
                <a:gd name="connsiteY3-92" fmla="*/ 336499 h 4082282"/>
                <a:gd name="connsiteX4-93" fmla="*/ 718941 w 1153281"/>
                <a:gd name="connsiteY4-94" fmla="*/ 1913271 h 4082282"/>
                <a:gd name="connsiteX5-95" fmla="*/ 1153281 w 1153281"/>
                <a:gd name="connsiteY5-96" fmla="*/ 4082282 h 4082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153281" h="4082282">
                  <a:moveTo>
                    <a:pt x="0" y="12137"/>
                  </a:moveTo>
                  <a:lnTo>
                    <a:pt x="22811" y="1487"/>
                  </a:lnTo>
                  <a:lnTo>
                    <a:pt x="24907" y="0"/>
                  </a:lnTo>
                  <a:lnTo>
                    <a:pt x="164250" y="336499"/>
                  </a:lnTo>
                  <a:cubicBezTo>
                    <a:pt x="379403" y="863981"/>
                    <a:pt x="579428" y="1390517"/>
                    <a:pt x="718941" y="1913271"/>
                  </a:cubicBezTo>
                  <a:cubicBezTo>
                    <a:pt x="904959" y="2610277"/>
                    <a:pt x="1041457" y="3286045"/>
                    <a:pt x="1153281" y="408228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" name="等腰三角形 15"/>
            <p:cNvSpPr/>
            <p:nvPr/>
          </p:nvSpPr>
          <p:spPr>
            <a:xfrm rot="20100476">
              <a:off x="3616462" y="1270749"/>
              <a:ext cx="163994" cy="21622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flipH="1">
            <a:off x="7215070" y="2115591"/>
            <a:ext cx="1247979" cy="4266750"/>
            <a:chOff x="3616462" y="1270749"/>
            <a:chExt cx="1247979" cy="4266750"/>
          </a:xfrm>
        </p:grpSpPr>
        <p:sp>
          <p:nvSpPr>
            <p:cNvPr id="29" name="任意多边形: 形状 28"/>
            <p:cNvSpPr/>
            <p:nvPr/>
          </p:nvSpPr>
          <p:spPr>
            <a:xfrm>
              <a:off x="3711160" y="1455217"/>
              <a:ext cx="1153281" cy="4082282"/>
            </a:xfrm>
            <a:custGeom>
              <a:avLst/>
              <a:gdLst>
                <a:gd name="connsiteX0" fmla="*/ 24907 w 1061841"/>
                <a:gd name="connsiteY0" fmla="*/ 0 h 3990842"/>
                <a:gd name="connsiteX1" fmla="*/ 164250 w 1061841"/>
                <a:gd name="connsiteY1" fmla="*/ 336499 h 3990842"/>
                <a:gd name="connsiteX2" fmla="*/ 718941 w 1061841"/>
                <a:gd name="connsiteY2" fmla="*/ 1913271 h 3990842"/>
                <a:gd name="connsiteX3" fmla="*/ 1061841 w 1061841"/>
                <a:gd name="connsiteY3" fmla="*/ 3990842 h 3990842"/>
                <a:gd name="connsiteX4" fmla="*/ 0 w 1061841"/>
                <a:gd name="connsiteY4" fmla="*/ 12137 h 3990842"/>
                <a:gd name="connsiteX5" fmla="*/ 22811 w 1061841"/>
                <a:gd name="connsiteY5" fmla="*/ 1487 h 3990842"/>
                <a:gd name="connsiteX0-1" fmla="*/ 1061841 w 1153281"/>
                <a:gd name="connsiteY0-2" fmla="*/ 3990842 h 4082282"/>
                <a:gd name="connsiteX1-3" fmla="*/ 0 w 1153281"/>
                <a:gd name="connsiteY1-4" fmla="*/ 12137 h 4082282"/>
                <a:gd name="connsiteX2-5" fmla="*/ 22811 w 1153281"/>
                <a:gd name="connsiteY2-6" fmla="*/ 1487 h 4082282"/>
                <a:gd name="connsiteX3-7" fmla="*/ 24907 w 1153281"/>
                <a:gd name="connsiteY3-8" fmla="*/ 0 h 4082282"/>
                <a:gd name="connsiteX4-9" fmla="*/ 164250 w 1153281"/>
                <a:gd name="connsiteY4-10" fmla="*/ 336499 h 4082282"/>
                <a:gd name="connsiteX5-11" fmla="*/ 718941 w 1153281"/>
                <a:gd name="connsiteY5-12" fmla="*/ 1913271 h 4082282"/>
                <a:gd name="connsiteX6" fmla="*/ 1153281 w 1153281"/>
                <a:gd name="connsiteY6" fmla="*/ 4082282 h 4082282"/>
                <a:gd name="connsiteX0-13" fmla="*/ 1061841 w 1153281"/>
                <a:gd name="connsiteY0-14" fmla="*/ 3990842 h 4082282"/>
                <a:gd name="connsiteX1-15" fmla="*/ 1051340 w 1153281"/>
                <a:gd name="connsiteY1-16" fmla="*/ 4021658 h 4082282"/>
                <a:gd name="connsiteX2-17" fmla="*/ 0 w 1153281"/>
                <a:gd name="connsiteY2-18" fmla="*/ 12137 h 4082282"/>
                <a:gd name="connsiteX3-19" fmla="*/ 22811 w 1153281"/>
                <a:gd name="connsiteY3-20" fmla="*/ 1487 h 4082282"/>
                <a:gd name="connsiteX4-21" fmla="*/ 24907 w 1153281"/>
                <a:gd name="connsiteY4-22" fmla="*/ 0 h 4082282"/>
                <a:gd name="connsiteX5-23" fmla="*/ 164250 w 1153281"/>
                <a:gd name="connsiteY5-24" fmla="*/ 336499 h 4082282"/>
                <a:gd name="connsiteX6-25" fmla="*/ 718941 w 1153281"/>
                <a:gd name="connsiteY6-26" fmla="*/ 1913271 h 4082282"/>
                <a:gd name="connsiteX7" fmla="*/ 1153281 w 1153281"/>
                <a:gd name="connsiteY7" fmla="*/ 4082282 h 4082282"/>
                <a:gd name="connsiteX0-27" fmla="*/ 1061841 w 1153281"/>
                <a:gd name="connsiteY0-28" fmla="*/ 3990842 h 4082282"/>
                <a:gd name="connsiteX1-29" fmla="*/ 1051340 w 1153281"/>
                <a:gd name="connsiteY1-30" fmla="*/ 4021658 h 4082282"/>
                <a:gd name="connsiteX2-31" fmla="*/ 1032290 w 1153281"/>
                <a:gd name="connsiteY2-32" fmla="*/ 4016896 h 4082282"/>
                <a:gd name="connsiteX3-33" fmla="*/ 0 w 1153281"/>
                <a:gd name="connsiteY3-34" fmla="*/ 12137 h 4082282"/>
                <a:gd name="connsiteX4-35" fmla="*/ 22811 w 1153281"/>
                <a:gd name="connsiteY4-36" fmla="*/ 1487 h 4082282"/>
                <a:gd name="connsiteX5-37" fmla="*/ 24907 w 1153281"/>
                <a:gd name="connsiteY5-38" fmla="*/ 0 h 4082282"/>
                <a:gd name="connsiteX6-39" fmla="*/ 164250 w 1153281"/>
                <a:gd name="connsiteY6-40" fmla="*/ 336499 h 4082282"/>
                <a:gd name="connsiteX7-41" fmla="*/ 718941 w 1153281"/>
                <a:gd name="connsiteY7-42" fmla="*/ 1913271 h 4082282"/>
                <a:gd name="connsiteX8" fmla="*/ 1153281 w 1153281"/>
                <a:gd name="connsiteY8" fmla="*/ 4082282 h 4082282"/>
                <a:gd name="connsiteX0-43" fmla="*/ 1061841 w 1153281"/>
                <a:gd name="connsiteY0-44" fmla="*/ 3990842 h 4082282"/>
                <a:gd name="connsiteX1-45" fmla="*/ 1051340 w 1153281"/>
                <a:gd name="connsiteY1-46" fmla="*/ 4021658 h 4082282"/>
                <a:gd name="connsiteX2-47" fmla="*/ 0 w 1153281"/>
                <a:gd name="connsiteY2-48" fmla="*/ 12137 h 4082282"/>
                <a:gd name="connsiteX3-49" fmla="*/ 22811 w 1153281"/>
                <a:gd name="connsiteY3-50" fmla="*/ 1487 h 4082282"/>
                <a:gd name="connsiteX4-51" fmla="*/ 24907 w 1153281"/>
                <a:gd name="connsiteY4-52" fmla="*/ 0 h 4082282"/>
                <a:gd name="connsiteX5-53" fmla="*/ 164250 w 1153281"/>
                <a:gd name="connsiteY5-54" fmla="*/ 336499 h 4082282"/>
                <a:gd name="connsiteX6-55" fmla="*/ 718941 w 1153281"/>
                <a:gd name="connsiteY6-56" fmla="*/ 1913271 h 4082282"/>
                <a:gd name="connsiteX7-57" fmla="*/ 1153281 w 1153281"/>
                <a:gd name="connsiteY7-58" fmla="*/ 4082282 h 4082282"/>
                <a:gd name="connsiteX0-59" fmla="*/ 1061841 w 1153281"/>
                <a:gd name="connsiteY0-60" fmla="*/ 3990842 h 4082282"/>
                <a:gd name="connsiteX1-61" fmla="*/ 0 w 1153281"/>
                <a:gd name="connsiteY1-62" fmla="*/ 12137 h 4082282"/>
                <a:gd name="connsiteX2-63" fmla="*/ 22811 w 1153281"/>
                <a:gd name="connsiteY2-64" fmla="*/ 1487 h 4082282"/>
                <a:gd name="connsiteX3-65" fmla="*/ 24907 w 1153281"/>
                <a:gd name="connsiteY3-66" fmla="*/ 0 h 4082282"/>
                <a:gd name="connsiteX4-67" fmla="*/ 164250 w 1153281"/>
                <a:gd name="connsiteY4-68" fmla="*/ 336499 h 4082282"/>
                <a:gd name="connsiteX5-69" fmla="*/ 718941 w 1153281"/>
                <a:gd name="connsiteY5-70" fmla="*/ 1913271 h 4082282"/>
                <a:gd name="connsiteX6-71" fmla="*/ 1153281 w 1153281"/>
                <a:gd name="connsiteY6-72" fmla="*/ 4082282 h 4082282"/>
                <a:gd name="connsiteX0-73" fmla="*/ 0 w 1153281"/>
                <a:gd name="connsiteY0-74" fmla="*/ 12137 h 4082282"/>
                <a:gd name="connsiteX1-75" fmla="*/ 22811 w 1153281"/>
                <a:gd name="connsiteY1-76" fmla="*/ 1487 h 4082282"/>
                <a:gd name="connsiteX2-77" fmla="*/ 24907 w 1153281"/>
                <a:gd name="connsiteY2-78" fmla="*/ 0 h 4082282"/>
                <a:gd name="connsiteX3-79" fmla="*/ 164250 w 1153281"/>
                <a:gd name="connsiteY3-80" fmla="*/ 336499 h 4082282"/>
                <a:gd name="connsiteX4-81" fmla="*/ 718941 w 1153281"/>
                <a:gd name="connsiteY4-82" fmla="*/ 1913271 h 4082282"/>
                <a:gd name="connsiteX5-83" fmla="*/ 1153281 w 1153281"/>
                <a:gd name="connsiteY5-84" fmla="*/ 4082282 h 4082282"/>
                <a:gd name="connsiteX0-85" fmla="*/ 0 w 1153281"/>
                <a:gd name="connsiteY0-86" fmla="*/ 12137 h 4082282"/>
                <a:gd name="connsiteX1-87" fmla="*/ 22811 w 1153281"/>
                <a:gd name="connsiteY1-88" fmla="*/ 1487 h 4082282"/>
                <a:gd name="connsiteX2-89" fmla="*/ 24907 w 1153281"/>
                <a:gd name="connsiteY2-90" fmla="*/ 0 h 4082282"/>
                <a:gd name="connsiteX3-91" fmla="*/ 164250 w 1153281"/>
                <a:gd name="connsiteY3-92" fmla="*/ 336499 h 4082282"/>
                <a:gd name="connsiteX4-93" fmla="*/ 718941 w 1153281"/>
                <a:gd name="connsiteY4-94" fmla="*/ 1913271 h 4082282"/>
                <a:gd name="connsiteX5-95" fmla="*/ 1153281 w 1153281"/>
                <a:gd name="connsiteY5-96" fmla="*/ 4082282 h 4082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153281" h="4082282">
                  <a:moveTo>
                    <a:pt x="0" y="12137"/>
                  </a:moveTo>
                  <a:lnTo>
                    <a:pt x="22811" y="1487"/>
                  </a:lnTo>
                  <a:lnTo>
                    <a:pt x="24907" y="0"/>
                  </a:lnTo>
                  <a:lnTo>
                    <a:pt x="164250" y="336499"/>
                  </a:lnTo>
                  <a:cubicBezTo>
                    <a:pt x="379403" y="863981"/>
                    <a:pt x="579428" y="1390517"/>
                    <a:pt x="718941" y="1913271"/>
                  </a:cubicBezTo>
                  <a:cubicBezTo>
                    <a:pt x="904959" y="2610277"/>
                    <a:pt x="1041457" y="3286045"/>
                    <a:pt x="1153281" y="408228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20100476">
              <a:off x="3616462" y="1270749"/>
              <a:ext cx="163994" cy="21622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32712" y="5473180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01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8232712" y="4412484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02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8232712" y="3351788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03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8232712" y="2291092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04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163050" y="1024845"/>
            <a:ext cx="2673350" cy="99478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spc="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目标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061238" y="5367102"/>
            <a:ext cx="2845012" cy="830567"/>
            <a:chOff x="9061238" y="5367102"/>
            <a:chExt cx="2845012" cy="830567"/>
          </a:xfrm>
        </p:grpSpPr>
        <p:sp>
          <p:nvSpPr>
            <p:cNvPr id="226" name="矩形 225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成本控制在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元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/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台，通过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名种子用户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个月测试，收集核心需求。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27" name="矩形 226"/>
            <p:cNvSpPr/>
            <p:nvPr/>
          </p:nvSpPr>
          <p:spPr>
            <a:xfrm>
              <a:off x="9889267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用户留存率≥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60%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NPS≥40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29" name="矩形: 圆角 228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关键指标</a:t>
              </a:r>
            </a:p>
          </p:txBody>
        </p:sp>
        <p:sp>
          <p:nvSpPr>
            <p:cNvPr id="64" name="矩形: 圆角 63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9061238" y="4294155"/>
            <a:ext cx="2845012" cy="830567"/>
            <a:chOff x="9061238" y="5367102"/>
            <a:chExt cx="2845012" cy="830567"/>
          </a:xfrm>
        </p:grpSpPr>
        <p:sp>
          <p:nvSpPr>
            <p:cNvPr id="82" name="矩形 81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释放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15%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顾全，投入用于建立供应链（月产能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万台）及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人团队扩张。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9971088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估值锚定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5000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万。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4" name="矩形: 圆角 83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投资策略</a:t>
              </a:r>
            </a:p>
          </p:txBody>
        </p:sp>
        <p:sp>
          <p:nvSpPr>
            <p:cNvPr id="85" name="矩形: 圆角 84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061238" y="3221208"/>
            <a:ext cx="2845012" cy="830567"/>
            <a:chOff x="9061238" y="5367102"/>
            <a:chExt cx="2845012" cy="830567"/>
          </a:xfrm>
        </p:grpSpPr>
        <p:sp>
          <p:nvSpPr>
            <p:cNvPr id="87" name="矩形 86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通过电商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+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线下商铺货，月销突破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5000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台，毛利率提升至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45%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9862107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年营收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万，再够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25%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9" name="矩形: 圆角 88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里程碑</a:t>
              </a:r>
            </a:p>
          </p:txBody>
        </p:sp>
        <p:sp>
          <p:nvSpPr>
            <p:cNvPr id="90" name="矩形: 圆角 89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9061238" y="2148261"/>
            <a:ext cx="2835780" cy="830567"/>
            <a:chOff x="9061238" y="5367102"/>
            <a:chExt cx="2835780" cy="830567"/>
          </a:xfrm>
        </p:grpSpPr>
        <p:sp>
          <p:nvSpPr>
            <p:cNvPr id="92" name="矩形 91"/>
            <p:cNvSpPr/>
            <p:nvPr/>
          </p:nvSpPr>
          <p:spPr>
            <a:xfrm>
              <a:off x="9061238" y="5367102"/>
              <a:ext cx="276246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释放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顾全，资金用于研发第二代产品（智能安防系列）及海外市场试点。</a:t>
              </a:r>
            </a:p>
          </p:txBody>
        </p:sp>
        <p:sp>
          <p:nvSpPr>
            <p:cNvPr id="93" name="矩形 92"/>
            <p:cNvSpPr/>
            <p:nvPr/>
          </p:nvSpPr>
          <p:spPr>
            <a:xfrm>
              <a:off x="9961856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亿，对标行业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PS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倍数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5x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94" name="矩形: 圆角 93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估值目标</a:t>
              </a:r>
            </a:p>
          </p:txBody>
        </p:sp>
        <p:sp>
          <p:nvSpPr>
            <p:cNvPr id="95" name="矩形: 圆角 94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619856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2762981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组合 98"/>
          <p:cNvGrpSpPr/>
          <p:nvPr/>
        </p:nvGrpSpPr>
        <p:grpSpPr>
          <a:xfrm>
            <a:off x="602208" y="2443884"/>
            <a:ext cx="302588" cy="302588"/>
            <a:chOff x="3837791" y="2457822"/>
            <a:chExt cx="762000" cy="762000"/>
          </a:xfrm>
        </p:grpSpPr>
        <p:sp>
          <p:nvSpPr>
            <p:cNvPr id="100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1" name="图形 100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2" name="组合 101"/>
          <p:cNvGrpSpPr/>
          <p:nvPr/>
        </p:nvGrpSpPr>
        <p:grpSpPr>
          <a:xfrm>
            <a:off x="602208" y="3515678"/>
            <a:ext cx="302588" cy="302588"/>
            <a:chOff x="3837791" y="2457822"/>
            <a:chExt cx="762000" cy="762000"/>
          </a:xfrm>
        </p:grpSpPr>
        <p:sp>
          <p:nvSpPr>
            <p:cNvPr id="103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4" name="图形 103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602208" y="4587472"/>
            <a:ext cx="302588" cy="302588"/>
            <a:chOff x="3837791" y="2457822"/>
            <a:chExt cx="762000" cy="762000"/>
          </a:xfrm>
        </p:grpSpPr>
        <p:sp>
          <p:nvSpPr>
            <p:cNvPr id="106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7" name="图形 106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8" name="组合 107"/>
          <p:cNvGrpSpPr/>
          <p:nvPr/>
        </p:nvGrpSpPr>
        <p:grpSpPr>
          <a:xfrm>
            <a:off x="602208" y="5659266"/>
            <a:ext cx="302588" cy="302588"/>
            <a:chOff x="3837791" y="2457822"/>
            <a:chExt cx="762000" cy="762000"/>
          </a:xfrm>
        </p:grpSpPr>
        <p:sp>
          <p:nvSpPr>
            <p:cNvPr id="109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10" name="图形 109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cxnSp>
        <p:nvCxnSpPr>
          <p:cNvPr id="97" name="直接箭头连接符 96"/>
          <p:cNvCxnSpPr/>
          <p:nvPr/>
        </p:nvCxnSpPr>
        <p:spPr>
          <a:xfrm>
            <a:off x="9463818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>
            <a:off x="11606943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任意多边形: 形状 111"/>
          <p:cNvSpPr/>
          <p:nvPr/>
        </p:nvSpPr>
        <p:spPr>
          <a:xfrm>
            <a:off x="2831410" y="1028700"/>
            <a:ext cx="6426308" cy="1067249"/>
          </a:xfrm>
          <a:custGeom>
            <a:avLst/>
            <a:gdLst>
              <a:gd name="connsiteX0" fmla="*/ 0 w 4399116"/>
              <a:gd name="connsiteY0" fmla="*/ 0 h 1044204"/>
              <a:gd name="connsiteX1" fmla="*/ 4399116 w 4399116"/>
              <a:gd name="connsiteY1" fmla="*/ 0 h 1044204"/>
              <a:gd name="connsiteX2" fmla="*/ 4311758 w 4399116"/>
              <a:gd name="connsiteY2" fmla="*/ 183400 h 1044204"/>
              <a:gd name="connsiteX3" fmla="*/ 4144463 w 4399116"/>
              <a:gd name="connsiteY3" fmla="*/ 566919 h 1044204"/>
              <a:gd name="connsiteX4" fmla="*/ 3983167 w 4399116"/>
              <a:gd name="connsiteY4" fmla="*/ 975319 h 1044204"/>
              <a:gd name="connsiteX5" fmla="*/ 3985496 w 4399116"/>
              <a:gd name="connsiteY5" fmla="*/ 976199 h 1044204"/>
              <a:gd name="connsiteX6" fmla="*/ 3982350 w 4399116"/>
              <a:gd name="connsiteY6" fmla="*/ 977388 h 1044204"/>
              <a:gd name="connsiteX7" fmla="*/ 3981124 w 4399116"/>
              <a:gd name="connsiteY7" fmla="*/ 980491 h 1044204"/>
              <a:gd name="connsiteX8" fmla="*/ 3974133 w 4399116"/>
              <a:gd name="connsiteY8" fmla="*/ 980491 h 1044204"/>
              <a:gd name="connsiteX9" fmla="*/ 3949212 w 4399116"/>
              <a:gd name="connsiteY9" fmla="*/ 989904 h 1044204"/>
              <a:gd name="connsiteX10" fmla="*/ 2199558 w 4399116"/>
              <a:gd name="connsiteY10" fmla="*/ 1044204 h 1044204"/>
              <a:gd name="connsiteX11" fmla="*/ 449904 w 4399116"/>
              <a:gd name="connsiteY11" fmla="*/ 989904 h 1044204"/>
              <a:gd name="connsiteX12" fmla="*/ 424983 w 4399116"/>
              <a:gd name="connsiteY12" fmla="*/ 980491 h 1044204"/>
              <a:gd name="connsiteX13" fmla="*/ 417993 w 4399116"/>
              <a:gd name="connsiteY13" fmla="*/ 980491 h 1044204"/>
              <a:gd name="connsiteX14" fmla="*/ 416768 w 4399116"/>
              <a:gd name="connsiteY14" fmla="*/ 977388 h 1044204"/>
              <a:gd name="connsiteX15" fmla="*/ 413620 w 4399116"/>
              <a:gd name="connsiteY15" fmla="*/ 976199 h 1044204"/>
              <a:gd name="connsiteX16" fmla="*/ 415951 w 4399116"/>
              <a:gd name="connsiteY16" fmla="*/ 975319 h 1044204"/>
              <a:gd name="connsiteX17" fmla="*/ 254653 w 4399116"/>
              <a:gd name="connsiteY17" fmla="*/ 566919 h 1044204"/>
              <a:gd name="connsiteX18" fmla="*/ 87358 w 4399116"/>
              <a:gd name="connsiteY18" fmla="*/ 183400 h 104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9116" h="1044204">
                <a:moveTo>
                  <a:pt x="0" y="0"/>
                </a:moveTo>
                <a:lnTo>
                  <a:pt x="4399116" y="0"/>
                </a:lnTo>
                <a:lnTo>
                  <a:pt x="4311758" y="183400"/>
                </a:lnTo>
                <a:cubicBezTo>
                  <a:pt x="4254220" y="309540"/>
                  <a:pt x="4198427" y="437398"/>
                  <a:pt x="4144463" y="566919"/>
                </a:cubicBezTo>
                <a:lnTo>
                  <a:pt x="3983167" y="975319"/>
                </a:lnTo>
                <a:lnTo>
                  <a:pt x="3985496" y="976199"/>
                </a:lnTo>
                <a:lnTo>
                  <a:pt x="3982350" y="977388"/>
                </a:lnTo>
                <a:lnTo>
                  <a:pt x="3981124" y="980491"/>
                </a:lnTo>
                <a:lnTo>
                  <a:pt x="3974133" y="980491"/>
                </a:lnTo>
                <a:lnTo>
                  <a:pt x="3949212" y="989904"/>
                </a:lnTo>
                <a:cubicBezTo>
                  <a:pt x="3782680" y="1020893"/>
                  <a:pt x="3062611" y="1044204"/>
                  <a:pt x="2199558" y="1044204"/>
                </a:cubicBezTo>
                <a:cubicBezTo>
                  <a:pt x="1336506" y="1044204"/>
                  <a:pt x="616436" y="1020893"/>
                  <a:pt x="449904" y="989904"/>
                </a:cubicBezTo>
                <a:lnTo>
                  <a:pt x="424983" y="980491"/>
                </a:lnTo>
                <a:lnTo>
                  <a:pt x="417993" y="980491"/>
                </a:lnTo>
                <a:lnTo>
                  <a:pt x="416768" y="977388"/>
                </a:lnTo>
                <a:lnTo>
                  <a:pt x="413620" y="976199"/>
                </a:lnTo>
                <a:lnTo>
                  <a:pt x="415951" y="975319"/>
                </a:lnTo>
                <a:lnTo>
                  <a:pt x="254653" y="566919"/>
                </a:lnTo>
                <a:cubicBezTo>
                  <a:pt x="200690" y="437398"/>
                  <a:pt x="144897" y="309540"/>
                  <a:pt x="87358" y="18340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以用户验证驱动产品迭代，用阶段性投入匹配规模扩张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年实现从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到行业细分前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/>
        </p:nvSpPr>
        <p:spPr>
          <a:xfrm flipH="1">
            <a:off x="7825790" y="1130301"/>
            <a:ext cx="3997910" cy="7997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  短板怎么补救？方法：</a:t>
            </a:r>
          </a:p>
        </p:txBody>
      </p:sp>
      <p:sp>
        <p:nvSpPr>
          <p:cNvPr id="136" name="矩形 135"/>
          <p:cNvSpPr/>
          <p:nvPr/>
        </p:nvSpPr>
        <p:spPr>
          <a:xfrm>
            <a:off x="368300" y="1130301"/>
            <a:ext cx="3981189" cy="7997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长板怎么维持？方法：</a:t>
            </a:r>
          </a:p>
        </p:txBody>
      </p:sp>
      <p:sp>
        <p:nvSpPr>
          <p:cNvPr id="134" name="矩形 133"/>
          <p:cNvSpPr/>
          <p:nvPr/>
        </p:nvSpPr>
        <p:spPr>
          <a:xfrm>
            <a:off x="368299" y="1983128"/>
            <a:ext cx="11455401" cy="410676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072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木桶效应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78865" y="960234"/>
            <a:ext cx="4206883" cy="5103807"/>
            <a:chOff x="3878865" y="960234"/>
            <a:chExt cx="4206883" cy="5103807"/>
          </a:xfrm>
        </p:grpSpPr>
        <p:sp>
          <p:nvSpPr>
            <p:cNvPr id="133" name="任意形状 6"/>
            <p:cNvSpPr/>
            <p:nvPr/>
          </p:nvSpPr>
          <p:spPr>
            <a:xfrm rot="10564236">
              <a:off x="4035275" y="1618797"/>
              <a:ext cx="4050473" cy="4445244"/>
            </a:xfrm>
            <a:custGeom>
              <a:avLst/>
              <a:gdLst>
                <a:gd name="connsiteX0" fmla="*/ 0 w 4050473"/>
                <a:gd name="connsiteY0" fmla="*/ 4445244 h 4445244"/>
                <a:gd name="connsiteX1" fmla="*/ 286443 w 4050473"/>
                <a:gd name="connsiteY1" fmla="*/ 668301 h 4445244"/>
                <a:gd name="connsiteX2" fmla="*/ 284130 w 4050473"/>
                <a:gd name="connsiteY2" fmla="*/ 648718 h 4445244"/>
                <a:gd name="connsiteX3" fmla="*/ 2033048 w 4050473"/>
                <a:gd name="connsiteY3" fmla="*/ 373 h 4445244"/>
                <a:gd name="connsiteX4" fmla="*/ 3756779 w 4050473"/>
                <a:gd name="connsiteY4" fmla="*/ 624369 h 4445244"/>
                <a:gd name="connsiteX5" fmla="*/ 3760440 w 4050473"/>
                <a:gd name="connsiteY5" fmla="*/ 655358 h 4445244"/>
                <a:gd name="connsiteX6" fmla="*/ 3763048 w 4050473"/>
                <a:gd name="connsiteY6" fmla="*/ 655358 h 4445244"/>
                <a:gd name="connsiteX7" fmla="*/ 4050473 w 4050473"/>
                <a:gd name="connsiteY7" fmla="*/ 4445244 h 444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50473" h="4445244">
                  <a:moveTo>
                    <a:pt x="0" y="4445244"/>
                  </a:moveTo>
                  <a:lnTo>
                    <a:pt x="286443" y="668301"/>
                  </a:lnTo>
                  <a:lnTo>
                    <a:pt x="284130" y="648718"/>
                  </a:lnTo>
                  <a:cubicBezTo>
                    <a:pt x="288845" y="278408"/>
                    <a:pt x="1071863" y="-11866"/>
                    <a:pt x="2033048" y="373"/>
                  </a:cubicBezTo>
                  <a:cubicBezTo>
                    <a:pt x="2934160" y="11847"/>
                    <a:pt x="3671960" y="285128"/>
                    <a:pt x="3756779" y="624369"/>
                  </a:cubicBezTo>
                  <a:lnTo>
                    <a:pt x="3760440" y="655358"/>
                  </a:lnTo>
                  <a:lnTo>
                    <a:pt x="3763048" y="655358"/>
                  </a:lnTo>
                  <a:lnTo>
                    <a:pt x="4050473" y="4445244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 rot="21408007">
              <a:off x="3878865" y="960234"/>
              <a:ext cx="4061906" cy="1341120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cxnSp>
          <p:nvCxnSpPr>
            <p:cNvPr id="111" name="直线连接符 8"/>
            <p:cNvCxnSpPr/>
            <p:nvPr/>
          </p:nvCxnSpPr>
          <p:spPr>
            <a:xfrm>
              <a:off x="4557010" y="2238878"/>
              <a:ext cx="412229" cy="3695076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cxnSp>
          <p:nvCxnSpPr>
            <p:cNvPr id="112" name="直线连接符 9"/>
            <p:cNvCxnSpPr/>
            <p:nvPr/>
          </p:nvCxnSpPr>
          <p:spPr>
            <a:xfrm>
              <a:off x="5418944" y="2321324"/>
              <a:ext cx="314794" cy="373255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cxnSp>
          <p:nvCxnSpPr>
            <p:cNvPr id="113" name="直线连接符 12"/>
            <p:cNvCxnSpPr/>
            <p:nvPr/>
          </p:nvCxnSpPr>
          <p:spPr>
            <a:xfrm>
              <a:off x="6445770" y="2283849"/>
              <a:ext cx="101545" cy="3725055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sp useBgFill="1">
          <p:nvSpPr>
            <p:cNvPr id="114" name="任意形状 20"/>
            <p:cNvSpPr/>
            <p:nvPr/>
          </p:nvSpPr>
          <p:spPr>
            <a:xfrm>
              <a:off x="6468338" y="2070788"/>
              <a:ext cx="812485" cy="1589333"/>
            </a:xfrm>
            <a:custGeom>
              <a:avLst/>
              <a:gdLst>
                <a:gd name="connsiteX0" fmla="*/ 0 w 833718"/>
                <a:gd name="connsiteY0" fmla="*/ 201706 h 1882588"/>
                <a:gd name="connsiteX1" fmla="*/ 53788 w 833718"/>
                <a:gd name="connsiteY1" fmla="*/ 1882588 h 1882588"/>
                <a:gd name="connsiteX2" fmla="*/ 833718 w 833718"/>
                <a:gd name="connsiteY2" fmla="*/ 1775012 h 1882588"/>
                <a:gd name="connsiteX3" fmla="*/ 833718 w 833718"/>
                <a:gd name="connsiteY3" fmla="*/ 0 h 1882588"/>
                <a:gd name="connsiteX4" fmla="*/ 0 w 833718"/>
                <a:gd name="connsiteY4" fmla="*/ 201706 h 1882588"/>
                <a:gd name="connsiteX0-1" fmla="*/ 0 w 855063"/>
                <a:gd name="connsiteY0-2" fmla="*/ 160455 h 1841337"/>
                <a:gd name="connsiteX1-3" fmla="*/ 53788 w 855063"/>
                <a:gd name="connsiteY1-4" fmla="*/ 1841337 h 1841337"/>
                <a:gd name="connsiteX2-5" fmla="*/ 833718 w 855063"/>
                <a:gd name="connsiteY2-6" fmla="*/ 1733761 h 1841337"/>
                <a:gd name="connsiteX3-7" fmla="*/ 855063 w 855063"/>
                <a:gd name="connsiteY3-8" fmla="*/ 0 h 1841337"/>
                <a:gd name="connsiteX4-9" fmla="*/ 0 w 855063"/>
                <a:gd name="connsiteY4-10" fmla="*/ 160455 h 1841337"/>
                <a:gd name="connsiteX0-11" fmla="*/ 0 w 855063"/>
                <a:gd name="connsiteY0-12" fmla="*/ 160455 h 1841337"/>
                <a:gd name="connsiteX1-13" fmla="*/ 53788 w 855063"/>
                <a:gd name="connsiteY1-14" fmla="*/ 1841337 h 1841337"/>
                <a:gd name="connsiteX2-15" fmla="*/ 798143 w 855063"/>
                <a:gd name="connsiteY2-16" fmla="*/ 1740636 h 1841337"/>
                <a:gd name="connsiteX3-17" fmla="*/ 855063 w 855063"/>
                <a:gd name="connsiteY3-18" fmla="*/ 0 h 1841337"/>
                <a:gd name="connsiteX4-19" fmla="*/ 0 w 855063"/>
                <a:gd name="connsiteY4-20" fmla="*/ 160455 h 1841337"/>
                <a:gd name="connsiteX0-21" fmla="*/ 0 w 855063"/>
                <a:gd name="connsiteY0-22" fmla="*/ 160455 h 1841337"/>
                <a:gd name="connsiteX1-23" fmla="*/ 53788 w 855063"/>
                <a:gd name="connsiteY1-24" fmla="*/ 1841337 h 1841337"/>
                <a:gd name="connsiteX2-25" fmla="*/ 833718 w 855063"/>
                <a:gd name="connsiteY2-26" fmla="*/ 1740636 h 1841337"/>
                <a:gd name="connsiteX3-27" fmla="*/ 855063 w 855063"/>
                <a:gd name="connsiteY3-28" fmla="*/ 0 h 1841337"/>
                <a:gd name="connsiteX4-29" fmla="*/ 0 w 855063"/>
                <a:gd name="connsiteY4-30" fmla="*/ 160455 h 1841337"/>
                <a:gd name="connsiteX0-31" fmla="*/ 0 w 855063"/>
                <a:gd name="connsiteY0-32" fmla="*/ 160455 h 1841337"/>
                <a:gd name="connsiteX1-33" fmla="*/ 60903 w 855063"/>
                <a:gd name="connsiteY1-34" fmla="*/ 1841337 h 1841337"/>
                <a:gd name="connsiteX2-35" fmla="*/ 833718 w 855063"/>
                <a:gd name="connsiteY2-36" fmla="*/ 1740636 h 1841337"/>
                <a:gd name="connsiteX3-37" fmla="*/ 855063 w 855063"/>
                <a:gd name="connsiteY3-38" fmla="*/ 0 h 1841337"/>
                <a:gd name="connsiteX4-39" fmla="*/ 0 w 855063"/>
                <a:gd name="connsiteY4-40" fmla="*/ 160455 h 1841337"/>
                <a:gd name="connsiteX0-41" fmla="*/ 0 w 805258"/>
                <a:gd name="connsiteY0-42" fmla="*/ 160455 h 1841337"/>
                <a:gd name="connsiteX1-43" fmla="*/ 11098 w 805258"/>
                <a:gd name="connsiteY1-44" fmla="*/ 1841337 h 1841337"/>
                <a:gd name="connsiteX2-45" fmla="*/ 783913 w 805258"/>
                <a:gd name="connsiteY2-46" fmla="*/ 1740636 h 1841337"/>
                <a:gd name="connsiteX3-47" fmla="*/ 805258 w 805258"/>
                <a:gd name="connsiteY3-48" fmla="*/ 0 h 1841337"/>
                <a:gd name="connsiteX4-49" fmla="*/ 0 w 805258"/>
                <a:gd name="connsiteY4-50" fmla="*/ 160455 h 1841337"/>
                <a:gd name="connsiteX0-51" fmla="*/ 0 w 840833"/>
                <a:gd name="connsiteY0-52" fmla="*/ 174205 h 1841337"/>
                <a:gd name="connsiteX1-53" fmla="*/ 46673 w 840833"/>
                <a:gd name="connsiteY1-54" fmla="*/ 1841337 h 1841337"/>
                <a:gd name="connsiteX2-55" fmla="*/ 819488 w 840833"/>
                <a:gd name="connsiteY2-56" fmla="*/ 1740636 h 1841337"/>
                <a:gd name="connsiteX3-57" fmla="*/ 840833 w 840833"/>
                <a:gd name="connsiteY3-58" fmla="*/ 0 h 1841337"/>
                <a:gd name="connsiteX4-59" fmla="*/ 0 w 840833"/>
                <a:gd name="connsiteY4-60" fmla="*/ 174205 h 1841337"/>
                <a:gd name="connsiteX0-61" fmla="*/ 0 w 840833"/>
                <a:gd name="connsiteY0-62" fmla="*/ 174205 h 1740636"/>
                <a:gd name="connsiteX1-63" fmla="*/ 58651 w 840833"/>
                <a:gd name="connsiteY1-64" fmla="*/ 1540395 h 1740636"/>
                <a:gd name="connsiteX2-65" fmla="*/ 819488 w 840833"/>
                <a:gd name="connsiteY2-66" fmla="*/ 1740636 h 1740636"/>
                <a:gd name="connsiteX3-67" fmla="*/ 840833 w 840833"/>
                <a:gd name="connsiteY3-68" fmla="*/ 0 h 1740636"/>
                <a:gd name="connsiteX4-69" fmla="*/ 0 w 840833"/>
                <a:gd name="connsiteY4-70" fmla="*/ 174205 h 1740636"/>
                <a:gd name="connsiteX0-71" fmla="*/ 0 w 840833"/>
                <a:gd name="connsiteY0-72" fmla="*/ 174205 h 1540395"/>
                <a:gd name="connsiteX1-73" fmla="*/ 58651 w 840833"/>
                <a:gd name="connsiteY1-74" fmla="*/ 1540395 h 1540395"/>
                <a:gd name="connsiteX2-75" fmla="*/ 819488 w 840833"/>
                <a:gd name="connsiteY2-76" fmla="*/ 1485993 h 1540395"/>
                <a:gd name="connsiteX3-77" fmla="*/ 840833 w 840833"/>
                <a:gd name="connsiteY3-78" fmla="*/ 0 h 1540395"/>
                <a:gd name="connsiteX4-79" fmla="*/ 0 w 840833"/>
                <a:gd name="connsiteY4-80" fmla="*/ 174205 h 1540395"/>
                <a:gd name="connsiteX0-81" fmla="*/ 0 w 840833"/>
                <a:gd name="connsiteY0-82" fmla="*/ 174205 h 1540395"/>
                <a:gd name="connsiteX1-83" fmla="*/ 58651 w 840833"/>
                <a:gd name="connsiteY1-84" fmla="*/ 1540395 h 1540395"/>
                <a:gd name="connsiteX2-85" fmla="*/ 798690 w 840833"/>
                <a:gd name="connsiteY2-86" fmla="*/ 1475944 h 1540395"/>
                <a:gd name="connsiteX3-87" fmla="*/ 840833 w 840833"/>
                <a:gd name="connsiteY3-88" fmla="*/ 0 h 1540395"/>
                <a:gd name="connsiteX4-89" fmla="*/ 0 w 840833"/>
                <a:gd name="connsiteY4-90" fmla="*/ 174205 h 1540395"/>
                <a:gd name="connsiteX0-91" fmla="*/ 0 w 840833"/>
                <a:gd name="connsiteY0-92" fmla="*/ 174205 h 1555467"/>
                <a:gd name="connsiteX1-93" fmla="*/ 48253 w 840833"/>
                <a:gd name="connsiteY1-94" fmla="*/ 1555467 h 1555467"/>
                <a:gd name="connsiteX2-95" fmla="*/ 798690 w 840833"/>
                <a:gd name="connsiteY2-96" fmla="*/ 1475944 h 1555467"/>
                <a:gd name="connsiteX3-97" fmla="*/ 840833 w 840833"/>
                <a:gd name="connsiteY3-98" fmla="*/ 0 h 1555467"/>
                <a:gd name="connsiteX4-99" fmla="*/ 0 w 840833"/>
                <a:gd name="connsiteY4-100" fmla="*/ 174205 h 1555467"/>
                <a:gd name="connsiteX0-101" fmla="*/ 0 w 840833"/>
                <a:gd name="connsiteY0-102" fmla="*/ 174205 h 1555467"/>
                <a:gd name="connsiteX1-103" fmla="*/ 48253 w 840833"/>
                <a:gd name="connsiteY1-104" fmla="*/ 1555467 h 1555467"/>
                <a:gd name="connsiteX2-105" fmla="*/ 804192 w 840833"/>
                <a:gd name="connsiteY2-106" fmla="*/ 1417465 h 1555467"/>
                <a:gd name="connsiteX3-107" fmla="*/ 840833 w 840833"/>
                <a:gd name="connsiteY3-108" fmla="*/ 0 h 1555467"/>
                <a:gd name="connsiteX4-109" fmla="*/ 0 w 840833"/>
                <a:gd name="connsiteY4-110" fmla="*/ 174205 h 1555467"/>
                <a:gd name="connsiteX0-111" fmla="*/ 0 w 849595"/>
                <a:gd name="connsiteY0-112" fmla="*/ 191138 h 1572400"/>
                <a:gd name="connsiteX1-113" fmla="*/ 48253 w 849595"/>
                <a:gd name="connsiteY1-114" fmla="*/ 1572400 h 1572400"/>
                <a:gd name="connsiteX2-115" fmla="*/ 804192 w 849595"/>
                <a:gd name="connsiteY2-116" fmla="*/ 1434398 h 1572400"/>
                <a:gd name="connsiteX3-117" fmla="*/ 849595 w 849595"/>
                <a:gd name="connsiteY3-118" fmla="*/ 0 h 1572400"/>
                <a:gd name="connsiteX4-119" fmla="*/ 0 w 849595"/>
                <a:gd name="connsiteY4-120" fmla="*/ 191138 h 1572400"/>
                <a:gd name="connsiteX0-121" fmla="*/ 0 w 840833"/>
                <a:gd name="connsiteY0-122" fmla="*/ 208071 h 1589333"/>
                <a:gd name="connsiteX1-123" fmla="*/ 48253 w 840833"/>
                <a:gd name="connsiteY1-124" fmla="*/ 1589333 h 1589333"/>
                <a:gd name="connsiteX2-125" fmla="*/ 804192 w 840833"/>
                <a:gd name="connsiteY2-126" fmla="*/ 1451331 h 1589333"/>
                <a:gd name="connsiteX3-127" fmla="*/ 840833 w 840833"/>
                <a:gd name="connsiteY3-128" fmla="*/ 0 h 1589333"/>
                <a:gd name="connsiteX4-129" fmla="*/ 0 w 840833"/>
                <a:gd name="connsiteY4-130" fmla="*/ 208071 h 158933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0833" h="1589333">
                  <a:moveTo>
                    <a:pt x="0" y="208071"/>
                  </a:moveTo>
                  <a:cubicBezTo>
                    <a:pt x="3699" y="768365"/>
                    <a:pt x="44554" y="1029039"/>
                    <a:pt x="48253" y="1589333"/>
                  </a:cubicBezTo>
                  <a:lnTo>
                    <a:pt x="804192" y="1451331"/>
                  </a:lnTo>
                  <a:lnTo>
                    <a:pt x="840833" y="0"/>
                  </a:lnTo>
                  <a:lnTo>
                    <a:pt x="0" y="208071"/>
                  </a:lnTo>
                  <a:close/>
                </a:path>
              </a:pathLst>
            </a:custGeom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eaVert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0" cap="none" spc="60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ea"/>
                  <a:ea typeface="+mj-ea"/>
                  <a:cs typeface="Roboto" panose="02000000000000000000" charset="0"/>
                </a:rPr>
                <a:t>短板</a:t>
              </a:r>
            </a:p>
          </p:txBody>
        </p:sp>
        <p:cxnSp>
          <p:nvCxnSpPr>
            <p:cNvPr id="115" name="直线连接符 14"/>
            <p:cNvCxnSpPr/>
            <p:nvPr/>
          </p:nvCxnSpPr>
          <p:spPr>
            <a:xfrm flipH="1">
              <a:off x="7232754" y="2051502"/>
              <a:ext cx="63287" cy="380750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sp>
          <p:nvSpPr>
            <p:cNvPr id="116" name="椭圆 115"/>
            <p:cNvSpPr/>
            <p:nvPr/>
          </p:nvSpPr>
          <p:spPr>
            <a:xfrm rot="21408007">
              <a:off x="3892701" y="996483"/>
              <a:ext cx="4029476" cy="1310233"/>
            </a:xfrm>
            <a:prstGeom prst="ellipse">
              <a:avLst/>
            </a:prstGeom>
            <a:noFill/>
            <a:ln w="22225" cap="flat" cmpd="sng" algn="ctr">
              <a:solidFill>
                <a:schemeClr val="accent1">
                  <a:lumMod val="50000"/>
                </a:scheme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 rot="21114534">
              <a:off x="4204874" y="3295726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技术壁垒</a:t>
              </a:r>
            </a:p>
          </p:txBody>
        </p:sp>
        <p:sp>
          <p:nvSpPr>
            <p:cNvPr id="118" name="文本框 117"/>
            <p:cNvSpPr txBox="1"/>
            <p:nvPr/>
          </p:nvSpPr>
          <p:spPr>
            <a:xfrm rot="21230431">
              <a:off x="4896391" y="3322405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市场优势</a:t>
              </a:r>
            </a:p>
          </p:txBody>
        </p:sp>
        <p:sp>
          <p:nvSpPr>
            <p:cNvPr id="119" name="文本框 118"/>
            <p:cNvSpPr txBox="1"/>
            <p:nvPr/>
          </p:nvSpPr>
          <p:spPr>
            <a:xfrm rot="21377819">
              <a:off x="5768518" y="3337224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团队实力</a:t>
              </a: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6644318" y="3754591"/>
              <a:ext cx="492443" cy="60529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运营</a:t>
              </a: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7370338" y="3314722"/>
              <a:ext cx="492443" cy="8617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现金流</a:t>
              </a:r>
            </a:p>
          </p:txBody>
        </p:sp>
        <p:sp>
          <p:nvSpPr>
            <p:cNvPr id="132" name="文本框 131"/>
            <p:cNvSpPr txBox="1"/>
            <p:nvPr/>
          </p:nvSpPr>
          <p:spPr>
            <a:xfrm rot="21306006">
              <a:off x="4946725" y="1250153"/>
              <a:ext cx="1834515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chemeClr val="accent1"/>
                  </a:solidFill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2025</a:t>
              </a:r>
              <a:r>
                <a:rPr lang="zh-CN" altLang="en-US" sz="4000" dirty="0">
                  <a:solidFill>
                    <a:schemeClr val="accent1"/>
                  </a:solidFill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年</a:t>
              </a:r>
              <a:endParaRPr kumimoji="1" lang="zh-CN" altLang="en-US" sz="2800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3806" y="2116864"/>
            <a:ext cx="3365816" cy="888348"/>
            <a:chOff x="563806" y="2116864"/>
            <a:chExt cx="3365816" cy="888348"/>
          </a:xfrm>
        </p:grpSpPr>
        <p:sp>
          <p:nvSpPr>
            <p:cNvPr id="142" name="矩形 141"/>
            <p:cNvSpPr/>
            <p:nvPr/>
          </p:nvSpPr>
          <p:spPr>
            <a:xfrm>
              <a:off x="905802" y="2116864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563806" y="241646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持续投入研发，每年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营收用于技术迭代，保持专利壁垒。</a:t>
              </a:r>
              <a:endPara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3806" y="3135532"/>
            <a:ext cx="3365816" cy="897202"/>
            <a:chOff x="563806" y="3023765"/>
            <a:chExt cx="3365816" cy="897202"/>
          </a:xfrm>
        </p:grpSpPr>
        <p:sp>
          <p:nvSpPr>
            <p:cNvPr id="150" name="矩形 149"/>
            <p:cNvSpPr/>
            <p:nvPr/>
          </p:nvSpPr>
          <p:spPr>
            <a:xfrm>
              <a:off x="930810" y="302376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>
              <a:off x="563806" y="3332216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绑定头部供应商，签订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年协议，确保供应链稳定性。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63806" y="4171756"/>
            <a:ext cx="3365816" cy="888500"/>
            <a:chOff x="563806" y="3948222"/>
            <a:chExt cx="3365816" cy="888500"/>
          </a:xfrm>
        </p:grpSpPr>
        <p:sp>
          <p:nvSpPr>
            <p:cNvPr id="152" name="矩形 151"/>
            <p:cNvSpPr/>
            <p:nvPr/>
          </p:nvSpPr>
          <p:spPr>
            <a:xfrm>
              <a:off x="954229" y="3948222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>
              <a:off x="563806" y="424797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建立用户社区，每月举办产品共创会，强化品牌忠诚度。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3806" y="5226206"/>
            <a:ext cx="3365816" cy="603040"/>
            <a:chOff x="563806" y="4890905"/>
            <a:chExt cx="3365816" cy="603040"/>
          </a:xfrm>
        </p:grpSpPr>
        <p:sp>
          <p:nvSpPr>
            <p:cNvPr id="154" name="矩形 153"/>
            <p:cNvSpPr/>
            <p:nvPr/>
          </p:nvSpPr>
          <p:spPr>
            <a:xfrm>
              <a:off x="950127" y="489090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4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55" name="矩形 154"/>
            <p:cNvSpPr/>
            <p:nvPr/>
          </p:nvSpPr>
          <p:spPr>
            <a:xfrm>
              <a:off x="563806" y="5163726"/>
              <a:ext cx="3365816" cy="33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提前布局海外专利，规避技术抄袭风险。</a:t>
              </a: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685800" y="3104451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685800" y="4118117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/>
        </p:nvCxnSpPr>
        <p:spPr>
          <a:xfrm>
            <a:off x="685800" y="5149673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/>
          <p:cNvGrpSpPr/>
          <p:nvPr/>
        </p:nvGrpSpPr>
        <p:grpSpPr>
          <a:xfrm>
            <a:off x="647539" y="2128060"/>
            <a:ext cx="302588" cy="302588"/>
            <a:chOff x="3837791" y="2457822"/>
            <a:chExt cx="762000" cy="762000"/>
          </a:xfrm>
        </p:grpSpPr>
        <p:sp>
          <p:nvSpPr>
            <p:cNvPr id="159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0" name="图形 159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1" name="组合 160"/>
          <p:cNvGrpSpPr/>
          <p:nvPr/>
        </p:nvGrpSpPr>
        <p:grpSpPr>
          <a:xfrm>
            <a:off x="647539" y="3155988"/>
            <a:ext cx="302588" cy="302588"/>
            <a:chOff x="3837791" y="2457822"/>
            <a:chExt cx="762000" cy="762000"/>
          </a:xfrm>
        </p:grpSpPr>
        <p:sp>
          <p:nvSpPr>
            <p:cNvPr id="162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3" name="图形 162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4" name="组合 163"/>
          <p:cNvGrpSpPr/>
          <p:nvPr/>
        </p:nvGrpSpPr>
        <p:grpSpPr>
          <a:xfrm>
            <a:off x="647539" y="4185870"/>
            <a:ext cx="302588" cy="302588"/>
            <a:chOff x="3837791" y="2457822"/>
            <a:chExt cx="762000" cy="762000"/>
          </a:xfrm>
        </p:grpSpPr>
        <p:sp>
          <p:nvSpPr>
            <p:cNvPr id="165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6" name="图形 165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7" name="组合 166"/>
          <p:cNvGrpSpPr/>
          <p:nvPr/>
        </p:nvGrpSpPr>
        <p:grpSpPr>
          <a:xfrm>
            <a:off x="647539" y="5226206"/>
            <a:ext cx="302588" cy="302588"/>
            <a:chOff x="3837791" y="2457822"/>
            <a:chExt cx="762000" cy="762000"/>
          </a:xfrm>
        </p:grpSpPr>
        <p:sp>
          <p:nvSpPr>
            <p:cNvPr id="168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9" name="图形 168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96" name="组合 195"/>
          <p:cNvGrpSpPr/>
          <p:nvPr/>
        </p:nvGrpSpPr>
        <p:grpSpPr>
          <a:xfrm>
            <a:off x="8175563" y="2116864"/>
            <a:ext cx="3365816" cy="888348"/>
            <a:chOff x="563806" y="2116864"/>
            <a:chExt cx="3365816" cy="888348"/>
          </a:xfrm>
        </p:grpSpPr>
        <p:sp>
          <p:nvSpPr>
            <p:cNvPr id="197" name="矩形 196"/>
            <p:cNvSpPr/>
            <p:nvPr/>
          </p:nvSpPr>
          <p:spPr>
            <a:xfrm>
              <a:off x="905802" y="2116864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563806" y="241646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引入战略出资人，以资源置换估值，缓解资金压力。</a:t>
              </a:r>
              <a:endPara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01" name="组合 200"/>
          <p:cNvGrpSpPr/>
          <p:nvPr/>
        </p:nvGrpSpPr>
        <p:grpSpPr>
          <a:xfrm>
            <a:off x="8175563" y="3135532"/>
            <a:ext cx="3365816" cy="897202"/>
            <a:chOff x="563806" y="3023765"/>
            <a:chExt cx="3365816" cy="897202"/>
          </a:xfrm>
        </p:grpSpPr>
        <p:sp>
          <p:nvSpPr>
            <p:cNvPr id="202" name="矩形 201"/>
            <p:cNvSpPr/>
            <p:nvPr/>
          </p:nvSpPr>
          <p:spPr>
            <a:xfrm>
              <a:off x="930810" y="302376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3" name="矩形 202"/>
            <p:cNvSpPr/>
            <p:nvPr/>
          </p:nvSpPr>
          <p:spPr>
            <a:xfrm>
              <a:off x="563806" y="3332216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高薪招募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名行业资深顾问，补齐管理短板。</a:t>
              </a: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8175563" y="4171756"/>
            <a:ext cx="3365816" cy="888500"/>
            <a:chOff x="563806" y="3948222"/>
            <a:chExt cx="3365816" cy="888500"/>
          </a:xfrm>
        </p:grpSpPr>
        <p:sp>
          <p:nvSpPr>
            <p:cNvPr id="206" name="矩形 205"/>
            <p:cNvSpPr/>
            <p:nvPr/>
          </p:nvSpPr>
          <p:spPr>
            <a:xfrm>
              <a:off x="954229" y="3948222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10" name="矩形 209"/>
            <p:cNvSpPr/>
            <p:nvPr/>
          </p:nvSpPr>
          <p:spPr>
            <a:xfrm>
              <a:off x="563806" y="424797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与高校联合培养管培生，低成本储备技术人才。</a:t>
              </a: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8175562" y="5226206"/>
            <a:ext cx="3577161" cy="603040"/>
            <a:chOff x="563805" y="4890905"/>
            <a:chExt cx="3577161" cy="603040"/>
          </a:xfrm>
        </p:grpSpPr>
        <p:sp>
          <p:nvSpPr>
            <p:cNvPr id="212" name="矩形 211"/>
            <p:cNvSpPr/>
            <p:nvPr/>
          </p:nvSpPr>
          <p:spPr>
            <a:xfrm>
              <a:off x="950127" y="489090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4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30" name="矩形 229"/>
            <p:cNvSpPr/>
            <p:nvPr/>
          </p:nvSpPr>
          <p:spPr>
            <a:xfrm>
              <a:off x="563805" y="5163726"/>
              <a:ext cx="3577161" cy="33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推行轻资产运营，将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非核心业务外包。</a:t>
              </a:r>
            </a:p>
          </p:txBody>
        </p:sp>
      </p:grpSp>
      <p:cxnSp>
        <p:nvCxnSpPr>
          <p:cNvPr id="231" name="直接连接符 230"/>
          <p:cNvCxnSpPr/>
          <p:nvPr/>
        </p:nvCxnSpPr>
        <p:spPr>
          <a:xfrm>
            <a:off x="8297557" y="3104451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>
            <a:off x="8297557" y="4118117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>
            <a:off x="8297557" y="5149673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组合 233"/>
          <p:cNvGrpSpPr/>
          <p:nvPr/>
        </p:nvGrpSpPr>
        <p:grpSpPr>
          <a:xfrm>
            <a:off x="8259296" y="2128060"/>
            <a:ext cx="302588" cy="302588"/>
            <a:chOff x="3837791" y="2457822"/>
            <a:chExt cx="762000" cy="762000"/>
          </a:xfrm>
        </p:grpSpPr>
        <p:sp>
          <p:nvSpPr>
            <p:cNvPr id="235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36" name="图形 235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37" name="组合 236"/>
          <p:cNvGrpSpPr/>
          <p:nvPr/>
        </p:nvGrpSpPr>
        <p:grpSpPr>
          <a:xfrm>
            <a:off x="8259296" y="3155988"/>
            <a:ext cx="302588" cy="302588"/>
            <a:chOff x="3837791" y="2457822"/>
            <a:chExt cx="762000" cy="762000"/>
          </a:xfrm>
        </p:grpSpPr>
        <p:sp>
          <p:nvSpPr>
            <p:cNvPr id="238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39" name="图形 238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40" name="组合 239"/>
          <p:cNvGrpSpPr/>
          <p:nvPr/>
        </p:nvGrpSpPr>
        <p:grpSpPr>
          <a:xfrm>
            <a:off x="8259296" y="4185870"/>
            <a:ext cx="302588" cy="302588"/>
            <a:chOff x="3837791" y="2457822"/>
            <a:chExt cx="762000" cy="762000"/>
          </a:xfrm>
        </p:grpSpPr>
        <p:sp>
          <p:nvSpPr>
            <p:cNvPr id="241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42" name="图形 241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45" name="组合 244"/>
          <p:cNvGrpSpPr/>
          <p:nvPr/>
        </p:nvGrpSpPr>
        <p:grpSpPr>
          <a:xfrm>
            <a:off x="8259296" y="5226206"/>
            <a:ext cx="302588" cy="302588"/>
            <a:chOff x="3837791" y="2457822"/>
            <a:chExt cx="762000" cy="762000"/>
          </a:xfrm>
        </p:grpSpPr>
        <p:sp>
          <p:nvSpPr>
            <p:cNvPr id="246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47" name="图形 246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sp>
        <p:nvSpPr>
          <p:cNvPr id="248" name="矩形 247"/>
          <p:cNvSpPr/>
          <p:nvPr/>
        </p:nvSpPr>
        <p:spPr>
          <a:xfrm>
            <a:off x="368300" y="6157648"/>
            <a:ext cx="5727700" cy="379483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04759" y="6208889"/>
            <a:ext cx="21082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核心技术优势</a:t>
            </a:r>
            <a:r>
              <a:rPr lang="en-US" altLang="zh-CN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+</a:t>
            </a:r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市场先发优势</a:t>
            </a:r>
            <a:endParaRPr lang="zh-CN" altLang="en-US" sz="12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cxnSp>
        <p:nvCxnSpPr>
          <p:cNvPr id="249" name="直接箭头连接符 248"/>
          <p:cNvCxnSpPr/>
          <p:nvPr/>
        </p:nvCxnSpPr>
        <p:spPr>
          <a:xfrm flipV="1">
            <a:off x="3575781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250"/>
          <p:cNvCxnSpPr/>
          <p:nvPr/>
        </p:nvCxnSpPr>
        <p:spPr>
          <a:xfrm flipV="1">
            <a:off x="1137381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矩形 251"/>
          <p:cNvSpPr/>
          <p:nvPr/>
        </p:nvSpPr>
        <p:spPr>
          <a:xfrm flipH="1">
            <a:off x="6096001" y="6157648"/>
            <a:ext cx="5727700" cy="379483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8855914" y="6208889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现金流紧张</a:t>
            </a:r>
            <a:r>
              <a:rPr lang="en-US" altLang="zh-CN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+</a:t>
            </a:r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团队经验不足</a:t>
            </a:r>
            <a:endParaRPr lang="zh-CN" altLang="en-US" sz="12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cxnSp>
        <p:nvCxnSpPr>
          <p:cNvPr id="254" name="直接箭头连接符 253"/>
          <p:cNvCxnSpPr/>
          <p:nvPr/>
        </p:nvCxnSpPr>
        <p:spPr>
          <a:xfrm flipV="1">
            <a:off x="11049992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V="1">
            <a:off x="8611592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 rot="5400000">
            <a:off x="5771530" y="3355242"/>
            <a:ext cx="64893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072" y="200526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-2025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战略分析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椭圆 10"/>
          <p:cNvSpPr/>
          <p:nvPr/>
        </p:nvSpPr>
        <p:spPr>
          <a:xfrm rot="5400000">
            <a:off x="5796924" y="990590"/>
            <a:ext cx="598151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5796925" y="-138722"/>
            <a:ext cx="59814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3" name="椭圆 12"/>
          <p:cNvSpPr/>
          <p:nvPr/>
        </p:nvSpPr>
        <p:spPr>
          <a:xfrm rot="5400000">
            <a:off x="5771530" y="2162772"/>
            <a:ext cx="64893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3821725" y="2817621"/>
            <a:ext cx="4614555" cy="1919037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 rot="5400000">
            <a:off x="5609790" y="341363"/>
            <a:ext cx="972421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2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6" name="椭圆 15"/>
          <p:cNvSpPr/>
          <p:nvPr/>
        </p:nvSpPr>
        <p:spPr>
          <a:xfrm rot="5400000">
            <a:off x="5966695" y="535171"/>
            <a:ext cx="324618" cy="1919037"/>
          </a:xfrm>
          <a:prstGeom prst="ellipse">
            <a:avLst/>
          </a:prstGeom>
          <a:gradFill>
            <a:gsLst>
              <a:gs pos="8300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rot="5400000">
            <a:off x="5609790" y="1476801"/>
            <a:ext cx="972421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 rot="5400000">
            <a:off x="5568507" y="2642417"/>
            <a:ext cx="1054987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0" name="任意多边形: 形状 19"/>
          <p:cNvSpPr/>
          <p:nvPr/>
        </p:nvSpPr>
        <p:spPr>
          <a:xfrm rot="5400000">
            <a:off x="5568507" y="3834887"/>
            <a:ext cx="1054987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8301" y="6084417"/>
            <a:ext cx="11455399" cy="438135"/>
            <a:chOff x="368301" y="6084417"/>
            <a:chExt cx="13254389" cy="438135"/>
          </a:xfrm>
        </p:grpSpPr>
        <p:sp>
          <p:nvSpPr>
            <p:cNvPr id="23" name="矩形 22"/>
            <p:cNvSpPr/>
            <p:nvPr/>
          </p:nvSpPr>
          <p:spPr>
            <a:xfrm>
              <a:off x="368301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银发市场攻坚</a:t>
              </a:r>
              <a:endParaRPr lang="zh-CN" altLang="en-US" sz="2800" b="1" spc="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11576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跨境产能协同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7054851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芯片国产替代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0398126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订阅制转型</a:t>
              </a: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5409744" y="1302167"/>
            <a:ext cx="1475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相关闭环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355599" y="1345758"/>
            <a:ext cx="3437129" cy="4603737"/>
            <a:chOff x="355599" y="1345758"/>
            <a:chExt cx="3437129" cy="4603737"/>
          </a:xfrm>
        </p:grpSpPr>
        <p:sp>
          <p:nvSpPr>
            <p:cNvPr id="21" name="矩形 20"/>
            <p:cNvSpPr/>
            <p:nvPr/>
          </p:nvSpPr>
          <p:spPr>
            <a:xfrm>
              <a:off x="355599" y="1345758"/>
              <a:ext cx="3437129" cy="9947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68300" y="2339408"/>
              <a:ext cx="3423645" cy="3610087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10000"/>
                    <a:lumOff val="90000"/>
                  </a:schemeClr>
                </a:gs>
                <a:gs pos="0">
                  <a:schemeClr val="accent1">
                    <a:lumMod val="10000"/>
                    <a:lumOff val="9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99902" y="1407005"/>
              <a:ext cx="2094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市场增量空间挖掘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04766" y="1716916"/>
              <a:ext cx="200433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全球智能穿戴设备市场年复合增长率</a:t>
              </a:r>
              <a:r>
                <a:rPr lang="en-US" altLang="zh-CN" sz="110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12%</a:t>
              </a:r>
              <a:r>
                <a:rPr lang="zh-CN" altLang="en-US" sz="110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，存量竞争转向场景创新。</a:t>
              </a:r>
            </a:p>
          </p:txBody>
        </p:sp>
        <p:sp>
          <p:nvSpPr>
            <p:cNvPr id="32" name="Google Shape;6082;p78"/>
            <p:cNvSpPr/>
            <p:nvPr/>
          </p:nvSpPr>
          <p:spPr>
            <a:xfrm>
              <a:off x="619856" y="1529158"/>
              <a:ext cx="802494" cy="626850"/>
            </a:xfrm>
            <a:custGeom>
              <a:avLst/>
              <a:gdLst/>
              <a:ahLst/>
              <a:cxnLst/>
              <a:rect l="l" t="t" r="r" b="b"/>
              <a:pathLst>
                <a:path w="12665" h="9893" extrusionOk="0">
                  <a:moveTo>
                    <a:pt x="8538" y="2458"/>
                  </a:moveTo>
                  <a:cubicBezTo>
                    <a:pt x="8758" y="2458"/>
                    <a:pt x="8916" y="2678"/>
                    <a:pt x="8916" y="2899"/>
                  </a:cubicBezTo>
                  <a:lnTo>
                    <a:pt x="8916" y="4569"/>
                  </a:lnTo>
                  <a:cubicBezTo>
                    <a:pt x="8916" y="4789"/>
                    <a:pt x="8727" y="4978"/>
                    <a:pt x="8538" y="4978"/>
                  </a:cubicBezTo>
                  <a:cubicBezTo>
                    <a:pt x="8349" y="4978"/>
                    <a:pt x="8128" y="4789"/>
                    <a:pt x="8128" y="4569"/>
                  </a:cubicBezTo>
                  <a:lnTo>
                    <a:pt x="8128" y="3875"/>
                  </a:lnTo>
                  <a:lnTo>
                    <a:pt x="6364" y="5671"/>
                  </a:lnTo>
                  <a:cubicBezTo>
                    <a:pt x="6285" y="5750"/>
                    <a:pt x="6175" y="5789"/>
                    <a:pt x="6065" y="5789"/>
                  </a:cubicBezTo>
                  <a:cubicBezTo>
                    <a:pt x="5954" y="5789"/>
                    <a:pt x="5844" y="5750"/>
                    <a:pt x="5765" y="5671"/>
                  </a:cubicBezTo>
                  <a:lnTo>
                    <a:pt x="5230" y="5104"/>
                  </a:lnTo>
                  <a:lnTo>
                    <a:pt x="3844" y="6490"/>
                  </a:lnTo>
                  <a:cubicBezTo>
                    <a:pt x="3765" y="6569"/>
                    <a:pt x="3655" y="6608"/>
                    <a:pt x="3544" y="6608"/>
                  </a:cubicBezTo>
                  <a:cubicBezTo>
                    <a:pt x="3434" y="6608"/>
                    <a:pt x="3324" y="6569"/>
                    <a:pt x="3245" y="6490"/>
                  </a:cubicBezTo>
                  <a:cubicBezTo>
                    <a:pt x="3087" y="6333"/>
                    <a:pt x="3087" y="6049"/>
                    <a:pt x="3245" y="5892"/>
                  </a:cubicBezTo>
                  <a:lnTo>
                    <a:pt x="4915" y="4254"/>
                  </a:lnTo>
                  <a:cubicBezTo>
                    <a:pt x="4994" y="4175"/>
                    <a:pt x="5104" y="4135"/>
                    <a:pt x="5214" y="4135"/>
                  </a:cubicBezTo>
                  <a:cubicBezTo>
                    <a:pt x="5324" y="4135"/>
                    <a:pt x="5435" y="4175"/>
                    <a:pt x="5513" y="4254"/>
                  </a:cubicBezTo>
                  <a:lnTo>
                    <a:pt x="6049" y="4789"/>
                  </a:lnTo>
                  <a:lnTo>
                    <a:pt x="7561" y="3308"/>
                  </a:lnTo>
                  <a:lnTo>
                    <a:pt x="6868" y="3308"/>
                  </a:lnTo>
                  <a:cubicBezTo>
                    <a:pt x="6648" y="3308"/>
                    <a:pt x="6490" y="3088"/>
                    <a:pt x="6490" y="2899"/>
                  </a:cubicBezTo>
                  <a:cubicBezTo>
                    <a:pt x="6490" y="2678"/>
                    <a:pt x="6679" y="2458"/>
                    <a:pt x="6868" y="2458"/>
                  </a:cubicBezTo>
                  <a:close/>
                  <a:moveTo>
                    <a:pt x="11814" y="8255"/>
                  </a:moveTo>
                  <a:cubicBezTo>
                    <a:pt x="11814" y="8538"/>
                    <a:pt x="11877" y="9105"/>
                    <a:pt x="11405" y="9105"/>
                  </a:cubicBezTo>
                  <a:lnTo>
                    <a:pt x="1197" y="9105"/>
                  </a:lnTo>
                  <a:cubicBezTo>
                    <a:pt x="977" y="9105"/>
                    <a:pt x="788" y="8885"/>
                    <a:pt x="788" y="8664"/>
                  </a:cubicBezTo>
                  <a:lnTo>
                    <a:pt x="788" y="8255"/>
                  </a:lnTo>
                  <a:close/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7435"/>
                  </a:lnTo>
                  <a:lnTo>
                    <a:pt x="410" y="7435"/>
                  </a:lnTo>
                  <a:cubicBezTo>
                    <a:pt x="189" y="7435"/>
                    <a:pt x="0" y="7625"/>
                    <a:pt x="0" y="7845"/>
                  </a:cubicBezTo>
                  <a:lnTo>
                    <a:pt x="0" y="8664"/>
                  </a:lnTo>
                  <a:cubicBezTo>
                    <a:pt x="0" y="9326"/>
                    <a:pt x="536" y="9893"/>
                    <a:pt x="1260" y="9893"/>
                  </a:cubicBezTo>
                  <a:lnTo>
                    <a:pt x="11436" y="9893"/>
                  </a:lnTo>
                  <a:cubicBezTo>
                    <a:pt x="12129" y="9893"/>
                    <a:pt x="12665" y="9326"/>
                    <a:pt x="12665" y="8664"/>
                  </a:cubicBezTo>
                  <a:lnTo>
                    <a:pt x="12665" y="7845"/>
                  </a:lnTo>
                  <a:cubicBezTo>
                    <a:pt x="12634" y="7593"/>
                    <a:pt x="12444" y="7435"/>
                    <a:pt x="12224" y="7435"/>
                  </a:cubicBezTo>
                  <a:lnTo>
                    <a:pt x="11814" y="7435"/>
                  </a:lnTo>
                  <a:lnTo>
                    <a:pt x="11814" y="1229"/>
                  </a:lnTo>
                  <a:cubicBezTo>
                    <a:pt x="11814" y="536"/>
                    <a:pt x="11247" y="0"/>
                    <a:pt x="1058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586761" y="2551583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用户渗透率分层运营</a:t>
              </a:r>
              <a:endParaRPr lang="zh-CN" altLang="en-US" sz="1600" dirty="0">
                <a:cs typeface="Roboto" panose="02000000000000000000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605540" y="2899727"/>
              <a:ext cx="2031325" cy="110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一线城市年轻群体渗透率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58%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，但银发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/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下沉市场不足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，需差异化产品矩阵破局。</a:t>
              </a:r>
              <a:endParaRPr lang="zh-CN" altLang="en-US" sz="14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586761" y="4216579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用户渗透率分层运营</a:t>
              </a:r>
              <a:endParaRPr lang="zh-CN" altLang="en-US" sz="1600" dirty="0">
                <a:cs typeface="Roboto" panose="02000000000000000000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605540" y="4564723"/>
              <a:ext cx="2031325" cy="110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一线城市年轻个体渗透率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58%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，但银发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/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下沉市场不足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，需差异化产品矩阵破局。</a:t>
              </a:r>
              <a:endParaRPr lang="zh-CN" altLang="en-US" sz="1400" dirty="0">
                <a:latin typeface="+mn-ea"/>
                <a:cs typeface="Roboto" panose="02000000000000000000" charset="0"/>
              </a:endParaRPr>
            </a:p>
          </p:txBody>
        </p:sp>
        <p:cxnSp>
          <p:nvCxnSpPr>
            <p:cNvPr id="40" name="直接连接符 39"/>
            <p:cNvCxnSpPr>
              <a:stCxn id="35" idx="2"/>
              <a:endCxn id="36" idx="0"/>
            </p:cNvCxnSpPr>
            <p:nvPr/>
          </p:nvCxnSpPr>
          <p:spPr>
            <a:xfrm>
              <a:off x="1021103" y="2831830"/>
              <a:ext cx="0" cy="2538201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619856" y="2606328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场景适配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19856" y="5370031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服务增值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619856" y="4448796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渠道下沉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619856" y="3527562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价格分级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1743398" y="4100930"/>
              <a:ext cx="1718049" cy="0"/>
            </a:xfrm>
            <a:prstGeom prst="line">
              <a:avLst/>
            </a:prstGeom>
            <a:ln w="9525">
              <a:solidFill>
                <a:schemeClr val="tx2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flipV="1">
              <a:off x="961136" y="3149658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flipV="1">
              <a:off x="961136" y="4064631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961136" y="4979604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8386571" y="1345758"/>
            <a:ext cx="3437129" cy="9947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399272" y="2339408"/>
            <a:ext cx="3423645" cy="3610087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560514" y="1407005"/>
            <a:ext cx="2094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供应链韧性重构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565378" y="1716916"/>
            <a:ext cx="20043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东南亚产能占比从</a:t>
            </a:r>
            <a:r>
              <a:rPr lang="en-US" altLang="zh-CN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提升至</a:t>
            </a:r>
            <a:r>
              <a:rPr lang="en-US" altLang="zh-CN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35%</a:t>
            </a:r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，但物流成本增加</a:t>
            </a:r>
            <a:r>
              <a:rPr lang="en-US" altLang="zh-CN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个百分点。</a:t>
            </a:r>
            <a:endParaRPr lang="zh-CN" altLang="en-US" sz="1100" i="0" dirty="0">
              <a:solidFill>
                <a:schemeClr val="bg1"/>
              </a:solidFill>
              <a:effectLst/>
              <a:latin typeface="+mn-ea"/>
              <a:cs typeface="Roboto" panose="02000000000000000000" charset="0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8583641" y="2551583"/>
            <a:ext cx="2050104" cy="2860423"/>
            <a:chOff x="9617733" y="2551583"/>
            <a:chExt cx="2050104" cy="2860423"/>
          </a:xfrm>
        </p:grpSpPr>
        <p:sp>
          <p:nvSpPr>
            <p:cNvPr id="53" name="矩形 52"/>
            <p:cNvSpPr/>
            <p:nvPr/>
          </p:nvSpPr>
          <p:spPr>
            <a:xfrm>
              <a:off x="9617733" y="2551583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地缘政治风险对冲</a:t>
              </a:r>
              <a:endParaRPr lang="zh-CN" altLang="en-US" sz="1600" dirty="0">
                <a:cs typeface="Roboto" panose="02000000000000000000" charset="0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9636512" y="2899727"/>
              <a:ext cx="2031325" cy="847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通过“中国芯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+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海外厂”模式，关键元器件备库周期从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天延长至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90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天。</a:t>
              </a:r>
              <a:endParaRPr lang="zh-CN" altLang="en-US" sz="14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9617733" y="4216579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地缘政治风险对冲</a:t>
              </a:r>
            </a:p>
          </p:txBody>
        </p:sp>
        <p:sp>
          <p:nvSpPr>
            <p:cNvPr id="56" name="矩形 55"/>
            <p:cNvSpPr/>
            <p:nvPr/>
          </p:nvSpPr>
          <p:spPr>
            <a:xfrm>
              <a:off x="9636512" y="4564723"/>
              <a:ext cx="2031325" cy="847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通过“中国芯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+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海外厂”模式，关键元器件备库周期从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天延长至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90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天。</a:t>
              </a:r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9774370" y="4005543"/>
              <a:ext cx="1718049" cy="0"/>
            </a:xfrm>
            <a:prstGeom prst="line">
              <a:avLst/>
            </a:prstGeom>
            <a:ln w="9525">
              <a:solidFill>
                <a:schemeClr val="tx2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直接连接符 56"/>
          <p:cNvCxnSpPr>
            <a:stCxn id="58" idx="2"/>
            <a:endCxn id="59" idx="0"/>
          </p:cNvCxnSpPr>
          <p:nvPr/>
        </p:nvCxnSpPr>
        <p:spPr>
          <a:xfrm>
            <a:off x="11200580" y="2831830"/>
            <a:ext cx="0" cy="2538201"/>
          </a:xfrm>
          <a:prstGeom prst="line">
            <a:avLst/>
          </a:prstGeom>
          <a:ln w="952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0799333" y="2606328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cs typeface="Roboto" panose="02000000000000000000" charset="0"/>
              </a:rPr>
              <a:t>多源进入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799333" y="5370031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cs typeface="Roboto" panose="02000000000000000000" charset="0"/>
              </a:rPr>
              <a:t>税筹优化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0799333" y="4448796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库存缓冲</a:t>
            </a:r>
          </a:p>
        </p:txBody>
      </p:sp>
      <p:sp>
        <p:nvSpPr>
          <p:cNvPr id="61" name="矩形 60"/>
          <p:cNvSpPr/>
          <p:nvPr/>
        </p:nvSpPr>
        <p:spPr>
          <a:xfrm>
            <a:off x="10799333" y="3527562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cs typeface="Roboto" panose="02000000000000000000" charset="0"/>
              </a:rPr>
              <a:t>产能备份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63" name="等腰三角形 62"/>
          <p:cNvSpPr/>
          <p:nvPr/>
        </p:nvSpPr>
        <p:spPr>
          <a:xfrm flipV="1">
            <a:off x="11140613" y="3149658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4" name="等腰三角形 63"/>
          <p:cNvSpPr/>
          <p:nvPr/>
        </p:nvSpPr>
        <p:spPr>
          <a:xfrm flipV="1">
            <a:off x="11140613" y="4064631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5" name="等腰三角形 64"/>
          <p:cNvSpPr/>
          <p:nvPr/>
        </p:nvSpPr>
        <p:spPr>
          <a:xfrm flipV="1">
            <a:off x="11140613" y="4979604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66" name="Google Shape;5279;p76"/>
          <p:cNvGrpSpPr/>
          <p:nvPr/>
        </p:nvGrpSpPr>
        <p:grpSpPr>
          <a:xfrm>
            <a:off x="10906481" y="1537274"/>
            <a:ext cx="665664" cy="639990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67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68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69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0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1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2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3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4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5056432" y="1933007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需求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产能校准闭环</a:t>
            </a:r>
          </a:p>
        </p:txBody>
      </p:sp>
      <p:sp>
        <p:nvSpPr>
          <p:cNvPr id="78" name="矩形 77"/>
          <p:cNvSpPr/>
          <p:nvPr/>
        </p:nvSpPr>
        <p:spPr>
          <a:xfrm>
            <a:off x="5056432" y="3108642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研发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市场联动闭环</a:t>
            </a:r>
          </a:p>
        </p:txBody>
      </p:sp>
      <p:sp>
        <p:nvSpPr>
          <p:cNvPr id="79" name="矩形 78"/>
          <p:cNvSpPr/>
          <p:nvPr/>
        </p:nvSpPr>
        <p:spPr>
          <a:xfrm>
            <a:off x="5056432" y="4284277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溢价平衡闭环</a:t>
            </a:r>
          </a:p>
        </p:txBody>
      </p:sp>
      <p:sp>
        <p:nvSpPr>
          <p:cNvPr id="80" name="矩形 79"/>
          <p:cNvSpPr/>
          <p:nvPr/>
        </p:nvSpPr>
        <p:spPr>
          <a:xfrm>
            <a:off x="5056432" y="5459912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风险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收益对赌闭环</a:t>
            </a:r>
          </a:p>
        </p:txBody>
      </p:sp>
      <p:sp>
        <p:nvSpPr>
          <p:cNvPr id="82" name="右大括号 81"/>
          <p:cNvSpPr/>
          <p:nvPr/>
        </p:nvSpPr>
        <p:spPr>
          <a:xfrm>
            <a:off x="3777431" y="1345758"/>
            <a:ext cx="518500" cy="4603736"/>
          </a:xfrm>
          <a:prstGeom prst="rightBrace">
            <a:avLst>
              <a:gd name="adj1" fmla="val 61519"/>
              <a:gd name="adj2" fmla="val 11537"/>
            </a:avLst>
          </a:prstGeom>
          <a:gradFill>
            <a:gsLst>
              <a:gs pos="100000">
                <a:schemeClr val="accent1"/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3" name="右大括号 82"/>
          <p:cNvSpPr/>
          <p:nvPr/>
        </p:nvSpPr>
        <p:spPr>
          <a:xfrm flipH="1">
            <a:off x="7884183" y="1345758"/>
            <a:ext cx="518500" cy="4603736"/>
          </a:xfrm>
          <a:prstGeom prst="rightBrace">
            <a:avLst>
              <a:gd name="adj1" fmla="val 61519"/>
              <a:gd name="adj2" fmla="val 11537"/>
            </a:avLst>
          </a:prstGeom>
          <a:gradFill>
            <a:gsLst>
              <a:gs pos="100000">
                <a:schemeClr val="tx2"/>
              </a:gs>
              <a:gs pos="0">
                <a:schemeClr val="tx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9072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问题分析与改进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556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2680252" y="1517079"/>
            <a:ext cx="2169498" cy="1344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0049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7329552" y="1517079"/>
            <a:ext cx="2169498" cy="1344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96542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56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01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：响应速度慢</a:t>
            </a:r>
          </a:p>
        </p:txBody>
      </p:sp>
      <p:sp>
        <p:nvSpPr>
          <p:cNvPr id="87" name="矩形 86"/>
          <p:cNvSpPr/>
          <p:nvPr/>
        </p:nvSpPr>
        <p:spPr>
          <a:xfrm>
            <a:off x="459105" y="2172335"/>
            <a:ext cx="196342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平均响应4.2小时，超行业标准110%，满意度仅78%。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268025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02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：备件供应慢</a:t>
            </a:r>
          </a:p>
        </p:txBody>
      </p:sp>
      <p:sp>
        <p:nvSpPr>
          <p:cNvPr id="110" name="矩形 109"/>
          <p:cNvSpPr/>
          <p:nvPr/>
        </p:nvSpPr>
        <p:spPr>
          <a:xfrm>
            <a:off x="2952620" y="2172352"/>
            <a:ext cx="162476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调货周期5.8天，维修周期7.5天，投诉增35%。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50049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03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：技术不足</a:t>
            </a:r>
          </a:p>
        </p:txBody>
      </p:sp>
      <p:sp>
        <p:nvSpPr>
          <p:cNvPr id="113" name="矩形 112"/>
          <p:cNvSpPr/>
          <p:nvPr/>
        </p:nvSpPr>
        <p:spPr>
          <a:xfrm>
            <a:off x="5277270" y="2172352"/>
            <a:ext cx="162476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30%技工不会修高压系统，返修率18%。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732955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04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：流程复杂</a:t>
            </a:r>
          </a:p>
        </p:txBody>
      </p:sp>
      <p:sp>
        <p:nvSpPr>
          <p:cNvPr id="116" name="矩形 115"/>
          <p:cNvSpPr/>
          <p:nvPr/>
        </p:nvSpPr>
        <p:spPr>
          <a:xfrm>
            <a:off x="7601920" y="2172352"/>
            <a:ext cx="1624763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6个环节，42%客户流失。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96542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05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：维系不足</a:t>
            </a:r>
          </a:p>
        </p:txBody>
      </p:sp>
      <p:sp>
        <p:nvSpPr>
          <p:cNvPr id="119" name="矩形 118"/>
          <p:cNvSpPr/>
          <p:nvPr/>
        </p:nvSpPr>
        <p:spPr>
          <a:xfrm>
            <a:off x="9926570" y="2172352"/>
            <a:ext cx="162476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二次回厂率仅12%，低于行业25%。</a:t>
            </a:r>
          </a:p>
        </p:txBody>
      </p:sp>
      <p:grpSp>
        <p:nvGrpSpPr>
          <p:cNvPr id="147" name="组合 146"/>
          <p:cNvGrpSpPr/>
          <p:nvPr/>
        </p:nvGrpSpPr>
        <p:grpSpPr>
          <a:xfrm>
            <a:off x="355602" y="2843554"/>
            <a:ext cx="2169498" cy="2729370"/>
            <a:chOff x="355602" y="2843554"/>
            <a:chExt cx="2169498" cy="2729370"/>
          </a:xfrm>
        </p:grpSpPr>
        <p:sp>
          <p:nvSpPr>
            <p:cNvPr id="126" name="任意多边形: 形状 125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25" name="右大括号 124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140" name="组合 139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122" name="矩形: 圆角 121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cs typeface="Roboto" panose="02000000000000000000" charset="0"/>
                  </a:rPr>
                  <a:t>改进策略：智能化响应</a:t>
                </a: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1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2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3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4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5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6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699598" y="3846810"/>
              <a:ext cx="1695878" cy="527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部署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AI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科夫系统，实现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90%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常见问题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30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分钟快速响应</a:t>
              </a:r>
            </a:p>
          </p:txBody>
        </p:sp>
        <p:sp>
          <p:nvSpPr>
            <p:cNvPr id="141" name="等腰三角形 140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建立全国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200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家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4S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店智能派单系统，确保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小时技术员到位。</a:t>
              </a:r>
              <a:endPara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43" name="等腰三角形 142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cxnSp>
          <p:nvCxnSpPr>
            <p:cNvPr id="145" name="直接连接符 144"/>
            <p:cNvCxnSpPr>
              <a:stCxn id="126" idx="12"/>
              <a:endCxn id="126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组合 165"/>
          <p:cNvGrpSpPr/>
          <p:nvPr/>
        </p:nvGrpSpPr>
        <p:grpSpPr>
          <a:xfrm>
            <a:off x="5004902" y="2843554"/>
            <a:ext cx="2169498" cy="2729370"/>
            <a:chOff x="355602" y="2843554"/>
            <a:chExt cx="2169498" cy="2729370"/>
          </a:xfrm>
        </p:grpSpPr>
        <p:sp>
          <p:nvSpPr>
            <p:cNvPr id="167" name="任意多边形: 形状 166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8" name="右大括号 167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175" name="矩形: 圆角 174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6" name="文本框 175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cs typeface="Roboto" panose="02000000000000000000" charset="0"/>
                  </a:rPr>
                  <a:t>改进策略：技术提升</a:t>
                </a:r>
              </a:p>
            </p:txBody>
          </p:sp>
          <p:sp>
            <p:nvSpPr>
              <p:cNvPr id="177" name="椭圆 176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8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79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0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1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2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3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170" name="矩形 169"/>
            <p:cNvSpPr/>
            <p:nvPr/>
          </p:nvSpPr>
          <p:spPr>
            <a:xfrm>
              <a:off x="699598" y="3846810"/>
              <a:ext cx="1695878" cy="527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引入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TÜV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认证体系，季度高压系统专项培训全覆盖</a:t>
              </a:r>
            </a:p>
          </p:txBody>
        </p:sp>
        <p:sp>
          <p:nvSpPr>
            <p:cNvPr id="171" name="等腰三角形 170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2" name="矩形 171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建立专家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AR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远程支持系统，复杂故障处理效率提升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50%</a:t>
              </a:r>
            </a:p>
          </p:txBody>
        </p:sp>
        <p:sp>
          <p:nvSpPr>
            <p:cNvPr id="173" name="等腰三角形 172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cxnSp>
          <p:nvCxnSpPr>
            <p:cNvPr id="174" name="直接连接符 173"/>
            <p:cNvCxnSpPr>
              <a:stCxn id="167" idx="12"/>
              <a:endCxn id="167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" name="任意多边形: 形状 184"/>
          <p:cNvSpPr/>
          <p:nvPr/>
        </p:nvSpPr>
        <p:spPr>
          <a:xfrm>
            <a:off x="7329552" y="2949910"/>
            <a:ext cx="2169498" cy="2623014"/>
          </a:xfrm>
          <a:custGeom>
            <a:avLst/>
            <a:gdLst>
              <a:gd name="connsiteX0" fmla="*/ 0 w 2169498"/>
              <a:gd name="connsiteY0" fmla="*/ 0 h 3065802"/>
              <a:gd name="connsiteX1" fmla="*/ 846 w 2169498"/>
              <a:gd name="connsiteY1" fmla="*/ 0 h 3065802"/>
              <a:gd name="connsiteX2" fmla="*/ 3846 w 2169498"/>
              <a:gd name="connsiteY2" fmla="*/ 24187 h 3065802"/>
              <a:gd name="connsiteX3" fmla="*/ 189341 w 2169498"/>
              <a:gd name="connsiteY3" fmla="*/ 147062 h 3065802"/>
              <a:gd name="connsiteX4" fmla="*/ 902871 w 2169498"/>
              <a:gd name="connsiteY4" fmla="*/ 147062 h 3065802"/>
              <a:gd name="connsiteX5" fmla="*/ 1092212 w 2169498"/>
              <a:gd name="connsiteY5" fmla="*/ 300951 h 3065802"/>
              <a:gd name="connsiteX6" fmla="*/ 1281553 w 2169498"/>
              <a:gd name="connsiteY6" fmla="*/ 147062 h 3065802"/>
              <a:gd name="connsiteX7" fmla="*/ 1980157 w 2169498"/>
              <a:gd name="connsiteY7" fmla="*/ 147062 h 3065802"/>
              <a:gd name="connsiteX8" fmla="*/ 2165651 w 2169498"/>
              <a:gd name="connsiteY8" fmla="*/ 24187 h 3065802"/>
              <a:gd name="connsiteX9" fmla="*/ 2168651 w 2169498"/>
              <a:gd name="connsiteY9" fmla="*/ 0 h 3065802"/>
              <a:gd name="connsiteX10" fmla="*/ 2169498 w 2169498"/>
              <a:gd name="connsiteY10" fmla="*/ 0 h 3065802"/>
              <a:gd name="connsiteX11" fmla="*/ 2169498 w 2169498"/>
              <a:gd name="connsiteY11" fmla="*/ 3065802 h 3065802"/>
              <a:gd name="connsiteX12" fmla="*/ 0 w 2169498"/>
              <a:gd name="connsiteY12" fmla="*/ 3065802 h 306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9498" h="3065802">
                <a:moveTo>
                  <a:pt x="0" y="0"/>
                </a:moveTo>
                <a:lnTo>
                  <a:pt x="846" y="0"/>
                </a:lnTo>
                <a:lnTo>
                  <a:pt x="3846" y="24187"/>
                </a:lnTo>
                <a:cubicBezTo>
                  <a:pt x="21502" y="94312"/>
                  <a:pt x="97842" y="147062"/>
                  <a:pt x="189341" y="147062"/>
                </a:cubicBezTo>
                <a:lnTo>
                  <a:pt x="902871" y="147062"/>
                </a:lnTo>
                <a:cubicBezTo>
                  <a:pt x="1007441" y="147062"/>
                  <a:pt x="1092212" y="215960"/>
                  <a:pt x="1092212" y="300951"/>
                </a:cubicBezTo>
                <a:cubicBezTo>
                  <a:pt x="1092212" y="215960"/>
                  <a:pt x="1176983" y="147062"/>
                  <a:pt x="1281553" y="147062"/>
                </a:cubicBezTo>
                <a:lnTo>
                  <a:pt x="1980157" y="147062"/>
                </a:lnTo>
                <a:cubicBezTo>
                  <a:pt x="2071655" y="147062"/>
                  <a:pt x="2147996" y="94312"/>
                  <a:pt x="2165651" y="24187"/>
                </a:cubicBezTo>
                <a:lnTo>
                  <a:pt x="2168651" y="0"/>
                </a:lnTo>
                <a:lnTo>
                  <a:pt x="2169498" y="0"/>
                </a:lnTo>
                <a:lnTo>
                  <a:pt x="2169498" y="3065802"/>
                </a:lnTo>
                <a:lnTo>
                  <a:pt x="0" y="306580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右大括号 185"/>
          <p:cNvSpPr/>
          <p:nvPr/>
        </p:nvSpPr>
        <p:spPr>
          <a:xfrm rot="5400000">
            <a:off x="8260412" y="1912694"/>
            <a:ext cx="307777" cy="2169498"/>
          </a:xfrm>
          <a:prstGeom prst="rightBrace">
            <a:avLst>
              <a:gd name="adj1" fmla="val 61519"/>
              <a:gd name="adj2" fmla="val 49656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3" name="矩形: 圆角 192"/>
          <p:cNvSpPr/>
          <p:nvPr/>
        </p:nvSpPr>
        <p:spPr>
          <a:xfrm>
            <a:off x="7440737" y="3412036"/>
            <a:ext cx="1955158" cy="307778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7569219" y="3429000"/>
            <a:ext cx="1929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改进策略：流程简化</a:t>
            </a:r>
          </a:p>
        </p:txBody>
      </p:sp>
      <p:sp>
        <p:nvSpPr>
          <p:cNvPr id="195" name="椭圆 194"/>
          <p:cNvSpPr/>
          <p:nvPr/>
        </p:nvSpPr>
        <p:spPr>
          <a:xfrm>
            <a:off x="7503609" y="3459092"/>
            <a:ext cx="210222" cy="2102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6" name="Google Shape;5273;p76"/>
          <p:cNvSpPr/>
          <p:nvPr/>
        </p:nvSpPr>
        <p:spPr>
          <a:xfrm>
            <a:off x="7636727" y="3505213"/>
            <a:ext cx="16882" cy="8445"/>
          </a:xfrm>
          <a:custGeom>
            <a:avLst/>
            <a:gdLst/>
            <a:ahLst/>
            <a:cxnLst/>
            <a:rect l="l" t="t" r="r" b="b"/>
            <a:pathLst>
              <a:path w="2259" h="1130" extrusionOk="0">
                <a:moveTo>
                  <a:pt x="566" y="0"/>
                </a:moveTo>
                <a:cubicBezTo>
                  <a:pt x="253" y="0"/>
                  <a:pt x="0" y="253"/>
                  <a:pt x="0" y="567"/>
                </a:cubicBezTo>
                <a:cubicBezTo>
                  <a:pt x="0" y="877"/>
                  <a:pt x="253" y="1130"/>
                  <a:pt x="566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97" name="Google Shape;5274;p76"/>
          <p:cNvSpPr/>
          <p:nvPr/>
        </p:nvSpPr>
        <p:spPr>
          <a:xfrm>
            <a:off x="7593919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647" y="1"/>
                </a:moveTo>
                <a:cubicBezTo>
                  <a:pt x="562" y="1"/>
                  <a:pt x="476" y="20"/>
                  <a:pt x="395" y="60"/>
                </a:cubicBezTo>
                <a:cubicBezTo>
                  <a:pt x="115" y="198"/>
                  <a:pt x="1" y="539"/>
                  <a:pt x="142" y="819"/>
                </a:cubicBezTo>
                <a:lnTo>
                  <a:pt x="705" y="1948"/>
                </a:lnTo>
                <a:cubicBezTo>
                  <a:pt x="806" y="2144"/>
                  <a:pt x="1004" y="2259"/>
                  <a:pt x="1211" y="2259"/>
                </a:cubicBezTo>
                <a:cubicBezTo>
                  <a:pt x="1296" y="2259"/>
                  <a:pt x="1383" y="2239"/>
                  <a:pt x="1464" y="2198"/>
                </a:cubicBezTo>
                <a:cubicBezTo>
                  <a:pt x="1744" y="2059"/>
                  <a:pt x="1856" y="1722"/>
                  <a:pt x="1717" y="1442"/>
                </a:cubicBezTo>
                <a:lnTo>
                  <a:pt x="1151" y="313"/>
                </a:lnTo>
                <a:cubicBezTo>
                  <a:pt x="1053" y="114"/>
                  <a:pt x="853" y="1"/>
                  <a:pt x="64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98" name="Google Shape;5275;p76"/>
          <p:cNvSpPr/>
          <p:nvPr/>
        </p:nvSpPr>
        <p:spPr>
          <a:xfrm>
            <a:off x="7623469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1210" y="1"/>
                </a:moveTo>
                <a:cubicBezTo>
                  <a:pt x="1003" y="1"/>
                  <a:pt x="803" y="114"/>
                  <a:pt x="705" y="313"/>
                </a:cubicBezTo>
                <a:lnTo>
                  <a:pt x="139" y="1442"/>
                </a:lnTo>
                <a:cubicBezTo>
                  <a:pt x="1" y="1719"/>
                  <a:pt x="115" y="2059"/>
                  <a:pt x="392" y="2198"/>
                </a:cubicBezTo>
                <a:cubicBezTo>
                  <a:pt x="474" y="2239"/>
                  <a:pt x="561" y="2259"/>
                  <a:pt x="646" y="2259"/>
                </a:cubicBezTo>
                <a:cubicBezTo>
                  <a:pt x="852" y="2259"/>
                  <a:pt x="1051" y="2144"/>
                  <a:pt x="1151" y="1948"/>
                </a:cubicBezTo>
                <a:lnTo>
                  <a:pt x="1714" y="819"/>
                </a:lnTo>
                <a:cubicBezTo>
                  <a:pt x="1856" y="539"/>
                  <a:pt x="1741" y="198"/>
                  <a:pt x="1461" y="60"/>
                </a:cubicBezTo>
                <a:cubicBezTo>
                  <a:pt x="1381" y="20"/>
                  <a:pt x="1295" y="1"/>
                  <a:pt x="121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99" name="Google Shape;5276;p76"/>
          <p:cNvSpPr/>
          <p:nvPr/>
        </p:nvSpPr>
        <p:spPr>
          <a:xfrm>
            <a:off x="7577649" y="3505213"/>
            <a:ext cx="16890" cy="8445"/>
          </a:xfrm>
          <a:custGeom>
            <a:avLst/>
            <a:gdLst/>
            <a:ahLst/>
            <a:cxnLst/>
            <a:rect l="l" t="t" r="r" b="b"/>
            <a:pathLst>
              <a:path w="2260" h="1130" extrusionOk="0">
                <a:moveTo>
                  <a:pt x="567" y="0"/>
                </a:moveTo>
                <a:cubicBezTo>
                  <a:pt x="254" y="0"/>
                  <a:pt x="1" y="253"/>
                  <a:pt x="1" y="567"/>
                </a:cubicBezTo>
                <a:cubicBezTo>
                  <a:pt x="1" y="877"/>
                  <a:pt x="254" y="1130"/>
                  <a:pt x="567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00" name="Google Shape;5277;p76"/>
          <p:cNvSpPr/>
          <p:nvPr/>
        </p:nvSpPr>
        <p:spPr>
          <a:xfrm>
            <a:off x="7543892" y="3547700"/>
            <a:ext cx="25327" cy="75959"/>
          </a:xfrm>
          <a:custGeom>
            <a:avLst/>
            <a:gdLst/>
            <a:ahLst/>
            <a:cxnLst/>
            <a:rect l="l" t="t" r="r" b="b"/>
            <a:pathLst>
              <a:path w="3389" h="10164" extrusionOk="0">
                <a:moveTo>
                  <a:pt x="567" y="1"/>
                </a:moveTo>
                <a:cubicBezTo>
                  <a:pt x="254" y="1"/>
                  <a:pt x="1" y="251"/>
                  <a:pt x="1" y="564"/>
                </a:cubicBezTo>
                <a:lnTo>
                  <a:pt x="1" y="9598"/>
                </a:lnTo>
                <a:cubicBezTo>
                  <a:pt x="1" y="9911"/>
                  <a:pt x="254" y="10164"/>
                  <a:pt x="567" y="10164"/>
                </a:cubicBezTo>
                <a:lnTo>
                  <a:pt x="2825" y="10164"/>
                </a:lnTo>
                <a:cubicBezTo>
                  <a:pt x="3136" y="10164"/>
                  <a:pt x="3389" y="9911"/>
                  <a:pt x="3389" y="9598"/>
                </a:cubicBezTo>
                <a:lnTo>
                  <a:pt x="3389" y="564"/>
                </a:lnTo>
                <a:cubicBezTo>
                  <a:pt x="3389" y="251"/>
                  <a:pt x="3136" y="1"/>
                  <a:pt x="282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01" name="Google Shape;5278;p76"/>
          <p:cNvSpPr/>
          <p:nvPr/>
        </p:nvSpPr>
        <p:spPr>
          <a:xfrm>
            <a:off x="7577649" y="3505505"/>
            <a:ext cx="95899" cy="118154"/>
          </a:xfrm>
          <a:custGeom>
            <a:avLst/>
            <a:gdLst/>
            <a:ahLst/>
            <a:cxnLst/>
            <a:rect l="l" t="t" r="r" b="b"/>
            <a:pathLst>
              <a:path w="12832" h="15810" extrusionOk="0">
                <a:moveTo>
                  <a:pt x="3954" y="1"/>
                </a:moveTo>
                <a:cubicBezTo>
                  <a:pt x="3641" y="1"/>
                  <a:pt x="3388" y="254"/>
                  <a:pt x="3388" y="564"/>
                </a:cubicBezTo>
                <a:cubicBezTo>
                  <a:pt x="3388" y="1871"/>
                  <a:pt x="2879" y="4225"/>
                  <a:pt x="1922" y="5186"/>
                </a:cubicBezTo>
                <a:cubicBezTo>
                  <a:pt x="1274" y="5830"/>
                  <a:pt x="723" y="6065"/>
                  <a:pt x="1" y="6427"/>
                </a:cubicBezTo>
                <a:lnTo>
                  <a:pt x="1" y="14897"/>
                </a:lnTo>
                <a:cubicBezTo>
                  <a:pt x="1109" y="15268"/>
                  <a:pt x="2515" y="15810"/>
                  <a:pt x="4659" y="15810"/>
                </a:cubicBezTo>
                <a:lnTo>
                  <a:pt x="8351" y="15810"/>
                </a:lnTo>
                <a:cubicBezTo>
                  <a:pt x="9567" y="15810"/>
                  <a:pt x="10516" y="14680"/>
                  <a:pt x="10046" y="13491"/>
                </a:cubicBezTo>
                <a:cubicBezTo>
                  <a:pt x="11019" y="13226"/>
                  <a:pt x="11546" y="12172"/>
                  <a:pt x="11175" y="11233"/>
                </a:cubicBezTo>
                <a:cubicBezTo>
                  <a:pt x="12386" y="10901"/>
                  <a:pt x="12832" y="9408"/>
                  <a:pt x="11992" y="8468"/>
                </a:cubicBezTo>
                <a:cubicBezTo>
                  <a:pt x="12314" y="8107"/>
                  <a:pt x="12467" y="7625"/>
                  <a:pt x="12410" y="7143"/>
                </a:cubicBezTo>
                <a:cubicBezTo>
                  <a:pt x="12311" y="6267"/>
                  <a:pt x="11495" y="5647"/>
                  <a:pt x="10612" y="5647"/>
                </a:cubicBezTo>
                <a:lnTo>
                  <a:pt x="6213" y="5647"/>
                </a:lnTo>
                <a:cubicBezTo>
                  <a:pt x="6586" y="4975"/>
                  <a:pt x="6785" y="3081"/>
                  <a:pt x="6776" y="2307"/>
                </a:cubicBezTo>
                <a:cubicBezTo>
                  <a:pt x="6761" y="1027"/>
                  <a:pt x="5701" y="1"/>
                  <a:pt x="441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7673548" y="4458793"/>
            <a:ext cx="1695878" cy="989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开发一站式服务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APP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，实现鱼跃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诊断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支付全流程线上化</a:t>
            </a:r>
            <a:b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</a:br>
            <a:endParaRPr lang="zh-CN" altLang="en-US" sz="1000" dirty="0">
              <a:solidFill>
                <a:srgbClr val="404040">
                  <a:alpha val="80000"/>
                </a:srgb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89" name="等腰三角形 188"/>
          <p:cNvSpPr/>
          <p:nvPr/>
        </p:nvSpPr>
        <p:spPr>
          <a:xfrm rot="5400000">
            <a:off x="7550104" y="3969600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7673548" y="3846810"/>
            <a:ext cx="1695878" cy="527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推行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“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一次到场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”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服务标准，确保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80%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故障马上处理</a:t>
            </a:r>
          </a:p>
        </p:txBody>
      </p:sp>
      <p:sp>
        <p:nvSpPr>
          <p:cNvPr id="191" name="等腰三角形 190"/>
          <p:cNvSpPr/>
          <p:nvPr/>
        </p:nvSpPr>
        <p:spPr>
          <a:xfrm rot="5400000">
            <a:off x="7550104" y="4578111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192" name="直接连接符 191"/>
          <p:cNvCxnSpPr>
            <a:stCxn id="185" idx="12"/>
            <a:endCxn id="185" idx="11"/>
          </p:cNvCxnSpPr>
          <p:nvPr/>
        </p:nvCxnSpPr>
        <p:spPr>
          <a:xfrm>
            <a:off x="7329552" y="5572924"/>
            <a:ext cx="2169498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组合 201"/>
          <p:cNvGrpSpPr/>
          <p:nvPr/>
        </p:nvGrpSpPr>
        <p:grpSpPr>
          <a:xfrm>
            <a:off x="9654202" y="2843554"/>
            <a:ext cx="2169498" cy="2729370"/>
            <a:chOff x="355602" y="2843554"/>
            <a:chExt cx="2169498" cy="2729370"/>
          </a:xfrm>
        </p:grpSpPr>
        <p:sp>
          <p:nvSpPr>
            <p:cNvPr id="203" name="任意多边形: 形状 202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4" name="右大括号 203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205" name="组合 204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211" name="矩形: 圆角 210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cs typeface="Roboto" panose="02000000000000000000" charset="0"/>
                  </a:rPr>
                  <a:t>改进策略：客户管理</a:t>
                </a:r>
              </a:p>
            </p:txBody>
          </p:sp>
          <p:sp>
            <p:nvSpPr>
              <p:cNvPr id="213" name="椭圆 212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14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5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6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7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8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9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206" name="矩形 205"/>
            <p:cNvSpPr/>
            <p:nvPr/>
          </p:nvSpPr>
          <p:spPr>
            <a:xfrm>
              <a:off x="699598" y="3846810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主动维保提醒提升留存至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85%</a:t>
              </a:r>
              <a:b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</a:br>
              <a:endPara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7" name="等腰三角形 206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8" name="矩形 207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推出老客户专项权益计划，包含免费检测等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5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项增值服务</a:t>
              </a:r>
            </a:p>
          </p:txBody>
        </p:sp>
        <p:sp>
          <p:nvSpPr>
            <p:cNvPr id="209" name="等腰三角形 208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cxnSp>
          <p:nvCxnSpPr>
            <p:cNvPr id="210" name="直接连接符 209"/>
            <p:cNvCxnSpPr>
              <a:stCxn id="203" idx="12"/>
              <a:endCxn id="203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7" name="任意多边形: 形状 266"/>
          <p:cNvSpPr/>
          <p:nvPr/>
        </p:nvSpPr>
        <p:spPr>
          <a:xfrm>
            <a:off x="2684295" y="2949910"/>
            <a:ext cx="2169498" cy="2623014"/>
          </a:xfrm>
          <a:custGeom>
            <a:avLst/>
            <a:gdLst>
              <a:gd name="connsiteX0" fmla="*/ 0 w 2169498"/>
              <a:gd name="connsiteY0" fmla="*/ 0 h 3065802"/>
              <a:gd name="connsiteX1" fmla="*/ 846 w 2169498"/>
              <a:gd name="connsiteY1" fmla="*/ 0 h 3065802"/>
              <a:gd name="connsiteX2" fmla="*/ 3846 w 2169498"/>
              <a:gd name="connsiteY2" fmla="*/ 24187 h 3065802"/>
              <a:gd name="connsiteX3" fmla="*/ 189341 w 2169498"/>
              <a:gd name="connsiteY3" fmla="*/ 147062 h 3065802"/>
              <a:gd name="connsiteX4" fmla="*/ 902871 w 2169498"/>
              <a:gd name="connsiteY4" fmla="*/ 147062 h 3065802"/>
              <a:gd name="connsiteX5" fmla="*/ 1092212 w 2169498"/>
              <a:gd name="connsiteY5" fmla="*/ 300951 h 3065802"/>
              <a:gd name="connsiteX6" fmla="*/ 1281553 w 2169498"/>
              <a:gd name="connsiteY6" fmla="*/ 147062 h 3065802"/>
              <a:gd name="connsiteX7" fmla="*/ 1980157 w 2169498"/>
              <a:gd name="connsiteY7" fmla="*/ 147062 h 3065802"/>
              <a:gd name="connsiteX8" fmla="*/ 2165651 w 2169498"/>
              <a:gd name="connsiteY8" fmla="*/ 24187 h 3065802"/>
              <a:gd name="connsiteX9" fmla="*/ 2168651 w 2169498"/>
              <a:gd name="connsiteY9" fmla="*/ 0 h 3065802"/>
              <a:gd name="connsiteX10" fmla="*/ 2169498 w 2169498"/>
              <a:gd name="connsiteY10" fmla="*/ 0 h 3065802"/>
              <a:gd name="connsiteX11" fmla="*/ 2169498 w 2169498"/>
              <a:gd name="connsiteY11" fmla="*/ 3065802 h 3065802"/>
              <a:gd name="connsiteX12" fmla="*/ 0 w 2169498"/>
              <a:gd name="connsiteY12" fmla="*/ 3065802 h 306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9498" h="3065802">
                <a:moveTo>
                  <a:pt x="0" y="0"/>
                </a:moveTo>
                <a:lnTo>
                  <a:pt x="846" y="0"/>
                </a:lnTo>
                <a:lnTo>
                  <a:pt x="3846" y="24187"/>
                </a:lnTo>
                <a:cubicBezTo>
                  <a:pt x="21502" y="94312"/>
                  <a:pt x="97842" y="147062"/>
                  <a:pt x="189341" y="147062"/>
                </a:cubicBezTo>
                <a:lnTo>
                  <a:pt x="902871" y="147062"/>
                </a:lnTo>
                <a:cubicBezTo>
                  <a:pt x="1007441" y="147062"/>
                  <a:pt x="1092212" y="215960"/>
                  <a:pt x="1092212" y="300951"/>
                </a:cubicBezTo>
                <a:cubicBezTo>
                  <a:pt x="1092212" y="215960"/>
                  <a:pt x="1176983" y="147062"/>
                  <a:pt x="1281553" y="147062"/>
                </a:cubicBezTo>
                <a:lnTo>
                  <a:pt x="1980157" y="147062"/>
                </a:lnTo>
                <a:cubicBezTo>
                  <a:pt x="2071655" y="147062"/>
                  <a:pt x="2147996" y="94312"/>
                  <a:pt x="2165651" y="24187"/>
                </a:cubicBezTo>
                <a:lnTo>
                  <a:pt x="2168651" y="0"/>
                </a:lnTo>
                <a:lnTo>
                  <a:pt x="2169498" y="0"/>
                </a:lnTo>
                <a:lnTo>
                  <a:pt x="2169498" y="3065802"/>
                </a:lnTo>
                <a:lnTo>
                  <a:pt x="0" y="306580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8" name="右大括号 267"/>
          <p:cNvSpPr/>
          <p:nvPr/>
        </p:nvSpPr>
        <p:spPr>
          <a:xfrm rot="5400000">
            <a:off x="3611113" y="1912694"/>
            <a:ext cx="307777" cy="2169498"/>
          </a:xfrm>
          <a:prstGeom prst="rightBrace">
            <a:avLst>
              <a:gd name="adj1" fmla="val 61519"/>
              <a:gd name="adj2" fmla="val 49656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9" name="矩形: 圆角 268"/>
          <p:cNvSpPr/>
          <p:nvPr/>
        </p:nvSpPr>
        <p:spPr>
          <a:xfrm>
            <a:off x="2795480" y="3412036"/>
            <a:ext cx="1955158" cy="307778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2923962" y="3429000"/>
            <a:ext cx="1929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改进策略：供应链优化</a:t>
            </a:r>
          </a:p>
        </p:txBody>
      </p:sp>
      <p:sp>
        <p:nvSpPr>
          <p:cNvPr id="271" name="椭圆 270"/>
          <p:cNvSpPr/>
          <p:nvPr/>
        </p:nvSpPr>
        <p:spPr>
          <a:xfrm>
            <a:off x="2858352" y="3459092"/>
            <a:ext cx="210222" cy="2102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2" name="Google Shape;5273;p76"/>
          <p:cNvSpPr/>
          <p:nvPr/>
        </p:nvSpPr>
        <p:spPr>
          <a:xfrm>
            <a:off x="2991470" y="3505213"/>
            <a:ext cx="16882" cy="8445"/>
          </a:xfrm>
          <a:custGeom>
            <a:avLst/>
            <a:gdLst/>
            <a:ahLst/>
            <a:cxnLst/>
            <a:rect l="l" t="t" r="r" b="b"/>
            <a:pathLst>
              <a:path w="2259" h="1130" extrusionOk="0">
                <a:moveTo>
                  <a:pt x="566" y="0"/>
                </a:moveTo>
                <a:cubicBezTo>
                  <a:pt x="253" y="0"/>
                  <a:pt x="0" y="253"/>
                  <a:pt x="0" y="567"/>
                </a:cubicBezTo>
                <a:cubicBezTo>
                  <a:pt x="0" y="877"/>
                  <a:pt x="253" y="1130"/>
                  <a:pt x="566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3" name="Google Shape;5274;p76"/>
          <p:cNvSpPr/>
          <p:nvPr/>
        </p:nvSpPr>
        <p:spPr>
          <a:xfrm>
            <a:off x="2948662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647" y="1"/>
                </a:moveTo>
                <a:cubicBezTo>
                  <a:pt x="562" y="1"/>
                  <a:pt x="476" y="20"/>
                  <a:pt x="395" y="60"/>
                </a:cubicBezTo>
                <a:cubicBezTo>
                  <a:pt x="115" y="198"/>
                  <a:pt x="1" y="539"/>
                  <a:pt x="142" y="819"/>
                </a:cubicBezTo>
                <a:lnTo>
                  <a:pt x="705" y="1948"/>
                </a:lnTo>
                <a:cubicBezTo>
                  <a:pt x="806" y="2144"/>
                  <a:pt x="1004" y="2259"/>
                  <a:pt x="1211" y="2259"/>
                </a:cubicBezTo>
                <a:cubicBezTo>
                  <a:pt x="1296" y="2259"/>
                  <a:pt x="1383" y="2239"/>
                  <a:pt x="1464" y="2198"/>
                </a:cubicBezTo>
                <a:cubicBezTo>
                  <a:pt x="1744" y="2059"/>
                  <a:pt x="1856" y="1722"/>
                  <a:pt x="1717" y="1442"/>
                </a:cubicBezTo>
                <a:lnTo>
                  <a:pt x="1151" y="313"/>
                </a:lnTo>
                <a:cubicBezTo>
                  <a:pt x="1053" y="114"/>
                  <a:pt x="853" y="1"/>
                  <a:pt x="64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4" name="Google Shape;5275;p76"/>
          <p:cNvSpPr/>
          <p:nvPr/>
        </p:nvSpPr>
        <p:spPr>
          <a:xfrm>
            <a:off x="2978212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1210" y="1"/>
                </a:moveTo>
                <a:cubicBezTo>
                  <a:pt x="1003" y="1"/>
                  <a:pt x="803" y="114"/>
                  <a:pt x="705" y="313"/>
                </a:cubicBezTo>
                <a:lnTo>
                  <a:pt x="139" y="1442"/>
                </a:lnTo>
                <a:cubicBezTo>
                  <a:pt x="1" y="1719"/>
                  <a:pt x="115" y="2059"/>
                  <a:pt x="392" y="2198"/>
                </a:cubicBezTo>
                <a:cubicBezTo>
                  <a:pt x="474" y="2239"/>
                  <a:pt x="561" y="2259"/>
                  <a:pt x="646" y="2259"/>
                </a:cubicBezTo>
                <a:cubicBezTo>
                  <a:pt x="852" y="2259"/>
                  <a:pt x="1051" y="2144"/>
                  <a:pt x="1151" y="1948"/>
                </a:cubicBezTo>
                <a:lnTo>
                  <a:pt x="1714" y="819"/>
                </a:lnTo>
                <a:cubicBezTo>
                  <a:pt x="1856" y="539"/>
                  <a:pt x="1741" y="198"/>
                  <a:pt x="1461" y="60"/>
                </a:cubicBezTo>
                <a:cubicBezTo>
                  <a:pt x="1381" y="20"/>
                  <a:pt x="1295" y="1"/>
                  <a:pt x="121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5" name="Google Shape;5276;p76"/>
          <p:cNvSpPr/>
          <p:nvPr/>
        </p:nvSpPr>
        <p:spPr>
          <a:xfrm>
            <a:off x="2932392" y="3505213"/>
            <a:ext cx="16890" cy="8445"/>
          </a:xfrm>
          <a:custGeom>
            <a:avLst/>
            <a:gdLst/>
            <a:ahLst/>
            <a:cxnLst/>
            <a:rect l="l" t="t" r="r" b="b"/>
            <a:pathLst>
              <a:path w="2260" h="1130" extrusionOk="0">
                <a:moveTo>
                  <a:pt x="567" y="0"/>
                </a:moveTo>
                <a:cubicBezTo>
                  <a:pt x="254" y="0"/>
                  <a:pt x="1" y="253"/>
                  <a:pt x="1" y="567"/>
                </a:cubicBezTo>
                <a:cubicBezTo>
                  <a:pt x="1" y="877"/>
                  <a:pt x="254" y="1130"/>
                  <a:pt x="567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6" name="Google Shape;5277;p76"/>
          <p:cNvSpPr/>
          <p:nvPr/>
        </p:nvSpPr>
        <p:spPr>
          <a:xfrm>
            <a:off x="2898635" y="3547700"/>
            <a:ext cx="25327" cy="75959"/>
          </a:xfrm>
          <a:custGeom>
            <a:avLst/>
            <a:gdLst/>
            <a:ahLst/>
            <a:cxnLst/>
            <a:rect l="l" t="t" r="r" b="b"/>
            <a:pathLst>
              <a:path w="3389" h="10164" extrusionOk="0">
                <a:moveTo>
                  <a:pt x="567" y="1"/>
                </a:moveTo>
                <a:cubicBezTo>
                  <a:pt x="254" y="1"/>
                  <a:pt x="1" y="251"/>
                  <a:pt x="1" y="564"/>
                </a:cubicBezTo>
                <a:lnTo>
                  <a:pt x="1" y="9598"/>
                </a:lnTo>
                <a:cubicBezTo>
                  <a:pt x="1" y="9911"/>
                  <a:pt x="254" y="10164"/>
                  <a:pt x="567" y="10164"/>
                </a:cubicBezTo>
                <a:lnTo>
                  <a:pt x="2825" y="10164"/>
                </a:lnTo>
                <a:cubicBezTo>
                  <a:pt x="3136" y="10164"/>
                  <a:pt x="3389" y="9911"/>
                  <a:pt x="3389" y="9598"/>
                </a:cubicBezTo>
                <a:lnTo>
                  <a:pt x="3389" y="564"/>
                </a:lnTo>
                <a:cubicBezTo>
                  <a:pt x="3389" y="251"/>
                  <a:pt x="3136" y="1"/>
                  <a:pt x="282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7" name="Google Shape;5278;p76"/>
          <p:cNvSpPr/>
          <p:nvPr/>
        </p:nvSpPr>
        <p:spPr>
          <a:xfrm>
            <a:off x="2932392" y="3505505"/>
            <a:ext cx="95899" cy="118154"/>
          </a:xfrm>
          <a:custGeom>
            <a:avLst/>
            <a:gdLst/>
            <a:ahLst/>
            <a:cxnLst/>
            <a:rect l="l" t="t" r="r" b="b"/>
            <a:pathLst>
              <a:path w="12832" h="15810" extrusionOk="0">
                <a:moveTo>
                  <a:pt x="3954" y="1"/>
                </a:moveTo>
                <a:cubicBezTo>
                  <a:pt x="3641" y="1"/>
                  <a:pt x="3388" y="254"/>
                  <a:pt x="3388" y="564"/>
                </a:cubicBezTo>
                <a:cubicBezTo>
                  <a:pt x="3388" y="1871"/>
                  <a:pt x="2879" y="4225"/>
                  <a:pt x="1922" y="5186"/>
                </a:cubicBezTo>
                <a:cubicBezTo>
                  <a:pt x="1274" y="5830"/>
                  <a:pt x="723" y="6065"/>
                  <a:pt x="1" y="6427"/>
                </a:cubicBezTo>
                <a:lnTo>
                  <a:pt x="1" y="14897"/>
                </a:lnTo>
                <a:cubicBezTo>
                  <a:pt x="1109" y="15268"/>
                  <a:pt x="2515" y="15810"/>
                  <a:pt x="4659" y="15810"/>
                </a:cubicBezTo>
                <a:lnTo>
                  <a:pt x="8351" y="15810"/>
                </a:lnTo>
                <a:cubicBezTo>
                  <a:pt x="9567" y="15810"/>
                  <a:pt x="10516" y="14680"/>
                  <a:pt x="10046" y="13491"/>
                </a:cubicBezTo>
                <a:cubicBezTo>
                  <a:pt x="11019" y="13226"/>
                  <a:pt x="11546" y="12172"/>
                  <a:pt x="11175" y="11233"/>
                </a:cubicBezTo>
                <a:cubicBezTo>
                  <a:pt x="12386" y="10901"/>
                  <a:pt x="12832" y="9408"/>
                  <a:pt x="11992" y="8468"/>
                </a:cubicBezTo>
                <a:cubicBezTo>
                  <a:pt x="12314" y="8107"/>
                  <a:pt x="12467" y="7625"/>
                  <a:pt x="12410" y="7143"/>
                </a:cubicBezTo>
                <a:cubicBezTo>
                  <a:pt x="12311" y="6267"/>
                  <a:pt x="11495" y="5647"/>
                  <a:pt x="10612" y="5647"/>
                </a:cubicBezTo>
                <a:lnTo>
                  <a:pt x="6213" y="5647"/>
                </a:lnTo>
                <a:cubicBezTo>
                  <a:pt x="6586" y="4975"/>
                  <a:pt x="6785" y="3081"/>
                  <a:pt x="6776" y="2307"/>
                </a:cubicBezTo>
                <a:cubicBezTo>
                  <a:pt x="6761" y="1027"/>
                  <a:pt x="5701" y="1"/>
                  <a:pt x="441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3028291" y="3846810"/>
            <a:ext cx="1695878" cy="5277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常用件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24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小时到货率提升至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95%</a:t>
            </a:r>
            <a:b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</a:br>
            <a:endParaRPr lang="zh-CN" altLang="en-US" sz="1000" dirty="0">
              <a:solidFill>
                <a:srgbClr val="404040">
                  <a:alpha val="80000"/>
                </a:srgb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279" name="等腰三角形 278"/>
          <p:cNvSpPr/>
          <p:nvPr/>
        </p:nvSpPr>
        <p:spPr>
          <a:xfrm rot="5400000">
            <a:off x="2904847" y="3969600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0" name="矩形 279"/>
          <p:cNvSpPr/>
          <p:nvPr/>
        </p:nvSpPr>
        <p:spPr>
          <a:xfrm>
            <a:off x="3028291" y="4455321"/>
            <a:ext cx="1695878" cy="758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实施供应商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VMI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管理，关键件库存共享，缺货率降至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3%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以下</a:t>
            </a:r>
          </a:p>
        </p:txBody>
      </p:sp>
      <p:sp>
        <p:nvSpPr>
          <p:cNvPr id="281" name="等腰三角形 280"/>
          <p:cNvSpPr/>
          <p:nvPr/>
        </p:nvSpPr>
        <p:spPr>
          <a:xfrm rot="5400000">
            <a:off x="2904847" y="4578111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282" name="直接连接符 281"/>
          <p:cNvCxnSpPr>
            <a:stCxn id="267" idx="12"/>
            <a:endCxn id="267" idx="11"/>
          </p:cNvCxnSpPr>
          <p:nvPr/>
        </p:nvCxnSpPr>
        <p:spPr>
          <a:xfrm>
            <a:off x="2684295" y="5572924"/>
            <a:ext cx="2169498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1129480" y="1113158"/>
            <a:ext cx="621744" cy="621742"/>
          </a:xfrm>
          <a:prstGeom prst="ellipse">
            <a:avLst/>
          </a:prstGeom>
          <a:solidFill>
            <a:schemeClr val="accent1">
              <a:alpha val="97000"/>
            </a:schemeClr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785129" y="1113158"/>
            <a:ext cx="621744" cy="62174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440778" y="1113158"/>
            <a:ext cx="621744" cy="62174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466828" y="1113158"/>
            <a:ext cx="621744" cy="6217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112953" y="1113158"/>
            <a:ext cx="621744" cy="6217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6" name="Google Shape;5288;p76"/>
          <p:cNvGrpSpPr/>
          <p:nvPr/>
        </p:nvGrpSpPr>
        <p:grpSpPr>
          <a:xfrm>
            <a:off x="3611823" y="1266323"/>
            <a:ext cx="322472" cy="310034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7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8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9" name="Google Shape;5313;p76"/>
          <p:cNvGrpSpPr/>
          <p:nvPr/>
        </p:nvGrpSpPr>
        <p:grpSpPr>
          <a:xfrm>
            <a:off x="5941707" y="1271151"/>
            <a:ext cx="310534" cy="310484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20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1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22" name="Google Shape;5344;p76"/>
          <p:cNvGrpSpPr/>
          <p:nvPr/>
        </p:nvGrpSpPr>
        <p:grpSpPr>
          <a:xfrm>
            <a:off x="8268581" y="1244493"/>
            <a:ext cx="310486" cy="310484"/>
            <a:chOff x="900750" y="1436075"/>
            <a:chExt cx="481825" cy="481825"/>
          </a:xfrm>
          <a:solidFill>
            <a:schemeClr val="bg1"/>
          </a:solidFill>
        </p:grpSpPr>
        <p:sp>
          <p:nvSpPr>
            <p:cNvPr id="23" name="Google Shape;5345;p76"/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4" name="Google Shape;5346;p76"/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5" name="Google Shape;5347;p76"/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6" name="Google Shape;5348;p76"/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1" name="Google Shape;5700;p77"/>
          <p:cNvGrpSpPr/>
          <p:nvPr/>
        </p:nvGrpSpPr>
        <p:grpSpPr>
          <a:xfrm>
            <a:off x="1243810" y="1246125"/>
            <a:ext cx="393082" cy="339428"/>
            <a:chOff x="-42651700" y="3217825"/>
            <a:chExt cx="367600" cy="317425"/>
          </a:xfrm>
          <a:solidFill>
            <a:schemeClr val="bg1"/>
          </a:solidFill>
        </p:grpSpPr>
        <p:sp>
          <p:nvSpPr>
            <p:cNvPr id="32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5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7" name="Google Shape;6643;p79"/>
          <p:cNvGrpSpPr/>
          <p:nvPr/>
        </p:nvGrpSpPr>
        <p:grpSpPr>
          <a:xfrm>
            <a:off x="10599555" y="1275766"/>
            <a:ext cx="304190" cy="296526"/>
            <a:chOff x="-31817400" y="3910025"/>
            <a:chExt cx="301675" cy="294075"/>
          </a:xfrm>
          <a:solidFill>
            <a:schemeClr val="bg1"/>
          </a:solidFill>
        </p:grpSpPr>
        <p:sp>
          <p:nvSpPr>
            <p:cNvPr id="38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9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40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3048674" y="5786160"/>
            <a:ext cx="609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0" i="0" spc="60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打造智能高效有温度的服务体系</a:t>
            </a:r>
            <a:endParaRPr lang="zh-CN" altLang="en-US" sz="2400" spc="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4" name="矩形: 圆顶角 4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梯形 84"/>
          <p:cNvSpPr/>
          <p:nvPr/>
        </p:nvSpPr>
        <p:spPr>
          <a:xfrm rot="16200000" flipH="1">
            <a:off x="6547759" y="1463016"/>
            <a:ext cx="6016172" cy="4535713"/>
          </a:xfrm>
          <a:prstGeom prst="trapezoid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梯形 7"/>
          <p:cNvSpPr/>
          <p:nvPr/>
        </p:nvSpPr>
        <p:spPr>
          <a:xfrm rot="5400000">
            <a:off x="-384629" y="1463014"/>
            <a:ext cx="6016172" cy="4535713"/>
          </a:xfrm>
          <a:prstGeom prst="trapezoid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4" name="任意多边形: 形状 83"/>
          <p:cNvSpPr/>
          <p:nvPr/>
        </p:nvSpPr>
        <p:spPr>
          <a:xfrm rot="16200000">
            <a:off x="4840092" y="3344617"/>
            <a:ext cx="2511818" cy="772509"/>
          </a:xfrm>
          <a:custGeom>
            <a:avLst/>
            <a:gdLst>
              <a:gd name="connsiteX0" fmla="*/ 2511818 w 2511818"/>
              <a:gd name="connsiteY0" fmla="*/ 386255 h 772509"/>
              <a:gd name="connsiteX1" fmla="*/ 2318691 w 2511818"/>
              <a:gd name="connsiteY1" fmla="*/ 772509 h 772509"/>
              <a:gd name="connsiteX2" fmla="*/ 193127 w 2511818"/>
              <a:gd name="connsiteY2" fmla="*/ 772509 h 772509"/>
              <a:gd name="connsiteX3" fmla="*/ 0 w 2511818"/>
              <a:gd name="connsiteY3" fmla="*/ 386255 h 772509"/>
              <a:gd name="connsiteX4" fmla="*/ 193127 w 2511818"/>
              <a:gd name="connsiteY4" fmla="*/ 0 h 772509"/>
              <a:gd name="connsiteX5" fmla="*/ 2318691 w 2511818"/>
              <a:gd name="connsiteY5" fmla="*/ 0 h 772509"/>
              <a:gd name="connsiteX6" fmla="*/ 2511818 w 2511818"/>
              <a:gd name="connsiteY6" fmla="*/ 386255 h 77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11818" h="772509">
                <a:moveTo>
                  <a:pt x="2511818" y="386255"/>
                </a:moveTo>
                <a:lnTo>
                  <a:pt x="2318691" y="772509"/>
                </a:lnTo>
                <a:lnTo>
                  <a:pt x="193127" y="772509"/>
                </a:lnTo>
                <a:lnTo>
                  <a:pt x="0" y="386255"/>
                </a:lnTo>
                <a:lnTo>
                  <a:pt x="193127" y="0"/>
                </a:lnTo>
                <a:lnTo>
                  <a:pt x="2318691" y="0"/>
                </a:lnTo>
                <a:lnTo>
                  <a:pt x="2511818" y="386255"/>
                </a:ln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3" name="任意多边形: 形状 82"/>
          <p:cNvSpPr/>
          <p:nvPr/>
        </p:nvSpPr>
        <p:spPr>
          <a:xfrm rot="16200000">
            <a:off x="2810936" y="2313725"/>
            <a:ext cx="3735838" cy="2834292"/>
          </a:xfrm>
          <a:custGeom>
            <a:avLst/>
            <a:gdLst>
              <a:gd name="connsiteX0" fmla="*/ 3735838 w 3735838"/>
              <a:gd name="connsiteY0" fmla="*/ 1610273 h 2834292"/>
              <a:gd name="connsiteX1" fmla="*/ 3123828 w 3735838"/>
              <a:gd name="connsiteY1" fmla="*/ 2834292 h 2834292"/>
              <a:gd name="connsiteX2" fmla="*/ 2930701 w 3735838"/>
              <a:gd name="connsiteY2" fmla="*/ 2448037 h 2834292"/>
              <a:gd name="connsiteX3" fmla="*/ 805137 w 3735838"/>
              <a:gd name="connsiteY3" fmla="*/ 2448037 h 2834292"/>
              <a:gd name="connsiteX4" fmla="*/ 612010 w 3735838"/>
              <a:gd name="connsiteY4" fmla="*/ 2834292 h 2834292"/>
              <a:gd name="connsiteX5" fmla="*/ 0 w 3735838"/>
              <a:gd name="connsiteY5" fmla="*/ 1610273 h 2834292"/>
              <a:gd name="connsiteX6" fmla="*/ 805137 w 3735838"/>
              <a:gd name="connsiteY6" fmla="*/ 0 h 2834292"/>
              <a:gd name="connsiteX7" fmla="*/ 2930701 w 3735838"/>
              <a:gd name="connsiteY7" fmla="*/ 0 h 2834292"/>
              <a:gd name="connsiteX8" fmla="*/ 3735838 w 3735838"/>
              <a:gd name="connsiteY8" fmla="*/ 1610273 h 283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838" h="2834292">
                <a:moveTo>
                  <a:pt x="3735838" y="1610273"/>
                </a:moveTo>
                <a:lnTo>
                  <a:pt x="3123828" y="2834292"/>
                </a:lnTo>
                <a:lnTo>
                  <a:pt x="2930701" y="2448037"/>
                </a:lnTo>
                <a:lnTo>
                  <a:pt x="805137" y="2448037"/>
                </a:lnTo>
                <a:lnTo>
                  <a:pt x="612010" y="2834292"/>
                </a:lnTo>
                <a:lnTo>
                  <a:pt x="0" y="1610273"/>
                </a:lnTo>
                <a:lnTo>
                  <a:pt x="805137" y="0"/>
                </a:lnTo>
                <a:lnTo>
                  <a:pt x="2930701" y="0"/>
                </a:lnTo>
                <a:lnTo>
                  <a:pt x="3735838" y="16102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2" name="任意多边形: 形状 81"/>
          <p:cNvSpPr/>
          <p:nvPr/>
        </p:nvSpPr>
        <p:spPr>
          <a:xfrm rot="16200000">
            <a:off x="5645228" y="2313726"/>
            <a:ext cx="3735838" cy="2834291"/>
          </a:xfrm>
          <a:custGeom>
            <a:avLst/>
            <a:gdLst>
              <a:gd name="connsiteX0" fmla="*/ 3735838 w 3735838"/>
              <a:gd name="connsiteY0" fmla="*/ 1224018 h 2834291"/>
              <a:gd name="connsiteX1" fmla="*/ 2930701 w 3735838"/>
              <a:gd name="connsiteY1" fmla="*/ 2834291 h 2834291"/>
              <a:gd name="connsiteX2" fmla="*/ 805137 w 3735838"/>
              <a:gd name="connsiteY2" fmla="*/ 2834291 h 2834291"/>
              <a:gd name="connsiteX3" fmla="*/ 0 w 3735838"/>
              <a:gd name="connsiteY3" fmla="*/ 1224018 h 2834291"/>
              <a:gd name="connsiteX4" fmla="*/ 612010 w 3735838"/>
              <a:gd name="connsiteY4" fmla="*/ 0 h 2834291"/>
              <a:gd name="connsiteX5" fmla="*/ 805137 w 3735838"/>
              <a:gd name="connsiteY5" fmla="*/ 386254 h 2834291"/>
              <a:gd name="connsiteX6" fmla="*/ 2930701 w 3735838"/>
              <a:gd name="connsiteY6" fmla="*/ 386254 h 2834291"/>
              <a:gd name="connsiteX7" fmla="*/ 3123828 w 3735838"/>
              <a:gd name="connsiteY7" fmla="*/ 0 h 2834291"/>
              <a:gd name="connsiteX8" fmla="*/ 3735838 w 3735838"/>
              <a:gd name="connsiteY8" fmla="*/ 1224018 h 283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838" h="2834291">
                <a:moveTo>
                  <a:pt x="3735838" y="1224018"/>
                </a:moveTo>
                <a:lnTo>
                  <a:pt x="2930701" y="2834291"/>
                </a:lnTo>
                <a:lnTo>
                  <a:pt x="805137" y="2834291"/>
                </a:lnTo>
                <a:lnTo>
                  <a:pt x="0" y="1224018"/>
                </a:lnTo>
                <a:lnTo>
                  <a:pt x="612010" y="0"/>
                </a:lnTo>
                <a:lnTo>
                  <a:pt x="805137" y="386254"/>
                </a:lnTo>
                <a:lnTo>
                  <a:pt x="2930701" y="386254"/>
                </a:lnTo>
                <a:lnTo>
                  <a:pt x="3123828" y="0"/>
                </a:lnTo>
                <a:lnTo>
                  <a:pt x="3735838" y="1224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89072" y="200526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上半年总结下半年计划</a:t>
            </a:r>
          </a:p>
        </p:txBody>
      </p:sp>
      <p:cxnSp>
        <p:nvCxnSpPr>
          <p:cNvPr id="8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任意多边形: 形状 103"/>
          <p:cNvSpPr/>
          <p:nvPr/>
        </p:nvSpPr>
        <p:spPr>
          <a:xfrm rot="5400000" flipH="1">
            <a:off x="8521502" y="3424771"/>
            <a:ext cx="5610928" cy="619713"/>
          </a:xfrm>
          <a:custGeom>
            <a:avLst/>
            <a:gdLst>
              <a:gd name="connsiteX0" fmla="*/ 4962717 w 4962717"/>
              <a:gd name="connsiteY0" fmla="*/ 604677 h 2521286"/>
              <a:gd name="connsiteX1" fmla="*/ 475393 w 4962717"/>
              <a:gd name="connsiteY1" fmla="*/ 2521286 h 2521286"/>
              <a:gd name="connsiteX2" fmla="*/ 0 w 4962717"/>
              <a:gd name="connsiteY2" fmla="*/ 619713 h 2521286"/>
              <a:gd name="connsiteX3" fmla="*/ 309856 w 4962717"/>
              <a:gd name="connsiteY3" fmla="*/ 0 h 2521286"/>
              <a:gd name="connsiteX4" fmla="*/ 4660378 w 4962717"/>
              <a:gd name="connsiteY4" fmla="*/ 0 h 2521286"/>
              <a:gd name="connsiteX5" fmla="*/ 4962717 w 4962717"/>
              <a:gd name="connsiteY5" fmla="*/ 604677 h 2521286"/>
              <a:gd name="connsiteX0-1" fmla="*/ 475393 w 4962717"/>
              <a:gd name="connsiteY0-2" fmla="*/ 2521286 h 2612726"/>
              <a:gd name="connsiteX1-3" fmla="*/ 0 w 4962717"/>
              <a:gd name="connsiteY1-4" fmla="*/ 619713 h 2612726"/>
              <a:gd name="connsiteX2-5" fmla="*/ 309856 w 4962717"/>
              <a:gd name="connsiteY2-6" fmla="*/ 0 h 2612726"/>
              <a:gd name="connsiteX3-7" fmla="*/ 4660378 w 4962717"/>
              <a:gd name="connsiteY3-8" fmla="*/ 0 h 2612726"/>
              <a:gd name="connsiteX4-9" fmla="*/ 4962717 w 4962717"/>
              <a:gd name="connsiteY4-10" fmla="*/ 604677 h 2612726"/>
              <a:gd name="connsiteX5-11" fmla="*/ 566833 w 4962717"/>
              <a:gd name="connsiteY5-12" fmla="*/ 2612726 h 2612726"/>
              <a:gd name="connsiteX0-13" fmla="*/ 475393 w 4962717"/>
              <a:gd name="connsiteY0-14" fmla="*/ 2521286 h 2521286"/>
              <a:gd name="connsiteX1-15" fmla="*/ 0 w 4962717"/>
              <a:gd name="connsiteY1-16" fmla="*/ 619713 h 2521286"/>
              <a:gd name="connsiteX2-17" fmla="*/ 309856 w 4962717"/>
              <a:gd name="connsiteY2-18" fmla="*/ 0 h 2521286"/>
              <a:gd name="connsiteX3-19" fmla="*/ 4660378 w 4962717"/>
              <a:gd name="connsiteY3-20" fmla="*/ 0 h 2521286"/>
              <a:gd name="connsiteX4-21" fmla="*/ 4962717 w 4962717"/>
              <a:gd name="connsiteY4-22" fmla="*/ 604677 h 2521286"/>
              <a:gd name="connsiteX0-23" fmla="*/ 0 w 4962717"/>
              <a:gd name="connsiteY0-24" fmla="*/ 619713 h 619713"/>
              <a:gd name="connsiteX1-25" fmla="*/ 309856 w 4962717"/>
              <a:gd name="connsiteY1-26" fmla="*/ 0 h 619713"/>
              <a:gd name="connsiteX2-27" fmla="*/ 4660378 w 4962717"/>
              <a:gd name="connsiteY2-28" fmla="*/ 0 h 619713"/>
              <a:gd name="connsiteX3-29" fmla="*/ 4962717 w 4962717"/>
              <a:gd name="connsiteY3-30" fmla="*/ 604677 h 61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62717" h="619713">
                <a:moveTo>
                  <a:pt x="0" y="619713"/>
                </a:moveTo>
                <a:lnTo>
                  <a:pt x="309856" y="0"/>
                </a:lnTo>
                <a:lnTo>
                  <a:pt x="4660378" y="0"/>
                </a:lnTo>
                <a:lnTo>
                  <a:pt x="4962717" y="604677"/>
                </a:ln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6" name="任意多边形: 形状 105"/>
          <p:cNvSpPr/>
          <p:nvPr/>
        </p:nvSpPr>
        <p:spPr>
          <a:xfrm rot="16200000">
            <a:off x="-1943961" y="3424771"/>
            <a:ext cx="5610928" cy="619713"/>
          </a:xfrm>
          <a:custGeom>
            <a:avLst/>
            <a:gdLst>
              <a:gd name="connsiteX0" fmla="*/ 4962717 w 4962717"/>
              <a:gd name="connsiteY0" fmla="*/ 604677 h 2521286"/>
              <a:gd name="connsiteX1" fmla="*/ 475393 w 4962717"/>
              <a:gd name="connsiteY1" fmla="*/ 2521286 h 2521286"/>
              <a:gd name="connsiteX2" fmla="*/ 0 w 4962717"/>
              <a:gd name="connsiteY2" fmla="*/ 619713 h 2521286"/>
              <a:gd name="connsiteX3" fmla="*/ 309856 w 4962717"/>
              <a:gd name="connsiteY3" fmla="*/ 0 h 2521286"/>
              <a:gd name="connsiteX4" fmla="*/ 4660378 w 4962717"/>
              <a:gd name="connsiteY4" fmla="*/ 0 h 2521286"/>
              <a:gd name="connsiteX5" fmla="*/ 4962717 w 4962717"/>
              <a:gd name="connsiteY5" fmla="*/ 604677 h 2521286"/>
              <a:gd name="connsiteX0-1" fmla="*/ 475393 w 4962717"/>
              <a:gd name="connsiteY0-2" fmla="*/ 2521286 h 2612726"/>
              <a:gd name="connsiteX1-3" fmla="*/ 0 w 4962717"/>
              <a:gd name="connsiteY1-4" fmla="*/ 619713 h 2612726"/>
              <a:gd name="connsiteX2-5" fmla="*/ 309856 w 4962717"/>
              <a:gd name="connsiteY2-6" fmla="*/ 0 h 2612726"/>
              <a:gd name="connsiteX3-7" fmla="*/ 4660378 w 4962717"/>
              <a:gd name="connsiteY3-8" fmla="*/ 0 h 2612726"/>
              <a:gd name="connsiteX4-9" fmla="*/ 4962717 w 4962717"/>
              <a:gd name="connsiteY4-10" fmla="*/ 604677 h 2612726"/>
              <a:gd name="connsiteX5-11" fmla="*/ 566833 w 4962717"/>
              <a:gd name="connsiteY5-12" fmla="*/ 2612726 h 2612726"/>
              <a:gd name="connsiteX0-13" fmla="*/ 475393 w 4962717"/>
              <a:gd name="connsiteY0-14" fmla="*/ 2521286 h 2521286"/>
              <a:gd name="connsiteX1-15" fmla="*/ 0 w 4962717"/>
              <a:gd name="connsiteY1-16" fmla="*/ 619713 h 2521286"/>
              <a:gd name="connsiteX2-17" fmla="*/ 309856 w 4962717"/>
              <a:gd name="connsiteY2-18" fmla="*/ 0 h 2521286"/>
              <a:gd name="connsiteX3-19" fmla="*/ 4660378 w 4962717"/>
              <a:gd name="connsiteY3-20" fmla="*/ 0 h 2521286"/>
              <a:gd name="connsiteX4-21" fmla="*/ 4962717 w 4962717"/>
              <a:gd name="connsiteY4-22" fmla="*/ 604677 h 2521286"/>
              <a:gd name="connsiteX0-23" fmla="*/ 0 w 4962717"/>
              <a:gd name="connsiteY0-24" fmla="*/ 619713 h 619713"/>
              <a:gd name="connsiteX1-25" fmla="*/ 309856 w 4962717"/>
              <a:gd name="connsiteY1-26" fmla="*/ 0 h 619713"/>
              <a:gd name="connsiteX2-27" fmla="*/ 4660378 w 4962717"/>
              <a:gd name="connsiteY2-28" fmla="*/ 0 h 619713"/>
              <a:gd name="connsiteX3-29" fmla="*/ 4962717 w 4962717"/>
              <a:gd name="connsiteY3-30" fmla="*/ 604677 h 61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62717" h="619713">
                <a:moveTo>
                  <a:pt x="0" y="619713"/>
                </a:moveTo>
                <a:lnTo>
                  <a:pt x="309856" y="0"/>
                </a:lnTo>
                <a:lnTo>
                  <a:pt x="4660378" y="0"/>
                </a:lnTo>
                <a:lnTo>
                  <a:pt x="4962717" y="604677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803103" y="2202603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业绩达成</a:t>
            </a:r>
          </a:p>
        </p:txBody>
      </p:sp>
      <p:sp>
        <p:nvSpPr>
          <p:cNvPr id="13" name="六边形 12"/>
          <p:cNvSpPr/>
          <p:nvPr/>
        </p:nvSpPr>
        <p:spPr>
          <a:xfrm>
            <a:off x="551267" y="2146654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46125" y="27116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上半年工作总结</a:t>
            </a:r>
            <a:endParaRPr lang="zh-CN" altLang="en-US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81866" y="3164471"/>
            <a:ext cx="2129012" cy="136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实现营收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1.2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亿元，达成率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105%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，成功上线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款新产品，客户满意度提升至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92%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，但渠道下沉进度滞后原计划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23" name="矩形 22"/>
          <p:cNvSpPr/>
          <p:nvPr/>
        </p:nvSpPr>
        <p:spPr>
          <a:xfrm>
            <a:off x="6745383" y="27116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下半年工作计划</a:t>
            </a:r>
            <a:endParaRPr lang="zh-CN" altLang="en-US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81124" y="3164471"/>
            <a:ext cx="2129012" cy="136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重点攻坚华东空白市场，新增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50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家经销商，启动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产品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服务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捆绑销售模式，力争全年营收突破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2.8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亿元。</a:t>
            </a:r>
          </a:p>
        </p:txBody>
      </p:sp>
      <p:sp>
        <p:nvSpPr>
          <p:cNvPr id="5" name="矩形 4"/>
          <p:cNvSpPr/>
          <p:nvPr/>
        </p:nvSpPr>
        <p:spPr>
          <a:xfrm>
            <a:off x="4964921" y="922296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  <a:latin typeface="思源黑体 CN Normal" panose="020B0400000000000000" charset="-122"/>
                <a:cs typeface="Roboto" panose="02000000000000000000" charset="0"/>
              </a:rPr>
              <a:t>稳中有进，突破在即</a:t>
            </a:r>
            <a:endParaRPr lang="zh-CN" altLang="en-US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98072" y="1305512"/>
            <a:ext cx="35958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营收超额达标，产品矩阵初现，渠道待发力</a:t>
            </a:r>
            <a:endParaRPr lang="zh-CN" altLang="en-US" sz="1400" dirty="0"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49788" y="2911582"/>
            <a:ext cx="492443" cy="2075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总结与计划</a:t>
            </a:r>
          </a:p>
        </p:txBody>
      </p:sp>
      <p:grpSp>
        <p:nvGrpSpPr>
          <p:cNvPr id="28" name="Google Shape;7347;p80"/>
          <p:cNvGrpSpPr/>
          <p:nvPr/>
        </p:nvGrpSpPr>
        <p:grpSpPr>
          <a:xfrm>
            <a:off x="5887750" y="2604232"/>
            <a:ext cx="416500" cy="476795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29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0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1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35" name="矩形: 圆角 34"/>
          <p:cNvSpPr/>
          <p:nvPr/>
        </p:nvSpPr>
        <p:spPr>
          <a:xfrm>
            <a:off x="803103" y="3504122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产品创新</a:t>
            </a:r>
          </a:p>
        </p:txBody>
      </p:sp>
      <p:sp>
        <p:nvSpPr>
          <p:cNvPr id="36" name="六边形 35"/>
          <p:cNvSpPr/>
          <p:nvPr/>
        </p:nvSpPr>
        <p:spPr>
          <a:xfrm>
            <a:off x="551267" y="3448173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803103" y="4805641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客户服务</a:t>
            </a:r>
          </a:p>
        </p:txBody>
      </p:sp>
      <p:sp>
        <p:nvSpPr>
          <p:cNvPr id="38" name="六边形 37"/>
          <p:cNvSpPr/>
          <p:nvPr/>
        </p:nvSpPr>
        <p:spPr>
          <a:xfrm>
            <a:off x="551267" y="4749692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0747" y="2632303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1.2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亿元超预期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，核心产品线贡献率达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65%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，完成季度利润指标。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80747" y="3907550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成功推出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款新品，其中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AI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盒子首月销量破万台，占比总营收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18%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80747" y="5182797"/>
            <a:ext cx="2373214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满意度提升至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92%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，投诉处理时效缩短至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4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小时，再够同比增长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 flipH="1">
            <a:off x="9658627" y="2202603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市场拓展</a:t>
            </a:r>
          </a:p>
        </p:txBody>
      </p:sp>
      <p:sp>
        <p:nvSpPr>
          <p:cNvPr id="43" name="六边形 42"/>
          <p:cNvSpPr/>
          <p:nvPr/>
        </p:nvSpPr>
        <p:spPr>
          <a:xfrm flipH="1">
            <a:off x="11133150" y="2146654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4" name="矩形: 圆角 43"/>
          <p:cNvSpPr/>
          <p:nvPr/>
        </p:nvSpPr>
        <p:spPr>
          <a:xfrm flipH="1">
            <a:off x="9658627" y="3504122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销售升级</a:t>
            </a:r>
          </a:p>
        </p:txBody>
      </p:sp>
      <p:sp>
        <p:nvSpPr>
          <p:cNvPr id="45" name="六边形 44"/>
          <p:cNvSpPr/>
          <p:nvPr/>
        </p:nvSpPr>
        <p:spPr>
          <a:xfrm flipH="1">
            <a:off x="11133150" y="3448173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6" name="矩形: 圆角 45"/>
          <p:cNvSpPr/>
          <p:nvPr/>
        </p:nvSpPr>
        <p:spPr>
          <a:xfrm flipH="1">
            <a:off x="9658627" y="4805641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团队建设</a:t>
            </a:r>
          </a:p>
        </p:txBody>
      </p:sp>
      <p:sp>
        <p:nvSpPr>
          <p:cNvPr id="47" name="六边形 46"/>
          <p:cNvSpPr/>
          <p:nvPr/>
        </p:nvSpPr>
        <p:spPr>
          <a:xfrm flipH="1">
            <a:off x="11133150" y="4749692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6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 flipH="1">
            <a:off x="9234509" y="2632303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1.2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亿元超预期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，核心产品线贡献率达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65%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，完成季度利润指标。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 flipH="1">
            <a:off x="9234509" y="3907550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成功推出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款新品，其中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AI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盒子首月销量破万台，占比总营收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18%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 flipH="1">
            <a:off x="9234509" y="5182797"/>
            <a:ext cx="2373214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满意度提升至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92%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，投诉处理时效缩短至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4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小时，再够同比增长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964921" y="5716215"/>
            <a:ext cx="2262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思源黑体 CN Normal" panose="020B0400000000000000" charset="-122"/>
                <a:cs typeface="Roboto" panose="02000000000000000000" charset="0"/>
              </a:rPr>
              <a:t>持续发力，大力冲刺</a:t>
            </a:r>
            <a:endParaRPr lang="zh-CN" altLang="en-US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208303" y="6099431"/>
            <a:ext cx="37753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深耕华东市场，创新销售模式，冲刺年度目标</a:t>
            </a:r>
            <a:endParaRPr lang="zh-CN" altLang="en-US" sz="1400" dirty="0">
              <a:cs typeface="Roboto" panose="02000000000000000000" charset="0"/>
            </a:endParaRPr>
          </a:p>
        </p:txBody>
      </p:sp>
      <p:sp>
        <p:nvSpPr>
          <p:cNvPr id="16" name="弧形 15"/>
          <p:cNvSpPr/>
          <p:nvPr/>
        </p:nvSpPr>
        <p:spPr>
          <a:xfrm>
            <a:off x="2914405" y="537896"/>
            <a:ext cx="6320104" cy="6320104"/>
          </a:xfrm>
          <a:prstGeom prst="arc">
            <a:avLst>
              <a:gd name="adj1" fmla="val 18591491"/>
              <a:gd name="adj2" fmla="val 2727432"/>
            </a:avLst>
          </a:prstGeom>
          <a:noFill/>
          <a:ln>
            <a:solidFill>
              <a:schemeClr val="accent1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5" name="弧形 64"/>
          <p:cNvSpPr/>
          <p:nvPr/>
        </p:nvSpPr>
        <p:spPr>
          <a:xfrm flipH="1" flipV="1">
            <a:off x="2914405" y="537896"/>
            <a:ext cx="6320104" cy="6320104"/>
          </a:xfrm>
          <a:prstGeom prst="arc">
            <a:avLst>
              <a:gd name="adj1" fmla="val 18743627"/>
              <a:gd name="adj2" fmla="val 2932594"/>
            </a:avLst>
          </a:prstGeom>
          <a:noFill/>
          <a:ln>
            <a:solidFill>
              <a:schemeClr val="tx2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>
            <a:stCxn id="57" idx="4"/>
            <a:endCxn id="137" idx="0"/>
          </p:cNvCxnSpPr>
          <p:nvPr/>
        </p:nvCxnSpPr>
        <p:spPr>
          <a:xfrm>
            <a:off x="3132214" y="2780286"/>
            <a:ext cx="0" cy="332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>
            <a:off x="3132214" y="4274509"/>
            <a:ext cx="0" cy="332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289072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项目策划执行流程</a:t>
            </a:r>
          </a:p>
        </p:txBody>
      </p:sp>
      <p:cxnSp>
        <p:nvCxnSpPr>
          <p:cNvPr id="4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356289" y="2655946"/>
            <a:ext cx="2024658" cy="20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94565" y="1028701"/>
            <a:ext cx="4405639" cy="5270498"/>
          </a:xfrm>
          <a:prstGeom prst="roundRect">
            <a:avLst>
              <a:gd name="adj" fmla="val 176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3714" y="3460438"/>
            <a:ext cx="14157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项目策划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执行流程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630293" y="1633481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2520076" y="1556010"/>
            <a:ext cx="1224276" cy="12242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6" name="椭圆 135"/>
          <p:cNvSpPr/>
          <p:nvPr/>
        </p:nvSpPr>
        <p:spPr>
          <a:xfrm>
            <a:off x="2583015" y="1618949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732104" y="2147933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立项</a:t>
            </a:r>
          </a:p>
        </p:txBody>
      </p:sp>
      <p:sp>
        <p:nvSpPr>
          <p:cNvPr id="15" name="矩形 14"/>
          <p:cNvSpPr/>
          <p:nvPr/>
        </p:nvSpPr>
        <p:spPr>
          <a:xfrm>
            <a:off x="3855728" y="1749751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基于年度营销目标拆解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KPI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，确定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大核心传播主题，完成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500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万预算分配及跨部门签字确认。</a:t>
            </a:r>
          </a:p>
        </p:txBody>
      </p:sp>
      <p:sp>
        <p:nvSpPr>
          <p:cNvPr id="72" name="矩形: 圆角 71"/>
          <p:cNvSpPr/>
          <p:nvPr/>
        </p:nvSpPr>
        <p:spPr>
          <a:xfrm>
            <a:off x="2630293" y="3133608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2520076" y="3056137"/>
            <a:ext cx="1224276" cy="122427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732104" y="3670108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筹备</a:t>
            </a:r>
          </a:p>
        </p:txBody>
      </p:sp>
      <p:sp>
        <p:nvSpPr>
          <p:cNvPr id="77" name="矩形 76"/>
          <p:cNvSpPr/>
          <p:nvPr/>
        </p:nvSpPr>
        <p:spPr>
          <a:xfrm>
            <a:off x="3855728" y="3249878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组建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30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人专项小组，签约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家供应商，制定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136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项执行清单，预设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个关键风险应对方案。</a:t>
            </a:r>
          </a:p>
        </p:txBody>
      </p:sp>
      <p:sp>
        <p:nvSpPr>
          <p:cNvPr id="80" name="矩形: 圆角 79"/>
          <p:cNvSpPr/>
          <p:nvPr/>
        </p:nvSpPr>
        <p:spPr>
          <a:xfrm>
            <a:off x="2630293" y="4633735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2520076" y="4556264"/>
            <a:ext cx="1224276" cy="12242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732104" y="5148187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落地</a:t>
            </a:r>
          </a:p>
        </p:txBody>
      </p:sp>
      <p:sp>
        <p:nvSpPr>
          <p:cNvPr id="89" name="矩形 88"/>
          <p:cNvSpPr/>
          <p:nvPr/>
        </p:nvSpPr>
        <p:spPr>
          <a:xfrm>
            <a:off x="3855728" y="4750005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按日追踪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50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个进度节点，建立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级质量检查机制，实时监控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ROI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数据，动态优化投放策略。</a:t>
            </a:r>
          </a:p>
        </p:txBody>
      </p:sp>
      <p:sp>
        <p:nvSpPr>
          <p:cNvPr id="95" name="矩形: 圆顶角 94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78338" y="2850234"/>
            <a:ext cx="580558" cy="5805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2958684" y="1749751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2958684" y="3249184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2958684" y="4748617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99" name="Google Shape;8079;p82"/>
          <p:cNvGrpSpPr/>
          <p:nvPr/>
        </p:nvGrpSpPr>
        <p:grpSpPr>
          <a:xfrm>
            <a:off x="3049191" y="1817420"/>
            <a:ext cx="222588" cy="211720"/>
            <a:chOff x="-6690625" y="3631325"/>
            <a:chExt cx="307225" cy="292225"/>
          </a:xfrm>
          <a:solidFill>
            <a:schemeClr val="accent1"/>
          </a:solidFill>
        </p:grpSpPr>
        <p:sp>
          <p:nvSpPr>
            <p:cNvPr id="100" name="Google Shape;8080;p82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1" name="Google Shape;8081;p82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2" name="Google Shape;8082;p82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3" name="Google Shape;8083;p82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4" name="Google Shape;8084;p82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05" name="Google Shape;8290;p82"/>
          <p:cNvGrpSpPr/>
          <p:nvPr/>
        </p:nvGrpSpPr>
        <p:grpSpPr>
          <a:xfrm>
            <a:off x="3041372" y="3309903"/>
            <a:ext cx="177149" cy="232391"/>
            <a:chOff x="-3365275" y="3253275"/>
            <a:chExt cx="222150" cy="291425"/>
          </a:xfrm>
          <a:solidFill>
            <a:schemeClr val="tx2"/>
          </a:solidFill>
        </p:grpSpPr>
        <p:sp>
          <p:nvSpPr>
            <p:cNvPr id="106" name="Google Shape;8291;p82"/>
            <p:cNvSpPr/>
            <p:nvPr/>
          </p:nvSpPr>
          <p:spPr>
            <a:xfrm>
              <a:off x="-3365275" y="3253275"/>
              <a:ext cx="222150" cy="291425"/>
            </a:xfrm>
            <a:custGeom>
              <a:avLst/>
              <a:gdLst/>
              <a:ahLst/>
              <a:cxnLst/>
              <a:rect l="l" t="t" r="r" b="b"/>
              <a:pathLst>
                <a:path w="8886" h="11657" extrusionOk="0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7" name="Google Shape;8292;p82"/>
            <p:cNvSpPr/>
            <p:nvPr/>
          </p:nvSpPr>
          <p:spPr>
            <a:xfrm>
              <a:off x="-3314075" y="34761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08" name="Google Shape;8203;p82"/>
          <p:cNvGrpSpPr/>
          <p:nvPr/>
        </p:nvGrpSpPr>
        <p:grpSpPr>
          <a:xfrm>
            <a:off x="3036015" y="4776233"/>
            <a:ext cx="198090" cy="246128"/>
            <a:chOff x="-2310650" y="3525775"/>
            <a:chExt cx="292250" cy="363125"/>
          </a:xfrm>
          <a:solidFill>
            <a:schemeClr val="accent1"/>
          </a:solidFill>
        </p:grpSpPr>
        <p:sp>
          <p:nvSpPr>
            <p:cNvPr id="109" name="Google Shape;8204;p82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0" name="Google Shape;8205;p82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1" name="Google Shape;8206;p82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2" name="Google Shape;8207;p82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13" name="Google Shape;8076;p82"/>
          <p:cNvGrpSpPr/>
          <p:nvPr/>
        </p:nvGrpSpPr>
        <p:grpSpPr>
          <a:xfrm>
            <a:off x="1175902" y="2957694"/>
            <a:ext cx="385430" cy="365638"/>
            <a:chOff x="-6696925" y="3272575"/>
            <a:chExt cx="307200" cy="291425"/>
          </a:xfrm>
          <a:solidFill>
            <a:schemeClr val="accent1"/>
          </a:solidFill>
        </p:grpSpPr>
        <p:sp>
          <p:nvSpPr>
            <p:cNvPr id="114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5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21" name="任意多边形: 形状 20"/>
          <p:cNvSpPr/>
          <p:nvPr/>
        </p:nvSpPr>
        <p:spPr>
          <a:xfrm>
            <a:off x="1371600" y="1016000"/>
            <a:ext cx="6057900" cy="1612900"/>
          </a:xfrm>
          <a:custGeom>
            <a:avLst/>
            <a:gdLst>
              <a:gd name="connsiteX0" fmla="*/ 0 w 6057900"/>
              <a:gd name="connsiteY0" fmla="*/ 1612900 h 1612900"/>
              <a:gd name="connsiteX1" fmla="*/ 1612900 w 6057900"/>
              <a:gd name="connsiteY1" fmla="*/ 0 h 1612900"/>
              <a:gd name="connsiteX2" fmla="*/ 6057900 w 6057900"/>
              <a:gd name="connsiteY2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7900" h="1612900">
                <a:moveTo>
                  <a:pt x="0" y="1612900"/>
                </a:moveTo>
                <a:lnTo>
                  <a:pt x="1612900" y="0"/>
                </a:lnTo>
                <a:lnTo>
                  <a:pt x="6057900" y="0"/>
                </a:lnTo>
              </a:path>
            </a:pathLst>
          </a:custGeom>
          <a:noFill/>
          <a:ln w="9525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6" name="任意多边形: 形状 115"/>
          <p:cNvSpPr/>
          <p:nvPr/>
        </p:nvSpPr>
        <p:spPr>
          <a:xfrm flipV="1">
            <a:off x="1371600" y="4686300"/>
            <a:ext cx="6057900" cy="1612900"/>
          </a:xfrm>
          <a:custGeom>
            <a:avLst/>
            <a:gdLst>
              <a:gd name="connsiteX0" fmla="*/ 0 w 6057900"/>
              <a:gd name="connsiteY0" fmla="*/ 1612900 h 1612900"/>
              <a:gd name="connsiteX1" fmla="*/ 1612900 w 6057900"/>
              <a:gd name="connsiteY1" fmla="*/ 0 h 1612900"/>
              <a:gd name="connsiteX2" fmla="*/ 6057900 w 6057900"/>
              <a:gd name="connsiteY2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7900" h="1612900">
                <a:moveTo>
                  <a:pt x="0" y="1612900"/>
                </a:moveTo>
                <a:lnTo>
                  <a:pt x="1612900" y="0"/>
                </a:lnTo>
                <a:lnTo>
                  <a:pt x="6057900" y="0"/>
                </a:lnTo>
              </a:path>
            </a:pathLst>
          </a:custGeom>
          <a:noFill/>
          <a:ln w="9525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256353" y="1431141"/>
            <a:ext cx="268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全流程价值闭环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850504" y="1934981"/>
            <a:ext cx="3528696" cy="167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通过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目标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资源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执行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三阶管控体系，确保项目按期高质量交付。运用数字化看板实现过程透明化，历史项目平均执行偏差率＜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。同步沉淀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SOP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知识库，持续优化人效产出比，较传统模式节省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20%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协作成本。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7968343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目标</a:t>
            </a:r>
          </a:p>
        </p:txBody>
      </p:sp>
      <p:sp>
        <p:nvSpPr>
          <p:cNvPr id="117" name="矩形: 圆角 116"/>
          <p:cNvSpPr/>
          <p:nvPr/>
        </p:nvSpPr>
        <p:spPr>
          <a:xfrm>
            <a:off x="8811439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拆解</a:t>
            </a:r>
          </a:p>
        </p:txBody>
      </p:sp>
      <p:sp>
        <p:nvSpPr>
          <p:cNvPr id="118" name="矩形: 圆角 117"/>
          <p:cNvSpPr/>
          <p:nvPr/>
        </p:nvSpPr>
        <p:spPr>
          <a:xfrm>
            <a:off x="9654535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预算</a:t>
            </a:r>
          </a:p>
        </p:txBody>
      </p:sp>
      <p:sp>
        <p:nvSpPr>
          <p:cNvPr id="119" name="矩形: 圆角 118"/>
          <p:cNvSpPr/>
          <p:nvPr/>
        </p:nvSpPr>
        <p:spPr>
          <a:xfrm>
            <a:off x="10497631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组队</a:t>
            </a:r>
          </a:p>
        </p:txBody>
      </p:sp>
      <p:sp>
        <p:nvSpPr>
          <p:cNvPr id="120" name="矩形: 圆角 119"/>
          <p:cNvSpPr/>
          <p:nvPr/>
        </p:nvSpPr>
        <p:spPr>
          <a:xfrm>
            <a:off x="7968343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风控</a:t>
            </a:r>
          </a:p>
        </p:txBody>
      </p:sp>
      <p:sp>
        <p:nvSpPr>
          <p:cNvPr id="121" name="矩形: 圆角 120"/>
          <p:cNvSpPr/>
          <p:nvPr/>
        </p:nvSpPr>
        <p:spPr>
          <a:xfrm>
            <a:off x="8811439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追踪</a:t>
            </a:r>
          </a:p>
        </p:txBody>
      </p:sp>
      <p:sp>
        <p:nvSpPr>
          <p:cNvPr id="122" name="矩形: 圆角 121"/>
          <p:cNvSpPr/>
          <p:nvPr/>
        </p:nvSpPr>
        <p:spPr>
          <a:xfrm>
            <a:off x="9654535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优化</a:t>
            </a:r>
          </a:p>
        </p:txBody>
      </p:sp>
      <p:sp>
        <p:nvSpPr>
          <p:cNvPr id="123" name="矩形: 圆角 122"/>
          <p:cNvSpPr/>
          <p:nvPr/>
        </p:nvSpPr>
        <p:spPr>
          <a:xfrm>
            <a:off x="10497631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沉淀</a:t>
            </a:r>
          </a:p>
        </p:txBody>
      </p:sp>
      <p:sp>
        <p:nvSpPr>
          <p:cNvPr id="137" name="椭圆 136"/>
          <p:cNvSpPr/>
          <p:nvPr/>
        </p:nvSpPr>
        <p:spPr>
          <a:xfrm>
            <a:off x="2583015" y="3113172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8" name="椭圆 137"/>
          <p:cNvSpPr/>
          <p:nvPr/>
        </p:nvSpPr>
        <p:spPr>
          <a:xfrm>
            <a:off x="2583015" y="4607395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9" name="椭圆 138"/>
          <p:cNvSpPr/>
          <p:nvPr/>
        </p:nvSpPr>
        <p:spPr>
          <a:xfrm>
            <a:off x="416834" y="2715238"/>
            <a:ext cx="1894266" cy="1894266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3" name="Google Shape;1422;p70"/>
          <p:cNvGrpSpPr/>
          <p:nvPr/>
        </p:nvGrpSpPr>
        <p:grpSpPr>
          <a:xfrm rot="5400000">
            <a:off x="3086555" y="2836610"/>
            <a:ext cx="93608" cy="134921"/>
            <a:chOff x="5083925" y="2066350"/>
            <a:chExt cx="28825" cy="41550"/>
          </a:xfrm>
          <a:solidFill>
            <a:schemeClr val="accent1"/>
          </a:solidFill>
        </p:grpSpPr>
        <p:sp>
          <p:nvSpPr>
            <p:cNvPr id="144" name="Google Shape;1423;p70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5" name="Google Shape;1424;p70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46" name="Google Shape;1422;p70"/>
          <p:cNvGrpSpPr/>
          <p:nvPr/>
        </p:nvGrpSpPr>
        <p:grpSpPr>
          <a:xfrm rot="5400000">
            <a:off x="3086555" y="4353028"/>
            <a:ext cx="93608" cy="134921"/>
            <a:chOff x="5083925" y="2066350"/>
            <a:chExt cx="28825" cy="41550"/>
          </a:xfrm>
          <a:solidFill>
            <a:schemeClr val="accent1"/>
          </a:solidFill>
        </p:grpSpPr>
        <p:sp>
          <p:nvSpPr>
            <p:cNvPr id="147" name="Google Shape;1423;p70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8" name="Google Shape;1424;p70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106170" y="948059"/>
            <a:ext cx="3110416" cy="926323"/>
            <a:chOff x="2106170" y="948059"/>
            <a:chExt cx="3110416" cy="926323"/>
          </a:xfrm>
        </p:grpSpPr>
        <p:grpSp>
          <p:nvGrpSpPr>
            <p:cNvPr id="149" name="Google Shape;1422;p70"/>
            <p:cNvGrpSpPr/>
            <p:nvPr/>
          </p:nvGrpSpPr>
          <p:grpSpPr>
            <a:xfrm rot="18852414">
              <a:off x="2126827" y="1760117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50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51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152" name="Google Shape;1422;p70"/>
            <p:cNvGrpSpPr/>
            <p:nvPr/>
          </p:nvGrpSpPr>
          <p:grpSpPr>
            <a:xfrm>
              <a:off x="5122978" y="948059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53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54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62" name="组合 161"/>
          <p:cNvGrpSpPr/>
          <p:nvPr/>
        </p:nvGrpSpPr>
        <p:grpSpPr>
          <a:xfrm flipV="1">
            <a:off x="2106170" y="5451256"/>
            <a:ext cx="3110416" cy="926323"/>
            <a:chOff x="2106170" y="948059"/>
            <a:chExt cx="3110416" cy="926323"/>
          </a:xfrm>
        </p:grpSpPr>
        <p:grpSp>
          <p:nvGrpSpPr>
            <p:cNvPr id="163" name="Google Shape;1422;p70"/>
            <p:cNvGrpSpPr/>
            <p:nvPr/>
          </p:nvGrpSpPr>
          <p:grpSpPr>
            <a:xfrm rot="18852414">
              <a:off x="2126827" y="1760117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67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68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164" name="Google Shape;1422;p70"/>
            <p:cNvGrpSpPr/>
            <p:nvPr/>
          </p:nvGrpSpPr>
          <p:grpSpPr>
            <a:xfrm>
              <a:off x="5122978" y="948059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65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66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/>
          <p:cNvSpPr txBox="1"/>
          <p:nvPr/>
        </p:nvSpPr>
        <p:spPr>
          <a:xfrm>
            <a:off x="289072" y="200526"/>
            <a:ext cx="5769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互联网产品运营循环图</a:t>
            </a:r>
          </a:p>
        </p:txBody>
      </p:sp>
      <p:cxnSp>
        <p:nvCxnSpPr>
          <p:cNvPr id="7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355600" y="1130300"/>
            <a:ext cx="2699976" cy="1233160"/>
            <a:chOff x="355600" y="1130300"/>
            <a:chExt cx="2699976" cy="1233160"/>
          </a:xfrm>
        </p:grpSpPr>
        <p:grpSp>
          <p:nvGrpSpPr>
            <p:cNvPr id="85" name="组合 84"/>
            <p:cNvGrpSpPr/>
            <p:nvPr/>
          </p:nvGrpSpPr>
          <p:grpSpPr>
            <a:xfrm>
              <a:off x="355600" y="1130300"/>
              <a:ext cx="2699976" cy="1233160"/>
              <a:chOff x="355600" y="1481465"/>
              <a:chExt cx="2699976" cy="123316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355600" y="1481465"/>
                <a:ext cx="2699976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355600" y="2004684"/>
                <a:ext cx="2699976" cy="709941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05" name="文本框 104"/>
            <p:cNvSpPr txBox="1"/>
            <p:nvPr/>
          </p:nvSpPr>
          <p:spPr>
            <a:xfrm>
              <a:off x="433373" y="171994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明确季度运营目标（如用户活跃度提升 </a:t>
              </a:r>
              <a:r>
                <a:rPr lang="en-US" altLang="zh-CN" sz="1050" b="0" i="0" dirty="0">
                  <a:effectLst/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），拆解为月 </a:t>
              </a:r>
              <a:r>
                <a:rPr lang="en-US" altLang="zh-CN" sz="1050" b="0" i="0" dirty="0">
                  <a:effectLst/>
                  <a:latin typeface="+mn-ea"/>
                  <a:cs typeface="Roboto" panose="02000000000000000000" charset="0"/>
                </a:rPr>
                <a:t>/ </a:t>
              </a:r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周级关键任务，同步业务团队对齐优先级。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964710" y="122605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目标制定与拆解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514708" y="121443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1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129" name="矩形 128"/>
          <p:cNvSpPr/>
          <p:nvPr/>
        </p:nvSpPr>
        <p:spPr>
          <a:xfrm>
            <a:off x="355600" y="2442213"/>
            <a:ext cx="2699976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355600" y="2965432"/>
            <a:ext cx="2699976" cy="193471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433373" y="3031861"/>
            <a:ext cx="2547952" cy="186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50" b="0" i="0" dirty="0">
                <a:effectLst/>
                <a:latin typeface="+mn-ea"/>
                <a:cs typeface="+mn-ea"/>
              </a:rPr>
              <a:t>通过用户调研（问卷星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/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面对面访谈）、后台行为日志（埋点数据）、第三方监测工具（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Google Analytics/</a:t>
            </a:r>
            <a:r>
              <a:rPr lang="en-US" altLang="zh-CN" sz="1050" b="0" i="0" dirty="0" err="1">
                <a:effectLst/>
                <a:latin typeface="+mn-ea"/>
                <a:cs typeface="+mn-ea"/>
              </a:rPr>
              <a:t>Mixpanel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）多维度采集运营数据，覆盖用户注册、活跃、转化全链路。运用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Excel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数据透视表及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Python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脚本进行清洗，剔除重复值、修正格式错误、填补缺失数据，按用户分层（新客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/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活跃客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/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沉默客）分类归档，同步生成数据质量校验报告，确保关键指标完整率≥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95%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，为后续分析提供可靠支撑。</a:t>
            </a:r>
            <a:endParaRPr lang="zh-CN" altLang="en-US" sz="1050" dirty="0">
              <a:latin typeface="+mn-ea"/>
              <a:cs typeface="+mn-ea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964710" y="2537966"/>
            <a:ext cx="1868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数据采集与清洗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33" name="椭圆 132"/>
          <p:cNvSpPr/>
          <p:nvPr/>
        </p:nvSpPr>
        <p:spPr>
          <a:xfrm>
            <a:off x="514708" y="2526351"/>
            <a:ext cx="354944" cy="3549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355600" y="4966582"/>
            <a:ext cx="2699976" cy="1233160"/>
            <a:chOff x="355600" y="3712884"/>
            <a:chExt cx="2699976" cy="1233160"/>
          </a:xfrm>
        </p:grpSpPr>
        <p:grpSp>
          <p:nvGrpSpPr>
            <p:cNvPr id="134" name="组合 133"/>
            <p:cNvGrpSpPr/>
            <p:nvPr/>
          </p:nvGrpSpPr>
          <p:grpSpPr>
            <a:xfrm>
              <a:off x="355600" y="3712884"/>
              <a:ext cx="2699976" cy="1233160"/>
              <a:chOff x="355600" y="1481465"/>
              <a:chExt cx="2699976" cy="1233160"/>
            </a:xfrm>
          </p:grpSpPr>
          <p:sp>
            <p:nvSpPr>
              <p:cNvPr id="135" name="矩形 134"/>
              <p:cNvSpPr/>
              <p:nvPr/>
            </p:nvSpPr>
            <p:spPr>
              <a:xfrm>
                <a:off x="355600" y="1481465"/>
                <a:ext cx="2699976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355600" y="2004684"/>
                <a:ext cx="2699976" cy="709941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37" name="文本框 136"/>
            <p:cNvSpPr txBox="1"/>
            <p:nvPr/>
          </p:nvSpPr>
          <p:spPr>
            <a:xfrm>
              <a:off x="433373" y="4302532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对比目标与实际数据，运用漏斗模型、用户分层等方法定位问题（如注册转化率下降 </a:t>
              </a:r>
              <a:r>
                <a:rPr lang="en-US" altLang="zh-CN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3%</a:t>
              </a:r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），输出关键影响因素清单。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964710" y="3808637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深度分析与诊断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39" name="椭圆 138"/>
            <p:cNvSpPr/>
            <p:nvPr/>
          </p:nvSpPr>
          <p:spPr>
            <a:xfrm>
              <a:off x="514708" y="3797022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3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123724" y="1130300"/>
            <a:ext cx="2699976" cy="5067300"/>
            <a:chOff x="9123724" y="1130300"/>
            <a:chExt cx="2699976" cy="5168900"/>
          </a:xfrm>
        </p:grpSpPr>
        <p:sp>
          <p:nvSpPr>
            <p:cNvPr id="7" name="矩形 6"/>
            <p:cNvSpPr/>
            <p:nvPr/>
          </p:nvSpPr>
          <p:spPr>
            <a:xfrm>
              <a:off x="9123724" y="1130300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123724" y="1653519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201497" y="171994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整合数据图表、案例分析与改进建议，制作结构化 </a:t>
              </a:r>
              <a:r>
                <a:rPr lang="en-US" altLang="zh-CN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PPT</a:t>
              </a:r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（含核心指标看板、风险预警模块），经直属领导预审定稿。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732834" y="122605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汇报材料与预审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9282832" y="121443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4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123724" y="2442213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9123724" y="2965432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201497" y="3031861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管理层及协作部门（产品、技术、市场）汇报，阐述目标达成度、现存问题及资源需求，形成会议决议并同步待办清单。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732834" y="2537966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部门汇报与决策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9282832" y="2526351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5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9123724" y="3754126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9123724" y="4277345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201497" y="4343774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根据汇报共识修订运营方案（如新增用户召回策略），更新目标拆解表并同步至协作平台，推动策略调整落地。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732834" y="3849879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策略迭代与执行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9282832" y="3838264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6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9123724" y="5066040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123724" y="5589259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201497" y="565568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跟踪优化措施执行进度，定期（每周）更新数据看板，季度末对比目标完成度，沉淀可复用经验。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732834" y="516179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跟进复盘与沉淀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9282832" y="515017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7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143020" y="2127695"/>
            <a:ext cx="5905960" cy="3066646"/>
            <a:chOff x="2888824" y="1763485"/>
            <a:chExt cx="6414352" cy="3330626"/>
          </a:xfrm>
        </p:grpSpPr>
        <p:sp>
          <p:nvSpPr>
            <p:cNvPr id="46" name="Google Shape;4863;p74"/>
            <p:cNvSpPr/>
            <p:nvPr/>
          </p:nvSpPr>
          <p:spPr>
            <a:xfrm>
              <a:off x="4625964" y="4344674"/>
              <a:ext cx="7096" cy="22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Roboto" panose="02000000000000000000" charset="0"/>
              </a:endParaRPr>
            </a:p>
          </p:txBody>
        </p:sp>
        <p:sp>
          <p:nvSpPr>
            <p:cNvPr id="53" name="Google Shape;4865;p74"/>
            <p:cNvSpPr/>
            <p:nvPr/>
          </p:nvSpPr>
          <p:spPr>
            <a:xfrm>
              <a:off x="2888824" y="3429168"/>
              <a:ext cx="2118752" cy="1664942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gradFill>
              <a:gsLst>
                <a:gs pos="84000">
                  <a:schemeClr val="tx2"/>
                </a:gs>
                <a:gs pos="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4" name="Google Shape;4866;p74"/>
            <p:cNvSpPr/>
            <p:nvPr/>
          </p:nvSpPr>
          <p:spPr>
            <a:xfrm>
              <a:off x="2888824" y="1763485"/>
              <a:ext cx="1744641" cy="2039458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Roboto" panose="02000000000000000000" charset="0"/>
              </a:endParaRPr>
            </a:p>
          </p:txBody>
        </p:sp>
        <p:sp>
          <p:nvSpPr>
            <p:cNvPr id="55" name="Google Shape;4867;p74"/>
            <p:cNvSpPr/>
            <p:nvPr/>
          </p:nvSpPr>
          <p:spPr>
            <a:xfrm>
              <a:off x="6095798" y="3428382"/>
              <a:ext cx="22" cy="2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Roboto" panose="02000000000000000000" charset="0"/>
              </a:endParaRPr>
            </a:p>
          </p:txBody>
        </p:sp>
        <p:sp>
          <p:nvSpPr>
            <p:cNvPr id="56" name="Google Shape;4868;p74"/>
            <p:cNvSpPr/>
            <p:nvPr/>
          </p:nvSpPr>
          <p:spPr>
            <a:xfrm>
              <a:off x="4258118" y="1763485"/>
              <a:ext cx="2143522" cy="1836873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7" name="Google Shape;4869;p74"/>
            <p:cNvSpPr/>
            <p:nvPr/>
          </p:nvSpPr>
          <p:spPr>
            <a:xfrm>
              <a:off x="5673381" y="3053889"/>
              <a:ext cx="1887534" cy="2040222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8" name="Google Shape;4870;p74"/>
            <p:cNvSpPr/>
            <p:nvPr/>
          </p:nvSpPr>
          <p:spPr>
            <a:xfrm>
              <a:off x="7183616" y="3428382"/>
              <a:ext cx="2119179" cy="1665728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9" name="Google Shape;4871;p74"/>
            <p:cNvSpPr/>
            <p:nvPr/>
          </p:nvSpPr>
          <p:spPr>
            <a:xfrm>
              <a:off x="7189118" y="1763485"/>
              <a:ext cx="2114058" cy="2039840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gradFill>
              <a:gsLst>
                <a:gs pos="82000">
                  <a:schemeClr val="tx2"/>
                </a:gs>
                <a:gs pos="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64" name="Google Shape;4868;p74"/>
            <p:cNvSpPr/>
            <p:nvPr/>
          </p:nvSpPr>
          <p:spPr>
            <a:xfrm flipH="1">
              <a:off x="5768353" y="1763485"/>
              <a:ext cx="2143522" cy="1836873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gradFill>
              <a:gsLst>
                <a:gs pos="37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65" name="Google Shape;4869;p74"/>
            <p:cNvSpPr/>
            <p:nvPr/>
          </p:nvSpPr>
          <p:spPr>
            <a:xfrm flipH="1">
              <a:off x="4609078" y="3053889"/>
              <a:ext cx="1887534" cy="2040222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gradFill>
              <a:gsLst>
                <a:gs pos="33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</p:grpSp>
      <p:sp>
        <p:nvSpPr>
          <p:cNvPr id="30" name="椭圆 29"/>
          <p:cNvSpPr/>
          <p:nvPr/>
        </p:nvSpPr>
        <p:spPr>
          <a:xfrm>
            <a:off x="3222611" y="3398450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486826" y="2208731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82623" y="4575994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486826" y="4575994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7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820884" y="3410932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6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167732" y="2205350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439043" y="3428792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78627" y="3113515"/>
            <a:ext cx="172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数据</a:t>
            </a:r>
            <a:endParaRPr lang="en-US" altLang="zh-CN" sz="32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场景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692959" y="3113515"/>
            <a:ext cx="172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业务</a:t>
            </a:r>
            <a:endParaRPr lang="en-US" altLang="zh-CN" sz="32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32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场景</a:t>
            </a:r>
          </a:p>
        </p:txBody>
      </p:sp>
      <p:sp>
        <p:nvSpPr>
          <p:cNvPr id="40" name="矩形: 圆顶角 39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048000" y="10447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+mj-ea"/>
                <a:ea typeface="+mj-ea"/>
                <a:cs typeface="Roboto" panose="02000000000000000000" charset="0"/>
              </a:rPr>
              <a:t>闭环管理提升汇报价值</a:t>
            </a:r>
            <a:endParaRPr lang="zh-CN" altLang="en-US" sz="2400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312291" y="1456736"/>
            <a:ext cx="5567418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“目标 </a:t>
            </a:r>
            <a:r>
              <a:rPr lang="en-US" altLang="zh-CN" sz="1400" b="0" i="0" dirty="0">
                <a:effectLst/>
                <a:latin typeface="Roboto" panose="02000000000000000000" charset="0"/>
                <a:cs typeface="Roboto" panose="02000000000000000000" charset="0"/>
              </a:rPr>
              <a:t>- </a:t>
            </a: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数据 </a:t>
            </a:r>
            <a:r>
              <a:rPr lang="en-US" altLang="zh-CN" sz="1400" b="0" i="0" dirty="0">
                <a:effectLst/>
                <a:latin typeface="Roboto" panose="02000000000000000000" charset="0"/>
                <a:cs typeface="Roboto" panose="02000000000000000000" charset="0"/>
              </a:rPr>
              <a:t>- </a:t>
            </a: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分析 </a:t>
            </a:r>
            <a:r>
              <a:rPr lang="en-US" altLang="zh-CN" sz="1400" b="0" i="0" dirty="0">
                <a:effectLst/>
                <a:latin typeface="Roboto" panose="02000000000000000000" charset="0"/>
                <a:cs typeface="Roboto" panose="02000000000000000000" charset="0"/>
              </a:rPr>
              <a:t>- </a:t>
            </a: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执行” 七步循环，将工作汇报转化为业务优化引擎，推动运营策略持续迭代。</a:t>
            </a:r>
            <a:endParaRPr lang="zh-CN" altLang="en-US" sz="1400" dirty="0"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164912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1540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定目标</a:t>
            </a:r>
          </a:p>
        </p:txBody>
      </p:sp>
      <p:sp>
        <p:nvSpPr>
          <p:cNvPr id="16" name="矩形 15"/>
          <p:cNvSpPr/>
          <p:nvPr/>
        </p:nvSpPr>
        <p:spPr>
          <a:xfrm>
            <a:off x="5158397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15025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析数据</a:t>
            </a:r>
          </a:p>
        </p:txBody>
      </p:sp>
      <p:sp>
        <p:nvSpPr>
          <p:cNvPr id="37" name="矩形 36"/>
          <p:cNvSpPr/>
          <p:nvPr/>
        </p:nvSpPr>
        <p:spPr>
          <a:xfrm>
            <a:off x="7151881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908509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促执行</a:t>
            </a:r>
          </a:p>
        </p:txBody>
      </p:sp>
      <p:sp>
        <p:nvSpPr>
          <p:cNvPr id="63" name="箭头: 五边形 62"/>
          <p:cNvSpPr/>
          <p:nvPr/>
        </p:nvSpPr>
        <p:spPr>
          <a:xfrm>
            <a:off x="3164912" y="5585222"/>
            <a:ext cx="814157" cy="519007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7" name="Google Shape;5389;p76"/>
          <p:cNvGrpSpPr/>
          <p:nvPr/>
        </p:nvGrpSpPr>
        <p:grpSpPr>
          <a:xfrm>
            <a:off x="3285232" y="5680144"/>
            <a:ext cx="342232" cy="338924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48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49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50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51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89" name="箭头: 五边形 88"/>
          <p:cNvSpPr/>
          <p:nvPr/>
        </p:nvSpPr>
        <p:spPr>
          <a:xfrm>
            <a:off x="5152663" y="5585222"/>
            <a:ext cx="814157" cy="519007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5" name="箭头: 五边形 94"/>
          <p:cNvSpPr/>
          <p:nvPr/>
        </p:nvSpPr>
        <p:spPr>
          <a:xfrm>
            <a:off x="7151881" y="5585222"/>
            <a:ext cx="814157" cy="519007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01" name="Google Shape;5446;p76"/>
          <p:cNvGrpSpPr/>
          <p:nvPr/>
        </p:nvGrpSpPr>
        <p:grpSpPr>
          <a:xfrm>
            <a:off x="5254516" y="5667779"/>
            <a:ext cx="349698" cy="349696"/>
            <a:chOff x="1492675" y="2027925"/>
            <a:chExt cx="481825" cy="481825"/>
          </a:xfrm>
          <a:solidFill>
            <a:schemeClr val="bg1"/>
          </a:solidFill>
        </p:grpSpPr>
        <p:sp>
          <p:nvSpPr>
            <p:cNvPr id="102" name="Google Shape;5447;p76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3" name="Google Shape;5448;p76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4" name="Google Shape;5449;p76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6" name="Google Shape;5450;p76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7" name="Google Shape;5451;p76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08" name="Google Shape;5709;p77"/>
          <p:cNvGrpSpPr/>
          <p:nvPr/>
        </p:nvGrpSpPr>
        <p:grpSpPr>
          <a:xfrm>
            <a:off x="7252420" y="5653609"/>
            <a:ext cx="384776" cy="378036"/>
            <a:chOff x="-40748275" y="3238700"/>
            <a:chExt cx="322600" cy="316950"/>
          </a:xfrm>
          <a:solidFill>
            <a:schemeClr val="bg1"/>
          </a:solidFill>
        </p:grpSpPr>
        <p:sp>
          <p:nvSpPr>
            <p:cNvPr id="109" name="Google Shape;5710;p77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0" name="Google Shape;5711;p77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1" name="Google Shape;5712;p77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2" name="Google Shape;5713;p77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3" name="Google Shape;5714;p77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4" name="Google Shape;5715;p77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/>
          <p:cNvSpPr txBox="1"/>
          <p:nvPr/>
        </p:nvSpPr>
        <p:spPr>
          <a:xfrm>
            <a:off x="289072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营销活动运营</a:t>
            </a:r>
          </a:p>
        </p:txBody>
      </p:sp>
      <p:cxnSp>
        <p:nvCxnSpPr>
          <p:cNvPr id="7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顶角 39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0" name="任意多边形: 形状 219"/>
          <p:cNvSpPr/>
          <p:nvPr/>
        </p:nvSpPr>
        <p:spPr>
          <a:xfrm flipH="1">
            <a:off x="1007560" y="1957404"/>
            <a:ext cx="3442076" cy="1731777"/>
          </a:xfrm>
          <a:custGeom>
            <a:avLst/>
            <a:gdLst>
              <a:gd name="connsiteX0" fmla="*/ 1709124 w 3442076"/>
              <a:gd name="connsiteY0" fmla="*/ 0 h 1731777"/>
              <a:gd name="connsiteX1" fmla="*/ 129319 w 3442076"/>
              <a:gd name="connsiteY1" fmla="*/ 0 h 1731777"/>
              <a:gd name="connsiteX2" fmla="*/ 0 w 3442076"/>
              <a:gd name="connsiteY2" fmla="*/ 315668 h 1731777"/>
              <a:gd name="connsiteX3" fmla="*/ 130820 w 3442076"/>
              <a:gd name="connsiteY3" fmla="*/ 635000 h 1731777"/>
              <a:gd name="connsiteX4" fmla="*/ 1709124 w 3442076"/>
              <a:gd name="connsiteY4" fmla="*/ 635000 h 1731777"/>
              <a:gd name="connsiteX5" fmla="*/ 1748132 w 3442076"/>
              <a:gd name="connsiteY5" fmla="*/ 635663 h 1731777"/>
              <a:gd name="connsiteX6" fmla="*/ 1766208 w 3442076"/>
              <a:gd name="connsiteY6" fmla="*/ 636437 h 1731777"/>
              <a:gd name="connsiteX7" fmla="*/ 1784194 w 3442076"/>
              <a:gd name="connsiteY7" fmla="*/ 637500 h 1731777"/>
              <a:gd name="connsiteX8" fmla="*/ 1802088 w 3442076"/>
              <a:gd name="connsiteY8" fmla="*/ 638849 h 1731777"/>
              <a:gd name="connsiteX9" fmla="*/ 1819888 w 3442076"/>
              <a:gd name="connsiteY9" fmla="*/ 640481 h 1731777"/>
              <a:gd name="connsiteX10" fmla="*/ 1837596 w 3442076"/>
              <a:gd name="connsiteY10" fmla="*/ 642393 h 1731777"/>
              <a:gd name="connsiteX11" fmla="*/ 1855203 w 3442076"/>
              <a:gd name="connsiteY11" fmla="*/ 644582 h 1731777"/>
              <a:gd name="connsiteX12" fmla="*/ 1872719 w 3442076"/>
              <a:gd name="connsiteY12" fmla="*/ 647048 h 1731777"/>
              <a:gd name="connsiteX13" fmla="*/ 1890134 w 3442076"/>
              <a:gd name="connsiteY13" fmla="*/ 649787 h 1731777"/>
              <a:gd name="connsiteX14" fmla="*/ 1907450 w 3442076"/>
              <a:gd name="connsiteY14" fmla="*/ 652796 h 1731777"/>
              <a:gd name="connsiteX15" fmla="*/ 1924668 w 3442076"/>
              <a:gd name="connsiteY15" fmla="*/ 656074 h 1731777"/>
              <a:gd name="connsiteX16" fmla="*/ 1941780 w 3442076"/>
              <a:gd name="connsiteY16" fmla="*/ 659617 h 1731777"/>
              <a:gd name="connsiteX17" fmla="*/ 1958796 w 3442076"/>
              <a:gd name="connsiteY17" fmla="*/ 663426 h 1731777"/>
              <a:gd name="connsiteX18" fmla="*/ 1975701 w 3442076"/>
              <a:gd name="connsiteY18" fmla="*/ 667495 h 1731777"/>
              <a:gd name="connsiteX19" fmla="*/ 1992505 w 3442076"/>
              <a:gd name="connsiteY19" fmla="*/ 671824 h 1731777"/>
              <a:gd name="connsiteX20" fmla="*/ 2009201 w 3442076"/>
              <a:gd name="connsiteY20" fmla="*/ 676411 h 1731777"/>
              <a:gd name="connsiteX21" fmla="*/ 2025786 w 3442076"/>
              <a:gd name="connsiteY21" fmla="*/ 681252 h 1731777"/>
              <a:gd name="connsiteX22" fmla="*/ 2042263 w 3442076"/>
              <a:gd name="connsiteY22" fmla="*/ 686347 h 1731777"/>
              <a:gd name="connsiteX23" fmla="*/ 2058626 w 3442076"/>
              <a:gd name="connsiteY23" fmla="*/ 691693 h 1731777"/>
              <a:gd name="connsiteX24" fmla="*/ 2074877 w 3442076"/>
              <a:gd name="connsiteY24" fmla="*/ 697288 h 1731777"/>
              <a:gd name="connsiteX25" fmla="*/ 2091010 w 3442076"/>
              <a:gd name="connsiteY25" fmla="*/ 703129 h 1731777"/>
              <a:gd name="connsiteX26" fmla="*/ 2107030 w 3442076"/>
              <a:gd name="connsiteY26" fmla="*/ 709217 h 1731777"/>
              <a:gd name="connsiteX27" fmla="*/ 2122927 w 3442076"/>
              <a:gd name="connsiteY27" fmla="*/ 715545 h 1731777"/>
              <a:gd name="connsiteX28" fmla="*/ 2138701 w 3442076"/>
              <a:gd name="connsiteY28" fmla="*/ 722114 h 1731777"/>
              <a:gd name="connsiteX29" fmla="*/ 2154358 w 3442076"/>
              <a:gd name="connsiteY29" fmla="*/ 728924 h 1731777"/>
              <a:gd name="connsiteX30" fmla="*/ 2169884 w 3442076"/>
              <a:gd name="connsiteY30" fmla="*/ 735968 h 1731777"/>
              <a:gd name="connsiteX31" fmla="*/ 2185284 w 3442076"/>
              <a:gd name="connsiteY31" fmla="*/ 743247 h 1731777"/>
              <a:gd name="connsiteX32" fmla="*/ 2200557 w 3442076"/>
              <a:gd name="connsiteY32" fmla="*/ 750760 h 1731777"/>
              <a:gd name="connsiteX33" fmla="*/ 2215695 w 3442076"/>
              <a:gd name="connsiteY33" fmla="*/ 758501 h 1731777"/>
              <a:gd name="connsiteX34" fmla="*/ 2230703 w 3442076"/>
              <a:gd name="connsiteY34" fmla="*/ 766472 h 1731777"/>
              <a:gd name="connsiteX35" fmla="*/ 2245569 w 3442076"/>
              <a:gd name="connsiteY35" fmla="*/ 774666 h 1731777"/>
              <a:gd name="connsiteX36" fmla="*/ 2260301 w 3442076"/>
              <a:gd name="connsiteY36" fmla="*/ 783087 h 1731777"/>
              <a:gd name="connsiteX37" fmla="*/ 2274890 w 3442076"/>
              <a:gd name="connsiteY37" fmla="*/ 791727 h 1731777"/>
              <a:gd name="connsiteX38" fmla="*/ 2289338 w 3442076"/>
              <a:gd name="connsiteY38" fmla="*/ 800589 h 1731777"/>
              <a:gd name="connsiteX39" fmla="*/ 2303642 w 3442076"/>
              <a:gd name="connsiteY39" fmla="*/ 809668 h 1731777"/>
              <a:gd name="connsiteX40" fmla="*/ 2317792 w 3442076"/>
              <a:gd name="connsiteY40" fmla="*/ 818960 h 1731777"/>
              <a:gd name="connsiteX41" fmla="*/ 2331797 w 3442076"/>
              <a:gd name="connsiteY41" fmla="*/ 828466 h 1731777"/>
              <a:gd name="connsiteX42" fmla="*/ 2345648 w 3442076"/>
              <a:gd name="connsiteY42" fmla="*/ 838182 h 1731777"/>
              <a:gd name="connsiteX43" fmla="*/ 2359342 w 3442076"/>
              <a:gd name="connsiteY43" fmla="*/ 848107 h 1731777"/>
              <a:gd name="connsiteX44" fmla="*/ 2372881 w 3442076"/>
              <a:gd name="connsiteY44" fmla="*/ 858238 h 1731777"/>
              <a:gd name="connsiteX45" fmla="*/ 2386258 w 3442076"/>
              <a:gd name="connsiteY45" fmla="*/ 868571 h 1731777"/>
              <a:gd name="connsiteX46" fmla="*/ 2399474 w 3442076"/>
              <a:gd name="connsiteY46" fmla="*/ 879107 h 1731777"/>
              <a:gd name="connsiteX47" fmla="*/ 2412523 w 3442076"/>
              <a:gd name="connsiteY47" fmla="*/ 889841 h 1731777"/>
              <a:gd name="connsiteX48" fmla="*/ 2425408 w 3442076"/>
              <a:gd name="connsiteY48" fmla="*/ 900774 h 1731777"/>
              <a:gd name="connsiteX49" fmla="*/ 2438120 w 3442076"/>
              <a:gd name="connsiteY49" fmla="*/ 911898 h 1731777"/>
              <a:gd name="connsiteX50" fmla="*/ 2450659 w 3442076"/>
              <a:gd name="connsiteY50" fmla="*/ 923214 h 1731777"/>
              <a:gd name="connsiteX51" fmla="*/ 2463027 w 3442076"/>
              <a:gd name="connsiteY51" fmla="*/ 934723 h 1731777"/>
              <a:gd name="connsiteX52" fmla="*/ 2475212 w 3442076"/>
              <a:gd name="connsiteY52" fmla="*/ 946414 h 1731777"/>
              <a:gd name="connsiteX53" fmla="*/ 2487221 w 3442076"/>
              <a:gd name="connsiteY53" fmla="*/ 958292 h 1731777"/>
              <a:gd name="connsiteX54" fmla="*/ 2499045 w 3442076"/>
              <a:gd name="connsiteY54" fmla="*/ 970351 h 1731777"/>
              <a:gd name="connsiteX55" fmla="*/ 2510688 w 3442076"/>
              <a:gd name="connsiteY55" fmla="*/ 982593 h 1731777"/>
              <a:gd name="connsiteX56" fmla="*/ 2522140 w 3442076"/>
              <a:gd name="connsiteY56" fmla="*/ 995008 h 1731777"/>
              <a:gd name="connsiteX57" fmla="*/ 2533402 w 3442076"/>
              <a:gd name="connsiteY57" fmla="*/ 1007599 h 1731777"/>
              <a:gd name="connsiteX58" fmla="*/ 2544473 w 3442076"/>
              <a:gd name="connsiteY58" fmla="*/ 1020361 h 1731777"/>
              <a:gd name="connsiteX59" fmla="*/ 2555350 w 3442076"/>
              <a:gd name="connsiteY59" fmla="*/ 1033295 h 1731777"/>
              <a:gd name="connsiteX60" fmla="*/ 2566030 w 3442076"/>
              <a:gd name="connsiteY60" fmla="*/ 1046396 h 1731777"/>
              <a:gd name="connsiteX61" fmla="*/ 2576508 w 3442076"/>
              <a:gd name="connsiteY61" fmla="*/ 1059659 h 1731777"/>
              <a:gd name="connsiteX62" fmla="*/ 2586785 w 3442076"/>
              <a:gd name="connsiteY62" fmla="*/ 1073084 h 1731777"/>
              <a:gd name="connsiteX63" fmla="*/ 2596860 w 3442076"/>
              <a:gd name="connsiteY63" fmla="*/ 1086673 h 1731777"/>
              <a:gd name="connsiteX64" fmla="*/ 2606726 w 3442076"/>
              <a:gd name="connsiteY64" fmla="*/ 1100415 h 1731777"/>
              <a:gd name="connsiteX65" fmla="*/ 2616384 w 3442076"/>
              <a:gd name="connsiteY65" fmla="*/ 1114313 h 1731777"/>
              <a:gd name="connsiteX66" fmla="*/ 2625832 w 3442076"/>
              <a:gd name="connsiteY66" fmla="*/ 1128364 h 1731777"/>
              <a:gd name="connsiteX67" fmla="*/ 2635064 w 3442076"/>
              <a:gd name="connsiteY67" fmla="*/ 1142562 h 1731777"/>
              <a:gd name="connsiteX68" fmla="*/ 2644082 w 3442076"/>
              <a:gd name="connsiteY68" fmla="*/ 1156911 h 1731777"/>
              <a:gd name="connsiteX69" fmla="*/ 2652881 w 3442076"/>
              <a:gd name="connsiteY69" fmla="*/ 1171402 h 1731777"/>
              <a:gd name="connsiteX70" fmla="*/ 2661462 w 3442076"/>
              <a:gd name="connsiteY70" fmla="*/ 1186039 h 1731777"/>
              <a:gd name="connsiteX71" fmla="*/ 2669819 w 3442076"/>
              <a:gd name="connsiteY71" fmla="*/ 1200813 h 1731777"/>
              <a:gd name="connsiteX72" fmla="*/ 2677952 w 3442076"/>
              <a:gd name="connsiteY72" fmla="*/ 1215726 h 1731777"/>
              <a:gd name="connsiteX73" fmla="*/ 2685857 w 3442076"/>
              <a:gd name="connsiteY73" fmla="*/ 1230774 h 1731777"/>
              <a:gd name="connsiteX74" fmla="*/ 2693535 w 3442076"/>
              <a:gd name="connsiteY74" fmla="*/ 1245956 h 1731777"/>
              <a:gd name="connsiteX75" fmla="*/ 2700981 w 3442076"/>
              <a:gd name="connsiteY75" fmla="*/ 1261269 h 1731777"/>
              <a:gd name="connsiteX76" fmla="*/ 2708194 w 3442076"/>
              <a:gd name="connsiteY76" fmla="*/ 1276710 h 1731777"/>
              <a:gd name="connsiteX77" fmla="*/ 2715172 w 3442076"/>
              <a:gd name="connsiteY77" fmla="*/ 1292279 h 1731777"/>
              <a:gd name="connsiteX78" fmla="*/ 2721912 w 3442076"/>
              <a:gd name="connsiteY78" fmla="*/ 1307971 h 1731777"/>
              <a:gd name="connsiteX79" fmla="*/ 2728414 w 3442076"/>
              <a:gd name="connsiteY79" fmla="*/ 1323788 h 1731777"/>
              <a:gd name="connsiteX80" fmla="*/ 2734672 w 3442076"/>
              <a:gd name="connsiteY80" fmla="*/ 1339720 h 1731777"/>
              <a:gd name="connsiteX81" fmla="*/ 2740689 w 3442076"/>
              <a:gd name="connsiteY81" fmla="*/ 1355776 h 1731777"/>
              <a:gd name="connsiteX82" fmla="*/ 2746459 w 3442076"/>
              <a:gd name="connsiteY82" fmla="*/ 1371946 h 1731777"/>
              <a:gd name="connsiteX83" fmla="*/ 2751982 w 3442076"/>
              <a:gd name="connsiteY83" fmla="*/ 1388229 h 1731777"/>
              <a:gd name="connsiteX84" fmla="*/ 2757255 w 3442076"/>
              <a:gd name="connsiteY84" fmla="*/ 1404627 h 1731777"/>
              <a:gd name="connsiteX85" fmla="*/ 2762276 w 3442076"/>
              <a:gd name="connsiteY85" fmla="*/ 1421136 h 1731777"/>
              <a:gd name="connsiteX86" fmla="*/ 2767043 w 3442076"/>
              <a:gd name="connsiteY86" fmla="*/ 1437753 h 1731777"/>
              <a:gd name="connsiteX87" fmla="*/ 2771554 w 3442076"/>
              <a:gd name="connsiteY87" fmla="*/ 1454479 h 1731777"/>
              <a:gd name="connsiteX88" fmla="*/ 2775806 w 3442076"/>
              <a:gd name="connsiteY88" fmla="*/ 1471307 h 1731777"/>
              <a:gd name="connsiteX89" fmla="*/ 2779799 w 3442076"/>
              <a:gd name="connsiteY89" fmla="*/ 1488244 h 1731777"/>
              <a:gd name="connsiteX90" fmla="*/ 2783529 w 3442076"/>
              <a:gd name="connsiteY90" fmla="*/ 1505281 h 1731777"/>
              <a:gd name="connsiteX91" fmla="*/ 2786995 w 3442076"/>
              <a:gd name="connsiteY91" fmla="*/ 1522421 h 1731777"/>
              <a:gd name="connsiteX92" fmla="*/ 2790193 w 3442076"/>
              <a:gd name="connsiteY92" fmla="*/ 1539659 h 1731777"/>
              <a:gd name="connsiteX93" fmla="*/ 2793123 w 3442076"/>
              <a:gd name="connsiteY93" fmla="*/ 1556996 h 1731777"/>
              <a:gd name="connsiteX94" fmla="*/ 2795781 w 3442076"/>
              <a:gd name="connsiteY94" fmla="*/ 1574431 h 1731777"/>
              <a:gd name="connsiteX95" fmla="*/ 2798166 w 3442076"/>
              <a:gd name="connsiteY95" fmla="*/ 1591961 h 1731777"/>
              <a:gd name="connsiteX96" fmla="*/ 2800274 w 3442076"/>
              <a:gd name="connsiteY96" fmla="*/ 1609588 h 1731777"/>
              <a:gd name="connsiteX97" fmla="*/ 2802104 w 3442076"/>
              <a:gd name="connsiteY97" fmla="*/ 1627307 h 1731777"/>
              <a:gd name="connsiteX98" fmla="*/ 2803654 w 3442076"/>
              <a:gd name="connsiteY98" fmla="*/ 1645118 h 1731777"/>
              <a:gd name="connsiteX99" fmla="*/ 2804920 w 3442076"/>
              <a:gd name="connsiteY99" fmla="*/ 1663023 h 1731777"/>
              <a:gd name="connsiteX100" fmla="*/ 2805899 w 3442076"/>
              <a:gd name="connsiteY100" fmla="*/ 1681016 h 1731777"/>
              <a:gd name="connsiteX101" fmla="*/ 2806591 w 3442076"/>
              <a:gd name="connsiteY101" fmla="*/ 1699102 h 1731777"/>
              <a:gd name="connsiteX102" fmla="*/ 2806991 w 3442076"/>
              <a:gd name="connsiteY102" fmla="*/ 1717274 h 1731777"/>
              <a:gd name="connsiteX103" fmla="*/ 2807063 w 3442076"/>
              <a:gd name="connsiteY103" fmla="*/ 1728998 h 1731777"/>
              <a:gd name="connsiteX104" fmla="*/ 3121179 w 3442076"/>
              <a:gd name="connsiteY104" fmla="*/ 1600316 h 1731777"/>
              <a:gd name="connsiteX105" fmla="*/ 3442076 w 3442076"/>
              <a:gd name="connsiteY105" fmla="*/ 1731777 h 1731777"/>
              <a:gd name="connsiteX106" fmla="*/ 3441804 w 3442076"/>
              <a:gd name="connsiteY106" fmla="*/ 1701838 h 1731777"/>
              <a:gd name="connsiteX107" fmla="*/ 3441070 w 3442076"/>
              <a:gd name="connsiteY107" fmla="*/ 1673379 h 1731777"/>
              <a:gd name="connsiteX108" fmla="*/ 3439879 w 3442076"/>
              <a:gd name="connsiteY108" fmla="*/ 1645023 h 1731777"/>
              <a:gd name="connsiteX109" fmla="*/ 3438233 w 3442076"/>
              <a:gd name="connsiteY109" fmla="*/ 1616769 h 1731777"/>
              <a:gd name="connsiteX110" fmla="*/ 3436136 w 3442076"/>
              <a:gd name="connsiteY110" fmla="*/ 1588628 h 1731777"/>
              <a:gd name="connsiteX111" fmla="*/ 3433591 w 3442076"/>
              <a:gd name="connsiteY111" fmla="*/ 1560600 h 1731777"/>
              <a:gd name="connsiteX112" fmla="*/ 3430601 w 3442076"/>
              <a:gd name="connsiteY112" fmla="*/ 1532693 h 1731777"/>
              <a:gd name="connsiteX113" fmla="*/ 3427171 w 3442076"/>
              <a:gd name="connsiteY113" fmla="*/ 1504912 h 1731777"/>
              <a:gd name="connsiteX114" fmla="*/ 3423302 w 3442076"/>
              <a:gd name="connsiteY114" fmla="*/ 1477258 h 1731777"/>
              <a:gd name="connsiteX115" fmla="*/ 3418999 w 3442076"/>
              <a:gd name="connsiteY115" fmla="*/ 1449739 h 1731777"/>
              <a:gd name="connsiteX116" fmla="*/ 3414265 w 3442076"/>
              <a:gd name="connsiteY116" fmla="*/ 1422358 h 1731777"/>
              <a:gd name="connsiteX117" fmla="*/ 3409104 w 3442076"/>
              <a:gd name="connsiteY117" fmla="*/ 1395120 h 1731777"/>
              <a:gd name="connsiteX118" fmla="*/ 3403519 w 3442076"/>
              <a:gd name="connsiteY118" fmla="*/ 1368031 h 1731777"/>
              <a:gd name="connsiteX119" fmla="*/ 3397514 w 3442076"/>
              <a:gd name="connsiteY119" fmla="*/ 1341094 h 1731777"/>
              <a:gd name="connsiteX120" fmla="*/ 3391094 w 3442076"/>
              <a:gd name="connsiteY120" fmla="*/ 1314315 h 1731777"/>
              <a:gd name="connsiteX121" fmla="*/ 3384259 w 3442076"/>
              <a:gd name="connsiteY121" fmla="*/ 1287691 h 1731777"/>
              <a:gd name="connsiteX122" fmla="*/ 3377016 w 3442076"/>
              <a:gd name="connsiteY122" fmla="*/ 1261238 h 1731777"/>
              <a:gd name="connsiteX123" fmla="*/ 3369367 w 3442076"/>
              <a:gd name="connsiteY123" fmla="*/ 1234951 h 1731777"/>
              <a:gd name="connsiteX124" fmla="*/ 3361318 w 3442076"/>
              <a:gd name="connsiteY124" fmla="*/ 1208839 h 1731777"/>
              <a:gd name="connsiteX125" fmla="*/ 3352870 w 3442076"/>
              <a:gd name="connsiteY125" fmla="*/ 1182905 h 1731777"/>
              <a:gd name="connsiteX126" fmla="*/ 3344028 w 3442076"/>
              <a:gd name="connsiteY126" fmla="*/ 1157150 h 1731777"/>
              <a:gd name="connsiteX127" fmla="*/ 3334795 w 3442076"/>
              <a:gd name="connsiteY127" fmla="*/ 1131582 h 1731777"/>
              <a:gd name="connsiteX128" fmla="*/ 3325177 w 3442076"/>
              <a:gd name="connsiteY128" fmla="*/ 1106205 h 1731777"/>
              <a:gd name="connsiteX129" fmla="*/ 3315174 w 3442076"/>
              <a:gd name="connsiteY129" fmla="*/ 1081017 h 1731777"/>
              <a:gd name="connsiteX130" fmla="*/ 3304794 w 3442076"/>
              <a:gd name="connsiteY130" fmla="*/ 1056031 h 1731777"/>
              <a:gd name="connsiteX131" fmla="*/ 3294037 w 3442076"/>
              <a:gd name="connsiteY131" fmla="*/ 1031243 h 1731777"/>
              <a:gd name="connsiteX132" fmla="*/ 3282910 w 3442076"/>
              <a:gd name="connsiteY132" fmla="*/ 1006661 h 1731777"/>
              <a:gd name="connsiteX133" fmla="*/ 3271414 w 3442076"/>
              <a:gd name="connsiteY133" fmla="*/ 982286 h 1731777"/>
              <a:gd name="connsiteX134" fmla="*/ 3259554 w 3442076"/>
              <a:gd name="connsiteY134" fmla="*/ 958125 h 1731777"/>
              <a:gd name="connsiteX135" fmla="*/ 3247334 w 3442076"/>
              <a:gd name="connsiteY135" fmla="*/ 934178 h 1731777"/>
              <a:gd name="connsiteX136" fmla="*/ 3234757 w 3442076"/>
              <a:gd name="connsiteY136" fmla="*/ 910450 h 1731777"/>
              <a:gd name="connsiteX137" fmla="*/ 3221827 w 3442076"/>
              <a:gd name="connsiteY137" fmla="*/ 886946 h 1731777"/>
              <a:gd name="connsiteX138" fmla="*/ 3208547 w 3442076"/>
              <a:gd name="connsiteY138" fmla="*/ 863667 h 1731777"/>
              <a:gd name="connsiteX139" fmla="*/ 3194922 w 3442076"/>
              <a:gd name="connsiteY139" fmla="*/ 840620 h 1731777"/>
              <a:gd name="connsiteX140" fmla="*/ 3180954 w 3442076"/>
              <a:gd name="connsiteY140" fmla="*/ 817804 h 1731777"/>
              <a:gd name="connsiteX141" fmla="*/ 3166649 w 3442076"/>
              <a:gd name="connsiteY141" fmla="*/ 795227 h 1731777"/>
              <a:gd name="connsiteX142" fmla="*/ 3152007 w 3442076"/>
              <a:gd name="connsiteY142" fmla="*/ 772886 h 1731777"/>
              <a:gd name="connsiteX143" fmla="*/ 3137035 w 3442076"/>
              <a:gd name="connsiteY143" fmla="*/ 750792 h 1731777"/>
              <a:gd name="connsiteX144" fmla="*/ 3121735 w 3442076"/>
              <a:gd name="connsiteY144" fmla="*/ 728944 h 1731777"/>
              <a:gd name="connsiteX145" fmla="*/ 3106110 w 3442076"/>
              <a:gd name="connsiteY145" fmla="*/ 707345 h 1731777"/>
              <a:gd name="connsiteX146" fmla="*/ 3090167 w 3442076"/>
              <a:gd name="connsiteY146" fmla="*/ 686003 h 1731777"/>
              <a:gd name="connsiteX147" fmla="*/ 3073903 w 3442076"/>
              <a:gd name="connsiteY147" fmla="*/ 664914 h 1731777"/>
              <a:gd name="connsiteX148" fmla="*/ 3057326 w 3442076"/>
              <a:gd name="connsiteY148" fmla="*/ 644086 h 1731777"/>
              <a:gd name="connsiteX149" fmla="*/ 3040440 w 3442076"/>
              <a:gd name="connsiteY149" fmla="*/ 623524 h 1731777"/>
              <a:gd name="connsiteX150" fmla="*/ 3023248 w 3442076"/>
              <a:gd name="connsiteY150" fmla="*/ 603229 h 1731777"/>
              <a:gd name="connsiteX151" fmla="*/ 3005750 w 3442076"/>
              <a:gd name="connsiteY151" fmla="*/ 583202 h 1731777"/>
              <a:gd name="connsiteX152" fmla="*/ 2987953 w 3442076"/>
              <a:gd name="connsiteY152" fmla="*/ 563449 h 1731777"/>
              <a:gd name="connsiteX153" fmla="*/ 2969858 w 3442076"/>
              <a:gd name="connsiteY153" fmla="*/ 543973 h 1731777"/>
              <a:gd name="connsiteX154" fmla="*/ 2951473 w 3442076"/>
              <a:gd name="connsiteY154" fmla="*/ 524780 h 1731777"/>
              <a:gd name="connsiteX155" fmla="*/ 2932795 w 3442076"/>
              <a:gd name="connsiteY155" fmla="*/ 505867 h 1731777"/>
              <a:gd name="connsiteX156" fmla="*/ 2913832 w 3442076"/>
              <a:gd name="connsiteY156" fmla="*/ 487243 h 1731777"/>
              <a:gd name="connsiteX157" fmla="*/ 2894583 w 3442076"/>
              <a:gd name="connsiteY157" fmla="*/ 468907 h 1731777"/>
              <a:gd name="connsiteX158" fmla="*/ 2875058 w 3442076"/>
              <a:gd name="connsiteY158" fmla="*/ 450868 h 1731777"/>
              <a:gd name="connsiteX159" fmla="*/ 2855254 w 3442076"/>
              <a:gd name="connsiteY159" fmla="*/ 433124 h 1731777"/>
              <a:gd name="connsiteX160" fmla="*/ 2835177 w 3442076"/>
              <a:gd name="connsiteY160" fmla="*/ 415681 h 1731777"/>
              <a:gd name="connsiteX161" fmla="*/ 2814833 w 3442076"/>
              <a:gd name="connsiteY161" fmla="*/ 398544 h 1731777"/>
              <a:gd name="connsiteX162" fmla="*/ 2794219 w 3442076"/>
              <a:gd name="connsiteY162" fmla="*/ 381712 h 1731777"/>
              <a:gd name="connsiteX163" fmla="*/ 2773344 w 3442076"/>
              <a:gd name="connsiteY163" fmla="*/ 365193 h 1731777"/>
              <a:gd name="connsiteX164" fmla="*/ 2752207 w 3442076"/>
              <a:gd name="connsiteY164" fmla="*/ 348986 h 1731777"/>
              <a:gd name="connsiteX165" fmla="*/ 2730815 w 3442076"/>
              <a:gd name="connsiteY165" fmla="*/ 333098 h 1731777"/>
              <a:gd name="connsiteX166" fmla="*/ 2709168 w 3442076"/>
              <a:gd name="connsiteY166" fmla="*/ 317531 h 1731777"/>
              <a:gd name="connsiteX167" fmla="*/ 2687273 w 3442076"/>
              <a:gd name="connsiteY167" fmla="*/ 302290 h 1731777"/>
              <a:gd name="connsiteX168" fmla="*/ 2665132 w 3442076"/>
              <a:gd name="connsiteY168" fmla="*/ 287377 h 1731777"/>
              <a:gd name="connsiteX169" fmla="*/ 2642745 w 3442076"/>
              <a:gd name="connsiteY169" fmla="*/ 272794 h 1731777"/>
              <a:gd name="connsiteX170" fmla="*/ 2620123 w 3442076"/>
              <a:gd name="connsiteY170" fmla="*/ 258550 h 1731777"/>
              <a:gd name="connsiteX171" fmla="*/ 2597263 w 3442076"/>
              <a:gd name="connsiteY171" fmla="*/ 244644 h 1731777"/>
              <a:gd name="connsiteX172" fmla="*/ 2574168 w 3442076"/>
              <a:gd name="connsiteY172" fmla="*/ 231079 h 1731777"/>
              <a:gd name="connsiteX173" fmla="*/ 2550847 w 3442076"/>
              <a:gd name="connsiteY173" fmla="*/ 217863 h 1731777"/>
              <a:gd name="connsiteX174" fmla="*/ 2527296 w 3442076"/>
              <a:gd name="connsiteY174" fmla="*/ 204994 h 1731777"/>
              <a:gd name="connsiteX175" fmla="*/ 2503528 w 3442076"/>
              <a:gd name="connsiteY175" fmla="*/ 192482 h 1731777"/>
              <a:gd name="connsiteX176" fmla="*/ 2479538 w 3442076"/>
              <a:gd name="connsiteY176" fmla="*/ 180326 h 1731777"/>
              <a:gd name="connsiteX177" fmla="*/ 2455336 w 3442076"/>
              <a:gd name="connsiteY177" fmla="*/ 168533 h 1731777"/>
              <a:gd name="connsiteX178" fmla="*/ 2430920 w 3442076"/>
              <a:gd name="connsiteY178" fmla="*/ 157103 h 1731777"/>
              <a:gd name="connsiteX179" fmla="*/ 2406296 w 3442076"/>
              <a:gd name="connsiteY179" fmla="*/ 146041 h 1731777"/>
              <a:gd name="connsiteX180" fmla="*/ 2381473 w 3442076"/>
              <a:gd name="connsiteY180" fmla="*/ 135355 h 1731777"/>
              <a:gd name="connsiteX181" fmla="*/ 2356444 w 3442076"/>
              <a:gd name="connsiteY181" fmla="*/ 125042 h 1731777"/>
              <a:gd name="connsiteX182" fmla="*/ 2331220 w 3442076"/>
              <a:gd name="connsiteY182" fmla="*/ 115109 h 1731777"/>
              <a:gd name="connsiteX183" fmla="*/ 2305808 w 3442076"/>
              <a:gd name="connsiteY183" fmla="*/ 105562 h 1731777"/>
              <a:gd name="connsiteX184" fmla="*/ 2280203 w 3442076"/>
              <a:gd name="connsiteY184" fmla="*/ 96400 h 1731777"/>
              <a:gd name="connsiteX185" fmla="*/ 2254416 w 3442076"/>
              <a:gd name="connsiteY185" fmla="*/ 87630 h 1731777"/>
              <a:gd name="connsiteX186" fmla="*/ 2228446 w 3442076"/>
              <a:gd name="connsiteY186" fmla="*/ 79255 h 1731777"/>
              <a:gd name="connsiteX187" fmla="*/ 2202303 w 3442076"/>
              <a:gd name="connsiteY187" fmla="*/ 71279 h 1731777"/>
              <a:gd name="connsiteX188" fmla="*/ 2175985 w 3442076"/>
              <a:gd name="connsiteY188" fmla="*/ 63705 h 1731777"/>
              <a:gd name="connsiteX189" fmla="*/ 2149501 w 3442076"/>
              <a:gd name="connsiteY189" fmla="*/ 56538 h 1731777"/>
              <a:gd name="connsiteX190" fmla="*/ 2122854 w 3442076"/>
              <a:gd name="connsiteY190" fmla="*/ 49780 h 1731777"/>
              <a:gd name="connsiteX191" fmla="*/ 2096042 w 3442076"/>
              <a:gd name="connsiteY191" fmla="*/ 43435 h 1731777"/>
              <a:gd name="connsiteX192" fmla="*/ 2069084 w 3442076"/>
              <a:gd name="connsiteY192" fmla="*/ 37509 h 1731777"/>
              <a:gd name="connsiteX193" fmla="*/ 2041967 w 3442076"/>
              <a:gd name="connsiteY193" fmla="*/ 32002 h 1731777"/>
              <a:gd name="connsiteX194" fmla="*/ 2014709 w 3442076"/>
              <a:gd name="connsiteY194" fmla="*/ 26920 h 1731777"/>
              <a:gd name="connsiteX195" fmla="*/ 1987307 w 3442076"/>
              <a:gd name="connsiteY195" fmla="*/ 22266 h 1731777"/>
              <a:gd name="connsiteX196" fmla="*/ 1959769 w 3442076"/>
              <a:gd name="connsiteY196" fmla="*/ 18043 h 1731777"/>
              <a:gd name="connsiteX197" fmla="*/ 1932101 w 3442076"/>
              <a:gd name="connsiteY197" fmla="*/ 14256 h 1731777"/>
              <a:gd name="connsiteX198" fmla="*/ 1904300 w 3442076"/>
              <a:gd name="connsiteY198" fmla="*/ 10906 h 1731777"/>
              <a:gd name="connsiteX199" fmla="*/ 1876381 w 3442076"/>
              <a:gd name="connsiteY199" fmla="*/ 7999 h 1731777"/>
              <a:gd name="connsiteX200" fmla="*/ 1848343 w 3442076"/>
              <a:gd name="connsiteY200" fmla="*/ 5536 h 1731777"/>
              <a:gd name="connsiteX201" fmla="*/ 1820191 w 3442076"/>
              <a:gd name="connsiteY201" fmla="*/ 3521 h 1731777"/>
              <a:gd name="connsiteX202" fmla="*/ 1791931 w 3442076"/>
              <a:gd name="connsiteY202" fmla="*/ 1959 h 1731777"/>
              <a:gd name="connsiteX203" fmla="*/ 1763565 w 3442076"/>
              <a:gd name="connsiteY203" fmla="*/ 850 h 1731777"/>
              <a:gd name="connsiteX204" fmla="*/ 1709124 w 3442076"/>
              <a:gd name="connsiteY204" fmla="*/ 0 h 1731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3442076" h="1731777">
                <a:moveTo>
                  <a:pt x="1709124" y="0"/>
                </a:moveTo>
                <a:lnTo>
                  <a:pt x="129319" y="0"/>
                </a:lnTo>
                <a:lnTo>
                  <a:pt x="0" y="315668"/>
                </a:lnTo>
                <a:lnTo>
                  <a:pt x="130820" y="635000"/>
                </a:lnTo>
                <a:lnTo>
                  <a:pt x="1709124" y="635000"/>
                </a:lnTo>
                <a:lnTo>
                  <a:pt x="1748132" y="635663"/>
                </a:lnTo>
                <a:lnTo>
                  <a:pt x="1766208" y="636437"/>
                </a:lnTo>
                <a:lnTo>
                  <a:pt x="1784194" y="637500"/>
                </a:lnTo>
                <a:lnTo>
                  <a:pt x="1802088" y="638849"/>
                </a:lnTo>
                <a:lnTo>
                  <a:pt x="1819888" y="640481"/>
                </a:lnTo>
                <a:lnTo>
                  <a:pt x="1837596" y="642393"/>
                </a:lnTo>
                <a:lnTo>
                  <a:pt x="1855203" y="644582"/>
                </a:lnTo>
                <a:lnTo>
                  <a:pt x="1872719" y="647048"/>
                </a:lnTo>
                <a:lnTo>
                  <a:pt x="1890134" y="649787"/>
                </a:lnTo>
                <a:lnTo>
                  <a:pt x="1907450" y="652796"/>
                </a:lnTo>
                <a:lnTo>
                  <a:pt x="1924668" y="656074"/>
                </a:lnTo>
                <a:lnTo>
                  <a:pt x="1941780" y="659617"/>
                </a:lnTo>
                <a:lnTo>
                  <a:pt x="1958796" y="663426"/>
                </a:lnTo>
                <a:lnTo>
                  <a:pt x="1975701" y="667495"/>
                </a:lnTo>
                <a:lnTo>
                  <a:pt x="1992505" y="671824"/>
                </a:lnTo>
                <a:lnTo>
                  <a:pt x="2009201" y="676411"/>
                </a:lnTo>
                <a:lnTo>
                  <a:pt x="2025786" y="681252"/>
                </a:lnTo>
                <a:lnTo>
                  <a:pt x="2042263" y="686347"/>
                </a:lnTo>
                <a:lnTo>
                  <a:pt x="2058626" y="691693"/>
                </a:lnTo>
                <a:lnTo>
                  <a:pt x="2074877" y="697288"/>
                </a:lnTo>
                <a:lnTo>
                  <a:pt x="2091010" y="703129"/>
                </a:lnTo>
                <a:lnTo>
                  <a:pt x="2107030" y="709217"/>
                </a:lnTo>
                <a:lnTo>
                  <a:pt x="2122927" y="715545"/>
                </a:lnTo>
                <a:lnTo>
                  <a:pt x="2138701" y="722114"/>
                </a:lnTo>
                <a:lnTo>
                  <a:pt x="2154358" y="728924"/>
                </a:lnTo>
                <a:lnTo>
                  <a:pt x="2169884" y="735968"/>
                </a:lnTo>
                <a:lnTo>
                  <a:pt x="2185284" y="743247"/>
                </a:lnTo>
                <a:lnTo>
                  <a:pt x="2200557" y="750760"/>
                </a:lnTo>
                <a:lnTo>
                  <a:pt x="2215695" y="758501"/>
                </a:lnTo>
                <a:lnTo>
                  <a:pt x="2230703" y="766472"/>
                </a:lnTo>
                <a:lnTo>
                  <a:pt x="2245569" y="774666"/>
                </a:lnTo>
                <a:lnTo>
                  <a:pt x="2260301" y="783087"/>
                </a:lnTo>
                <a:lnTo>
                  <a:pt x="2274890" y="791727"/>
                </a:lnTo>
                <a:lnTo>
                  <a:pt x="2289338" y="800589"/>
                </a:lnTo>
                <a:lnTo>
                  <a:pt x="2303642" y="809668"/>
                </a:lnTo>
                <a:lnTo>
                  <a:pt x="2317792" y="818960"/>
                </a:lnTo>
                <a:lnTo>
                  <a:pt x="2331797" y="828466"/>
                </a:lnTo>
                <a:lnTo>
                  <a:pt x="2345648" y="838182"/>
                </a:lnTo>
                <a:lnTo>
                  <a:pt x="2359342" y="848107"/>
                </a:lnTo>
                <a:lnTo>
                  <a:pt x="2372881" y="858238"/>
                </a:lnTo>
                <a:lnTo>
                  <a:pt x="2386258" y="868571"/>
                </a:lnTo>
                <a:lnTo>
                  <a:pt x="2399474" y="879107"/>
                </a:lnTo>
                <a:lnTo>
                  <a:pt x="2412523" y="889841"/>
                </a:lnTo>
                <a:lnTo>
                  <a:pt x="2425408" y="900774"/>
                </a:lnTo>
                <a:lnTo>
                  <a:pt x="2438120" y="911898"/>
                </a:lnTo>
                <a:lnTo>
                  <a:pt x="2450659" y="923214"/>
                </a:lnTo>
                <a:lnTo>
                  <a:pt x="2463027" y="934723"/>
                </a:lnTo>
                <a:lnTo>
                  <a:pt x="2475212" y="946414"/>
                </a:lnTo>
                <a:lnTo>
                  <a:pt x="2487221" y="958292"/>
                </a:lnTo>
                <a:lnTo>
                  <a:pt x="2499045" y="970351"/>
                </a:lnTo>
                <a:lnTo>
                  <a:pt x="2510688" y="982593"/>
                </a:lnTo>
                <a:lnTo>
                  <a:pt x="2522140" y="995008"/>
                </a:lnTo>
                <a:lnTo>
                  <a:pt x="2533402" y="1007599"/>
                </a:lnTo>
                <a:lnTo>
                  <a:pt x="2544473" y="1020361"/>
                </a:lnTo>
                <a:lnTo>
                  <a:pt x="2555350" y="1033295"/>
                </a:lnTo>
                <a:lnTo>
                  <a:pt x="2566030" y="1046396"/>
                </a:lnTo>
                <a:lnTo>
                  <a:pt x="2576508" y="1059659"/>
                </a:lnTo>
                <a:lnTo>
                  <a:pt x="2586785" y="1073084"/>
                </a:lnTo>
                <a:lnTo>
                  <a:pt x="2596860" y="1086673"/>
                </a:lnTo>
                <a:lnTo>
                  <a:pt x="2606726" y="1100415"/>
                </a:lnTo>
                <a:lnTo>
                  <a:pt x="2616384" y="1114313"/>
                </a:lnTo>
                <a:lnTo>
                  <a:pt x="2625832" y="1128364"/>
                </a:lnTo>
                <a:lnTo>
                  <a:pt x="2635064" y="1142562"/>
                </a:lnTo>
                <a:lnTo>
                  <a:pt x="2644082" y="1156911"/>
                </a:lnTo>
                <a:lnTo>
                  <a:pt x="2652881" y="1171402"/>
                </a:lnTo>
                <a:lnTo>
                  <a:pt x="2661462" y="1186039"/>
                </a:lnTo>
                <a:lnTo>
                  <a:pt x="2669819" y="1200813"/>
                </a:lnTo>
                <a:lnTo>
                  <a:pt x="2677952" y="1215726"/>
                </a:lnTo>
                <a:lnTo>
                  <a:pt x="2685857" y="1230774"/>
                </a:lnTo>
                <a:lnTo>
                  <a:pt x="2693535" y="1245956"/>
                </a:lnTo>
                <a:lnTo>
                  <a:pt x="2700981" y="1261269"/>
                </a:lnTo>
                <a:lnTo>
                  <a:pt x="2708194" y="1276710"/>
                </a:lnTo>
                <a:lnTo>
                  <a:pt x="2715172" y="1292279"/>
                </a:lnTo>
                <a:lnTo>
                  <a:pt x="2721912" y="1307971"/>
                </a:lnTo>
                <a:lnTo>
                  <a:pt x="2728414" y="1323788"/>
                </a:lnTo>
                <a:lnTo>
                  <a:pt x="2734672" y="1339720"/>
                </a:lnTo>
                <a:lnTo>
                  <a:pt x="2740689" y="1355776"/>
                </a:lnTo>
                <a:lnTo>
                  <a:pt x="2746459" y="1371946"/>
                </a:lnTo>
                <a:lnTo>
                  <a:pt x="2751982" y="1388229"/>
                </a:lnTo>
                <a:lnTo>
                  <a:pt x="2757255" y="1404627"/>
                </a:lnTo>
                <a:lnTo>
                  <a:pt x="2762276" y="1421136"/>
                </a:lnTo>
                <a:lnTo>
                  <a:pt x="2767043" y="1437753"/>
                </a:lnTo>
                <a:lnTo>
                  <a:pt x="2771554" y="1454479"/>
                </a:lnTo>
                <a:lnTo>
                  <a:pt x="2775806" y="1471307"/>
                </a:lnTo>
                <a:lnTo>
                  <a:pt x="2779799" y="1488244"/>
                </a:lnTo>
                <a:lnTo>
                  <a:pt x="2783529" y="1505281"/>
                </a:lnTo>
                <a:lnTo>
                  <a:pt x="2786995" y="1522421"/>
                </a:lnTo>
                <a:lnTo>
                  <a:pt x="2790193" y="1539659"/>
                </a:lnTo>
                <a:lnTo>
                  <a:pt x="2793123" y="1556996"/>
                </a:lnTo>
                <a:lnTo>
                  <a:pt x="2795781" y="1574431"/>
                </a:lnTo>
                <a:lnTo>
                  <a:pt x="2798166" y="1591961"/>
                </a:lnTo>
                <a:lnTo>
                  <a:pt x="2800274" y="1609588"/>
                </a:lnTo>
                <a:lnTo>
                  <a:pt x="2802104" y="1627307"/>
                </a:lnTo>
                <a:lnTo>
                  <a:pt x="2803654" y="1645118"/>
                </a:lnTo>
                <a:lnTo>
                  <a:pt x="2804920" y="1663023"/>
                </a:lnTo>
                <a:lnTo>
                  <a:pt x="2805899" y="1681016"/>
                </a:lnTo>
                <a:lnTo>
                  <a:pt x="2806591" y="1699102"/>
                </a:lnTo>
                <a:lnTo>
                  <a:pt x="2806991" y="1717274"/>
                </a:lnTo>
                <a:lnTo>
                  <a:pt x="2807063" y="1728998"/>
                </a:lnTo>
                <a:lnTo>
                  <a:pt x="3121179" y="1600316"/>
                </a:lnTo>
                <a:lnTo>
                  <a:pt x="3442076" y="1731777"/>
                </a:lnTo>
                <a:lnTo>
                  <a:pt x="3441804" y="1701838"/>
                </a:lnTo>
                <a:lnTo>
                  <a:pt x="3441070" y="1673379"/>
                </a:lnTo>
                <a:lnTo>
                  <a:pt x="3439879" y="1645023"/>
                </a:lnTo>
                <a:lnTo>
                  <a:pt x="3438233" y="1616769"/>
                </a:lnTo>
                <a:lnTo>
                  <a:pt x="3436136" y="1588628"/>
                </a:lnTo>
                <a:lnTo>
                  <a:pt x="3433591" y="1560600"/>
                </a:lnTo>
                <a:lnTo>
                  <a:pt x="3430601" y="1532693"/>
                </a:lnTo>
                <a:lnTo>
                  <a:pt x="3427171" y="1504912"/>
                </a:lnTo>
                <a:lnTo>
                  <a:pt x="3423302" y="1477258"/>
                </a:lnTo>
                <a:lnTo>
                  <a:pt x="3418999" y="1449739"/>
                </a:lnTo>
                <a:lnTo>
                  <a:pt x="3414265" y="1422358"/>
                </a:lnTo>
                <a:lnTo>
                  <a:pt x="3409104" y="1395120"/>
                </a:lnTo>
                <a:lnTo>
                  <a:pt x="3403519" y="1368031"/>
                </a:lnTo>
                <a:lnTo>
                  <a:pt x="3397514" y="1341094"/>
                </a:lnTo>
                <a:lnTo>
                  <a:pt x="3391094" y="1314315"/>
                </a:lnTo>
                <a:lnTo>
                  <a:pt x="3384259" y="1287691"/>
                </a:lnTo>
                <a:lnTo>
                  <a:pt x="3377016" y="1261238"/>
                </a:lnTo>
                <a:lnTo>
                  <a:pt x="3369367" y="1234951"/>
                </a:lnTo>
                <a:lnTo>
                  <a:pt x="3361318" y="1208839"/>
                </a:lnTo>
                <a:lnTo>
                  <a:pt x="3352870" y="1182905"/>
                </a:lnTo>
                <a:lnTo>
                  <a:pt x="3344028" y="1157150"/>
                </a:lnTo>
                <a:lnTo>
                  <a:pt x="3334795" y="1131582"/>
                </a:lnTo>
                <a:lnTo>
                  <a:pt x="3325177" y="1106205"/>
                </a:lnTo>
                <a:lnTo>
                  <a:pt x="3315174" y="1081017"/>
                </a:lnTo>
                <a:lnTo>
                  <a:pt x="3304794" y="1056031"/>
                </a:lnTo>
                <a:lnTo>
                  <a:pt x="3294037" y="1031243"/>
                </a:lnTo>
                <a:lnTo>
                  <a:pt x="3282910" y="1006661"/>
                </a:lnTo>
                <a:lnTo>
                  <a:pt x="3271414" y="982286"/>
                </a:lnTo>
                <a:lnTo>
                  <a:pt x="3259554" y="958125"/>
                </a:lnTo>
                <a:lnTo>
                  <a:pt x="3247334" y="934178"/>
                </a:lnTo>
                <a:lnTo>
                  <a:pt x="3234757" y="910450"/>
                </a:lnTo>
                <a:lnTo>
                  <a:pt x="3221827" y="886946"/>
                </a:lnTo>
                <a:lnTo>
                  <a:pt x="3208547" y="863667"/>
                </a:lnTo>
                <a:lnTo>
                  <a:pt x="3194922" y="840620"/>
                </a:lnTo>
                <a:lnTo>
                  <a:pt x="3180954" y="817804"/>
                </a:lnTo>
                <a:lnTo>
                  <a:pt x="3166649" y="795227"/>
                </a:lnTo>
                <a:lnTo>
                  <a:pt x="3152007" y="772886"/>
                </a:lnTo>
                <a:lnTo>
                  <a:pt x="3137035" y="750792"/>
                </a:lnTo>
                <a:lnTo>
                  <a:pt x="3121735" y="728944"/>
                </a:lnTo>
                <a:lnTo>
                  <a:pt x="3106110" y="707345"/>
                </a:lnTo>
                <a:lnTo>
                  <a:pt x="3090167" y="686003"/>
                </a:lnTo>
                <a:lnTo>
                  <a:pt x="3073903" y="664914"/>
                </a:lnTo>
                <a:lnTo>
                  <a:pt x="3057326" y="644086"/>
                </a:lnTo>
                <a:lnTo>
                  <a:pt x="3040440" y="623524"/>
                </a:lnTo>
                <a:lnTo>
                  <a:pt x="3023248" y="603229"/>
                </a:lnTo>
                <a:lnTo>
                  <a:pt x="3005750" y="583202"/>
                </a:lnTo>
                <a:lnTo>
                  <a:pt x="2987953" y="563449"/>
                </a:lnTo>
                <a:lnTo>
                  <a:pt x="2969858" y="543973"/>
                </a:lnTo>
                <a:lnTo>
                  <a:pt x="2951473" y="524780"/>
                </a:lnTo>
                <a:lnTo>
                  <a:pt x="2932795" y="505867"/>
                </a:lnTo>
                <a:lnTo>
                  <a:pt x="2913832" y="487243"/>
                </a:lnTo>
                <a:lnTo>
                  <a:pt x="2894583" y="468907"/>
                </a:lnTo>
                <a:lnTo>
                  <a:pt x="2875058" y="450868"/>
                </a:lnTo>
                <a:lnTo>
                  <a:pt x="2855254" y="433124"/>
                </a:lnTo>
                <a:lnTo>
                  <a:pt x="2835177" y="415681"/>
                </a:lnTo>
                <a:lnTo>
                  <a:pt x="2814833" y="398544"/>
                </a:lnTo>
                <a:lnTo>
                  <a:pt x="2794219" y="381712"/>
                </a:lnTo>
                <a:lnTo>
                  <a:pt x="2773344" y="365193"/>
                </a:lnTo>
                <a:lnTo>
                  <a:pt x="2752207" y="348986"/>
                </a:lnTo>
                <a:lnTo>
                  <a:pt x="2730815" y="333098"/>
                </a:lnTo>
                <a:lnTo>
                  <a:pt x="2709168" y="317531"/>
                </a:lnTo>
                <a:lnTo>
                  <a:pt x="2687273" y="302290"/>
                </a:lnTo>
                <a:lnTo>
                  <a:pt x="2665132" y="287377"/>
                </a:lnTo>
                <a:lnTo>
                  <a:pt x="2642745" y="272794"/>
                </a:lnTo>
                <a:lnTo>
                  <a:pt x="2620123" y="258550"/>
                </a:lnTo>
                <a:lnTo>
                  <a:pt x="2597263" y="244644"/>
                </a:lnTo>
                <a:lnTo>
                  <a:pt x="2574168" y="231079"/>
                </a:lnTo>
                <a:lnTo>
                  <a:pt x="2550847" y="217863"/>
                </a:lnTo>
                <a:lnTo>
                  <a:pt x="2527296" y="204994"/>
                </a:lnTo>
                <a:lnTo>
                  <a:pt x="2503528" y="192482"/>
                </a:lnTo>
                <a:lnTo>
                  <a:pt x="2479538" y="180326"/>
                </a:lnTo>
                <a:lnTo>
                  <a:pt x="2455336" y="168533"/>
                </a:lnTo>
                <a:lnTo>
                  <a:pt x="2430920" y="157103"/>
                </a:lnTo>
                <a:lnTo>
                  <a:pt x="2406296" y="146041"/>
                </a:lnTo>
                <a:lnTo>
                  <a:pt x="2381473" y="135355"/>
                </a:lnTo>
                <a:lnTo>
                  <a:pt x="2356444" y="125042"/>
                </a:lnTo>
                <a:lnTo>
                  <a:pt x="2331220" y="115109"/>
                </a:lnTo>
                <a:lnTo>
                  <a:pt x="2305808" y="105562"/>
                </a:lnTo>
                <a:lnTo>
                  <a:pt x="2280203" y="96400"/>
                </a:lnTo>
                <a:lnTo>
                  <a:pt x="2254416" y="87630"/>
                </a:lnTo>
                <a:lnTo>
                  <a:pt x="2228446" y="79255"/>
                </a:lnTo>
                <a:lnTo>
                  <a:pt x="2202303" y="71279"/>
                </a:lnTo>
                <a:lnTo>
                  <a:pt x="2175985" y="63705"/>
                </a:lnTo>
                <a:lnTo>
                  <a:pt x="2149501" y="56538"/>
                </a:lnTo>
                <a:lnTo>
                  <a:pt x="2122854" y="49780"/>
                </a:lnTo>
                <a:lnTo>
                  <a:pt x="2096042" y="43435"/>
                </a:lnTo>
                <a:lnTo>
                  <a:pt x="2069084" y="37509"/>
                </a:lnTo>
                <a:lnTo>
                  <a:pt x="2041967" y="32002"/>
                </a:lnTo>
                <a:lnTo>
                  <a:pt x="2014709" y="26920"/>
                </a:lnTo>
                <a:lnTo>
                  <a:pt x="1987307" y="22266"/>
                </a:lnTo>
                <a:lnTo>
                  <a:pt x="1959769" y="18043"/>
                </a:lnTo>
                <a:lnTo>
                  <a:pt x="1932101" y="14256"/>
                </a:lnTo>
                <a:lnTo>
                  <a:pt x="1904300" y="10906"/>
                </a:lnTo>
                <a:lnTo>
                  <a:pt x="1876381" y="7999"/>
                </a:lnTo>
                <a:lnTo>
                  <a:pt x="1848343" y="5536"/>
                </a:lnTo>
                <a:lnTo>
                  <a:pt x="1820191" y="3521"/>
                </a:lnTo>
                <a:lnTo>
                  <a:pt x="1791931" y="1959"/>
                </a:lnTo>
                <a:lnTo>
                  <a:pt x="1763565" y="850"/>
                </a:lnTo>
                <a:lnTo>
                  <a:pt x="170912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9" name="任意多边形: 形状 218"/>
          <p:cNvSpPr/>
          <p:nvPr/>
        </p:nvSpPr>
        <p:spPr>
          <a:xfrm flipH="1">
            <a:off x="4450705" y="1957404"/>
            <a:ext cx="3293189" cy="635000"/>
          </a:xfrm>
          <a:custGeom>
            <a:avLst/>
            <a:gdLst>
              <a:gd name="connsiteX0" fmla="*/ 3291688 w 3293189"/>
              <a:gd name="connsiteY0" fmla="*/ 0 h 635000"/>
              <a:gd name="connsiteX1" fmla="*/ 129319 w 3293189"/>
              <a:gd name="connsiteY1" fmla="*/ 0 h 635000"/>
              <a:gd name="connsiteX2" fmla="*/ 0 w 3293189"/>
              <a:gd name="connsiteY2" fmla="*/ 315668 h 635000"/>
              <a:gd name="connsiteX3" fmla="*/ 130820 w 3293189"/>
              <a:gd name="connsiteY3" fmla="*/ 635000 h 635000"/>
              <a:gd name="connsiteX4" fmla="*/ 3293189 w 3293189"/>
              <a:gd name="connsiteY4" fmla="*/ 635000 h 635000"/>
              <a:gd name="connsiteX5" fmla="*/ 3162369 w 3293189"/>
              <a:gd name="connsiteY5" fmla="*/ 315668 h 635000"/>
              <a:gd name="connsiteX6" fmla="*/ 3291688 w 3293189"/>
              <a:gd name="connsiteY6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3189" h="635000">
                <a:moveTo>
                  <a:pt x="3291688" y="0"/>
                </a:moveTo>
                <a:lnTo>
                  <a:pt x="129319" y="0"/>
                </a:lnTo>
                <a:lnTo>
                  <a:pt x="0" y="315668"/>
                </a:lnTo>
                <a:lnTo>
                  <a:pt x="130820" y="635000"/>
                </a:lnTo>
                <a:lnTo>
                  <a:pt x="3293189" y="635000"/>
                </a:lnTo>
                <a:lnTo>
                  <a:pt x="3162369" y="315668"/>
                </a:lnTo>
                <a:lnTo>
                  <a:pt x="329168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8" name="任意多边形: 形状 217"/>
          <p:cNvSpPr/>
          <p:nvPr/>
        </p:nvSpPr>
        <p:spPr>
          <a:xfrm flipH="1">
            <a:off x="7744963" y="1957403"/>
            <a:ext cx="3434703" cy="1733732"/>
          </a:xfrm>
          <a:custGeom>
            <a:avLst/>
            <a:gdLst>
              <a:gd name="connsiteX0" fmla="*/ 3433202 w 3434703"/>
              <a:gd name="connsiteY0" fmla="*/ 0 h 1733732"/>
              <a:gd name="connsiteX1" fmla="*/ 1728184 w 3434703"/>
              <a:gd name="connsiteY1" fmla="*/ 0 h 1733732"/>
              <a:gd name="connsiteX2" fmla="*/ 1697054 w 3434703"/>
              <a:gd name="connsiteY2" fmla="*/ 284 h 1733732"/>
              <a:gd name="connsiteX3" fmla="*/ 1668594 w 3434703"/>
              <a:gd name="connsiteY3" fmla="*/ 1017 h 1733732"/>
              <a:gd name="connsiteX4" fmla="*/ 1640236 w 3434703"/>
              <a:gd name="connsiteY4" fmla="*/ 2209 h 1733732"/>
              <a:gd name="connsiteX5" fmla="*/ 1611986 w 3434703"/>
              <a:gd name="connsiteY5" fmla="*/ 3854 h 1733732"/>
              <a:gd name="connsiteX6" fmla="*/ 1583842 w 3434703"/>
              <a:gd name="connsiteY6" fmla="*/ 5951 h 1733732"/>
              <a:gd name="connsiteX7" fmla="*/ 1555817 w 3434703"/>
              <a:gd name="connsiteY7" fmla="*/ 8496 h 1733732"/>
              <a:gd name="connsiteX8" fmla="*/ 1527907 w 3434703"/>
              <a:gd name="connsiteY8" fmla="*/ 11486 h 1733732"/>
              <a:gd name="connsiteX9" fmla="*/ 1500126 w 3434703"/>
              <a:gd name="connsiteY9" fmla="*/ 14916 h 1733732"/>
              <a:gd name="connsiteX10" fmla="*/ 1472474 w 3434703"/>
              <a:gd name="connsiteY10" fmla="*/ 18785 h 1733732"/>
              <a:gd name="connsiteX11" fmla="*/ 1444954 w 3434703"/>
              <a:gd name="connsiteY11" fmla="*/ 23088 h 1733732"/>
              <a:gd name="connsiteX12" fmla="*/ 1417575 w 3434703"/>
              <a:gd name="connsiteY12" fmla="*/ 27822 h 1733732"/>
              <a:gd name="connsiteX13" fmla="*/ 1390336 w 3434703"/>
              <a:gd name="connsiteY13" fmla="*/ 32983 h 1733732"/>
              <a:gd name="connsiteX14" fmla="*/ 1363246 w 3434703"/>
              <a:gd name="connsiteY14" fmla="*/ 38568 h 1733732"/>
              <a:gd name="connsiteX15" fmla="*/ 1336308 w 3434703"/>
              <a:gd name="connsiteY15" fmla="*/ 44573 h 1733732"/>
              <a:gd name="connsiteX16" fmla="*/ 1309529 w 3434703"/>
              <a:gd name="connsiteY16" fmla="*/ 50994 h 1733732"/>
              <a:gd name="connsiteX17" fmla="*/ 1282907 w 3434703"/>
              <a:gd name="connsiteY17" fmla="*/ 57828 h 1733732"/>
              <a:gd name="connsiteX18" fmla="*/ 1256451 w 3434703"/>
              <a:gd name="connsiteY18" fmla="*/ 65071 h 1733732"/>
              <a:gd name="connsiteX19" fmla="*/ 1230167 w 3434703"/>
              <a:gd name="connsiteY19" fmla="*/ 72719 h 1733732"/>
              <a:gd name="connsiteX20" fmla="*/ 1204053 w 3434703"/>
              <a:gd name="connsiteY20" fmla="*/ 80770 h 1733732"/>
              <a:gd name="connsiteX21" fmla="*/ 1178118 w 3434703"/>
              <a:gd name="connsiteY21" fmla="*/ 89218 h 1733732"/>
              <a:gd name="connsiteX22" fmla="*/ 1152368 w 3434703"/>
              <a:gd name="connsiteY22" fmla="*/ 98059 h 1733732"/>
              <a:gd name="connsiteX23" fmla="*/ 1126799 w 3434703"/>
              <a:gd name="connsiteY23" fmla="*/ 107291 h 1733732"/>
              <a:gd name="connsiteX24" fmla="*/ 1101416 w 3434703"/>
              <a:gd name="connsiteY24" fmla="*/ 116911 h 1733732"/>
              <a:gd name="connsiteX25" fmla="*/ 1076236 w 3434703"/>
              <a:gd name="connsiteY25" fmla="*/ 126912 h 1733732"/>
              <a:gd name="connsiteX26" fmla="*/ 1051246 w 3434703"/>
              <a:gd name="connsiteY26" fmla="*/ 137293 h 1733732"/>
              <a:gd name="connsiteX27" fmla="*/ 1026460 w 3434703"/>
              <a:gd name="connsiteY27" fmla="*/ 148049 h 1733732"/>
              <a:gd name="connsiteX28" fmla="*/ 1001871 w 3434703"/>
              <a:gd name="connsiteY28" fmla="*/ 159179 h 1733732"/>
              <a:gd name="connsiteX29" fmla="*/ 977504 w 3434703"/>
              <a:gd name="connsiteY29" fmla="*/ 170672 h 1733732"/>
              <a:gd name="connsiteX30" fmla="*/ 953338 w 3434703"/>
              <a:gd name="connsiteY30" fmla="*/ 182534 h 1733732"/>
              <a:gd name="connsiteX31" fmla="*/ 929395 w 3434703"/>
              <a:gd name="connsiteY31" fmla="*/ 194752 h 1733732"/>
              <a:gd name="connsiteX32" fmla="*/ 905666 w 3434703"/>
              <a:gd name="connsiteY32" fmla="*/ 207330 h 1733732"/>
              <a:gd name="connsiteX33" fmla="*/ 882162 w 3434703"/>
              <a:gd name="connsiteY33" fmla="*/ 220260 h 1733732"/>
              <a:gd name="connsiteX34" fmla="*/ 858882 w 3434703"/>
              <a:gd name="connsiteY34" fmla="*/ 233540 h 1733732"/>
              <a:gd name="connsiteX35" fmla="*/ 835835 w 3434703"/>
              <a:gd name="connsiteY35" fmla="*/ 247165 h 1733732"/>
              <a:gd name="connsiteX36" fmla="*/ 813020 w 3434703"/>
              <a:gd name="connsiteY36" fmla="*/ 261132 h 1733732"/>
              <a:gd name="connsiteX37" fmla="*/ 790435 w 3434703"/>
              <a:gd name="connsiteY37" fmla="*/ 275442 h 1733732"/>
              <a:gd name="connsiteX38" fmla="*/ 768107 w 3434703"/>
              <a:gd name="connsiteY38" fmla="*/ 290076 h 1733732"/>
              <a:gd name="connsiteX39" fmla="*/ 746003 w 3434703"/>
              <a:gd name="connsiteY39" fmla="*/ 305054 h 1733732"/>
              <a:gd name="connsiteX40" fmla="*/ 724163 w 3434703"/>
              <a:gd name="connsiteY40" fmla="*/ 320349 h 1733732"/>
              <a:gd name="connsiteX41" fmla="*/ 702559 w 3434703"/>
              <a:gd name="connsiteY41" fmla="*/ 335978 h 1733732"/>
              <a:gd name="connsiteX42" fmla="*/ 681217 w 3434703"/>
              <a:gd name="connsiteY42" fmla="*/ 351921 h 1733732"/>
              <a:gd name="connsiteX43" fmla="*/ 660128 w 3434703"/>
              <a:gd name="connsiteY43" fmla="*/ 368185 h 1733732"/>
              <a:gd name="connsiteX44" fmla="*/ 639302 w 3434703"/>
              <a:gd name="connsiteY44" fmla="*/ 384761 h 1733732"/>
              <a:gd name="connsiteX45" fmla="*/ 618739 w 3434703"/>
              <a:gd name="connsiteY45" fmla="*/ 401647 h 1733732"/>
              <a:gd name="connsiteX46" fmla="*/ 598448 w 3434703"/>
              <a:gd name="connsiteY46" fmla="*/ 418836 h 1733732"/>
              <a:gd name="connsiteX47" fmla="*/ 578417 w 3434703"/>
              <a:gd name="connsiteY47" fmla="*/ 436336 h 1733732"/>
              <a:gd name="connsiteX48" fmla="*/ 558661 w 3434703"/>
              <a:gd name="connsiteY48" fmla="*/ 454137 h 1733732"/>
              <a:gd name="connsiteX49" fmla="*/ 539191 w 3434703"/>
              <a:gd name="connsiteY49" fmla="*/ 472226 h 1733732"/>
              <a:gd name="connsiteX50" fmla="*/ 519990 w 3434703"/>
              <a:gd name="connsiteY50" fmla="*/ 490618 h 1733732"/>
              <a:gd name="connsiteX51" fmla="*/ 501087 w 3434703"/>
              <a:gd name="connsiteY51" fmla="*/ 509287 h 1733732"/>
              <a:gd name="connsiteX52" fmla="*/ 482458 w 3434703"/>
              <a:gd name="connsiteY52" fmla="*/ 528255 h 1733732"/>
              <a:gd name="connsiteX53" fmla="*/ 464117 w 3434703"/>
              <a:gd name="connsiteY53" fmla="*/ 547508 h 1733732"/>
              <a:gd name="connsiteX54" fmla="*/ 446083 w 3434703"/>
              <a:gd name="connsiteY54" fmla="*/ 567029 h 1733732"/>
              <a:gd name="connsiteX55" fmla="*/ 428343 w 3434703"/>
              <a:gd name="connsiteY55" fmla="*/ 586828 h 1733732"/>
              <a:gd name="connsiteX56" fmla="*/ 410896 w 3434703"/>
              <a:gd name="connsiteY56" fmla="*/ 606910 h 1733732"/>
              <a:gd name="connsiteX57" fmla="*/ 393759 w 3434703"/>
              <a:gd name="connsiteY57" fmla="*/ 627254 h 1733732"/>
              <a:gd name="connsiteX58" fmla="*/ 376927 w 3434703"/>
              <a:gd name="connsiteY58" fmla="*/ 647868 h 1733732"/>
              <a:gd name="connsiteX59" fmla="*/ 360405 w 3434703"/>
              <a:gd name="connsiteY59" fmla="*/ 668747 h 1733732"/>
              <a:gd name="connsiteX60" fmla="*/ 344201 w 3434703"/>
              <a:gd name="connsiteY60" fmla="*/ 689880 h 1733732"/>
              <a:gd name="connsiteX61" fmla="*/ 328314 w 3434703"/>
              <a:gd name="connsiteY61" fmla="*/ 711272 h 1733732"/>
              <a:gd name="connsiteX62" fmla="*/ 312746 w 3434703"/>
              <a:gd name="connsiteY62" fmla="*/ 732919 h 1733732"/>
              <a:gd name="connsiteX63" fmla="*/ 297503 w 3434703"/>
              <a:gd name="connsiteY63" fmla="*/ 754816 h 1733732"/>
              <a:gd name="connsiteX64" fmla="*/ 282592 w 3434703"/>
              <a:gd name="connsiteY64" fmla="*/ 776955 h 1733732"/>
              <a:gd name="connsiteX65" fmla="*/ 268011 w 3434703"/>
              <a:gd name="connsiteY65" fmla="*/ 799338 h 1733732"/>
              <a:gd name="connsiteX66" fmla="*/ 253766 w 3434703"/>
              <a:gd name="connsiteY66" fmla="*/ 821962 h 1733732"/>
              <a:gd name="connsiteX67" fmla="*/ 239857 w 3434703"/>
              <a:gd name="connsiteY67" fmla="*/ 844826 h 1733732"/>
              <a:gd name="connsiteX68" fmla="*/ 226291 w 3434703"/>
              <a:gd name="connsiteY68" fmla="*/ 867923 h 1733732"/>
              <a:gd name="connsiteX69" fmla="*/ 213081 w 3434703"/>
              <a:gd name="connsiteY69" fmla="*/ 891236 h 1733732"/>
              <a:gd name="connsiteX70" fmla="*/ 200208 w 3434703"/>
              <a:gd name="connsiteY70" fmla="*/ 914793 h 1733732"/>
              <a:gd name="connsiteX71" fmla="*/ 187698 w 3434703"/>
              <a:gd name="connsiteY71" fmla="*/ 938556 h 1733732"/>
              <a:gd name="connsiteX72" fmla="*/ 175541 w 3434703"/>
              <a:gd name="connsiteY72" fmla="*/ 962549 h 1733732"/>
              <a:gd name="connsiteX73" fmla="*/ 163747 w 3434703"/>
              <a:gd name="connsiteY73" fmla="*/ 986751 h 1733732"/>
              <a:gd name="connsiteX74" fmla="*/ 152318 w 3434703"/>
              <a:gd name="connsiteY74" fmla="*/ 1011165 h 1733732"/>
              <a:gd name="connsiteX75" fmla="*/ 141256 w 3434703"/>
              <a:gd name="connsiteY75" fmla="*/ 1035791 h 1733732"/>
              <a:gd name="connsiteX76" fmla="*/ 130566 w 3434703"/>
              <a:gd name="connsiteY76" fmla="*/ 1060621 h 1733732"/>
              <a:gd name="connsiteX77" fmla="*/ 120260 w 3434703"/>
              <a:gd name="connsiteY77" fmla="*/ 1085635 h 1733732"/>
              <a:gd name="connsiteX78" fmla="*/ 110323 w 3434703"/>
              <a:gd name="connsiteY78" fmla="*/ 1110867 h 1733732"/>
              <a:gd name="connsiteX79" fmla="*/ 100774 w 3434703"/>
              <a:gd name="connsiteY79" fmla="*/ 1136284 h 1733732"/>
              <a:gd name="connsiteX80" fmla="*/ 91616 w 3434703"/>
              <a:gd name="connsiteY80" fmla="*/ 1161881 h 1733732"/>
              <a:gd name="connsiteX81" fmla="*/ 82844 w 3434703"/>
              <a:gd name="connsiteY81" fmla="*/ 1187676 h 1733732"/>
              <a:gd name="connsiteX82" fmla="*/ 74472 w 3434703"/>
              <a:gd name="connsiteY82" fmla="*/ 1213634 h 1733732"/>
              <a:gd name="connsiteX83" fmla="*/ 66493 w 3434703"/>
              <a:gd name="connsiteY83" fmla="*/ 1239789 h 1733732"/>
              <a:gd name="connsiteX84" fmla="*/ 58920 w 3434703"/>
              <a:gd name="connsiteY84" fmla="*/ 1266100 h 1733732"/>
              <a:gd name="connsiteX85" fmla="*/ 51754 w 3434703"/>
              <a:gd name="connsiteY85" fmla="*/ 1292581 h 1733732"/>
              <a:gd name="connsiteX86" fmla="*/ 44993 w 3434703"/>
              <a:gd name="connsiteY86" fmla="*/ 1319238 h 1733732"/>
              <a:gd name="connsiteX87" fmla="*/ 38649 w 3434703"/>
              <a:gd name="connsiteY87" fmla="*/ 1346047 h 1733732"/>
              <a:gd name="connsiteX88" fmla="*/ 32724 w 3434703"/>
              <a:gd name="connsiteY88" fmla="*/ 1373003 h 1733732"/>
              <a:gd name="connsiteX89" fmla="*/ 27218 w 3434703"/>
              <a:gd name="connsiteY89" fmla="*/ 1400112 h 1733732"/>
              <a:gd name="connsiteX90" fmla="*/ 22134 w 3434703"/>
              <a:gd name="connsiteY90" fmla="*/ 1427380 h 1733732"/>
              <a:gd name="connsiteX91" fmla="*/ 17480 w 3434703"/>
              <a:gd name="connsiteY91" fmla="*/ 1454782 h 1733732"/>
              <a:gd name="connsiteX92" fmla="*/ 13259 w 3434703"/>
              <a:gd name="connsiteY92" fmla="*/ 1482312 h 1733732"/>
              <a:gd name="connsiteX93" fmla="*/ 9470 w 3434703"/>
              <a:gd name="connsiteY93" fmla="*/ 1509989 h 1733732"/>
              <a:gd name="connsiteX94" fmla="*/ 6120 w 3434703"/>
              <a:gd name="connsiteY94" fmla="*/ 1537785 h 1733732"/>
              <a:gd name="connsiteX95" fmla="*/ 3213 w 3434703"/>
              <a:gd name="connsiteY95" fmla="*/ 1565706 h 1733732"/>
              <a:gd name="connsiteX96" fmla="*/ 750 w 3434703"/>
              <a:gd name="connsiteY96" fmla="*/ 1593747 h 1733732"/>
              <a:gd name="connsiteX97" fmla="*/ 0 w 3434703"/>
              <a:gd name="connsiteY97" fmla="*/ 1604227 h 1733732"/>
              <a:gd name="connsiteX98" fmla="*/ 316124 w 3434703"/>
              <a:gd name="connsiteY98" fmla="*/ 1733732 h 1733732"/>
              <a:gd name="connsiteX99" fmla="*/ 637930 w 3434703"/>
              <a:gd name="connsiteY99" fmla="*/ 1601899 h 1733732"/>
              <a:gd name="connsiteX100" fmla="*/ 639797 w 3434703"/>
              <a:gd name="connsiteY100" fmla="*/ 1586880 h 1733732"/>
              <a:gd name="connsiteX101" fmla="*/ 642262 w 3434703"/>
              <a:gd name="connsiteY101" fmla="*/ 1569374 h 1733732"/>
              <a:gd name="connsiteX102" fmla="*/ 645002 w 3434703"/>
              <a:gd name="connsiteY102" fmla="*/ 1551950 h 1733732"/>
              <a:gd name="connsiteX103" fmla="*/ 648011 w 3434703"/>
              <a:gd name="connsiteY103" fmla="*/ 1534635 h 1733732"/>
              <a:gd name="connsiteX104" fmla="*/ 651287 w 3434703"/>
              <a:gd name="connsiteY104" fmla="*/ 1517426 h 1733732"/>
              <a:gd name="connsiteX105" fmla="*/ 654832 w 3434703"/>
              <a:gd name="connsiteY105" fmla="*/ 1500307 h 1733732"/>
              <a:gd name="connsiteX106" fmla="*/ 658641 w 3434703"/>
              <a:gd name="connsiteY106" fmla="*/ 1483289 h 1733732"/>
              <a:gd name="connsiteX107" fmla="*/ 662711 w 3434703"/>
              <a:gd name="connsiteY107" fmla="*/ 1466381 h 1733732"/>
              <a:gd name="connsiteX108" fmla="*/ 667037 w 3434703"/>
              <a:gd name="connsiteY108" fmla="*/ 1449588 h 1733732"/>
              <a:gd name="connsiteX109" fmla="*/ 671626 w 3434703"/>
              <a:gd name="connsiteY109" fmla="*/ 1432888 h 1733732"/>
              <a:gd name="connsiteX110" fmla="*/ 676468 w 3434703"/>
              <a:gd name="connsiteY110" fmla="*/ 1416297 h 1733732"/>
              <a:gd name="connsiteX111" fmla="*/ 681561 w 3434703"/>
              <a:gd name="connsiteY111" fmla="*/ 1399829 h 1733732"/>
              <a:gd name="connsiteX112" fmla="*/ 686909 w 3434703"/>
              <a:gd name="connsiteY112" fmla="*/ 1383456 h 1733732"/>
              <a:gd name="connsiteX113" fmla="*/ 692502 w 3434703"/>
              <a:gd name="connsiteY113" fmla="*/ 1367214 h 1733732"/>
              <a:gd name="connsiteX114" fmla="*/ 698346 w 3434703"/>
              <a:gd name="connsiteY114" fmla="*/ 1351072 h 1733732"/>
              <a:gd name="connsiteX115" fmla="*/ 704431 w 3434703"/>
              <a:gd name="connsiteY115" fmla="*/ 1335057 h 1733732"/>
              <a:gd name="connsiteX116" fmla="*/ 710757 w 3434703"/>
              <a:gd name="connsiteY116" fmla="*/ 1319167 h 1733732"/>
              <a:gd name="connsiteX117" fmla="*/ 717332 w 3434703"/>
              <a:gd name="connsiteY117" fmla="*/ 1303379 h 1733732"/>
              <a:gd name="connsiteX118" fmla="*/ 724139 w 3434703"/>
              <a:gd name="connsiteY118" fmla="*/ 1287729 h 1733732"/>
              <a:gd name="connsiteX119" fmla="*/ 731182 w 3434703"/>
              <a:gd name="connsiteY119" fmla="*/ 1272205 h 1733732"/>
              <a:gd name="connsiteX120" fmla="*/ 738463 w 3434703"/>
              <a:gd name="connsiteY120" fmla="*/ 1256803 h 1733732"/>
              <a:gd name="connsiteX121" fmla="*/ 745974 w 3434703"/>
              <a:gd name="connsiteY121" fmla="*/ 1241530 h 1733732"/>
              <a:gd name="connsiteX122" fmla="*/ 753715 w 3434703"/>
              <a:gd name="connsiteY122" fmla="*/ 1226395 h 1733732"/>
              <a:gd name="connsiteX123" fmla="*/ 761688 w 3434703"/>
              <a:gd name="connsiteY123" fmla="*/ 1211382 h 1733732"/>
              <a:gd name="connsiteX124" fmla="*/ 769879 w 3434703"/>
              <a:gd name="connsiteY124" fmla="*/ 1196522 h 1733732"/>
              <a:gd name="connsiteX125" fmla="*/ 778304 w 3434703"/>
              <a:gd name="connsiteY125" fmla="*/ 1181781 h 1733732"/>
              <a:gd name="connsiteX126" fmla="*/ 786943 w 3434703"/>
              <a:gd name="connsiteY126" fmla="*/ 1167195 h 1733732"/>
              <a:gd name="connsiteX127" fmla="*/ 795802 w 3434703"/>
              <a:gd name="connsiteY127" fmla="*/ 1152751 h 1733732"/>
              <a:gd name="connsiteX128" fmla="*/ 804881 w 3434703"/>
              <a:gd name="connsiteY128" fmla="*/ 1138449 h 1733732"/>
              <a:gd name="connsiteX129" fmla="*/ 814175 w 3434703"/>
              <a:gd name="connsiteY129" fmla="*/ 1124295 h 1733732"/>
              <a:gd name="connsiteX130" fmla="*/ 823682 w 3434703"/>
              <a:gd name="connsiteY130" fmla="*/ 1110288 h 1733732"/>
              <a:gd name="connsiteX131" fmla="*/ 833398 w 3434703"/>
              <a:gd name="connsiteY131" fmla="*/ 1096439 h 1733732"/>
              <a:gd name="connsiteX132" fmla="*/ 843321 w 3434703"/>
              <a:gd name="connsiteY132" fmla="*/ 1082745 h 1733732"/>
              <a:gd name="connsiteX133" fmla="*/ 853452 w 3434703"/>
              <a:gd name="connsiteY133" fmla="*/ 1069206 h 1733732"/>
              <a:gd name="connsiteX134" fmla="*/ 863788 w 3434703"/>
              <a:gd name="connsiteY134" fmla="*/ 1055825 h 1733732"/>
              <a:gd name="connsiteX135" fmla="*/ 874322 w 3434703"/>
              <a:gd name="connsiteY135" fmla="*/ 1042613 h 1733732"/>
              <a:gd name="connsiteX136" fmla="*/ 885056 w 3434703"/>
              <a:gd name="connsiteY136" fmla="*/ 1029564 h 1733732"/>
              <a:gd name="connsiteX137" fmla="*/ 895989 w 3434703"/>
              <a:gd name="connsiteY137" fmla="*/ 1016679 h 1733732"/>
              <a:gd name="connsiteX138" fmla="*/ 907110 w 3434703"/>
              <a:gd name="connsiteY138" fmla="*/ 1003971 h 1733732"/>
              <a:gd name="connsiteX139" fmla="*/ 918430 w 3434703"/>
              <a:gd name="connsiteY139" fmla="*/ 991427 h 1733732"/>
              <a:gd name="connsiteX140" fmla="*/ 929942 w 3434703"/>
              <a:gd name="connsiteY140" fmla="*/ 979055 h 1733732"/>
              <a:gd name="connsiteX141" fmla="*/ 941628 w 3434703"/>
              <a:gd name="connsiteY141" fmla="*/ 966875 h 1733732"/>
              <a:gd name="connsiteX142" fmla="*/ 953503 w 3434703"/>
              <a:gd name="connsiteY142" fmla="*/ 954871 h 1733732"/>
              <a:gd name="connsiteX143" fmla="*/ 965570 w 3434703"/>
              <a:gd name="connsiteY143" fmla="*/ 943038 h 1733732"/>
              <a:gd name="connsiteX144" fmla="*/ 977805 w 3434703"/>
              <a:gd name="connsiteY144" fmla="*/ 931402 h 1733732"/>
              <a:gd name="connsiteX145" fmla="*/ 990225 w 3434703"/>
              <a:gd name="connsiteY145" fmla="*/ 919945 h 1733732"/>
              <a:gd name="connsiteX146" fmla="*/ 1002813 w 3434703"/>
              <a:gd name="connsiteY146" fmla="*/ 908685 h 1733732"/>
              <a:gd name="connsiteX147" fmla="*/ 1015573 w 3434703"/>
              <a:gd name="connsiteY147" fmla="*/ 897618 h 1733732"/>
              <a:gd name="connsiteX148" fmla="*/ 1028511 w 3434703"/>
              <a:gd name="connsiteY148" fmla="*/ 886737 h 1733732"/>
              <a:gd name="connsiteX149" fmla="*/ 1041611 w 3434703"/>
              <a:gd name="connsiteY149" fmla="*/ 876057 h 1733732"/>
              <a:gd name="connsiteX150" fmla="*/ 1054876 w 3434703"/>
              <a:gd name="connsiteY150" fmla="*/ 865578 h 1733732"/>
              <a:gd name="connsiteX151" fmla="*/ 1068301 w 3434703"/>
              <a:gd name="connsiteY151" fmla="*/ 855301 h 1733732"/>
              <a:gd name="connsiteX152" fmla="*/ 1081889 w 3434703"/>
              <a:gd name="connsiteY152" fmla="*/ 845226 h 1733732"/>
              <a:gd name="connsiteX153" fmla="*/ 1095627 w 3434703"/>
              <a:gd name="connsiteY153" fmla="*/ 835364 h 1733732"/>
              <a:gd name="connsiteX154" fmla="*/ 1109531 w 3434703"/>
              <a:gd name="connsiteY154" fmla="*/ 825700 h 1733732"/>
              <a:gd name="connsiteX155" fmla="*/ 1123574 w 3434703"/>
              <a:gd name="connsiteY155" fmla="*/ 816259 h 1733732"/>
              <a:gd name="connsiteX156" fmla="*/ 1137783 w 3434703"/>
              <a:gd name="connsiteY156" fmla="*/ 807019 h 1733732"/>
              <a:gd name="connsiteX157" fmla="*/ 1152125 w 3434703"/>
              <a:gd name="connsiteY157" fmla="*/ 798005 h 1733732"/>
              <a:gd name="connsiteX158" fmla="*/ 1166618 w 3434703"/>
              <a:gd name="connsiteY158" fmla="*/ 789205 h 1733732"/>
              <a:gd name="connsiteX159" fmla="*/ 1181254 w 3434703"/>
              <a:gd name="connsiteY159" fmla="*/ 780625 h 1733732"/>
              <a:gd name="connsiteX160" fmla="*/ 1196027 w 3434703"/>
              <a:gd name="connsiteY160" fmla="*/ 772269 h 1733732"/>
              <a:gd name="connsiteX161" fmla="*/ 1210941 w 3434703"/>
              <a:gd name="connsiteY161" fmla="*/ 764135 h 1733732"/>
              <a:gd name="connsiteX162" fmla="*/ 1225988 w 3434703"/>
              <a:gd name="connsiteY162" fmla="*/ 756230 h 1733732"/>
              <a:gd name="connsiteX163" fmla="*/ 1241173 w 3434703"/>
              <a:gd name="connsiteY163" fmla="*/ 748551 h 1733732"/>
              <a:gd name="connsiteX164" fmla="*/ 1256482 w 3434703"/>
              <a:gd name="connsiteY164" fmla="*/ 741107 h 1733732"/>
              <a:gd name="connsiteX165" fmla="*/ 1271929 w 3434703"/>
              <a:gd name="connsiteY165" fmla="*/ 733891 h 1733732"/>
              <a:gd name="connsiteX166" fmla="*/ 1287491 w 3434703"/>
              <a:gd name="connsiteY166" fmla="*/ 726916 h 1733732"/>
              <a:gd name="connsiteX167" fmla="*/ 1303185 w 3434703"/>
              <a:gd name="connsiteY167" fmla="*/ 720175 h 1733732"/>
              <a:gd name="connsiteX168" fmla="*/ 1318999 w 3434703"/>
              <a:gd name="connsiteY168" fmla="*/ 713674 h 1733732"/>
              <a:gd name="connsiteX169" fmla="*/ 1334939 w 3434703"/>
              <a:gd name="connsiteY169" fmla="*/ 707413 h 1733732"/>
              <a:gd name="connsiteX170" fmla="*/ 1350989 w 3434703"/>
              <a:gd name="connsiteY170" fmla="*/ 701398 h 1733732"/>
              <a:gd name="connsiteX171" fmla="*/ 1367159 w 3434703"/>
              <a:gd name="connsiteY171" fmla="*/ 695628 h 1733732"/>
              <a:gd name="connsiteX172" fmla="*/ 1383446 w 3434703"/>
              <a:gd name="connsiteY172" fmla="*/ 690105 h 1733732"/>
              <a:gd name="connsiteX173" fmla="*/ 1399844 w 3434703"/>
              <a:gd name="connsiteY173" fmla="*/ 684832 h 1733732"/>
              <a:gd name="connsiteX174" fmla="*/ 1416350 w 3434703"/>
              <a:gd name="connsiteY174" fmla="*/ 679811 h 1733732"/>
              <a:gd name="connsiteX175" fmla="*/ 1432969 w 3434703"/>
              <a:gd name="connsiteY175" fmla="*/ 675044 h 1733732"/>
              <a:gd name="connsiteX176" fmla="*/ 1449694 w 3434703"/>
              <a:gd name="connsiteY176" fmla="*/ 670533 h 1733732"/>
              <a:gd name="connsiteX177" fmla="*/ 1466523 w 3434703"/>
              <a:gd name="connsiteY177" fmla="*/ 666280 h 1733732"/>
              <a:gd name="connsiteX178" fmla="*/ 1483459 w 3434703"/>
              <a:gd name="connsiteY178" fmla="*/ 662288 h 1733732"/>
              <a:gd name="connsiteX179" fmla="*/ 1500497 w 3434703"/>
              <a:gd name="connsiteY179" fmla="*/ 658558 h 1733732"/>
              <a:gd name="connsiteX180" fmla="*/ 1517635 w 3434703"/>
              <a:gd name="connsiteY180" fmla="*/ 655092 h 1733732"/>
              <a:gd name="connsiteX181" fmla="*/ 1534873 w 3434703"/>
              <a:gd name="connsiteY181" fmla="*/ 651894 h 1733732"/>
              <a:gd name="connsiteX182" fmla="*/ 1552212 w 3434703"/>
              <a:gd name="connsiteY182" fmla="*/ 648964 h 1733732"/>
              <a:gd name="connsiteX183" fmla="*/ 1569646 w 3434703"/>
              <a:gd name="connsiteY183" fmla="*/ 646306 h 1733732"/>
              <a:gd name="connsiteX184" fmla="*/ 1587177 w 3434703"/>
              <a:gd name="connsiteY184" fmla="*/ 643921 h 1733732"/>
              <a:gd name="connsiteX185" fmla="*/ 1604804 w 3434703"/>
              <a:gd name="connsiteY185" fmla="*/ 641812 h 1733732"/>
              <a:gd name="connsiteX186" fmla="*/ 1622520 w 3434703"/>
              <a:gd name="connsiteY186" fmla="*/ 639983 h 1733732"/>
              <a:gd name="connsiteX187" fmla="*/ 1640335 w 3434703"/>
              <a:gd name="connsiteY187" fmla="*/ 638433 h 1733732"/>
              <a:gd name="connsiteX188" fmla="*/ 1658236 w 3434703"/>
              <a:gd name="connsiteY188" fmla="*/ 637168 h 1733732"/>
              <a:gd name="connsiteX189" fmla="*/ 1676232 w 3434703"/>
              <a:gd name="connsiteY189" fmla="*/ 636187 h 1733732"/>
              <a:gd name="connsiteX190" fmla="*/ 1694317 w 3434703"/>
              <a:gd name="connsiteY190" fmla="*/ 635496 h 1733732"/>
              <a:gd name="connsiteX191" fmla="*/ 1712488 w 3434703"/>
              <a:gd name="connsiteY191" fmla="*/ 635096 h 1733732"/>
              <a:gd name="connsiteX192" fmla="*/ 1728184 w 3434703"/>
              <a:gd name="connsiteY192" fmla="*/ 635000 h 1733732"/>
              <a:gd name="connsiteX193" fmla="*/ 3434703 w 3434703"/>
              <a:gd name="connsiteY193" fmla="*/ 635000 h 1733732"/>
              <a:gd name="connsiteX194" fmla="*/ 3303883 w 3434703"/>
              <a:gd name="connsiteY194" fmla="*/ 315668 h 1733732"/>
              <a:gd name="connsiteX195" fmla="*/ 3433202 w 3434703"/>
              <a:gd name="connsiteY195" fmla="*/ 0 h 173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3434703" h="1733732">
                <a:moveTo>
                  <a:pt x="3433202" y="0"/>
                </a:moveTo>
                <a:lnTo>
                  <a:pt x="1728184" y="0"/>
                </a:lnTo>
                <a:lnTo>
                  <a:pt x="1697054" y="284"/>
                </a:lnTo>
                <a:lnTo>
                  <a:pt x="1668594" y="1017"/>
                </a:lnTo>
                <a:lnTo>
                  <a:pt x="1640236" y="2209"/>
                </a:lnTo>
                <a:lnTo>
                  <a:pt x="1611986" y="3854"/>
                </a:lnTo>
                <a:lnTo>
                  <a:pt x="1583842" y="5951"/>
                </a:lnTo>
                <a:lnTo>
                  <a:pt x="1555817" y="8496"/>
                </a:lnTo>
                <a:lnTo>
                  <a:pt x="1527907" y="11486"/>
                </a:lnTo>
                <a:lnTo>
                  <a:pt x="1500126" y="14916"/>
                </a:lnTo>
                <a:lnTo>
                  <a:pt x="1472474" y="18785"/>
                </a:lnTo>
                <a:lnTo>
                  <a:pt x="1444954" y="23088"/>
                </a:lnTo>
                <a:lnTo>
                  <a:pt x="1417575" y="27822"/>
                </a:lnTo>
                <a:lnTo>
                  <a:pt x="1390336" y="32983"/>
                </a:lnTo>
                <a:lnTo>
                  <a:pt x="1363246" y="38568"/>
                </a:lnTo>
                <a:lnTo>
                  <a:pt x="1336308" y="44573"/>
                </a:lnTo>
                <a:lnTo>
                  <a:pt x="1309529" y="50994"/>
                </a:lnTo>
                <a:lnTo>
                  <a:pt x="1282907" y="57828"/>
                </a:lnTo>
                <a:lnTo>
                  <a:pt x="1256451" y="65071"/>
                </a:lnTo>
                <a:lnTo>
                  <a:pt x="1230167" y="72719"/>
                </a:lnTo>
                <a:lnTo>
                  <a:pt x="1204053" y="80770"/>
                </a:lnTo>
                <a:lnTo>
                  <a:pt x="1178118" y="89218"/>
                </a:lnTo>
                <a:lnTo>
                  <a:pt x="1152368" y="98059"/>
                </a:lnTo>
                <a:lnTo>
                  <a:pt x="1126799" y="107291"/>
                </a:lnTo>
                <a:lnTo>
                  <a:pt x="1101416" y="116911"/>
                </a:lnTo>
                <a:lnTo>
                  <a:pt x="1076236" y="126912"/>
                </a:lnTo>
                <a:lnTo>
                  <a:pt x="1051246" y="137293"/>
                </a:lnTo>
                <a:lnTo>
                  <a:pt x="1026460" y="148049"/>
                </a:lnTo>
                <a:lnTo>
                  <a:pt x="1001871" y="159179"/>
                </a:lnTo>
                <a:lnTo>
                  <a:pt x="977504" y="170672"/>
                </a:lnTo>
                <a:lnTo>
                  <a:pt x="953338" y="182534"/>
                </a:lnTo>
                <a:lnTo>
                  <a:pt x="929395" y="194752"/>
                </a:lnTo>
                <a:lnTo>
                  <a:pt x="905666" y="207330"/>
                </a:lnTo>
                <a:lnTo>
                  <a:pt x="882162" y="220260"/>
                </a:lnTo>
                <a:lnTo>
                  <a:pt x="858882" y="233540"/>
                </a:lnTo>
                <a:lnTo>
                  <a:pt x="835835" y="247165"/>
                </a:lnTo>
                <a:lnTo>
                  <a:pt x="813020" y="261132"/>
                </a:lnTo>
                <a:lnTo>
                  <a:pt x="790435" y="275442"/>
                </a:lnTo>
                <a:lnTo>
                  <a:pt x="768107" y="290076"/>
                </a:lnTo>
                <a:lnTo>
                  <a:pt x="746003" y="305054"/>
                </a:lnTo>
                <a:lnTo>
                  <a:pt x="724163" y="320349"/>
                </a:lnTo>
                <a:lnTo>
                  <a:pt x="702559" y="335978"/>
                </a:lnTo>
                <a:lnTo>
                  <a:pt x="681217" y="351921"/>
                </a:lnTo>
                <a:lnTo>
                  <a:pt x="660128" y="368185"/>
                </a:lnTo>
                <a:lnTo>
                  <a:pt x="639302" y="384761"/>
                </a:lnTo>
                <a:lnTo>
                  <a:pt x="618739" y="401647"/>
                </a:lnTo>
                <a:lnTo>
                  <a:pt x="598448" y="418836"/>
                </a:lnTo>
                <a:lnTo>
                  <a:pt x="578417" y="436336"/>
                </a:lnTo>
                <a:lnTo>
                  <a:pt x="558661" y="454137"/>
                </a:lnTo>
                <a:lnTo>
                  <a:pt x="539191" y="472226"/>
                </a:lnTo>
                <a:lnTo>
                  <a:pt x="519990" y="490618"/>
                </a:lnTo>
                <a:lnTo>
                  <a:pt x="501087" y="509287"/>
                </a:lnTo>
                <a:lnTo>
                  <a:pt x="482458" y="528255"/>
                </a:lnTo>
                <a:lnTo>
                  <a:pt x="464117" y="547508"/>
                </a:lnTo>
                <a:lnTo>
                  <a:pt x="446083" y="567029"/>
                </a:lnTo>
                <a:lnTo>
                  <a:pt x="428343" y="586828"/>
                </a:lnTo>
                <a:lnTo>
                  <a:pt x="410896" y="606910"/>
                </a:lnTo>
                <a:lnTo>
                  <a:pt x="393759" y="627254"/>
                </a:lnTo>
                <a:lnTo>
                  <a:pt x="376927" y="647868"/>
                </a:lnTo>
                <a:lnTo>
                  <a:pt x="360405" y="668747"/>
                </a:lnTo>
                <a:lnTo>
                  <a:pt x="344201" y="689880"/>
                </a:lnTo>
                <a:lnTo>
                  <a:pt x="328314" y="711272"/>
                </a:lnTo>
                <a:lnTo>
                  <a:pt x="312746" y="732919"/>
                </a:lnTo>
                <a:lnTo>
                  <a:pt x="297503" y="754816"/>
                </a:lnTo>
                <a:lnTo>
                  <a:pt x="282592" y="776955"/>
                </a:lnTo>
                <a:lnTo>
                  <a:pt x="268011" y="799338"/>
                </a:lnTo>
                <a:lnTo>
                  <a:pt x="253766" y="821962"/>
                </a:lnTo>
                <a:lnTo>
                  <a:pt x="239857" y="844826"/>
                </a:lnTo>
                <a:lnTo>
                  <a:pt x="226291" y="867923"/>
                </a:lnTo>
                <a:lnTo>
                  <a:pt x="213081" y="891236"/>
                </a:lnTo>
                <a:lnTo>
                  <a:pt x="200208" y="914793"/>
                </a:lnTo>
                <a:lnTo>
                  <a:pt x="187698" y="938556"/>
                </a:lnTo>
                <a:lnTo>
                  <a:pt x="175541" y="962549"/>
                </a:lnTo>
                <a:lnTo>
                  <a:pt x="163747" y="986751"/>
                </a:lnTo>
                <a:lnTo>
                  <a:pt x="152318" y="1011165"/>
                </a:lnTo>
                <a:lnTo>
                  <a:pt x="141256" y="1035791"/>
                </a:lnTo>
                <a:lnTo>
                  <a:pt x="130566" y="1060621"/>
                </a:lnTo>
                <a:lnTo>
                  <a:pt x="120260" y="1085635"/>
                </a:lnTo>
                <a:lnTo>
                  <a:pt x="110323" y="1110867"/>
                </a:lnTo>
                <a:lnTo>
                  <a:pt x="100774" y="1136284"/>
                </a:lnTo>
                <a:lnTo>
                  <a:pt x="91616" y="1161881"/>
                </a:lnTo>
                <a:lnTo>
                  <a:pt x="82844" y="1187676"/>
                </a:lnTo>
                <a:lnTo>
                  <a:pt x="74472" y="1213634"/>
                </a:lnTo>
                <a:lnTo>
                  <a:pt x="66493" y="1239789"/>
                </a:lnTo>
                <a:lnTo>
                  <a:pt x="58920" y="1266100"/>
                </a:lnTo>
                <a:lnTo>
                  <a:pt x="51754" y="1292581"/>
                </a:lnTo>
                <a:lnTo>
                  <a:pt x="44993" y="1319238"/>
                </a:lnTo>
                <a:lnTo>
                  <a:pt x="38649" y="1346047"/>
                </a:lnTo>
                <a:lnTo>
                  <a:pt x="32724" y="1373003"/>
                </a:lnTo>
                <a:lnTo>
                  <a:pt x="27218" y="1400112"/>
                </a:lnTo>
                <a:lnTo>
                  <a:pt x="22134" y="1427380"/>
                </a:lnTo>
                <a:lnTo>
                  <a:pt x="17480" y="1454782"/>
                </a:lnTo>
                <a:lnTo>
                  <a:pt x="13259" y="1482312"/>
                </a:lnTo>
                <a:lnTo>
                  <a:pt x="9470" y="1509989"/>
                </a:lnTo>
                <a:lnTo>
                  <a:pt x="6120" y="1537785"/>
                </a:lnTo>
                <a:lnTo>
                  <a:pt x="3213" y="1565706"/>
                </a:lnTo>
                <a:lnTo>
                  <a:pt x="750" y="1593747"/>
                </a:lnTo>
                <a:lnTo>
                  <a:pt x="0" y="1604227"/>
                </a:lnTo>
                <a:lnTo>
                  <a:pt x="316124" y="1733732"/>
                </a:lnTo>
                <a:lnTo>
                  <a:pt x="637930" y="1601899"/>
                </a:lnTo>
                <a:lnTo>
                  <a:pt x="639797" y="1586880"/>
                </a:lnTo>
                <a:lnTo>
                  <a:pt x="642262" y="1569374"/>
                </a:lnTo>
                <a:lnTo>
                  <a:pt x="645002" y="1551950"/>
                </a:lnTo>
                <a:lnTo>
                  <a:pt x="648011" y="1534635"/>
                </a:lnTo>
                <a:lnTo>
                  <a:pt x="651287" y="1517426"/>
                </a:lnTo>
                <a:lnTo>
                  <a:pt x="654832" y="1500307"/>
                </a:lnTo>
                <a:lnTo>
                  <a:pt x="658641" y="1483289"/>
                </a:lnTo>
                <a:lnTo>
                  <a:pt x="662711" y="1466381"/>
                </a:lnTo>
                <a:lnTo>
                  <a:pt x="667037" y="1449588"/>
                </a:lnTo>
                <a:lnTo>
                  <a:pt x="671626" y="1432888"/>
                </a:lnTo>
                <a:lnTo>
                  <a:pt x="676468" y="1416297"/>
                </a:lnTo>
                <a:lnTo>
                  <a:pt x="681561" y="1399829"/>
                </a:lnTo>
                <a:lnTo>
                  <a:pt x="686909" y="1383456"/>
                </a:lnTo>
                <a:lnTo>
                  <a:pt x="692502" y="1367214"/>
                </a:lnTo>
                <a:lnTo>
                  <a:pt x="698346" y="1351072"/>
                </a:lnTo>
                <a:lnTo>
                  <a:pt x="704431" y="1335057"/>
                </a:lnTo>
                <a:lnTo>
                  <a:pt x="710757" y="1319167"/>
                </a:lnTo>
                <a:lnTo>
                  <a:pt x="717332" y="1303379"/>
                </a:lnTo>
                <a:lnTo>
                  <a:pt x="724139" y="1287729"/>
                </a:lnTo>
                <a:lnTo>
                  <a:pt x="731182" y="1272205"/>
                </a:lnTo>
                <a:lnTo>
                  <a:pt x="738463" y="1256803"/>
                </a:lnTo>
                <a:lnTo>
                  <a:pt x="745974" y="1241530"/>
                </a:lnTo>
                <a:lnTo>
                  <a:pt x="753715" y="1226395"/>
                </a:lnTo>
                <a:lnTo>
                  <a:pt x="761688" y="1211382"/>
                </a:lnTo>
                <a:lnTo>
                  <a:pt x="769879" y="1196522"/>
                </a:lnTo>
                <a:lnTo>
                  <a:pt x="778304" y="1181781"/>
                </a:lnTo>
                <a:lnTo>
                  <a:pt x="786943" y="1167195"/>
                </a:lnTo>
                <a:lnTo>
                  <a:pt x="795802" y="1152751"/>
                </a:lnTo>
                <a:lnTo>
                  <a:pt x="804881" y="1138449"/>
                </a:lnTo>
                <a:lnTo>
                  <a:pt x="814175" y="1124295"/>
                </a:lnTo>
                <a:lnTo>
                  <a:pt x="823682" y="1110288"/>
                </a:lnTo>
                <a:lnTo>
                  <a:pt x="833398" y="1096439"/>
                </a:lnTo>
                <a:lnTo>
                  <a:pt x="843321" y="1082745"/>
                </a:lnTo>
                <a:lnTo>
                  <a:pt x="853452" y="1069206"/>
                </a:lnTo>
                <a:lnTo>
                  <a:pt x="863788" y="1055825"/>
                </a:lnTo>
                <a:lnTo>
                  <a:pt x="874322" y="1042613"/>
                </a:lnTo>
                <a:lnTo>
                  <a:pt x="885056" y="1029564"/>
                </a:lnTo>
                <a:lnTo>
                  <a:pt x="895989" y="1016679"/>
                </a:lnTo>
                <a:lnTo>
                  <a:pt x="907110" y="1003971"/>
                </a:lnTo>
                <a:lnTo>
                  <a:pt x="918430" y="991427"/>
                </a:lnTo>
                <a:lnTo>
                  <a:pt x="929942" y="979055"/>
                </a:lnTo>
                <a:lnTo>
                  <a:pt x="941628" y="966875"/>
                </a:lnTo>
                <a:lnTo>
                  <a:pt x="953503" y="954871"/>
                </a:lnTo>
                <a:lnTo>
                  <a:pt x="965570" y="943038"/>
                </a:lnTo>
                <a:lnTo>
                  <a:pt x="977805" y="931402"/>
                </a:lnTo>
                <a:lnTo>
                  <a:pt x="990225" y="919945"/>
                </a:lnTo>
                <a:lnTo>
                  <a:pt x="1002813" y="908685"/>
                </a:lnTo>
                <a:lnTo>
                  <a:pt x="1015573" y="897618"/>
                </a:lnTo>
                <a:lnTo>
                  <a:pt x="1028511" y="886737"/>
                </a:lnTo>
                <a:lnTo>
                  <a:pt x="1041611" y="876057"/>
                </a:lnTo>
                <a:lnTo>
                  <a:pt x="1054876" y="865578"/>
                </a:lnTo>
                <a:lnTo>
                  <a:pt x="1068301" y="855301"/>
                </a:lnTo>
                <a:lnTo>
                  <a:pt x="1081889" y="845226"/>
                </a:lnTo>
                <a:lnTo>
                  <a:pt x="1095627" y="835364"/>
                </a:lnTo>
                <a:lnTo>
                  <a:pt x="1109531" y="825700"/>
                </a:lnTo>
                <a:lnTo>
                  <a:pt x="1123574" y="816259"/>
                </a:lnTo>
                <a:lnTo>
                  <a:pt x="1137783" y="807019"/>
                </a:lnTo>
                <a:lnTo>
                  <a:pt x="1152125" y="798005"/>
                </a:lnTo>
                <a:lnTo>
                  <a:pt x="1166618" y="789205"/>
                </a:lnTo>
                <a:lnTo>
                  <a:pt x="1181254" y="780625"/>
                </a:lnTo>
                <a:lnTo>
                  <a:pt x="1196027" y="772269"/>
                </a:lnTo>
                <a:lnTo>
                  <a:pt x="1210941" y="764135"/>
                </a:lnTo>
                <a:lnTo>
                  <a:pt x="1225988" y="756230"/>
                </a:lnTo>
                <a:lnTo>
                  <a:pt x="1241173" y="748551"/>
                </a:lnTo>
                <a:lnTo>
                  <a:pt x="1256482" y="741107"/>
                </a:lnTo>
                <a:lnTo>
                  <a:pt x="1271929" y="733891"/>
                </a:lnTo>
                <a:lnTo>
                  <a:pt x="1287491" y="726916"/>
                </a:lnTo>
                <a:lnTo>
                  <a:pt x="1303185" y="720175"/>
                </a:lnTo>
                <a:lnTo>
                  <a:pt x="1318999" y="713674"/>
                </a:lnTo>
                <a:lnTo>
                  <a:pt x="1334939" y="707413"/>
                </a:lnTo>
                <a:lnTo>
                  <a:pt x="1350989" y="701398"/>
                </a:lnTo>
                <a:lnTo>
                  <a:pt x="1367159" y="695628"/>
                </a:lnTo>
                <a:lnTo>
                  <a:pt x="1383446" y="690105"/>
                </a:lnTo>
                <a:lnTo>
                  <a:pt x="1399844" y="684832"/>
                </a:lnTo>
                <a:lnTo>
                  <a:pt x="1416350" y="679811"/>
                </a:lnTo>
                <a:lnTo>
                  <a:pt x="1432969" y="675044"/>
                </a:lnTo>
                <a:lnTo>
                  <a:pt x="1449694" y="670533"/>
                </a:lnTo>
                <a:lnTo>
                  <a:pt x="1466523" y="666280"/>
                </a:lnTo>
                <a:lnTo>
                  <a:pt x="1483459" y="662288"/>
                </a:lnTo>
                <a:lnTo>
                  <a:pt x="1500497" y="658558"/>
                </a:lnTo>
                <a:lnTo>
                  <a:pt x="1517635" y="655092"/>
                </a:lnTo>
                <a:lnTo>
                  <a:pt x="1534873" y="651894"/>
                </a:lnTo>
                <a:lnTo>
                  <a:pt x="1552212" y="648964"/>
                </a:lnTo>
                <a:lnTo>
                  <a:pt x="1569646" y="646306"/>
                </a:lnTo>
                <a:lnTo>
                  <a:pt x="1587177" y="643921"/>
                </a:lnTo>
                <a:lnTo>
                  <a:pt x="1604804" y="641812"/>
                </a:lnTo>
                <a:lnTo>
                  <a:pt x="1622520" y="639983"/>
                </a:lnTo>
                <a:lnTo>
                  <a:pt x="1640335" y="638433"/>
                </a:lnTo>
                <a:lnTo>
                  <a:pt x="1658236" y="637168"/>
                </a:lnTo>
                <a:lnTo>
                  <a:pt x="1676232" y="636187"/>
                </a:lnTo>
                <a:lnTo>
                  <a:pt x="1694317" y="635496"/>
                </a:lnTo>
                <a:lnTo>
                  <a:pt x="1712488" y="635096"/>
                </a:lnTo>
                <a:lnTo>
                  <a:pt x="1728184" y="635000"/>
                </a:lnTo>
                <a:lnTo>
                  <a:pt x="3434703" y="635000"/>
                </a:lnTo>
                <a:lnTo>
                  <a:pt x="3303883" y="315668"/>
                </a:lnTo>
                <a:lnTo>
                  <a:pt x="3433202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1" name="任意多边形: 形状 210"/>
          <p:cNvSpPr/>
          <p:nvPr/>
        </p:nvSpPr>
        <p:spPr>
          <a:xfrm flipH="1">
            <a:off x="1012335" y="3689609"/>
            <a:ext cx="3434699" cy="1733727"/>
          </a:xfrm>
          <a:custGeom>
            <a:avLst/>
            <a:gdLst>
              <a:gd name="connsiteX0" fmla="*/ 3118577 w 3434699"/>
              <a:gd name="connsiteY0" fmla="*/ 0 h 1733727"/>
              <a:gd name="connsiteX1" fmla="*/ 2796768 w 3434699"/>
              <a:gd name="connsiteY1" fmla="*/ 131834 h 1733727"/>
              <a:gd name="connsiteX2" fmla="*/ 2794902 w 3434699"/>
              <a:gd name="connsiteY2" fmla="*/ 146839 h 1733727"/>
              <a:gd name="connsiteX3" fmla="*/ 2792437 w 3434699"/>
              <a:gd name="connsiteY3" fmla="*/ 164351 h 1733727"/>
              <a:gd name="connsiteX4" fmla="*/ 2789698 w 3434699"/>
              <a:gd name="connsiteY4" fmla="*/ 181768 h 1733727"/>
              <a:gd name="connsiteX5" fmla="*/ 2786689 w 3434699"/>
              <a:gd name="connsiteY5" fmla="*/ 199084 h 1733727"/>
              <a:gd name="connsiteX6" fmla="*/ 2783411 w 3434699"/>
              <a:gd name="connsiteY6" fmla="*/ 216301 h 1733727"/>
              <a:gd name="connsiteX7" fmla="*/ 2779867 w 3434699"/>
              <a:gd name="connsiteY7" fmla="*/ 233416 h 1733727"/>
              <a:gd name="connsiteX8" fmla="*/ 2776060 w 3434699"/>
              <a:gd name="connsiteY8" fmla="*/ 250427 h 1733727"/>
              <a:gd name="connsiteX9" fmla="*/ 2771990 w 3434699"/>
              <a:gd name="connsiteY9" fmla="*/ 267336 h 1733727"/>
              <a:gd name="connsiteX10" fmla="*/ 2767661 w 3434699"/>
              <a:gd name="connsiteY10" fmla="*/ 284140 h 1733727"/>
              <a:gd name="connsiteX11" fmla="*/ 2763074 w 3434699"/>
              <a:gd name="connsiteY11" fmla="*/ 300835 h 1733727"/>
              <a:gd name="connsiteX12" fmla="*/ 2758233 w 3434699"/>
              <a:gd name="connsiteY12" fmla="*/ 317419 h 1733727"/>
              <a:gd name="connsiteX13" fmla="*/ 2753138 w 3434699"/>
              <a:gd name="connsiteY13" fmla="*/ 333896 h 1733727"/>
              <a:gd name="connsiteX14" fmla="*/ 2747792 w 3434699"/>
              <a:gd name="connsiteY14" fmla="*/ 350263 h 1733727"/>
              <a:gd name="connsiteX15" fmla="*/ 2742198 w 3434699"/>
              <a:gd name="connsiteY15" fmla="*/ 366509 h 1733727"/>
              <a:gd name="connsiteX16" fmla="*/ 2736355 w 3434699"/>
              <a:gd name="connsiteY16" fmla="*/ 382648 h 1733727"/>
              <a:gd name="connsiteX17" fmla="*/ 2730270 w 3434699"/>
              <a:gd name="connsiteY17" fmla="*/ 398660 h 1733727"/>
              <a:gd name="connsiteX18" fmla="*/ 2723940 w 3434699"/>
              <a:gd name="connsiteY18" fmla="*/ 414561 h 1733727"/>
              <a:gd name="connsiteX19" fmla="*/ 2717369 w 3434699"/>
              <a:gd name="connsiteY19" fmla="*/ 430339 h 1733727"/>
              <a:gd name="connsiteX20" fmla="*/ 2710562 w 3434699"/>
              <a:gd name="connsiteY20" fmla="*/ 445990 h 1733727"/>
              <a:gd name="connsiteX21" fmla="*/ 2703517 w 3434699"/>
              <a:gd name="connsiteY21" fmla="*/ 461519 h 1733727"/>
              <a:gd name="connsiteX22" fmla="*/ 2696238 w 3434699"/>
              <a:gd name="connsiteY22" fmla="*/ 476917 h 1733727"/>
              <a:gd name="connsiteX23" fmla="*/ 2688725 w 3434699"/>
              <a:gd name="connsiteY23" fmla="*/ 492191 h 1733727"/>
              <a:gd name="connsiteX24" fmla="*/ 2680983 w 3434699"/>
              <a:gd name="connsiteY24" fmla="*/ 507331 h 1733727"/>
              <a:gd name="connsiteX25" fmla="*/ 2673014 w 3434699"/>
              <a:gd name="connsiteY25" fmla="*/ 522334 h 1733727"/>
              <a:gd name="connsiteX26" fmla="*/ 2664817 w 3434699"/>
              <a:gd name="connsiteY26" fmla="*/ 537206 h 1733727"/>
              <a:gd name="connsiteX27" fmla="*/ 2656399 w 3434699"/>
              <a:gd name="connsiteY27" fmla="*/ 551933 h 1733727"/>
              <a:gd name="connsiteX28" fmla="*/ 2647756 w 3434699"/>
              <a:gd name="connsiteY28" fmla="*/ 566527 h 1733727"/>
              <a:gd name="connsiteX29" fmla="*/ 2638895 w 3434699"/>
              <a:gd name="connsiteY29" fmla="*/ 580973 h 1733727"/>
              <a:gd name="connsiteX30" fmla="*/ 2629819 w 3434699"/>
              <a:gd name="connsiteY30" fmla="*/ 595273 h 1733727"/>
              <a:gd name="connsiteX31" fmla="*/ 2620526 w 3434699"/>
              <a:gd name="connsiteY31" fmla="*/ 609426 h 1733727"/>
              <a:gd name="connsiteX32" fmla="*/ 2611018 w 3434699"/>
              <a:gd name="connsiteY32" fmla="*/ 623433 h 1733727"/>
              <a:gd name="connsiteX33" fmla="*/ 2601303 w 3434699"/>
              <a:gd name="connsiteY33" fmla="*/ 637282 h 1733727"/>
              <a:gd name="connsiteX34" fmla="*/ 2591379 w 3434699"/>
              <a:gd name="connsiteY34" fmla="*/ 650976 h 1733727"/>
              <a:gd name="connsiteX35" fmla="*/ 2581247 w 3434699"/>
              <a:gd name="connsiteY35" fmla="*/ 664515 h 1733727"/>
              <a:gd name="connsiteX36" fmla="*/ 2570914 w 3434699"/>
              <a:gd name="connsiteY36" fmla="*/ 677892 h 1733727"/>
              <a:gd name="connsiteX37" fmla="*/ 2560377 w 3434699"/>
              <a:gd name="connsiteY37" fmla="*/ 691109 h 1733727"/>
              <a:gd name="connsiteX38" fmla="*/ 2549644 w 3434699"/>
              <a:gd name="connsiteY38" fmla="*/ 704159 h 1733727"/>
              <a:gd name="connsiteX39" fmla="*/ 2538713 w 3434699"/>
              <a:gd name="connsiteY39" fmla="*/ 717041 h 1733727"/>
              <a:gd name="connsiteX40" fmla="*/ 2527586 w 3434699"/>
              <a:gd name="connsiteY40" fmla="*/ 729755 h 1733727"/>
              <a:gd name="connsiteX41" fmla="*/ 2516272 w 3434699"/>
              <a:gd name="connsiteY41" fmla="*/ 742292 h 1733727"/>
              <a:gd name="connsiteX42" fmla="*/ 2504761 w 3434699"/>
              <a:gd name="connsiteY42" fmla="*/ 754662 h 1733727"/>
              <a:gd name="connsiteX43" fmla="*/ 2493071 w 3434699"/>
              <a:gd name="connsiteY43" fmla="*/ 766847 h 1733727"/>
              <a:gd name="connsiteX44" fmla="*/ 2481194 w 3434699"/>
              <a:gd name="connsiteY44" fmla="*/ 778853 h 1733727"/>
              <a:gd name="connsiteX45" fmla="*/ 2469134 w 3434699"/>
              <a:gd name="connsiteY45" fmla="*/ 790679 h 1733727"/>
              <a:gd name="connsiteX46" fmla="*/ 2456892 w 3434699"/>
              <a:gd name="connsiteY46" fmla="*/ 802322 h 1733727"/>
              <a:gd name="connsiteX47" fmla="*/ 2444475 w 3434699"/>
              <a:gd name="connsiteY47" fmla="*/ 813775 h 1733727"/>
              <a:gd name="connsiteX48" fmla="*/ 2431885 w 3434699"/>
              <a:gd name="connsiteY48" fmla="*/ 825037 h 1733727"/>
              <a:gd name="connsiteX49" fmla="*/ 2419126 w 3434699"/>
              <a:gd name="connsiteY49" fmla="*/ 836104 h 1733727"/>
              <a:gd name="connsiteX50" fmla="*/ 2406190 w 3434699"/>
              <a:gd name="connsiteY50" fmla="*/ 846984 h 1733727"/>
              <a:gd name="connsiteX51" fmla="*/ 2393089 w 3434699"/>
              <a:gd name="connsiteY51" fmla="*/ 857663 h 1733727"/>
              <a:gd name="connsiteX52" fmla="*/ 2379826 w 3434699"/>
              <a:gd name="connsiteY52" fmla="*/ 868142 h 1733727"/>
              <a:gd name="connsiteX53" fmla="*/ 2366400 w 3434699"/>
              <a:gd name="connsiteY53" fmla="*/ 878419 h 1733727"/>
              <a:gd name="connsiteX54" fmla="*/ 2352813 w 3434699"/>
              <a:gd name="connsiteY54" fmla="*/ 888493 h 1733727"/>
              <a:gd name="connsiteX55" fmla="*/ 2339069 w 3434699"/>
              <a:gd name="connsiteY55" fmla="*/ 898361 h 1733727"/>
              <a:gd name="connsiteX56" fmla="*/ 2325171 w 3434699"/>
              <a:gd name="connsiteY56" fmla="*/ 908019 h 1733727"/>
              <a:gd name="connsiteX57" fmla="*/ 2311124 w 3434699"/>
              <a:gd name="connsiteY57" fmla="*/ 917464 h 1733727"/>
              <a:gd name="connsiteX58" fmla="*/ 2296922 w 3434699"/>
              <a:gd name="connsiteY58" fmla="*/ 926698 h 1733727"/>
              <a:gd name="connsiteX59" fmla="*/ 2282575 w 3434699"/>
              <a:gd name="connsiteY59" fmla="*/ 935716 h 1733727"/>
              <a:gd name="connsiteX60" fmla="*/ 2268080 w 3434699"/>
              <a:gd name="connsiteY60" fmla="*/ 944517 h 1733727"/>
              <a:gd name="connsiteX61" fmla="*/ 2253447 w 3434699"/>
              <a:gd name="connsiteY61" fmla="*/ 953095 h 1733727"/>
              <a:gd name="connsiteX62" fmla="*/ 2238672 w 3434699"/>
              <a:gd name="connsiteY62" fmla="*/ 961453 h 1733727"/>
              <a:gd name="connsiteX63" fmla="*/ 2223758 w 3434699"/>
              <a:gd name="connsiteY63" fmla="*/ 969586 h 1733727"/>
              <a:gd name="connsiteX64" fmla="*/ 2208710 w 3434699"/>
              <a:gd name="connsiteY64" fmla="*/ 977492 h 1733727"/>
              <a:gd name="connsiteX65" fmla="*/ 2193530 w 3434699"/>
              <a:gd name="connsiteY65" fmla="*/ 985168 h 1733727"/>
              <a:gd name="connsiteX66" fmla="*/ 2178217 w 3434699"/>
              <a:gd name="connsiteY66" fmla="*/ 992614 h 1733727"/>
              <a:gd name="connsiteX67" fmla="*/ 2162774 w 3434699"/>
              <a:gd name="connsiteY67" fmla="*/ 999828 h 1733727"/>
              <a:gd name="connsiteX68" fmla="*/ 2147205 w 3434699"/>
              <a:gd name="connsiteY68" fmla="*/ 1006806 h 1733727"/>
              <a:gd name="connsiteX69" fmla="*/ 2131514 w 3434699"/>
              <a:gd name="connsiteY69" fmla="*/ 1013546 h 1733727"/>
              <a:gd name="connsiteX70" fmla="*/ 2115699 w 3434699"/>
              <a:gd name="connsiteY70" fmla="*/ 1020047 h 1733727"/>
              <a:gd name="connsiteX71" fmla="*/ 2099766 w 3434699"/>
              <a:gd name="connsiteY71" fmla="*/ 1026306 h 1733727"/>
              <a:gd name="connsiteX72" fmla="*/ 2083707 w 3434699"/>
              <a:gd name="connsiteY72" fmla="*/ 1032324 h 1733727"/>
              <a:gd name="connsiteX73" fmla="*/ 2067543 w 3434699"/>
              <a:gd name="connsiteY73" fmla="*/ 1038092 h 1733727"/>
              <a:gd name="connsiteX74" fmla="*/ 2051253 w 3434699"/>
              <a:gd name="connsiteY74" fmla="*/ 1043616 h 1733727"/>
              <a:gd name="connsiteX75" fmla="*/ 2034857 w 3434699"/>
              <a:gd name="connsiteY75" fmla="*/ 1048889 h 1733727"/>
              <a:gd name="connsiteX76" fmla="*/ 2018352 w 3434699"/>
              <a:gd name="connsiteY76" fmla="*/ 1053908 h 1733727"/>
              <a:gd name="connsiteX77" fmla="*/ 2001732 w 3434699"/>
              <a:gd name="connsiteY77" fmla="*/ 1058676 h 1733727"/>
              <a:gd name="connsiteX78" fmla="*/ 1985005 w 3434699"/>
              <a:gd name="connsiteY78" fmla="*/ 1063188 h 1733727"/>
              <a:gd name="connsiteX79" fmla="*/ 1968176 w 3434699"/>
              <a:gd name="connsiteY79" fmla="*/ 1067441 h 1733727"/>
              <a:gd name="connsiteX80" fmla="*/ 1951240 w 3434699"/>
              <a:gd name="connsiteY80" fmla="*/ 1071434 h 1733727"/>
              <a:gd name="connsiteX81" fmla="*/ 1934208 w 3434699"/>
              <a:gd name="connsiteY81" fmla="*/ 1075162 h 1733727"/>
              <a:gd name="connsiteX82" fmla="*/ 1917062 w 3434699"/>
              <a:gd name="connsiteY82" fmla="*/ 1078629 h 1733727"/>
              <a:gd name="connsiteX83" fmla="*/ 1899825 w 3434699"/>
              <a:gd name="connsiteY83" fmla="*/ 1081828 h 1733727"/>
              <a:gd name="connsiteX84" fmla="*/ 1882490 w 3434699"/>
              <a:gd name="connsiteY84" fmla="*/ 1084757 h 1733727"/>
              <a:gd name="connsiteX85" fmla="*/ 1865056 w 3434699"/>
              <a:gd name="connsiteY85" fmla="*/ 1087415 h 1733727"/>
              <a:gd name="connsiteX86" fmla="*/ 1847519 w 3434699"/>
              <a:gd name="connsiteY86" fmla="*/ 1089800 h 1733727"/>
              <a:gd name="connsiteX87" fmla="*/ 1829899 w 3434699"/>
              <a:gd name="connsiteY87" fmla="*/ 1091908 h 1733727"/>
              <a:gd name="connsiteX88" fmla="*/ 1812177 w 3434699"/>
              <a:gd name="connsiteY88" fmla="*/ 1093739 h 1733727"/>
              <a:gd name="connsiteX89" fmla="*/ 1794371 w 3434699"/>
              <a:gd name="connsiteY89" fmla="*/ 1095287 h 1733727"/>
              <a:gd name="connsiteX90" fmla="*/ 1776459 w 3434699"/>
              <a:gd name="connsiteY90" fmla="*/ 1096554 h 1733727"/>
              <a:gd name="connsiteX91" fmla="*/ 1758470 w 3434699"/>
              <a:gd name="connsiteY91" fmla="*/ 1097533 h 1733727"/>
              <a:gd name="connsiteX92" fmla="*/ 1740383 w 3434699"/>
              <a:gd name="connsiteY92" fmla="*/ 1098225 h 1733727"/>
              <a:gd name="connsiteX93" fmla="*/ 1722210 w 3434699"/>
              <a:gd name="connsiteY93" fmla="*/ 1098625 h 1733727"/>
              <a:gd name="connsiteX94" fmla="*/ 1706524 w 3434699"/>
              <a:gd name="connsiteY94" fmla="*/ 1098727 h 1733727"/>
              <a:gd name="connsiteX95" fmla="*/ 1492 w 3434699"/>
              <a:gd name="connsiteY95" fmla="*/ 1098726 h 1733727"/>
              <a:gd name="connsiteX96" fmla="*/ 130815 w 3434699"/>
              <a:gd name="connsiteY96" fmla="*/ 1414405 h 1733727"/>
              <a:gd name="connsiteX97" fmla="*/ 0 w 3434699"/>
              <a:gd name="connsiteY97" fmla="*/ 1733726 h 1733727"/>
              <a:gd name="connsiteX98" fmla="*/ 1706524 w 3434699"/>
              <a:gd name="connsiteY98" fmla="*/ 1733727 h 1733727"/>
              <a:gd name="connsiteX99" fmla="*/ 1737648 w 3434699"/>
              <a:gd name="connsiteY99" fmla="*/ 1733438 h 1733727"/>
              <a:gd name="connsiteX100" fmla="*/ 1766106 w 3434699"/>
              <a:gd name="connsiteY100" fmla="*/ 1732704 h 1733727"/>
              <a:gd name="connsiteX101" fmla="*/ 1794461 w 3434699"/>
              <a:gd name="connsiteY101" fmla="*/ 1731512 h 1733727"/>
              <a:gd name="connsiteX102" fmla="*/ 1822719 w 3434699"/>
              <a:gd name="connsiteY102" fmla="*/ 1729866 h 1733727"/>
              <a:gd name="connsiteX103" fmla="*/ 1850853 w 3434699"/>
              <a:gd name="connsiteY103" fmla="*/ 1727770 h 1733727"/>
              <a:gd name="connsiteX104" fmla="*/ 1878886 w 3434699"/>
              <a:gd name="connsiteY104" fmla="*/ 1725225 h 1733727"/>
              <a:gd name="connsiteX105" fmla="*/ 1906791 w 3434699"/>
              <a:gd name="connsiteY105" fmla="*/ 1722236 h 1733727"/>
              <a:gd name="connsiteX106" fmla="*/ 1934579 w 3434699"/>
              <a:gd name="connsiteY106" fmla="*/ 1718804 h 1733727"/>
              <a:gd name="connsiteX107" fmla="*/ 1962225 w 3434699"/>
              <a:gd name="connsiteY107" fmla="*/ 1714936 h 1733727"/>
              <a:gd name="connsiteX108" fmla="*/ 1989744 w 3434699"/>
              <a:gd name="connsiteY108" fmla="*/ 1710633 h 1733727"/>
              <a:gd name="connsiteX109" fmla="*/ 2017128 w 3434699"/>
              <a:gd name="connsiteY109" fmla="*/ 1705899 h 1733727"/>
              <a:gd name="connsiteX110" fmla="*/ 2044367 w 3434699"/>
              <a:gd name="connsiteY110" fmla="*/ 1700738 h 1733727"/>
              <a:gd name="connsiteX111" fmla="*/ 2071449 w 3434699"/>
              <a:gd name="connsiteY111" fmla="*/ 1695154 h 1733727"/>
              <a:gd name="connsiteX112" fmla="*/ 2098393 w 3434699"/>
              <a:gd name="connsiteY112" fmla="*/ 1689148 h 1733727"/>
              <a:gd name="connsiteX113" fmla="*/ 2125173 w 3434699"/>
              <a:gd name="connsiteY113" fmla="*/ 1682727 h 1733727"/>
              <a:gd name="connsiteX114" fmla="*/ 2151794 w 3434699"/>
              <a:gd name="connsiteY114" fmla="*/ 1675893 h 1733727"/>
              <a:gd name="connsiteX115" fmla="*/ 2178247 w 3434699"/>
              <a:gd name="connsiteY115" fmla="*/ 1668650 h 1733727"/>
              <a:gd name="connsiteX116" fmla="*/ 2204530 w 3434699"/>
              <a:gd name="connsiteY116" fmla="*/ 1661002 h 1733727"/>
              <a:gd name="connsiteX117" fmla="*/ 2230647 w 3434699"/>
              <a:gd name="connsiteY117" fmla="*/ 1652951 h 1733727"/>
              <a:gd name="connsiteX118" fmla="*/ 2256583 w 3434699"/>
              <a:gd name="connsiteY118" fmla="*/ 1644503 h 1733727"/>
              <a:gd name="connsiteX119" fmla="*/ 2282331 w 3434699"/>
              <a:gd name="connsiteY119" fmla="*/ 1635663 h 1733727"/>
              <a:gd name="connsiteX120" fmla="*/ 2307906 w 3434699"/>
              <a:gd name="connsiteY120" fmla="*/ 1626428 h 1733727"/>
              <a:gd name="connsiteX121" fmla="*/ 2333279 w 3434699"/>
              <a:gd name="connsiteY121" fmla="*/ 1616811 h 1733727"/>
              <a:gd name="connsiteX122" fmla="*/ 2358467 w 3434699"/>
              <a:gd name="connsiteY122" fmla="*/ 1606808 h 1733727"/>
              <a:gd name="connsiteX123" fmla="*/ 2383454 w 3434699"/>
              <a:gd name="connsiteY123" fmla="*/ 1596428 h 1733727"/>
              <a:gd name="connsiteX124" fmla="*/ 2408243 w 3434699"/>
              <a:gd name="connsiteY124" fmla="*/ 1585671 h 1733727"/>
              <a:gd name="connsiteX125" fmla="*/ 2432825 w 3434699"/>
              <a:gd name="connsiteY125" fmla="*/ 1574543 h 1733727"/>
              <a:gd name="connsiteX126" fmla="*/ 2457198 w 3434699"/>
              <a:gd name="connsiteY126" fmla="*/ 1563048 h 1733727"/>
              <a:gd name="connsiteX127" fmla="*/ 2481359 w 3434699"/>
              <a:gd name="connsiteY127" fmla="*/ 1551189 h 1733727"/>
              <a:gd name="connsiteX128" fmla="*/ 2505307 w 3434699"/>
              <a:gd name="connsiteY128" fmla="*/ 1538968 h 1733727"/>
              <a:gd name="connsiteX129" fmla="*/ 2529036 w 3434699"/>
              <a:gd name="connsiteY129" fmla="*/ 1526390 h 1733727"/>
              <a:gd name="connsiteX130" fmla="*/ 2552539 w 3434699"/>
              <a:gd name="connsiteY130" fmla="*/ 1513460 h 1733727"/>
              <a:gd name="connsiteX131" fmla="*/ 2575817 w 3434699"/>
              <a:gd name="connsiteY131" fmla="*/ 1500181 h 1733727"/>
              <a:gd name="connsiteX132" fmla="*/ 2598867 w 3434699"/>
              <a:gd name="connsiteY132" fmla="*/ 1486555 h 1733727"/>
              <a:gd name="connsiteX133" fmla="*/ 2621680 w 3434699"/>
              <a:gd name="connsiteY133" fmla="*/ 1472588 h 1733727"/>
              <a:gd name="connsiteX134" fmla="*/ 2644259 w 3434699"/>
              <a:gd name="connsiteY134" fmla="*/ 1458282 h 1733727"/>
              <a:gd name="connsiteX135" fmla="*/ 2666596 w 3434699"/>
              <a:gd name="connsiteY135" fmla="*/ 1443642 h 1733727"/>
              <a:gd name="connsiteX136" fmla="*/ 2688694 w 3434699"/>
              <a:gd name="connsiteY136" fmla="*/ 1428669 h 1733727"/>
              <a:gd name="connsiteX137" fmla="*/ 2710542 w 3434699"/>
              <a:gd name="connsiteY137" fmla="*/ 1413369 h 1733727"/>
              <a:gd name="connsiteX138" fmla="*/ 2732139 w 3434699"/>
              <a:gd name="connsiteY138" fmla="*/ 1397745 h 1733727"/>
              <a:gd name="connsiteX139" fmla="*/ 2753482 w 3434699"/>
              <a:gd name="connsiteY139" fmla="*/ 1381800 h 1733727"/>
              <a:gd name="connsiteX140" fmla="*/ 2774571 w 3434699"/>
              <a:gd name="connsiteY140" fmla="*/ 1365537 h 1733727"/>
              <a:gd name="connsiteX141" fmla="*/ 2795398 w 3434699"/>
              <a:gd name="connsiteY141" fmla="*/ 1348960 h 1733727"/>
              <a:gd name="connsiteX142" fmla="*/ 2815961 w 3434699"/>
              <a:gd name="connsiteY142" fmla="*/ 1332074 h 1733727"/>
              <a:gd name="connsiteX143" fmla="*/ 2836254 w 3434699"/>
              <a:gd name="connsiteY143" fmla="*/ 1314884 h 1733727"/>
              <a:gd name="connsiteX144" fmla="*/ 2856284 w 3434699"/>
              <a:gd name="connsiteY144" fmla="*/ 1297384 h 1733727"/>
              <a:gd name="connsiteX145" fmla="*/ 2876037 w 3434699"/>
              <a:gd name="connsiteY145" fmla="*/ 1279585 h 1733727"/>
              <a:gd name="connsiteX146" fmla="*/ 2895512 w 3434699"/>
              <a:gd name="connsiteY146" fmla="*/ 1261492 h 1733727"/>
              <a:gd name="connsiteX147" fmla="*/ 2914705 w 3434699"/>
              <a:gd name="connsiteY147" fmla="*/ 1243107 h 1733727"/>
              <a:gd name="connsiteX148" fmla="*/ 2933616 w 3434699"/>
              <a:gd name="connsiteY148" fmla="*/ 1224431 h 1733727"/>
              <a:gd name="connsiteX149" fmla="*/ 2952242 w 3434699"/>
              <a:gd name="connsiteY149" fmla="*/ 1205466 h 1733727"/>
              <a:gd name="connsiteX150" fmla="*/ 2970579 w 3434699"/>
              <a:gd name="connsiteY150" fmla="*/ 1186216 h 1733727"/>
              <a:gd name="connsiteX151" fmla="*/ 2988615 w 3434699"/>
              <a:gd name="connsiteY151" fmla="*/ 1166693 h 1733727"/>
              <a:gd name="connsiteX152" fmla="*/ 3006361 w 3434699"/>
              <a:gd name="connsiteY152" fmla="*/ 1146888 h 1733727"/>
              <a:gd name="connsiteX153" fmla="*/ 3023803 w 3434699"/>
              <a:gd name="connsiteY153" fmla="*/ 1126812 h 1733727"/>
              <a:gd name="connsiteX154" fmla="*/ 3040941 w 3434699"/>
              <a:gd name="connsiteY154" fmla="*/ 1106466 h 1733727"/>
              <a:gd name="connsiteX155" fmla="*/ 3057773 w 3434699"/>
              <a:gd name="connsiteY155" fmla="*/ 1085852 h 1733727"/>
              <a:gd name="connsiteX156" fmla="*/ 3074292 w 3434699"/>
              <a:gd name="connsiteY156" fmla="*/ 1064978 h 1733727"/>
              <a:gd name="connsiteX157" fmla="*/ 3090499 w 3434699"/>
              <a:gd name="connsiteY157" fmla="*/ 1043841 h 1733727"/>
              <a:gd name="connsiteX158" fmla="*/ 3106386 w 3434699"/>
              <a:gd name="connsiteY158" fmla="*/ 1022449 h 1733727"/>
              <a:gd name="connsiteX159" fmla="*/ 3121954 w 3434699"/>
              <a:gd name="connsiteY159" fmla="*/ 1000803 h 1733727"/>
              <a:gd name="connsiteX160" fmla="*/ 3137196 w 3434699"/>
              <a:gd name="connsiteY160" fmla="*/ 978906 h 1733727"/>
              <a:gd name="connsiteX161" fmla="*/ 3152108 w 3434699"/>
              <a:gd name="connsiteY161" fmla="*/ 956767 h 1733727"/>
              <a:gd name="connsiteX162" fmla="*/ 3166689 w 3434699"/>
              <a:gd name="connsiteY162" fmla="*/ 934382 h 1733727"/>
              <a:gd name="connsiteX163" fmla="*/ 3180936 w 3434699"/>
              <a:gd name="connsiteY163" fmla="*/ 911756 h 1733727"/>
              <a:gd name="connsiteX164" fmla="*/ 3194843 w 3434699"/>
              <a:gd name="connsiteY164" fmla="*/ 888894 h 1733727"/>
              <a:gd name="connsiteX165" fmla="*/ 3208404 w 3434699"/>
              <a:gd name="connsiteY165" fmla="*/ 865804 h 1733727"/>
              <a:gd name="connsiteX166" fmla="*/ 3221623 w 3434699"/>
              <a:gd name="connsiteY166" fmla="*/ 842479 h 1733727"/>
              <a:gd name="connsiteX167" fmla="*/ 3234489 w 3434699"/>
              <a:gd name="connsiteY167" fmla="*/ 818933 h 1733727"/>
              <a:gd name="connsiteX168" fmla="*/ 3247004 w 3434699"/>
              <a:gd name="connsiteY168" fmla="*/ 795160 h 1733727"/>
              <a:gd name="connsiteX169" fmla="*/ 3259159 w 3434699"/>
              <a:gd name="connsiteY169" fmla="*/ 771172 h 1733727"/>
              <a:gd name="connsiteX170" fmla="*/ 3270952 w 3434699"/>
              <a:gd name="connsiteY170" fmla="*/ 746971 h 1733727"/>
              <a:gd name="connsiteX171" fmla="*/ 3282382 w 3434699"/>
              <a:gd name="connsiteY171" fmla="*/ 722554 h 1733727"/>
              <a:gd name="connsiteX172" fmla="*/ 3293443 w 3434699"/>
              <a:gd name="connsiteY172" fmla="*/ 697932 h 1733727"/>
              <a:gd name="connsiteX173" fmla="*/ 3304132 w 3434699"/>
              <a:gd name="connsiteY173" fmla="*/ 673103 h 1733727"/>
              <a:gd name="connsiteX174" fmla="*/ 3314443 w 3434699"/>
              <a:gd name="connsiteY174" fmla="*/ 648078 h 1733727"/>
              <a:gd name="connsiteX175" fmla="*/ 3324375 w 3434699"/>
              <a:gd name="connsiteY175" fmla="*/ 622858 h 1733727"/>
              <a:gd name="connsiteX176" fmla="*/ 3333925 w 3434699"/>
              <a:gd name="connsiteY176" fmla="*/ 597439 h 1733727"/>
              <a:gd name="connsiteX177" fmla="*/ 3343084 w 3434699"/>
              <a:gd name="connsiteY177" fmla="*/ 571839 h 1733727"/>
              <a:gd name="connsiteX178" fmla="*/ 3351856 w 3434699"/>
              <a:gd name="connsiteY178" fmla="*/ 546048 h 1733727"/>
              <a:gd name="connsiteX179" fmla="*/ 3360230 w 3434699"/>
              <a:gd name="connsiteY179" fmla="*/ 520081 h 1733727"/>
              <a:gd name="connsiteX180" fmla="*/ 3368206 w 3434699"/>
              <a:gd name="connsiteY180" fmla="*/ 493937 h 1733727"/>
              <a:gd name="connsiteX181" fmla="*/ 3375780 w 3434699"/>
              <a:gd name="connsiteY181" fmla="*/ 467619 h 1733727"/>
              <a:gd name="connsiteX182" fmla="*/ 3382948 w 3434699"/>
              <a:gd name="connsiteY182" fmla="*/ 441134 h 1733727"/>
              <a:gd name="connsiteX183" fmla="*/ 3389705 w 3434699"/>
              <a:gd name="connsiteY183" fmla="*/ 414487 h 1733727"/>
              <a:gd name="connsiteX184" fmla="*/ 3396049 w 3434699"/>
              <a:gd name="connsiteY184" fmla="*/ 387679 h 1733727"/>
              <a:gd name="connsiteX185" fmla="*/ 3401977 w 3434699"/>
              <a:gd name="connsiteY185" fmla="*/ 360716 h 1733727"/>
              <a:gd name="connsiteX186" fmla="*/ 3407483 w 3434699"/>
              <a:gd name="connsiteY186" fmla="*/ 333602 h 1733727"/>
              <a:gd name="connsiteX187" fmla="*/ 3412565 w 3434699"/>
              <a:gd name="connsiteY187" fmla="*/ 306344 h 1733727"/>
              <a:gd name="connsiteX188" fmla="*/ 3417219 w 3434699"/>
              <a:gd name="connsiteY188" fmla="*/ 278941 h 1733727"/>
              <a:gd name="connsiteX189" fmla="*/ 3421442 w 3434699"/>
              <a:gd name="connsiteY189" fmla="*/ 251405 h 1733727"/>
              <a:gd name="connsiteX190" fmla="*/ 3425230 w 3434699"/>
              <a:gd name="connsiteY190" fmla="*/ 223734 h 1733727"/>
              <a:gd name="connsiteX191" fmla="*/ 3428579 w 3434699"/>
              <a:gd name="connsiteY191" fmla="*/ 195935 h 1733727"/>
              <a:gd name="connsiteX192" fmla="*/ 3431487 w 3434699"/>
              <a:gd name="connsiteY192" fmla="*/ 168014 h 1733727"/>
              <a:gd name="connsiteX193" fmla="*/ 3433949 w 3434699"/>
              <a:gd name="connsiteY193" fmla="*/ 139977 h 1733727"/>
              <a:gd name="connsiteX194" fmla="*/ 3434699 w 3434699"/>
              <a:gd name="connsiteY194" fmla="*/ 129504 h 1733727"/>
              <a:gd name="connsiteX195" fmla="*/ 3118577 w 3434699"/>
              <a:gd name="connsiteY195" fmla="*/ 0 h 1733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3434699" h="1733727">
                <a:moveTo>
                  <a:pt x="3118577" y="0"/>
                </a:moveTo>
                <a:lnTo>
                  <a:pt x="2796768" y="131834"/>
                </a:lnTo>
                <a:lnTo>
                  <a:pt x="2794902" y="146839"/>
                </a:lnTo>
                <a:lnTo>
                  <a:pt x="2792437" y="164351"/>
                </a:lnTo>
                <a:lnTo>
                  <a:pt x="2789698" y="181768"/>
                </a:lnTo>
                <a:lnTo>
                  <a:pt x="2786689" y="199084"/>
                </a:lnTo>
                <a:lnTo>
                  <a:pt x="2783411" y="216301"/>
                </a:lnTo>
                <a:lnTo>
                  <a:pt x="2779867" y="233416"/>
                </a:lnTo>
                <a:lnTo>
                  <a:pt x="2776060" y="250427"/>
                </a:lnTo>
                <a:lnTo>
                  <a:pt x="2771990" y="267336"/>
                </a:lnTo>
                <a:lnTo>
                  <a:pt x="2767661" y="284140"/>
                </a:lnTo>
                <a:lnTo>
                  <a:pt x="2763074" y="300835"/>
                </a:lnTo>
                <a:lnTo>
                  <a:pt x="2758233" y="317419"/>
                </a:lnTo>
                <a:lnTo>
                  <a:pt x="2753138" y="333896"/>
                </a:lnTo>
                <a:lnTo>
                  <a:pt x="2747792" y="350263"/>
                </a:lnTo>
                <a:lnTo>
                  <a:pt x="2742198" y="366509"/>
                </a:lnTo>
                <a:lnTo>
                  <a:pt x="2736355" y="382648"/>
                </a:lnTo>
                <a:lnTo>
                  <a:pt x="2730270" y="398660"/>
                </a:lnTo>
                <a:lnTo>
                  <a:pt x="2723940" y="414561"/>
                </a:lnTo>
                <a:lnTo>
                  <a:pt x="2717369" y="430339"/>
                </a:lnTo>
                <a:lnTo>
                  <a:pt x="2710562" y="445990"/>
                </a:lnTo>
                <a:lnTo>
                  <a:pt x="2703517" y="461519"/>
                </a:lnTo>
                <a:lnTo>
                  <a:pt x="2696238" y="476917"/>
                </a:lnTo>
                <a:lnTo>
                  <a:pt x="2688725" y="492191"/>
                </a:lnTo>
                <a:lnTo>
                  <a:pt x="2680983" y="507331"/>
                </a:lnTo>
                <a:lnTo>
                  <a:pt x="2673014" y="522334"/>
                </a:lnTo>
                <a:lnTo>
                  <a:pt x="2664817" y="537206"/>
                </a:lnTo>
                <a:lnTo>
                  <a:pt x="2656399" y="551933"/>
                </a:lnTo>
                <a:lnTo>
                  <a:pt x="2647756" y="566527"/>
                </a:lnTo>
                <a:lnTo>
                  <a:pt x="2638895" y="580973"/>
                </a:lnTo>
                <a:lnTo>
                  <a:pt x="2629819" y="595273"/>
                </a:lnTo>
                <a:lnTo>
                  <a:pt x="2620526" y="609426"/>
                </a:lnTo>
                <a:lnTo>
                  <a:pt x="2611018" y="623433"/>
                </a:lnTo>
                <a:lnTo>
                  <a:pt x="2601303" y="637282"/>
                </a:lnTo>
                <a:lnTo>
                  <a:pt x="2591379" y="650976"/>
                </a:lnTo>
                <a:lnTo>
                  <a:pt x="2581247" y="664515"/>
                </a:lnTo>
                <a:lnTo>
                  <a:pt x="2570914" y="677892"/>
                </a:lnTo>
                <a:lnTo>
                  <a:pt x="2560377" y="691109"/>
                </a:lnTo>
                <a:lnTo>
                  <a:pt x="2549644" y="704159"/>
                </a:lnTo>
                <a:lnTo>
                  <a:pt x="2538713" y="717041"/>
                </a:lnTo>
                <a:lnTo>
                  <a:pt x="2527586" y="729755"/>
                </a:lnTo>
                <a:lnTo>
                  <a:pt x="2516272" y="742292"/>
                </a:lnTo>
                <a:lnTo>
                  <a:pt x="2504761" y="754662"/>
                </a:lnTo>
                <a:lnTo>
                  <a:pt x="2493071" y="766847"/>
                </a:lnTo>
                <a:lnTo>
                  <a:pt x="2481194" y="778853"/>
                </a:lnTo>
                <a:lnTo>
                  <a:pt x="2469134" y="790679"/>
                </a:lnTo>
                <a:lnTo>
                  <a:pt x="2456892" y="802322"/>
                </a:lnTo>
                <a:lnTo>
                  <a:pt x="2444475" y="813775"/>
                </a:lnTo>
                <a:lnTo>
                  <a:pt x="2431885" y="825037"/>
                </a:lnTo>
                <a:lnTo>
                  <a:pt x="2419126" y="836104"/>
                </a:lnTo>
                <a:lnTo>
                  <a:pt x="2406190" y="846984"/>
                </a:lnTo>
                <a:lnTo>
                  <a:pt x="2393089" y="857663"/>
                </a:lnTo>
                <a:lnTo>
                  <a:pt x="2379826" y="868142"/>
                </a:lnTo>
                <a:lnTo>
                  <a:pt x="2366400" y="878419"/>
                </a:lnTo>
                <a:lnTo>
                  <a:pt x="2352813" y="888493"/>
                </a:lnTo>
                <a:lnTo>
                  <a:pt x="2339069" y="898361"/>
                </a:lnTo>
                <a:lnTo>
                  <a:pt x="2325171" y="908019"/>
                </a:lnTo>
                <a:lnTo>
                  <a:pt x="2311124" y="917464"/>
                </a:lnTo>
                <a:lnTo>
                  <a:pt x="2296922" y="926698"/>
                </a:lnTo>
                <a:lnTo>
                  <a:pt x="2282575" y="935716"/>
                </a:lnTo>
                <a:lnTo>
                  <a:pt x="2268080" y="944517"/>
                </a:lnTo>
                <a:lnTo>
                  <a:pt x="2253447" y="953095"/>
                </a:lnTo>
                <a:lnTo>
                  <a:pt x="2238672" y="961453"/>
                </a:lnTo>
                <a:lnTo>
                  <a:pt x="2223758" y="969586"/>
                </a:lnTo>
                <a:lnTo>
                  <a:pt x="2208710" y="977492"/>
                </a:lnTo>
                <a:lnTo>
                  <a:pt x="2193530" y="985168"/>
                </a:lnTo>
                <a:lnTo>
                  <a:pt x="2178217" y="992614"/>
                </a:lnTo>
                <a:lnTo>
                  <a:pt x="2162774" y="999828"/>
                </a:lnTo>
                <a:lnTo>
                  <a:pt x="2147205" y="1006806"/>
                </a:lnTo>
                <a:lnTo>
                  <a:pt x="2131514" y="1013546"/>
                </a:lnTo>
                <a:lnTo>
                  <a:pt x="2115699" y="1020047"/>
                </a:lnTo>
                <a:lnTo>
                  <a:pt x="2099766" y="1026306"/>
                </a:lnTo>
                <a:lnTo>
                  <a:pt x="2083707" y="1032324"/>
                </a:lnTo>
                <a:lnTo>
                  <a:pt x="2067543" y="1038092"/>
                </a:lnTo>
                <a:lnTo>
                  <a:pt x="2051253" y="1043616"/>
                </a:lnTo>
                <a:lnTo>
                  <a:pt x="2034857" y="1048889"/>
                </a:lnTo>
                <a:lnTo>
                  <a:pt x="2018352" y="1053908"/>
                </a:lnTo>
                <a:lnTo>
                  <a:pt x="2001732" y="1058676"/>
                </a:lnTo>
                <a:lnTo>
                  <a:pt x="1985005" y="1063188"/>
                </a:lnTo>
                <a:lnTo>
                  <a:pt x="1968176" y="1067441"/>
                </a:lnTo>
                <a:lnTo>
                  <a:pt x="1951240" y="1071434"/>
                </a:lnTo>
                <a:lnTo>
                  <a:pt x="1934208" y="1075162"/>
                </a:lnTo>
                <a:lnTo>
                  <a:pt x="1917062" y="1078629"/>
                </a:lnTo>
                <a:lnTo>
                  <a:pt x="1899825" y="1081828"/>
                </a:lnTo>
                <a:lnTo>
                  <a:pt x="1882490" y="1084757"/>
                </a:lnTo>
                <a:lnTo>
                  <a:pt x="1865056" y="1087415"/>
                </a:lnTo>
                <a:lnTo>
                  <a:pt x="1847519" y="1089800"/>
                </a:lnTo>
                <a:lnTo>
                  <a:pt x="1829899" y="1091908"/>
                </a:lnTo>
                <a:lnTo>
                  <a:pt x="1812177" y="1093739"/>
                </a:lnTo>
                <a:lnTo>
                  <a:pt x="1794371" y="1095287"/>
                </a:lnTo>
                <a:lnTo>
                  <a:pt x="1776459" y="1096554"/>
                </a:lnTo>
                <a:lnTo>
                  <a:pt x="1758470" y="1097533"/>
                </a:lnTo>
                <a:lnTo>
                  <a:pt x="1740383" y="1098225"/>
                </a:lnTo>
                <a:lnTo>
                  <a:pt x="1722210" y="1098625"/>
                </a:lnTo>
                <a:lnTo>
                  <a:pt x="1706524" y="1098727"/>
                </a:lnTo>
                <a:lnTo>
                  <a:pt x="1492" y="1098726"/>
                </a:lnTo>
                <a:lnTo>
                  <a:pt x="130815" y="1414405"/>
                </a:lnTo>
                <a:lnTo>
                  <a:pt x="0" y="1733726"/>
                </a:lnTo>
                <a:lnTo>
                  <a:pt x="1706524" y="1733727"/>
                </a:lnTo>
                <a:lnTo>
                  <a:pt x="1737648" y="1733438"/>
                </a:lnTo>
                <a:lnTo>
                  <a:pt x="1766106" y="1732704"/>
                </a:lnTo>
                <a:lnTo>
                  <a:pt x="1794461" y="1731512"/>
                </a:lnTo>
                <a:lnTo>
                  <a:pt x="1822719" y="1729866"/>
                </a:lnTo>
                <a:lnTo>
                  <a:pt x="1850853" y="1727770"/>
                </a:lnTo>
                <a:lnTo>
                  <a:pt x="1878886" y="1725225"/>
                </a:lnTo>
                <a:lnTo>
                  <a:pt x="1906791" y="1722236"/>
                </a:lnTo>
                <a:lnTo>
                  <a:pt x="1934579" y="1718804"/>
                </a:lnTo>
                <a:lnTo>
                  <a:pt x="1962225" y="1714936"/>
                </a:lnTo>
                <a:lnTo>
                  <a:pt x="1989744" y="1710633"/>
                </a:lnTo>
                <a:lnTo>
                  <a:pt x="2017128" y="1705899"/>
                </a:lnTo>
                <a:lnTo>
                  <a:pt x="2044367" y="1700738"/>
                </a:lnTo>
                <a:lnTo>
                  <a:pt x="2071449" y="1695154"/>
                </a:lnTo>
                <a:lnTo>
                  <a:pt x="2098393" y="1689148"/>
                </a:lnTo>
                <a:lnTo>
                  <a:pt x="2125173" y="1682727"/>
                </a:lnTo>
                <a:lnTo>
                  <a:pt x="2151794" y="1675893"/>
                </a:lnTo>
                <a:lnTo>
                  <a:pt x="2178247" y="1668650"/>
                </a:lnTo>
                <a:lnTo>
                  <a:pt x="2204530" y="1661002"/>
                </a:lnTo>
                <a:lnTo>
                  <a:pt x="2230647" y="1652951"/>
                </a:lnTo>
                <a:lnTo>
                  <a:pt x="2256583" y="1644503"/>
                </a:lnTo>
                <a:lnTo>
                  <a:pt x="2282331" y="1635663"/>
                </a:lnTo>
                <a:lnTo>
                  <a:pt x="2307906" y="1626428"/>
                </a:lnTo>
                <a:lnTo>
                  <a:pt x="2333279" y="1616811"/>
                </a:lnTo>
                <a:lnTo>
                  <a:pt x="2358467" y="1606808"/>
                </a:lnTo>
                <a:lnTo>
                  <a:pt x="2383454" y="1596428"/>
                </a:lnTo>
                <a:lnTo>
                  <a:pt x="2408243" y="1585671"/>
                </a:lnTo>
                <a:lnTo>
                  <a:pt x="2432825" y="1574543"/>
                </a:lnTo>
                <a:lnTo>
                  <a:pt x="2457198" y="1563048"/>
                </a:lnTo>
                <a:lnTo>
                  <a:pt x="2481359" y="1551189"/>
                </a:lnTo>
                <a:lnTo>
                  <a:pt x="2505307" y="1538968"/>
                </a:lnTo>
                <a:lnTo>
                  <a:pt x="2529036" y="1526390"/>
                </a:lnTo>
                <a:lnTo>
                  <a:pt x="2552539" y="1513460"/>
                </a:lnTo>
                <a:lnTo>
                  <a:pt x="2575817" y="1500181"/>
                </a:lnTo>
                <a:lnTo>
                  <a:pt x="2598867" y="1486555"/>
                </a:lnTo>
                <a:lnTo>
                  <a:pt x="2621680" y="1472588"/>
                </a:lnTo>
                <a:lnTo>
                  <a:pt x="2644259" y="1458282"/>
                </a:lnTo>
                <a:lnTo>
                  <a:pt x="2666596" y="1443642"/>
                </a:lnTo>
                <a:lnTo>
                  <a:pt x="2688694" y="1428669"/>
                </a:lnTo>
                <a:lnTo>
                  <a:pt x="2710542" y="1413369"/>
                </a:lnTo>
                <a:lnTo>
                  <a:pt x="2732139" y="1397745"/>
                </a:lnTo>
                <a:lnTo>
                  <a:pt x="2753482" y="1381800"/>
                </a:lnTo>
                <a:lnTo>
                  <a:pt x="2774571" y="1365537"/>
                </a:lnTo>
                <a:lnTo>
                  <a:pt x="2795398" y="1348960"/>
                </a:lnTo>
                <a:lnTo>
                  <a:pt x="2815961" y="1332074"/>
                </a:lnTo>
                <a:lnTo>
                  <a:pt x="2836254" y="1314884"/>
                </a:lnTo>
                <a:lnTo>
                  <a:pt x="2856284" y="1297384"/>
                </a:lnTo>
                <a:lnTo>
                  <a:pt x="2876037" y="1279585"/>
                </a:lnTo>
                <a:lnTo>
                  <a:pt x="2895512" y="1261492"/>
                </a:lnTo>
                <a:lnTo>
                  <a:pt x="2914705" y="1243107"/>
                </a:lnTo>
                <a:lnTo>
                  <a:pt x="2933616" y="1224431"/>
                </a:lnTo>
                <a:lnTo>
                  <a:pt x="2952242" y="1205466"/>
                </a:lnTo>
                <a:lnTo>
                  <a:pt x="2970579" y="1186216"/>
                </a:lnTo>
                <a:lnTo>
                  <a:pt x="2988615" y="1166693"/>
                </a:lnTo>
                <a:lnTo>
                  <a:pt x="3006361" y="1146888"/>
                </a:lnTo>
                <a:lnTo>
                  <a:pt x="3023803" y="1126812"/>
                </a:lnTo>
                <a:lnTo>
                  <a:pt x="3040941" y="1106466"/>
                </a:lnTo>
                <a:lnTo>
                  <a:pt x="3057773" y="1085852"/>
                </a:lnTo>
                <a:lnTo>
                  <a:pt x="3074292" y="1064978"/>
                </a:lnTo>
                <a:lnTo>
                  <a:pt x="3090499" y="1043841"/>
                </a:lnTo>
                <a:lnTo>
                  <a:pt x="3106386" y="1022449"/>
                </a:lnTo>
                <a:lnTo>
                  <a:pt x="3121954" y="1000803"/>
                </a:lnTo>
                <a:lnTo>
                  <a:pt x="3137196" y="978906"/>
                </a:lnTo>
                <a:lnTo>
                  <a:pt x="3152108" y="956767"/>
                </a:lnTo>
                <a:lnTo>
                  <a:pt x="3166689" y="934382"/>
                </a:lnTo>
                <a:lnTo>
                  <a:pt x="3180936" y="911756"/>
                </a:lnTo>
                <a:lnTo>
                  <a:pt x="3194843" y="888894"/>
                </a:lnTo>
                <a:lnTo>
                  <a:pt x="3208404" y="865804"/>
                </a:lnTo>
                <a:lnTo>
                  <a:pt x="3221623" y="842479"/>
                </a:lnTo>
                <a:lnTo>
                  <a:pt x="3234489" y="818933"/>
                </a:lnTo>
                <a:lnTo>
                  <a:pt x="3247004" y="795160"/>
                </a:lnTo>
                <a:lnTo>
                  <a:pt x="3259159" y="771172"/>
                </a:lnTo>
                <a:lnTo>
                  <a:pt x="3270952" y="746971"/>
                </a:lnTo>
                <a:lnTo>
                  <a:pt x="3282382" y="722554"/>
                </a:lnTo>
                <a:lnTo>
                  <a:pt x="3293443" y="697932"/>
                </a:lnTo>
                <a:lnTo>
                  <a:pt x="3304132" y="673103"/>
                </a:lnTo>
                <a:lnTo>
                  <a:pt x="3314443" y="648078"/>
                </a:lnTo>
                <a:lnTo>
                  <a:pt x="3324375" y="622858"/>
                </a:lnTo>
                <a:lnTo>
                  <a:pt x="3333925" y="597439"/>
                </a:lnTo>
                <a:lnTo>
                  <a:pt x="3343084" y="571839"/>
                </a:lnTo>
                <a:lnTo>
                  <a:pt x="3351856" y="546048"/>
                </a:lnTo>
                <a:lnTo>
                  <a:pt x="3360230" y="520081"/>
                </a:lnTo>
                <a:lnTo>
                  <a:pt x="3368206" y="493937"/>
                </a:lnTo>
                <a:lnTo>
                  <a:pt x="3375780" y="467619"/>
                </a:lnTo>
                <a:lnTo>
                  <a:pt x="3382948" y="441134"/>
                </a:lnTo>
                <a:lnTo>
                  <a:pt x="3389705" y="414487"/>
                </a:lnTo>
                <a:lnTo>
                  <a:pt x="3396049" y="387679"/>
                </a:lnTo>
                <a:lnTo>
                  <a:pt x="3401977" y="360716"/>
                </a:lnTo>
                <a:lnTo>
                  <a:pt x="3407483" y="333602"/>
                </a:lnTo>
                <a:lnTo>
                  <a:pt x="3412565" y="306344"/>
                </a:lnTo>
                <a:lnTo>
                  <a:pt x="3417219" y="278941"/>
                </a:lnTo>
                <a:lnTo>
                  <a:pt x="3421442" y="251405"/>
                </a:lnTo>
                <a:lnTo>
                  <a:pt x="3425230" y="223734"/>
                </a:lnTo>
                <a:lnTo>
                  <a:pt x="3428579" y="195935"/>
                </a:lnTo>
                <a:lnTo>
                  <a:pt x="3431487" y="168014"/>
                </a:lnTo>
                <a:lnTo>
                  <a:pt x="3433949" y="139977"/>
                </a:lnTo>
                <a:lnTo>
                  <a:pt x="3434699" y="129504"/>
                </a:lnTo>
                <a:lnTo>
                  <a:pt x="3118577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0" name="任意多边形: 形状 209"/>
          <p:cNvSpPr/>
          <p:nvPr/>
        </p:nvSpPr>
        <p:spPr>
          <a:xfrm flipH="1">
            <a:off x="7742366" y="3691563"/>
            <a:ext cx="3442074" cy="1731768"/>
          </a:xfrm>
          <a:custGeom>
            <a:avLst/>
            <a:gdLst>
              <a:gd name="connsiteX0" fmla="*/ 0 w 3442074"/>
              <a:gd name="connsiteY0" fmla="*/ 0 h 1731768"/>
              <a:gd name="connsiteX1" fmla="*/ 273 w 3442074"/>
              <a:gd name="connsiteY1" fmla="*/ 29924 h 1731768"/>
              <a:gd name="connsiteX2" fmla="*/ 1006 w 3442074"/>
              <a:gd name="connsiteY2" fmla="*/ 58382 h 1731768"/>
              <a:gd name="connsiteX3" fmla="*/ 2197 w 3442074"/>
              <a:gd name="connsiteY3" fmla="*/ 86748 h 1731768"/>
              <a:gd name="connsiteX4" fmla="*/ 3843 w 3442074"/>
              <a:gd name="connsiteY4" fmla="*/ 114995 h 1731768"/>
              <a:gd name="connsiteX5" fmla="*/ 5940 w 3442074"/>
              <a:gd name="connsiteY5" fmla="*/ 143140 h 1731768"/>
              <a:gd name="connsiteX6" fmla="*/ 8485 w 3442074"/>
              <a:gd name="connsiteY6" fmla="*/ 171167 h 1731768"/>
              <a:gd name="connsiteX7" fmla="*/ 11474 w 3442074"/>
              <a:gd name="connsiteY7" fmla="*/ 199071 h 1731768"/>
              <a:gd name="connsiteX8" fmla="*/ 14906 w 3442074"/>
              <a:gd name="connsiteY8" fmla="*/ 226860 h 1731768"/>
              <a:gd name="connsiteX9" fmla="*/ 18774 w 3442074"/>
              <a:gd name="connsiteY9" fmla="*/ 254506 h 1731768"/>
              <a:gd name="connsiteX10" fmla="*/ 23077 w 3442074"/>
              <a:gd name="connsiteY10" fmla="*/ 282026 h 1731768"/>
              <a:gd name="connsiteX11" fmla="*/ 27812 w 3442074"/>
              <a:gd name="connsiteY11" fmla="*/ 309414 h 1731768"/>
              <a:gd name="connsiteX12" fmla="*/ 32971 w 3442074"/>
              <a:gd name="connsiteY12" fmla="*/ 336637 h 1731768"/>
              <a:gd name="connsiteX13" fmla="*/ 38558 w 3442074"/>
              <a:gd name="connsiteY13" fmla="*/ 363741 h 1731768"/>
              <a:gd name="connsiteX14" fmla="*/ 44561 w 3442074"/>
              <a:gd name="connsiteY14" fmla="*/ 390669 h 1731768"/>
              <a:gd name="connsiteX15" fmla="*/ 50983 w 3442074"/>
              <a:gd name="connsiteY15" fmla="*/ 417457 h 1731768"/>
              <a:gd name="connsiteX16" fmla="*/ 57815 w 3442074"/>
              <a:gd name="connsiteY16" fmla="*/ 444066 h 1731768"/>
              <a:gd name="connsiteX17" fmla="*/ 65061 w 3442074"/>
              <a:gd name="connsiteY17" fmla="*/ 470534 h 1731768"/>
              <a:gd name="connsiteX18" fmla="*/ 72708 w 3442074"/>
              <a:gd name="connsiteY18" fmla="*/ 496811 h 1731768"/>
              <a:gd name="connsiteX19" fmla="*/ 80760 w 3442074"/>
              <a:gd name="connsiteY19" fmla="*/ 522933 h 1731768"/>
              <a:gd name="connsiteX20" fmla="*/ 89204 w 3442074"/>
              <a:gd name="connsiteY20" fmla="*/ 548854 h 1731768"/>
              <a:gd name="connsiteX21" fmla="*/ 98050 w 3442074"/>
              <a:gd name="connsiteY21" fmla="*/ 574623 h 1731768"/>
              <a:gd name="connsiteX22" fmla="*/ 107280 w 3442074"/>
              <a:gd name="connsiteY22" fmla="*/ 600182 h 1731768"/>
              <a:gd name="connsiteX23" fmla="*/ 116899 w 3442074"/>
              <a:gd name="connsiteY23" fmla="*/ 625560 h 1731768"/>
              <a:gd name="connsiteX24" fmla="*/ 126902 w 3442074"/>
              <a:gd name="connsiteY24" fmla="*/ 650750 h 1731768"/>
              <a:gd name="connsiteX25" fmla="*/ 137282 w 3442074"/>
              <a:gd name="connsiteY25" fmla="*/ 675735 h 1731768"/>
              <a:gd name="connsiteX26" fmla="*/ 148040 w 3442074"/>
              <a:gd name="connsiteY26" fmla="*/ 700525 h 1731768"/>
              <a:gd name="connsiteX27" fmla="*/ 159168 w 3442074"/>
              <a:gd name="connsiteY27" fmla="*/ 725107 h 1731768"/>
              <a:gd name="connsiteX28" fmla="*/ 170661 w 3442074"/>
              <a:gd name="connsiteY28" fmla="*/ 749477 h 1731768"/>
              <a:gd name="connsiteX29" fmla="*/ 182519 w 3442074"/>
              <a:gd name="connsiteY29" fmla="*/ 773635 h 1731768"/>
              <a:gd name="connsiteX30" fmla="*/ 194746 w 3442074"/>
              <a:gd name="connsiteY30" fmla="*/ 797595 h 1731768"/>
              <a:gd name="connsiteX31" fmla="*/ 207317 w 3442074"/>
              <a:gd name="connsiteY31" fmla="*/ 821311 h 1731768"/>
              <a:gd name="connsiteX32" fmla="*/ 220251 w 3442074"/>
              <a:gd name="connsiteY32" fmla="*/ 844823 h 1731768"/>
              <a:gd name="connsiteX33" fmla="*/ 233530 w 3442074"/>
              <a:gd name="connsiteY33" fmla="*/ 868099 h 1731768"/>
              <a:gd name="connsiteX34" fmla="*/ 247151 w 3442074"/>
              <a:gd name="connsiteY34" fmla="*/ 891140 h 1731768"/>
              <a:gd name="connsiteX35" fmla="*/ 261123 w 3442074"/>
              <a:gd name="connsiteY35" fmla="*/ 913965 h 1731768"/>
              <a:gd name="connsiteX36" fmla="*/ 275427 w 3442074"/>
              <a:gd name="connsiteY36" fmla="*/ 936540 h 1731768"/>
              <a:gd name="connsiteX37" fmla="*/ 290067 w 3442074"/>
              <a:gd name="connsiteY37" fmla="*/ 958877 h 1731768"/>
              <a:gd name="connsiteX38" fmla="*/ 305042 w 3442074"/>
              <a:gd name="connsiteY38" fmla="*/ 980975 h 1731768"/>
              <a:gd name="connsiteX39" fmla="*/ 320341 w 3442074"/>
              <a:gd name="connsiteY39" fmla="*/ 1002823 h 1731768"/>
              <a:gd name="connsiteX40" fmla="*/ 335965 w 3442074"/>
              <a:gd name="connsiteY40" fmla="*/ 1024420 h 1731768"/>
              <a:gd name="connsiteX41" fmla="*/ 351912 w 3442074"/>
              <a:gd name="connsiteY41" fmla="*/ 1045767 h 1731768"/>
              <a:gd name="connsiteX42" fmla="*/ 368174 w 3442074"/>
              <a:gd name="connsiteY42" fmla="*/ 1066853 h 1731768"/>
              <a:gd name="connsiteX43" fmla="*/ 384750 w 3442074"/>
              <a:gd name="connsiteY43" fmla="*/ 1087680 h 1731768"/>
              <a:gd name="connsiteX44" fmla="*/ 401634 w 3442074"/>
              <a:gd name="connsiteY44" fmla="*/ 1108239 h 1731768"/>
              <a:gd name="connsiteX45" fmla="*/ 418829 w 3442074"/>
              <a:gd name="connsiteY45" fmla="*/ 1128538 h 1731768"/>
              <a:gd name="connsiteX46" fmla="*/ 436326 w 3442074"/>
              <a:gd name="connsiteY46" fmla="*/ 1148563 h 1731768"/>
              <a:gd name="connsiteX47" fmla="*/ 454125 w 3442074"/>
              <a:gd name="connsiteY47" fmla="*/ 1168318 h 1731768"/>
              <a:gd name="connsiteX48" fmla="*/ 472218 w 3442074"/>
              <a:gd name="connsiteY48" fmla="*/ 1187793 h 1731768"/>
              <a:gd name="connsiteX49" fmla="*/ 490605 w 3442074"/>
              <a:gd name="connsiteY49" fmla="*/ 1206988 h 1731768"/>
              <a:gd name="connsiteX50" fmla="*/ 509276 w 3442074"/>
              <a:gd name="connsiteY50" fmla="*/ 1225893 h 1731768"/>
              <a:gd name="connsiteX51" fmla="*/ 528247 w 3442074"/>
              <a:gd name="connsiteY51" fmla="*/ 1244525 h 1731768"/>
              <a:gd name="connsiteX52" fmla="*/ 547496 w 3442074"/>
              <a:gd name="connsiteY52" fmla="*/ 1262862 h 1731768"/>
              <a:gd name="connsiteX53" fmla="*/ 567014 w 3442074"/>
              <a:gd name="connsiteY53" fmla="*/ 1280894 h 1731768"/>
              <a:gd name="connsiteX54" fmla="*/ 586824 w 3442074"/>
              <a:gd name="connsiteY54" fmla="*/ 1298644 h 1731768"/>
              <a:gd name="connsiteX55" fmla="*/ 606898 w 3442074"/>
              <a:gd name="connsiteY55" fmla="*/ 1316083 h 1731768"/>
              <a:gd name="connsiteX56" fmla="*/ 627244 w 3442074"/>
              <a:gd name="connsiteY56" fmla="*/ 1333222 h 1731768"/>
              <a:gd name="connsiteX57" fmla="*/ 647856 w 3442074"/>
              <a:gd name="connsiteY57" fmla="*/ 1350053 h 1731768"/>
              <a:gd name="connsiteX58" fmla="*/ 668733 w 3442074"/>
              <a:gd name="connsiteY58" fmla="*/ 1366575 h 1731768"/>
              <a:gd name="connsiteX59" fmla="*/ 689867 w 3442074"/>
              <a:gd name="connsiteY59" fmla="*/ 1382778 h 1731768"/>
              <a:gd name="connsiteX60" fmla="*/ 711263 w 3442074"/>
              <a:gd name="connsiteY60" fmla="*/ 1398670 h 1731768"/>
              <a:gd name="connsiteX61" fmla="*/ 732909 w 3442074"/>
              <a:gd name="connsiteY61" fmla="*/ 1414236 h 1731768"/>
              <a:gd name="connsiteX62" fmla="*/ 754805 w 3442074"/>
              <a:gd name="connsiteY62" fmla="*/ 1429478 h 1731768"/>
              <a:gd name="connsiteX63" fmla="*/ 776940 w 3442074"/>
              <a:gd name="connsiteY63" fmla="*/ 1444387 h 1731768"/>
              <a:gd name="connsiteX64" fmla="*/ 799332 w 3442074"/>
              <a:gd name="connsiteY64" fmla="*/ 1458973 h 1731768"/>
              <a:gd name="connsiteX65" fmla="*/ 821953 w 3442074"/>
              <a:gd name="connsiteY65" fmla="*/ 1473216 h 1731768"/>
              <a:gd name="connsiteX66" fmla="*/ 844813 w 3442074"/>
              <a:gd name="connsiteY66" fmla="*/ 1487123 h 1731768"/>
              <a:gd name="connsiteX67" fmla="*/ 867909 w 3442074"/>
              <a:gd name="connsiteY67" fmla="*/ 1500687 h 1731768"/>
              <a:gd name="connsiteX68" fmla="*/ 891230 w 3442074"/>
              <a:gd name="connsiteY68" fmla="*/ 1513904 h 1731768"/>
              <a:gd name="connsiteX69" fmla="*/ 914778 w 3442074"/>
              <a:gd name="connsiteY69" fmla="*/ 1526771 h 1731768"/>
              <a:gd name="connsiteX70" fmla="*/ 938549 w 3442074"/>
              <a:gd name="connsiteY70" fmla="*/ 1539284 h 1731768"/>
              <a:gd name="connsiteX71" fmla="*/ 962539 w 3442074"/>
              <a:gd name="connsiteY71" fmla="*/ 1551440 h 1731768"/>
              <a:gd name="connsiteX72" fmla="*/ 986737 w 3442074"/>
              <a:gd name="connsiteY72" fmla="*/ 1563232 h 1731768"/>
              <a:gd name="connsiteX73" fmla="*/ 1011156 w 3442074"/>
              <a:gd name="connsiteY73" fmla="*/ 1574663 h 1731768"/>
              <a:gd name="connsiteX74" fmla="*/ 1035779 w 3442074"/>
              <a:gd name="connsiteY74" fmla="*/ 1585724 h 1731768"/>
              <a:gd name="connsiteX75" fmla="*/ 1060607 w 3442074"/>
              <a:gd name="connsiteY75" fmla="*/ 1596413 h 1731768"/>
              <a:gd name="connsiteX76" fmla="*/ 1085633 w 3442074"/>
              <a:gd name="connsiteY76" fmla="*/ 1606725 h 1731768"/>
              <a:gd name="connsiteX77" fmla="*/ 1110853 w 3442074"/>
              <a:gd name="connsiteY77" fmla="*/ 1616656 h 1731768"/>
              <a:gd name="connsiteX78" fmla="*/ 1136271 w 3442074"/>
              <a:gd name="connsiteY78" fmla="*/ 1626205 h 1731768"/>
              <a:gd name="connsiteX79" fmla="*/ 1161873 w 3442074"/>
              <a:gd name="connsiteY79" fmla="*/ 1635366 h 1731768"/>
              <a:gd name="connsiteX80" fmla="*/ 1187660 w 3442074"/>
              <a:gd name="connsiteY80" fmla="*/ 1644136 h 1731768"/>
              <a:gd name="connsiteX81" fmla="*/ 1213633 w 3442074"/>
              <a:gd name="connsiteY81" fmla="*/ 1652512 h 1731768"/>
              <a:gd name="connsiteX82" fmla="*/ 1239773 w 3442074"/>
              <a:gd name="connsiteY82" fmla="*/ 1660486 h 1731768"/>
              <a:gd name="connsiteX83" fmla="*/ 1266090 w 3442074"/>
              <a:gd name="connsiteY83" fmla="*/ 1668060 h 1731768"/>
              <a:gd name="connsiteX84" fmla="*/ 1292574 w 3442074"/>
              <a:gd name="connsiteY84" fmla="*/ 1675228 h 1731768"/>
              <a:gd name="connsiteX85" fmla="*/ 1319223 w 3442074"/>
              <a:gd name="connsiteY85" fmla="*/ 1681986 h 1731768"/>
              <a:gd name="connsiteX86" fmla="*/ 1346030 w 3442074"/>
              <a:gd name="connsiteY86" fmla="*/ 1688330 h 1731768"/>
              <a:gd name="connsiteX87" fmla="*/ 1372999 w 3442074"/>
              <a:gd name="connsiteY87" fmla="*/ 1694258 h 1731768"/>
              <a:gd name="connsiteX88" fmla="*/ 1400105 w 3442074"/>
              <a:gd name="connsiteY88" fmla="*/ 1699763 h 1731768"/>
              <a:gd name="connsiteX89" fmla="*/ 1427370 w 3442074"/>
              <a:gd name="connsiteY89" fmla="*/ 1704846 h 1731768"/>
              <a:gd name="connsiteX90" fmla="*/ 1454766 w 3442074"/>
              <a:gd name="connsiteY90" fmla="*/ 1709499 h 1731768"/>
              <a:gd name="connsiteX91" fmla="*/ 1482307 w 3442074"/>
              <a:gd name="connsiteY91" fmla="*/ 1713723 h 1731768"/>
              <a:gd name="connsiteX92" fmla="*/ 1509978 w 3442074"/>
              <a:gd name="connsiteY92" fmla="*/ 1717511 h 1731768"/>
              <a:gd name="connsiteX93" fmla="*/ 1537774 w 3442074"/>
              <a:gd name="connsiteY93" fmla="*/ 1720860 h 1731768"/>
              <a:gd name="connsiteX94" fmla="*/ 1565695 w 3442074"/>
              <a:gd name="connsiteY94" fmla="*/ 1723768 h 1731768"/>
              <a:gd name="connsiteX95" fmla="*/ 1593736 w 3442074"/>
              <a:gd name="connsiteY95" fmla="*/ 1726230 h 1731768"/>
              <a:gd name="connsiteX96" fmla="*/ 1621883 w 3442074"/>
              <a:gd name="connsiteY96" fmla="*/ 1728244 h 1731768"/>
              <a:gd name="connsiteX97" fmla="*/ 1650146 w 3442074"/>
              <a:gd name="connsiteY97" fmla="*/ 1729807 h 1731768"/>
              <a:gd name="connsiteX98" fmla="*/ 1678509 w 3442074"/>
              <a:gd name="connsiteY98" fmla="*/ 1730916 h 1731768"/>
              <a:gd name="connsiteX99" fmla="*/ 1732952 w 3442074"/>
              <a:gd name="connsiteY99" fmla="*/ 1731766 h 1731768"/>
              <a:gd name="connsiteX100" fmla="*/ 3311261 w 3442074"/>
              <a:gd name="connsiteY100" fmla="*/ 1731768 h 1731768"/>
              <a:gd name="connsiteX101" fmla="*/ 3442074 w 3442074"/>
              <a:gd name="connsiteY101" fmla="*/ 1412450 h 1731768"/>
              <a:gd name="connsiteX102" fmla="*/ 3312750 w 3442074"/>
              <a:gd name="connsiteY102" fmla="*/ 1096768 h 1731768"/>
              <a:gd name="connsiteX103" fmla="*/ 1732952 w 3442074"/>
              <a:gd name="connsiteY103" fmla="*/ 1096766 h 1731768"/>
              <a:gd name="connsiteX104" fmla="*/ 1693947 w 3442074"/>
              <a:gd name="connsiteY104" fmla="*/ 1096103 h 1731768"/>
              <a:gd name="connsiteX105" fmla="*/ 1675868 w 3442074"/>
              <a:gd name="connsiteY105" fmla="*/ 1095328 h 1731768"/>
              <a:gd name="connsiteX106" fmla="*/ 1657884 w 3442074"/>
              <a:gd name="connsiteY106" fmla="*/ 1094266 h 1731768"/>
              <a:gd name="connsiteX107" fmla="*/ 1639986 w 3442074"/>
              <a:gd name="connsiteY107" fmla="*/ 1092917 h 1731768"/>
              <a:gd name="connsiteX108" fmla="*/ 1622188 w 3442074"/>
              <a:gd name="connsiteY108" fmla="*/ 1091285 h 1731768"/>
              <a:gd name="connsiteX109" fmla="*/ 1604482 w 3442074"/>
              <a:gd name="connsiteY109" fmla="*/ 1089373 h 1731768"/>
              <a:gd name="connsiteX110" fmla="*/ 1586870 w 3442074"/>
              <a:gd name="connsiteY110" fmla="*/ 1087183 h 1731768"/>
              <a:gd name="connsiteX111" fmla="*/ 1569357 w 3442074"/>
              <a:gd name="connsiteY111" fmla="*/ 1084718 h 1731768"/>
              <a:gd name="connsiteX112" fmla="*/ 1551945 w 3442074"/>
              <a:gd name="connsiteY112" fmla="*/ 1081980 h 1731768"/>
              <a:gd name="connsiteX113" fmla="*/ 1534622 w 3442074"/>
              <a:gd name="connsiteY113" fmla="*/ 1078970 h 1731768"/>
              <a:gd name="connsiteX114" fmla="*/ 1517413 w 3442074"/>
              <a:gd name="connsiteY114" fmla="*/ 1075693 h 1731768"/>
              <a:gd name="connsiteX115" fmla="*/ 1500289 w 3442074"/>
              <a:gd name="connsiteY115" fmla="*/ 1072148 h 1731768"/>
              <a:gd name="connsiteX116" fmla="*/ 1483284 w 3442074"/>
              <a:gd name="connsiteY116" fmla="*/ 1068341 h 1731768"/>
              <a:gd name="connsiteX117" fmla="*/ 1466374 w 3442074"/>
              <a:gd name="connsiteY117" fmla="*/ 1064271 h 1731768"/>
              <a:gd name="connsiteX118" fmla="*/ 1449573 w 3442074"/>
              <a:gd name="connsiteY118" fmla="*/ 1059942 h 1731768"/>
              <a:gd name="connsiteX119" fmla="*/ 1432877 w 3442074"/>
              <a:gd name="connsiteY119" fmla="*/ 1055356 h 1731768"/>
              <a:gd name="connsiteX120" fmla="*/ 1416291 w 3442074"/>
              <a:gd name="connsiteY120" fmla="*/ 1050514 h 1731768"/>
              <a:gd name="connsiteX121" fmla="*/ 1399810 w 3442074"/>
              <a:gd name="connsiteY121" fmla="*/ 1045418 h 1731768"/>
              <a:gd name="connsiteX122" fmla="*/ 1383451 w 3442074"/>
              <a:gd name="connsiteY122" fmla="*/ 1040073 h 1731768"/>
              <a:gd name="connsiteX123" fmla="*/ 1367198 w 3442074"/>
              <a:gd name="connsiteY123" fmla="*/ 1034478 h 1731768"/>
              <a:gd name="connsiteX124" fmla="*/ 1351064 w 3442074"/>
              <a:gd name="connsiteY124" fmla="*/ 1028636 h 1731768"/>
              <a:gd name="connsiteX125" fmla="*/ 1335048 w 3442074"/>
              <a:gd name="connsiteY125" fmla="*/ 1022550 h 1731768"/>
              <a:gd name="connsiteX126" fmla="*/ 1319149 w 3442074"/>
              <a:gd name="connsiteY126" fmla="*/ 1016220 h 1731768"/>
              <a:gd name="connsiteX127" fmla="*/ 1303371 w 3442074"/>
              <a:gd name="connsiteY127" fmla="*/ 1009650 h 1731768"/>
              <a:gd name="connsiteX128" fmla="*/ 1287719 w 3442074"/>
              <a:gd name="connsiteY128" fmla="*/ 1002843 h 1731768"/>
              <a:gd name="connsiteX129" fmla="*/ 1272191 w 3442074"/>
              <a:gd name="connsiteY129" fmla="*/ 995798 h 1731768"/>
              <a:gd name="connsiteX130" fmla="*/ 1256795 w 3442074"/>
              <a:gd name="connsiteY130" fmla="*/ 988520 h 1731768"/>
              <a:gd name="connsiteX131" fmla="*/ 1241518 w 3442074"/>
              <a:gd name="connsiteY131" fmla="*/ 981005 h 1731768"/>
              <a:gd name="connsiteX132" fmla="*/ 1226381 w 3442074"/>
              <a:gd name="connsiteY132" fmla="*/ 973264 h 1731768"/>
              <a:gd name="connsiteX133" fmla="*/ 1211375 w 3442074"/>
              <a:gd name="connsiteY133" fmla="*/ 965295 h 1731768"/>
              <a:gd name="connsiteX134" fmla="*/ 1196506 w 3442074"/>
              <a:gd name="connsiteY134" fmla="*/ 957099 h 1731768"/>
              <a:gd name="connsiteX135" fmla="*/ 1181773 w 3442074"/>
              <a:gd name="connsiteY135" fmla="*/ 948678 h 1731768"/>
              <a:gd name="connsiteX136" fmla="*/ 1167186 w 3442074"/>
              <a:gd name="connsiteY136" fmla="*/ 940038 h 1731768"/>
              <a:gd name="connsiteX137" fmla="*/ 1152739 w 3442074"/>
              <a:gd name="connsiteY137" fmla="*/ 931178 h 1731768"/>
              <a:gd name="connsiteX138" fmla="*/ 1138433 w 3442074"/>
              <a:gd name="connsiteY138" fmla="*/ 922097 h 1731768"/>
              <a:gd name="connsiteX139" fmla="*/ 1124288 w 3442074"/>
              <a:gd name="connsiteY139" fmla="*/ 912809 h 1731768"/>
              <a:gd name="connsiteX140" fmla="*/ 1110278 w 3442074"/>
              <a:gd name="connsiteY140" fmla="*/ 903299 h 1731768"/>
              <a:gd name="connsiteX141" fmla="*/ 1096427 w 3442074"/>
              <a:gd name="connsiteY141" fmla="*/ 893583 h 1731768"/>
              <a:gd name="connsiteX142" fmla="*/ 1082731 w 3442074"/>
              <a:gd name="connsiteY142" fmla="*/ 883658 h 1731768"/>
              <a:gd name="connsiteX143" fmla="*/ 1069197 w 3442074"/>
              <a:gd name="connsiteY143" fmla="*/ 873530 h 1731768"/>
              <a:gd name="connsiteX144" fmla="*/ 1055817 w 3442074"/>
              <a:gd name="connsiteY144" fmla="*/ 863194 h 1731768"/>
              <a:gd name="connsiteX145" fmla="*/ 1042604 w 3442074"/>
              <a:gd name="connsiteY145" fmla="*/ 852660 h 1731768"/>
              <a:gd name="connsiteX146" fmla="*/ 1029552 w 3442074"/>
              <a:gd name="connsiteY146" fmla="*/ 841925 h 1731768"/>
              <a:gd name="connsiteX147" fmla="*/ 1016669 w 3442074"/>
              <a:gd name="connsiteY147" fmla="*/ 830994 h 1731768"/>
              <a:gd name="connsiteX148" fmla="*/ 1003952 w 3442074"/>
              <a:gd name="connsiteY148" fmla="*/ 819865 h 1731768"/>
              <a:gd name="connsiteX149" fmla="*/ 991421 w 3442074"/>
              <a:gd name="connsiteY149" fmla="*/ 808555 h 1731768"/>
              <a:gd name="connsiteX150" fmla="*/ 979046 w 3442074"/>
              <a:gd name="connsiteY150" fmla="*/ 797041 h 1731768"/>
              <a:gd name="connsiteX151" fmla="*/ 966860 w 3442074"/>
              <a:gd name="connsiteY151" fmla="*/ 785350 h 1731768"/>
              <a:gd name="connsiteX152" fmla="*/ 954861 w 3442074"/>
              <a:gd name="connsiteY152" fmla="*/ 773479 h 1731768"/>
              <a:gd name="connsiteX153" fmla="*/ 943030 w 3442074"/>
              <a:gd name="connsiteY153" fmla="*/ 761413 h 1731768"/>
              <a:gd name="connsiteX154" fmla="*/ 931389 w 3442074"/>
              <a:gd name="connsiteY154" fmla="*/ 749174 h 1731768"/>
              <a:gd name="connsiteX155" fmla="*/ 919935 w 3442074"/>
              <a:gd name="connsiteY155" fmla="*/ 736756 h 1731768"/>
              <a:gd name="connsiteX156" fmla="*/ 908674 w 3442074"/>
              <a:gd name="connsiteY156" fmla="*/ 724168 h 1731768"/>
              <a:gd name="connsiteX157" fmla="*/ 897603 w 3442074"/>
              <a:gd name="connsiteY157" fmla="*/ 711405 h 1731768"/>
              <a:gd name="connsiteX158" fmla="*/ 886729 w 3442074"/>
              <a:gd name="connsiteY158" fmla="*/ 698474 h 1731768"/>
              <a:gd name="connsiteX159" fmla="*/ 876047 w 3442074"/>
              <a:gd name="connsiteY159" fmla="*/ 685370 h 1731768"/>
              <a:gd name="connsiteX160" fmla="*/ 865567 w 3442074"/>
              <a:gd name="connsiteY160" fmla="*/ 672106 h 1731768"/>
              <a:gd name="connsiteX161" fmla="*/ 855288 w 3442074"/>
              <a:gd name="connsiteY161" fmla="*/ 658677 h 1731768"/>
              <a:gd name="connsiteX162" fmla="*/ 845216 w 3442074"/>
              <a:gd name="connsiteY162" fmla="*/ 645094 h 1731768"/>
              <a:gd name="connsiteX163" fmla="*/ 835349 w 3442074"/>
              <a:gd name="connsiteY163" fmla="*/ 631350 h 1731768"/>
              <a:gd name="connsiteX164" fmla="*/ 825690 w 3442074"/>
              <a:gd name="connsiteY164" fmla="*/ 617452 h 1731768"/>
              <a:gd name="connsiteX165" fmla="*/ 816246 w 3442074"/>
              <a:gd name="connsiteY165" fmla="*/ 603405 h 1731768"/>
              <a:gd name="connsiteX166" fmla="*/ 807012 w 3442074"/>
              <a:gd name="connsiteY166" fmla="*/ 589203 h 1731768"/>
              <a:gd name="connsiteX167" fmla="*/ 797991 w 3442074"/>
              <a:gd name="connsiteY167" fmla="*/ 574852 h 1731768"/>
              <a:gd name="connsiteX168" fmla="*/ 789198 w 3442074"/>
              <a:gd name="connsiteY168" fmla="*/ 560370 h 1731768"/>
              <a:gd name="connsiteX169" fmla="*/ 780614 w 3442074"/>
              <a:gd name="connsiteY169" fmla="*/ 545727 h 1731768"/>
              <a:gd name="connsiteX170" fmla="*/ 772256 w 3442074"/>
              <a:gd name="connsiteY170" fmla="*/ 530950 h 1731768"/>
              <a:gd name="connsiteX171" fmla="*/ 764127 w 3442074"/>
              <a:gd name="connsiteY171" fmla="*/ 516044 h 1731768"/>
              <a:gd name="connsiteX172" fmla="*/ 756214 w 3442074"/>
              <a:gd name="connsiteY172" fmla="*/ 500985 h 1731768"/>
              <a:gd name="connsiteX173" fmla="*/ 748545 w 3442074"/>
              <a:gd name="connsiteY173" fmla="*/ 485817 h 1731768"/>
              <a:gd name="connsiteX174" fmla="*/ 741096 w 3442074"/>
              <a:gd name="connsiteY174" fmla="*/ 470499 h 1731768"/>
              <a:gd name="connsiteX175" fmla="*/ 733881 w 3442074"/>
              <a:gd name="connsiteY175" fmla="*/ 455054 h 1731768"/>
              <a:gd name="connsiteX176" fmla="*/ 726903 w 3442074"/>
              <a:gd name="connsiteY176" fmla="*/ 439485 h 1731768"/>
              <a:gd name="connsiteX177" fmla="*/ 720164 w 3442074"/>
              <a:gd name="connsiteY177" fmla="*/ 423796 h 1731768"/>
              <a:gd name="connsiteX178" fmla="*/ 713662 w 3442074"/>
              <a:gd name="connsiteY178" fmla="*/ 407977 h 1731768"/>
              <a:gd name="connsiteX179" fmla="*/ 707404 w 3442074"/>
              <a:gd name="connsiteY179" fmla="*/ 392047 h 1731768"/>
              <a:gd name="connsiteX180" fmla="*/ 701388 w 3442074"/>
              <a:gd name="connsiteY180" fmla="*/ 375992 h 1731768"/>
              <a:gd name="connsiteX181" fmla="*/ 695614 w 3442074"/>
              <a:gd name="connsiteY181" fmla="*/ 359813 h 1731768"/>
              <a:gd name="connsiteX182" fmla="*/ 690097 w 3442074"/>
              <a:gd name="connsiteY182" fmla="*/ 343544 h 1731768"/>
              <a:gd name="connsiteX183" fmla="*/ 684819 w 3442074"/>
              <a:gd name="connsiteY183" fmla="*/ 327133 h 1731768"/>
              <a:gd name="connsiteX184" fmla="*/ 679801 w 3442074"/>
              <a:gd name="connsiteY184" fmla="*/ 310634 h 1731768"/>
              <a:gd name="connsiteX185" fmla="*/ 675031 w 3442074"/>
              <a:gd name="connsiteY185" fmla="*/ 294008 h 1731768"/>
              <a:gd name="connsiteX186" fmla="*/ 670525 w 3442074"/>
              <a:gd name="connsiteY186" fmla="*/ 277296 h 1731768"/>
              <a:gd name="connsiteX187" fmla="*/ 666268 w 3442074"/>
              <a:gd name="connsiteY187" fmla="*/ 260453 h 1731768"/>
              <a:gd name="connsiteX188" fmla="*/ 662278 w 3442074"/>
              <a:gd name="connsiteY188" fmla="*/ 243526 h 1731768"/>
              <a:gd name="connsiteX189" fmla="*/ 658545 w 3442074"/>
              <a:gd name="connsiteY189" fmla="*/ 226479 h 1731768"/>
              <a:gd name="connsiteX190" fmla="*/ 655083 w 3442074"/>
              <a:gd name="connsiteY190" fmla="*/ 209354 h 1731768"/>
              <a:gd name="connsiteX191" fmla="*/ 651881 w 3442074"/>
              <a:gd name="connsiteY191" fmla="*/ 192101 h 1731768"/>
              <a:gd name="connsiteX192" fmla="*/ 648953 w 3442074"/>
              <a:gd name="connsiteY192" fmla="*/ 174771 h 1731768"/>
              <a:gd name="connsiteX193" fmla="*/ 646295 w 3442074"/>
              <a:gd name="connsiteY193" fmla="*/ 157338 h 1731768"/>
              <a:gd name="connsiteX194" fmla="*/ 643909 w 3442074"/>
              <a:gd name="connsiteY194" fmla="*/ 139800 h 1731768"/>
              <a:gd name="connsiteX195" fmla="*/ 641802 w 3442074"/>
              <a:gd name="connsiteY195" fmla="*/ 122180 h 1731768"/>
              <a:gd name="connsiteX196" fmla="*/ 639971 w 3442074"/>
              <a:gd name="connsiteY196" fmla="*/ 104458 h 1731768"/>
              <a:gd name="connsiteX197" fmla="*/ 638422 w 3442074"/>
              <a:gd name="connsiteY197" fmla="*/ 86647 h 1731768"/>
              <a:gd name="connsiteX198" fmla="*/ 637156 w 3442074"/>
              <a:gd name="connsiteY198" fmla="*/ 68746 h 1731768"/>
              <a:gd name="connsiteX199" fmla="*/ 636176 w 3442074"/>
              <a:gd name="connsiteY199" fmla="*/ 50746 h 1731768"/>
              <a:gd name="connsiteX200" fmla="*/ 635485 w 3442074"/>
              <a:gd name="connsiteY200" fmla="*/ 32670 h 1731768"/>
              <a:gd name="connsiteX201" fmla="*/ 635085 w 3442074"/>
              <a:gd name="connsiteY201" fmla="*/ 14496 h 1731768"/>
              <a:gd name="connsiteX202" fmla="*/ 635013 w 3442074"/>
              <a:gd name="connsiteY202" fmla="*/ 2778 h 1731768"/>
              <a:gd name="connsiteX203" fmla="*/ 320898 w 3442074"/>
              <a:gd name="connsiteY203" fmla="*/ 131461 h 1731768"/>
              <a:gd name="connsiteX204" fmla="*/ 0 w 3442074"/>
              <a:gd name="connsiteY204" fmla="*/ 0 h 173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3442074" h="1731768">
                <a:moveTo>
                  <a:pt x="0" y="0"/>
                </a:moveTo>
                <a:lnTo>
                  <a:pt x="273" y="29924"/>
                </a:lnTo>
                <a:lnTo>
                  <a:pt x="1006" y="58382"/>
                </a:lnTo>
                <a:lnTo>
                  <a:pt x="2197" y="86748"/>
                </a:lnTo>
                <a:lnTo>
                  <a:pt x="3843" y="114995"/>
                </a:lnTo>
                <a:lnTo>
                  <a:pt x="5940" y="143140"/>
                </a:lnTo>
                <a:lnTo>
                  <a:pt x="8485" y="171167"/>
                </a:lnTo>
                <a:lnTo>
                  <a:pt x="11474" y="199071"/>
                </a:lnTo>
                <a:lnTo>
                  <a:pt x="14906" y="226860"/>
                </a:lnTo>
                <a:lnTo>
                  <a:pt x="18774" y="254506"/>
                </a:lnTo>
                <a:lnTo>
                  <a:pt x="23077" y="282026"/>
                </a:lnTo>
                <a:lnTo>
                  <a:pt x="27812" y="309414"/>
                </a:lnTo>
                <a:lnTo>
                  <a:pt x="32971" y="336637"/>
                </a:lnTo>
                <a:lnTo>
                  <a:pt x="38558" y="363741"/>
                </a:lnTo>
                <a:lnTo>
                  <a:pt x="44561" y="390669"/>
                </a:lnTo>
                <a:lnTo>
                  <a:pt x="50983" y="417457"/>
                </a:lnTo>
                <a:lnTo>
                  <a:pt x="57815" y="444066"/>
                </a:lnTo>
                <a:lnTo>
                  <a:pt x="65061" y="470534"/>
                </a:lnTo>
                <a:lnTo>
                  <a:pt x="72708" y="496811"/>
                </a:lnTo>
                <a:lnTo>
                  <a:pt x="80760" y="522933"/>
                </a:lnTo>
                <a:lnTo>
                  <a:pt x="89204" y="548854"/>
                </a:lnTo>
                <a:lnTo>
                  <a:pt x="98050" y="574623"/>
                </a:lnTo>
                <a:lnTo>
                  <a:pt x="107280" y="600182"/>
                </a:lnTo>
                <a:lnTo>
                  <a:pt x="116899" y="625560"/>
                </a:lnTo>
                <a:lnTo>
                  <a:pt x="126902" y="650750"/>
                </a:lnTo>
                <a:lnTo>
                  <a:pt x="137282" y="675735"/>
                </a:lnTo>
                <a:lnTo>
                  <a:pt x="148040" y="700525"/>
                </a:lnTo>
                <a:lnTo>
                  <a:pt x="159168" y="725107"/>
                </a:lnTo>
                <a:lnTo>
                  <a:pt x="170661" y="749477"/>
                </a:lnTo>
                <a:lnTo>
                  <a:pt x="182519" y="773635"/>
                </a:lnTo>
                <a:lnTo>
                  <a:pt x="194746" y="797595"/>
                </a:lnTo>
                <a:lnTo>
                  <a:pt x="207317" y="821311"/>
                </a:lnTo>
                <a:lnTo>
                  <a:pt x="220251" y="844823"/>
                </a:lnTo>
                <a:lnTo>
                  <a:pt x="233530" y="868099"/>
                </a:lnTo>
                <a:lnTo>
                  <a:pt x="247151" y="891140"/>
                </a:lnTo>
                <a:lnTo>
                  <a:pt x="261123" y="913965"/>
                </a:lnTo>
                <a:lnTo>
                  <a:pt x="275427" y="936540"/>
                </a:lnTo>
                <a:lnTo>
                  <a:pt x="290067" y="958877"/>
                </a:lnTo>
                <a:lnTo>
                  <a:pt x="305042" y="980975"/>
                </a:lnTo>
                <a:lnTo>
                  <a:pt x="320341" y="1002823"/>
                </a:lnTo>
                <a:lnTo>
                  <a:pt x="335965" y="1024420"/>
                </a:lnTo>
                <a:lnTo>
                  <a:pt x="351912" y="1045767"/>
                </a:lnTo>
                <a:lnTo>
                  <a:pt x="368174" y="1066853"/>
                </a:lnTo>
                <a:lnTo>
                  <a:pt x="384750" y="1087680"/>
                </a:lnTo>
                <a:lnTo>
                  <a:pt x="401634" y="1108239"/>
                </a:lnTo>
                <a:lnTo>
                  <a:pt x="418829" y="1128538"/>
                </a:lnTo>
                <a:lnTo>
                  <a:pt x="436326" y="1148563"/>
                </a:lnTo>
                <a:lnTo>
                  <a:pt x="454125" y="1168318"/>
                </a:lnTo>
                <a:lnTo>
                  <a:pt x="472218" y="1187793"/>
                </a:lnTo>
                <a:lnTo>
                  <a:pt x="490605" y="1206988"/>
                </a:lnTo>
                <a:lnTo>
                  <a:pt x="509276" y="1225893"/>
                </a:lnTo>
                <a:lnTo>
                  <a:pt x="528247" y="1244525"/>
                </a:lnTo>
                <a:lnTo>
                  <a:pt x="547496" y="1262862"/>
                </a:lnTo>
                <a:lnTo>
                  <a:pt x="567014" y="1280894"/>
                </a:lnTo>
                <a:lnTo>
                  <a:pt x="586824" y="1298644"/>
                </a:lnTo>
                <a:lnTo>
                  <a:pt x="606898" y="1316083"/>
                </a:lnTo>
                <a:lnTo>
                  <a:pt x="627244" y="1333222"/>
                </a:lnTo>
                <a:lnTo>
                  <a:pt x="647856" y="1350053"/>
                </a:lnTo>
                <a:lnTo>
                  <a:pt x="668733" y="1366575"/>
                </a:lnTo>
                <a:lnTo>
                  <a:pt x="689867" y="1382778"/>
                </a:lnTo>
                <a:lnTo>
                  <a:pt x="711263" y="1398670"/>
                </a:lnTo>
                <a:lnTo>
                  <a:pt x="732909" y="1414236"/>
                </a:lnTo>
                <a:lnTo>
                  <a:pt x="754805" y="1429478"/>
                </a:lnTo>
                <a:lnTo>
                  <a:pt x="776940" y="1444387"/>
                </a:lnTo>
                <a:lnTo>
                  <a:pt x="799332" y="1458973"/>
                </a:lnTo>
                <a:lnTo>
                  <a:pt x="821953" y="1473216"/>
                </a:lnTo>
                <a:lnTo>
                  <a:pt x="844813" y="1487123"/>
                </a:lnTo>
                <a:lnTo>
                  <a:pt x="867909" y="1500687"/>
                </a:lnTo>
                <a:lnTo>
                  <a:pt x="891230" y="1513904"/>
                </a:lnTo>
                <a:lnTo>
                  <a:pt x="914778" y="1526771"/>
                </a:lnTo>
                <a:lnTo>
                  <a:pt x="938549" y="1539284"/>
                </a:lnTo>
                <a:lnTo>
                  <a:pt x="962539" y="1551440"/>
                </a:lnTo>
                <a:lnTo>
                  <a:pt x="986737" y="1563232"/>
                </a:lnTo>
                <a:lnTo>
                  <a:pt x="1011156" y="1574663"/>
                </a:lnTo>
                <a:lnTo>
                  <a:pt x="1035779" y="1585724"/>
                </a:lnTo>
                <a:lnTo>
                  <a:pt x="1060607" y="1596413"/>
                </a:lnTo>
                <a:lnTo>
                  <a:pt x="1085633" y="1606725"/>
                </a:lnTo>
                <a:lnTo>
                  <a:pt x="1110853" y="1616656"/>
                </a:lnTo>
                <a:lnTo>
                  <a:pt x="1136271" y="1626205"/>
                </a:lnTo>
                <a:lnTo>
                  <a:pt x="1161873" y="1635366"/>
                </a:lnTo>
                <a:lnTo>
                  <a:pt x="1187660" y="1644136"/>
                </a:lnTo>
                <a:lnTo>
                  <a:pt x="1213633" y="1652512"/>
                </a:lnTo>
                <a:lnTo>
                  <a:pt x="1239773" y="1660486"/>
                </a:lnTo>
                <a:lnTo>
                  <a:pt x="1266090" y="1668060"/>
                </a:lnTo>
                <a:lnTo>
                  <a:pt x="1292574" y="1675228"/>
                </a:lnTo>
                <a:lnTo>
                  <a:pt x="1319223" y="1681986"/>
                </a:lnTo>
                <a:lnTo>
                  <a:pt x="1346030" y="1688330"/>
                </a:lnTo>
                <a:lnTo>
                  <a:pt x="1372999" y="1694258"/>
                </a:lnTo>
                <a:lnTo>
                  <a:pt x="1400105" y="1699763"/>
                </a:lnTo>
                <a:lnTo>
                  <a:pt x="1427370" y="1704846"/>
                </a:lnTo>
                <a:lnTo>
                  <a:pt x="1454766" y="1709499"/>
                </a:lnTo>
                <a:lnTo>
                  <a:pt x="1482307" y="1713723"/>
                </a:lnTo>
                <a:lnTo>
                  <a:pt x="1509978" y="1717511"/>
                </a:lnTo>
                <a:lnTo>
                  <a:pt x="1537774" y="1720860"/>
                </a:lnTo>
                <a:lnTo>
                  <a:pt x="1565695" y="1723768"/>
                </a:lnTo>
                <a:lnTo>
                  <a:pt x="1593736" y="1726230"/>
                </a:lnTo>
                <a:lnTo>
                  <a:pt x="1621883" y="1728244"/>
                </a:lnTo>
                <a:lnTo>
                  <a:pt x="1650146" y="1729807"/>
                </a:lnTo>
                <a:lnTo>
                  <a:pt x="1678509" y="1730916"/>
                </a:lnTo>
                <a:lnTo>
                  <a:pt x="1732952" y="1731766"/>
                </a:lnTo>
                <a:lnTo>
                  <a:pt x="3311261" y="1731768"/>
                </a:lnTo>
                <a:lnTo>
                  <a:pt x="3442074" y="1412450"/>
                </a:lnTo>
                <a:lnTo>
                  <a:pt x="3312750" y="1096768"/>
                </a:lnTo>
                <a:lnTo>
                  <a:pt x="1732952" y="1096766"/>
                </a:lnTo>
                <a:lnTo>
                  <a:pt x="1693947" y="1096103"/>
                </a:lnTo>
                <a:lnTo>
                  <a:pt x="1675868" y="1095328"/>
                </a:lnTo>
                <a:lnTo>
                  <a:pt x="1657884" y="1094266"/>
                </a:lnTo>
                <a:lnTo>
                  <a:pt x="1639986" y="1092917"/>
                </a:lnTo>
                <a:lnTo>
                  <a:pt x="1622188" y="1091285"/>
                </a:lnTo>
                <a:lnTo>
                  <a:pt x="1604482" y="1089373"/>
                </a:lnTo>
                <a:lnTo>
                  <a:pt x="1586870" y="1087183"/>
                </a:lnTo>
                <a:lnTo>
                  <a:pt x="1569357" y="1084718"/>
                </a:lnTo>
                <a:lnTo>
                  <a:pt x="1551945" y="1081980"/>
                </a:lnTo>
                <a:lnTo>
                  <a:pt x="1534622" y="1078970"/>
                </a:lnTo>
                <a:lnTo>
                  <a:pt x="1517413" y="1075693"/>
                </a:lnTo>
                <a:lnTo>
                  <a:pt x="1500289" y="1072148"/>
                </a:lnTo>
                <a:lnTo>
                  <a:pt x="1483284" y="1068341"/>
                </a:lnTo>
                <a:lnTo>
                  <a:pt x="1466374" y="1064271"/>
                </a:lnTo>
                <a:lnTo>
                  <a:pt x="1449573" y="1059942"/>
                </a:lnTo>
                <a:lnTo>
                  <a:pt x="1432877" y="1055356"/>
                </a:lnTo>
                <a:lnTo>
                  <a:pt x="1416291" y="1050514"/>
                </a:lnTo>
                <a:lnTo>
                  <a:pt x="1399810" y="1045418"/>
                </a:lnTo>
                <a:lnTo>
                  <a:pt x="1383451" y="1040073"/>
                </a:lnTo>
                <a:lnTo>
                  <a:pt x="1367198" y="1034478"/>
                </a:lnTo>
                <a:lnTo>
                  <a:pt x="1351064" y="1028636"/>
                </a:lnTo>
                <a:lnTo>
                  <a:pt x="1335048" y="1022550"/>
                </a:lnTo>
                <a:lnTo>
                  <a:pt x="1319149" y="1016220"/>
                </a:lnTo>
                <a:lnTo>
                  <a:pt x="1303371" y="1009650"/>
                </a:lnTo>
                <a:lnTo>
                  <a:pt x="1287719" y="1002843"/>
                </a:lnTo>
                <a:lnTo>
                  <a:pt x="1272191" y="995798"/>
                </a:lnTo>
                <a:lnTo>
                  <a:pt x="1256795" y="988520"/>
                </a:lnTo>
                <a:lnTo>
                  <a:pt x="1241518" y="981005"/>
                </a:lnTo>
                <a:lnTo>
                  <a:pt x="1226381" y="973264"/>
                </a:lnTo>
                <a:lnTo>
                  <a:pt x="1211375" y="965295"/>
                </a:lnTo>
                <a:lnTo>
                  <a:pt x="1196506" y="957099"/>
                </a:lnTo>
                <a:lnTo>
                  <a:pt x="1181773" y="948678"/>
                </a:lnTo>
                <a:lnTo>
                  <a:pt x="1167186" y="940038"/>
                </a:lnTo>
                <a:lnTo>
                  <a:pt x="1152739" y="931178"/>
                </a:lnTo>
                <a:lnTo>
                  <a:pt x="1138433" y="922097"/>
                </a:lnTo>
                <a:lnTo>
                  <a:pt x="1124288" y="912809"/>
                </a:lnTo>
                <a:lnTo>
                  <a:pt x="1110278" y="903299"/>
                </a:lnTo>
                <a:lnTo>
                  <a:pt x="1096427" y="893583"/>
                </a:lnTo>
                <a:lnTo>
                  <a:pt x="1082731" y="883658"/>
                </a:lnTo>
                <a:lnTo>
                  <a:pt x="1069197" y="873530"/>
                </a:lnTo>
                <a:lnTo>
                  <a:pt x="1055817" y="863194"/>
                </a:lnTo>
                <a:lnTo>
                  <a:pt x="1042604" y="852660"/>
                </a:lnTo>
                <a:lnTo>
                  <a:pt x="1029552" y="841925"/>
                </a:lnTo>
                <a:lnTo>
                  <a:pt x="1016669" y="830994"/>
                </a:lnTo>
                <a:lnTo>
                  <a:pt x="1003952" y="819865"/>
                </a:lnTo>
                <a:lnTo>
                  <a:pt x="991421" y="808555"/>
                </a:lnTo>
                <a:lnTo>
                  <a:pt x="979046" y="797041"/>
                </a:lnTo>
                <a:lnTo>
                  <a:pt x="966860" y="785350"/>
                </a:lnTo>
                <a:lnTo>
                  <a:pt x="954861" y="773479"/>
                </a:lnTo>
                <a:lnTo>
                  <a:pt x="943030" y="761413"/>
                </a:lnTo>
                <a:lnTo>
                  <a:pt x="931389" y="749174"/>
                </a:lnTo>
                <a:lnTo>
                  <a:pt x="919935" y="736756"/>
                </a:lnTo>
                <a:lnTo>
                  <a:pt x="908674" y="724168"/>
                </a:lnTo>
                <a:lnTo>
                  <a:pt x="897603" y="711405"/>
                </a:lnTo>
                <a:lnTo>
                  <a:pt x="886729" y="698474"/>
                </a:lnTo>
                <a:lnTo>
                  <a:pt x="876047" y="685370"/>
                </a:lnTo>
                <a:lnTo>
                  <a:pt x="865567" y="672106"/>
                </a:lnTo>
                <a:lnTo>
                  <a:pt x="855288" y="658677"/>
                </a:lnTo>
                <a:lnTo>
                  <a:pt x="845216" y="645094"/>
                </a:lnTo>
                <a:lnTo>
                  <a:pt x="835349" y="631350"/>
                </a:lnTo>
                <a:lnTo>
                  <a:pt x="825690" y="617452"/>
                </a:lnTo>
                <a:lnTo>
                  <a:pt x="816246" y="603405"/>
                </a:lnTo>
                <a:lnTo>
                  <a:pt x="807012" y="589203"/>
                </a:lnTo>
                <a:lnTo>
                  <a:pt x="797991" y="574852"/>
                </a:lnTo>
                <a:lnTo>
                  <a:pt x="789198" y="560370"/>
                </a:lnTo>
                <a:lnTo>
                  <a:pt x="780614" y="545727"/>
                </a:lnTo>
                <a:lnTo>
                  <a:pt x="772256" y="530950"/>
                </a:lnTo>
                <a:lnTo>
                  <a:pt x="764127" y="516044"/>
                </a:lnTo>
                <a:lnTo>
                  <a:pt x="756214" y="500985"/>
                </a:lnTo>
                <a:lnTo>
                  <a:pt x="748545" y="485817"/>
                </a:lnTo>
                <a:lnTo>
                  <a:pt x="741096" y="470499"/>
                </a:lnTo>
                <a:lnTo>
                  <a:pt x="733881" y="455054"/>
                </a:lnTo>
                <a:lnTo>
                  <a:pt x="726903" y="439485"/>
                </a:lnTo>
                <a:lnTo>
                  <a:pt x="720164" y="423796"/>
                </a:lnTo>
                <a:lnTo>
                  <a:pt x="713662" y="407977"/>
                </a:lnTo>
                <a:lnTo>
                  <a:pt x="707404" y="392047"/>
                </a:lnTo>
                <a:lnTo>
                  <a:pt x="701388" y="375992"/>
                </a:lnTo>
                <a:lnTo>
                  <a:pt x="695614" y="359813"/>
                </a:lnTo>
                <a:lnTo>
                  <a:pt x="690097" y="343544"/>
                </a:lnTo>
                <a:lnTo>
                  <a:pt x="684819" y="327133"/>
                </a:lnTo>
                <a:lnTo>
                  <a:pt x="679801" y="310634"/>
                </a:lnTo>
                <a:lnTo>
                  <a:pt x="675031" y="294008"/>
                </a:lnTo>
                <a:lnTo>
                  <a:pt x="670525" y="277296"/>
                </a:lnTo>
                <a:lnTo>
                  <a:pt x="666268" y="260453"/>
                </a:lnTo>
                <a:lnTo>
                  <a:pt x="662278" y="243526"/>
                </a:lnTo>
                <a:lnTo>
                  <a:pt x="658545" y="226479"/>
                </a:lnTo>
                <a:lnTo>
                  <a:pt x="655083" y="209354"/>
                </a:lnTo>
                <a:lnTo>
                  <a:pt x="651881" y="192101"/>
                </a:lnTo>
                <a:lnTo>
                  <a:pt x="648953" y="174771"/>
                </a:lnTo>
                <a:lnTo>
                  <a:pt x="646295" y="157338"/>
                </a:lnTo>
                <a:lnTo>
                  <a:pt x="643909" y="139800"/>
                </a:lnTo>
                <a:lnTo>
                  <a:pt x="641802" y="122180"/>
                </a:lnTo>
                <a:lnTo>
                  <a:pt x="639971" y="104458"/>
                </a:lnTo>
                <a:lnTo>
                  <a:pt x="638422" y="86647"/>
                </a:lnTo>
                <a:lnTo>
                  <a:pt x="637156" y="68746"/>
                </a:lnTo>
                <a:lnTo>
                  <a:pt x="636176" y="50746"/>
                </a:lnTo>
                <a:lnTo>
                  <a:pt x="635485" y="32670"/>
                </a:lnTo>
                <a:lnTo>
                  <a:pt x="635085" y="14496"/>
                </a:lnTo>
                <a:lnTo>
                  <a:pt x="635013" y="2778"/>
                </a:lnTo>
                <a:lnTo>
                  <a:pt x="320898" y="13146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7" name="任意多边形: 形状 206"/>
          <p:cNvSpPr/>
          <p:nvPr/>
        </p:nvSpPr>
        <p:spPr>
          <a:xfrm flipH="1">
            <a:off x="4448108" y="4788332"/>
            <a:ext cx="3293183" cy="635003"/>
          </a:xfrm>
          <a:custGeom>
            <a:avLst/>
            <a:gdLst>
              <a:gd name="connsiteX0" fmla="*/ 1490 w 3293183"/>
              <a:gd name="connsiteY0" fmla="*/ 0 h 635003"/>
              <a:gd name="connsiteX1" fmla="*/ 130814 w 3293183"/>
              <a:gd name="connsiteY1" fmla="*/ 315682 h 635003"/>
              <a:gd name="connsiteX2" fmla="*/ 0 w 3293183"/>
              <a:gd name="connsiteY2" fmla="*/ 635000 h 635003"/>
              <a:gd name="connsiteX3" fmla="*/ 3162368 w 3293183"/>
              <a:gd name="connsiteY3" fmla="*/ 635003 h 635003"/>
              <a:gd name="connsiteX4" fmla="*/ 3293183 w 3293183"/>
              <a:gd name="connsiteY4" fmla="*/ 315682 h 635003"/>
              <a:gd name="connsiteX5" fmla="*/ 3163860 w 3293183"/>
              <a:gd name="connsiteY5" fmla="*/ 3 h 635003"/>
              <a:gd name="connsiteX6" fmla="*/ 1490 w 3293183"/>
              <a:gd name="connsiteY6" fmla="*/ 0 h 63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3183" h="635003">
                <a:moveTo>
                  <a:pt x="1490" y="0"/>
                </a:moveTo>
                <a:lnTo>
                  <a:pt x="130814" y="315682"/>
                </a:lnTo>
                <a:lnTo>
                  <a:pt x="0" y="635000"/>
                </a:lnTo>
                <a:lnTo>
                  <a:pt x="3162368" y="635003"/>
                </a:lnTo>
                <a:lnTo>
                  <a:pt x="3293183" y="315682"/>
                </a:lnTo>
                <a:lnTo>
                  <a:pt x="3163860" y="3"/>
                </a:lnTo>
                <a:lnTo>
                  <a:pt x="149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grpSp>
        <p:nvGrpSpPr>
          <p:cNvPr id="260" name="组合 259"/>
          <p:cNvGrpSpPr/>
          <p:nvPr/>
        </p:nvGrpSpPr>
        <p:grpSpPr>
          <a:xfrm>
            <a:off x="1801364" y="2696404"/>
            <a:ext cx="8586672" cy="1985544"/>
            <a:chOff x="1631590" y="2592404"/>
            <a:chExt cx="8926220" cy="2193544"/>
          </a:xfrm>
        </p:grpSpPr>
        <p:sp>
          <p:nvSpPr>
            <p:cNvPr id="255" name="任意多边形: 形状 254"/>
            <p:cNvSpPr/>
            <p:nvPr/>
          </p:nvSpPr>
          <p:spPr>
            <a:xfrm>
              <a:off x="1631590" y="2592404"/>
              <a:ext cx="3120505" cy="2193544"/>
            </a:xfrm>
            <a:custGeom>
              <a:avLst/>
              <a:gdLst>
                <a:gd name="connsiteX0" fmla="*/ 1096772 w 3120505"/>
                <a:gd name="connsiteY0" fmla="*/ 0 h 2193544"/>
                <a:gd name="connsiteX1" fmla="*/ 2639893 w 3120505"/>
                <a:gd name="connsiteY1" fmla="*/ 0 h 2193544"/>
                <a:gd name="connsiteX2" fmla="*/ 3120505 w 3120505"/>
                <a:gd name="connsiteY2" fmla="*/ 1098749 h 2193544"/>
                <a:gd name="connsiteX3" fmla="*/ 2641623 w 3120505"/>
                <a:gd name="connsiteY3" fmla="*/ 2193544 h 2193544"/>
                <a:gd name="connsiteX4" fmla="*/ 1096772 w 3120505"/>
                <a:gd name="connsiteY4" fmla="*/ 2193544 h 2193544"/>
                <a:gd name="connsiteX5" fmla="*/ 0 w 3120505"/>
                <a:gd name="connsiteY5" fmla="*/ 1096772 h 2193544"/>
                <a:gd name="connsiteX6" fmla="*/ 1096772 w 3120505"/>
                <a:gd name="connsiteY6" fmla="*/ 0 h 2193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0505" h="2193544">
                  <a:moveTo>
                    <a:pt x="1096772" y="0"/>
                  </a:moveTo>
                  <a:lnTo>
                    <a:pt x="2639893" y="0"/>
                  </a:lnTo>
                  <a:lnTo>
                    <a:pt x="3120505" y="1098749"/>
                  </a:lnTo>
                  <a:lnTo>
                    <a:pt x="2641623" y="2193544"/>
                  </a:lnTo>
                  <a:lnTo>
                    <a:pt x="1096772" y="2193544"/>
                  </a:lnTo>
                  <a:cubicBezTo>
                    <a:pt x="491042" y="2193544"/>
                    <a:pt x="0" y="1702502"/>
                    <a:pt x="0" y="1096772"/>
                  </a:cubicBezTo>
                  <a:cubicBezTo>
                    <a:pt x="0" y="491042"/>
                    <a:pt x="491042" y="0"/>
                    <a:pt x="109677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4" name="任意多边形: 形状 253"/>
            <p:cNvSpPr/>
            <p:nvPr/>
          </p:nvSpPr>
          <p:spPr>
            <a:xfrm>
              <a:off x="4581360" y="2592404"/>
              <a:ext cx="3050802" cy="2193544"/>
            </a:xfrm>
            <a:custGeom>
              <a:avLst/>
              <a:gdLst>
                <a:gd name="connsiteX0" fmla="*/ 0 w 3050802"/>
                <a:gd name="connsiteY0" fmla="*/ 0 h 2193544"/>
                <a:gd name="connsiteX1" fmla="*/ 2570190 w 3050802"/>
                <a:gd name="connsiteY1" fmla="*/ 0 h 2193544"/>
                <a:gd name="connsiteX2" fmla="*/ 3050802 w 3050802"/>
                <a:gd name="connsiteY2" fmla="*/ 1098749 h 2193544"/>
                <a:gd name="connsiteX3" fmla="*/ 2571920 w 3050802"/>
                <a:gd name="connsiteY3" fmla="*/ 2193544 h 2193544"/>
                <a:gd name="connsiteX4" fmla="*/ 1730 w 3050802"/>
                <a:gd name="connsiteY4" fmla="*/ 2193544 h 2193544"/>
                <a:gd name="connsiteX5" fmla="*/ 480612 w 3050802"/>
                <a:gd name="connsiteY5" fmla="*/ 1098749 h 2193544"/>
                <a:gd name="connsiteX6" fmla="*/ 0 w 3050802"/>
                <a:gd name="connsiteY6" fmla="*/ 0 h 2193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0802" h="2193544">
                  <a:moveTo>
                    <a:pt x="0" y="0"/>
                  </a:moveTo>
                  <a:lnTo>
                    <a:pt x="2570190" y="0"/>
                  </a:lnTo>
                  <a:lnTo>
                    <a:pt x="3050802" y="1098749"/>
                  </a:lnTo>
                  <a:lnTo>
                    <a:pt x="2571920" y="2193544"/>
                  </a:lnTo>
                  <a:lnTo>
                    <a:pt x="1730" y="2193544"/>
                  </a:lnTo>
                  <a:lnTo>
                    <a:pt x="480612" y="1098749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3" name="任意多边形: 形状 252"/>
            <p:cNvSpPr/>
            <p:nvPr/>
          </p:nvSpPr>
          <p:spPr>
            <a:xfrm>
              <a:off x="7461429" y="2592404"/>
              <a:ext cx="3096381" cy="2193544"/>
            </a:xfrm>
            <a:custGeom>
              <a:avLst/>
              <a:gdLst>
                <a:gd name="connsiteX0" fmla="*/ 0 w 3096381"/>
                <a:gd name="connsiteY0" fmla="*/ 0 h 2193544"/>
                <a:gd name="connsiteX1" fmla="*/ 1999609 w 3096381"/>
                <a:gd name="connsiteY1" fmla="*/ 0 h 2193544"/>
                <a:gd name="connsiteX2" fmla="*/ 3096381 w 3096381"/>
                <a:gd name="connsiteY2" fmla="*/ 1096772 h 2193544"/>
                <a:gd name="connsiteX3" fmla="*/ 1999609 w 3096381"/>
                <a:gd name="connsiteY3" fmla="*/ 2193544 h 2193544"/>
                <a:gd name="connsiteX4" fmla="*/ 1730 w 3096381"/>
                <a:gd name="connsiteY4" fmla="*/ 2193544 h 2193544"/>
                <a:gd name="connsiteX5" fmla="*/ 480612 w 3096381"/>
                <a:gd name="connsiteY5" fmla="*/ 1098749 h 2193544"/>
                <a:gd name="connsiteX6" fmla="*/ 0 w 3096381"/>
                <a:gd name="connsiteY6" fmla="*/ 0 h 2193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6381" h="2193544">
                  <a:moveTo>
                    <a:pt x="0" y="0"/>
                  </a:moveTo>
                  <a:lnTo>
                    <a:pt x="1999609" y="0"/>
                  </a:lnTo>
                  <a:cubicBezTo>
                    <a:pt x="2605339" y="0"/>
                    <a:pt x="3096381" y="491042"/>
                    <a:pt x="3096381" y="1096772"/>
                  </a:cubicBezTo>
                  <a:cubicBezTo>
                    <a:pt x="3096381" y="1702502"/>
                    <a:pt x="2605339" y="2193544"/>
                    <a:pt x="1999609" y="2193544"/>
                  </a:cubicBezTo>
                  <a:lnTo>
                    <a:pt x="1730" y="2193544"/>
                  </a:lnTo>
                  <a:lnTo>
                    <a:pt x="480612" y="1098749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264" name="椭圆 263"/>
          <p:cNvSpPr/>
          <p:nvPr/>
        </p:nvSpPr>
        <p:spPr>
          <a:xfrm>
            <a:off x="2430338" y="2049067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2867025" y="2083184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市调定方向</a:t>
            </a:r>
          </a:p>
        </p:txBody>
      </p:sp>
      <p:sp>
        <p:nvSpPr>
          <p:cNvPr id="267" name="椭圆 266"/>
          <p:cNvSpPr/>
          <p:nvPr/>
        </p:nvSpPr>
        <p:spPr>
          <a:xfrm>
            <a:off x="5104560" y="2049067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5541247" y="2083184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方案细打磨</a:t>
            </a:r>
          </a:p>
        </p:txBody>
      </p:sp>
      <p:sp>
        <p:nvSpPr>
          <p:cNvPr id="269" name="椭圆 268"/>
          <p:cNvSpPr/>
          <p:nvPr/>
        </p:nvSpPr>
        <p:spPr>
          <a:xfrm>
            <a:off x="8008256" y="2049067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8444943" y="2083184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资源全整合</a:t>
            </a:r>
          </a:p>
        </p:txBody>
      </p:sp>
      <p:sp>
        <p:nvSpPr>
          <p:cNvPr id="271" name="椭圆 270"/>
          <p:cNvSpPr/>
          <p:nvPr/>
        </p:nvSpPr>
        <p:spPr>
          <a:xfrm>
            <a:off x="2430338" y="4860941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6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2867025" y="4895058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经验再复用</a:t>
            </a:r>
          </a:p>
        </p:txBody>
      </p:sp>
      <p:sp>
        <p:nvSpPr>
          <p:cNvPr id="273" name="椭圆 272"/>
          <p:cNvSpPr/>
          <p:nvPr/>
        </p:nvSpPr>
        <p:spPr>
          <a:xfrm>
            <a:off x="5104560" y="4860941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5541247" y="4895058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复盘深剖析</a:t>
            </a:r>
          </a:p>
        </p:txBody>
      </p:sp>
      <p:sp>
        <p:nvSpPr>
          <p:cNvPr id="275" name="椭圆 274"/>
          <p:cNvSpPr/>
          <p:nvPr/>
        </p:nvSpPr>
        <p:spPr>
          <a:xfrm>
            <a:off x="8008256" y="4860941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8444943" y="4895058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执行强管控</a:t>
            </a:r>
          </a:p>
        </p:txBody>
      </p:sp>
      <p:grpSp>
        <p:nvGrpSpPr>
          <p:cNvPr id="288" name="组合 287"/>
          <p:cNvGrpSpPr/>
          <p:nvPr/>
        </p:nvGrpSpPr>
        <p:grpSpPr>
          <a:xfrm>
            <a:off x="1318233" y="1028700"/>
            <a:ext cx="3013737" cy="841374"/>
            <a:chOff x="1318233" y="1028700"/>
            <a:chExt cx="3013737" cy="841374"/>
          </a:xfrm>
        </p:grpSpPr>
        <p:sp>
          <p:nvSpPr>
            <p:cNvPr id="281" name="矩形: 圆角 280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8" name="文本框 277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通过分析竞品活动、消费者行为数据，结合平台销售目标，明确活动主题与核心玩法。</a:t>
              </a:r>
              <a:endParaRPr lang="zh-CN" altLang="en-US" sz="1000" dirty="0"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82" name="矩形: 圆角 281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市调定方向</a:t>
              </a:r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4537696" y="1028700"/>
            <a:ext cx="3013737" cy="841374"/>
            <a:chOff x="1318233" y="1028700"/>
            <a:chExt cx="3013737" cy="841374"/>
          </a:xfrm>
        </p:grpSpPr>
        <p:sp>
          <p:nvSpPr>
            <p:cNvPr id="290" name="矩形: 圆角 289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1" name="文本框 290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设计活动规则、页面布局、推广策略，经跨部门研讨优化，确保方案可落地、有吸引力。​</a:t>
              </a:r>
            </a:p>
          </p:txBody>
        </p:sp>
        <p:sp>
          <p:nvSpPr>
            <p:cNvPr id="292" name="矩形: 圆角 291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方案细打磨​</a:t>
              </a: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7741291" y="1028700"/>
            <a:ext cx="3013737" cy="841374"/>
            <a:chOff x="1318233" y="1028700"/>
            <a:chExt cx="3013737" cy="841374"/>
          </a:xfrm>
        </p:grpSpPr>
        <p:sp>
          <p:nvSpPr>
            <p:cNvPr id="294" name="矩形: 圆角 293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5" name="文本框 294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实时监控活动流量、转化率、库存，及时处理突发问题，动态调整推广资源分配。​</a:t>
              </a:r>
            </a:p>
          </p:txBody>
        </p:sp>
        <p:sp>
          <p:nvSpPr>
            <p:cNvPr id="296" name="矩形: 圆角 295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执行强管控</a:t>
              </a:r>
            </a:p>
          </p:txBody>
        </p:sp>
      </p:grpSp>
      <p:grpSp>
        <p:nvGrpSpPr>
          <p:cNvPr id="297" name="组合 296"/>
          <p:cNvGrpSpPr/>
          <p:nvPr/>
        </p:nvGrpSpPr>
        <p:grpSpPr>
          <a:xfrm>
            <a:off x="1318233" y="5495940"/>
            <a:ext cx="3013737" cy="841374"/>
            <a:chOff x="1318233" y="1028700"/>
            <a:chExt cx="3013737" cy="841374"/>
          </a:xfrm>
        </p:grpSpPr>
        <p:sp>
          <p:nvSpPr>
            <p:cNvPr id="298" name="矩形: 圆角 297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9" name="文本框 298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提炼活动成功经验与改进方案，建立案例库，为后续营销活动提供参考与优化方向。​</a:t>
              </a:r>
              <a:endParaRPr lang="zh-CN" altLang="en-US" sz="1000" dirty="0"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00" name="矩形: 圆角 299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经验再复用</a:t>
              </a:r>
            </a:p>
          </p:txBody>
        </p:sp>
      </p:grpSp>
      <p:grpSp>
        <p:nvGrpSpPr>
          <p:cNvPr id="301" name="组合 300"/>
          <p:cNvGrpSpPr/>
          <p:nvPr/>
        </p:nvGrpSpPr>
        <p:grpSpPr>
          <a:xfrm>
            <a:off x="4537696" y="5495940"/>
            <a:ext cx="3013737" cy="841374"/>
            <a:chOff x="1318233" y="1028700"/>
            <a:chExt cx="3013737" cy="841374"/>
          </a:xfrm>
        </p:grpSpPr>
        <p:sp>
          <p:nvSpPr>
            <p:cNvPr id="302" name="矩形: 圆角 301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3" name="文本框 302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对比活动目标与实际数据，分析用户反馈，总结亮点与不足，形成问题清单。​</a:t>
              </a:r>
            </a:p>
          </p:txBody>
        </p:sp>
        <p:sp>
          <p:nvSpPr>
            <p:cNvPr id="304" name="矩形: 圆角 303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复盘深剖析</a:t>
              </a:r>
            </a:p>
          </p:txBody>
        </p:sp>
      </p:grpSp>
      <p:grpSp>
        <p:nvGrpSpPr>
          <p:cNvPr id="305" name="组合 304"/>
          <p:cNvGrpSpPr/>
          <p:nvPr/>
        </p:nvGrpSpPr>
        <p:grpSpPr>
          <a:xfrm>
            <a:off x="7741291" y="5495940"/>
            <a:ext cx="3013737" cy="841374"/>
            <a:chOff x="1318233" y="1028700"/>
            <a:chExt cx="3013737" cy="841374"/>
          </a:xfrm>
        </p:grpSpPr>
        <p:sp>
          <p:nvSpPr>
            <p:cNvPr id="306" name="矩形: 圆角 305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7" name="文本框 306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实时监控活动流量、转化率、库存，及时处理突发问题，动态调整推广资源分配。​</a:t>
              </a:r>
            </a:p>
          </p:txBody>
        </p:sp>
        <p:sp>
          <p:nvSpPr>
            <p:cNvPr id="308" name="矩形: 圆角 307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执行强管控</a:t>
              </a:r>
            </a:p>
          </p:txBody>
        </p:sp>
      </p:grpSp>
      <p:sp>
        <p:nvSpPr>
          <p:cNvPr id="311" name="文本框 310"/>
          <p:cNvSpPr txBox="1"/>
          <p:nvPr/>
        </p:nvSpPr>
        <p:spPr>
          <a:xfrm>
            <a:off x="2702879" y="3610962"/>
            <a:ext cx="1493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谋规划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12" name="文本框 311"/>
          <p:cNvSpPr txBox="1"/>
          <p:nvPr/>
        </p:nvSpPr>
        <p:spPr>
          <a:xfrm>
            <a:off x="2481779" y="4046125"/>
            <a:ext cx="1935510" cy="466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050" b="0" i="0">
                <a:solidFill>
                  <a:schemeClr val="bg1"/>
                </a:solidFill>
                <a:effectLst/>
                <a:latin typeface="Inter"/>
              </a:defRPr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调研市场、确定方向，为营销活动筑牢根基。</a:t>
            </a:r>
          </a:p>
        </p:txBody>
      </p:sp>
      <p:sp>
        <p:nvSpPr>
          <p:cNvPr id="313" name="椭圆 312"/>
          <p:cNvSpPr/>
          <p:nvPr/>
        </p:nvSpPr>
        <p:spPr>
          <a:xfrm>
            <a:off x="3062514" y="2836558"/>
            <a:ext cx="712032" cy="7120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14" name="Google Shape;5389;p76"/>
          <p:cNvGrpSpPr/>
          <p:nvPr/>
        </p:nvGrpSpPr>
        <p:grpSpPr>
          <a:xfrm>
            <a:off x="3166571" y="2948221"/>
            <a:ext cx="503918" cy="499048"/>
            <a:chOff x="5049725" y="1435050"/>
            <a:chExt cx="486550" cy="481850"/>
          </a:xfrm>
          <a:solidFill>
            <a:schemeClr val="accent1"/>
          </a:solidFill>
        </p:grpSpPr>
        <p:sp>
          <p:nvSpPr>
            <p:cNvPr id="315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16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17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18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22" name="文本框 321"/>
          <p:cNvSpPr txBox="1"/>
          <p:nvPr/>
        </p:nvSpPr>
        <p:spPr>
          <a:xfrm>
            <a:off x="5374915" y="3610962"/>
            <a:ext cx="1493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抓落实</a:t>
            </a:r>
          </a:p>
        </p:txBody>
      </p:sp>
      <p:sp>
        <p:nvSpPr>
          <p:cNvPr id="323" name="文本框 322"/>
          <p:cNvSpPr txBox="1"/>
          <p:nvPr/>
        </p:nvSpPr>
        <p:spPr>
          <a:xfrm>
            <a:off x="5153815" y="4046125"/>
            <a:ext cx="1935510" cy="466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050" b="0" i="0">
                <a:solidFill>
                  <a:schemeClr val="bg1"/>
                </a:solidFill>
                <a:effectLst/>
                <a:latin typeface="Inter"/>
              </a:defRPr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整合资源、严格执行，确保活动推进与目标达成。</a:t>
            </a:r>
          </a:p>
        </p:txBody>
      </p:sp>
      <p:sp>
        <p:nvSpPr>
          <p:cNvPr id="324" name="椭圆 323"/>
          <p:cNvSpPr/>
          <p:nvPr/>
        </p:nvSpPr>
        <p:spPr>
          <a:xfrm>
            <a:off x="5734550" y="2836558"/>
            <a:ext cx="712032" cy="7120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25" name="Google Shape;5389;p76"/>
          <p:cNvGrpSpPr/>
          <p:nvPr/>
        </p:nvGrpSpPr>
        <p:grpSpPr>
          <a:xfrm>
            <a:off x="5838607" y="2948221"/>
            <a:ext cx="503918" cy="499048"/>
            <a:chOff x="5049725" y="1435050"/>
            <a:chExt cx="486550" cy="481850"/>
          </a:xfrm>
          <a:solidFill>
            <a:schemeClr val="accent1"/>
          </a:solidFill>
        </p:grpSpPr>
        <p:sp>
          <p:nvSpPr>
            <p:cNvPr id="326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7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8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9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31" name="文本框 330"/>
          <p:cNvSpPr txBox="1"/>
          <p:nvPr/>
        </p:nvSpPr>
        <p:spPr>
          <a:xfrm>
            <a:off x="8046951" y="3610962"/>
            <a:ext cx="1493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促提升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7825851" y="4046125"/>
            <a:ext cx="1935510" cy="466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复盘经验、迭代优化，持续提升营销活动效果与运营能力。</a:t>
            </a:r>
          </a:p>
        </p:txBody>
      </p:sp>
      <p:sp>
        <p:nvSpPr>
          <p:cNvPr id="333" name="椭圆 332"/>
          <p:cNvSpPr/>
          <p:nvPr/>
        </p:nvSpPr>
        <p:spPr>
          <a:xfrm>
            <a:off x="8406586" y="2836558"/>
            <a:ext cx="712032" cy="7120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34" name="Google Shape;5389;p76"/>
          <p:cNvGrpSpPr/>
          <p:nvPr/>
        </p:nvGrpSpPr>
        <p:grpSpPr>
          <a:xfrm>
            <a:off x="8510643" y="2948221"/>
            <a:ext cx="503918" cy="499048"/>
            <a:chOff x="5049725" y="1435050"/>
            <a:chExt cx="486550" cy="481850"/>
          </a:xfrm>
          <a:solidFill>
            <a:schemeClr val="accent1"/>
          </a:solidFill>
        </p:grpSpPr>
        <p:sp>
          <p:nvSpPr>
            <p:cNvPr id="335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36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37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38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41" name="弧形 340"/>
          <p:cNvSpPr/>
          <p:nvPr/>
        </p:nvSpPr>
        <p:spPr>
          <a:xfrm>
            <a:off x="7439973" y="1660338"/>
            <a:ext cx="4086526" cy="4086524"/>
          </a:xfrm>
          <a:prstGeom prst="arc">
            <a:avLst>
              <a:gd name="adj1" fmla="val 19234432"/>
              <a:gd name="adj2" fmla="val 2390435"/>
            </a:avLst>
          </a:prstGeom>
          <a:ln w="127000" cap="rnd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2" name="弧形 341"/>
          <p:cNvSpPr/>
          <p:nvPr/>
        </p:nvSpPr>
        <p:spPr>
          <a:xfrm flipH="1" flipV="1">
            <a:off x="696036" y="1660338"/>
            <a:ext cx="4086526" cy="4086524"/>
          </a:xfrm>
          <a:prstGeom prst="arc">
            <a:avLst>
              <a:gd name="adj1" fmla="val 19234432"/>
              <a:gd name="adj2" fmla="val 2390435"/>
            </a:avLst>
          </a:prstGeom>
          <a:ln w="12700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任意多边形: 形状 176"/>
          <p:cNvSpPr/>
          <p:nvPr/>
        </p:nvSpPr>
        <p:spPr>
          <a:xfrm>
            <a:off x="355599" y="988062"/>
            <a:ext cx="4731057" cy="2434717"/>
          </a:xfrm>
          <a:custGeom>
            <a:avLst/>
            <a:gdLst>
              <a:gd name="connsiteX0" fmla="*/ 63773 w 4402526"/>
              <a:gd name="connsiteY0" fmla="*/ 0 h 2434717"/>
              <a:gd name="connsiteX1" fmla="*/ 4402526 w 4402526"/>
              <a:gd name="connsiteY1" fmla="*/ 0 h 2434717"/>
              <a:gd name="connsiteX2" fmla="*/ 4316291 w 4402526"/>
              <a:gd name="connsiteY2" fmla="*/ 41542 h 2434717"/>
              <a:gd name="connsiteX3" fmla="*/ 2779817 w 4402526"/>
              <a:gd name="connsiteY3" fmla="*/ 2427036 h 2434717"/>
              <a:gd name="connsiteX4" fmla="*/ 2779550 w 4402526"/>
              <a:gd name="connsiteY4" fmla="*/ 2434717 h 2434717"/>
              <a:gd name="connsiteX5" fmla="*/ 0 w 4402526"/>
              <a:gd name="connsiteY5" fmla="*/ 2434717 h 2434717"/>
              <a:gd name="connsiteX6" fmla="*/ 0 w 4402526"/>
              <a:gd name="connsiteY6" fmla="*/ 63773 h 2434717"/>
              <a:gd name="connsiteX7" fmla="*/ 63773 w 4402526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6" h="2434717">
                <a:moveTo>
                  <a:pt x="63773" y="0"/>
                </a:moveTo>
                <a:lnTo>
                  <a:pt x="4402526" y="0"/>
                </a:lnTo>
                <a:lnTo>
                  <a:pt x="4316291" y="41542"/>
                </a:lnTo>
                <a:cubicBezTo>
                  <a:pt x="3454258" y="509826"/>
                  <a:pt x="2851761" y="1395329"/>
                  <a:pt x="2779817" y="2427036"/>
                </a:cubicBezTo>
                <a:lnTo>
                  <a:pt x="2779550" y="2434717"/>
                </a:lnTo>
                <a:lnTo>
                  <a:pt x="0" y="2434717"/>
                </a:ln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任意多边形: 形状 175"/>
          <p:cNvSpPr/>
          <p:nvPr/>
        </p:nvSpPr>
        <p:spPr>
          <a:xfrm>
            <a:off x="7131062" y="988062"/>
            <a:ext cx="4669143" cy="2434717"/>
          </a:xfrm>
          <a:custGeom>
            <a:avLst/>
            <a:gdLst>
              <a:gd name="connsiteX0" fmla="*/ 0 w 4402526"/>
              <a:gd name="connsiteY0" fmla="*/ 0 h 2434717"/>
              <a:gd name="connsiteX1" fmla="*/ 4338753 w 4402526"/>
              <a:gd name="connsiteY1" fmla="*/ 0 h 2434717"/>
              <a:gd name="connsiteX2" fmla="*/ 4402526 w 4402526"/>
              <a:gd name="connsiteY2" fmla="*/ 63773 h 2434717"/>
              <a:gd name="connsiteX3" fmla="*/ 4402526 w 4402526"/>
              <a:gd name="connsiteY3" fmla="*/ 2434717 h 2434717"/>
              <a:gd name="connsiteX4" fmla="*/ 1622975 w 4402526"/>
              <a:gd name="connsiteY4" fmla="*/ 2434717 h 2434717"/>
              <a:gd name="connsiteX5" fmla="*/ 1622708 w 4402526"/>
              <a:gd name="connsiteY5" fmla="*/ 2427036 h 2434717"/>
              <a:gd name="connsiteX6" fmla="*/ 86235 w 4402526"/>
              <a:gd name="connsiteY6" fmla="*/ 41542 h 2434717"/>
              <a:gd name="connsiteX7" fmla="*/ 0 w 4402526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6" h="2434717">
                <a:moveTo>
                  <a:pt x="0" y="0"/>
                </a:moveTo>
                <a:lnTo>
                  <a:pt x="4338753" y="0"/>
                </a:lnTo>
                <a:cubicBezTo>
                  <a:pt x="4373974" y="0"/>
                  <a:pt x="4402526" y="28552"/>
                  <a:pt x="4402526" y="63773"/>
                </a:cubicBezTo>
                <a:lnTo>
                  <a:pt x="4402526" y="2434717"/>
                </a:lnTo>
                <a:lnTo>
                  <a:pt x="1622975" y="2434717"/>
                </a:lnTo>
                <a:lnTo>
                  <a:pt x="1622708" y="2427036"/>
                </a:lnTo>
                <a:cubicBezTo>
                  <a:pt x="1550764" y="1395329"/>
                  <a:pt x="948268" y="509826"/>
                  <a:pt x="86235" y="4154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任意多边形: 形状 171"/>
          <p:cNvSpPr/>
          <p:nvPr/>
        </p:nvSpPr>
        <p:spPr>
          <a:xfrm>
            <a:off x="355599" y="3823838"/>
            <a:ext cx="4731059" cy="2434717"/>
          </a:xfrm>
          <a:custGeom>
            <a:avLst/>
            <a:gdLst>
              <a:gd name="connsiteX0" fmla="*/ 0 w 4402528"/>
              <a:gd name="connsiteY0" fmla="*/ 0 h 2434717"/>
              <a:gd name="connsiteX1" fmla="*/ 2779550 w 4402528"/>
              <a:gd name="connsiteY1" fmla="*/ 0 h 2434717"/>
              <a:gd name="connsiteX2" fmla="*/ 2779817 w 4402528"/>
              <a:gd name="connsiteY2" fmla="*/ 7680 h 2434717"/>
              <a:gd name="connsiteX3" fmla="*/ 4316291 w 4402528"/>
              <a:gd name="connsiteY3" fmla="*/ 2393175 h 2434717"/>
              <a:gd name="connsiteX4" fmla="*/ 4402528 w 4402528"/>
              <a:gd name="connsiteY4" fmla="*/ 2434717 h 2434717"/>
              <a:gd name="connsiteX5" fmla="*/ 63773 w 4402528"/>
              <a:gd name="connsiteY5" fmla="*/ 2434717 h 2434717"/>
              <a:gd name="connsiteX6" fmla="*/ 0 w 4402528"/>
              <a:gd name="connsiteY6" fmla="*/ 2370944 h 2434717"/>
              <a:gd name="connsiteX7" fmla="*/ 0 w 4402528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8" h="2434717">
                <a:moveTo>
                  <a:pt x="0" y="0"/>
                </a:moveTo>
                <a:lnTo>
                  <a:pt x="2779550" y="0"/>
                </a:lnTo>
                <a:lnTo>
                  <a:pt x="2779817" y="7680"/>
                </a:lnTo>
                <a:cubicBezTo>
                  <a:pt x="2851761" y="1039388"/>
                  <a:pt x="3454258" y="1924890"/>
                  <a:pt x="4316291" y="2393175"/>
                </a:cubicBezTo>
                <a:lnTo>
                  <a:pt x="4402528" y="2434717"/>
                </a:lnTo>
                <a:lnTo>
                  <a:pt x="63773" y="2434717"/>
                </a:lnTo>
                <a:cubicBezTo>
                  <a:pt x="28552" y="2434717"/>
                  <a:pt x="0" y="2406165"/>
                  <a:pt x="0" y="2370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7131060" y="3823838"/>
            <a:ext cx="4669145" cy="2434717"/>
          </a:xfrm>
          <a:custGeom>
            <a:avLst/>
            <a:gdLst>
              <a:gd name="connsiteX0" fmla="*/ 1622977 w 4402528"/>
              <a:gd name="connsiteY0" fmla="*/ 0 h 2434717"/>
              <a:gd name="connsiteX1" fmla="*/ 4402528 w 4402528"/>
              <a:gd name="connsiteY1" fmla="*/ 0 h 2434717"/>
              <a:gd name="connsiteX2" fmla="*/ 4402528 w 4402528"/>
              <a:gd name="connsiteY2" fmla="*/ 2370944 h 2434717"/>
              <a:gd name="connsiteX3" fmla="*/ 4338755 w 4402528"/>
              <a:gd name="connsiteY3" fmla="*/ 2434717 h 2434717"/>
              <a:gd name="connsiteX4" fmla="*/ 0 w 4402528"/>
              <a:gd name="connsiteY4" fmla="*/ 2434717 h 2434717"/>
              <a:gd name="connsiteX5" fmla="*/ 86237 w 4402528"/>
              <a:gd name="connsiteY5" fmla="*/ 2393175 h 2434717"/>
              <a:gd name="connsiteX6" fmla="*/ 1622710 w 4402528"/>
              <a:gd name="connsiteY6" fmla="*/ 7680 h 2434717"/>
              <a:gd name="connsiteX7" fmla="*/ 1622977 w 4402528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8" h="2434717">
                <a:moveTo>
                  <a:pt x="1622977" y="0"/>
                </a:moveTo>
                <a:lnTo>
                  <a:pt x="4402528" y="0"/>
                </a:lnTo>
                <a:lnTo>
                  <a:pt x="4402528" y="2370944"/>
                </a:lnTo>
                <a:cubicBezTo>
                  <a:pt x="4402528" y="2406165"/>
                  <a:pt x="4373976" y="2434717"/>
                  <a:pt x="4338755" y="2434717"/>
                </a:cubicBezTo>
                <a:lnTo>
                  <a:pt x="0" y="2434717"/>
                </a:lnTo>
                <a:lnTo>
                  <a:pt x="86237" y="2393175"/>
                </a:lnTo>
                <a:cubicBezTo>
                  <a:pt x="948270" y="1924890"/>
                  <a:pt x="1550766" y="1039388"/>
                  <a:pt x="1622710" y="7680"/>
                </a:cubicBezTo>
                <a:lnTo>
                  <a:pt x="1622977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289072" y="200526"/>
            <a:ext cx="53383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四段内容页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-PDCA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循环管理模型</a:t>
            </a:r>
          </a:p>
        </p:txBody>
      </p:sp>
      <p:cxnSp>
        <p:nvCxnSpPr>
          <p:cNvPr id="14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: 圆顶角 15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679735" y="2221168"/>
            <a:ext cx="2834970" cy="2832756"/>
            <a:chOff x="4679774" y="2221207"/>
            <a:chExt cx="2834891" cy="2832679"/>
          </a:xfrm>
          <a:solidFill>
            <a:schemeClr val="accent1">
              <a:alpha val="10000"/>
            </a:schemeClr>
          </a:solidFill>
        </p:grpSpPr>
        <p:sp>
          <p:nvSpPr>
            <p:cNvPr id="163" name="任意多边形: 形状 162"/>
            <p:cNvSpPr/>
            <p:nvPr/>
          </p:nvSpPr>
          <p:spPr>
            <a:xfrm rot="5400000">
              <a:off x="6089357" y="2250967"/>
              <a:ext cx="1455067" cy="1395548"/>
            </a:xfrm>
            <a:custGeom>
              <a:avLst/>
              <a:gdLst>
                <a:gd name="connsiteX0" fmla="*/ 0 w 1455067"/>
                <a:gd name="connsiteY0" fmla="*/ 1395548 h 1395548"/>
                <a:gd name="connsiteX1" fmla="*/ 6212 w 1455067"/>
                <a:gd name="connsiteY1" fmla="*/ 1272520 h 1395548"/>
                <a:gd name="connsiteX2" fmla="*/ 1416339 w 1455067"/>
                <a:gd name="connsiteY2" fmla="*/ 0 h 1395548"/>
                <a:gd name="connsiteX3" fmla="*/ 1455067 w 1455067"/>
                <a:gd name="connsiteY3" fmla="*/ 1955 h 1395548"/>
                <a:gd name="connsiteX4" fmla="*/ 1455067 w 1455067"/>
                <a:gd name="connsiteY4" fmla="*/ 1395548 h 1395548"/>
                <a:gd name="connsiteX5" fmla="*/ 0 w 1455067"/>
                <a:gd name="connsiteY5" fmla="*/ 1395548 h 1395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5067" h="1395548">
                  <a:moveTo>
                    <a:pt x="0" y="1395548"/>
                  </a:moveTo>
                  <a:lnTo>
                    <a:pt x="6212" y="1272520"/>
                  </a:lnTo>
                  <a:cubicBezTo>
                    <a:pt x="78800" y="557764"/>
                    <a:pt x="682433" y="0"/>
                    <a:pt x="1416339" y="0"/>
                  </a:cubicBezTo>
                  <a:lnTo>
                    <a:pt x="1455067" y="1955"/>
                  </a:lnTo>
                  <a:lnTo>
                    <a:pt x="1455067" y="1395548"/>
                  </a:lnTo>
                  <a:lnTo>
                    <a:pt x="0" y="1395548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2" name="任意多边形: 形状 161"/>
            <p:cNvSpPr/>
            <p:nvPr/>
          </p:nvSpPr>
          <p:spPr>
            <a:xfrm rot="5400000">
              <a:off x="4649100" y="2251979"/>
              <a:ext cx="1454970" cy="1393621"/>
            </a:xfrm>
            <a:custGeom>
              <a:avLst/>
              <a:gdLst>
                <a:gd name="connsiteX0" fmla="*/ 0 w 1454970"/>
                <a:gd name="connsiteY0" fmla="*/ 0 h 1393621"/>
                <a:gd name="connsiteX1" fmla="*/ 1454970 w 1454970"/>
                <a:gd name="connsiteY1" fmla="*/ 0 h 1393621"/>
                <a:gd name="connsiteX2" fmla="*/ 1454970 w 1454970"/>
                <a:gd name="connsiteY2" fmla="*/ 1391665 h 1393621"/>
                <a:gd name="connsiteX3" fmla="*/ 1416242 w 1454970"/>
                <a:gd name="connsiteY3" fmla="*/ 1393621 h 1393621"/>
                <a:gd name="connsiteX4" fmla="*/ 6115 w 1454970"/>
                <a:gd name="connsiteY4" fmla="*/ 121101 h 1393621"/>
                <a:gd name="connsiteX5" fmla="*/ 0 w 1454970"/>
                <a:gd name="connsiteY5" fmla="*/ 0 h 1393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4970" h="1393621">
                  <a:moveTo>
                    <a:pt x="0" y="0"/>
                  </a:moveTo>
                  <a:lnTo>
                    <a:pt x="1454970" y="0"/>
                  </a:lnTo>
                  <a:lnTo>
                    <a:pt x="1454970" y="1391665"/>
                  </a:lnTo>
                  <a:lnTo>
                    <a:pt x="1416242" y="1393621"/>
                  </a:lnTo>
                  <a:cubicBezTo>
                    <a:pt x="682336" y="1393621"/>
                    <a:pt x="78703" y="835856"/>
                    <a:pt x="6115" y="12110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 rot="5400000">
              <a:off x="4712819" y="3693213"/>
              <a:ext cx="1331796" cy="1389356"/>
            </a:xfrm>
            <a:custGeom>
              <a:avLst/>
              <a:gdLst>
                <a:gd name="connsiteX0" fmla="*/ 0 w 1331796"/>
                <a:gd name="connsiteY0" fmla="*/ 1389356 h 1389356"/>
                <a:gd name="connsiteX1" fmla="*/ 0 w 1331796"/>
                <a:gd name="connsiteY1" fmla="*/ 0 h 1389356"/>
                <a:gd name="connsiteX2" fmla="*/ 1331796 w 1331796"/>
                <a:gd name="connsiteY2" fmla="*/ 0 h 1389356"/>
                <a:gd name="connsiteX3" fmla="*/ 1325681 w 1331796"/>
                <a:gd name="connsiteY3" fmla="*/ 121101 h 1389356"/>
                <a:gd name="connsiteX4" fmla="*/ 60478 w 1331796"/>
                <a:gd name="connsiteY4" fmla="*/ 1386303 h 1389356"/>
                <a:gd name="connsiteX5" fmla="*/ 0 w 1331796"/>
                <a:gd name="connsiteY5" fmla="*/ 1389356 h 138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1796" h="1389356">
                  <a:moveTo>
                    <a:pt x="0" y="1389356"/>
                  </a:moveTo>
                  <a:lnTo>
                    <a:pt x="0" y="0"/>
                  </a:lnTo>
                  <a:lnTo>
                    <a:pt x="1331796" y="0"/>
                  </a:lnTo>
                  <a:lnTo>
                    <a:pt x="1325681" y="121101"/>
                  </a:lnTo>
                  <a:cubicBezTo>
                    <a:pt x="1257932" y="788206"/>
                    <a:pt x="727584" y="1318554"/>
                    <a:pt x="60478" y="1386303"/>
                  </a:cubicBezTo>
                  <a:lnTo>
                    <a:pt x="0" y="1389356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 rot="5400000">
              <a:off x="6148812" y="3692298"/>
              <a:ext cx="1331893" cy="1391284"/>
            </a:xfrm>
            <a:custGeom>
              <a:avLst/>
              <a:gdLst>
                <a:gd name="connsiteX0" fmla="*/ 0 w 1331893"/>
                <a:gd name="connsiteY0" fmla="*/ 1391284 h 1391284"/>
                <a:gd name="connsiteX1" fmla="*/ 0 w 1331893"/>
                <a:gd name="connsiteY1" fmla="*/ 0 h 1391284"/>
                <a:gd name="connsiteX2" fmla="*/ 60478 w 1331893"/>
                <a:gd name="connsiteY2" fmla="*/ 3054 h 1391284"/>
                <a:gd name="connsiteX3" fmla="*/ 1325681 w 1331893"/>
                <a:gd name="connsiteY3" fmla="*/ 1268256 h 1391284"/>
                <a:gd name="connsiteX4" fmla="*/ 1331893 w 1331893"/>
                <a:gd name="connsiteY4" fmla="*/ 1391284 h 1391284"/>
                <a:gd name="connsiteX5" fmla="*/ 0 w 1331893"/>
                <a:gd name="connsiteY5" fmla="*/ 1391284 h 139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1893" h="1391284">
                  <a:moveTo>
                    <a:pt x="0" y="1391284"/>
                  </a:moveTo>
                  <a:lnTo>
                    <a:pt x="0" y="0"/>
                  </a:lnTo>
                  <a:lnTo>
                    <a:pt x="60478" y="3054"/>
                  </a:lnTo>
                  <a:cubicBezTo>
                    <a:pt x="727584" y="70802"/>
                    <a:pt x="1257932" y="601150"/>
                    <a:pt x="1325681" y="1268256"/>
                  </a:cubicBezTo>
                  <a:lnTo>
                    <a:pt x="1331893" y="1391284"/>
                  </a:lnTo>
                  <a:lnTo>
                    <a:pt x="0" y="1391284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793055" y="1331489"/>
            <a:ext cx="4605890" cy="4612117"/>
            <a:chOff x="3793055" y="1331490"/>
            <a:chExt cx="4605890" cy="4612117"/>
          </a:xfrm>
        </p:grpSpPr>
        <p:sp>
          <p:nvSpPr>
            <p:cNvPr id="136" name="弧形 135"/>
            <p:cNvSpPr/>
            <p:nvPr/>
          </p:nvSpPr>
          <p:spPr>
            <a:xfrm rot="5400000">
              <a:off x="4326341" y="1871003"/>
              <a:ext cx="3553671" cy="3553672"/>
            </a:xfrm>
            <a:prstGeom prst="arc">
              <a:avLst/>
            </a:prstGeom>
            <a:ln w="7620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1" name="弧形 140"/>
            <p:cNvSpPr/>
            <p:nvPr/>
          </p:nvSpPr>
          <p:spPr>
            <a:xfrm flipH="1" flipV="1">
              <a:off x="4311988" y="1871003"/>
              <a:ext cx="3553672" cy="3553672"/>
            </a:xfrm>
            <a:prstGeom prst="arc">
              <a:avLst/>
            </a:prstGeom>
            <a:ln w="7620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4" name="弧形 143"/>
            <p:cNvSpPr/>
            <p:nvPr/>
          </p:nvSpPr>
          <p:spPr>
            <a:xfrm>
              <a:off x="4326341" y="1850421"/>
              <a:ext cx="3553672" cy="3553672"/>
            </a:xfrm>
            <a:prstGeom prst="arc">
              <a:avLst/>
            </a:prstGeom>
            <a:ln w="7620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5" name="等腰三角形 144"/>
            <p:cNvSpPr/>
            <p:nvPr/>
          </p:nvSpPr>
          <p:spPr>
            <a:xfrm rot="11474793">
              <a:off x="7214260" y="3501956"/>
              <a:ext cx="1184685" cy="86942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4326340" y="1331490"/>
              <a:ext cx="3553672" cy="4072602"/>
              <a:chOff x="4361935" y="1331490"/>
              <a:chExt cx="3553672" cy="4072602"/>
            </a:xfrm>
          </p:grpSpPr>
          <p:sp>
            <p:nvSpPr>
              <p:cNvPr id="84" name="弧形 83"/>
              <p:cNvSpPr/>
              <p:nvPr/>
            </p:nvSpPr>
            <p:spPr>
              <a:xfrm rot="5400000" flipH="1" flipV="1">
                <a:off x="4361935" y="1850421"/>
                <a:ext cx="3553671" cy="3553672"/>
              </a:xfrm>
              <a:prstGeom prst="arc">
                <a:avLst/>
              </a:prstGeom>
              <a:ln w="7620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85" name="等腰三角形 84"/>
              <p:cNvSpPr/>
              <p:nvPr/>
            </p:nvSpPr>
            <p:spPr>
              <a:xfrm rot="16874793" flipH="1" flipV="1">
                <a:off x="5855839" y="1489118"/>
                <a:ext cx="1184684" cy="869427"/>
              </a:xfrm>
              <a:prstGeom prst="triangl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42" name="等腰三角形 141"/>
            <p:cNvSpPr/>
            <p:nvPr/>
          </p:nvSpPr>
          <p:spPr>
            <a:xfrm rot="11474793" flipH="1" flipV="1">
              <a:off x="3793055" y="2903714"/>
              <a:ext cx="1184685" cy="86942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9" name="等腰三角形 138"/>
            <p:cNvSpPr/>
            <p:nvPr/>
          </p:nvSpPr>
          <p:spPr>
            <a:xfrm rot="16874793">
              <a:off x="5201423" y="4916551"/>
              <a:ext cx="1184684" cy="869427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253473" y="1871002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977242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计划</a:t>
            </a:r>
          </a:p>
        </p:txBody>
      </p:sp>
      <p:sp>
        <p:nvSpPr>
          <p:cNvPr id="181" name="文本框 180"/>
          <p:cNvSpPr txBox="1"/>
          <p:nvPr/>
        </p:nvSpPr>
        <p:spPr>
          <a:xfrm>
            <a:off x="4012298" y="1812496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8722054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</a:t>
            </a:r>
          </a:p>
        </p:txBody>
      </p:sp>
      <p:sp>
        <p:nvSpPr>
          <p:cNvPr id="182" name="文本框 181"/>
          <p:cNvSpPr txBox="1"/>
          <p:nvPr/>
        </p:nvSpPr>
        <p:spPr>
          <a:xfrm>
            <a:off x="4249811" y="1696743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596631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改进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4142370" y="1619014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7304272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检查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49133" y="2496065"/>
            <a:ext cx="2262382" cy="226238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6555058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tx2">
                    <a:alpha val="50000"/>
                  </a:schemeClr>
                </a:solidFill>
                <a:latin typeface="+mj-ea"/>
                <a:ea typeface="+mj-ea"/>
                <a:cs typeface="Roboto" panose="02000000000000000000" charset="0"/>
              </a:rPr>
              <a:t>CHECK</a:t>
            </a:r>
            <a:endParaRPr lang="zh-CN" altLang="en-US" sz="2000" spc="300" dirty="0">
              <a:solidFill>
                <a:schemeClr val="tx2">
                  <a:alpha val="50000"/>
                </a:schemeClr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49133" y="2496065"/>
            <a:ext cx="2262382" cy="226238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820588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accent1">
                    <a:alpha val="50000"/>
                  </a:schemeClr>
                </a:solidFill>
                <a:latin typeface="+mj-ea"/>
                <a:ea typeface="+mj-ea"/>
                <a:cs typeface="Roboto" panose="02000000000000000000" charset="0"/>
              </a:rPr>
              <a:t>ACT</a:t>
            </a:r>
            <a:endParaRPr lang="zh-CN" altLang="en-US" sz="2000" spc="300" dirty="0">
              <a:solidFill>
                <a:schemeClr val="accent1">
                  <a:alpha val="50000"/>
                </a:schemeClr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372332" y="2939747"/>
            <a:ext cx="1473056" cy="147305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PDCA</a:t>
            </a:r>
          </a:p>
          <a:p>
            <a:pPr algn="ctr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循环</a:t>
            </a:r>
            <a:endParaRPr lang="en-US" altLang="zh-CN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8482" y="2636011"/>
            <a:ext cx="2331008" cy="23310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442571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tx2">
                    <a:alpha val="50000"/>
                  </a:schemeClr>
                </a:solidFill>
                <a:latin typeface="+mj-ea"/>
                <a:cs typeface="Roboto" panose="02000000000000000000" charset="0"/>
              </a:rPr>
              <a:t>PLAN</a:t>
            </a:r>
            <a:endParaRPr lang="zh-CN" altLang="en-US" sz="2000" spc="300" dirty="0">
              <a:solidFill>
                <a:schemeClr val="tx2">
                  <a:alpha val="50000"/>
                </a:schemeClr>
              </a:solidFill>
              <a:latin typeface="+mj-ea"/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32787" y="2667310"/>
            <a:ext cx="2331008" cy="23310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8042442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accent1">
                    <a:alpha val="50000"/>
                  </a:schemeClr>
                </a:solidFill>
                <a:latin typeface="+mj-ea"/>
                <a:cs typeface="Roboto" panose="02000000000000000000" charset="0"/>
              </a:rPr>
              <a:t>DO</a:t>
            </a:r>
            <a:endParaRPr lang="zh-CN" altLang="en-US" sz="2000" spc="300" dirty="0">
              <a:solidFill>
                <a:schemeClr val="accent1">
                  <a:alpha val="50000"/>
                </a:schemeClr>
              </a:solidFill>
              <a:latin typeface="+mj-ea"/>
              <a:cs typeface="Roboto" panose="02000000000000000000" charset="0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45531" y="1137165"/>
            <a:ext cx="3409053" cy="2156104"/>
            <a:chOff x="545531" y="1137165"/>
            <a:chExt cx="3409053" cy="2156104"/>
          </a:xfrm>
        </p:grpSpPr>
        <p:sp>
          <p:nvSpPr>
            <p:cNvPr id="14" name="矩形: 圆角 13"/>
            <p:cNvSpPr/>
            <p:nvPr/>
          </p:nvSpPr>
          <p:spPr>
            <a:xfrm>
              <a:off x="545531" y="1137165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目标拆解</a:t>
              </a:r>
              <a:endParaRPr lang="zh-CN" altLang="en-US" sz="1200" b="1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30459" y="1147447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00" b="0" i="0" dirty="0">
                  <a:solidFill>
                    <a:srgbClr val="404040"/>
                  </a:solidFill>
                  <a:effectLst/>
                  <a:latin typeface="+mn-ea"/>
                  <a:cs typeface="Roboto" panose="02000000000000000000" charset="0"/>
                </a:rPr>
                <a:t>基于用户反馈确定</a:t>
              </a:r>
              <a:r>
                <a:rPr lang="en-US" altLang="zh-CN" sz="1000" b="0" i="0" dirty="0">
                  <a:solidFill>
                    <a:srgbClr val="404040"/>
                  </a:solidFill>
                  <a:effectLst/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000" b="0" i="0" dirty="0">
                  <a:solidFill>
                    <a:srgbClr val="404040"/>
                  </a:solidFill>
                  <a:effectLst/>
                  <a:latin typeface="+mn-ea"/>
                  <a:cs typeface="Roboto" panose="02000000000000000000" charset="0"/>
                </a:rPr>
                <a:t>大核心优化点</a:t>
              </a:r>
              <a:endParaRPr lang="zh-CN" altLang="en-US" sz="10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545531" y="1483942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cs typeface="Roboto" panose="02000000000000000000" charset="0"/>
                </a:rPr>
                <a:t>方案设计</a:t>
              </a: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545531" y="1830719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资源准备</a:t>
              </a:r>
              <a:endParaRPr lang="zh-CN" altLang="en-US" sz="1200" b="1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545531" y="2177496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风险评估</a:t>
              </a:r>
              <a:endParaRPr lang="zh-CN" altLang="en-US" sz="1200" b="1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30459" y="1491600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00" dirty="0">
                  <a:solidFill>
                    <a:srgbClr val="404040"/>
                  </a:solidFill>
                  <a:latin typeface="思源黑体 CN Normal" panose="020B0400000000000000" charset="-122"/>
                  <a:cs typeface="Roboto" panose="02000000000000000000" charset="0"/>
                </a:rPr>
                <a:t>制定双周迭代计划与交付标准</a:t>
              </a:r>
              <a:endParaRPr lang="zh-CN" altLang="en-US" sz="10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30459" y="1835753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00" dirty="0">
                  <a:solidFill>
                    <a:srgbClr val="404040"/>
                  </a:solidFill>
                  <a:latin typeface="思源黑体 CN Normal" panose="020B0400000000000000" charset="-122"/>
                  <a:cs typeface="Roboto" panose="02000000000000000000" charset="0"/>
                </a:rPr>
                <a:t>协调开发、测试、设计团队资源</a:t>
              </a:r>
              <a:endParaRPr lang="zh-CN" altLang="en-US" sz="10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430459" y="2185981"/>
              <a:ext cx="2524125" cy="245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000" dirty="0">
                  <a:solidFill>
                    <a:srgbClr val="404040"/>
                  </a:solidFill>
                  <a:latin typeface="思源黑体 CN Normal" panose="020B0400000000000000" charset="-122"/>
                  <a:cs typeface="Roboto" panose="02000000000000000000" charset="0"/>
                  <a:sym typeface="+mn-ea"/>
                </a:rPr>
                <a:t>预判5个关键风险并制定预案</a:t>
              </a: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567767" y="2559845"/>
              <a:ext cx="2587863" cy="733424"/>
            </a:xfrm>
            <a:prstGeom prst="roundRect">
              <a:avLst>
                <a:gd name="adj" fmla="val 1021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714636" y="2686057"/>
              <a:ext cx="483052" cy="486878"/>
            </a:xfrm>
            <a:prstGeom prst="roundRect">
              <a:avLst>
                <a:gd name="adj" fmla="val 1021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262725" y="2648088"/>
              <a:ext cx="1855126" cy="579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拆解目标，设计实施方案，预配资源并评估风险，确保计划可行性。</a:t>
              </a:r>
              <a:endParaRPr lang="zh-CN" altLang="en-US" sz="900" dirty="0">
                <a:solidFill>
                  <a:schemeClr val="tx2"/>
                </a:solidFill>
                <a:cs typeface="Roboto" panose="02000000000000000000" charset="0"/>
              </a:endParaRPr>
            </a:p>
          </p:txBody>
        </p:sp>
        <p:grpSp>
          <p:nvGrpSpPr>
            <p:cNvPr id="31" name="Google Shape;7274;p80"/>
            <p:cNvGrpSpPr/>
            <p:nvPr/>
          </p:nvGrpSpPr>
          <p:grpSpPr>
            <a:xfrm>
              <a:off x="809215" y="2776722"/>
              <a:ext cx="299846" cy="299670"/>
              <a:chOff x="-49764975" y="3183375"/>
              <a:chExt cx="299300" cy="299125"/>
            </a:xfrm>
            <a:solidFill>
              <a:schemeClr val="bg1"/>
            </a:solidFill>
          </p:grpSpPr>
          <p:sp>
            <p:nvSpPr>
              <p:cNvPr id="32" name="Google Shape;7275;p80"/>
              <p:cNvSpPr/>
              <p:nvPr/>
            </p:nvSpPr>
            <p:spPr>
              <a:xfrm>
                <a:off x="-49606675" y="3233575"/>
                <a:ext cx="7012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4128" extrusionOk="0">
                    <a:moveTo>
                      <a:pt x="2805" y="1"/>
                    </a:moveTo>
                    <a:lnTo>
                      <a:pt x="1" y="1355"/>
                    </a:lnTo>
                    <a:lnTo>
                      <a:pt x="1" y="4128"/>
                    </a:lnTo>
                    <a:lnTo>
                      <a:pt x="2805" y="2710"/>
                    </a:lnTo>
                    <a:lnTo>
                      <a:pt x="280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3" name="Google Shape;7276;p80"/>
              <p:cNvSpPr/>
              <p:nvPr/>
            </p:nvSpPr>
            <p:spPr>
              <a:xfrm>
                <a:off x="-49676775" y="3364325"/>
                <a:ext cx="520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27" extrusionOk="0">
                    <a:moveTo>
                      <a:pt x="2080" y="0"/>
                    </a:moveTo>
                    <a:lnTo>
                      <a:pt x="1" y="1072"/>
                    </a:lnTo>
                    <a:lnTo>
                      <a:pt x="1" y="4726"/>
                    </a:lnTo>
                    <a:lnTo>
                      <a:pt x="2080" y="3529"/>
                    </a:lnTo>
                    <a:lnTo>
                      <a:pt x="20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4" name="Google Shape;7277;p80"/>
              <p:cNvSpPr/>
              <p:nvPr/>
            </p:nvSpPr>
            <p:spPr>
              <a:xfrm>
                <a:off x="-49694100" y="3233575"/>
                <a:ext cx="6932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4128" extrusionOk="0">
                    <a:moveTo>
                      <a:pt x="1" y="1"/>
                    </a:moveTo>
                    <a:lnTo>
                      <a:pt x="1" y="2710"/>
                    </a:lnTo>
                    <a:lnTo>
                      <a:pt x="2773" y="4128"/>
                    </a:lnTo>
                    <a:lnTo>
                      <a:pt x="2773" y="1355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5" name="Google Shape;7278;p80"/>
              <p:cNvSpPr/>
              <p:nvPr/>
            </p:nvSpPr>
            <p:spPr>
              <a:xfrm>
                <a:off x="-49756325" y="3314700"/>
                <a:ext cx="121325" cy="614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2458" extrusionOk="0">
                    <a:moveTo>
                      <a:pt x="2048" y="1"/>
                    </a:moveTo>
                    <a:lnTo>
                      <a:pt x="1" y="1040"/>
                    </a:lnTo>
                    <a:lnTo>
                      <a:pt x="2836" y="2458"/>
                    </a:lnTo>
                    <a:lnTo>
                      <a:pt x="4852" y="1418"/>
                    </a:lnTo>
                    <a:lnTo>
                      <a:pt x="204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6" name="Google Shape;7279;p80"/>
              <p:cNvSpPr/>
              <p:nvPr/>
            </p:nvSpPr>
            <p:spPr>
              <a:xfrm>
                <a:off x="-49606675" y="3364325"/>
                <a:ext cx="520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27" extrusionOk="0">
                    <a:moveTo>
                      <a:pt x="1" y="0"/>
                    </a:moveTo>
                    <a:lnTo>
                      <a:pt x="1" y="3529"/>
                    </a:lnTo>
                    <a:lnTo>
                      <a:pt x="2080" y="4726"/>
                    </a:lnTo>
                    <a:lnTo>
                      <a:pt x="2080" y="107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7" name="Google Shape;7280;p80"/>
              <p:cNvSpPr/>
              <p:nvPr/>
            </p:nvSpPr>
            <p:spPr>
              <a:xfrm>
                <a:off x="-49595650" y="3314700"/>
                <a:ext cx="121325" cy="614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2458" extrusionOk="0">
                    <a:moveTo>
                      <a:pt x="2773" y="1"/>
                    </a:moveTo>
                    <a:lnTo>
                      <a:pt x="1" y="1418"/>
                    </a:lnTo>
                    <a:lnTo>
                      <a:pt x="1985" y="2458"/>
                    </a:lnTo>
                    <a:lnTo>
                      <a:pt x="4852" y="1040"/>
                    </a:lnTo>
                    <a:lnTo>
                      <a:pt x="277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9" name="Google Shape;7281;p80"/>
              <p:cNvSpPr/>
              <p:nvPr/>
            </p:nvSpPr>
            <p:spPr>
              <a:xfrm>
                <a:off x="-49764975" y="3355650"/>
                <a:ext cx="70100" cy="126850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5074" extrusionOk="0">
                    <a:moveTo>
                      <a:pt x="0" y="1"/>
                    </a:moveTo>
                    <a:lnTo>
                      <a:pt x="0" y="3309"/>
                    </a:lnTo>
                    <a:cubicBezTo>
                      <a:pt x="0" y="3403"/>
                      <a:pt x="63" y="3529"/>
                      <a:pt x="189" y="3624"/>
                    </a:cubicBezTo>
                    <a:lnTo>
                      <a:pt x="2804" y="5073"/>
                    </a:lnTo>
                    <a:lnTo>
                      <a:pt x="2804" y="1419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1" name="Google Shape;7282;p80"/>
              <p:cNvSpPr/>
              <p:nvPr/>
            </p:nvSpPr>
            <p:spPr>
              <a:xfrm>
                <a:off x="-49535775" y="3355650"/>
                <a:ext cx="70100" cy="126850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5074" extrusionOk="0">
                    <a:moveTo>
                      <a:pt x="2804" y="1"/>
                    </a:moveTo>
                    <a:lnTo>
                      <a:pt x="0" y="1419"/>
                    </a:lnTo>
                    <a:lnTo>
                      <a:pt x="0" y="5073"/>
                    </a:lnTo>
                    <a:lnTo>
                      <a:pt x="2583" y="3624"/>
                    </a:lnTo>
                    <a:cubicBezTo>
                      <a:pt x="2709" y="3529"/>
                      <a:pt x="2804" y="3403"/>
                      <a:pt x="2804" y="3309"/>
                    </a:cubicBezTo>
                    <a:lnTo>
                      <a:pt x="280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2" name="Google Shape;7283;p80"/>
              <p:cNvSpPr/>
              <p:nvPr/>
            </p:nvSpPr>
            <p:spPr>
              <a:xfrm>
                <a:off x="-49685425" y="3183375"/>
                <a:ext cx="14020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5608" h="2797" extrusionOk="0">
                    <a:moveTo>
                      <a:pt x="2792" y="0"/>
                    </a:moveTo>
                    <a:cubicBezTo>
                      <a:pt x="2741" y="0"/>
                      <a:pt x="2694" y="8"/>
                      <a:pt x="2647" y="24"/>
                    </a:cubicBezTo>
                    <a:lnTo>
                      <a:pt x="0" y="1378"/>
                    </a:lnTo>
                    <a:lnTo>
                      <a:pt x="2804" y="2796"/>
                    </a:lnTo>
                    <a:lnTo>
                      <a:pt x="5608" y="1378"/>
                    </a:lnTo>
                    <a:lnTo>
                      <a:pt x="2962" y="24"/>
                    </a:lnTo>
                    <a:cubicBezTo>
                      <a:pt x="2899" y="8"/>
                      <a:pt x="2843" y="0"/>
                      <a:pt x="27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45" name="矩形: 圆角 44"/>
          <p:cNvSpPr/>
          <p:nvPr/>
        </p:nvSpPr>
        <p:spPr>
          <a:xfrm flipH="1">
            <a:off x="10822748" y="113716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任务分派</a:t>
            </a:r>
          </a:p>
        </p:txBody>
      </p:sp>
      <p:sp>
        <p:nvSpPr>
          <p:cNvPr id="46" name="文本框 45"/>
          <p:cNvSpPr txBox="1"/>
          <p:nvPr/>
        </p:nvSpPr>
        <p:spPr>
          <a:xfrm flipH="1">
            <a:off x="8240909" y="114744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明确各模块负责人及交付节点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 flipH="1">
            <a:off x="10822748" y="148394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进度管控</a:t>
            </a:r>
          </a:p>
        </p:txBody>
      </p:sp>
      <p:sp>
        <p:nvSpPr>
          <p:cNvPr id="49" name="矩形: 圆角 48"/>
          <p:cNvSpPr/>
          <p:nvPr/>
        </p:nvSpPr>
        <p:spPr>
          <a:xfrm flipH="1">
            <a:off x="10822748" y="183071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质量保障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10822748" y="217749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沟通协调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 flipH="1">
            <a:off x="8240909" y="149160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每日站会跟进开发进度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 flipH="1">
            <a:off x="8240909" y="1835753"/>
            <a:ext cx="252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自动化测试覆盖核心功能</a:t>
            </a:r>
            <a:br>
              <a:rPr lang="zh-CN" altLang="en-US" sz="1000" dirty="0">
                <a:cs typeface="Roboto" panose="02000000000000000000" charset="0"/>
              </a:rPr>
            </a:b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8240909" y="218598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建立跨部门实时沟通机制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 flipH="1">
            <a:off x="9039863" y="255984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 flipH="1">
            <a:off x="10997805" y="268605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 flipH="1">
            <a:off x="9077642" y="264808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拆解目标，设计实施方案，预配资源并评估风险，确保计划可行性。</a:t>
            </a:r>
            <a:endParaRPr lang="zh-CN" altLang="en-US" sz="900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grpSp>
        <p:nvGrpSpPr>
          <p:cNvPr id="57" name="Google Shape;7274;p80"/>
          <p:cNvGrpSpPr/>
          <p:nvPr/>
        </p:nvGrpSpPr>
        <p:grpSpPr>
          <a:xfrm flipH="1">
            <a:off x="11086432" y="277672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58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59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0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1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2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3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4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5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6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68" name="矩形: 圆角 67"/>
          <p:cNvSpPr/>
          <p:nvPr/>
        </p:nvSpPr>
        <p:spPr>
          <a:xfrm>
            <a:off x="545531" y="396750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问题修复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430459" y="397778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优先处理关键功能缺陷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545531" y="431428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流程优化</a:t>
            </a:r>
          </a:p>
        </p:txBody>
      </p:sp>
      <p:sp>
        <p:nvSpPr>
          <p:cNvPr id="71" name="矩形: 圆角 70"/>
          <p:cNvSpPr/>
          <p:nvPr/>
        </p:nvSpPr>
        <p:spPr>
          <a:xfrm>
            <a:off x="545531" y="466105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知识沉淀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545531" y="500783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标准固化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430459" y="4321940"/>
            <a:ext cx="25241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  <a:sym typeface="+mn-ea"/>
              </a:rPr>
              <a:t>更新3项开发规范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1430459" y="4666093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形成案例库共享经验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430459" y="501632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修订产品需求文档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567767" y="539018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7" name="矩形: 圆角 76"/>
          <p:cNvSpPr/>
          <p:nvPr/>
        </p:nvSpPr>
        <p:spPr>
          <a:xfrm>
            <a:off x="714636" y="551639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262725" y="547842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拆解目标，设计实施方案，预配资源并评估风险，确保计划可行性。</a:t>
            </a:r>
            <a:endParaRPr lang="zh-CN" altLang="en-US" sz="900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grpSp>
        <p:nvGrpSpPr>
          <p:cNvPr id="79" name="Google Shape;7274;p80"/>
          <p:cNvGrpSpPr/>
          <p:nvPr/>
        </p:nvGrpSpPr>
        <p:grpSpPr>
          <a:xfrm>
            <a:off x="809215" y="560706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80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1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2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3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6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7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8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9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90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91" name="矩形: 圆角 90"/>
          <p:cNvSpPr/>
          <p:nvPr/>
        </p:nvSpPr>
        <p:spPr>
          <a:xfrm flipH="1">
            <a:off x="10822748" y="396750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数据收集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 flipH="1">
            <a:off x="8240909" y="397778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200</a:t>
            </a:r>
            <a:r>
              <a: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名种子用户实测反馈</a:t>
            </a:r>
          </a:p>
        </p:txBody>
      </p:sp>
      <p:sp>
        <p:nvSpPr>
          <p:cNvPr id="93" name="矩形: 圆角 92"/>
          <p:cNvSpPr/>
          <p:nvPr/>
        </p:nvSpPr>
        <p:spPr>
          <a:xfrm flipH="1">
            <a:off x="10822748" y="431428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效果评估</a:t>
            </a:r>
          </a:p>
        </p:txBody>
      </p:sp>
      <p:sp>
        <p:nvSpPr>
          <p:cNvPr id="94" name="矩形: 圆角 93"/>
          <p:cNvSpPr/>
          <p:nvPr/>
        </p:nvSpPr>
        <p:spPr>
          <a:xfrm flipH="1">
            <a:off x="10822748" y="466105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问题定位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95" name="矩形: 圆角 94"/>
          <p:cNvSpPr/>
          <p:nvPr/>
        </p:nvSpPr>
        <p:spPr>
          <a:xfrm flipH="1">
            <a:off x="10822748" y="500783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改进建议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28" name="文本框 127"/>
          <p:cNvSpPr txBox="1"/>
          <p:nvPr/>
        </p:nvSpPr>
        <p:spPr>
          <a:xfrm flipH="1">
            <a:off x="8240909" y="432194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关键功能达标率分析</a:t>
            </a:r>
          </a:p>
        </p:txBody>
      </p:sp>
      <p:sp>
        <p:nvSpPr>
          <p:cNvPr id="129" name="文本框 128"/>
          <p:cNvSpPr txBox="1"/>
          <p:nvPr/>
        </p:nvSpPr>
        <p:spPr>
          <a:xfrm flipH="1">
            <a:off x="8240909" y="4666093"/>
            <a:ext cx="25241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  <a:sym typeface="+mn-ea"/>
              </a:rPr>
              <a:t>TOP5高频问题诊断</a:t>
            </a:r>
          </a:p>
        </p:txBody>
      </p:sp>
      <p:sp>
        <p:nvSpPr>
          <p:cNvPr id="130" name="文本框 129"/>
          <p:cNvSpPr txBox="1"/>
          <p:nvPr/>
        </p:nvSpPr>
        <p:spPr>
          <a:xfrm flipH="1">
            <a:off x="8240909" y="5016321"/>
            <a:ext cx="25241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  <a:sym typeface="+mn-ea"/>
              </a:rPr>
              <a:t>产出优化方案清单</a:t>
            </a:r>
          </a:p>
        </p:txBody>
      </p:sp>
      <p:sp>
        <p:nvSpPr>
          <p:cNvPr id="131" name="矩形: 圆角 130"/>
          <p:cNvSpPr/>
          <p:nvPr/>
        </p:nvSpPr>
        <p:spPr>
          <a:xfrm flipH="1">
            <a:off x="9039863" y="539018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2" name="矩形: 圆角 131"/>
          <p:cNvSpPr/>
          <p:nvPr/>
        </p:nvSpPr>
        <p:spPr>
          <a:xfrm flipH="1">
            <a:off x="10997805" y="551639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 flipH="1">
            <a:off x="9077642" y="547842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拆解目标，设计实施方案，预配资源并评估风险，确保计划可行性。</a:t>
            </a:r>
            <a:endParaRPr lang="zh-CN" altLang="en-US" sz="900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grpSp>
        <p:nvGrpSpPr>
          <p:cNvPr id="134" name="Google Shape;7274;p80"/>
          <p:cNvGrpSpPr/>
          <p:nvPr/>
        </p:nvGrpSpPr>
        <p:grpSpPr>
          <a:xfrm flipH="1">
            <a:off x="11086432" y="560706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35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7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8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0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3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0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5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6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7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: 圆角 152"/>
          <p:cNvSpPr/>
          <p:nvPr/>
        </p:nvSpPr>
        <p:spPr>
          <a:xfrm>
            <a:off x="355600" y="1024960"/>
            <a:ext cx="2785654" cy="2298700"/>
          </a:xfrm>
          <a:prstGeom prst="roundRect">
            <a:avLst>
              <a:gd name="adj" fmla="val 455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4" name="Freeform 145"/>
          <p:cNvSpPr/>
          <p:nvPr/>
        </p:nvSpPr>
        <p:spPr>
          <a:xfrm>
            <a:off x="355600" y="1024960"/>
            <a:ext cx="2785655" cy="2298701"/>
          </a:xfrm>
          <a:custGeom>
            <a:avLst/>
            <a:gdLst/>
            <a:ahLst/>
            <a:cxnLst/>
            <a:rect l="0" t="0" r="0" b="0"/>
            <a:pathLst>
              <a:path w="3016251" h="2298701">
                <a:moveTo>
                  <a:pt x="0" y="0"/>
                </a:moveTo>
                <a:lnTo>
                  <a:pt x="787950" y="0"/>
                </a:lnTo>
                <a:cubicBezTo>
                  <a:pt x="832984" y="0"/>
                  <a:pt x="873348" y="28005"/>
                  <a:pt x="889115" y="70188"/>
                </a:cubicBezTo>
                <a:lnTo>
                  <a:pt x="1048526" y="496688"/>
                </a:lnTo>
                <a:cubicBezTo>
                  <a:pt x="1064277" y="538828"/>
                  <a:pt x="1104599" y="566833"/>
                  <a:pt x="1149586" y="566876"/>
                </a:cubicBezTo>
                <a:lnTo>
                  <a:pt x="2908355" y="568581"/>
                </a:lnTo>
                <a:cubicBezTo>
                  <a:pt x="2967913" y="568639"/>
                  <a:pt x="3016250" y="617023"/>
                  <a:pt x="3016250" y="676581"/>
                </a:cubicBezTo>
                <a:lnTo>
                  <a:pt x="3016250" y="2190700"/>
                </a:lnTo>
                <a:cubicBezTo>
                  <a:pt x="3016250" y="2250316"/>
                  <a:pt x="2967866" y="2298700"/>
                  <a:pt x="2908250" y="2298700"/>
                </a:cubicBezTo>
                <a:lnTo>
                  <a:pt x="0" y="229870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401671" y="1079043"/>
            <a:ext cx="903983" cy="509480"/>
          </a:xfrm>
          <a:custGeom>
            <a:avLst/>
            <a:gdLst>
              <a:gd name="connsiteX0" fmla="*/ 0 w 1065886"/>
              <a:gd name="connsiteY0" fmla="*/ 0 h 526607"/>
              <a:gd name="connsiteX1" fmla="*/ 787950 w 1065886"/>
              <a:gd name="connsiteY1" fmla="*/ 0 h 526607"/>
              <a:gd name="connsiteX2" fmla="*/ 889115 w 1065886"/>
              <a:gd name="connsiteY2" fmla="*/ 70188 h 526607"/>
              <a:gd name="connsiteX3" fmla="*/ 1048526 w 1065886"/>
              <a:gd name="connsiteY3" fmla="*/ 496688 h 526607"/>
              <a:gd name="connsiteX4" fmla="*/ 1064636 w 1065886"/>
              <a:gd name="connsiteY4" fmla="*/ 525427 h 526607"/>
              <a:gd name="connsiteX5" fmla="*/ 1065886 w 1065886"/>
              <a:gd name="connsiteY5" fmla="*/ 526607 h 526607"/>
              <a:gd name="connsiteX6" fmla="*/ 0 w 1065886"/>
              <a:gd name="connsiteY6" fmla="*/ 526607 h 52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5886" h="526607">
                <a:moveTo>
                  <a:pt x="0" y="0"/>
                </a:moveTo>
                <a:lnTo>
                  <a:pt x="787950" y="0"/>
                </a:lnTo>
                <a:cubicBezTo>
                  <a:pt x="832984" y="0"/>
                  <a:pt x="873348" y="28005"/>
                  <a:pt x="889115" y="70188"/>
                </a:cubicBezTo>
                <a:lnTo>
                  <a:pt x="1048526" y="496688"/>
                </a:lnTo>
                <a:cubicBezTo>
                  <a:pt x="1052464" y="507223"/>
                  <a:pt x="1057938" y="516875"/>
                  <a:pt x="1064636" y="525427"/>
                </a:cubicBezTo>
                <a:lnTo>
                  <a:pt x="1065886" y="526607"/>
                </a:lnTo>
                <a:lnTo>
                  <a:pt x="0" y="5266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150" name="Google Shape;8307;p82"/>
          <p:cNvSpPr/>
          <p:nvPr/>
        </p:nvSpPr>
        <p:spPr>
          <a:xfrm>
            <a:off x="756689" y="1079042"/>
            <a:ext cx="316193" cy="309104"/>
          </a:xfrm>
          <a:custGeom>
            <a:avLst/>
            <a:gdLst/>
            <a:ahLst/>
            <a:cxnLst/>
            <a:rect l="l" t="t" r="r" b="b"/>
            <a:pathLst>
              <a:path w="8476" h="8286" extrusionOk="0">
                <a:moveTo>
                  <a:pt x="6105" y="1"/>
                </a:moveTo>
                <a:cubicBezTo>
                  <a:pt x="6014" y="1"/>
                  <a:pt x="5916" y="39"/>
                  <a:pt x="5829" y="126"/>
                </a:cubicBezTo>
                <a:lnTo>
                  <a:pt x="3781" y="2205"/>
                </a:lnTo>
                <a:cubicBezTo>
                  <a:pt x="3718" y="2268"/>
                  <a:pt x="3655" y="2363"/>
                  <a:pt x="3655" y="2426"/>
                </a:cubicBezTo>
                <a:lnTo>
                  <a:pt x="3655" y="4253"/>
                </a:lnTo>
                <a:lnTo>
                  <a:pt x="1544" y="6332"/>
                </a:lnTo>
                <a:cubicBezTo>
                  <a:pt x="1400" y="6270"/>
                  <a:pt x="1256" y="6242"/>
                  <a:pt x="1119" y="6242"/>
                </a:cubicBezTo>
                <a:cubicBezTo>
                  <a:pt x="835" y="6242"/>
                  <a:pt x="580" y="6362"/>
                  <a:pt x="410" y="6553"/>
                </a:cubicBezTo>
                <a:cubicBezTo>
                  <a:pt x="0" y="6931"/>
                  <a:pt x="0" y="7592"/>
                  <a:pt x="410" y="8002"/>
                </a:cubicBezTo>
                <a:cubicBezTo>
                  <a:pt x="599" y="8191"/>
                  <a:pt x="859" y="8286"/>
                  <a:pt x="1123" y="8286"/>
                </a:cubicBezTo>
                <a:cubicBezTo>
                  <a:pt x="1387" y="8286"/>
                  <a:pt x="1655" y="8191"/>
                  <a:pt x="1859" y="8002"/>
                </a:cubicBezTo>
                <a:cubicBezTo>
                  <a:pt x="2174" y="7687"/>
                  <a:pt x="2206" y="7214"/>
                  <a:pt x="2048" y="6868"/>
                </a:cubicBezTo>
                <a:lnTo>
                  <a:pt x="4128" y="4757"/>
                </a:lnTo>
                <a:lnTo>
                  <a:pt x="5955" y="4757"/>
                </a:lnTo>
                <a:cubicBezTo>
                  <a:pt x="6018" y="4757"/>
                  <a:pt x="6144" y="4725"/>
                  <a:pt x="6175" y="4662"/>
                </a:cubicBezTo>
                <a:lnTo>
                  <a:pt x="8286" y="2552"/>
                </a:lnTo>
                <a:cubicBezTo>
                  <a:pt x="8475" y="2331"/>
                  <a:pt x="8349" y="1985"/>
                  <a:pt x="8034" y="1985"/>
                </a:cubicBezTo>
                <a:lnTo>
                  <a:pt x="6428" y="1985"/>
                </a:lnTo>
                <a:lnTo>
                  <a:pt x="6428" y="346"/>
                </a:lnTo>
                <a:cubicBezTo>
                  <a:pt x="6428" y="140"/>
                  <a:pt x="6278" y="1"/>
                  <a:pt x="610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51" name="Google Shape;8308;p82"/>
          <p:cNvSpPr/>
          <p:nvPr/>
        </p:nvSpPr>
        <p:spPr>
          <a:xfrm>
            <a:off x="709685" y="1260565"/>
            <a:ext cx="179845" cy="176487"/>
          </a:xfrm>
          <a:custGeom>
            <a:avLst/>
            <a:gdLst/>
            <a:ahLst/>
            <a:cxnLst/>
            <a:rect l="l" t="t" r="r" b="b"/>
            <a:pathLst>
              <a:path w="4821" h="4731" extrusionOk="0">
                <a:moveTo>
                  <a:pt x="2340" y="1"/>
                </a:moveTo>
                <a:cubicBezTo>
                  <a:pt x="1722" y="1"/>
                  <a:pt x="1163" y="241"/>
                  <a:pt x="725" y="679"/>
                </a:cubicBezTo>
                <a:cubicBezTo>
                  <a:pt x="284" y="1120"/>
                  <a:pt x="0" y="1750"/>
                  <a:pt x="0" y="2380"/>
                </a:cubicBezTo>
                <a:cubicBezTo>
                  <a:pt x="0" y="3943"/>
                  <a:pt x="1211" y="4731"/>
                  <a:pt x="2420" y="4731"/>
                </a:cubicBezTo>
                <a:cubicBezTo>
                  <a:pt x="3622" y="4731"/>
                  <a:pt x="4821" y="3951"/>
                  <a:pt x="4821" y="2380"/>
                </a:cubicBezTo>
                <a:cubicBezTo>
                  <a:pt x="4821" y="2096"/>
                  <a:pt x="4758" y="1844"/>
                  <a:pt x="4663" y="1592"/>
                </a:cubicBezTo>
                <a:lnTo>
                  <a:pt x="4096" y="2159"/>
                </a:lnTo>
                <a:cubicBezTo>
                  <a:pt x="4253" y="3199"/>
                  <a:pt x="3434" y="4081"/>
                  <a:pt x="2395" y="4081"/>
                </a:cubicBezTo>
                <a:cubicBezTo>
                  <a:pt x="882" y="4081"/>
                  <a:pt x="126" y="2222"/>
                  <a:pt x="1197" y="1151"/>
                </a:cubicBezTo>
                <a:cubicBezTo>
                  <a:pt x="1522" y="827"/>
                  <a:pt x="1984" y="665"/>
                  <a:pt x="2428" y="665"/>
                </a:cubicBezTo>
                <a:cubicBezTo>
                  <a:pt x="2501" y="665"/>
                  <a:pt x="2575" y="670"/>
                  <a:pt x="2647" y="679"/>
                </a:cubicBezTo>
                <a:lnTo>
                  <a:pt x="3182" y="143"/>
                </a:lnTo>
                <a:cubicBezTo>
                  <a:pt x="2894" y="47"/>
                  <a:pt x="2611" y="1"/>
                  <a:pt x="2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52" name="Google Shape;8309;p82"/>
          <p:cNvSpPr/>
          <p:nvPr/>
        </p:nvSpPr>
        <p:spPr>
          <a:xfrm>
            <a:off x="634442" y="1185509"/>
            <a:ext cx="332644" cy="333091"/>
          </a:xfrm>
          <a:custGeom>
            <a:avLst/>
            <a:gdLst/>
            <a:ahLst/>
            <a:cxnLst/>
            <a:rect l="l" t="t" r="r" b="b"/>
            <a:pathLst>
              <a:path w="8917" h="8929" extrusionOk="0">
                <a:moveTo>
                  <a:pt x="4475" y="1"/>
                </a:moveTo>
                <a:cubicBezTo>
                  <a:pt x="3329" y="1"/>
                  <a:pt x="2187" y="454"/>
                  <a:pt x="1324" y="1336"/>
                </a:cubicBezTo>
                <a:cubicBezTo>
                  <a:pt x="474" y="2155"/>
                  <a:pt x="1" y="3289"/>
                  <a:pt x="1" y="4486"/>
                </a:cubicBezTo>
                <a:cubicBezTo>
                  <a:pt x="1" y="6912"/>
                  <a:pt x="2017" y="8929"/>
                  <a:pt x="4475" y="8929"/>
                </a:cubicBezTo>
                <a:cubicBezTo>
                  <a:pt x="6901" y="8929"/>
                  <a:pt x="8917" y="6912"/>
                  <a:pt x="8917" y="4486"/>
                </a:cubicBezTo>
                <a:cubicBezTo>
                  <a:pt x="8917" y="3604"/>
                  <a:pt x="8696" y="2817"/>
                  <a:pt x="8255" y="2124"/>
                </a:cubicBezTo>
                <a:cubicBezTo>
                  <a:pt x="8098" y="2218"/>
                  <a:pt x="7342" y="2943"/>
                  <a:pt x="7184" y="3100"/>
                </a:cubicBezTo>
                <a:cubicBezTo>
                  <a:pt x="8161" y="5148"/>
                  <a:pt x="6680" y="7511"/>
                  <a:pt x="4412" y="7511"/>
                </a:cubicBezTo>
                <a:cubicBezTo>
                  <a:pt x="1702" y="7511"/>
                  <a:pt x="316" y="4203"/>
                  <a:pt x="2269" y="2281"/>
                </a:cubicBezTo>
                <a:cubicBezTo>
                  <a:pt x="2869" y="1681"/>
                  <a:pt x="3659" y="1373"/>
                  <a:pt x="4447" y="1373"/>
                </a:cubicBezTo>
                <a:cubicBezTo>
                  <a:pt x="4900" y="1373"/>
                  <a:pt x="5352" y="1475"/>
                  <a:pt x="5766" y="1682"/>
                </a:cubicBezTo>
                <a:cubicBezTo>
                  <a:pt x="5924" y="1525"/>
                  <a:pt x="6617" y="800"/>
                  <a:pt x="6838" y="706"/>
                </a:cubicBezTo>
                <a:cubicBezTo>
                  <a:pt x="6115" y="233"/>
                  <a:pt x="5294" y="1"/>
                  <a:pt x="44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477985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结合公司季度战略目标与业务增长需求，明确活动在整体运营中的定位与价值，锚定长期发展方向。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1537444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战略规划</a:t>
            </a:r>
          </a:p>
        </p:txBody>
      </p:sp>
      <p:sp>
        <p:nvSpPr>
          <p:cNvPr id="149" name="椭圆 148"/>
          <p:cNvSpPr/>
          <p:nvPr/>
        </p:nvSpPr>
        <p:spPr>
          <a:xfrm>
            <a:off x="2528138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37058" y="1024960"/>
            <a:ext cx="2785655" cy="2298701"/>
            <a:chOff x="355600" y="1130300"/>
            <a:chExt cx="3016251" cy="2298701"/>
          </a:xfrm>
        </p:grpSpPr>
        <p:sp>
          <p:nvSpPr>
            <p:cNvPr id="16" name="矩形: 圆角 15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259443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基于需求拆解活动目标，创新设计互动玩法，规划详细规则与流程，合理分配资源，形成兼具创意与落地性的方案。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18902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方案设计</a:t>
            </a:r>
          </a:p>
        </p:txBody>
      </p:sp>
      <p:sp>
        <p:nvSpPr>
          <p:cNvPr id="12" name="椭圆 11"/>
          <p:cNvSpPr/>
          <p:nvPr/>
        </p:nvSpPr>
        <p:spPr>
          <a:xfrm>
            <a:off x="8309596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020935" y="1024960"/>
            <a:ext cx="2785655" cy="2298701"/>
            <a:chOff x="355600" y="1130300"/>
            <a:chExt cx="3016251" cy="2298701"/>
          </a:xfrm>
        </p:grpSpPr>
        <p:sp>
          <p:nvSpPr>
            <p:cNvPr id="28" name="矩形: 圆角 27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9143320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组织跨部门沟通会议，明确设计、技术、运营等各团队分工，统筹人力、设计素材、推广预算等资源。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02779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资源协调</a:t>
            </a:r>
          </a:p>
        </p:txBody>
      </p:sp>
      <p:sp>
        <p:nvSpPr>
          <p:cNvPr id="24" name="椭圆 23"/>
          <p:cNvSpPr/>
          <p:nvPr/>
        </p:nvSpPr>
        <p:spPr>
          <a:xfrm>
            <a:off x="11193473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3250658" y="1024960"/>
            <a:ext cx="2785655" cy="2298701"/>
            <a:chOff x="355600" y="1130300"/>
            <a:chExt cx="3016251" cy="2298701"/>
          </a:xfrm>
        </p:grpSpPr>
        <p:sp>
          <p:nvSpPr>
            <p:cNvPr id="173" name="矩形: 圆角 172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373043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深度访谈业务部门，结合用户调研问卷及行为数据，剖析市场竞品策略，定位活动核心目标与用户需求。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32502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需求分析</a:t>
            </a:r>
          </a:p>
        </p:txBody>
      </p:sp>
      <p:sp>
        <p:nvSpPr>
          <p:cNvPr id="5" name="椭圆 4"/>
          <p:cNvSpPr/>
          <p:nvPr/>
        </p:nvSpPr>
        <p:spPr>
          <a:xfrm>
            <a:off x="5423196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9072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互联网活动策划工作流程</a:t>
            </a:r>
          </a:p>
        </p:txBody>
      </p:sp>
      <p:cxnSp>
        <p:nvCxnSpPr>
          <p:cNvPr id="23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90" name="Google Shape;8203;p82"/>
          <p:cNvGrpSpPr/>
          <p:nvPr/>
        </p:nvGrpSpPr>
        <p:grpSpPr>
          <a:xfrm>
            <a:off x="3539847" y="1101816"/>
            <a:ext cx="308791" cy="383678"/>
            <a:chOff x="-2310650" y="3525775"/>
            <a:chExt cx="292250" cy="363125"/>
          </a:xfrm>
          <a:solidFill>
            <a:schemeClr val="accent1"/>
          </a:solidFill>
        </p:grpSpPr>
        <p:sp>
          <p:nvSpPr>
            <p:cNvPr id="191" name="Google Shape;8204;p82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2" name="Google Shape;8205;p82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3" name="Google Shape;8206;p82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4" name="Google Shape;8207;p82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79" name="Google Shape;8076;p82"/>
          <p:cNvGrpSpPr/>
          <p:nvPr/>
        </p:nvGrpSpPr>
        <p:grpSpPr>
          <a:xfrm>
            <a:off x="6378266" y="1169424"/>
            <a:ext cx="378190" cy="358768"/>
            <a:chOff x="-6696925" y="3272575"/>
            <a:chExt cx="307200" cy="291425"/>
          </a:xfrm>
          <a:solidFill>
            <a:schemeClr val="accent1"/>
          </a:solidFill>
        </p:grpSpPr>
        <p:sp>
          <p:nvSpPr>
            <p:cNvPr id="180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1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83" name="Google Shape;8132;p82"/>
          <p:cNvGrpSpPr/>
          <p:nvPr/>
        </p:nvGrpSpPr>
        <p:grpSpPr>
          <a:xfrm>
            <a:off x="9306977" y="1185510"/>
            <a:ext cx="348484" cy="346610"/>
            <a:chOff x="-6329100" y="3632100"/>
            <a:chExt cx="293025" cy="291450"/>
          </a:xfrm>
          <a:solidFill>
            <a:schemeClr val="accent1"/>
          </a:solidFill>
        </p:grpSpPr>
        <p:sp>
          <p:nvSpPr>
            <p:cNvPr id="184" name="Google Shape;8133;p82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5" name="Google Shape;8134;p82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6" name="Google Shape;8135;p82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3239477" y="4000499"/>
            <a:ext cx="2785655" cy="2298701"/>
            <a:chOff x="6123354" y="4000499"/>
            <a:chExt cx="2785655" cy="2298701"/>
          </a:xfrm>
        </p:grpSpPr>
        <p:sp>
          <p:nvSpPr>
            <p:cNvPr id="129" name="矩形: 圆角 128"/>
            <p:cNvSpPr/>
            <p:nvPr/>
          </p:nvSpPr>
          <p:spPr>
            <a:xfrm>
              <a:off x="6123354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0" name="Freeform 145"/>
            <p:cNvSpPr/>
            <p:nvPr/>
          </p:nvSpPr>
          <p:spPr>
            <a:xfrm>
              <a:off x="6123354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54" name="Google Shape;8307;p82"/>
            <p:cNvSpPr/>
            <p:nvPr/>
          </p:nvSpPr>
          <p:spPr>
            <a:xfrm>
              <a:off x="6524443" y="4054581"/>
              <a:ext cx="316193" cy="309104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55" name="Google Shape;8308;p82"/>
            <p:cNvSpPr/>
            <p:nvPr/>
          </p:nvSpPr>
          <p:spPr>
            <a:xfrm>
              <a:off x="6477439" y="4236104"/>
              <a:ext cx="179845" cy="176487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28" name="Google Shape;8309;p82"/>
            <p:cNvSpPr/>
            <p:nvPr/>
          </p:nvSpPr>
          <p:spPr>
            <a:xfrm>
              <a:off x="6402196" y="4161048"/>
              <a:ext cx="332644" cy="333091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51" name="文本框 250"/>
            <p:cNvSpPr txBox="1"/>
            <p:nvPr/>
          </p:nvSpPr>
          <p:spPr>
            <a:xfrm>
              <a:off x="6245739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Roboto" panose="02000000000000000000" charset="0"/>
                  <a:cs typeface="Roboto" panose="02000000000000000000" charset="0"/>
                </a:rPr>
                <a:t>整合活动全周期数据报表与用户反馈，深度分析活动亮点与不足，提炼经验形成标准化流程。</a:t>
              </a:r>
              <a:endParaRPr lang="zh-CN" altLang="en-US" sz="14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52" name="文本框 251"/>
            <p:cNvSpPr txBox="1"/>
            <p:nvPr/>
          </p:nvSpPr>
          <p:spPr>
            <a:xfrm>
              <a:off x="7305198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复盘优化</a:t>
              </a:r>
            </a:p>
          </p:txBody>
        </p:sp>
        <p:sp>
          <p:nvSpPr>
            <p:cNvPr id="253" name="椭圆 252"/>
            <p:cNvSpPr/>
            <p:nvPr/>
          </p:nvSpPr>
          <p:spPr>
            <a:xfrm>
              <a:off x="8295892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7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6168934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grpSp>
          <p:nvGrpSpPr>
            <p:cNvPr id="187" name="Google Shape;8188;p82"/>
            <p:cNvGrpSpPr/>
            <p:nvPr/>
          </p:nvGrpSpPr>
          <p:grpSpPr>
            <a:xfrm>
              <a:off x="6411015" y="4088290"/>
              <a:ext cx="395670" cy="393536"/>
              <a:chOff x="-4118225" y="3253275"/>
              <a:chExt cx="292225" cy="290650"/>
            </a:xfrm>
          </p:grpSpPr>
          <p:sp>
            <p:nvSpPr>
              <p:cNvPr id="188" name="Google Shape;8189;p82"/>
              <p:cNvSpPr/>
              <p:nvPr/>
            </p:nvSpPr>
            <p:spPr>
              <a:xfrm>
                <a:off x="-4118225" y="3287125"/>
                <a:ext cx="256725" cy="256800"/>
              </a:xfrm>
              <a:custGeom>
                <a:avLst/>
                <a:gdLst/>
                <a:ahLst/>
                <a:cxnLst/>
                <a:rect l="l" t="t" r="r" b="b"/>
                <a:pathLst>
                  <a:path w="10269" h="10272" extrusionOk="0">
                    <a:moveTo>
                      <a:pt x="5104" y="1"/>
                    </a:moveTo>
                    <a:cubicBezTo>
                      <a:pt x="2268" y="1"/>
                      <a:pt x="0" y="2301"/>
                      <a:pt x="0" y="5136"/>
                    </a:cubicBezTo>
                    <a:cubicBezTo>
                      <a:pt x="0" y="7972"/>
                      <a:pt x="2268" y="10271"/>
                      <a:pt x="5104" y="10271"/>
                    </a:cubicBezTo>
                    <a:cubicBezTo>
                      <a:pt x="7939" y="10271"/>
                      <a:pt x="10239" y="8003"/>
                      <a:pt x="10239" y="5168"/>
                    </a:cubicBezTo>
                    <a:cubicBezTo>
                      <a:pt x="10268" y="4993"/>
                      <a:pt x="10108" y="4818"/>
                      <a:pt x="9910" y="4818"/>
                    </a:cubicBezTo>
                    <a:cubicBezTo>
                      <a:pt x="9894" y="4818"/>
                      <a:pt x="9877" y="4819"/>
                      <a:pt x="9861" y="4821"/>
                    </a:cubicBezTo>
                    <a:lnTo>
                      <a:pt x="5797" y="4821"/>
                    </a:lnTo>
                    <a:cubicBezTo>
                      <a:pt x="5639" y="4821"/>
                      <a:pt x="5450" y="4695"/>
                      <a:pt x="5450" y="4506"/>
                    </a:cubicBezTo>
                    <a:lnTo>
                      <a:pt x="5450" y="347"/>
                    </a:lnTo>
                    <a:cubicBezTo>
                      <a:pt x="5450" y="158"/>
                      <a:pt x="5324" y="1"/>
                      <a:pt x="5104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89" name="Google Shape;8190;p82"/>
              <p:cNvSpPr/>
              <p:nvPr/>
            </p:nvSpPr>
            <p:spPr>
              <a:xfrm>
                <a:off x="-3963850" y="3253275"/>
                <a:ext cx="137850" cy="1378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1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35"/>
                    </a:lnTo>
                    <a:cubicBezTo>
                      <a:pt x="0" y="5356"/>
                      <a:pt x="158" y="5514"/>
                      <a:pt x="347" y="5514"/>
                    </a:cubicBezTo>
                    <a:lnTo>
                      <a:pt x="5167" y="5514"/>
                    </a:lnTo>
                    <a:cubicBezTo>
                      <a:pt x="5356" y="5514"/>
                      <a:pt x="5513" y="5356"/>
                      <a:pt x="5513" y="5135"/>
                    </a:cubicBezTo>
                    <a:cubicBezTo>
                      <a:pt x="5513" y="2269"/>
                      <a:pt x="3182" y="0"/>
                      <a:pt x="347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66" name="组合 165"/>
          <p:cNvGrpSpPr/>
          <p:nvPr/>
        </p:nvGrpSpPr>
        <p:grpSpPr>
          <a:xfrm>
            <a:off x="6123354" y="4000499"/>
            <a:ext cx="2785655" cy="2298701"/>
            <a:chOff x="3239477" y="4000499"/>
            <a:chExt cx="2785655" cy="2298701"/>
          </a:xfrm>
        </p:grpSpPr>
        <p:sp>
          <p:nvSpPr>
            <p:cNvPr id="245" name="矩形: 圆角 244"/>
            <p:cNvSpPr/>
            <p:nvPr/>
          </p:nvSpPr>
          <p:spPr>
            <a:xfrm>
              <a:off x="3239477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46" name="Freeform 145"/>
            <p:cNvSpPr/>
            <p:nvPr/>
          </p:nvSpPr>
          <p:spPr>
            <a:xfrm>
              <a:off x="3239477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3285548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39" name="文本框 238"/>
            <p:cNvSpPr txBox="1"/>
            <p:nvPr/>
          </p:nvSpPr>
          <p:spPr>
            <a:xfrm>
              <a:off x="3361862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Roboto" panose="02000000000000000000" charset="0"/>
                  <a:cs typeface="Roboto" panose="02000000000000000000" charset="0"/>
                </a:rPr>
                <a:t>制定分阶段推广计划，通过社交媒体、站内信、合作渠道等多途径投放，实时追踪流量、转化等数据。</a:t>
              </a:r>
              <a:endParaRPr lang="zh-CN" altLang="en-US" sz="14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4421321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推广执行</a:t>
              </a:r>
            </a:p>
          </p:txBody>
        </p:sp>
        <p:sp>
          <p:nvSpPr>
            <p:cNvPr id="241" name="椭圆 240"/>
            <p:cNvSpPr/>
            <p:nvPr/>
          </p:nvSpPr>
          <p:spPr>
            <a:xfrm>
              <a:off x="5412015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6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82" name="Google Shape;8098;p82"/>
            <p:cNvSpPr/>
            <p:nvPr/>
          </p:nvSpPr>
          <p:spPr>
            <a:xfrm>
              <a:off x="3458448" y="4112643"/>
              <a:ext cx="408702" cy="394214"/>
            </a:xfrm>
            <a:custGeom>
              <a:avLst/>
              <a:gdLst/>
              <a:ahLst/>
              <a:cxnLst/>
              <a:rect l="l" t="t" r="r" b="b"/>
              <a:pathLst>
                <a:path w="12074" h="11646" extrusionOk="0">
                  <a:moveTo>
                    <a:pt x="10001" y="2714"/>
                  </a:moveTo>
                  <a:cubicBezTo>
                    <a:pt x="10213" y="2714"/>
                    <a:pt x="10440" y="2904"/>
                    <a:pt x="10341" y="3182"/>
                  </a:cubicBezTo>
                  <a:lnTo>
                    <a:pt x="9332" y="5923"/>
                  </a:lnTo>
                  <a:cubicBezTo>
                    <a:pt x="9269" y="6065"/>
                    <a:pt x="9143" y="6136"/>
                    <a:pt x="9017" y="6136"/>
                  </a:cubicBezTo>
                  <a:cubicBezTo>
                    <a:pt x="8891" y="6136"/>
                    <a:pt x="8765" y="6065"/>
                    <a:pt x="8702" y="5923"/>
                  </a:cubicBezTo>
                  <a:lnTo>
                    <a:pt x="7978" y="4033"/>
                  </a:lnTo>
                  <a:lnTo>
                    <a:pt x="7285" y="5923"/>
                  </a:lnTo>
                  <a:cubicBezTo>
                    <a:pt x="7222" y="6065"/>
                    <a:pt x="7080" y="6136"/>
                    <a:pt x="6946" y="6136"/>
                  </a:cubicBezTo>
                  <a:cubicBezTo>
                    <a:pt x="6812" y="6136"/>
                    <a:pt x="6686" y="6065"/>
                    <a:pt x="6655" y="5923"/>
                  </a:cubicBezTo>
                  <a:lnTo>
                    <a:pt x="5615" y="3182"/>
                  </a:lnTo>
                  <a:cubicBezTo>
                    <a:pt x="5516" y="2904"/>
                    <a:pt x="5729" y="2714"/>
                    <a:pt x="5941" y="2714"/>
                  </a:cubicBezTo>
                  <a:cubicBezTo>
                    <a:pt x="6064" y="2714"/>
                    <a:pt x="6187" y="2779"/>
                    <a:pt x="6245" y="2930"/>
                  </a:cubicBezTo>
                  <a:lnTo>
                    <a:pt x="6970" y="4820"/>
                  </a:lnTo>
                  <a:lnTo>
                    <a:pt x="7663" y="2930"/>
                  </a:lnTo>
                  <a:cubicBezTo>
                    <a:pt x="7726" y="2804"/>
                    <a:pt x="7867" y="2741"/>
                    <a:pt x="8001" y="2741"/>
                  </a:cubicBezTo>
                  <a:cubicBezTo>
                    <a:pt x="8135" y="2741"/>
                    <a:pt x="8261" y="2804"/>
                    <a:pt x="8293" y="2930"/>
                  </a:cubicBezTo>
                  <a:lnTo>
                    <a:pt x="9017" y="4820"/>
                  </a:lnTo>
                  <a:lnTo>
                    <a:pt x="9711" y="2930"/>
                  </a:lnTo>
                  <a:cubicBezTo>
                    <a:pt x="9757" y="2779"/>
                    <a:pt x="9877" y="2714"/>
                    <a:pt x="10001" y="2714"/>
                  </a:cubicBezTo>
                  <a:close/>
                  <a:moveTo>
                    <a:pt x="7946" y="0"/>
                  </a:moveTo>
                  <a:cubicBezTo>
                    <a:pt x="5678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7" y="6711"/>
                  </a:cubicBezTo>
                  <a:lnTo>
                    <a:pt x="4134" y="7435"/>
                  </a:lnTo>
                  <a:cubicBezTo>
                    <a:pt x="3981" y="7364"/>
                    <a:pt x="3827" y="7329"/>
                    <a:pt x="3678" y="7329"/>
                  </a:cubicBezTo>
                  <a:cubicBezTo>
                    <a:pt x="3431" y="7329"/>
                    <a:pt x="3197" y="7427"/>
                    <a:pt x="3000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24" y="11645"/>
                  </a:cubicBezTo>
                  <a:cubicBezTo>
                    <a:pt x="1758" y="11645"/>
                    <a:pt x="1999" y="11555"/>
                    <a:pt x="2212" y="11342"/>
                  </a:cubicBezTo>
                  <a:lnTo>
                    <a:pt x="4449" y="9074"/>
                  </a:lnTo>
                  <a:cubicBezTo>
                    <a:pt x="4764" y="8759"/>
                    <a:pt x="4796" y="8286"/>
                    <a:pt x="4638" y="7939"/>
                  </a:cubicBezTo>
                  <a:lnTo>
                    <a:pt x="5363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3" y="6364"/>
                    <a:pt x="12073" y="4127"/>
                  </a:cubicBezTo>
                  <a:cubicBezTo>
                    <a:pt x="12073" y="1796"/>
                    <a:pt x="10246" y="0"/>
                    <a:pt x="79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358837" y="4000499"/>
            <a:ext cx="2785655" cy="2298701"/>
            <a:chOff x="9007231" y="4000499"/>
            <a:chExt cx="2785655" cy="2298701"/>
          </a:xfrm>
        </p:grpSpPr>
        <p:sp>
          <p:nvSpPr>
            <p:cNvPr id="141" name="矩形: 圆角 140"/>
            <p:cNvSpPr/>
            <p:nvPr/>
          </p:nvSpPr>
          <p:spPr>
            <a:xfrm>
              <a:off x="9007231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2" name="Freeform 145"/>
            <p:cNvSpPr/>
            <p:nvPr/>
          </p:nvSpPr>
          <p:spPr>
            <a:xfrm>
              <a:off x="9007231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138" name="Google Shape;8307;p82"/>
            <p:cNvSpPr/>
            <p:nvPr/>
          </p:nvSpPr>
          <p:spPr>
            <a:xfrm>
              <a:off x="9408320" y="4054581"/>
              <a:ext cx="316193" cy="309104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39" name="Google Shape;8308;p82"/>
            <p:cNvSpPr/>
            <p:nvPr/>
          </p:nvSpPr>
          <p:spPr>
            <a:xfrm>
              <a:off x="9361316" y="4236104"/>
              <a:ext cx="179845" cy="176487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40" name="Google Shape;8309;p82"/>
            <p:cNvSpPr/>
            <p:nvPr/>
          </p:nvSpPr>
          <p:spPr>
            <a:xfrm>
              <a:off x="9286073" y="4161048"/>
              <a:ext cx="332644" cy="333091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9129616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Roboto" panose="02000000000000000000" charset="0"/>
                  <a:cs typeface="Roboto" panose="02000000000000000000" charset="0"/>
                </a:rPr>
                <a:t>将活动沉淀的用户资产、品牌影响力持续运营，通过维护、用户分层运营等手段，挖掘活动长尾价值。</a:t>
              </a:r>
              <a:endParaRPr lang="zh-CN" altLang="en-US" sz="14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10189075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长效运营</a:t>
              </a:r>
            </a:p>
          </p:txBody>
        </p:sp>
        <p:sp>
          <p:nvSpPr>
            <p:cNvPr id="137" name="椭圆 136"/>
            <p:cNvSpPr/>
            <p:nvPr/>
          </p:nvSpPr>
          <p:spPr>
            <a:xfrm>
              <a:off x="11179769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8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9052320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grpSp>
          <p:nvGrpSpPr>
            <p:cNvPr id="201" name="Google Shape;8290;p82"/>
            <p:cNvGrpSpPr/>
            <p:nvPr/>
          </p:nvGrpSpPr>
          <p:grpSpPr>
            <a:xfrm>
              <a:off x="9300843" y="4112029"/>
              <a:ext cx="300790" cy="394586"/>
              <a:chOff x="-3365275" y="3253275"/>
              <a:chExt cx="222150" cy="291425"/>
            </a:xfrm>
          </p:grpSpPr>
          <p:sp>
            <p:nvSpPr>
              <p:cNvPr id="202" name="Google Shape;8291;p82"/>
              <p:cNvSpPr/>
              <p:nvPr/>
            </p:nvSpPr>
            <p:spPr>
              <a:xfrm>
                <a:off x="-3365275" y="3253275"/>
                <a:ext cx="22215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886" h="11657" extrusionOk="0">
                    <a:moveTo>
                      <a:pt x="5861" y="662"/>
                    </a:moveTo>
                    <a:cubicBezTo>
                      <a:pt x="6302" y="662"/>
                      <a:pt x="6302" y="1323"/>
                      <a:pt x="5861" y="1323"/>
                    </a:cubicBezTo>
                    <a:lnTo>
                      <a:pt x="3120" y="1323"/>
                    </a:lnTo>
                    <a:cubicBezTo>
                      <a:pt x="2647" y="1323"/>
                      <a:pt x="2647" y="662"/>
                      <a:pt x="3120" y="662"/>
                    </a:cubicBezTo>
                    <a:close/>
                    <a:moveTo>
                      <a:pt x="7215" y="3466"/>
                    </a:moveTo>
                    <a:cubicBezTo>
                      <a:pt x="7625" y="3466"/>
                      <a:pt x="7625" y="4127"/>
                      <a:pt x="7215" y="4127"/>
                    </a:cubicBezTo>
                    <a:lnTo>
                      <a:pt x="4443" y="4127"/>
                    </a:lnTo>
                    <a:cubicBezTo>
                      <a:pt x="4002" y="4127"/>
                      <a:pt x="3970" y="3466"/>
                      <a:pt x="4443" y="3466"/>
                    </a:cubicBezTo>
                    <a:close/>
                    <a:moveTo>
                      <a:pt x="3101" y="2795"/>
                    </a:moveTo>
                    <a:cubicBezTo>
                      <a:pt x="3360" y="2795"/>
                      <a:pt x="3582" y="3129"/>
                      <a:pt x="3340" y="3371"/>
                    </a:cubicBezTo>
                    <a:lnTo>
                      <a:pt x="2899" y="3812"/>
                    </a:lnTo>
                    <a:lnTo>
                      <a:pt x="3340" y="4253"/>
                    </a:lnTo>
                    <a:cubicBezTo>
                      <a:pt x="3582" y="4495"/>
                      <a:pt x="3360" y="4830"/>
                      <a:pt x="3101" y="4830"/>
                    </a:cubicBezTo>
                    <a:cubicBezTo>
                      <a:pt x="3023" y="4830"/>
                      <a:pt x="2941" y="4799"/>
                      <a:pt x="2868" y="4726"/>
                    </a:cubicBezTo>
                    <a:lnTo>
                      <a:pt x="2427" y="4285"/>
                    </a:lnTo>
                    <a:lnTo>
                      <a:pt x="2017" y="4726"/>
                    </a:lnTo>
                    <a:cubicBezTo>
                      <a:pt x="1944" y="4799"/>
                      <a:pt x="1862" y="4830"/>
                      <a:pt x="1784" y="4830"/>
                    </a:cubicBezTo>
                    <a:cubicBezTo>
                      <a:pt x="1525" y="4830"/>
                      <a:pt x="1303" y="4495"/>
                      <a:pt x="1545" y="4253"/>
                    </a:cubicBezTo>
                    <a:lnTo>
                      <a:pt x="1954" y="3812"/>
                    </a:lnTo>
                    <a:lnTo>
                      <a:pt x="1545" y="3371"/>
                    </a:lnTo>
                    <a:cubicBezTo>
                      <a:pt x="1303" y="3129"/>
                      <a:pt x="1525" y="2795"/>
                      <a:pt x="1784" y="2795"/>
                    </a:cubicBezTo>
                    <a:cubicBezTo>
                      <a:pt x="1862" y="2795"/>
                      <a:pt x="1944" y="2825"/>
                      <a:pt x="2017" y="2899"/>
                    </a:cubicBezTo>
                    <a:lnTo>
                      <a:pt x="2427" y="3340"/>
                    </a:lnTo>
                    <a:lnTo>
                      <a:pt x="2868" y="2899"/>
                    </a:lnTo>
                    <a:cubicBezTo>
                      <a:pt x="2941" y="2825"/>
                      <a:pt x="3023" y="2795"/>
                      <a:pt x="3101" y="2795"/>
                    </a:cubicBezTo>
                    <a:close/>
                    <a:moveTo>
                      <a:pt x="7242" y="6206"/>
                    </a:moveTo>
                    <a:cubicBezTo>
                      <a:pt x="7625" y="6206"/>
                      <a:pt x="7616" y="6868"/>
                      <a:pt x="7215" y="6868"/>
                    </a:cubicBezTo>
                    <a:lnTo>
                      <a:pt x="4443" y="6868"/>
                    </a:lnTo>
                    <a:cubicBezTo>
                      <a:pt x="4002" y="6868"/>
                      <a:pt x="3970" y="6207"/>
                      <a:pt x="4443" y="6207"/>
                    </a:cubicBezTo>
                    <a:lnTo>
                      <a:pt x="7215" y="6207"/>
                    </a:lnTo>
                    <a:cubicBezTo>
                      <a:pt x="7225" y="6206"/>
                      <a:pt x="7233" y="6206"/>
                      <a:pt x="7242" y="6206"/>
                    </a:cubicBezTo>
                    <a:close/>
                    <a:moveTo>
                      <a:pt x="3101" y="5504"/>
                    </a:moveTo>
                    <a:cubicBezTo>
                      <a:pt x="3360" y="5504"/>
                      <a:pt x="3582" y="5839"/>
                      <a:pt x="3340" y="6081"/>
                    </a:cubicBezTo>
                    <a:lnTo>
                      <a:pt x="2899" y="6522"/>
                    </a:lnTo>
                    <a:lnTo>
                      <a:pt x="3340" y="6963"/>
                    </a:lnTo>
                    <a:cubicBezTo>
                      <a:pt x="3582" y="7205"/>
                      <a:pt x="3360" y="7539"/>
                      <a:pt x="3101" y="7539"/>
                    </a:cubicBezTo>
                    <a:cubicBezTo>
                      <a:pt x="3023" y="7539"/>
                      <a:pt x="2941" y="7509"/>
                      <a:pt x="2868" y="7435"/>
                    </a:cubicBezTo>
                    <a:lnTo>
                      <a:pt x="2427" y="6994"/>
                    </a:lnTo>
                    <a:lnTo>
                      <a:pt x="2017" y="7435"/>
                    </a:lnTo>
                    <a:cubicBezTo>
                      <a:pt x="1944" y="7509"/>
                      <a:pt x="1862" y="7539"/>
                      <a:pt x="1784" y="7539"/>
                    </a:cubicBezTo>
                    <a:cubicBezTo>
                      <a:pt x="1525" y="7539"/>
                      <a:pt x="1303" y="7205"/>
                      <a:pt x="1545" y="6963"/>
                    </a:cubicBezTo>
                    <a:lnTo>
                      <a:pt x="1954" y="6522"/>
                    </a:lnTo>
                    <a:lnTo>
                      <a:pt x="1545" y="6081"/>
                    </a:lnTo>
                    <a:cubicBezTo>
                      <a:pt x="1303" y="5839"/>
                      <a:pt x="1525" y="5504"/>
                      <a:pt x="1784" y="5504"/>
                    </a:cubicBezTo>
                    <a:cubicBezTo>
                      <a:pt x="1862" y="5504"/>
                      <a:pt x="1944" y="5535"/>
                      <a:pt x="2017" y="5608"/>
                    </a:cubicBezTo>
                    <a:lnTo>
                      <a:pt x="2427" y="6049"/>
                    </a:lnTo>
                    <a:lnTo>
                      <a:pt x="2868" y="5608"/>
                    </a:lnTo>
                    <a:cubicBezTo>
                      <a:pt x="2941" y="5535"/>
                      <a:pt x="3023" y="5504"/>
                      <a:pt x="3101" y="5504"/>
                    </a:cubicBezTo>
                    <a:close/>
                    <a:moveTo>
                      <a:pt x="7215" y="8916"/>
                    </a:moveTo>
                    <a:cubicBezTo>
                      <a:pt x="7625" y="8916"/>
                      <a:pt x="7625" y="9609"/>
                      <a:pt x="7215" y="9609"/>
                    </a:cubicBezTo>
                    <a:lnTo>
                      <a:pt x="4443" y="9609"/>
                    </a:lnTo>
                    <a:cubicBezTo>
                      <a:pt x="4002" y="9609"/>
                      <a:pt x="3970" y="8916"/>
                      <a:pt x="4443" y="8916"/>
                    </a:cubicBezTo>
                    <a:close/>
                    <a:moveTo>
                      <a:pt x="2395" y="8254"/>
                    </a:moveTo>
                    <a:cubicBezTo>
                      <a:pt x="2962" y="8254"/>
                      <a:pt x="3435" y="8727"/>
                      <a:pt x="3435" y="9263"/>
                    </a:cubicBezTo>
                    <a:cubicBezTo>
                      <a:pt x="3435" y="9830"/>
                      <a:pt x="2994" y="10302"/>
                      <a:pt x="2395" y="10302"/>
                    </a:cubicBezTo>
                    <a:cubicBezTo>
                      <a:pt x="1860" y="10302"/>
                      <a:pt x="1387" y="9830"/>
                      <a:pt x="1387" y="9263"/>
                    </a:cubicBezTo>
                    <a:cubicBezTo>
                      <a:pt x="1387" y="8727"/>
                      <a:pt x="1860" y="8254"/>
                      <a:pt x="2395" y="8254"/>
                    </a:cubicBezTo>
                    <a:close/>
                    <a:moveTo>
                      <a:pt x="3057" y="0"/>
                    </a:moveTo>
                    <a:cubicBezTo>
                      <a:pt x="2647" y="0"/>
                      <a:pt x="2238" y="252"/>
                      <a:pt x="2112" y="662"/>
                    </a:cubicBezTo>
                    <a:lnTo>
                      <a:pt x="1009" y="662"/>
                    </a:lnTo>
                    <a:cubicBezTo>
                      <a:pt x="473" y="662"/>
                      <a:pt x="1" y="1134"/>
                      <a:pt x="1" y="1670"/>
                    </a:cubicBezTo>
                    <a:lnTo>
                      <a:pt x="1" y="10617"/>
                    </a:lnTo>
                    <a:cubicBezTo>
                      <a:pt x="1" y="11153"/>
                      <a:pt x="473" y="11657"/>
                      <a:pt x="1009" y="11657"/>
                    </a:cubicBezTo>
                    <a:lnTo>
                      <a:pt x="7877" y="11657"/>
                    </a:lnTo>
                    <a:cubicBezTo>
                      <a:pt x="8413" y="11657"/>
                      <a:pt x="8885" y="11184"/>
                      <a:pt x="8885" y="10617"/>
                    </a:cubicBezTo>
                    <a:lnTo>
                      <a:pt x="8885" y="1670"/>
                    </a:lnTo>
                    <a:cubicBezTo>
                      <a:pt x="8885" y="1134"/>
                      <a:pt x="8476" y="662"/>
                      <a:pt x="7877" y="662"/>
                    </a:cubicBezTo>
                    <a:lnTo>
                      <a:pt x="6774" y="662"/>
                    </a:lnTo>
                    <a:cubicBezTo>
                      <a:pt x="6617" y="252"/>
                      <a:pt x="6270" y="0"/>
                      <a:pt x="582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3" name="Google Shape;8292;p82"/>
              <p:cNvSpPr/>
              <p:nvPr/>
            </p:nvSpPr>
            <p:spPr>
              <a:xfrm>
                <a:off x="-3314075" y="3476175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36" y="725"/>
                      <a:pt x="694" y="567"/>
                      <a:pt x="694" y="347"/>
                    </a:cubicBezTo>
                    <a:cubicBezTo>
                      <a:pt x="694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67" name="组合 166"/>
          <p:cNvGrpSpPr/>
          <p:nvPr/>
        </p:nvGrpSpPr>
        <p:grpSpPr>
          <a:xfrm>
            <a:off x="9007231" y="4000499"/>
            <a:ext cx="2785655" cy="2298701"/>
            <a:chOff x="358837" y="4000499"/>
            <a:chExt cx="2785655" cy="2298701"/>
          </a:xfrm>
        </p:grpSpPr>
        <p:sp>
          <p:nvSpPr>
            <p:cNvPr id="233" name="矩形: 圆角 232"/>
            <p:cNvSpPr/>
            <p:nvPr/>
          </p:nvSpPr>
          <p:spPr>
            <a:xfrm>
              <a:off x="358837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34" name="Freeform 145"/>
            <p:cNvSpPr/>
            <p:nvPr/>
          </p:nvSpPr>
          <p:spPr>
            <a:xfrm>
              <a:off x="358837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35" name="任意多边形: 形状 234"/>
            <p:cNvSpPr/>
            <p:nvPr/>
          </p:nvSpPr>
          <p:spPr>
            <a:xfrm>
              <a:off x="404908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481222" y="4781507"/>
              <a:ext cx="2540883" cy="11245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+mn-ea"/>
                  <a:cs typeface="+mn-ea"/>
                </a:rPr>
                <a:t>模拟多场景、多用户操作路径，对活动页面兼容性、功能逻辑、数据统计等进行测试，消除潜在风险与 </a:t>
              </a:r>
              <a:r>
                <a:rPr lang="en-US" altLang="zh-CN" sz="1400" b="0" i="0" dirty="0">
                  <a:solidFill>
                    <a:schemeClr val="bg1"/>
                  </a:solidFill>
                  <a:effectLst/>
                  <a:latin typeface="+mn-ea"/>
                  <a:cs typeface="+mn-ea"/>
                </a:rPr>
                <a:t>BUG</a:t>
              </a: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+mn-ea"/>
                  <a:cs typeface="+mn-ea"/>
                </a:rPr>
                <a:t>。</a:t>
              </a:r>
              <a:endParaRPr lang="zh-CN" altLang="en-US" sz="14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1540681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上线测试</a:t>
              </a:r>
            </a:p>
          </p:txBody>
        </p:sp>
        <p:sp>
          <p:nvSpPr>
            <p:cNvPr id="228" name="椭圆 227"/>
            <p:cNvSpPr/>
            <p:nvPr/>
          </p:nvSpPr>
          <p:spPr>
            <a:xfrm>
              <a:off x="2531375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5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grpSp>
          <p:nvGrpSpPr>
            <p:cNvPr id="195" name="Google Shape;8219;p82"/>
            <p:cNvGrpSpPr/>
            <p:nvPr/>
          </p:nvGrpSpPr>
          <p:grpSpPr>
            <a:xfrm>
              <a:off x="619856" y="4137877"/>
              <a:ext cx="376974" cy="372940"/>
              <a:chOff x="-5611575" y="3272950"/>
              <a:chExt cx="294600" cy="291450"/>
            </a:xfrm>
          </p:grpSpPr>
          <p:sp>
            <p:nvSpPr>
              <p:cNvPr id="196" name="Google Shape;8220;p82"/>
              <p:cNvSpPr/>
              <p:nvPr/>
            </p:nvSpPr>
            <p:spPr>
              <a:xfrm>
                <a:off x="-5594250" y="3273750"/>
                <a:ext cx="85875" cy="8430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3372" extrusionOk="0">
                    <a:moveTo>
                      <a:pt x="1734" y="0"/>
                    </a:moveTo>
                    <a:cubicBezTo>
                      <a:pt x="788" y="0"/>
                      <a:pt x="32" y="756"/>
                      <a:pt x="32" y="1702"/>
                    </a:cubicBezTo>
                    <a:cubicBezTo>
                      <a:pt x="1" y="2678"/>
                      <a:pt x="820" y="3371"/>
                      <a:pt x="1702" y="3371"/>
                    </a:cubicBezTo>
                    <a:cubicBezTo>
                      <a:pt x="2269" y="3371"/>
                      <a:pt x="2899" y="3025"/>
                      <a:pt x="3214" y="2426"/>
                    </a:cubicBezTo>
                    <a:cubicBezTo>
                      <a:pt x="3340" y="2206"/>
                      <a:pt x="3435" y="1922"/>
                      <a:pt x="3435" y="1702"/>
                    </a:cubicBezTo>
                    <a:cubicBezTo>
                      <a:pt x="3435" y="756"/>
                      <a:pt x="2679" y="0"/>
                      <a:pt x="1734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7" name="Google Shape;8221;p82"/>
              <p:cNvSpPr/>
              <p:nvPr/>
            </p:nvSpPr>
            <p:spPr>
              <a:xfrm>
                <a:off x="-5457200" y="3324950"/>
                <a:ext cx="67775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2710" extrusionOk="0">
                    <a:moveTo>
                      <a:pt x="1009" y="0"/>
                    </a:moveTo>
                    <a:cubicBezTo>
                      <a:pt x="410" y="158"/>
                      <a:pt x="1" y="662"/>
                      <a:pt x="1" y="1323"/>
                    </a:cubicBezTo>
                    <a:cubicBezTo>
                      <a:pt x="1" y="2079"/>
                      <a:pt x="631" y="2710"/>
                      <a:pt x="1355" y="2710"/>
                    </a:cubicBezTo>
                    <a:cubicBezTo>
                      <a:pt x="1985" y="2710"/>
                      <a:pt x="2553" y="2268"/>
                      <a:pt x="2710" y="1701"/>
                    </a:cubicBezTo>
                    <a:lnTo>
                      <a:pt x="1355" y="1701"/>
                    </a:lnTo>
                    <a:cubicBezTo>
                      <a:pt x="1166" y="1701"/>
                      <a:pt x="1009" y="1544"/>
                      <a:pt x="1009" y="1323"/>
                    </a:cubicBezTo>
                    <a:lnTo>
                      <a:pt x="100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8" name="Google Shape;8222;p82"/>
              <p:cNvSpPr/>
              <p:nvPr/>
            </p:nvSpPr>
            <p:spPr>
              <a:xfrm>
                <a:off x="-5415450" y="3325725"/>
                <a:ext cx="25225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978" extrusionOk="0">
                    <a:moveTo>
                      <a:pt x="0" y="1"/>
                    </a:moveTo>
                    <a:lnTo>
                      <a:pt x="0" y="977"/>
                    </a:lnTo>
                    <a:lnTo>
                      <a:pt x="1009" y="977"/>
                    </a:lnTo>
                    <a:cubicBezTo>
                      <a:pt x="883" y="473"/>
                      <a:pt x="473" y="127"/>
                      <a:pt x="0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9" name="Google Shape;8223;p82"/>
              <p:cNvSpPr/>
              <p:nvPr/>
            </p:nvSpPr>
            <p:spPr>
              <a:xfrm>
                <a:off x="-5611575" y="3359600"/>
                <a:ext cx="118950" cy="204800"/>
              </a:xfrm>
              <a:custGeom>
                <a:avLst/>
                <a:gdLst/>
                <a:ahLst/>
                <a:cxnLst/>
                <a:rect l="l" t="t" r="r" b="b"/>
                <a:pathLst>
                  <a:path w="4758" h="8192" extrusionOk="0">
                    <a:moveTo>
                      <a:pt x="694" y="0"/>
                    </a:moveTo>
                    <a:cubicBezTo>
                      <a:pt x="253" y="410"/>
                      <a:pt x="1" y="1008"/>
                      <a:pt x="1" y="1670"/>
                    </a:cubicBezTo>
                    <a:lnTo>
                      <a:pt x="1" y="3718"/>
                    </a:lnTo>
                    <a:cubicBezTo>
                      <a:pt x="1" y="4159"/>
                      <a:pt x="253" y="4569"/>
                      <a:pt x="662" y="4726"/>
                    </a:cubicBezTo>
                    <a:lnTo>
                      <a:pt x="662" y="7152"/>
                    </a:lnTo>
                    <a:cubicBezTo>
                      <a:pt x="662" y="7687"/>
                      <a:pt x="1135" y="8192"/>
                      <a:pt x="1670" y="8192"/>
                    </a:cubicBezTo>
                    <a:lnTo>
                      <a:pt x="3057" y="8192"/>
                    </a:lnTo>
                    <a:cubicBezTo>
                      <a:pt x="3624" y="8192"/>
                      <a:pt x="4096" y="7719"/>
                      <a:pt x="4096" y="7152"/>
                    </a:cubicBezTo>
                    <a:lnTo>
                      <a:pt x="4096" y="4726"/>
                    </a:lnTo>
                    <a:cubicBezTo>
                      <a:pt x="4474" y="4569"/>
                      <a:pt x="4758" y="4190"/>
                      <a:pt x="4758" y="3718"/>
                    </a:cubicBezTo>
                    <a:lnTo>
                      <a:pt x="4758" y="1670"/>
                    </a:lnTo>
                    <a:cubicBezTo>
                      <a:pt x="4758" y="1008"/>
                      <a:pt x="4474" y="410"/>
                      <a:pt x="4033" y="0"/>
                    </a:cubicBezTo>
                    <a:cubicBezTo>
                      <a:pt x="3718" y="347"/>
                      <a:pt x="3246" y="567"/>
                      <a:pt x="2742" y="662"/>
                    </a:cubicBezTo>
                    <a:lnTo>
                      <a:pt x="2742" y="2395"/>
                    </a:lnTo>
                    <a:cubicBezTo>
                      <a:pt x="2742" y="2584"/>
                      <a:pt x="2584" y="2741"/>
                      <a:pt x="2395" y="2741"/>
                    </a:cubicBezTo>
                    <a:cubicBezTo>
                      <a:pt x="2175" y="2741"/>
                      <a:pt x="2017" y="2584"/>
                      <a:pt x="2017" y="2395"/>
                    </a:cubicBezTo>
                    <a:lnTo>
                      <a:pt x="2017" y="662"/>
                    </a:lnTo>
                    <a:cubicBezTo>
                      <a:pt x="1513" y="567"/>
                      <a:pt x="1040" y="347"/>
                      <a:pt x="694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0" name="Google Shape;8224;p82"/>
              <p:cNvSpPr/>
              <p:nvPr/>
            </p:nvSpPr>
            <p:spPr>
              <a:xfrm>
                <a:off x="-5510750" y="3272950"/>
                <a:ext cx="193775" cy="187475"/>
              </a:xfrm>
              <a:custGeom>
                <a:avLst/>
                <a:gdLst/>
                <a:ahLst/>
                <a:cxnLst/>
                <a:rect l="l" t="t" r="r" b="b"/>
                <a:pathLst>
                  <a:path w="7751" h="7499" extrusionOk="0">
                    <a:moveTo>
                      <a:pt x="3497" y="1355"/>
                    </a:moveTo>
                    <a:cubicBezTo>
                      <a:pt x="4663" y="1355"/>
                      <a:pt x="5577" y="2269"/>
                      <a:pt x="5577" y="3403"/>
                    </a:cubicBezTo>
                    <a:cubicBezTo>
                      <a:pt x="5577" y="4569"/>
                      <a:pt x="4600" y="5451"/>
                      <a:pt x="3497" y="5451"/>
                    </a:cubicBezTo>
                    <a:cubicBezTo>
                      <a:pt x="2363" y="5451"/>
                      <a:pt x="1450" y="4569"/>
                      <a:pt x="1450" y="3403"/>
                    </a:cubicBezTo>
                    <a:cubicBezTo>
                      <a:pt x="1450" y="2269"/>
                      <a:pt x="2363" y="1355"/>
                      <a:pt x="3497" y="1355"/>
                    </a:cubicBezTo>
                    <a:close/>
                    <a:moveTo>
                      <a:pt x="0" y="1"/>
                    </a:moveTo>
                    <a:cubicBezTo>
                      <a:pt x="441" y="410"/>
                      <a:pt x="725" y="1009"/>
                      <a:pt x="725" y="1671"/>
                    </a:cubicBezTo>
                    <a:cubicBezTo>
                      <a:pt x="725" y="2112"/>
                      <a:pt x="599" y="2521"/>
                      <a:pt x="410" y="2868"/>
                    </a:cubicBezTo>
                    <a:cubicBezTo>
                      <a:pt x="1040" y="3403"/>
                      <a:pt x="1387" y="4191"/>
                      <a:pt x="1387" y="5105"/>
                    </a:cubicBezTo>
                    <a:lnTo>
                      <a:pt x="1387" y="7152"/>
                    </a:lnTo>
                    <a:cubicBezTo>
                      <a:pt x="1387" y="7278"/>
                      <a:pt x="1387" y="7404"/>
                      <a:pt x="1355" y="7499"/>
                    </a:cubicBezTo>
                    <a:lnTo>
                      <a:pt x="5829" y="7499"/>
                    </a:lnTo>
                    <a:cubicBezTo>
                      <a:pt x="6396" y="7499"/>
                      <a:pt x="6900" y="7026"/>
                      <a:pt x="6900" y="6491"/>
                    </a:cubicBezTo>
                    <a:lnTo>
                      <a:pt x="6900" y="694"/>
                    </a:lnTo>
                    <a:lnTo>
                      <a:pt x="7246" y="694"/>
                    </a:lnTo>
                    <a:cubicBezTo>
                      <a:pt x="7751" y="694"/>
                      <a:pt x="7751" y="1"/>
                      <a:pt x="7278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171" name="空心弧 170"/>
          <p:cNvSpPr/>
          <p:nvPr/>
        </p:nvSpPr>
        <p:spPr>
          <a:xfrm rot="5400000">
            <a:off x="11159884" y="3453605"/>
            <a:ext cx="419115" cy="419115"/>
          </a:xfrm>
          <a:prstGeom prst="blockArc">
            <a:avLst>
              <a:gd name="adj1" fmla="val 10691766"/>
              <a:gd name="adj2" fmla="val 21578862"/>
              <a:gd name="adj3" fmla="val 282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471262" y="3453603"/>
            <a:ext cx="10898179" cy="1194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479597" y="3753237"/>
            <a:ext cx="10898179" cy="1194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5" name="矩形: 圆角 214"/>
          <p:cNvSpPr/>
          <p:nvPr/>
        </p:nvSpPr>
        <p:spPr>
          <a:xfrm>
            <a:off x="546790" y="3612223"/>
            <a:ext cx="10859675" cy="987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1806240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178" name="等腰三角形 177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18" name="等腰三角形 217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19" name="等腰三角形 218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20" name="等腰三角形 219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3707611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23" name="等腰三角形 222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6" name="等腰三角形 25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8" name="等腰三角形 25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59" name="组合 258"/>
          <p:cNvGrpSpPr/>
          <p:nvPr/>
        </p:nvGrpSpPr>
        <p:grpSpPr>
          <a:xfrm>
            <a:off x="5608982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60" name="等腰三角形 25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1" name="等腰三角形 26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2" name="等腰三角形 26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3" name="等腰三角形 26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7510353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65" name="等腰三角形 26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6" name="等腰三角形 26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7" name="等腰三角形 26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8" name="等腰三角形 26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9411724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70" name="等腰三角形 26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1" name="等腰三角形 27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2" name="等腰三角形 27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3" name="等腰三角形 27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 flipH="1">
            <a:off x="1806240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75" name="等腰三角形 27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6" name="等腰三角形 27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7" name="等腰三角形 27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8" name="等腰三角形 27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79" name="组合 278"/>
          <p:cNvGrpSpPr/>
          <p:nvPr/>
        </p:nvGrpSpPr>
        <p:grpSpPr>
          <a:xfrm flipH="1">
            <a:off x="3707611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80" name="等腰三角形 27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1" name="等腰三角形 28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2" name="等腰三角形 28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3" name="等腰三角形 28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84" name="组合 283"/>
          <p:cNvGrpSpPr/>
          <p:nvPr/>
        </p:nvGrpSpPr>
        <p:grpSpPr>
          <a:xfrm flipH="1">
            <a:off x="5608982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85" name="等腰三角形 28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6" name="等腰三角形 28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7" name="等腰三角形 28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8" name="等腰三角形 28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89" name="组合 288"/>
          <p:cNvGrpSpPr/>
          <p:nvPr/>
        </p:nvGrpSpPr>
        <p:grpSpPr>
          <a:xfrm flipH="1">
            <a:off x="7510353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90" name="等腰三角形 28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1" name="等腰三角形 29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2" name="等腰三角形 29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3" name="等腰三角形 29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94" name="组合 293"/>
          <p:cNvGrpSpPr/>
          <p:nvPr/>
        </p:nvGrpSpPr>
        <p:grpSpPr>
          <a:xfrm flipH="1">
            <a:off x="9411724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95" name="等腰三角形 29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6" name="等腰三角形 29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7" name="等腰三角形 29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8" name="等腰三角形 29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99" name="组合 298"/>
          <p:cNvGrpSpPr/>
          <p:nvPr/>
        </p:nvGrpSpPr>
        <p:grpSpPr>
          <a:xfrm rot="5400000">
            <a:off x="11414394" y="3620913"/>
            <a:ext cx="183760" cy="88106"/>
            <a:chOff x="1878868" y="3455194"/>
            <a:chExt cx="247588" cy="118709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301" name="等腰三角形 30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2" name="等腰三角形 30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3" name="等腰三角形 30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3316947" y="940353"/>
            <a:ext cx="1000124" cy="1000124"/>
            <a:chOff x="1100138" y="940353"/>
            <a:chExt cx="1000124" cy="1000124"/>
          </a:xfrm>
        </p:grpSpPr>
        <p:sp>
          <p:nvSpPr>
            <p:cNvPr id="44" name="椭圆 43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5" name="弧形 44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6" name="弧形 45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533756" y="940353"/>
            <a:ext cx="1000124" cy="1000124"/>
            <a:chOff x="1100138" y="940353"/>
            <a:chExt cx="1000124" cy="1000124"/>
          </a:xfrm>
        </p:grpSpPr>
        <p:sp>
          <p:nvSpPr>
            <p:cNvPr id="48" name="椭圆 47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9" name="弧形 48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4" name="弧形 53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728794" y="940353"/>
            <a:ext cx="1000124" cy="1000124"/>
            <a:chOff x="1100138" y="940353"/>
            <a:chExt cx="1000124" cy="1000124"/>
          </a:xfrm>
        </p:grpSpPr>
        <p:sp>
          <p:nvSpPr>
            <p:cNvPr id="56" name="椭圆 55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7" name="弧形 56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8" name="弧形 57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9923832" y="940353"/>
            <a:ext cx="1000124" cy="1000124"/>
            <a:chOff x="1100138" y="940353"/>
            <a:chExt cx="1000124" cy="1000124"/>
          </a:xfrm>
        </p:grpSpPr>
        <p:sp>
          <p:nvSpPr>
            <p:cNvPr id="60" name="椭圆 59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61" name="弧形 60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62" name="弧形 61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100138" y="940353"/>
            <a:ext cx="1000124" cy="1000124"/>
            <a:chOff x="1100138" y="940353"/>
            <a:chExt cx="1000124" cy="1000124"/>
          </a:xfrm>
        </p:grpSpPr>
        <p:sp>
          <p:nvSpPr>
            <p:cNvPr id="26" name="椭圆 25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7" name="弧形 36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8" name="弧形 37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289072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数字化转型五阶跃升路径</a:t>
            </a:r>
          </a:p>
        </p:txBody>
      </p:sp>
      <p:cxnSp>
        <p:nvCxnSpPr>
          <p:cNvPr id="102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箭头: V 形 149"/>
          <p:cNvSpPr/>
          <p:nvPr/>
        </p:nvSpPr>
        <p:spPr>
          <a:xfrm>
            <a:off x="355600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37" name="箭头: V 形 136"/>
          <p:cNvSpPr/>
          <p:nvPr/>
        </p:nvSpPr>
        <p:spPr>
          <a:xfrm>
            <a:off x="9313552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38" name="箭头: V 形 137"/>
          <p:cNvSpPr/>
          <p:nvPr/>
        </p:nvSpPr>
        <p:spPr>
          <a:xfrm>
            <a:off x="9307628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5" name="箭头: V 形 14"/>
          <p:cNvSpPr/>
          <p:nvPr/>
        </p:nvSpPr>
        <p:spPr>
          <a:xfrm>
            <a:off x="2595088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6" name="箭头: V 形 15"/>
          <p:cNvSpPr/>
          <p:nvPr/>
        </p:nvSpPr>
        <p:spPr>
          <a:xfrm>
            <a:off x="4834576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7" name="箭头: V 形 16"/>
          <p:cNvSpPr/>
          <p:nvPr/>
        </p:nvSpPr>
        <p:spPr>
          <a:xfrm>
            <a:off x="7074064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9" name="箭头: V 形 18"/>
          <p:cNvSpPr/>
          <p:nvPr/>
        </p:nvSpPr>
        <p:spPr>
          <a:xfrm>
            <a:off x="7069621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" name="箭头: V 形 19"/>
          <p:cNvSpPr/>
          <p:nvPr/>
        </p:nvSpPr>
        <p:spPr>
          <a:xfrm>
            <a:off x="4831613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" name="箭头: V 形 20"/>
          <p:cNvSpPr/>
          <p:nvPr/>
        </p:nvSpPr>
        <p:spPr>
          <a:xfrm>
            <a:off x="2593605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2" name="箭头: V 形 21"/>
          <p:cNvSpPr/>
          <p:nvPr/>
        </p:nvSpPr>
        <p:spPr>
          <a:xfrm>
            <a:off x="355597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3" name="矩形: 圆顶角 22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顶角 4"/>
          <p:cNvSpPr/>
          <p:nvPr/>
        </p:nvSpPr>
        <p:spPr>
          <a:xfrm flipV="1">
            <a:off x="355597" y="5521671"/>
            <a:ext cx="2160813" cy="777529"/>
          </a:xfrm>
          <a:prstGeom prst="round2Same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8" name="矩形: 圆顶角 27"/>
          <p:cNvSpPr/>
          <p:nvPr/>
        </p:nvSpPr>
        <p:spPr>
          <a:xfrm flipV="1">
            <a:off x="2593601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60000"/>
                </a:schemeClr>
              </a:gs>
              <a:gs pos="100000">
                <a:schemeClr val="tx2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 flipV="1">
            <a:off x="4831605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70000"/>
                </a:schemeClr>
              </a:gs>
              <a:gs pos="100000">
                <a:schemeClr val="tx2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30" name="矩形: 圆顶角 29"/>
          <p:cNvSpPr/>
          <p:nvPr/>
        </p:nvSpPr>
        <p:spPr>
          <a:xfrm flipV="1">
            <a:off x="7069609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80000"/>
                </a:schemeClr>
              </a:gs>
              <a:gs pos="100000">
                <a:schemeClr val="tx2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31" name="矩形: 圆顶角 30"/>
          <p:cNvSpPr/>
          <p:nvPr/>
        </p:nvSpPr>
        <p:spPr>
          <a:xfrm flipV="1">
            <a:off x="9307613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276758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J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34309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基础夯实</a:t>
            </a:r>
            <a:endParaRPr lang="zh-CN" altLang="en-US" sz="24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132468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流程优化</a:t>
            </a:r>
          </a:p>
        </p:txBody>
      </p:sp>
      <p:sp>
        <p:nvSpPr>
          <p:cNvPr id="33" name="矩形 32"/>
          <p:cNvSpPr/>
          <p:nvPr/>
        </p:nvSpPr>
        <p:spPr>
          <a:xfrm>
            <a:off x="5338096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数据驱动</a:t>
            </a:r>
          </a:p>
        </p:txBody>
      </p:sp>
      <p:sp>
        <p:nvSpPr>
          <p:cNvPr id="34" name="矩形 33"/>
          <p:cNvSpPr/>
          <p:nvPr/>
        </p:nvSpPr>
        <p:spPr>
          <a:xfrm>
            <a:off x="7543724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智能</a:t>
            </a: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抉择</a:t>
            </a:r>
          </a:p>
        </p:txBody>
      </p:sp>
      <p:sp>
        <p:nvSpPr>
          <p:cNvPr id="35" name="矩形 34"/>
          <p:cNvSpPr/>
          <p:nvPr/>
        </p:nvSpPr>
        <p:spPr>
          <a:xfrm>
            <a:off x="9749352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生态协同</a:t>
            </a:r>
          </a:p>
        </p:txBody>
      </p:sp>
      <p:sp>
        <p:nvSpPr>
          <p:cNvPr id="4" name="矩形 3"/>
          <p:cNvSpPr/>
          <p:nvPr/>
        </p:nvSpPr>
        <p:spPr>
          <a:xfrm>
            <a:off x="521925" y="2904745"/>
            <a:ext cx="1828156" cy="138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完成ERP系统升级和物联网设备部署，实现90%生产数据实时采集，为智能化打下坚实基础。</a:t>
            </a:r>
          </a:p>
        </p:txBody>
      </p:sp>
      <p:sp>
        <p:nvSpPr>
          <p:cNvPr id="7" name="矩形 6"/>
          <p:cNvSpPr/>
          <p:nvPr/>
        </p:nvSpPr>
        <p:spPr>
          <a:xfrm>
            <a:off x="494822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信息化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覆盖率</a:t>
            </a:r>
          </a:p>
        </p:txBody>
      </p:sp>
      <p:sp>
        <p:nvSpPr>
          <p:cNvPr id="36" name="矩形 35"/>
          <p:cNvSpPr/>
          <p:nvPr/>
        </p:nvSpPr>
        <p:spPr>
          <a:xfrm>
            <a:off x="1484866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85%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1339125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24487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基础升级</a:t>
            </a:r>
          </a:p>
        </p:txBody>
      </p:sp>
      <p:sp>
        <p:nvSpPr>
          <p:cNvPr id="39" name="矩形: 圆角 38"/>
          <p:cNvSpPr/>
          <p:nvPr/>
        </p:nvSpPr>
        <p:spPr>
          <a:xfrm>
            <a:off x="1466611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设备物联</a:t>
            </a:r>
          </a:p>
        </p:txBody>
      </p:sp>
      <p:sp>
        <p:nvSpPr>
          <p:cNvPr id="42" name="矩形: 圆角 41"/>
          <p:cNvSpPr/>
          <p:nvPr/>
        </p:nvSpPr>
        <p:spPr>
          <a:xfrm>
            <a:off x="624487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数据采集</a:t>
            </a:r>
          </a:p>
        </p:txBody>
      </p:sp>
      <p:sp>
        <p:nvSpPr>
          <p:cNvPr id="43" name="矩形: 圆角 42"/>
          <p:cNvSpPr/>
          <p:nvPr/>
        </p:nvSpPr>
        <p:spPr>
          <a:xfrm>
            <a:off x="1466611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标准统一</a:t>
            </a:r>
          </a:p>
        </p:txBody>
      </p:sp>
      <p:sp>
        <p:nvSpPr>
          <p:cNvPr id="50" name="椭圆 49"/>
          <p:cNvSpPr/>
          <p:nvPr/>
        </p:nvSpPr>
        <p:spPr>
          <a:xfrm>
            <a:off x="3495845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L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714932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S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912248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Z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0109566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S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760017" y="2904745"/>
            <a:ext cx="1828156" cy="138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通过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RPA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机器人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自动化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15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个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高频流程，审批时效从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3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天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缩短至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2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小时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，人力成本降低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20%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。</a:t>
            </a:r>
            <a:endParaRPr lang="zh-CN" altLang="en-US" sz="1400" dirty="0">
              <a:latin typeface="+mn-ea"/>
              <a:cs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732914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流程自</a:t>
            </a:r>
            <a:endParaRPr lang="en-US" altLang="zh-CN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动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化率</a:t>
            </a:r>
          </a:p>
        </p:txBody>
      </p:sp>
      <p:sp>
        <p:nvSpPr>
          <p:cNvPr id="90" name="矩形 89"/>
          <p:cNvSpPr/>
          <p:nvPr/>
        </p:nvSpPr>
        <p:spPr>
          <a:xfrm>
            <a:off x="3722958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65%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91" name="等腰三角形 90"/>
          <p:cNvSpPr/>
          <p:nvPr/>
        </p:nvSpPr>
        <p:spPr>
          <a:xfrm rot="5400000">
            <a:off x="3577217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2862579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自动化</a:t>
            </a:r>
          </a:p>
        </p:txBody>
      </p:sp>
      <p:sp>
        <p:nvSpPr>
          <p:cNvPr id="93" name="矩形: 圆角 92"/>
          <p:cNvSpPr/>
          <p:nvPr/>
        </p:nvSpPr>
        <p:spPr>
          <a:xfrm>
            <a:off x="3704703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标准化</a:t>
            </a:r>
          </a:p>
        </p:txBody>
      </p:sp>
      <p:sp>
        <p:nvSpPr>
          <p:cNvPr id="94" name="矩形: 圆角 93"/>
          <p:cNvSpPr/>
          <p:nvPr/>
        </p:nvSpPr>
        <p:spPr>
          <a:xfrm>
            <a:off x="2862579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可视化</a:t>
            </a:r>
          </a:p>
        </p:txBody>
      </p:sp>
      <p:sp>
        <p:nvSpPr>
          <p:cNvPr id="95" name="矩形: 圆角 94"/>
          <p:cNvSpPr/>
          <p:nvPr/>
        </p:nvSpPr>
        <p:spPr>
          <a:xfrm>
            <a:off x="3704703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系统化</a:t>
            </a:r>
          </a:p>
        </p:txBody>
      </p:sp>
      <p:sp>
        <p:nvSpPr>
          <p:cNvPr id="97" name="矩形 96"/>
          <p:cNvSpPr/>
          <p:nvPr/>
        </p:nvSpPr>
        <p:spPr>
          <a:xfrm>
            <a:off x="4998109" y="2904745"/>
            <a:ext cx="1828156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搭建智能分析平台，整合12个业务系统数据，实现每日自动生成运营洞察报告。</a:t>
            </a:r>
          </a:p>
        </p:txBody>
      </p:sp>
      <p:sp>
        <p:nvSpPr>
          <p:cNvPr id="98" name="矩形 97"/>
          <p:cNvSpPr/>
          <p:nvPr/>
        </p:nvSpPr>
        <p:spPr>
          <a:xfrm>
            <a:off x="4971006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数据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利用率</a:t>
            </a:r>
          </a:p>
        </p:txBody>
      </p:sp>
      <p:sp>
        <p:nvSpPr>
          <p:cNvPr id="100" name="矩形 99"/>
          <p:cNvSpPr/>
          <p:nvPr/>
        </p:nvSpPr>
        <p:spPr>
          <a:xfrm>
            <a:off x="5961050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78%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01" name="等腰三角形 100"/>
          <p:cNvSpPr/>
          <p:nvPr/>
        </p:nvSpPr>
        <p:spPr>
          <a:xfrm rot="5400000">
            <a:off x="5815309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510067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整合</a:t>
            </a:r>
          </a:p>
        </p:txBody>
      </p:sp>
      <p:sp>
        <p:nvSpPr>
          <p:cNvPr id="110" name="矩形 109"/>
          <p:cNvSpPr/>
          <p:nvPr/>
        </p:nvSpPr>
        <p:spPr>
          <a:xfrm>
            <a:off x="7236201" y="2904745"/>
            <a:ext cx="1828156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引入AI预测模型，预测市场需求，库存周转率提升40%，缺货率下降至3%。</a:t>
            </a:r>
          </a:p>
        </p:txBody>
      </p:sp>
      <p:sp>
        <p:nvSpPr>
          <p:cNvPr id="111" name="矩形 110"/>
          <p:cNvSpPr/>
          <p:nvPr/>
        </p:nvSpPr>
        <p:spPr>
          <a:xfrm>
            <a:off x="7209098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智能决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策占比</a:t>
            </a:r>
          </a:p>
        </p:txBody>
      </p:sp>
      <p:sp>
        <p:nvSpPr>
          <p:cNvPr id="112" name="矩形 111"/>
          <p:cNvSpPr/>
          <p:nvPr/>
        </p:nvSpPr>
        <p:spPr>
          <a:xfrm>
            <a:off x="8199142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55%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13" name="等腰三角形 112"/>
          <p:cNvSpPr/>
          <p:nvPr/>
        </p:nvSpPr>
        <p:spPr>
          <a:xfrm rot="5400000">
            <a:off x="8053401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474292" y="2904745"/>
            <a:ext cx="1828156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连接上下游50家核心合作伙伴，构建产业云平台，订单协同效率提升60%。</a:t>
            </a:r>
          </a:p>
        </p:txBody>
      </p:sp>
      <p:sp>
        <p:nvSpPr>
          <p:cNvPr id="120" name="矩形 119"/>
          <p:cNvSpPr/>
          <p:nvPr/>
        </p:nvSpPr>
        <p:spPr>
          <a:xfrm>
            <a:off x="9447189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生态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协同率</a:t>
            </a:r>
          </a:p>
        </p:txBody>
      </p:sp>
      <p:sp>
        <p:nvSpPr>
          <p:cNvPr id="121" name="矩形 120"/>
          <p:cNvSpPr/>
          <p:nvPr/>
        </p:nvSpPr>
        <p:spPr>
          <a:xfrm>
            <a:off x="10437233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22" name="等腰三角形 121"/>
          <p:cNvSpPr/>
          <p:nvPr/>
        </p:nvSpPr>
        <p:spPr>
          <a:xfrm rot="5400000">
            <a:off x="10291492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562736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治理</a:t>
            </a:r>
          </a:p>
        </p:txBody>
      </p:sp>
      <p:sp>
        <p:nvSpPr>
          <p:cNvPr id="130" name="矩形: 圆角 129"/>
          <p:cNvSpPr/>
          <p:nvPr/>
        </p:nvSpPr>
        <p:spPr>
          <a:xfrm>
            <a:off x="615405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分析</a:t>
            </a:r>
          </a:p>
        </p:txBody>
      </p:sp>
      <p:sp>
        <p:nvSpPr>
          <p:cNvPr id="134" name="矩形: 圆角 133"/>
          <p:cNvSpPr/>
          <p:nvPr/>
        </p:nvSpPr>
        <p:spPr>
          <a:xfrm>
            <a:off x="5368570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应用</a:t>
            </a:r>
          </a:p>
        </p:txBody>
      </p:sp>
      <p:sp>
        <p:nvSpPr>
          <p:cNvPr id="135" name="矩形: 圆角 134"/>
          <p:cNvSpPr/>
          <p:nvPr/>
        </p:nvSpPr>
        <p:spPr>
          <a:xfrm>
            <a:off x="5904864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安全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738257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算法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790926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实施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843595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便捷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7906240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闭环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962186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开放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1014855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共生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1067524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敏捷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10145529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信任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89072" y="200526"/>
            <a:ext cx="7542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智能供应链升级与数字化营销转型</a:t>
            </a:r>
          </a:p>
        </p:txBody>
      </p:sp>
      <p:cxnSp>
        <p:nvCxnSpPr>
          <p:cNvPr id="2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顶角 37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55600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2287766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4219932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6152097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8084263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10016429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7119" y="5739631"/>
            <a:ext cx="1584232" cy="559570"/>
            <a:chOff x="499909" y="5739631"/>
            <a:chExt cx="1584232" cy="559570"/>
          </a:xfrm>
        </p:grpSpPr>
        <p:sp>
          <p:nvSpPr>
            <p:cNvPr id="14" name="文本框 13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库存周转</a:t>
              </a:r>
              <a:endParaRPr lang="en-US" altLang="zh-CN" sz="1200" b="0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效率提升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8" name="梯形 17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38%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367292" y="5739631"/>
            <a:ext cx="1620008" cy="559570"/>
            <a:chOff x="464133" y="5739631"/>
            <a:chExt cx="1620008" cy="559570"/>
          </a:xfrm>
        </p:grpSpPr>
        <p:sp>
          <p:nvSpPr>
            <p:cNvPr id="29" name="文本框 28"/>
            <p:cNvSpPr txBox="1"/>
            <p:nvPr/>
          </p:nvSpPr>
          <p:spPr>
            <a:xfrm>
              <a:off x="464133" y="5771752"/>
              <a:ext cx="968782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供应链协同时效缩短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30" name="梯形 29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60</a:t>
              </a: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339017" y="5739631"/>
            <a:ext cx="1584232" cy="559570"/>
            <a:chOff x="499909" y="5739631"/>
            <a:chExt cx="1584232" cy="559570"/>
          </a:xfrm>
        </p:grpSpPr>
        <p:sp>
          <p:nvSpPr>
            <p:cNvPr id="33" name="文本框 32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营销转化率增长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39" name="梯形 38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35%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274966" y="5739631"/>
            <a:ext cx="1584232" cy="559570"/>
            <a:chOff x="499909" y="5739631"/>
            <a:chExt cx="1584232" cy="559570"/>
          </a:xfrm>
        </p:grpSpPr>
        <p:sp>
          <p:nvSpPr>
            <p:cNvPr id="42" name="文本框 41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货克</a:t>
              </a: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成本下降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43" name="梯形 42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40</a:t>
              </a: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10915" y="5739631"/>
            <a:ext cx="1584232" cy="559570"/>
            <a:chOff x="499909" y="5739631"/>
            <a:chExt cx="1584232" cy="559570"/>
          </a:xfrm>
        </p:grpSpPr>
        <p:sp>
          <p:nvSpPr>
            <p:cNvPr id="55" name="文本框 54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会员再够突破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56" name="梯形 55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5</a:t>
              </a: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8%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0146863" y="5739631"/>
            <a:ext cx="1584232" cy="559570"/>
            <a:chOff x="499909" y="5739631"/>
            <a:chExt cx="1584232" cy="559570"/>
          </a:xfrm>
        </p:grpSpPr>
        <p:sp>
          <p:nvSpPr>
            <p:cNvPr id="59" name="文本框 58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库存周转</a:t>
              </a:r>
              <a:endParaRPr lang="en-US" altLang="zh-CN" sz="1200" b="0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效率提升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60" name="梯形 59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38%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0" y="1140360"/>
            <a:ext cx="6096000" cy="4360340"/>
            <a:chOff x="0" y="1140360"/>
            <a:chExt cx="6096000" cy="4360340"/>
          </a:xfrm>
        </p:grpSpPr>
        <p:sp>
          <p:nvSpPr>
            <p:cNvPr id="44" name="任意多边形: 形状 43"/>
            <p:cNvSpPr/>
            <p:nvPr/>
          </p:nvSpPr>
          <p:spPr>
            <a:xfrm>
              <a:off x="0" y="1140360"/>
              <a:ext cx="6096000" cy="4360340"/>
            </a:xfrm>
            <a:custGeom>
              <a:avLst/>
              <a:gdLst>
                <a:gd name="connsiteX0" fmla="*/ 0 w 6096000"/>
                <a:gd name="connsiteY0" fmla="*/ 0 h 4360340"/>
                <a:gd name="connsiteX1" fmla="*/ 3915830 w 6096000"/>
                <a:gd name="connsiteY1" fmla="*/ 0 h 4360340"/>
                <a:gd name="connsiteX2" fmla="*/ 6096000 w 6096000"/>
                <a:gd name="connsiteY2" fmla="*/ 2180170 h 4360340"/>
                <a:gd name="connsiteX3" fmla="*/ 3915830 w 6096000"/>
                <a:gd name="connsiteY3" fmla="*/ 4360340 h 4360340"/>
                <a:gd name="connsiteX4" fmla="*/ 0 w 6096000"/>
                <a:gd name="connsiteY4" fmla="*/ 4360340 h 436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0" h="4360340">
                  <a:moveTo>
                    <a:pt x="0" y="0"/>
                  </a:moveTo>
                  <a:lnTo>
                    <a:pt x="3915830" y="0"/>
                  </a:lnTo>
                  <a:cubicBezTo>
                    <a:pt x="5119905" y="0"/>
                    <a:pt x="6096000" y="976095"/>
                    <a:pt x="6096000" y="2180170"/>
                  </a:cubicBezTo>
                  <a:cubicBezTo>
                    <a:pt x="6096000" y="3384245"/>
                    <a:pt x="5119905" y="4360340"/>
                    <a:pt x="3915830" y="4360340"/>
                  </a:cubicBezTo>
                  <a:lnTo>
                    <a:pt x="0" y="436034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9648863">
              <a:off x="5426749" y="4050355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cs typeface="Roboto" panose="02000000000000000000" charset="0"/>
                </a:rPr>
                <a:t>高效</a:t>
              </a:r>
            </a:p>
          </p:txBody>
        </p:sp>
        <p:sp>
          <p:nvSpPr>
            <p:cNvPr id="46" name="椭圆 45"/>
            <p:cNvSpPr/>
            <p:nvPr/>
          </p:nvSpPr>
          <p:spPr>
            <a:xfrm rot="19288268">
              <a:off x="5015338" y="4558377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cs typeface="Roboto" panose="02000000000000000000" charset="0"/>
                </a:rPr>
                <a:t>高效</a:t>
              </a:r>
            </a:p>
          </p:txBody>
        </p:sp>
        <p:sp>
          <p:nvSpPr>
            <p:cNvPr id="47" name="椭圆 46"/>
            <p:cNvSpPr/>
            <p:nvPr/>
          </p:nvSpPr>
          <p:spPr>
            <a:xfrm>
              <a:off x="4425914" y="4949753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cs typeface="Roboto" panose="02000000000000000000" charset="0"/>
                </a:rPr>
                <a:t>高效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1122664" y="1587909"/>
              <a:ext cx="359585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6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智能供应链升级</a:t>
              </a:r>
              <a:endParaRPr lang="zh-CN" altLang="en-US" sz="3200" b="1" i="0" spc="60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1424870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2489197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83" name="矩形: 圆角 82"/>
            <p:cNvSpPr/>
            <p:nvPr/>
          </p:nvSpPr>
          <p:spPr>
            <a:xfrm>
              <a:off x="361298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84" name="矩形: 圆角 83"/>
            <p:cNvSpPr/>
            <p:nvPr/>
          </p:nvSpPr>
          <p:spPr>
            <a:xfrm>
              <a:off x="369487" y="1543050"/>
              <a:ext cx="640283" cy="640283"/>
            </a:xfrm>
            <a:prstGeom prst="roundRect">
              <a:avLst>
                <a:gd name="adj" fmla="val 6386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85" name="Google Shape;5700;p77"/>
            <p:cNvGrpSpPr/>
            <p:nvPr/>
          </p:nvGrpSpPr>
          <p:grpSpPr>
            <a:xfrm>
              <a:off x="476696" y="1679325"/>
              <a:ext cx="425864" cy="367732"/>
              <a:chOff x="-42651700" y="3217825"/>
              <a:chExt cx="367600" cy="317425"/>
            </a:xfrm>
            <a:solidFill>
              <a:schemeClr val="accent1"/>
            </a:solidFill>
          </p:grpSpPr>
          <p:sp>
            <p:nvSpPr>
              <p:cNvPr id="86" name="Google Shape;5701;p77"/>
              <p:cNvSpPr/>
              <p:nvPr/>
            </p:nvSpPr>
            <p:spPr>
              <a:xfrm>
                <a:off x="-42651700" y="3239075"/>
                <a:ext cx="367600" cy="296175"/>
              </a:xfrm>
              <a:custGeom>
                <a:avLst/>
                <a:gdLst/>
                <a:ahLst/>
                <a:cxnLst/>
                <a:rect l="l" t="t" r="r" b="b"/>
                <a:pathLst>
                  <a:path w="14704" h="11847" extrusionOk="0">
                    <a:moveTo>
                      <a:pt x="7370" y="797"/>
                    </a:moveTo>
                    <a:cubicBezTo>
                      <a:pt x="8536" y="797"/>
                      <a:pt x="9694" y="1246"/>
                      <a:pt x="10576" y="2143"/>
                    </a:cubicBezTo>
                    <a:cubicBezTo>
                      <a:pt x="12340" y="3908"/>
                      <a:pt x="12340" y="6775"/>
                      <a:pt x="10576" y="8539"/>
                    </a:cubicBezTo>
                    <a:cubicBezTo>
                      <a:pt x="9757" y="9390"/>
                      <a:pt x="8623" y="9894"/>
                      <a:pt x="7363" y="9894"/>
                    </a:cubicBezTo>
                    <a:cubicBezTo>
                      <a:pt x="6102" y="9894"/>
                      <a:pt x="4937" y="9358"/>
                      <a:pt x="4118" y="8539"/>
                    </a:cubicBezTo>
                    <a:cubicBezTo>
                      <a:pt x="2353" y="6775"/>
                      <a:pt x="2353" y="3908"/>
                      <a:pt x="4118" y="2143"/>
                    </a:cubicBezTo>
                    <a:cubicBezTo>
                      <a:pt x="5031" y="1246"/>
                      <a:pt x="6205" y="797"/>
                      <a:pt x="7370" y="797"/>
                    </a:cubicBezTo>
                    <a:close/>
                    <a:moveTo>
                      <a:pt x="7326" y="1"/>
                    </a:moveTo>
                    <a:cubicBezTo>
                      <a:pt x="2091" y="1"/>
                      <a:pt x="0" y="6750"/>
                      <a:pt x="4275" y="9768"/>
                    </a:cubicBezTo>
                    <a:lnTo>
                      <a:pt x="3424" y="11280"/>
                    </a:lnTo>
                    <a:cubicBezTo>
                      <a:pt x="3298" y="11532"/>
                      <a:pt x="3487" y="11847"/>
                      <a:pt x="3771" y="11847"/>
                    </a:cubicBezTo>
                    <a:cubicBezTo>
                      <a:pt x="3929" y="11847"/>
                      <a:pt x="4086" y="11784"/>
                      <a:pt x="4118" y="11626"/>
                    </a:cubicBezTo>
                    <a:lnTo>
                      <a:pt x="5000" y="10209"/>
                    </a:lnTo>
                    <a:cubicBezTo>
                      <a:pt x="5740" y="10571"/>
                      <a:pt x="6543" y="10752"/>
                      <a:pt x="7351" y="10752"/>
                    </a:cubicBezTo>
                    <a:cubicBezTo>
                      <a:pt x="8158" y="10752"/>
                      <a:pt x="8969" y="10571"/>
                      <a:pt x="9725" y="10209"/>
                    </a:cubicBezTo>
                    <a:lnTo>
                      <a:pt x="10576" y="11626"/>
                    </a:lnTo>
                    <a:cubicBezTo>
                      <a:pt x="10671" y="11784"/>
                      <a:pt x="10828" y="11847"/>
                      <a:pt x="10923" y="11847"/>
                    </a:cubicBezTo>
                    <a:cubicBezTo>
                      <a:pt x="11238" y="11847"/>
                      <a:pt x="11458" y="11532"/>
                      <a:pt x="11301" y="11280"/>
                    </a:cubicBezTo>
                    <a:lnTo>
                      <a:pt x="10419" y="9768"/>
                    </a:lnTo>
                    <a:cubicBezTo>
                      <a:pt x="14703" y="6775"/>
                      <a:pt x="12592" y="1"/>
                      <a:pt x="7363" y="1"/>
                    </a:cubicBezTo>
                    <a:cubicBezTo>
                      <a:pt x="7350" y="1"/>
                      <a:pt x="7338" y="1"/>
                      <a:pt x="732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7" name="Google Shape;5702;p77"/>
              <p:cNvSpPr/>
              <p:nvPr/>
            </p:nvSpPr>
            <p:spPr>
              <a:xfrm>
                <a:off x="-42419600" y="3217825"/>
                <a:ext cx="106350" cy="106350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4" extrusionOk="0">
                    <a:moveTo>
                      <a:pt x="1355" y="0"/>
                    </a:moveTo>
                    <a:cubicBezTo>
                      <a:pt x="882" y="0"/>
                      <a:pt x="410" y="95"/>
                      <a:pt x="0" y="315"/>
                    </a:cubicBezTo>
                    <a:cubicBezTo>
                      <a:pt x="1891" y="946"/>
                      <a:pt x="3340" y="2395"/>
                      <a:pt x="3938" y="4254"/>
                    </a:cubicBezTo>
                    <a:cubicBezTo>
                      <a:pt x="4128" y="3844"/>
                      <a:pt x="4254" y="3371"/>
                      <a:pt x="4254" y="2899"/>
                    </a:cubicBezTo>
                    <a:cubicBezTo>
                      <a:pt x="4254" y="1292"/>
                      <a:pt x="2962" y="0"/>
                      <a:pt x="13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8" name="Google Shape;5703;p77"/>
              <p:cNvSpPr/>
              <p:nvPr/>
            </p:nvSpPr>
            <p:spPr>
              <a:xfrm>
                <a:off x="-42623600" y="3218600"/>
                <a:ext cx="106350" cy="106375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5" extrusionOk="0">
                    <a:moveTo>
                      <a:pt x="2931" y="1"/>
                    </a:moveTo>
                    <a:cubicBezTo>
                      <a:pt x="1292" y="1"/>
                      <a:pt x="1" y="1293"/>
                      <a:pt x="1" y="2899"/>
                    </a:cubicBezTo>
                    <a:cubicBezTo>
                      <a:pt x="1" y="3372"/>
                      <a:pt x="127" y="3845"/>
                      <a:pt x="316" y="4254"/>
                    </a:cubicBezTo>
                    <a:cubicBezTo>
                      <a:pt x="977" y="2364"/>
                      <a:pt x="2426" y="915"/>
                      <a:pt x="4254" y="316"/>
                    </a:cubicBezTo>
                    <a:cubicBezTo>
                      <a:pt x="3876" y="127"/>
                      <a:pt x="3403" y="1"/>
                      <a:pt x="29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9" name="Google Shape;5704;p77"/>
              <p:cNvSpPr/>
              <p:nvPr/>
            </p:nvSpPr>
            <p:spPr>
              <a:xfrm>
                <a:off x="-42561375" y="3279250"/>
                <a:ext cx="185900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7436" h="7468" extrusionOk="0">
                    <a:moveTo>
                      <a:pt x="3781" y="1671"/>
                    </a:moveTo>
                    <a:cubicBezTo>
                      <a:pt x="4033" y="1671"/>
                      <a:pt x="4191" y="1860"/>
                      <a:pt x="4191" y="2112"/>
                    </a:cubicBezTo>
                    <a:lnTo>
                      <a:pt x="4191" y="3340"/>
                    </a:lnTo>
                    <a:lnTo>
                      <a:pt x="5388" y="3340"/>
                    </a:lnTo>
                    <a:cubicBezTo>
                      <a:pt x="5640" y="3340"/>
                      <a:pt x="5829" y="3529"/>
                      <a:pt x="5829" y="3750"/>
                    </a:cubicBezTo>
                    <a:cubicBezTo>
                      <a:pt x="5829" y="4002"/>
                      <a:pt x="5640" y="4128"/>
                      <a:pt x="5388" y="4128"/>
                    </a:cubicBezTo>
                    <a:lnTo>
                      <a:pt x="3750" y="4128"/>
                    </a:lnTo>
                    <a:cubicBezTo>
                      <a:pt x="3498" y="4128"/>
                      <a:pt x="3308" y="3939"/>
                      <a:pt x="3308" y="3750"/>
                    </a:cubicBezTo>
                    <a:lnTo>
                      <a:pt x="3308" y="2112"/>
                    </a:lnTo>
                    <a:lnTo>
                      <a:pt x="3340" y="2112"/>
                    </a:lnTo>
                    <a:cubicBezTo>
                      <a:pt x="3340" y="1860"/>
                      <a:pt x="3529" y="1671"/>
                      <a:pt x="3781" y="1671"/>
                    </a:cubicBezTo>
                    <a:close/>
                    <a:moveTo>
                      <a:pt x="3750" y="1"/>
                    </a:moveTo>
                    <a:cubicBezTo>
                      <a:pt x="1702" y="1"/>
                      <a:pt x="32" y="1671"/>
                      <a:pt x="0" y="3750"/>
                    </a:cubicBezTo>
                    <a:cubicBezTo>
                      <a:pt x="32" y="5798"/>
                      <a:pt x="1702" y="7467"/>
                      <a:pt x="3750" y="7467"/>
                    </a:cubicBezTo>
                    <a:cubicBezTo>
                      <a:pt x="5797" y="7467"/>
                      <a:pt x="7436" y="5798"/>
                      <a:pt x="7436" y="3750"/>
                    </a:cubicBezTo>
                    <a:cubicBezTo>
                      <a:pt x="7436" y="1702"/>
                      <a:pt x="5797" y="64"/>
                      <a:pt x="375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442673" y="2230631"/>
              <a:ext cx="4786551" cy="739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通过部署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AI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需求预测系统，将库存周转率从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45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天压缩至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28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天，实现与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50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家核心供应商的实时数据互通，物流成本降低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18%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。建立动态安全库存模型，缺货率下降至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3%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442673" y="3100551"/>
              <a:ext cx="4786551" cy="739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通过部署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AI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需求预测系统，将库存周转率从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45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天压缩至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28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天，实现与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50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家核心供应商的实时数据互通，物流成本降低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18%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。建立动态安全库存模型，缺货率下降至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3%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82160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智能</a:t>
              </a:r>
              <a:endParaRPr lang="en-US" altLang="zh-CN" b="0" i="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endParaRPr>
            </a:p>
            <a:p>
              <a:pPr algn="ctr"/>
              <a:r>
                <a:rPr lang="zh-CN" altLang="en-US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预测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445732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b="0" i="0">
                  <a:solidFill>
                    <a:schemeClr val="accent1"/>
                  </a:solidFill>
                  <a:effectLst/>
                  <a:latin typeface="+mj-ea"/>
                  <a:ea typeface="+mj-ea"/>
                </a:defRPr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实时</a:t>
              </a:r>
              <a:endParaRPr lang="en-US" altLang="zh-CN" dirty="0">
                <a:cs typeface="Roboto" panose="02000000000000000000" charset="0"/>
              </a:endParaRPr>
            </a:p>
            <a:p>
              <a:r>
                <a:rPr lang="zh-CN" altLang="en-US" dirty="0">
                  <a:cs typeface="Roboto" panose="02000000000000000000" charset="0"/>
                </a:rPr>
                <a:t>协同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501966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b="0" i="0">
                  <a:solidFill>
                    <a:schemeClr val="accent1"/>
                  </a:solidFill>
                  <a:effectLst/>
                  <a:latin typeface="+mj-ea"/>
                  <a:ea typeface="+mj-ea"/>
                </a:defRPr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弹性</a:t>
              </a:r>
              <a:endParaRPr lang="en-US" altLang="zh-CN" dirty="0">
                <a:cs typeface="Roboto" panose="02000000000000000000" charset="0"/>
              </a:endParaRPr>
            </a:p>
            <a:p>
              <a:r>
                <a:rPr lang="zh-CN" altLang="en-US" dirty="0">
                  <a:cs typeface="Roboto" panose="02000000000000000000" charset="0"/>
                </a:rPr>
                <a:t>库存</a:t>
              </a: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382160" y="2302980"/>
              <a:ext cx="0" cy="575951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382160" y="3191923"/>
              <a:ext cx="0" cy="575951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509250" y="3043458"/>
              <a:ext cx="451995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任意多边形: 形状 15"/>
          <p:cNvSpPr/>
          <p:nvPr/>
        </p:nvSpPr>
        <p:spPr>
          <a:xfrm flipH="1">
            <a:off x="6096434" y="1140360"/>
            <a:ext cx="6096000" cy="4360340"/>
          </a:xfrm>
          <a:custGeom>
            <a:avLst/>
            <a:gdLst>
              <a:gd name="connsiteX0" fmla="*/ 0 w 6096000"/>
              <a:gd name="connsiteY0" fmla="*/ 0 h 4360340"/>
              <a:gd name="connsiteX1" fmla="*/ 3915830 w 6096000"/>
              <a:gd name="connsiteY1" fmla="*/ 0 h 4360340"/>
              <a:gd name="connsiteX2" fmla="*/ 6096000 w 6096000"/>
              <a:gd name="connsiteY2" fmla="*/ 2180170 h 4360340"/>
              <a:gd name="connsiteX3" fmla="*/ 3915830 w 6096000"/>
              <a:gd name="connsiteY3" fmla="*/ 4360340 h 4360340"/>
              <a:gd name="connsiteX4" fmla="*/ 0 w 6096000"/>
              <a:gd name="connsiteY4" fmla="*/ 4360340 h 43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4360340">
                <a:moveTo>
                  <a:pt x="0" y="0"/>
                </a:moveTo>
                <a:lnTo>
                  <a:pt x="3915830" y="0"/>
                </a:lnTo>
                <a:cubicBezTo>
                  <a:pt x="5119905" y="0"/>
                  <a:pt x="6096000" y="976095"/>
                  <a:pt x="6096000" y="2180170"/>
                </a:cubicBezTo>
                <a:cubicBezTo>
                  <a:pt x="6096000" y="3384245"/>
                  <a:pt x="5119905" y="4360340"/>
                  <a:pt x="3915830" y="4360340"/>
                </a:cubicBezTo>
                <a:lnTo>
                  <a:pt x="0" y="436034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 rot="1951137" flipH="1">
            <a:off x="6346197" y="4050355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cs typeface="Roboto" panose="02000000000000000000" charset="0"/>
              </a:rPr>
              <a:t>高效</a:t>
            </a:r>
          </a:p>
        </p:txBody>
      </p:sp>
      <p:sp>
        <p:nvSpPr>
          <p:cNvPr id="20" name="椭圆 19"/>
          <p:cNvSpPr/>
          <p:nvPr/>
        </p:nvSpPr>
        <p:spPr>
          <a:xfrm rot="2311732" flipH="1">
            <a:off x="6757608" y="4558377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cs typeface="Roboto" panose="02000000000000000000" charset="0"/>
              </a:rPr>
              <a:t>高效</a:t>
            </a:r>
          </a:p>
        </p:txBody>
      </p:sp>
      <p:sp>
        <p:nvSpPr>
          <p:cNvPr id="21" name="椭圆 20"/>
          <p:cNvSpPr/>
          <p:nvPr/>
        </p:nvSpPr>
        <p:spPr>
          <a:xfrm flipH="1">
            <a:off x="7347032" y="4949753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cs typeface="Roboto" panose="02000000000000000000" charset="0"/>
              </a:rPr>
              <a:t>高效</a:t>
            </a:r>
          </a:p>
        </p:txBody>
      </p:sp>
      <p:sp>
        <p:nvSpPr>
          <p:cNvPr id="22" name="矩形 21"/>
          <p:cNvSpPr/>
          <p:nvPr/>
        </p:nvSpPr>
        <p:spPr>
          <a:xfrm flipH="1">
            <a:off x="7473914" y="1587909"/>
            <a:ext cx="3595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数字化营销转型</a:t>
            </a:r>
            <a:endParaRPr lang="zh-CN" altLang="en-US" sz="3200" b="1" i="0" spc="60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 flipH="1">
            <a:off x="9832571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 flipH="1">
            <a:off x="8768244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10896143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 flipH="1">
            <a:off x="11182664" y="1543050"/>
            <a:ext cx="640283" cy="640283"/>
          </a:xfrm>
          <a:prstGeom prst="roundRect">
            <a:avLst>
              <a:gd name="adj" fmla="val 6386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64" name="Google Shape;5700;p77"/>
          <p:cNvGrpSpPr/>
          <p:nvPr/>
        </p:nvGrpSpPr>
        <p:grpSpPr>
          <a:xfrm flipH="1">
            <a:off x="11289874" y="1679325"/>
            <a:ext cx="425864" cy="367732"/>
            <a:chOff x="-42651700" y="3217825"/>
            <a:chExt cx="367600" cy="317425"/>
          </a:xfrm>
          <a:solidFill>
            <a:schemeClr val="tx2"/>
          </a:solidFill>
        </p:grpSpPr>
        <p:sp>
          <p:nvSpPr>
            <p:cNvPr id="99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0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1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2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66" name="矩形 65"/>
          <p:cNvSpPr/>
          <p:nvPr/>
        </p:nvSpPr>
        <p:spPr>
          <a:xfrm flipH="1">
            <a:off x="6963210" y="2230631"/>
            <a:ext cx="4786551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构建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CDP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客户数据平台，整合线上线下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大渠道数据，营销转化率提升至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。开展社交裂变活动，或克成本降低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40%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，会员再够绿达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58%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72" name="矩形 71"/>
          <p:cNvSpPr/>
          <p:nvPr/>
        </p:nvSpPr>
        <p:spPr>
          <a:xfrm flipH="1">
            <a:off x="6963210" y="3100551"/>
            <a:ext cx="4786551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构建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CDP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客户数据平台，整合线上线下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大渠道数据，准确营销转化提升至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。开展社交列便活动，活可成本降低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40%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，会员再够绿达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58%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77" name="文本框 76"/>
          <p:cNvSpPr txBox="1"/>
          <p:nvPr/>
        </p:nvSpPr>
        <p:spPr>
          <a:xfrm flipH="1">
            <a:off x="10900820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 dirty="0">
                <a:solidFill>
                  <a:schemeClr val="tx2"/>
                </a:solidFill>
                <a:effectLst/>
                <a:latin typeface="+mj-ea"/>
                <a:ea typeface="+mj-ea"/>
                <a:cs typeface="Roboto" panose="02000000000000000000" charset="0"/>
              </a:rPr>
              <a:t>社交</a:t>
            </a:r>
            <a:endParaRPr lang="en-US" altLang="zh-CN" b="0" i="0" dirty="0">
              <a:solidFill>
                <a:schemeClr val="tx2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0" i="0" dirty="0">
                <a:solidFill>
                  <a:schemeClr val="tx2"/>
                </a:solidFill>
                <a:effectLst/>
                <a:latin typeface="+mj-ea"/>
                <a:ea typeface="+mj-ea"/>
                <a:cs typeface="Roboto" panose="02000000000000000000" charset="0"/>
              </a:rPr>
              <a:t>裂变</a:t>
            </a:r>
            <a:endParaRPr lang="zh-CN" altLang="en-US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 flipH="1">
            <a:off x="9837248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精准</a:t>
            </a:r>
            <a:endParaRPr lang="en-US" altLang="zh-CN" dirty="0">
              <a:solidFill>
                <a:schemeClr val="tx2"/>
              </a:solidFill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触达</a:t>
            </a:r>
          </a:p>
        </p:txBody>
      </p:sp>
      <p:sp>
        <p:nvSpPr>
          <p:cNvPr id="95" name="文本框 94"/>
          <p:cNvSpPr txBox="1"/>
          <p:nvPr/>
        </p:nvSpPr>
        <p:spPr>
          <a:xfrm flipH="1">
            <a:off x="8781014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数据</a:t>
            </a:r>
            <a:endParaRPr lang="en-US" altLang="zh-CN" dirty="0">
              <a:solidFill>
                <a:schemeClr val="tx2"/>
              </a:solidFill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融合</a:t>
            </a:r>
          </a:p>
        </p:txBody>
      </p:sp>
      <p:cxnSp>
        <p:nvCxnSpPr>
          <p:cNvPr id="96" name="直接连接符 95"/>
          <p:cNvCxnSpPr/>
          <p:nvPr/>
        </p:nvCxnSpPr>
        <p:spPr>
          <a:xfrm flipH="1">
            <a:off x="11810274" y="2302980"/>
            <a:ext cx="0" cy="57595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H="1">
            <a:off x="11810274" y="3191923"/>
            <a:ext cx="0" cy="57595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flipH="1">
            <a:off x="7163234" y="3043458"/>
            <a:ext cx="451995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五边形 27"/>
          <p:cNvSpPr/>
          <p:nvPr/>
        </p:nvSpPr>
        <p:spPr>
          <a:xfrm>
            <a:off x="3571387" y="1048892"/>
            <a:ext cx="5049226" cy="4808790"/>
          </a:xfrm>
          <a:prstGeom prst="pentagon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6" name="五边形 165"/>
          <p:cNvSpPr/>
          <p:nvPr/>
        </p:nvSpPr>
        <p:spPr>
          <a:xfrm>
            <a:off x="3716511" y="1187105"/>
            <a:ext cx="4758978" cy="4532364"/>
          </a:xfrm>
          <a:prstGeom prst="pent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4273685" y="1812997"/>
            <a:ext cx="3644630" cy="3471080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1" name="五边形 200"/>
          <p:cNvSpPr/>
          <p:nvPr/>
        </p:nvSpPr>
        <p:spPr>
          <a:xfrm>
            <a:off x="4701442" y="2220385"/>
            <a:ext cx="2789116" cy="2656304"/>
          </a:xfrm>
          <a:prstGeom prst="pentagon">
            <a:avLst/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8" name="五边形 187"/>
          <p:cNvSpPr/>
          <p:nvPr/>
        </p:nvSpPr>
        <p:spPr>
          <a:xfrm>
            <a:off x="5073153" y="2670785"/>
            <a:ext cx="2019300" cy="1923144"/>
          </a:xfrm>
          <a:prstGeom prst="pent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4787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工作流程汇报</a:t>
            </a:r>
          </a:p>
        </p:txBody>
      </p:sp>
      <p:cxnSp>
        <p:nvCxnSpPr>
          <p:cNvPr id="1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顶角 20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5" name="任意多边形: 形状 174"/>
          <p:cNvSpPr/>
          <p:nvPr/>
        </p:nvSpPr>
        <p:spPr>
          <a:xfrm>
            <a:off x="355600" y="979069"/>
            <a:ext cx="5606922" cy="1860550"/>
          </a:xfrm>
          <a:custGeom>
            <a:avLst/>
            <a:gdLst>
              <a:gd name="connsiteX0" fmla="*/ 0 w 5606922"/>
              <a:gd name="connsiteY0" fmla="*/ 0 h 1860550"/>
              <a:gd name="connsiteX1" fmla="*/ 5606922 w 5606922"/>
              <a:gd name="connsiteY1" fmla="*/ 0 h 1860550"/>
              <a:gd name="connsiteX2" fmla="*/ 3049656 w 5606922"/>
              <a:gd name="connsiteY2" fmla="*/ 1860550 h 1860550"/>
              <a:gd name="connsiteX3" fmla="*/ 0 w 5606922"/>
              <a:gd name="connsiteY3" fmla="*/ 18605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6922" h="1860550">
                <a:moveTo>
                  <a:pt x="0" y="0"/>
                </a:moveTo>
                <a:lnTo>
                  <a:pt x="5606922" y="0"/>
                </a:lnTo>
                <a:lnTo>
                  <a:pt x="3049656" y="1860550"/>
                </a:lnTo>
                <a:lnTo>
                  <a:pt x="0" y="186055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8" name="任意多边形: 形状 177"/>
          <p:cNvSpPr/>
          <p:nvPr/>
        </p:nvSpPr>
        <p:spPr>
          <a:xfrm flipH="1">
            <a:off x="6229478" y="979069"/>
            <a:ext cx="5606922" cy="1860550"/>
          </a:xfrm>
          <a:custGeom>
            <a:avLst/>
            <a:gdLst>
              <a:gd name="connsiteX0" fmla="*/ 0 w 5606922"/>
              <a:gd name="connsiteY0" fmla="*/ 0 h 1860550"/>
              <a:gd name="connsiteX1" fmla="*/ 5606922 w 5606922"/>
              <a:gd name="connsiteY1" fmla="*/ 0 h 1860550"/>
              <a:gd name="connsiteX2" fmla="*/ 3049656 w 5606922"/>
              <a:gd name="connsiteY2" fmla="*/ 1860550 h 1860550"/>
              <a:gd name="connsiteX3" fmla="*/ 0 w 5606922"/>
              <a:gd name="connsiteY3" fmla="*/ 18605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6922" h="1860550">
                <a:moveTo>
                  <a:pt x="0" y="0"/>
                </a:moveTo>
                <a:lnTo>
                  <a:pt x="5606922" y="0"/>
                </a:lnTo>
                <a:lnTo>
                  <a:pt x="3049656" y="1860550"/>
                </a:lnTo>
                <a:lnTo>
                  <a:pt x="0" y="186055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5" name="任意多边形: 形状 184"/>
          <p:cNvSpPr/>
          <p:nvPr/>
        </p:nvSpPr>
        <p:spPr>
          <a:xfrm>
            <a:off x="355600" y="2972968"/>
            <a:ext cx="4017615" cy="2884714"/>
          </a:xfrm>
          <a:custGeom>
            <a:avLst/>
            <a:gdLst>
              <a:gd name="connsiteX0" fmla="*/ 0 w 4017615"/>
              <a:gd name="connsiteY0" fmla="*/ 0 h 2884714"/>
              <a:gd name="connsiteX1" fmla="*/ 3081619 w 4017615"/>
              <a:gd name="connsiteY1" fmla="*/ 0 h 2884714"/>
              <a:gd name="connsiteX2" fmla="*/ 4017615 w 4017615"/>
              <a:gd name="connsiteY2" fmla="*/ 2884714 h 2884714"/>
              <a:gd name="connsiteX3" fmla="*/ 0 w 4017615"/>
              <a:gd name="connsiteY3" fmla="*/ 2884714 h 288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7615" h="2884714">
                <a:moveTo>
                  <a:pt x="0" y="0"/>
                </a:moveTo>
                <a:lnTo>
                  <a:pt x="3081619" y="0"/>
                </a:lnTo>
                <a:lnTo>
                  <a:pt x="4017615" y="2884714"/>
                </a:lnTo>
                <a:lnTo>
                  <a:pt x="0" y="288471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任意多边形: 形状 185"/>
          <p:cNvSpPr/>
          <p:nvPr/>
        </p:nvSpPr>
        <p:spPr>
          <a:xfrm flipH="1">
            <a:off x="7818785" y="2972968"/>
            <a:ext cx="4017615" cy="2884714"/>
          </a:xfrm>
          <a:custGeom>
            <a:avLst/>
            <a:gdLst>
              <a:gd name="connsiteX0" fmla="*/ 0 w 4017615"/>
              <a:gd name="connsiteY0" fmla="*/ 0 h 2884714"/>
              <a:gd name="connsiteX1" fmla="*/ 3081619 w 4017615"/>
              <a:gd name="connsiteY1" fmla="*/ 0 h 2884714"/>
              <a:gd name="connsiteX2" fmla="*/ 4017615 w 4017615"/>
              <a:gd name="connsiteY2" fmla="*/ 2884714 h 2884714"/>
              <a:gd name="connsiteX3" fmla="*/ 0 w 4017615"/>
              <a:gd name="connsiteY3" fmla="*/ 2884714 h 288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7615" h="2884714">
                <a:moveTo>
                  <a:pt x="0" y="0"/>
                </a:moveTo>
                <a:lnTo>
                  <a:pt x="3081619" y="0"/>
                </a:lnTo>
                <a:lnTo>
                  <a:pt x="4017615" y="2884714"/>
                </a:lnTo>
                <a:lnTo>
                  <a:pt x="0" y="288471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5" name="椭圆 194"/>
          <p:cNvSpPr/>
          <p:nvPr/>
        </p:nvSpPr>
        <p:spPr>
          <a:xfrm>
            <a:off x="5127759" y="252485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97" name="椭圆 196"/>
          <p:cNvSpPr/>
          <p:nvPr/>
        </p:nvSpPr>
        <p:spPr>
          <a:xfrm>
            <a:off x="6571874" y="252485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98" name="椭圆 197"/>
          <p:cNvSpPr/>
          <p:nvPr/>
        </p:nvSpPr>
        <p:spPr>
          <a:xfrm>
            <a:off x="4680314" y="3781324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99" name="椭圆 198"/>
          <p:cNvSpPr/>
          <p:nvPr/>
        </p:nvSpPr>
        <p:spPr>
          <a:xfrm>
            <a:off x="7019319" y="3781324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00" name="椭圆 199"/>
          <p:cNvSpPr/>
          <p:nvPr/>
        </p:nvSpPr>
        <p:spPr>
          <a:xfrm>
            <a:off x="5849815" y="469054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 rot="19425265">
            <a:off x="4268829" y="2078730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市场洞察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85521" y="1439066"/>
            <a:ext cx="3534943" cy="90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依据易观分析、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Gartner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等专业机构数据，融合内部用户画像研究，察觉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2024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年县域市场电商用户年均增幅达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18%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，低线城市消费潜能颇大，进而选定其为核心拓新区域 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965365" y="1175374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市场洞察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792150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下沉市场</a:t>
            </a:r>
          </a:p>
        </p:txBody>
      </p:sp>
      <p:sp>
        <p:nvSpPr>
          <p:cNvPr id="210" name="矩形: 圆角 209"/>
          <p:cNvSpPr/>
          <p:nvPr/>
        </p:nvSpPr>
        <p:spPr>
          <a:xfrm>
            <a:off x="1596838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社交裂变</a:t>
            </a:r>
          </a:p>
        </p:txBody>
      </p:sp>
      <p:sp>
        <p:nvSpPr>
          <p:cNvPr id="211" name="矩形: 圆角 210"/>
          <p:cNvSpPr/>
          <p:nvPr/>
        </p:nvSpPr>
        <p:spPr>
          <a:xfrm>
            <a:off x="2401526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数据驱动</a:t>
            </a:r>
          </a:p>
        </p:txBody>
      </p:sp>
      <p:sp>
        <p:nvSpPr>
          <p:cNvPr id="2" name="文本框 1"/>
          <p:cNvSpPr txBox="1"/>
          <p:nvPr/>
        </p:nvSpPr>
        <p:spPr>
          <a:xfrm rot="2174735" flipH="1">
            <a:off x="6419893" y="2145478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策略制定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71536" y="1439066"/>
            <a:ext cx="3534943" cy="90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基于市场分析结论，制定 “社交分享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本地化活动” 双轮驱动策略。计划借由平台式组队、砍价形式促使用户自主传播，同时搭配线下地推，目标达成季度新增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50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万用户，提升市场覆盖率 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17934" y="1175374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accent1"/>
                </a:solidFill>
                <a:cs typeface="Roboto" panose="02000000000000000000" charset="0"/>
              </a:rPr>
              <a:t>策略制定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9029801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下沉市场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9834489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社交裂变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0639177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数据驱动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5522" y="3482435"/>
            <a:ext cx="2885866" cy="1104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联动生态场景（社交页推广、社区互动）、短视频平台，依托大数据算法定向触达目标人流。同时与超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200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家本地商超、便利店协作，开展线下扫码享惠活动，覆盖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300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余个社区，构建线上线下流量循环 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5365" y="3218743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渠道执行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614448" y="3482435"/>
            <a:ext cx="2885866" cy="1104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运用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Google Analytics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、神策数据等工具，实时跟踪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UV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、转化率、跳出率等核心指标。当发现平台广告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ROI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低于行业均值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20%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时，迅速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A/B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测试不同素材版本，调整投放策略后，转化率提升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12%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，降低用户获取成本。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10011769" y="3218743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数据监控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792150" y="5026946"/>
            <a:ext cx="2726016" cy="108847"/>
            <a:chOff x="792150" y="4841772"/>
            <a:chExt cx="2726016" cy="186149"/>
          </a:xfrm>
        </p:grpSpPr>
        <p:sp>
          <p:nvSpPr>
            <p:cNvPr id="162" name="矩形: 圆角 161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3" name="矩形: 圆角 162"/>
            <p:cNvSpPr/>
            <p:nvPr/>
          </p:nvSpPr>
          <p:spPr>
            <a:xfrm>
              <a:off x="792151" y="4841772"/>
              <a:ext cx="1647838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cxnSp>
        <p:nvCxnSpPr>
          <p:cNvPr id="167" name="直接连接符 166"/>
          <p:cNvCxnSpPr/>
          <p:nvPr/>
        </p:nvCxnSpPr>
        <p:spPr>
          <a:xfrm>
            <a:off x="822960" y="4632029"/>
            <a:ext cx="25908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组合 167"/>
          <p:cNvGrpSpPr/>
          <p:nvPr/>
        </p:nvGrpSpPr>
        <p:grpSpPr>
          <a:xfrm>
            <a:off x="792150" y="5548143"/>
            <a:ext cx="2726016" cy="108847"/>
            <a:chOff x="792150" y="4841772"/>
            <a:chExt cx="2726016" cy="186149"/>
          </a:xfrm>
        </p:grpSpPr>
        <p:sp>
          <p:nvSpPr>
            <p:cNvPr id="169" name="矩形: 圆角 168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0" name="矩形: 圆角 169"/>
            <p:cNvSpPr/>
            <p:nvPr/>
          </p:nvSpPr>
          <p:spPr>
            <a:xfrm>
              <a:off x="792150" y="4841772"/>
              <a:ext cx="1849450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76" name="文本框 175"/>
          <p:cNvSpPr txBox="1"/>
          <p:nvPr/>
        </p:nvSpPr>
        <p:spPr>
          <a:xfrm>
            <a:off x="716951" y="4765379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Roboto" panose="02000000000000000000" charset="0"/>
              </a:rPr>
              <a:t>线下合作商家覆盖率</a:t>
            </a:r>
          </a:p>
        </p:txBody>
      </p:sp>
      <p:sp>
        <p:nvSpPr>
          <p:cNvPr id="177" name="文本框 176"/>
          <p:cNvSpPr txBox="1"/>
          <p:nvPr/>
        </p:nvSpPr>
        <p:spPr>
          <a:xfrm>
            <a:off x="3095625" y="4737100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60</a:t>
            </a:r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%</a:t>
            </a:r>
            <a:endParaRPr lang="zh-CN" altLang="en-US" sz="1400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716951" y="5268791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Roboto" panose="02000000000000000000" charset="0"/>
              </a:rPr>
              <a:t>社区触达率</a:t>
            </a:r>
          </a:p>
        </p:txBody>
      </p:sp>
      <p:sp>
        <p:nvSpPr>
          <p:cNvPr id="180" name="文本框 179"/>
          <p:cNvSpPr txBox="1"/>
          <p:nvPr/>
        </p:nvSpPr>
        <p:spPr>
          <a:xfrm>
            <a:off x="3095625" y="5240655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75%</a:t>
            </a:r>
          </a:p>
        </p:txBody>
      </p:sp>
      <p:grpSp>
        <p:nvGrpSpPr>
          <p:cNvPr id="183" name="组合 182"/>
          <p:cNvGrpSpPr/>
          <p:nvPr/>
        </p:nvGrpSpPr>
        <p:grpSpPr>
          <a:xfrm>
            <a:off x="8657801" y="5026946"/>
            <a:ext cx="2726016" cy="108847"/>
            <a:chOff x="792150" y="4841772"/>
            <a:chExt cx="2726016" cy="186149"/>
          </a:xfrm>
        </p:grpSpPr>
        <p:sp>
          <p:nvSpPr>
            <p:cNvPr id="203" name="矩形: 圆角 202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4" name="矩形: 圆角 203"/>
            <p:cNvSpPr/>
            <p:nvPr/>
          </p:nvSpPr>
          <p:spPr>
            <a:xfrm>
              <a:off x="792151" y="4841772"/>
              <a:ext cx="711623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cxnSp>
        <p:nvCxnSpPr>
          <p:cNvPr id="184" name="直接连接符 183"/>
          <p:cNvCxnSpPr/>
          <p:nvPr/>
        </p:nvCxnSpPr>
        <p:spPr>
          <a:xfrm>
            <a:off x="8688611" y="4632029"/>
            <a:ext cx="25908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组合 186"/>
          <p:cNvGrpSpPr/>
          <p:nvPr/>
        </p:nvGrpSpPr>
        <p:grpSpPr>
          <a:xfrm>
            <a:off x="8657801" y="5548143"/>
            <a:ext cx="2726016" cy="108847"/>
            <a:chOff x="792150" y="4841772"/>
            <a:chExt cx="2726016" cy="186149"/>
          </a:xfrm>
        </p:grpSpPr>
        <p:sp>
          <p:nvSpPr>
            <p:cNvPr id="196" name="矩形: 圆角 195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2" name="矩形: 圆角 201"/>
            <p:cNvSpPr/>
            <p:nvPr/>
          </p:nvSpPr>
          <p:spPr>
            <a:xfrm>
              <a:off x="792150" y="4841772"/>
              <a:ext cx="438581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89" name="文本框 188"/>
          <p:cNvSpPr txBox="1"/>
          <p:nvPr/>
        </p:nvSpPr>
        <p:spPr>
          <a:xfrm>
            <a:off x="8582660" y="4765675"/>
            <a:ext cx="20193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+mn-ea"/>
              </a:rPr>
              <a:t>初始 </a:t>
            </a:r>
            <a:r>
              <a:rPr lang="en-US" altLang="zh-CN" sz="1200" b="0" i="0" dirty="0">
                <a:effectLst/>
                <a:latin typeface="+mn-ea"/>
                <a:cs typeface="+mn-ea"/>
              </a:rPr>
              <a:t>ROI </a:t>
            </a:r>
            <a:r>
              <a:rPr lang="zh-CN" altLang="en-US" sz="1200" b="0" i="0" dirty="0">
                <a:effectLst/>
                <a:latin typeface="+mn-ea"/>
                <a:cs typeface="+mn-ea"/>
              </a:rPr>
              <a:t>低于行业均值</a:t>
            </a:r>
            <a:endParaRPr lang="zh-CN" altLang="en-US" sz="1200" dirty="0">
              <a:latin typeface="+mn-ea"/>
              <a:cs typeface="+mn-ea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10961370" y="4737100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20%</a:t>
            </a:r>
          </a:p>
        </p:txBody>
      </p:sp>
      <p:sp>
        <p:nvSpPr>
          <p:cNvPr id="193" name="文本框 192"/>
          <p:cNvSpPr txBox="1"/>
          <p:nvPr/>
        </p:nvSpPr>
        <p:spPr>
          <a:xfrm>
            <a:off x="8582602" y="5268791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Roboto" panose="02000000000000000000" charset="0"/>
              </a:rPr>
              <a:t>调整后转化率提升</a:t>
            </a:r>
          </a:p>
        </p:txBody>
      </p:sp>
      <p:sp>
        <p:nvSpPr>
          <p:cNvPr id="194" name="文本框 193"/>
          <p:cNvSpPr txBox="1"/>
          <p:nvPr/>
        </p:nvSpPr>
        <p:spPr>
          <a:xfrm>
            <a:off x="10961370" y="5240655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12%</a:t>
            </a:r>
          </a:p>
        </p:txBody>
      </p:sp>
      <p:sp>
        <p:nvSpPr>
          <p:cNvPr id="208" name="文本框 207"/>
          <p:cNvSpPr txBox="1"/>
          <p:nvPr/>
        </p:nvSpPr>
        <p:spPr>
          <a:xfrm rot="4309953">
            <a:off x="3598739" y="4044192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渠道执行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14" name="文本框 213"/>
          <p:cNvSpPr txBox="1"/>
          <p:nvPr/>
        </p:nvSpPr>
        <p:spPr>
          <a:xfrm rot="6492565" flipV="1">
            <a:off x="7000450" y="4044139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数据监控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5338546" y="5315431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复盘迭代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cxnSp>
        <p:nvCxnSpPr>
          <p:cNvPr id="217" name="直接连接符 216"/>
          <p:cNvCxnSpPr/>
          <p:nvPr/>
        </p:nvCxnSpPr>
        <p:spPr>
          <a:xfrm flipV="1">
            <a:off x="3458334" y="1000636"/>
            <a:ext cx="2557266" cy="1860550"/>
          </a:xfrm>
          <a:prstGeom prst="line">
            <a:avLst/>
          </a:prstGeom>
          <a:ln w="152400" cap="rnd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flipH="1" flipV="1">
            <a:off x="6168103" y="1000636"/>
            <a:ext cx="2557266" cy="1860550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flipV="1">
            <a:off x="7748308" y="2994535"/>
            <a:ext cx="925526" cy="2773239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>
            <a:off x="4605824" y="5824898"/>
            <a:ext cx="3168957" cy="0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flipH="1" flipV="1">
            <a:off x="3508054" y="2994535"/>
            <a:ext cx="925526" cy="2773239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椭圆 231"/>
          <p:cNvSpPr/>
          <p:nvPr/>
        </p:nvSpPr>
        <p:spPr>
          <a:xfrm>
            <a:off x="767622" y="119099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767622" y="322540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4" name="椭圆 233"/>
          <p:cNvSpPr/>
          <p:nvPr/>
        </p:nvSpPr>
        <p:spPr>
          <a:xfrm>
            <a:off x="11174016" y="119099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5" name="椭圆 234"/>
          <p:cNvSpPr/>
          <p:nvPr/>
        </p:nvSpPr>
        <p:spPr>
          <a:xfrm>
            <a:off x="11174016" y="322540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355600" y="6113486"/>
            <a:ext cx="11480800" cy="45408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椭圆 236"/>
          <p:cNvSpPr/>
          <p:nvPr/>
        </p:nvSpPr>
        <p:spPr>
          <a:xfrm>
            <a:off x="684278" y="6215346"/>
            <a:ext cx="250362" cy="25036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1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947998" y="6187767"/>
            <a:ext cx="126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复盘迭代</a:t>
            </a:r>
            <a:endParaRPr lang="zh-CN" altLang="en-US" sz="1400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2364272" y="6144715"/>
            <a:ext cx="57413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季度活动结束后，系统复盘数据显示新增用户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48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万，再够绿提高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8%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。深度剖析活动中的成功经验与不足，提炼高转化玩法，将有效策略模块融入下季度拉新计划，优化资源分配与执行细节。</a:t>
            </a:r>
            <a:endParaRPr lang="zh-CN" altLang="en-US" sz="100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8516515" y="6210560"/>
            <a:ext cx="1406154" cy="276999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活动成效           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96%</a:t>
            </a:r>
            <a:endParaRPr lang="zh-CN" altLang="en-US" sz="10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43" name="组合 242"/>
          <p:cNvGrpSpPr/>
          <p:nvPr/>
        </p:nvGrpSpPr>
        <p:grpSpPr>
          <a:xfrm>
            <a:off x="9165997" y="6289704"/>
            <a:ext cx="247588" cy="118709"/>
            <a:chOff x="1878868" y="3455194"/>
            <a:chExt cx="247588" cy="118709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45" name="等腰三角形 244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46" name="等腰三角形 245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47" name="等腰三角形 246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10008699" y="6210560"/>
            <a:ext cx="1368913" cy="276999"/>
            <a:chOff x="8599860" y="6210560"/>
            <a:chExt cx="1270712" cy="276999"/>
          </a:xfrm>
        </p:grpSpPr>
        <p:sp>
          <p:nvSpPr>
            <p:cNvPr id="250" name="文本框 249"/>
            <p:cNvSpPr txBox="1"/>
            <p:nvPr/>
          </p:nvSpPr>
          <p:spPr>
            <a:xfrm>
              <a:off x="8599860" y="6210560"/>
              <a:ext cx="1270712" cy="276999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zh-CN" altLang="en-US" sz="10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转化提升</a:t>
              </a:r>
              <a:r>
                <a:rPr lang="zh-CN" altLang="en-US" sz="1000" b="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           </a:t>
              </a:r>
              <a:r>
                <a:rPr lang="en-US" altLang="zh-CN" sz="1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8</a:t>
              </a:r>
              <a:r>
                <a:rPr lang="en-US" altLang="zh-CN" sz="1200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%</a:t>
              </a: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grpSp>
          <p:nvGrpSpPr>
            <p:cNvPr id="251" name="组合 250"/>
            <p:cNvGrpSpPr/>
            <p:nvPr/>
          </p:nvGrpSpPr>
          <p:grpSpPr>
            <a:xfrm>
              <a:off x="9217342" y="6289704"/>
              <a:ext cx="247588" cy="118709"/>
              <a:chOff x="1878868" y="3455194"/>
              <a:chExt cx="247588" cy="118709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</p:grpSpPr>
          <p:sp>
            <p:nvSpPr>
              <p:cNvPr id="252" name="等腰三角形 251"/>
              <p:cNvSpPr/>
              <p:nvPr/>
            </p:nvSpPr>
            <p:spPr>
              <a:xfrm rot="16200000" flipH="1" flipV="1">
                <a:off x="1870680" y="3463382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53" name="等腰三角形 252"/>
              <p:cNvSpPr/>
              <p:nvPr/>
            </p:nvSpPr>
            <p:spPr>
              <a:xfrm rot="16200000" flipH="1" flipV="1">
                <a:off x="1943308" y="3463383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54" name="等腰三角形 253"/>
              <p:cNvSpPr/>
              <p:nvPr/>
            </p:nvSpPr>
            <p:spPr>
              <a:xfrm rot="16200000" flipH="1" flipV="1">
                <a:off x="2015936" y="3463384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</p:grpSp>
      <p:sp>
        <p:nvSpPr>
          <p:cNvPr id="256" name="等腰三角形 255"/>
          <p:cNvSpPr/>
          <p:nvPr/>
        </p:nvSpPr>
        <p:spPr>
          <a:xfrm rot="16200000" flipH="1" flipV="1">
            <a:off x="1927843" y="6190911"/>
            <a:ext cx="353862" cy="30504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等腰三角形 254"/>
          <p:cNvSpPr/>
          <p:nvPr/>
        </p:nvSpPr>
        <p:spPr>
          <a:xfrm rot="16200000" flipH="1" flipV="1">
            <a:off x="2010203" y="6190911"/>
            <a:ext cx="353862" cy="30504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5481022" y="3732408"/>
            <a:ext cx="1211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电商用户</a:t>
            </a:r>
          </a:p>
        </p:txBody>
      </p:sp>
      <p:sp>
        <p:nvSpPr>
          <p:cNvPr id="258" name="文本框 257"/>
          <p:cNvSpPr txBox="1"/>
          <p:nvPr/>
        </p:nvSpPr>
        <p:spPr>
          <a:xfrm>
            <a:off x="5358830" y="4086867"/>
            <a:ext cx="1456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增长工作流程</a:t>
            </a:r>
          </a:p>
        </p:txBody>
      </p:sp>
      <p:sp>
        <p:nvSpPr>
          <p:cNvPr id="14" name="Google Shape;6082;p78"/>
          <p:cNvSpPr/>
          <p:nvPr/>
        </p:nvSpPr>
        <p:spPr>
          <a:xfrm>
            <a:off x="5757482" y="3141483"/>
            <a:ext cx="652892" cy="509992"/>
          </a:xfrm>
          <a:custGeom>
            <a:avLst/>
            <a:gdLst/>
            <a:ahLst/>
            <a:cxnLst/>
            <a:rect l="l" t="t" r="r" b="b"/>
            <a:pathLst>
              <a:path w="12665" h="9893" extrusionOk="0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306309" y="1238249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06309" y="3124210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6309" y="5010171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4395992" y="3124209"/>
            <a:ext cx="3400019" cy="1647301"/>
          </a:xfrm>
          <a:custGeom>
            <a:avLst/>
            <a:gdLst>
              <a:gd name="connsiteX0" fmla="*/ 762080 w 3400019"/>
              <a:gd name="connsiteY0" fmla="*/ 0 h 1647301"/>
              <a:gd name="connsiteX1" fmla="*/ 2637940 w 3400019"/>
              <a:gd name="connsiteY1" fmla="*/ 0 h 1647301"/>
              <a:gd name="connsiteX2" fmla="*/ 2679788 w 3400019"/>
              <a:gd name="connsiteY2" fmla="*/ 157154 h 1647301"/>
              <a:gd name="connsiteX3" fmla="*/ 3282929 w 3400019"/>
              <a:gd name="connsiteY3" fmla="*/ 1466784 h 1647301"/>
              <a:gd name="connsiteX4" fmla="*/ 3400019 w 3400019"/>
              <a:gd name="connsiteY4" fmla="*/ 1647301 h 1647301"/>
              <a:gd name="connsiteX5" fmla="*/ 0 w 3400019"/>
              <a:gd name="connsiteY5" fmla="*/ 1647301 h 1647301"/>
              <a:gd name="connsiteX6" fmla="*/ 117091 w 3400019"/>
              <a:gd name="connsiteY6" fmla="*/ 1466782 h 1647301"/>
              <a:gd name="connsiteX7" fmla="*/ 720232 w 3400019"/>
              <a:gd name="connsiteY7" fmla="*/ 157153 h 1647301"/>
              <a:gd name="connsiteX8" fmla="*/ 762080 w 3400019"/>
              <a:gd name="connsiteY8" fmla="*/ 0 h 164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0019" h="1647301">
                <a:moveTo>
                  <a:pt x="762080" y="0"/>
                </a:moveTo>
                <a:lnTo>
                  <a:pt x="2637940" y="0"/>
                </a:lnTo>
                <a:lnTo>
                  <a:pt x="2679788" y="157154"/>
                </a:lnTo>
                <a:cubicBezTo>
                  <a:pt x="2794268" y="548415"/>
                  <a:pt x="2996075" y="995957"/>
                  <a:pt x="3282929" y="1466784"/>
                </a:cubicBezTo>
                <a:lnTo>
                  <a:pt x="3400019" y="1647301"/>
                </a:lnTo>
                <a:lnTo>
                  <a:pt x="0" y="1647301"/>
                </a:lnTo>
                <a:lnTo>
                  <a:pt x="117091" y="1466782"/>
                </a:lnTo>
                <a:cubicBezTo>
                  <a:pt x="403945" y="995956"/>
                  <a:pt x="605753" y="548414"/>
                  <a:pt x="720232" y="157153"/>
                </a:cubicBezTo>
                <a:lnTo>
                  <a:pt x="76208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2305050" y="5010168"/>
            <a:ext cx="7581900" cy="1847833"/>
          </a:xfrm>
          <a:custGeom>
            <a:avLst/>
            <a:gdLst>
              <a:gd name="connsiteX0" fmla="*/ 1931514 w 7581900"/>
              <a:gd name="connsiteY0" fmla="*/ 0 h 1847833"/>
              <a:gd name="connsiteX1" fmla="*/ 5650388 w 7581900"/>
              <a:gd name="connsiteY1" fmla="*/ 0 h 1847833"/>
              <a:gd name="connsiteX2" fmla="*/ 5860118 w 7581900"/>
              <a:gd name="connsiteY2" fmla="*/ 287397 h 1847833"/>
              <a:gd name="connsiteX3" fmla="*/ 7495582 w 7581900"/>
              <a:gd name="connsiteY3" fmla="*/ 1800594 h 1847833"/>
              <a:gd name="connsiteX4" fmla="*/ 7581900 w 7581900"/>
              <a:gd name="connsiteY4" fmla="*/ 1847833 h 1847833"/>
              <a:gd name="connsiteX5" fmla="*/ 0 w 7581900"/>
              <a:gd name="connsiteY5" fmla="*/ 1847833 h 1847833"/>
              <a:gd name="connsiteX6" fmla="*/ 86320 w 7581900"/>
              <a:gd name="connsiteY6" fmla="*/ 1800592 h 1847833"/>
              <a:gd name="connsiteX7" fmla="*/ 1721785 w 7581900"/>
              <a:gd name="connsiteY7" fmla="*/ 287396 h 1847833"/>
              <a:gd name="connsiteX8" fmla="*/ 1931514 w 7581900"/>
              <a:gd name="connsiteY8" fmla="*/ 0 h 184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0" h="1847833">
                <a:moveTo>
                  <a:pt x="1931514" y="0"/>
                </a:moveTo>
                <a:lnTo>
                  <a:pt x="5650388" y="0"/>
                </a:lnTo>
                <a:lnTo>
                  <a:pt x="5860118" y="287397"/>
                </a:lnTo>
                <a:cubicBezTo>
                  <a:pt x="6376655" y="956359"/>
                  <a:pt x="6968498" y="1499557"/>
                  <a:pt x="7495582" y="1800594"/>
                </a:cubicBezTo>
                <a:lnTo>
                  <a:pt x="7581900" y="1847833"/>
                </a:lnTo>
                <a:lnTo>
                  <a:pt x="0" y="1847833"/>
                </a:lnTo>
                <a:lnTo>
                  <a:pt x="86320" y="1800592"/>
                </a:lnTo>
                <a:cubicBezTo>
                  <a:pt x="613404" y="1499556"/>
                  <a:pt x="1205248" y="956358"/>
                  <a:pt x="1721785" y="287396"/>
                </a:cubicBezTo>
                <a:lnTo>
                  <a:pt x="193151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箭头: 五边形 9"/>
          <p:cNvSpPr/>
          <p:nvPr/>
        </p:nvSpPr>
        <p:spPr>
          <a:xfrm rot="16200000">
            <a:off x="5167578" y="947478"/>
            <a:ext cx="1856850" cy="2019294"/>
          </a:xfrm>
          <a:prstGeom prst="homePlate">
            <a:avLst>
              <a:gd name="adj" fmla="val 6770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递进流程图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7" name="箭头: 五边形 106"/>
          <p:cNvSpPr/>
          <p:nvPr/>
        </p:nvSpPr>
        <p:spPr>
          <a:xfrm>
            <a:off x="306310" y="1238250"/>
            <a:ext cx="217565" cy="1647300"/>
          </a:xfrm>
          <a:prstGeom prst="homePlate">
            <a:avLst>
              <a:gd name="adj" fmla="val 84677"/>
            </a:avLst>
          </a:prstGeom>
          <a:solidFill>
            <a:srgbClr val="5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0" name="箭头: 五边形 109"/>
          <p:cNvSpPr/>
          <p:nvPr/>
        </p:nvSpPr>
        <p:spPr>
          <a:xfrm flipH="1">
            <a:off x="11582640" y="1238250"/>
            <a:ext cx="217565" cy="1647300"/>
          </a:xfrm>
          <a:prstGeom prst="homePlate">
            <a:avLst>
              <a:gd name="adj" fmla="val 84677"/>
            </a:avLst>
          </a:prstGeom>
          <a:solidFill>
            <a:srgbClr val="5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1" name="箭头: 五边形 110"/>
          <p:cNvSpPr/>
          <p:nvPr/>
        </p:nvSpPr>
        <p:spPr>
          <a:xfrm>
            <a:off x="306310" y="3124207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2" name="箭头: 五边形 111"/>
          <p:cNvSpPr/>
          <p:nvPr/>
        </p:nvSpPr>
        <p:spPr>
          <a:xfrm flipH="1">
            <a:off x="11582640" y="3124207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3" name="箭头: 五边形 112"/>
          <p:cNvSpPr/>
          <p:nvPr/>
        </p:nvSpPr>
        <p:spPr>
          <a:xfrm>
            <a:off x="306310" y="5010164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4" name="箭头: 五边形 113"/>
          <p:cNvSpPr/>
          <p:nvPr/>
        </p:nvSpPr>
        <p:spPr>
          <a:xfrm flipH="1">
            <a:off x="11582640" y="5010164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5086350" y="3831653"/>
            <a:ext cx="201930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i="0" spc="30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关键策略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动作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5086350" y="5619751"/>
            <a:ext cx="201930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i="0" spc="30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底层价值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沉淀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5381625" y="2061899"/>
            <a:ext cx="142875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核心目标达成</a:t>
            </a:r>
            <a:endParaRPr lang="en-US" altLang="zh-CN" b="1" i="0" spc="300" dirty="0">
              <a:solidFill>
                <a:schemeClr val="bg1"/>
              </a:solidFill>
              <a:effectLst/>
              <a:latin typeface="+mn-ea"/>
              <a:cs typeface="Roboto" panose="02000000000000000000" charset="0"/>
            </a:endParaRPr>
          </a:p>
        </p:txBody>
      </p:sp>
      <p:grpSp>
        <p:nvGrpSpPr>
          <p:cNvPr id="121" name="Google Shape;6785;p79"/>
          <p:cNvGrpSpPr/>
          <p:nvPr/>
        </p:nvGrpSpPr>
        <p:grpSpPr>
          <a:xfrm>
            <a:off x="5840156" y="5142671"/>
            <a:ext cx="408818" cy="388622"/>
            <a:chOff x="-32576675" y="3944600"/>
            <a:chExt cx="307200" cy="292025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22" name="Google Shape;6786;p79"/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3" name="Google Shape;6787;p79"/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24" name="Google Shape;7274;p80"/>
          <p:cNvGrpSpPr/>
          <p:nvPr/>
        </p:nvGrpSpPr>
        <p:grpSpPr>
          <a:xfrm>
            <a:off x="5856038" y="3275623"/>
            <a:ext cx="472415" cy="472139"/>
            <a:chOff x="-49764975" y="3183375"/>
            <a:chExt cx="299300" cy="299125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25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6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7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8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9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0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1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2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3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41" name="Google Shape;5389;p76"/>
          <p:cNvGrpSpPr/>
          <p:nvPr/>
        </p:nvGrpSpPr>
        <p:grpSpPr>
          <a:xfrm>
            <a:off x="5863547" y="1469730"/>
            <a:ext cx="464906" cy="460412"/>
            <a:chOff x="5049725" y="1435050"/>
            <a:chExt cx="486550" cy="481850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42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3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4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5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47" name="文本框 146"/>
          <p:cNvSpPr txBox="1"/>
          <p:nvPr/>
        </p:nvSpPr>
        <p:spPr>
          <a:xfrm>
            <a:off x="628528" y="139172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流量定向捕捉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619857" y="1693564"/>
            <a:ext cx="4075208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156" name="矩形: 圆角 155"/>
          <p:cNvSpPr/>
          <p:nvPr/>
        </p:nvSpPr>
        <p:spPr>
          <a:xfrm>
            <a:off x="735708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716658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1" name="矩形: 圆角 160"/>
          <p:cNvSpPr/>
          <p:nvPr/>
        </p:nvSpPr>
        <p:spPr>
          <a:xfrm>
            <a:off x="2080010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2060960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4" name="矩形: 圆角 163"/>
          <p:cNvSpPr/>
          <p:nvPr/>
        </p:nvSpPr>
        <p:spPr>
          <a:xfrm>
            <a:off x="3424312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3405262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35162" y="139172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397558" y="1693564"/>
            <a:ext cx="4075208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7515992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96942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860294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1244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0204596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85546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8528" y="325327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19857" y="3555114"/>
            <a:ext cx="3731426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735708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6658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080010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60960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35162" y="325327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723030" y="3555114"/>
            <a:ext cx="3731426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8860294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841244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10204596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185546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28528" y="5164083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流量定向捕捉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619857" y="5465918"/>
            <a:ext cx="255323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 “短视频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直播” 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</a:t>
            </a:r>
          </a:p>
        </p:txBody>
      </p:sp>
      <p:sp>
        <p:nvSpPr>
          <p:cNvPr id="146" name="矩形: 圆角 145"/>
          <p:cNvSpPr/>
          <p:nvPr/>
        </p:nvSpPr>
        <p:spPr>
          <a:xfrm>
            <a:off x="735708" y="6002002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716658" y="6022114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9435162" y="5164083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8901218" y="5465918"/>
            <a:ext cx="255323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 “短视频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直播” 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</a:t>
            </a:r>
          </a:p>
        </p:txBody>
      </p:sp>
      <p:sp>
        <p:nvSpPr>
          <p:cNvPr id="157" name="矩形: 圆角 156"/>
          <p:cNvSpPr/>
          <p:nvPr/>
        </p:nvSpPr>
        <p:spPr>
          <a:xfrm>
            <a:off x="10204596" y="6002002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10185546" y="6022114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323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数据图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55600" y="1028700"/>
            <a:ext cx="3069771" cy="2400298"/>
          </a:xfrm>
          <a:prstGeom prst="roundRect">
            <a:avLst>
              <a:gd name="adj" fmla="val 27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577771" y="1028700"/>
            <a:ext cx="8245929" cy="2400298"/>
          </a:xfrm>
          <a:prstGeom prst="roundRect">
            <a:avLst>
              <a:gd name="adj" fmla="val 2725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355600" y="3554186"/>
            <a:ext cx="4158343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4624330" y="3554186"/>
            <a:ext cx="3646311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381028" y="3554186"/>
            <a:ext cx="3455373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3752169" y="1152522"/>
            <a:ext cx="1897567" cy="2152654"/>
            <a:chOff x="3752169" y="1152522"/>
            <a:chExt cx="1897567" cy="2152654"/>
          </a:xfrm>
        </p:grpSpPr>
        <p:sp>
          <p:nvSpPr>
            <p:cNvPr id="8" name="矩形: 圆角 7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52" name="图表 51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55" name="矩形: 圆角 54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投放成本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万元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5754717" y="1152522"/>
            <a:ext cx="1897567" cy="2152654"/>
            <a:chOff x="3752169" y="1152522"/>
            <a:chExt cx="1897567" cy="2152654"/>
          </a:xfrm>
        </p:grpSpPr>
        <p:sp>
          <p:nvSpPr>
            <p:cNvPr id="60" name="矩形: 圆角 59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61" name="图表 60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62" name="矩形: 圆角 61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品牌曝光</a:t>
              </a: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万次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7757265" y="1152522"/>
            <a:ext cx="1897567" cy="2152654"/>
            <a:chOff x="3752169" y="1152522"/>
            <a:chExt cx="1897567" cy="2152654"/>
          </a:xfrm>
        </p:grpSpPr>
        <p:sp>
          <p:nvSpPr>
            <p:cNvPr id="98" name="矩形: 圆角 97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99" name="图表 98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00" name="矩形: 圆角 99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用户互动</a:t>
              </a: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万次</a:t>
              </a: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9759813" y="1152522"/>
            <a:ext cx="1897567" cy="2152654"/>
            <a:chOff x="3752169" y="1152522"/>
            <a:chExt cx="1897567" cy="2152654"/>
          </a:xfrm>
        </p:grpSpPr>
        <p:sp>
          <p:nvSpPr>
            <p:cNvPr id="104" name="矩形: 圆角 103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105" name="图表 104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06" name="矩形: 圆角 105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投产出比</a:t>
              </a: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ROI</a:t>
              </a:r>
              <a:endParaRPr lang="zh-CN" altLang="en-US" sz="900" spc="300" dirty="0">
                <a:solidFill>
                  <a:schemeClr val="bg2">
                    <a:lumMod val="50000"/>
                  </a:schemeClr>
                </a:solidFill>
                <a:latin typeface="+mn-ea"/>
                <a:cs typeface="Roboto" panose="02000000000000000000" charset="0"/>
              </a:endParaRPr>
            </a:p>
          </p:txBody>
        </p:sp>
      </p:grpSp>
      <p:graphicFrame>
        <p:nvGraphicFramePr>
          <p:cNvPr id="135" name="图表 134"/>
          <p:cNvGraphicFramePr/>
          <p:nvPr/>
        </p:nvGraphicFramePr>
        <p:xfrm>
          <a:off x="5062918" y="4260851"/>
          <a:ext cx="2966032" cy="171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23255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平台资源投放预算占比</a:t>
            </a:r>
          </a:p>
        </p:txBody>
      </p:sp>
      <p:graphicFrame>
        <p:nvGraphicFramePr>
          <p:cNvPr id="14" name="图表 13"/>
          <p:cNvGraphicFramePr/>
          <p:nvPr/>
        </p:nvGraphicFramePr>
        <p:xfrm>
          <a:off x="351226" y="4288352"/>
          <a:ext cx="2103676" cy="1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22179" y="4965407"/>
            <a:ext cx="761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+mn-ea"/>
                <a:cs typeface="Roboto" panose="02000000000000000000" charset="0"/>
              </a:rPr>
              <a:t>45%</a:t>
            </a:r>
            <a:endParaRPr lang="zh-CN" altLang="en-US" sz="16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16" name="箭头: 上 15"/>
          <p:cNvSpPr/>
          <p:nvPr/>
        </p:nvSpPr>
        <p:spPr>
          <a:xfrm>
            <a:off x="1355893" y="4777639"/>
            <a:ext cx="94343" cy="190466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2445390" y="4287872"/>
          <a:ext cx="2103676" cy="1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3116343" y="4964927"/>
            <a:ext cx="761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+mn-ea"/>
                <a:cs typeface="Roboto" panose="02000000000000000000" charset="0"/>
              </a:rPr>
              <a:t>32%</a:t>
            </a:r>
            <a:endParaRPr lang="zh-CN" altLang="en-US" sz="16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23" name="箭头: 上 22"/>
          <p:cNvSpPr/>
          <p:nvPr/>
        </p:nvSpPr>
        <p:spPr>
          <a:xfrm>
            <a:off x="3450057" y="4777159"/>
            <a:ext cx="94343" cy="190466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68674" y="5797380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A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63513" y="5796900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B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33" name="梯形 32"/>
          <p:cNvSpPr/>
          <p:nvPr/>
        </p:nvSpPr>
        <p:spPr>
          <a:xfrm rot="5400000">
            <a:off x="1578238" y="4681779"/>
            <a:ext cx="1041072" cy="676232"/>
          </a:xfrm>
          <a:prstGeom prst="trapezoid">
            <a:avLst>
              <a:gd name="adj" fmla="val 3767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71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梯形 33"/>
          <p:cNvSpPr/>
          <p:nvPr/>
        </p:nvSpPr>
        <p:spPr>
          <a:xfrm rot="16200000" flipH="1">
            <a:off x="2254233" y="4681779"/>
            <a:ext cx="1041072" cy="676232"/>
          </a:xfrm>
          <a:prstGeom prst="trapezoid">
            <a:avLst>
              <a:gd name="adj" fmla="val 3767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76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101056" y="4826484"/>
            <a:ext cx="667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  <a:cs typeface="Roboto" panose="02000000000000000000" charset="0"/>
              </a:rPr>
              <a:t>提</a:t>
            </a:r>
            <a:endParaRPr lang="en-US" altLang="zh-CN" sz="1200" b="1" dirty="0"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1200" b="1" dirty="0">
                <a:latin typeface="+mn-ea"/>
                <a:cs typeface="Roboto" panose="02000000000000000000" charset="0"/>
              </a:rPr>
              <a:t>升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035969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成本结构优化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094237" y="4406934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C</a:t>
            </a:r>
            <a:r>
              <a:rPr lang="zh-CN" altLang="en-US" sz="1200" dirty="0">
                <a:cs typeface="Roboto" panose="02000000000000000000" charset="0"/>
              </a:rPr>
              <a:t>：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613400" y="4425315"/>
            <a:ext cx="261429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cs typeface="Roboto" panose="02000000000000000000" charset="0"/>
              </a:rPr>
              <a:t>缩减 </a:t>
            </a:r>
            <a:r>
              <a:rPr lang="en-US" altLang="zh-CN" sz="1050" dirty="0">
                <a:cs typeface="Roboto" panose="02000000000000000000" charset="0"/>
              </a:rPr>
              <a:t>10% </a:t>
            </a:r>
            <a:r>
              <a:rPr lang="zh-CN" altLang="en-US" sz="1050" dirty="0">
                <a:cs typeface="Roboto" panose="02000000000000000000" charset="0"/>
              </a:rPr>
              <a:t>投放（占比降至约 </a:t>
            </a:r>
            <a:r>
              <a:rPr lang="en-US" altLang="zh-CN" sz="1050" dirty="0">
                <a:cs typeface="Roboto" panose="02000000000000000000" charset="0"/>
              </a:rPr>
              <a:t>21%</a:t>
            </a:r>
            <a:r>
              <a:rPr lang="zh-CN" altLang="en-US" sz="1050" dirty="0">
                <a:cs typeface="Roboto" panose="02000000000000000000" charset="0"/>
              </a:rPr>
              <a:t>）</a:t>
            </a:r>
            <a:r>
              <a:rPr lang="en-US" altLang="zh-CN" sz="1050" dirty="0">
                <a:cs typeface="Roboto" panose="02000000000000000000" charset="0"/>
              </a:rPr>
              <a:t> </a:t>
            </a:r>
            <a:endParaRPr lang="zh-CN" altLang="en-US" sz="1050" dirty="0">
              <a:cs typeface="Roboto" panose="020000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094237" y="5154712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D</a:t>
            </a:r>
            <a:r>
              <a:rPr lang="zh-CN" altLang="en-US" sz="1200" dirty="0">
                <a:cs typeface="Roboto" panose="02000000000000000000" charset="0"/>
              </a:rPr>
              <a:t>：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5613400" y="5172710"/>
            <a:ext cx="288861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cs typeface="Roboto" panose="02000000000000000000" charset="0"/>
              </a:rPr>
              <a:t>保持现有投放成本占比（约 </a:t>
            </a:r>
            <a:r>
              <a:rPr lang="en-US" altLang="zh-CN" sz="1050" dirty="0">
                <a:cs typeface="Roboto" panose="02000000000000000000" charset="0"/>
              </a:rPr>
              <a:t>18% </a:t>
            </a:r>
            <a:r>
              <a:rPr lang="zh-CN" altLang="en-US" sz="1050" dirty="0">
                <a:cs typeface="Roboto" panose="02000000000000000000" charset="0"/>
              </a:rPr>
              <a:t>）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8719732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数据沉淀复用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709230" y="4268220"/>
            <a:ext cx="2909052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latin typeface="+mn-ea"/>
                <a:cs typeface="Roboto" panose="02000000000000000000" charset="0"/>
              </a:rPr>
              <a:t>搭建 “平台 </a:t>
            </a:r>
            <a:r>
              <a:rPr lang="en-US" altLang="zh-CN" sz="1050" dirty="0">
                <a:latin typeface="+mn-ea"/>
                <a:cs typeface="Roboto" panose="02000000000000000000" charset="0"/>
              </a:rPr>
              <a:t>- </a:t>
            </a:r>
            <a:r>
              <a:rPr lang="zh-CN" altLang="en-US" sz="1050" dirty="0">
                <a:latin typeface="+mn-ea"/>
                <a:cs typeface="Roboto" panose="02000000000000000000" charset="0"/>
              </a:rPr>
              <a:t>内容 </a:t>
            </a:r>
            <a:r>
              <a:rPr lang="en-US" altLang="zh-CN" sz="1050" dirty="0">
                <a:latin typeface="+mn-ea"/>
                <a:cs typeface="Roboto" panose="02000000000000000000" charset="0"/>
              </a:rPr>
              <a:t>- </a:t>
            </a:r>
            <a:r>
              <a:rPr lang="zh-CN" altLang="en-US" sz="1050" dirty="0">
                <a:latin typeface="+mn-ea"/>
                <a:cs typeface="Roboto" panose="02000000000000000000" charset="0"/>
              </a:rPr>
              <a:t>人群” 数据看板，每周复盘高转化素材（如爆款 “</a:t>
            </a:r>
            <a:r>
              <a:rPr lang="en-US" altLang="zh-CN" sz="1050" dirty="0">
                <a:latin typeface="+mn-ea"/>
                <a:cs typeface="Roboto" panose="02000000000000000000" charset="0"/>
              </a:rPr>
              <a:t>10 </a:t>
            </a:r>
            <a:r>
              <a:rPr lang="zh-CN" altLang="en-US" sz="1050" dirty="0">
                <a:latin typeface="+mn-ea"/>
                <a:cs typeface="Roboto" panose="02000000000000000000" charset="0"/>
              </a:rPr>
              <a:t>秒底妆速成” 短视频 ），沉淀成标准化模板 。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8686499" y="5059249"/>
            <a:ext cx="2909052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latin typeface="+mn-ea"/>
                <a:cs typeface="Roboto" panose="02000000000000000000" charset="0"/>
              </a:rPr>
              <a:t>提取小红书高互动笔记关键词（“清透伪素颜”“混油天菜” ），反哺产品包装与详情页文案 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8616950" y="4345022"/>
            <a:ext cx="0" cy="538612"/>
          </a:xfrm>
          <a:prstGeom prst="line">
            <a:avLst/>
          </a:prstGeom>
          <a:ln w="381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616950" y="5110793"/>
            <a:ext cx="0" cy="538612"/>
          </a:xfrm>
          <a:prstGeom prst="line">
            <a:avLst/>
          </a:prstGeom>
          <a:ln w="381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877803" y="1234110"/>
            <a:ext cx="2025365" cy="2025365"/>
            <a:chOff x="889782" y="1223160"/>
            <a:chExt cx="2025365" cy="2025365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889782" y="2200275"/>
              <a:ext cx="20253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>
              <a:off x="889784" y="2235843"/>
              <a:ext cx="20253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588124" y="140965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投放</a:t>
            </a:r>
            <a:endParaRPr lang="en-US" altLang="zh-CN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侧重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977686" y="140965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优化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588124" y="241932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数据</a:t>
            </a:r>
            <a:endParaRPr lang="en-US" altLang="zh-CN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沉淀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977686" y="241932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阶段</a:t>
            </a:r>
            <a:endParaRPr lang="en-US" altLang="zh-CN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结论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5388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亮点工作与突破性进展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741300" y="1672088"/>
            <a:ext cx="3731575" cy="4419600"/>
            <a:chOff x="400877" y="977900"/>
            <a:chExt cx="3731575" cy="4419600"/>
          </a:xfrm>
        </p:grpSpPr>
        <p:sp>
          <p:nvSpPr>
            <p:cNvPr id="3" name="矩形: 折角 2"/>
            <p:cNvSpPr/>
            <p:nvPr/>
          </p:nvSpPr>
          <p:spPr>
            <a:xfrm>
              <a:off x="400877" y="977900"/>
              <a:ext cx="3256723" cy="4419600"/>
            </a:xfrm>
            <a:prstGeom prst="foldedCorner">
              <a:avLst>
                <a:gd name="adj" fmla="val 8278"/>
              </a:avLst>
            </a:prstGeom>
            <a:gradFill flip="none" rotWithShape="1"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>
                    <a:lumMod val="2000"/>
                    <a:lumOff val="98000"/>
                    <a:alpha val="26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19856" y="1460500"/>
              <a:ext cx="35125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cs typeface="Roboto" panose="02000000000000000000" charset="0"/>
                </a:rPr>
                <a:t>智慧仓储系统优化</a:t>
              </a:r>
              <a:endPara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19856" y="1829832"/>
              <a:ext cx="351259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chemeClr val="accent1">
                      <a:lumMod val="75000"/>
                    </a:schemeClr>
                  </a:solidFill>
                  <a:cs typeface="Roboto" panose="02000000000000000000" charset="0"/>
                </a:rPr>
                <a:t>从 传统存储 到 智慧物流的跨越</a:t>
              </a:r>
              <a:endParaRPr lang="zh-CN" altLang="en-US" sz="1000" b="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27823" y="2199164"/>
              <a:ext cx="2784944" cy="13719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在物流仓储行业，作为仓储运营团队负责人，本季度致力于智慧仓储系统的快速优化。传统仓储模式下，货物存储布局混乱，导致找货时间长、空间利用率低。通过引入大数据分析技术，对过往一年 </a:t>
              </a:r>
              <a:r>
                <a:rPr lang="en-US" altLang="zh-CN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50 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万条货物出入库记录进行深度剖析，精当掌握各类货物的出入库频率、存储时长等关键数据。</a:t>
              </a:r>
            </a:p>
          </p:txBody>
        </p:sp>
        <p:sp>
          <p:nvSpPr>
            <p:cNvPr id="44" name="椭圆 43"/>
            <p:cNvSpPr/>
            <p:nvPr/>
          </p:nvSpPr>
          <p:spPr>
            <a:xfrm>
              <a:off x="2891680" y="1246006"/>
              <a:ext cx="521086" cy="52108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45" name="Google Shape;8141;p82"/>
            <p:cNvGrpSpPr/>
            <p:nvPr/>
          </p:nvGrpSpPr>
          <p:grpSpPr>
            <a:xfrm>
              <a:off x="3006336" y="1361748"/>
              <a:ext cx="291774" cy="291748"/>
              <a:chOff x="-4478975" y="3251700"/>
              <a:chExt cx="293825" cy="293800"/>
            </a:xfrm>
            <a:solidFill>
              <a:schemeClr val="bg1"/>
            </a:solidFill>
          </p:grpSpPr>
          <p:sp>
            <p:nvSpPr>
              <p:cNvPr id="46" name="Google Shape;8142;p82"/>
              <p:cNvSpPr/>
              <p:nvPr/>
            </p:nvSpPr>
            <p:spPr>
              <a:xfrm>
                <a:off x="-4375000" y="3365100"/>
                <a:ext cx="85075" cy="1109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4436" extrusionOk="0">
                    <a:moveTo>
                      <a:pt x="662" y="1"/>
                    </a:moveTo>
                    <a:cubicBezTo>
                      <a:pt x="221" y="316"/>
                      <a:pt x="0" y="820"/>
                      <a:pt x="0" y="1387"/>
                    </a:cubicBezTo>
                    <a:cubicBezTo>
                      <a:pt x="0" y="2080"/>
                      <a:pt x="473" y="2773"/>
                      <a:pt x="1135" y="2994"/>
                    </a:cubicBezTo>
                    <a:cubicBezTo>
                      <a:pt x="1261" y="3025"/>
                      <a:pt x="1355" y="3183"/>
                      <a:pt x="1355" y="3309"/>
                    </a:cubicBezTo>
                    <a:lnTo>
                      <a:pt x="1355" y="4412"/>
                    </a:lnTo>
                    <a:cubicBezTo>
                      <a:pt x="1576" y="4427"/>
                      <a:pt x="1647" y="4435"/>
                      <a:pt x="1714" y="4435"/>
                    </a:cubicBezTo>
                    <a:cubicBezTo>
                      <a:pt x="1780" y="4435"/>
                      <a:pt x="1843" y="4427"/>
                      <a:pt x="2048" y="4412"/>
                    </a:cubicBezTo>
                    <a:lnTo>
                      <a:pt x="2048" y="3309"/>
                    </a:lnTo>
                    <a:cubicBezTo>
                      <a:pt x="2048" y="3151"/>
                      <a:pt x="2111" y="3025"/>
                      <a:pt x="2269" y="2994"/>
                    </a:cubicBezTo>
                    <a:cubicBezTo>
                      <a:pt x="2962" y="2710"/>
                      <a:pt x="3403" y="2080"/>
                      <a:pt x="3403" y="1387"/>
                    </a:cubicBezTo>
                    <a:cubicBezTo>
                      <a:pt x="3403" y="820"/>
                      <a:pt x="3119" y="316"/>
                      <a:pt x="2741" y="1"/>
                    </a:cubicBezTo>
                    <a:lnTo>
                      <a:pt x="2741" y="1387"/>
                    </a:lnTo>
                    <a:cubicBezTo>
                      <a:pt x="2741" y="1576"/>
                      <a:pt x="2584" y="1734"/>
                      <a:pt x="2395" y="1734"/>
                    </a:cubicBezTo>
                    <a:lnTo>
                      <a:pt x="1009" y="1734"/>
                    </a:lnTo>
                    <a:cubicBezTo>
                      <a:pt x="820" y="1734"/>
                      <a:pt x="662" y="1576"/>
                      <a:pt x="662" y="1387"/>
                    </a:cubicBezTo>
                    <a:lnTo>
                      <a:pt x="66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7" name="Google Shape;8143;p82"/>
              <p:cNvSpPr/>
              <p:nvPr/>
            </p:nvSpPr>
            <p:spPr>
              <a:xfrm>
                <a:off x="-4408875" y="3321800"/>
                <a:ext cx="154400" cy="148875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5955" extrusionOk="0">
                    <a:moveTo>
                      <a:pt x="3057" y="0"/>
                    </a:moveTo>
                    <a:cubicBezTo>
                      <a:pt x="1387" y="0"/>
                      <a:pt x="1" y="1386"/>
                      <a:pt x="1" y="3088"/>
                    </a:cubicBezTo>
                    <a:cubicBezTo>
                      <a:pt x="1" y="4411"/>
                      <a:pt x="851" y="5545"/>
                      <a:pt x="2049" y="5954"/>
                    </a:cubicBezTo>
                    <a:lnTo>
                      <a:pt x="2049" y="5230"/>
                    </a:lnTo>
                    <a:cubicBezTo>
                      <a:pt x="1229" y="4852"/>
                      <a:pt x="662" y="4001"/>
                      <a:pt x="662" y="3088"/>
                    </a:cubicBezTo>
                    <a:cubicBezTo>
                      <a:pt x="662" y="2048"/>
                      <a:pt x="1292" y="1134"/>
                      <a:pt x="2269" y="819"/>
                    </a:cubicBezTo>
                    <a:cubicBezTo>
                      <a:pt x="2307" y="810"/>
                      <a:pt x="2344" y="805"/>
                      <a:pt x="2380" y="805"/>
                    </a:cubicBezTo>
                    <a:cubicBezTo>
                      <a:pt x="2583" y="805"/>
                      <a:pt x="2742" y="947"/>
                      <a:pt x="2742" y="1134"/>
                    </a:cubicBezTo>
                    <a:lnTo>
                      <a:pt x="2742" y="2710"/>
                    </a:lnTo>
                    <a:lnTo>
                      <a:pt x="3435" y="2710"/>
                    </a:lnTo>
                    <a:lnTo>
                      <a:pt x="3435" y="1134"/>
                    </a:lnTo>
                    <a:cubicBezTo>
                      <a:pt x="3435" y="947"/>
                      <a:pt x="3594" y="805"/>
                      <a:pt x="3796" y="805"/>
                    </a:cubicBezTo>
                    <a:cubicBezTo>
                      <a:pt x="3832" y="805"/>
                      <a:pt x="3869" y="810"/>
                      <a:pt x="3907" y="819"/>
                    </a:cubicBezTo>
                    <a:cubicBezTo>
                      <a:pt x="4852" y="1197"/>
                      <a:pt x="5514" y="2079"/>
                      <a:pt x="5514" y="3088"/>
                    </a:cubicBezTo>
                    <a:cubicBezTo>
                      <a:pt x="5514" y="4001"/>
                      <a:pt x="4947" y="4852"/>
                      <a:pt x="4128" y="5230"/>
                    </a:cubicBezTo>
                    <a:lnTo>
                      <a:pt x="4128" y="5954"/>
                    </a:lnTo>
                    <a:cubicBezTo>
                      <a:pt x="5325" y="5513"/>
                      <a:pt x="6176" y="4411"/>
                      <a:pt x="6176" y="3088"/>
                    </a:cubicBezTo>
                    <a:cubicBezTo>
                      <a:pt x="6144" y="1386"/>
                      <a:pt x="4758" y="0"/>
                      <a:pt x="3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8" name="Google Shape;8144;p82"/>
              <p:cNvSpPr/>
              <p:nvPr/>
            </p:nvSpPr>
            <p:spPr>
              <a:xfrm>
                <a:off x="-4478975" y="3251700"/>
                <a:ext cx="293825" cy="29380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752" extrusionOk="0">
                    <a:moveTo>
                      <a:pt x="5861" y="2111"/>
                    </a:moveTo>
                    <a:cubicBezTo>
                      <a:pt x="7972" y="2111"/>
                      <a:pt x="9641" y="3781"/>
                      <a:pt x="9641" y="5892"/>
                    </a:cubicBezTo>
                    <a:cubicBezTo>
                      <a:pt x="9610" y="7971"/>
                      <a:pt x="7909" y="9672"/>
                      <a:pt x="5861" y="9672"/>
                    </a:cubicBezTo>
                    <a:cubicBezTo>
                      <a:pt x="3781" y="9672"/>
                      <a:pt x="2080" y="7971"/>
                      <a:pt x="2080" y="5892"/>
                    </a:cubicBezTo>
                    <a:cubicBezTo>
                      <a:pt x="2080" y="3781"/>
                      <a:pt x="3781" y="2111"/>
                      <a:pt x="5861" y="2111"/>
                    </a:cubicBezTo>
                    <a:close/>
                    <a:moveTo>
                      <a:pt x="5168" y="0"/>
                    </a:moveTo>
                    <a:cubicBezTo>
                      <a:pt x="5010" y="0"/>
                      <a:pt x="4884" y="126"/>
                      <a:pt x="4853" y="284"/>
                    </a:cubicBezTo>
                    <a:lnTo>
                      <a:pt x="4695" y="882"/>
                    </a:lnTo>
                    <a:cubicBezTo>
                      <a:pt x="4128" y="1008"/>
                      <a:pt x="3624" y="1229"/>
                      <a:pt x="3120" y="1512"/>
                    </a:cubicBezTo>
                    <a:lnTo>
                      <a:pt x="2616" y="1197"/>
                    </a:lnTo>
                    <a:cubicBezTo>
                      <a:pt x="2557" y="1153"/>
                      <a:pt x="2485" y="1130"/>
                      <a:pt x="2412" y="1130"/>
                    </a:cubicBezTo>
                    <a:cubicBezTo>
                      <a:pt x="2328" y="1130"/>
                      <a:pt x="2242" y="1161"/>
                      <a:pt x="2175" y="1229"/>
                    </a:cubicBezTo>
                    <a:lnTo>
                      <a:pt x="1198" y="2205"/>
                    </a:lnTo>
                    <a:cubicBezTo>
                      <a:pt x="1072" y="2332"/>
                      <a:pt x="1072" y="2489"/>
                      <a:pt x="1135" y="2647"/>
                    </a:cubicBezTo>
                    <a:lnTo>
                      <a:pt x="1450" y="3151"/>
                    </a:lnTo>
                    <a:cubicBezTo>
                      <a:pt x="1135" y="3623"/>
                      <a:pt x="946" y="4190"/>
                      <a:pt x="820" y="4726"/>
                    </a:cubicBezTo>
                    <a:lnTo>
                      <a:pt x="284" y="4883"/>
                    </a:lnTo>
                    <a:cubicBezTo>
                      <a:pt x="127" y="4946"/>
                      <a:pt x="1" y="5041"/>
                      <a:pt x="1" y="5198"/>
                    </a:cubicBezTo>
                    <a:lnTo>
                      <a:pt x="1" y="6585"/>
                    </a:lnTo>
                    <a:cubicBezTo>
                      <a:pt x="1" y="6742"/>
                      <a:pt x="127" y="6868"/>
                      <a:pt x="284" y="6900"/>
                    </a:cubicBezTo>
                    <a:lnTo>
                      <a:pt x="820" y="7057"/>
                    </a:lnTo>
                    <a:cubicBezTo>
                      <a:pt x="946" y="7593"/>
                      <a:pt x="1198" y="8128"/>
                      <a:pt x="1450" y="8632"/>
                    </a:cubicBezTo>
                    <a:lnTo>
                      <a:pt x="1135" y="9137"/>
                    </a:lnTo>
                    <a:cubicBezTo>
                      <a:pt x="1072" y="9263"/>
                      <a:pt x="1072" y="9452"/>
                      <a:pt x="1198" y="9578"/>
                    </a:cubicBezTo>
                    <a:lnTo>
                      <a:pt x="2175" y="10554"/>
                    </a:lnTo>
                    <a:cubicBezTo>
                      <a:pt x="2248" y="10628"/>
                      <a:pt x="2333" y="10659"/>
                      <a:pt x="2422" y="10659"/>
                    </a:cubicBezTo>
                    <a:cubicBezTo>
                      <a:pt x="2485" y="10659"/>
                      <a:pt x="2550" y="10643"/>
                      <a:pt x="2616" y="10617"/>
                    </a:cubicBezTo>
                    <a:lnTo>
                      <a:pt x="3120" y="10302"/>
                    </a:lnTo>
                    <a:cubicBezTo>
                      <a:pt x="3592" y="10617"/>
                      <a:pt x="4128" y="10806"/>
                      <a:pt x="4695" y="10932"/>
                    </a:cubicBezTo>
                    <a:lnTo>
                      <a:pt x="4853" y="11468"/>
                    </a:lnTo>
                    <a:cubicBezTo>
                      <a:pt x="4884" y="11625"/>
                      <a:pt x="5010" y="11751"/>
                      <a:pt x="5168" y="11751"/>
                    </a:cubicBezTo>
                    <a:lnTo>
                      <a:pt x="6554" y="11751"/>
                    </a:lnTo>
                    <a:cubicBezTo>
                      <a:pt x="6711" y="11751"/>
                      <a:pt x="6806" y="11625"/>
                      <a:pt x="6869" y="11468"/>
                    </a:cubicBezTo>
                    <a:lnTo>
                      <a:pt x="7026" y="10932"/>
                    </a:lnTo>
                    <a:cubicBezTo>
                      <a:pt x="7562" y="10806"/>
                      <a:pt x="8066" y="10554"/>
                      <a:pt x="8602" y="10302"/>
                    </a:cubicBezTo>
                    <a:lnTo>
                      <a:pt x="9106" y="10617"/>
                    </a:lnTo>
                    <a:cubicBezTo>
                      <a:pt x="9158" y="10643"/>
                      <a:pt x="9221" y="10659"/>
                      <a:pt x="9286" y="10659"/>
                    </a:cubicBezTo>
                    <a:cubicBezTo>
                      <a:pt x="9378" y="10659"/>
                      <a:pt x="9473" y="10628"/>
                      <a:pt x="9547" y="10554"/>
                    </a:cubicBezTo>
                    <a:lnTo>
                      <a:pt x="10523" y="9578"/>
                    </a:lnTo>
                    <a:cubicBezTo>
                      <a:pt x="10649" y="9452"/>
                      <a:pt x="10649" y="9294"/>
                      <a:pt x="10555" y="9137"/>
                    </a:cubicBezTo>
                    <a:lnTo>
                      <a:pt x="10240" y="8632"/>
                    </a:lnTo>
                    <a:cubicBezTo>
                      <a:pt x="10555" y="8160"/>
                      <a:pt x="10744" y="7593"/>
                      <a:pt x="10870" y="7057"/>
                    </a:cubicBezTo>
                    <a:lnTo>
                      <a:pt x="11469" y="6900"/>
                    </a:lnTo>
                    <a:cubicBezTo>
                      <a:pt x="11626" y="6868"/>
                      <a:pt x="11752" y="6742"/>
                      <a:pt x="11752" y="6585"/>
                    </a:cubicBezTo>
                    <a:lnTo>
                      <a:pt x="11752" y="5198"/>
                    </a:lnTo>
                    <a:cubicBezTo>
                      <a:pt x="11752" y="5041"/>
                      <a:pt x="11626" y="4946"/>
                      <a:pt x="11469" y="4883"/>
                    </a:cubicBezTo>
                    <a:lnTo>
                      <a:pt x="10870" y="4726"/>
                    </a:lnTo>
                    <a:cubicBezTo>
                      <a:pt x="10744" y="4190"/>
                      <a:pt x="10523" y="3686"/>
                      <a:pt x="10240" y="3151"/>
                    </a:cubicBezTo>
                    <a:lnTo>
                      <a:pt x="10555" y="2647"/>
                    </a:lnTo>
                    <a:cubicBezTo>
                      <a:pt x="10649" y="2521"/>
                      <a:pt x="10649" y="2332"/>
                      <a:pt x="10523" y="2205"/>
                    </a:cubicBezTo>
                    <a:lnTo>
                      <a:pt x="9547" y="1229"/>
                    </a:lnTo>
                    <a:cubicBezTo>
                      <a:pt x="9479" y="1161"/>
                      <a:pt x="9403" y="1130"/>
                      <a:pt x="9322" y="1130"/>
                    </a:cubicBezTo>
                    <a:cubicBezTo>
                      <a:pt x="9252" y="1130"/>
                      <a:pt x="9179" y="1153"/>
                      <a:pt x="9106" y="1197"/>
                    </a:cubicBezTo>
                    <a:lnTo>
                      <a:pt x="8602" y="1512"/>
                    </a:lnTo>
                    <a:cubicBezTo>
                      <a:pt x="8129" y="1197"/>
                      <a:pt x="7562" y="1008"/>
                      <a:pt x="7026" y="882"/>
                    </a:cubicBezTo>
                    <a:lnTo>
                      <a:pt x="6869" y="284"/>
                    </a:lnTo>
                    <a:cubicBezTo>
                      <a:pt x="6806" y="126"/>
                      <a:pt x="6711" y="0"/>
                      <a:pt x="655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77" name="组合 176"/>
          <p:cNvGrpSpPr/>
          <p:nvPr/>
        </p:nvGrpSpPr>
        <p:grpSpPr>
          <a:xfrm>
            <a:off x="4350202" y="1243354"/>
            <a:ext cx="3731575" cy="4419600"/>
            <a:chOff x="4471588" y="1246066"/>
            <a:chExt cx="3731575" cy="4419600"/>
          </a:xfrm>
        </p:grpSpPr>
        <p:sp>
          <p:nvSpPr>
            <p:cNvPr id="75" name="矩形: 折角 74"/>
            <p:cNvSpPr/>
            <p:nvPr/>
          </p:nvSpPr>
          <p:spPr>
            <a:xfrm>
              <a:off x="4471588" y="1246066"/>
              <a:ext cx="3256723" cy="4419600"/>
            </a:xfrm>
            <a:prstGeom prst="foldedCorner">
              <a:avLst>
                <a:gd name="adj" fmla="val 8278"/>
              </a:avLst>
            </a:prstGeom>
            <a:gradFill flip="none" rotWithShape="1"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>
                    <a:lumMod val="2000"/>
                    <a:lumOff val="98000"/>
                    <a:alpha val="26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4690567" y="1728666"/>
              <a:ext cx="35125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b="1"/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绿色物流项目推进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4690567" y="2097998"/>
              <a:ext cx="351259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accent1">
                      <a:lumMod val="75000"/>
                    </a:schemeClr>
                  </a:solidFill>
                </a:defRPr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开辟 “低碳环保” 新征程</a:t>
              </a: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4698534" y="2467330"/>
              <a:ext cx="2784944" cy="10028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积极响应行业绿色发展号召，主导绿色物流项目。在深入调研市场后，决定从运输环节入手，引入新能源车辆。与知名新能源汽车制造商合作，单批狗置 </a:t>
              </a:r>
              <a:r>
                <a:rPr lang="en-US" altLang="zh-CN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10 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辆纯电动货车，替换部分传统燃油车辆，投入到市内短途配送路线。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698534" y="3546706"/>
              <a:ext cx="2784944" cy="10028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为保障新能源车辆的</a:t>
              </a:r>
              <a:r>
                <a:rPr lang="zh-CN" altLang="en-US" sz="1000" dirty="0">
                  <a:latin typeface="Roboto" panose="02000000000000000000" charset="0"/>
                  <a:cs typeface="Roboto" panose="02000000000000000000" charset="0"/>
                </a:rPr>
                <a:t>高能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运行，同步在公司物流园区建设 </a:t>
              </a:r>
              <a:r>
                <a:rPr lang="en-US" altLang="zh-CN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5 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个充电桩，满足车辆日常充电需求。在项目实施过程中，通过实时监测车辆行驶数据和能耗情况，不断优化配送路线，提高车辆满载率。</a:t>
              </a:r>
            </a:p>
          </p:txBody>
        </p:sp>
        <p:sp>
          <p:nvSpPr>
            <p:cNvPr id="81" name="椭圆 80"/>
            <p:cNvSpPr/>
            <p:nvPr/>
          </p:nvSpPr>
          <p:spPr>
            <a:xfrm>
              <a:off x="6962391" y="1514172"/>
              <a:ext cx="521086" cy="52108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82" name="Google Shape;8141;p82"/>
            <p:cNvGrpSpPr/>
            <p:nvPr/>
          </p:nvGrpSpPr>
          <p:grpSpPr>
            <a:xfrm>
              <a:off x="7077047" y="1629914"/>
              <a:ext cx="291774" cy="291748"/>
              <a:chOff x="-4478975" y="3251700"/>
              <a:chExt cx="293825" cy="293800"/>
            </a:xfrm>
            <a:solidFill>
              <a:schemeClr val="bg1"/>
            </a:solidFill>
          </p:grpSpPr>
          <p:sp>
            <p:nvSpPr>
              <p:cNvPr id="83" name="Google Shape;8142;p82"/>
              <p:cNvSpPr/>
              <p:nvPr/>
            </p:nvSpPr>
            <p:spPr>
              <a:xfrm>
                <a:off x="-4375000" y="3365100"/>
                <a:ext cx="85075" cy="1109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4436" extrusionOk="0">
                    <a:moveTo>
                      <a:pt x="662" y="1"/>
                    </a:moveTo>
                    <a:cubicBezTo>
                      <a:pt x="221" y="316"/>
                      <a:pt x="0" y="820"/>
                      <a:pt x="0" y="1387"/>
                    </a:cubicBezTo>
                    <a:cubicBezTo>
                      <a:pt x="0" y="2080"/>
                      <a:pt x="473" y="2773"/>
                      <a:pt x="1135" y="2994"/>
                    </a:cubicBezTo>
                    <a:cubicBezTo>
                      <a:pt x="1261" y="3025"/>
                      <a:pt x="1355" y="3183"/>
                      <a:pt x="1355" y="3309"/>
                    </a:cubicBezTo>
                    <a:lnTo>
                      <a:pt x="1355" y="4412"/>
                    </a:lnTo>
                    <a:cubicBezTo>
                      <a:pt x="1576" y="4427"/>
                      <a:pt x="1647" y="4435"/>
                      <a:pt x="1714" y="4435"/>
                    </a:cubicBezTo>
                    <a:cubicBezTo>
                      <a:pt x="1780" y="4435"/>
                      <a:pt x="1843" y="4427"/>
                      <a:pt x="2048" y="4412"/>
                    </a:cubicBezTo>
                    <a:lnTo>
                      <a:pt x="2048" y="3309"/>
                    </a:lnTo>
                    <a:cubicBezTo>
                      <a:pt x="2048" y="3151"/>
                      <a:pt x="2111" y="3025"/>
                      <a:pt x="2269" y="2994"/>
                    </a:cubicBezTo>
                    <a:cubicBezTo>
                      <a:pt x="2962" y="2710"/>
                      <a:pt x="3403" y="2080"/>
                      <a:pt x="3403" y="1387"/>
                    </a:cubicBezTo>
                    <a:cubicBezTo>
                      <a:pt x="3403" y="820"/>
                      <a:pt x="3119" y="316"/>
                      <a:pt x="2741" y="1"/>
                    </a:cubicBezTo>
                    <a:lnTo>
                      <a:pt x="2741" y="1387"/>
                    </a:lnTo>
                    <a:cubicBezTo>
                      <a:pt x="2741" y="1576"/>
                      <a:pt x="2584" y="1734"/>
                      <a:pt x="2395" y="1734"/>
                    </a:cubicBezTo>
                    <a:lnTo>
                      <a:pt x="1009" y="1734"/>
                    </a:lnTo>
                    <a:cubicBezTo>
                      <a:pt x="820" y="1734"/>
                      <a:pt x="662" y="1576"/>
                      <a:pt x="662" y="1387"/>
                    </a:cubicBezTo>
                    <a:lnTo>
                      <a:pt x="66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4" name="Google Shape;8143;p82"/>
              <p:cNvSpPr/>
              <p:nvPr/>
            </p:nvSpPr>
            <p:spPr>
              <a:xfrm>
                <a:off x="-4408875" y="3321800"/>
                <a:ext cx="154400" cy="148875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5955" extrusionOk="0">
                    <a:moveTo>
                      <a:pt x="3057" y="0"/>
                    </a:moveTo>
                    <a:cubicBezTo>
                      <a:pt x="1387" y="0"/>
                      <a:pt x="1" y="1386"/>
                      <a:pt x="1" y="3088"/>
                    </a:cubicBezTo>
                    <a:cubicBezTo>
                      <a:pt x="1" y="4411"/>
                      <a:pt x="851" y="5545"/>
                      <a:pt x="2049" y="5954"/>
                    </a:cubicBezTo>
                    <a:lnTo>
                      <a:pt x="2049" y="5230"/>
                    </a:lnTo>
                    <a:cubicBezTo>
                      <a:pt x="1229" y="4852"/>
                      <a:pt x="662" y="4001"/>
                      <a:pt x="662" y="3088"/>
                    </a:cubicBezTo>
                    <a:cubicBezTo>
                      <a:pt x="662" y="2048"/>
                      <a:pt x="1292" y="1134"/>
                      <a:pt x="2269" y="819"/>
                    </a:cubicBezTo>
                    <a:cubicBezTo>
                      <a:pt x="2307" y="810"/>
                      <a:pt x="2344" y="805"/>
                      <a:pt x="2380" y="805"/>
                    </a:cubicBezTo>
                    <a:cubicBezTo>
                      <a:pt x="2583" y="805"/>
                      <a:pt x="2742" y="947"/>
                      <a:pt x="2742" y="1134"/>
                    </a:cubicBezTo>
                    <a:lnTo>
                      <a:pt x="2742" y="2710"/>
                    </a:lnTo>
                    <a:lnTo>
                      <a:pt x="3435" y="2710"/>
                    </a:lnTo>
                    <a:lnTo>
                      <a:pt x="3435" y="1134"/>
                    </a:lnTo>
                    <a:cubicBezTo>
                      <a:pt x="3435" y="947"/>
                      <a:pt x="3594" y="805"/>
                      <a:pt x="3796" y="805"/>
                    </a:cubicBezTo>
                    <a:cubicBezTo>
                      <a:pt x="3832" y="805"/>
                      <a:pt x="3869" y="810"/>
                      <a:pt x="3907" y="819"/>
                    </a:cubicBezTo>
                    <a:cubicBezTo>
                      <a:pt x="4852" y="1197"/>
                      <a:pt x="5514" y="2079"/>
                      <a:pt x="5514" y="3088"/>
                    </a:cubicBezTo>
                    <a:cubicBezTo>
                      <a:pt x="5514" y="4001"/>
                      <a:pt x="4947" y="4852"/>
                      <a:pt x="4128" y="5230"/>
                    </a:cubicBezTo>
                    <a:lnTo>
                      <a:pt x="4128" y="5954"/>
                    </a:lnTo>
                    <a:cubicBezTo>
                      <a:pt x="5325" y="5513"/>
                      <a:pt x="6176" y="4411"/>
                      <a:pt x="6176" y="3088"/>
                    </a:cubicBezTo>
                    <a:cubicBezTo>
                      <a:pt x="6144" y="1386"/>
                      <a:pt x="4758" y="0"/>
                      <a:pt x="3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5" name="Google Shape;8144;p82"/>
              <p:cNvSpPr/>
              <p:nvPr/>
            </p:nvSpPr>
            <p:spPr>
              <a:xfrm>
                <a:off x="-4478975" y="3251700"/>
                <a:ext cx="293825" cy="29380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752" extrusionOk="0">
                    <a:moveTo>
                      <a:pt x="5861" y="2111"/>
                    </a:moveTo>
                    <a:cubicBezTo>
                      <a:pt x="7972" y="2111"/>
                      <a:pt x="9641" y="3781"/>
                      <a:pt x="9641" y="5892"/>
                    </a:cubicBezTo>
                    <a:cubicBezTo>
                      <a:pt x="9610" y="7971"/>
                      <a:pt x="7909" y="9672"/>
                      <a:pt x="5861" y="9672"/>
                    </a:cubicBezTo>
                    <a:cubicBezTo>
                      <a:pt x="3781" y="9672"/>
                      <a:pt x="2080" y="7971"/>
                      <a:pt x="2080" y="5892"/>
                    </a:cubicBezTo>
                    <a:cubicBezTo>
                      <a:pt x="2080" y="3781"/>
                      <a:pt x="3781" y="2111"/>
                      <a:pt x="5861" y="2111"/>
                    </a:cubicBezTo>
                    <a:close/>
                    <a:moveTo>
                      <a:pt x="5168" y="0"/>
                    </a:moveTo>
                    <a:cubicBezTo>
                      <a:pt x="5010" y="0"/>
                      <a:pt x="4884" y="126"/>
                      <a:pt x="4853" y="284"/>
                    </a:cubicBezTo>
                    <a:lnTo>
                      <a:pt x="4695" y="882"/>
                    </a:lnTo>
                    <a:cubicBezTo>
                      <a:pt x="4128" y="1008"/>
                      <a:pt x="3624" y="1229"/>
                      <a:pt x="3120" y="1512"/>
                    </a:cubicBezTo>
                    <a:lnTo>
                      <a:pt x="2616" y="1197"/>
                    </a:lnTo>
                    <a:cubicBezTo>
                      <a:pt x="2557" y="1153"/>
                      <a:pt x="2485" y="1130"/>
                      <a:pt x="2412" y="1130"/>
                    </a:cubicBezTo>
                    <a:cubicBezTo>
                      <a:pt x="2328" y="1130"/>
                      <a:pt x="2242" y="1161"/>
                      <a:pt x="2175" y="1229"/>
                    </a:cubicBezTo>
                    <a:lnTo>
                      <a:pt x="1198" y="2205"/>
                    </a:lnTo>
                    <a:cubicBezTo>
                      <a:pt x="1072" y="2332"/>
                      <a:pt x="1072" y="2489"/>
                      <a:pt x="1135" y="2647"/>
                    </a:cubicBezTo>
                    <a:lnTo>
                      <a:pt x="1450" y="3151"/>
                    </a:lnTo>
                    <a:cubicBezTo>
                      <a:pt x="1135" y="3623"/>
                      <a:pt x="946" y="4190"/>
                      <a:pt x="820" y="4726"/>
                    </a:cubicBezTo>
                    <a:lnTo>
                      <a:pt x="284" y="4883"/>
                    </a:lnTo>
                    <a:cubicBezTo>
                      <a:pt x="127" y="4946"/>
                      <a:pt x="1" y="5041"/>
                      <a:pt x="1" y="5198"/>
                    </a:cubicBezTo>
                    <a:lnTo>
                      <a:pt x="1" y="6585"/>
                    </a:lnTo>
                    <a:cubicBezTo>
                      <a:pt x="1" y="6742"/>
                      <a:pt x="127" y="6868"/>
                      <a:pt x="284" y="6900"/>
                    </a:cubicBezTo>
                    <a:lnTo>
                      <a:pt x="820" y="7057"/>
                    </a:lnTo>
                    <a:cubicBezTo>
                      <a:pt x="946" y="7593"/>
                      <a:pt x="1198" y="8128"/>
                      <a:pt x="1450" y="8632"/>
                    </a:cubicBezTo>
                    <a:lnTo>
                      <a:pt x="1135" y="9137"/>
                    </a:lnTo>
                    <a:cubicBezTo>
                      <a:pt x="1072" y="9263"/>
                      <a:pt x="1072" y="9452"/>
                      <a:pt x="1198" y="9578"/>
                    </a:cubicBezTo>
                    <a:lnTo>
                      <a:pt x="2175" y="10554"/>
                    </a:lnTo>
                    <a:cubicBezTo>
                      <a:pt x="2248" y="10628"/>
                      <a:pt x="2333" y="10659"/>
                      <a:pt x="2422" y="10659"/>
                    </a:cubicBezTo>
                    <a:cubicBezTo>
                      <a:pt x="2485" y="10659"/>
                      <a:pt x="2550" y="10643"/>
                      <a:pt x="2616" y="10617"/>
                    </a:cubicBezTo>
                    <a:lnTo>
                      <a:pt x="3120" y="10302"/>
                    </a:lnTo>
                    <a:cubicBezTo>
                      <a:pt x="3592" y="10617"/>
                      <a:pt x="4128" y="10806"/>
                      <a:pt x="4695" y="10932"/>
                    </a:cubicBezTo>
                    <a:lnTo>
                      <a:pt x="4853" y="11468"/>
                    </a:lnTo>
                    <a:cubicBezTo>
                      <a:pt x="4884" y="11625"/>
                      <a:pt x="5010" y="11751"/>
                      <a:pt x="5168" y="11751"/>
                    </a:cubicBezTo>
                    <a:lnTo>
                      <a:pt x="6554" y="11751"/>
                    </a:lnTo>
                    <a:cubicBezTo>
                      <a:pt x="6711" y="11751"/>
                      <a:pt x="6806" y="11625"/>
                      <a:pt x="6869" y="11468"/>
                    </a:cubicBezTo>
                    <a:lnTo>
                      <a:pt x="7026" y="10932"/>
                    </a:lnTo>
                    <a:cubicBezTo>
                      <a:pt x="7562" y="10806"/>
                      <a:pt x="8066" y="10554"/>
                      <a:pt x="8602" y="10302"/>
                    </a:cubicBezTo>
                    <a:lnTo>
                      <a:pt x="9106" y="10617"/>
                    </a:lnTo>
                    <a:cubicBezTo>
                      <a:pt x="9158" y="10643"/>
                      <a:pt x="9221" y="10659"/>
                      <a:pt x="9286" y="10659"/>
                    </a:cubicBezTo>
                    <a:cubicBezTo>
                      <a:pt x="9378" y="10659"/>
                      <a:pt x="9473" y="10628"/>
                      <a:pt x="9547" y="10554"/>
                    </a:cubicBezTo>
                    <a:lnTo>
                      <a:pt x="10523" y="9578"/>
                    </a:lnTo>
                    <a:cubicBezTo>
                      <a:pt x="10649" y="9452"/>
                      <a:pt x="10649" y="9294"/>
                      <a:pt x="10555" y="9137"/>
                    </a:cubicBezTo>
                    <a:lnTo>
                      <a:pt x="10240" y="8632"/>
                    </a:lnTo>
                    <a:cubicBezTo>
                      <a:pt x="10555" y="8160"/>
                      <a:pt x="10744" y="7593"/>
                      <a:pt x="10870" y="7057"/>
                    </a:cubicBezTo>
                    <a:lnTo>
                      <a:pt x="11469" y="6900"/>
                    </a:lnTo>
                    <a:cubicBezTo>
                      <a:pt x="11626" y="6868"/>
                      <a:pt x="11752" y="6742"/>
                      <a:pt x="11752" y="6585"/>
                    </a:cubicBezTo>
                    <a:lnTo>
                      <a:pt x="11752" y="5198"/>
                    </a:lnTo>
                    <a:cubicBezTo>
                      <a:pt x="11752" y="5041"/>
                      <a:pt x="11626" y="4946"/>
                      <a:pt x="11469" y="4883"/>
                    </a:cubicBezTo>
                    <a:lnTo>
                      <a:pt x="10870" y="4726"/>
                    </a:lnTo>
                    <a:cubicBezTo>
                      <a:pt x="10744" y="4190"/>
                      <a:pt x="10523" y="3686"/>
                      <a:pt x="10240" y="3151"/>
                    </a:cubicBezTo>
                    <a:lnTo>
                      <a:pt x="10555" y="2647"/>
                    </a:lnTo>
                    <a:cubicBezTo>
                      <a:pt x="10649" y="2521"/>
                      <a:pt x="10649" y="2332"/>
                      <a:pt x="10523" y="2205"/>
                    </a:cubicBezTo>
                    <a:lnTo>
                      <a:pt x="9547" y="1229"/>
                    </a:lnTo>
                    <a:cubicBezTo>
                      <a:pt x="9479" y="1161"/>
                      <a:pt x="9403" y="1130"/>
                      <a:pt x="9322" y="1130"/>
                    </a:cubicBezTo>
                    <a:cubicBezTo>
                      <a:pt x="9252" y="1130"/>
                      <a:pt x="9179" y="1153"/>
                      <a:pt x="9106" y="1197"/>
                    </a:cubicBezTo>
                    <a:lnTo>
                      <a:pt x="8602" y="1512"/>
                    </a:lnTo>
                    <a:cubicBezTo>
                      <a:pt x="8129" y="1197"/>
                      <a:pt x="7562" y="1008"/>
                      <a:pt x="7026" y="882"/>
                    </a:cubicBezTo>
                    <a:lnTo>
                      <a:pt x="6869" y="284"/>
                    </a:lnTo>
                    <a:cubicBezTo>
                      <a:pt x="6806" y="126"/>
                      <a:pt x="6711" y="0"/>
                      <a:pt x="655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87" name="矩形: 折角 86"/>
          <p:cNvSpPr/>
          <p:nvPr/>
        </p:nvSpPr>
        <p:spPr>
          <a:xfrm>
            <a:off x="7977454" y="925857"/>
            <a:ext cx="3256723" cy="4419600"/>
          </a:xfrm>
          <a:prstGeom prst="foldedCorner">
            <a:avLst>
              <a:gd name="adj" fmla="val 8278"/>
            </a:avLst>
          </a:prstGeom>
          <a:gradFill flip="none" rotWithShape="1">
            <a:gsLst>
              <a:gs pos="18000">
                <a:schemeClr val="accent1">
                  <a:alpha val="0"/>
                </a:schemeClr>
              </a:gs>
              <a:gs pos="100000">
                <a:schemeClr val="accent1">
                  <a:lumMod val="2000"/>
                  <a:lumOff val="98000"/>
                  <a:alpha val="26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196433" y="1408457"/>
            <a:ext cx="3512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>
                <a:cs typeface="Roboto" panose="02000000000000000000" charset="0"/>
              </a:rPr>
              <a:t>供应链协同创新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8196433" y="1777789"/>
            <a:ext cx="351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构建 “共赢共生” 新生态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8204400" y="2147121"/>
            <a:ext cx="2784944" cy="100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打破传统供应链各环节之间的壁垒，牵头推动供应链协同创新项目。组织供应链上下游企业，包括供应商、制造商、经销商等 </a:t>
            </a:r>
            <a:r>
              <a:rPr lang="en-US" altLang="zh-CN" sz="1000" b="0" i="0" dirty="0">
                <a:effectLst/>
                <a:latin typeface="Roboto" panose="02000000000000000000" charset="0"/>
                <a:cs typeface="Roboto" panose="02000000000000000000" charset="0"/>
              </a:rPr>
              <a:t>20 </a:t>
            </a: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余家企业，召开供应链协同研讨会，共同分析行业痛点，寻求合作共赢的处理方案。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8204400" y="3226497"/>
            <a:ext cx="2784944" cy="13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搭建了一个基于区块链技术的供应链信息共享平台，实现了订单、库存、物流等信息的实时共享和透明化。通过这个平台，供应商可以提前了解制造商的原材料需求，合理安排生产计划，减少库存积压；制造商能够根据市场需求及时调整生产策略，提高生产效率；经销商则能实时掌握货物运输状态，合理安排销售活动。</a:t>
            </a:r>
          </a:p>
        </p:txBody>
      </p:sp>
      <p:sp>
        <p:nvSpPr>
          <p:cNvPr id="93" name="椭圆 92"/>
          <p:cNvSpPr/>
          <p:nvPr/>
        </p:nvSpPr>
        <p:spPr>
          <a:xfrm>
            <a:off x="10468257" y="1193963"/>
            <a:ext cx="521086" cy="5210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94" name="Google Shape;8141;p82"/>
          <p:cNvGrpSpPr/>
          <p:nvPr/>
        </p:nvGrpSpPr>
        <p:grpSpPr>
          <a:xfrm>
            <a:off x="10582913" y="1309705"/>
            <a:ext cx="291774" cy="291748"/>
            <a:chOff x="-4478975" y="3251700"/>
            <a:chExt cx="293825" cy="293800"/>
          </a:xfrm>
          <a:solidFill>
            <a:schemeClr val="bg1"/>
          </a:solidFill>
        </p:grpSpPr>
        <p:sp>
          <p:nvSpPr>
            <p:cNvPr id="95" name="Google Shape;8142;p82"/>
            <p:cNvSpPr/>
            <p:nvPr/>
          </p:nvSpPr>
          <p:spPr>
            <a:xfrm>
              <a:off x="-4375000" y="3365100"/>
              <a:ext cx="85075" cy="110900"/>
            </a:xfrm>
            <a:custGeom>
              <a:avLst/>
              <a:gdLst/>
              <a:ahLst/>
              <a:cxnLst/>
              <a:rect l="l" t="t" r="r" b="b"/>
              <a:pathLst>
                <a:path w="3403" h="4436" extrusionOk="0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96" name="Google Shape;8143;p82"/>
            <p:cNvSpPr/>
            <p:nvPr/>
          </p:nvSpPr>
          <p:spPr>
            <a:xfrm>
              <a:off x="-4408875" y="3321800"/>
              <a:ext cx="154400" cy="148875"/>
            </a:xfrm>
            <a:custGeom>
              <a:avLst/>
              <a:gdLst/>
              <a:ahLst/>
              <a:cxnLst/>
              <a:rect l="l" t="t" r="r" b="b"/>
              <a:pathLst>
                <a:path w="6176" h="5955" extrusionOk="0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97" name="Google Shape;8144;p82"/>
            <p:cNvSpPr/>
            <p:nvPr/>
          </p:nvSpPr>
          <p:spPr>
            <a:xfrm>
              <a:off x="-4478975" y="3251700"/>
              <a:ext cx="293825" cy="293800"/>
            </a:xfrm>
            <a:custGeom>
              <a:avLst/>
              <a:gdLst/>
              <a:ahLst/>
              <a:cxnLst/>
              <a:rect l="l" t="t" r="r" b="b"/>
              <a:pathLst>
                <a:path w="11753" h="11752" extrusionOk="0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13" name="任意多边形: 形状 112"/>
          <p:cNvSpPr/>
          <p:nvPr/>
        </p:nvSpPr>
        <p:spPr>
          <a:xfrm rot="21299466" flipH="1">
            <a:off x="475533" y="5055356"/>
            <a:ext cx="11453855" cy="1760169"/>
          </a:xfrm>
          <a:custGeom>
            <a:avLst/>
            <a:gdLst>
              <a:gd name="connsiteX0" fmla="*/ 0 w 10267950"/>
              <a:gd name="connsiteY0" fmla="*/ 0 h 647700"/>
              <a:gd name="connsiteX1" fmla="*/ 133350 w 10267950"/>
              <a:gd name="connsiteY1" fmla="*/ 647700 h 647700"/>
              <a:gd name="connsiteX2" fmla="*/ 10267950 w 10267950"/>
              <a:gd name="connsiteY2" fmla="*/ 361950 h 647700"/>
              <a:gd name="connsiteX3" fmla="*/ 10210800 w 10267950"/>
              <a:gd name="connsiteY3" fmla="*/ 76200 h 647700"/>
              <a:gd name="connsiteX4" fmla="*/ 0 w 10267950"/>
              <a:gd name="connsiteY4" fmla="*/ 0 h 647700"/>
              <a:gd name="connsiteX0-1" fmla="*/ 0 w 10210800"/>
              <a:gd name="connsiteY0-2" fmla="*/ 0 h 647700"/>
              <a:gd name="connsiteX1-3" fmla="*/ 133350 w 10210800"/>
              <a:gd name="connsiteY1-4" fmla="*/ 647700 h 647700"/>
              <a:gd name="connsiteX2-5" fmla="*/ 10016597 w 10210800"/>
              <a:gd name="connsiteY2-6" fmla="*/ 373374 h 647700"/>
              <a:gd name="connsiteX3-7" fmla="*/ 10210800 w 10210800"/>
              <a:gd name="connsiteY3-8" fmla="*/ 76200 h 647700"/>
              <a:gd name="connsiteX4-9" fmla="*/ 0 w 10210800"/>
              <a:gd name="connsiteY4-10" fmla="*/ 0 h 647700"/>
              <a:gd name="connsiteX0-11" fmla="*/ 0 w 10210800"/>
              <a:gd name="connsiteY0-12" fmla="*/ 0 h 641988"/>
              <a:gd name="connsiteX1-13" fmla="*/ 259027 w 10210800"/>
              <a:gd name="connsiteY1-14" fmla="*/ 641988 h 641988"/>
              <a:gd name="connsiteX2-15" fmla="*/ 10016597 w 10210800"/>
              <a:gd name="connsiteY2-16" fmla="*/ 373374 h 641988"/>
              <a:gd name="connsiteX3-17" fmla="*/ 10210800 w 10210800"/>
              <a:gd name="connsiteY3-18" fmla="*/ 76200 h 641988"/>
              <a:gd name="connsiteX4-19" fmla="*/ 0 w 10210800"/>
              <a:gd name="connsiteY4-20" fmla="*/ 0 h 641988"/>
              <a:gd name="connsiteX0-21" fmla="*/ 0 w 10210800"/>
              <a:gd name="connsiteY0-22" fmla="*/ 0 h 635901"/>
              <a:gd name="connsiteX1-23" fmla="*/ 553498 w 10210800"/>
              <a:gd name="connsiteY1-24" fmla="*/ 635901 h 635901"/>
              <a:gd name="connsiteX2-25" fmla="*/ 10016597 w 10210800"/>
              <a:gd name="connsiteY2-26" fmla="*/ 373374 h 635901"/>
              <a:gd name="connsiteX3-27" fmla="*/ 10210800 w 10210800"/>
              <a:gd name="connsiteY3-28" fmla="*/ 76200 h 635901"/>
              <a:gd name="connsiteX4-29" fmla="*/ 0 w 10210800"/>
              <a:gd name="connsiteY4-30" fmla="*/ 0 h 635901"/>
              <a:gd name="connsiteX0-31" fmla="*/ 0 w 10210800"/>
              <a:gd name="connsiteY0-32" fmla="*/ 0 h 635901"/>
              <a:gd name="connsiteX1-33" fmla="*/ 553498 w 10210800"/>
              <a:gd name="connsiteY1-34" fmla="*/ 635901 h 635901"/>
              <a:gd name="connsiteX2-35" fmla="*/ 9876956 w 10210800"/>
              <a:gd name="connsiteY2-36" fmla="*/ 379721 h 635901"/>
              <a:gd name="connsiteX3-37" fmla="*/ 10210800 w 10210800"/>
              <a:gd name="connsiteY3-38" fmla="*/ 76200 h 635901"/>
              <a:gd name="connsiteX4-39" fmla="*/ 0 w 10210800"/>
              <a:gd name="connsiteY4-40" fmla="*/ 0 h 635901"/>
              <a:gd name="connsiteX0-41" fmla="*/ 0 w 10191440"/>
              <a:gd name="connsiteY0-42" fmla="*/ 0 h 635901"/>
              <a:gd name="connsiteX1-43" fmla="*/ 553498 w 10191440"/>
              <a:gd name="connsiteY1-44" fmla="*/ 635901 h 635901"/>
              <a:gd name="connsiteX2-45" fmla="*/ 9876956 w 10191440"/>
              <a:gd name="connsiteY2-46" fmla="*/ 379721 h 635901"/>
              <a:gd name="connsiteX3-47" fmla="*/ 10191440 w 10191440"/>
              <a:gd name="connsiteY3-48" fmla="*/ 128158 h 635901"/>
              <a:gd name="connsiteX4-49" fmla="*/ 0 w 10191440"/>
              <a:gd name="connsiteY4-50" fmla="*/ 0 h 6359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191440" h="635901">
                <a:moveTo>
                  <a:pt x="0" y="0"/>
                </a:moveTo>
                <a:lnTo>
                  <a:pt x="553498" y="635901"/>
                </a:lnTo>
                <a:lnTo>
                  <a:pt x="9876956" y="379721"/>
                </a:lnTo>
                <a:lnTo>
                  <a:pt x="10191440" y="12815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37" name="Google Shape;5288;p76"/>
          <p:cNvGrpSpPr/>
          <p:nvPr/>
        </p:nvGrpSpPr>
        <p:grpSpPr>
          <a:xfrm rot="20703080">
            <a:off x="11389642" y="4491541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38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9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6" name="Google Shape;5288;p76"/>
          <p:cNvGrpSpPr/>
          <p:nvPr/>
        </p:nvGrpSpPr>
        <p:grpSpPr>
          <a:xfrm rot="21407665">
            <a:off x="10464603" y="5591452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47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8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9" name="Google Shape;5288;p76"/>
          <p:cNvGrpSpPr/>
          <p:nvPr/>
        </p:nvGrpSpPr>
        <p:grpSpPr>
          <a:xfrm rot="21407665">
            <a:off x="10124433" y="5966412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50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51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52" name="Google Shape;5288;p76"/>
          <p:cNvGrpSpPr/>
          <p:nvPr/>
        </p:nvGrpSpPr>
        <p:grpSpPr>
          <a:xfrm rot="21407665">
            <a:off x="9782862" y="6346147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53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54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 rot="21299466" flipH="1">
            <a:off x="421631" y="5057715"/>
            <a:ext cx="11453855" cy="525449"/>
          </a:xfrm>
          <a:custGeom>
            <a:avLst/>
            <a:gdLst>
              <a:gd name="connsiteX0" fmla="*/ 0 w 11453855"/>
              <a:gd name="connsiteY0" fmla="*/ 0 h 525449"/>
              <a:gd name="connsiteX1" fmla="*/ 75313 w 11453855"/>
              <a:gd name="connsiteY1" fmla="*/ 213105 h 525449"/>
              <a:gd name="connsiteX2" fmla="*/ 11367207 w 11453855"/>
              <a:gd name="connsiteY2" fmla="*/ 525449 h 525449"/>
              <a:gd name="connsiteX3" fmla="*/ 11453855 w 11453855"/>
              <a:gd name="connsiteY3" fmla="*/ 354740 h 525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53855" h="525449">
                <a:moveTo>
                  <a:pt x="0" y="0"/>
                </a:moveTo>
                <a:lnTo>
                  <a:pt x="75313" y="213105"/>
                </a:lnTo>
                <a:lnTo>
                  <a:pt x="11367207" y="525449"/>
                </a:lnTo>
                <a:lnTo>
                  <a:pt x="11453855" y="35474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4" name="Google Shape;6580;p79"/>
          <p:cNvSpPr/>
          <p:nvPr/>
        </p:nvSpPr>
        <p:spPr>
          <a:xfrm>
            <a:off x="652724" y="5874383"/>
            <a:ext cx="121790" cy="122114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5" name="Google Shape;6580;p79"/>
          <p:cNvSpPr/>
          <p:nvPr/>
        </p:nvSpPr>
        <p:spPr>
          <a:xfrm>
            <a:off x="1741541" y="5741223"/>
            <a:ext cx="163482" cy="163916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6" name="Google Shape;6580;p79"/>
          <p:cNvSpPr/>
          <p:nvPr/>
        </p:nvSpPr>
        <p:spPr>
          <a:xfrm>
            <a:off x="3598725" y="5507714"/>
            <a:ext cx="263476" cy="264176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7" name="Google Shape;6580;p79"/>
          <p:cNvSpPr/>
          <p:nvPr/>
        </p:nvSpPr>
        <p:spPr>
          <a:xfrm>
            <a:off x="6316901" y="5202023"/>
            <a:ext cx="355209" cy="356152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60" name="矩形: 圆角 159"/>
          <p:cNvSpPr/>
          <p:nvPr/>
        </p:nvSpPr>
        <p:spPr>
          <a:xfrm rot="21223991">
            <a:off x="9957126" y="5160670"/>
            <a:ext cx="259703" cy="259703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1" name="矩形: 圆角 160"/>
          <p:cNvSpPr/>
          <p:nvPr/>
        </p:nvSpPr>
        <p:spPr>
          <a:xfrm rot="21223991">
            <a:off x="10318322" y="5118869"/>
            <a:ext cx="259703" cy="259703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2" name="矩形: 圆角 161"/>
          <p:cNvSpPr/>
          <p:nvPr/>
        </p:nvSpPr>
        <p:spPr>
          <a:xfrm rot="21223991">
            <a:off x="10675543" y="5082730"/>
            <a:ext cx="259703" cy="259703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0" name="Google Shape;5288;p76"/>
          <p:cNvGrpSpPr/>
          <p:nvPr/>
        </p:nvGrpSpPr>
        <p:grpSpPr>
          <a:xfrm rot="21407665">
            <a:off x="11123780" y="4869609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41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2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3" name="Google Shape;5288;p76"/>
          <p:cNvGrpSpPr/>
          <p:nvPr/>
        </p:nvGrpSpPr>
        <p:grpSpPr>
          <a:xfrm rot="21407665">
            <a:off x="10794189" y="5220697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44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5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63" name="矩形: 圆角 162"/>
          <p:cNvSpPr/>
          <p:nvPr/>
        </p:nvSpPr>
        <p:spPr>
          <a:xfrm rot="21223991">
            <a:off x="834208" y="6154379"/>
            <a:ext cx="69975" cy="69976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矩形: 圆角 163"/>
          <p:cNvSpPr/>
          <p:nvPr/>
        </p:nvSpPr>
        <p:spPr>
          <a:xfrm rot="21223991">
            <a:off x="931530" y="6143116"/>
            <a:ext cx="69975" cy="69976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5" name="矩形: 圆角 164"/>
          <p:cNvSpPr/>
          <p:nvPr/>
        </p:nvSpPr>
        <p:spPr>
          <a:xfrm rot="21223991">
            <a:off x="1027781" y="6133379"/>
            <a:ext cx="69975" cy="69976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9" name="任意多边形: 形状 168"/>
          <p:cNvSpPr/>
          <p:nvPr/>
        </p:nvSpPr>
        <p:spPr>
          <a:xfrm>
            <a:off x="666750" y="4572000"/>
            <a:ext cx="11044659" cy="1371600"/>
          </a:xfrm>
          <a:custGeom>
            <a:avLst/>
            <a:gdLst>
              <a:gd name="connsiteX0" fmla="*/ 0 w 11125200"/>
              <a:gd name="connsiteY0" fmla="*/ 1371600 h 1371600"/>
              <a:gd name="connsiteX1" fmla="*/ 1143000 w 11125200"/>
              <a:gd name="connsiteY1" fmla="*/ 1257300 h 1371600"/>
              <a:gd name="connsiteX2" fmla="*/ 3067050 w 11125200"/>
              <a:gd name="connsiteY2" fmla="*/ 1047750 h 1371600"/>
              <a:gd name="connsiteX3" fmla="*/ 5829300 w 11125200"/>
              <a:gd name="connsiteY3" fmla="*/ 742950 h 1371600"/>
              <a:gd name="connsiteX4" fmla="*/ 11125200 w 111252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25200" h="1371600">
                <a:moveTo>
                  <a:pt x="0" y="1371600"/>
                </a:moveTo>
                <a:lnTo>
                  <a:pt x="1143000" y="1257300"/>
                </a:lnTo>
                <a:lnTo>
                  <a:pt x="3067050" y="1047750"/>
                </a:lnTo>
                <a:lnTo>
                  <a:pt x="5829300" y="742950"/>
                </a:lnTo>
                <a:lnTo>
                  <a:pt x="11125200" y="0"/>
                </a:lnTo>
              </a:path>
            </a:pathLst>
          </a:custGeom>
          <a:noFill/>
          <a:ln w="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22" name="Google Shape;6323;p78"/>
          <p:cNvGrpSpPr/>
          <p:nvPr/>
        </p:nvGrpSpPr>
        <p:grpSpPr>
          <a:xfrm rot="21175062">
            <a:off x="11569607" y="4218134"/>
            <a:ext cx="230598" cy="355346"/>
            <a:chOff x="2819150" y="3955025"/>
            <a:chExt cx="192200" cy="296175"/>
          </a:xfrm>
          <a:solidFill>
            <a:schemeClr val="accent2">
              <a:lumMod val="50000"/>
            </a:schemeClr>
          </a:solidFill>
        </p:grpSpPr>
        <p:sp>
          <p:nvSpPr>
            <p:cNvPr id="123" name="Google Shape;6324;p78"/>
            <p:cNvSpPr/>
            <p:nvPr/>
          </p:nvSpPr>
          <p:spPr>
            <a:xfrm>
              <a:off x="2856175" y="4007025"/>
              <a:ext cx="122100" cy="70125"/>
            </a:xfrm>
            <a:custGeom>
              <a:avLst/>
              <a:gdLst/>
              <a:ahLst/>
              <a:cxnLst/>
              <a:rect l="l" t="t" r="r" b="b"/>
              <a:pathLst>
                <a:path w="4884" h="2805" extrusionOk="0">
                  <a:moveTo>
                    <a:pt x="1324" y="0"/>
                  </a:moveTo>
                  <a:cubicBezTo>
                    <a:pt x="631" y="0"/>
                    <a:pt x="127" y="725"/>
                    <a:pt x="347" y="1386"/>
                  </a:cubicBezTo>
                  <a:lnTo>
                    <a:pt x="599" y="2080"/>
                  </a:lnTo>
                  <a:lnTo>
                    <a:pt x="379" y="2080"/>
                  </a:lnTo>
                  <a:cubicBezTo>
                    <a:pt x="158" y="2080"/>
                    <a:pt x="0" y="2237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4506" y="2804"/>
                  </a:lnTo>
                  <a:cubicBezTo>
                    <a:pt x="4726" y="2804"/>
                    <a:pt x="4884" y="2647"/>
                    <a:pt x="4884" y="2458"/>
                  </a:cubicBezTo>
                  <a:cubicBezTo>
                    <a:pt x="4884" y="2237"/>
                    <a:pt x="4726" y="2080"/>
                    <a:pt x="4506" y="2080"/>
                  </a:cubicBezTo>
                  <a:lnTo>
                    <a:pt x="4317" y="2080"/>
                  </a:lnTo>
                  <a:lnTo>
                    <a:pt x="4569" y="1386"/>
                  </a:lnTo>
                  <a:cubicBezTo>
                    <a:pt x="4789" y="725"/>
                    <a:pt x="4285" y="0"/>
                    <a:pt x="35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4" name="Google Shape;6325;p78"/>
            <p:cNvSpPr/>
            <p:nvPr/>
          </p:nvSpPr>
          <p:spPr>
            <a:xfrm>
              <a:off x="2819150" y="4180300"/>
              <a:ext cx="192200" cy="70900"/>
            </a:xfrm>
            <a:custGeom>
              <a:avLst/>
              <a:gdLst/>
              <a:ahLst/>
              <a:cxnLst/>
              <a:rect l="l" t="t" r="r" b="b"/>
              <a:pathLst>
                <a:path w="7688" h="2836" extrusionOk="0">
                  <a:moveTo>
                    <a:pt x="1418" y="0"/>
                  </a:moveTo>
                  <a:cubicBezTo>
                    <a:pt x="1040" y="0"/>
                    <a:pt x="725" y="315"/>
                    <a:pt x="725" y="725"/>
                  </a:cubicBezTo>
                  <a:lnTo>
                    <a:pt x="725" y="1418"/>
                  </a:lnTo>
                  <a:cubicBezTo>
                    <a:pt x="316" y="1418"/>
                    <a:pt x="1" y="1733"/>
                    <a:pt x="1" y="2143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79" y="2836"/>
                  </a:cubicBezTo>
                  <a:lnTo>
                    <a:pt x="7310" y="2836"/>
                  </a:lnTo>
                  <a:cubicBezTo>
                    <a:pt x="7530" y="2804"/>
                    <a:pt x="7688" y="2678"/>
                    <a:pt x="7688" y="2489"/>
                  </a:cubicBezTo>
                  <a:lnTo>
                    <a:pt x="7688" y="2143"/>
                  </a:lnTo>
                  <a:cubicBezTo>
                    <a:pt x="7688" y="1733"/>
                    <a:pt x="7373" y="1418"/>
                    <a:pt x="6995" y="1418"/>
                  </a:cubicBezTo>
                  <a:lnTo>
                    <a:pt x="6995" y="725"/>
                  </a:lnTo>
                  <a:cubicBezTo>
                    <a:pt x="6995" y="315"/>
                    <a:pt x="6680" y="0"/>
                    <a:pt x="62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5" name="Google Shape;6326;p78"/>
            <p:cNvSpPr/>
            <p:nvPr/>
          </p:nvSpPr>
          <p:spPr>
            <a:xfrm>
              <a:off x="2882950" y="3955025"/>
              <a:ext cx="68550" cy="35475"/>
            </a:xfrm>
            <a:custGeom>
              <a:avLst/>
              <a:gdLst/>
              <a:ahLst/>
              <a:cxnLst/>
              <a:rect l="l" t="t" r="r" b="b"/>
              <a:pathLst>
                <a:path w="2742" h="1419" extrusionOk="0">
                  <a:moveTo>
                    <a:pt x="1355" y="1"/>
                  </a:moveTo>
                  <a:cubicBezTo>
                    <a:pt x="1166" y="1"/>
                    <a:pt x="1009" y="158"/>
                    <a:pt x="1009" y="348"/>
                  </a:cubicBezTo>
                  <a:lnTo>
                    <a:pt x="1009" y="726"/>
                  </a:lnTo>
                  <a:cubicBezTo>
                    <a:pt x="568" y="820"/>
                    <a:pt x="221" y="1072"/>
                    <a:pt x="1" y="1419"/>
                  </a:cubicBezTo>
                  <a:lnTo>
                    <a:pt x="2742" y="1419"/>
                  </a:lnTo>
                  <a:cubicBezTo>
                    <a:pt x="2521" y="1104"/>
                    <a:pt x="2111" y="852"/>
                    <a:pt x="1733" y="726"/>
                  </a:cubicBezTo>
                  <a:lnTo>
                    <a:pt x="1733" y="348"/>
                  </a:lnTo>
                  <a:cubicBezTo>
                    <a:pt x="1670" y="158"/>
                    <a:pt x="1513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6" name="Google Shape;6327;p78"/>
            <p:cNvSpPr/>
            <p:nvPr/>
          </p:nvSpPr>
          <p:spPr>
            <a:xfrm>
              <a:off x="2856975" y="4093650"/>
              <a:ext cx="118950" cy="70125"/>
            </a:xfrm>
            <a:custGeom>
              <a:avLst/>
              <a:gdLst/>
              <a:ahLst/>
              <a:cxnLst/>
              <a:rect l="l" t="t" r="r" b="b"/>
              <a:pathLst>
                <a:path w="4758" h="2805" extrusionOk="0">
                  <a:moveTo>
                    <a:pt x="473" y="1"/>
                  </a:moveTo>
                  <a:lnTo>
                    <a:pt x="0" y="2805"/>
                  </a:lnTo>
                  <a:lnTo>
                    <a:pt x="4757" y="2805"/>
                  </a:lnTo>
                  <a:lnTo>
                    <a:pt x="42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71" name="矩形: 圆角 170"/>
          <p:cNvSpPr/>
          <p:nvPr/>
        </p:nvSpPr>
        <p:spPr>
          <a:xfrm rot="21223991">
            <a:off x="2812065" y="5931276"/>
            <a:ext cx="106467" cy="106468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矩形: 圆角 171"/>
          <p:cNvSpPr/>
          <p:nvPr/>
        </p:nvSpPr>
        <p:spPr>
          <a:xfrm rot="21223991">
            <a:off x="2960140" y="5914140"/>
            <a:ext cx="106467" cy="106468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3" name="矩形: 圆角 172"/>
          <p:cNvSpPr/>
          <p:nvPr/>
        </p:nvSpPr>
        <p:spPr>
          <a:xfrm rot="21223991">
            <a:off x="3106586" y="5899324"/>
            <a:ext cx="106467" cy="106468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727245" y="1783393"/>
            <a:ext cx="0" cy="4084274"/>
            <a:chOff x="1039436" y="1746542"/>
            <a:chExt cx="0" cy="4084274"/>
          </a:xfrm>
        </p:grpSpPr>
        <p:cxnSp>
          <p:nvCxnSpPr>
            <p:cNvPr id="175" name="直接连接符 174"/>
            <p:cNvCxnSpPr/>
            <p:nvPr/>
          </p:nvCxnSpPr>
          <p:spPr>
            <a:xfrm>
              <a:off x="1039436" y="4446248"/>
              <a:ext cx="0" cy="1384568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1039436" y="3114155"/>
              <a:ext cx="0" cy="1384568"/>
            </a:xfrm>
            <a:prstGeom prst="line">
              <a:avLst/>
            </a:prstGeom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>
              <a:off x="1039436" y="1746542"/>
              <a:ext cx="0" cy="1384568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矩形 180"/>
          <p:cNvSpPr/>
          <p:nvPr/>
        </p:nvSpPr>
        <p:spPr>
          <a:xfrm>
            <a:off x="717720" y="1676121"/>
            <a:ext cx="3280302" cy="1569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4350202" y="1379315"/>
            <a:ext cx="0" cy="4084274"/>
            <a:chOff x="1039436" y="1746542"/>
            <a:chExt cx="0" cy="4084274"/>
          </a:xfrm>
        </p:grpSpPr>
        <p:cxnSp>
          <p:nvCxnSpPr>
            <p:cNvPr id="184" name="直接连接符 183"/>
            <p:cNvCxnSpPr/>
            <p:nvPr/>
          </p:nvCxnSpPr>
          <p:spPr>
            <a:xfrm>
              <a:off x="1039436" y="4446248"/>
              <a:ext cx="0" cy="1384568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>
              <a:off x="1039436" y="3114155"/>
              <a:ext cx="0" cy="1384568"/>
            </a:xfrm>
            <a:prstGeom prst="line">
              <a:avLst/>
            </a:prstGeom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>
              <a:off x="1039436" y="1746542"/>
              <a:ext cx="0" cy="1384568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" name="矩形 186"/>
          <p:cNvSpPr/>
          <p:nvPr/>
        </p:nvSpPr>
        <p:spPr>
          <a:xfrm>
            <a:off x="4345439" y="1228705"/>
            <a:ext cx="3261486" cy="1768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8" name="组合 187"/>
          <p:cNvGrpSpPr/>
          <p:nvPr/>
        </p:nvGrpSpPr>
        <p:grpSpPr>
          <a:xfrm>
            <a:off x="7977454" y="943181"/>
            <a:ext cx="0" cy="4084274"/>
            <a:chOff x="1039436" y="1746542"/>
            <a:chExt cx="0" cy="4084274"/>
          </a:xfrm>
        </p:grpSpPr>
        <p:cxnSp>
          <p:nvCxnSpPr>
            <p:cNvPr id="189" name="直接连接符 188"/>
            <p:cNvCxnSpPr/>
            <p:nvPr/>
          </p:nvCxnSpPr>
          <p:spPr>
            <a:xfrm>
              <a:off x="1039436" y="4446248"/>
              <a:ext cx="0" cy="1384568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>
            <a:xfrm>
              <a:off x="1039436" y="3114155"/>
              <a:ext cx="0" cy="1384568"/>
            </a:xfrm>
            <a:prstGeom prst="line">
              <a:avLst/>
            </a:prstGeom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>
              <a:off x="1039436" y="1746542"/>
              <a:ext cx="0" cy="1384568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矩形 191"/>
          <p:cNvSpPr/>
          <p:nvPr/>
        </p:nvSpPr>
        <p:spPr>
          <a:xfrm>
            <a:off x="7972693" y="893831"/>
            <a:ext cx="3261484" cy="1768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 rot="21210632">
            <a:off x="6512487" y="5542759"/>
            <a:ext cx="80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物流成本</a:t>
            </a:r>
            <a:endParaRPr lang="en-US" altLang="zh-CN" sz="1200" b="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同比降</a:t>
            </a:r>
          </a:p>
        </p:txBody>
      </p:sp>
      <p:sp>
        <p:nvSpPr>
          <p:cNvPr id="9" name="文本框 8"/>
          <p:cNvSpPr txBox="1"/>
          <p:nvPr/>
        </p:nvSpPr>
        <p:spPr>
          <a:xfrm rot="21286304">
            <a:off x="6523444" y="5909654"/>
            <a:ext cx="1064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18%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 rot="21210632">
            <a:off x="7628813" y="5391178"/>
            <a:ext cx="80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客户满意度提升</a:t>
            </a:r>
          </a:p>
        </p:txBody>
      </p:sp>
      <p:sp>
        <p:nvSpPr>
          <p:cNvPr id="71" name="文本框 70"/>
          <p:cNvSpPr txBox="1"/>
          <p:nvPr/>
        </p:nvSpPr>
        <p:spPr>
          <a:xfrm rot="21286304">
            <a:off x="7639770" y="5758073"/>
            <a:ext cx="1064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90</a:t>
            </a:r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%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 rot="21210632">
            <a:off x="8725238" y="5257935"/>
            <a:ext cx="80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业务量</a:t>
            </a:r>
            <a:endParaRPr lang="en-US" altLang="zh-CN" sz="1200" b="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增长</a:t>
            </a:r>
          </a:p>
        </p:txBody>
      </p:sp>
      <p:sp>
        <p:nvSpPr>
          <p:cNvPr id="73" name="文本框 72"/>
          <p:cNvSpPr txBox="1"/>
          <p:nvPr/>
        </p:nvSpPr>
        <p:spPr>
          <a:xfrm rot="21286304">
            <a:off x="8736195" y="5624830"/>
            <a:ext cx="1064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25%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3" name="方能演亦19"/>
          <p:cNvSpPr/>
          <p:nvPr/>
        </p:nvSpPr>
        <p:spPr>
          <a:xfrm>
            <a:off x="3307320" y="1667718"/>
            <a:ext cx="1294385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4" name="方能演亦20"/>
          <p:cNvSpPr/>
          <p:nvPr/>
        </p:nvSpPr>
        <p:spPr>
          <a:xfrm flipV="1">
            <a:off x="3362502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5" name="方能演亦21"/>
          <p:cNvSpPr/>
          <p:nvPr/>
        </p:nvSpPr>
        <p:spPr>
          <a:xfrm flipH="1" flipV="1">
            <a:off x="4242164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cxnSp>
        <p:nvCxnSpPr>
          <p:cNvPr id="79" name="方能演亦25"/>
          <p:cNvCxnSpPr/>
          <p:nvPr/>
        </p:nvCxnSpPr>
        <p:spPr>
          <a:xfrm>
            <a:off x="3518118" y="32919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方能演亦26"/>
          <p:cNvCxnSpPr/>
          <p:nvPr/>
        </p:nvCxnSpPr>
        <p:spPr>
          <a:xfrm>
            <a:off x="3518118" y="47826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方能演亦19"/>
          <p:cNvSpPr/>
          <p:nvPr/>
        </p:nvSpPr>
        <p:spPr>
          <a:xfrm>
            <a:off x="7558038" y="1667718"/>
            <a:ext cx="1335022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0" name="方能演亦20"/>
          <p:cNvSpPr/>
          <p:nvPr/>
        </p:nvSpPr>
        <p:spPr>
          <a:xfrm flipV="1">
            <a:off x="7624096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1" name="方能演亦21"/>
          <p:cNvSpPr/>
          <p:nvPr/>
        </p:nvSpPr>
        <p:spPr>
          <a:xfrm flipH="1" flipV="1">
            <a:off x="8504513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cxnSp>
        <p:nvCxnSpPr>
          <p:cNvPr id="93" name="方能演亦25"/>
          <p:cNvCxnSpPr/>
          <p:nvPr/>
        </p:nvCxnSpPr>
        <p:spPr>
          <a:xfrm>
            <a:off x="7780467" y="32919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方能演亦26"/>
          <p:cNvCxnSpPr/>
          <p:nvPr/>
        </p:nvCxnSpPr>
        <p:spPr>
          <a:xfrm>
            <a:off x="7780467" y="47826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方能演亦2"/>
          <p:cNvSpPr/>
          <p:nvPr/>
        </p:nvSpPr>
        <p:spPr>
          <a:xfrm>
            <a:off x="306310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27000" dist="127000" sx="97000" sy="97000" algn="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57" name="方能演亦3"/>
          <p:cNvSpPr/>
          <p:nvPr/>
        </p:nvSpPr>
        <p:spPr>
          <a:xfrm>
            <a:off x="4567904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84" name="方能演亦3"/>
          <p:cNvSpPr/>
          <p:nvPr/>
        </p:nvSpPr>
        <p:spPr>
          <a:xfrm>
            <a:off x="8829498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71" name="方能演亦17"/>
          <p:cNvSpPr/>
          <p:nvPr/>
        </p:nvSpPr>
        <p:spPr>
          <a:xfrm>
            <a:off x="3362502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2" name="方能演亦18"/>
          <p:cNvSpPr/>
          <p:nvPr/>
        </p:nvSpPr>
        <p:spPr>
          <a:xfrm flipH="1">
            <a:off x="4242164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7" name="方能演亦17"/>
          <p:cNvSpPr/>
          <p:nvPr/>
        </p:nvSpPr>
        <p:spPr>
          <a:xfrm>
            <a:off x="7624096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8" name="方能演亦18"/>
          <p:cNvSpPr/>
          <p:nvPr/>
        </p:nvSpPr>
        <p:spPr>
          <a:xfrm flipH="1">
            <a:off x="8504513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5" name="方能演亦10"/>
          <p:cNvSpPr txBox="1"/>
          <p:nvPr/>
        </p:nvSpPr>
        <p:spPr>
          <a:xfrm>
            <a:off x="409906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96" name="方能演亦10"/>
          <p:cNvSpPr txBox="1"/>
          <p:nvPr/>
        </p:nvSpPr>
        <p:spPr>
          <a:xfrm>
            <a:off x="409906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97" name="方能演亦10"/>
          <p:cNvSpPr txBox="1"/>
          <p:nvPr/>
        </p:nvSpPr>
        <p:spPr>
          <a:xfrm>
            <a:off x="4709709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98" name="方能演亦10"/>
          <p:cNvSpPr txBox="1"/>
          <p:nvPr/>
        </p:nvSpPr>
        <p:spPr>
          <a:xfrm>
            <a:off x="4709709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99" name="方能演亦10"/>
          <p:cNvSpPr txBox="1"/>
          <p:nvPr/>
        </p:nvSpPr>
        <p:spPr>
          <a:xfrm>
            <a:off x="8962251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100" name="方能演亦10"/>
          <p:cNvSpPr txBox="1"/>
          <p:nvPr/>
        </p:nvSpPr>
        <p:spPr>
          <a:xfrm>
            <a:off x="8962251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6217" y="200526"/>
            <a:ext cx="5609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核心目标达成概览（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1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）</a:t>
            </a:r>
          </a:p>
        </p:txBody>
      </p:sp>
      <p:cxnSp>
        <p:nvCxnSpPr>
          <p:cNvPr id="3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979869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效能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落地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979869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生态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共建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979869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协同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提效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349980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周转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赋能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349980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引力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拓新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349980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韧性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突围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11783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5" name="矩形: 圆角 4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59505" y="2733822"/>
            <a:ext cx="250823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仓储系统优化，提升空间利用率与作业效率。空间利用率增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，找货时间缩至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分钟，降本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 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4495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仓储系统优化贡献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9505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绿色物流项目，引新能源车建充电桩，降能耗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，减碳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吨，省能源费约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4495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绿色物流项目成效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59505" y="5235798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供应链协同创新，借信息共享平台，降库存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，缩交付周期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4495" y="4969558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供应链协同创新成果</a:t>
            </a:r>
          </a:p>
        </p:txBody>
      </p:sp>
      <p:sp>
        <p:nvSpPr>
          <p:cNvPr id="20" name="椭圆 19"/>
          <p:cNvSpPr/>
          <p:nvPr/>
        </p:nvSpPr>
        <p:spPr>
          <a:xfrm>
            <a:off x="653164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53164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53164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797090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24" name="矩形: 圆角 23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4844812" y="2733822"/>
            <a:ext cx="2508236" cy="44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仓储提出入库效率，减客户等待时间，客户体验改善，对满意度贡献约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049801" y="2467583"/>
            <a:ext cx="250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货物出入库效率提升影响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844812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绿色物流项目推进，树公司环保形象，吸新客增老客忠诚度，约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客户因此提满意度。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049802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绿色物流形象加分作用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844812" y="5235798"/>
            <a:ext cx="2508236" cy="633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供应链协同创新，实现稳定交付，减订单延误，客户能</a:t>
            </a:r>
            <a:r>
              <a:rPr lang="zh-CN" altLang="en-US" sz="1000" dirty="0">
                <a:latin typeface="+mn-ea"/>
                <a:cs typeface="+mn-ea"/>
              </a:rPr>
              <a:t>有效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掌握，对满意度贡献约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49801" y="4969558"/>
            <a:ext cx="2540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供应链协同稳定交付保障</a:t>
            </a:r>
          </a:p>
        </p:txBody>
      </p:sp>
      <p:sp>
        <p:nvSpPr>
          <p:cNvPr id="34" name="椭圆 33"/>
          <p:cNvSpPr/>
          <p:nvPr/>
        </p:nvSpPr>
        <p:spPr>
          <a:xfrm>
            <a:off x="4938471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938471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938471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046987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45" name="矩形: 圆角 44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6" name="矩形: 圆角 45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9094709" y="2733822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仓储系统优化，凭</a:t>
            </a:r>
            <a:r>
              <a:rPr lang="zh-CN" altLang="en-US" sz="1000" dirty="0">
                <a:latin typeface="+mn-ea"/>
                <a:cs typeface="+mn-ea"/>
              </a:rPr>
              <a:t>科学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周转与合理布局，为业务量增长贡献约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299699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</a:t>
            </a:r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高能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周转推动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094709" y="3984810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绿色物流项目因环保行动获认可，吸引新客合作，对业务量增长贡献约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299699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绿色物流吸引新客合作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9094709" y="5235798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供应链协同创新，提升公司市场竞争力，满足客户需求，对业务量增长贡献约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40%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299698" y="4969558"/>
            <a:ext cx="2881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供应链协同增强市场竞争力</a:t>
            </a:r>
          </a:p>
        </p:txBody>
      </p:sp>
      <p:sp>
        <p:nvSpPr>
          <p:cNvPr id="54" name="椭圆 53"/>
          <p:cNvSpPr/>
          <p:nvPr/>
        </p:nvSpPr>
        <p:spPr>
          <a:xfrm>
            <a:off x="9188368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188368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9188368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5609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核心目标达成概览（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2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）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3" name="方能演亦19"/>
          <p:cNvSpPr/>
          <p:nvPr/>
        </p:nvSpPr>
        <p:spPr>
          <a:xfrm>
            <a:off x="3307320" y="1667718"/>
            <a:ext cx="1294385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4" name="方能演亦20"/>
          <p:cNvSpPr/>
          <p:nvPr/>
        </p:nvSpPr>
        <p:spPr>
          <a:xfrm flipV="1">
            <a:off x="3362502" y="5950928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cxnSp>
        <p:nvCxnSpPr>
          <p:cNvPr id="79" name="方能演亦25"/>
          <p:cNvCxnSpPr/>
          <p:nvPr/>
        </p:nvCxnSpPr>
        <p:spPr>
          <a:xfrm>
            <a:off x="3518118" y="32919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方能演亦26"/>
          <p:cNvCxnSpPr/>
          <p:nvPr/>
        </p:nvCxnSpPr>
        <p:spPr>
          <a:xfrm>
            <a:off x="3518118" y="47826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方能演亦19"/>
          <p:cNvSpPr/>
          <p:nvPr/>
        </p:nvSpPr>
        <p:spPr>
          <a:xfrm>
            <a:off x="7558038" y="1667718"/>
            <a:ext cx="1335022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1" name="方能演亦21"/>
          <p:cNvSpPr/>
          <p:nvPr/>
        </p:nvSpPr>
        <p:spPr>
          <a:xfrm flipH="1" flipV="1">
            <a:off x="8504513" y="5950928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cxnSp>
        <p:nvCxnSpPr>
          <p:cNvPr id="93" name="方能演亦25"/>
          <p:cNvCxnSpPr/>
          <p:nvPr/>
        </p:nvCxnSpPr>
        <p:spPr>
          <a:xfrm>
            <a:off x="7853037" y="3252912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方能演亦26"/>
          <p:cNvCxnSpPr/>
          <p:nvPr/>
        </p:nvCxnSpPr>
        <p:spPr>
          <a:xfrm>
            <a:off x="7853037" y="4743612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方能演亦2"/>
          <p:cNvSpPr/>
          <p:nvPr/>
        </p:nvSpPr>
        <p:spPr>
          <a:xfrm>
            <a:off x="306310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27000" dist="127000" sx="97000" sy="97000" algn="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57" name="方能演亦3"/>
          <p:cNvSpPr/>
          <p:nvPr/>
        </p:nvSpPr>
        <p:spPr>
          <a:xfrm>
            <a:off x="4442590" y="1002005"/>
            <a:ext cx="3306820" cy="56114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84" name="方能演亦3"/>
          <p:cNvSpPr/>
          <p:nvPr/>
        </p:nvSpPr>
        <p:spPr>
          <a:xfrm>
            <a:off x="8829498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27000" dist="127000" sx="97000" sy="97000" algn="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71" name="方能演亦17"/>
          <p:cNvSpPr/>
          <p:nvPr/>
        </p:nvSpPr>
        <p:spPr>
          <a:xfrm>
            <a:off x="3362502" y="1217846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Bold" panose="020B08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Bold" panose="020B08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72" name="方能演亦18"/>
          <p:cNvSpPr/>
          <p:nvPr/>
        </p:nvSpPr>
        <p:spPr>
          <a:xfrm flipH="1">
            <a:off x="3994493" y="1001525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8" name="方能演亦18"/>
          <p:cNvSpPr/>
          <p:nvPr/>
        </p:nvSpPr>
        <p:spPr>
          <a:xfrm flipH="1">
            <a:off x="8504513" y="1217846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95" name="方能演亦10"/>
          <p:cNvSpPr txBox="1"/>
          <p:nvPr/>
        </p:nvSpPr>
        <p:spPr>
          <a:xfrm>
            <a:off x="409906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96" name="方能演亦10"/>
          <p:cNvSpPr txBox="1"/>
          <p:nvPr/>
        </p:nvSpPr>
        <p:spPr>
          <a:xfrm>
            <a:off x="409906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97" name="方能演亦10"/>
          <p:cNvSpPr txBox="1"/>
          <p:nvPr/>
        </p:nvSpPr>
        <p:spPr>
          <a:xfrm>
            <a:off x="4709709" y="1373552"/>
            <a:ext cx="2406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客户满意度</a:t>
            </a:r>
          </a:p>
        </p:txBody>
      </p:sp>
      <p:sp>
        <p:nvSpPr>
          <p:cNvPr id="98" name="方能演亦10"/>
          <p:cNvSpPr txBox="1"/>
          <p:nvPr/>
        </p:nvSpPr>
        <p:spPr>
          <a:xfrm>
            <a:off x="4709709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提升目标</a:t>
            </a:r>
          </a:p>
        </p:txBody>
      </p:sp>
      <p:sp>
        <p:nvSpPr>
          <p:cNvPr id="99" name="方能演亦10"/>
          <p:cNvSpPr txBox="1"/>
          <p:nvPr/>
        </p:nvSpPr>
        <p:spPr>
          <a:xfrm>
            <a:off x="8962251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业务量</a:t>
            </a:r>
          </a:p>
        </p:txBody>
      </p:sp>
      <p:sp>
        <p:nvSpPr>
          <p:cNvPr id="100" name="方能演亦10"/>
          <p:cNvSpPr txBox="1"/>
          <p:nvPr/>
        </p:nvSpPr>
        <p:spPr>
          <a:xfrm>
            <a:off x="8962251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511783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101" name="矩形: 圆角 100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02" name="矩形: 圆角 101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03" name="矩形: 圆角 102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559505" y="2733822"/>
            <a:ext cx="250823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仓储系统优化，提升空间利用率与作业效率。空间利用率增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，找货时间缩至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分钟，降本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 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4495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仓储系统优化贡献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559505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绿色物流项目，引新能源车建充电桩，降能耗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，减碳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吨，省能源费约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764495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绿色物流项目成效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559505" y="5235798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供应链协同创新，借信息共享平台，降库存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，缩交付周期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764495" y="4969558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供应链协同创新成果</a:t>
            </a:r>
          </a:p>
        </p:txBody>
      </p:sp>
      <p:sp>
        <p:nvSpPr>
          <p:cNvPr id="111" name="椭圆 110"/>
          <p:cNvSpPr/>
          <p:nvPr/>
        </p:nvSpPr>
        <p:spPr>
          <a:xfrm>
            <a:off x="653164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2" name="椭圆 111"/>
          <p:cNvSpPr/>
          <p:nvPr/>
        </p:nvSpPr>
        <p:spPr>
          <a:xfrm>
            <a:off x="653164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653164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4797090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141" name="矩形: 圆角 140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2" name="矩形: 圆角 141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3" name="矩形: 圆角 142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4" name="文本框 143"/>
          <p:cNvSpPr txBox="1"/>
          <p:nvPr/>
        </p:nvSpPr>
        <p:spPr>
          <a:xfrm>
            <a:off x="4844812" y="2733822"/>
            <a:ext cx="2508236" cy="44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仓储提出入库效率，减客户等待时间，客户体验改善，对满意度贡献约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5049801" y="2467583"/>
            <a:ext cx="250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货物出入库效率提升影响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844812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绿色物流项目推进，树公司环保形象，吸新客增老客忠诚度，约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客户因此提满意度。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049802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绿色物流形象加分作用</a:t>
            </a:r>
          </a:p>
        </p:txBody>
      </p:sp>
      <p:sp>
        <p:nvSpPr>
          <p:cNvPr id="148" name="文本框 147"/>
          <p:cNvSpPr txBox="1"/>
          <p:nvPr/>
        </p:nvSpPr>
        <p:spPr>
          <a:xfrm>
            <a:off x="4844812" y="5235798"/>
            <a:ext cx="2508236" cy="633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供应链协同创新，实现稳定交付，减订单延误，客户能</a:t>
            </a:r>
            <a:r>
              <a:rPr lang="zh-CN" altLang="en-US" sz="1000" dirty="0">
                <a:latin typeface="+mn-ea"/>
                <a:cs typeface="+mn-ea"/>
              </a:rPr>
              <a:t>有效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掌握，对满意度贡献约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5049801" y="4969558"/>
            <a:ext cx="2540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供应链协同稳定交付保障</a:t>
            </a:r>
          </a:p>
        </p:txBody>
      </p:sp>
      <p:sp>
        <p:nvSpPr>
          <p:cNvPr id="150" name="椭圆 149"/>
          <p:cNvSpPr/>
          <p:nvPr/>
        </p:nvSpPr>
        <p:spPr>
          <a:xfrm>
            <a:off x="4938471" y="2541331"/>
            <a:ext cx="129500" cy="12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1" name="椭圆 150"/>
          <p:cNvSpPr/>
          <p:nvPr/>
        </p:nvSpPr>
        <p:spPr>
          <a:xfrm>
            <a:off x="4938471" y="3794299"/>
            <a:ext cx="129500" cy="12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2" name="椭圆 151"/>
          <p:cNvSpPr/>
          <p:nvPr/>
        </p:nvSpPr>
        <p:spPr>
          <a:xfrm>
            <a:off x="4938471" y="5047267"/>
            <a:ext cx="129500" cy="12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53" name="组合 152"/>
          <p:cNvGrpSpPr/>
          <p:nvPr/>
        </p:nvGrpSpPr>
        <p:grpSpPr>
          <a:xfrm>
            <a:off x="9046987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154" name="矩形: 圆角 153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5" name="矩形: 圆角 154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6" name="矩形: 圆角 155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57" name="文本框 156"/>
          <p:cNvSpPr txBox="1"/>
          <p:nvPr/>
        </p:nvSpPr>
        <p:spPr>
          <a:xfrm>
            <a:off x="9094709" y="2733822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仓储系统优化，凭</a:t>
            </a:r>
            <a:r>
              <a:rPr lang="zh-CN" altLang="en-US" sz="1000" dirty="0">
                <a:latin typeface="+mn-ea"/>
                <a:cs typeface="+mn-ea"/>
              </a:rPr>
              <a:t>科学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周转与合理布局，为业务量增长贡献约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9299699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</a:t>
            </a:r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高能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周转推动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9094709" y="3984810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绿色物流项目因环保行动获认可，吸引新客合作，对业务量增长贡献约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299699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绿色物流吸引新客合作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9094709" y="5235798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供应链协同创新，提升公司市场竞争力，满足客户需求，对业务量增长贡献约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40%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9299698" y="4969558"/>
            <a:ext cx="2881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供应链协同增强市场竞争力</a:t>
            </a:r>
          </a:p>
        </p:txBody>
      </p:sp>
      <p:sp>
        <p:nvSpPr>
          <p:cNvPr id="163" name="椭圆 162"/>
          <p:cNvSpPr/>
          <p:nvPr/>
        </p:nvSpPr>
        <p:spPr>
          <a:xfrm>
            <a:off x="9188368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椭圆 163"/>
          <p:cNvSpPr/>
          <p:nvPr/>
        </p:nvSpPr>
        <p:spPr>
          <a:xfrm>
            <a:off x="9188368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5" name="椭圆 164"/>
          <p:cNvSpPr/>
          <p:nvPr/>
        </p:nvSpPr>
        <p:spPr>
          <a:xfrm>
            <a:off x="9188368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方能演亦18"/>
          <p:cNvSpPr/>
          <p:nvPr/>
        </p:nvSpPr>
        <p:spPr>
          <a:xfrm flipH="1" flipV="1">
            <a:off x="3994493" y="5934918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3" name="方能演亦18"/>
          <p:cNvSpPr/>
          <p:nvPr/>
        </p:nvSpPr>
        <p:spPr>
          <a:xfrm>
            <a:off x="7737824" y="1001525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" name="方能演亦18"/>
          <p:cNvSpPr/>
          <p:nvPr/>
        </p:nvSpPr>
        <p:spPr>
          <a:xfrm flipV="1">
            <a:off x="7737824" y="5934918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979869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效能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落地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79869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生态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共建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79869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协同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提效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349980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周转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赋能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349980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引力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拓新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349980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韧性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突围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95422" y="200526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过程中遇到的障碍、难点</a:t>
            </a: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8" name="任意多边形: 形状 47"/>
          <p:cNvSpPr/>
          <p:nvPr/>
        </p:nvSpPr>
        <p:spPr>
          <a:xfrm>
            <a:off x="1744917" y="723265"/>
            <a:ext cx="4433560" cy="5933725"/>
          </a:xfrm>
          <a:custGeom>
            <a:avLst/>
            <a:gdLst>
              <a:gd name="connsiteX0" fmla="*/ 570296 w 4433560"/>
              <a:gd name="connsiteY0" fmla="*/ 0 h 5933725"/>
              <a:gd name="connsiteX1" fmla="*/ 3381160 w 4433560"/>
              <a:gd name="connsiteY1" fmla="*/ 0 h 5933725"/>
              <a:gd name="connsiteX2" fmla="*/ 3515152 w 4433560"/>
              <a:gd name="connsiteY2" fmla="*/ 147428 h 5933725"/>
              <a:gd name="connsiteX3" fmla="*/ 4433560 w 4433560"/>
              <a:gd name="connsiteY3" fmla="*/ 2705736 h 5933725"/>
              <a:gd name="connsiteX4" fmla="*/ 2818023 w 4433560"/>
              <a:gd name="connsiteY4" fmla="*/ 5928634 h 5933725"/>
              <a:gd name="connsiteX5" fmla="*/ 2810864 w 4433560"/>
              <a:gd name="connsiteY5" fmla="*/ 5933725 h 5933725"/>
              <a:gd name="connsiteX6" fmla="*/ 0 w 4433560"/>
              <a:gd name="connsiteY6" fmla="*/ 5933725 h 5933725"/>
              <a:gd name="connsiteX7" fmla="*/ 7159 w 4433560"/>
              <a:gd name="connsiteY7" fmla="*/ 5928634 h 5933725"/>
              <a:gd name="connsiteX8" fmla="*/ 1622696 w 4433560"/>
              <a:gd name="connsiteY8" fmla="*/ 2705736 h 5933725"/>
              <a:gd name="connsiteX9" fmla="*/ 704288 w 4433560"/>
              <a:gd name="connsiteY9" fmla="*/ 147428 h 5933725"/>
              <a:gd name="connsiteX10" fmla="*/ 570296 w 4433560"/>
              <a:gd name="connsiteY10" fmla="*/ 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33560" h="5933725">
                <a:moveTo>
                  <a:pt x="570296" y="0"/>
                </a:moveTo>
                <a:lnTo>
                  <a:pt x="3381160" y="0"/>
                </a:lnTo>
                <a:lnTo>
                  <a:pt x="3515152" y="147428"/>
                </a:lnTo>
                <a:cubicBezTo>
                  <a:pt x="4088901" y="842651"/>
                  <a:pt x="4433560" y="1733944"/>
                  <a:pt x="4433560" y="2705736"/>
                </a:cubicBezTo>
                <a:cubicBezTo>
                  <a:pt x="4433560" y="4024597"/>
                  <a:pt x="3798754" y="5195191"/>
                  <a:pt x="2818023" y="5928634"/>
                </a:cubicBezTo>
                <a:lnTo>
                  <a:pt x="2810864" y="5933725"/>
                </a:lnTo>
                <a:lnTo>
                  <a:pt x="0" y="5933725"/>
                </a:lnTo>
                <a:lnTo>
                  <a:pt x="7159" y="5928634"/>
                </a:lnTo>
                <a:cubicBezTo>
                  <a:pt x="987890" y="5195191"/>
                  <a:pt x="1622696" y="4024597"/>
                  <a:pt x="1622696" y="2705736"/>
                </a:cubicBezTo>
                <a:cubicBezTo>
                  <a:pt x="1622696" y="1733944"/>
                  <a:pt x="1278037" y="842651"/>
                  <a:pt x="704288" y="147428"/>
                </a:cubicBezTo>
                <a:lnTo>
                  <a:pt x="570296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2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7366645" y="723265"/>
            <a:ext cx="4433560" cy="5933725"/>
          </a:xfrm>
          <a:custGeom>
            <a:avLst/>
            <a:gdLst>
              <a:gd name="connsiteX0" fmla="*/ 570296 w 4433560"/>
              <a:gd name="connsiteY0" fmla="*/ 0 h 5933725"/>
              <a:gd name="connsiteX1" fmla="*/ 3381160 w 4433560"/>
              <a:gd name="connsiteY1" fmla="*/ 0 h 5933725"/>
              <a:gd name="connsiteX2" fmla="*/ 3515152 w 4433560"/>
              <a:gd name="connsiteY2" fmla="*/ 147428 h 5933725"/>
              <a:gd name="connsiteX3" fmla="*/ 4433560 w 4433560"/>
              <a:gd name="connsiteY3" fmla="*/ 2705736 h 5933725"/>
              <a:gd name="connsiteX4" fmla="*/ 2818023 w 4433560"/>
              <a:gd name="connsiteY4" fmla="*/ 5928634 h 5933725"/>
              <a:gd name="connsiteX5" fmla="*/ 2810864 w 4433560"/>
              <a:gd name="connsiteY5" fmla="*/ 5933725 h 5933725"/>
              <a:gd name="connsiteX6" fmla="*/ 0 w 4433560"/>
              <a:gd name="connsiteY6" fmla="*/ 5933725 h 5933725"/>
              <a:gd name="connsiteX7" fmla="*/ 7159 w 4433560"/>
              <a:gd name="connsiteY7" fmla="*/ 5928634 h 5933725"/>
              <a:gd name="connsiteX8" fmla="*/ 1622696 w 4433560"/>
              <a:gd name="connsiteY8" fmla="*/ 2705736 h 5933725"/>
              <a:gd name="connsiteX9" fmla="*/ 704288 w 4433560"/>
              <a:gd name="connsiteY9" fmla="*/ 147428 h 5933725"/>
              <a:gd name="connsiteX10" fmla="*/ 570296 w 4433560"/>
              <a:gd name="connsiteY10" fmla="*/ 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33560" h="5933725">
                <a:moveTo>
                  <a:pt x="570296" y="0"/>
                </a:moveTo>
                <a:lnTo>
                  <a:pt x="3381160" y="0"/>
                </a:lnTo>
                <a:lnTo>
                  <a:pt x="3515152" y="147428"/>
                </a:lnTo>
                <a:cubicBezTo>
                  <a:pt x="4088901" y="842651"/>
                  <a:pt x="4433560" y="1733944"/>
                  <a:pt x="4433560" y="2705736"/>
                </a:cubicBezTo>
                <a:cubicBezTo>
                  <a:pt x="4433560" y="4024597"/>
                  <a:pt x="3798753" y="5195191"/>
                  <a:pt x="2818023" y="5928634"/>
                </a:cubicBezTo>
                <a:lnTo>
                  <a:pt x="2810864" y="5933725"/>
                </a:lnTo>
                <a:lnTo>
                  <a:pt x="0" y="5933725"/>
                </a:lnTo>
                <a:lnTo>
                  <a:pt x="7159" y="5928634"/>
                </a:lnTo>
                <a:cubicBezTo>
                  <a:pt x="987890" y="5195191"/>
                  <a:pt x="1622696" y="4024597"/>
                  <a:pt x="1622696" y="2705736"/>
                </a:cubicBezTo>
                <a:cubicBezTo>
                  <a:pt x="1622696" y="1733944"/>
                  <a:pt x="1278037" y="842651"/>
                  <a:pt x="704288" y="147428"/>
                </a:cubicBezTo>
                <a:lnTo>
                  <a:pt x="570296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2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3" name="任意多边形: 形状 52"/>
          <p:cNvSpPr/>
          <p:nvPr/>
        </p:nvSpPr>
        <p:spPr>
          <a:xfrm>
            <a:off x="0" y="723265"/>
            <a:ext cx="3367613" cy="5933725"/>
          </a:xfrm>
          <a:custGeom>
            <a:avLst/>
            <a:gdLst>
              <a:gd name="connsiteX0" fmla="*/ 109582 w 3367613"/>
              <a:gd name="connsiteY0" fmla="*/ 0 h 5933725"/>
              <a:gd name="connsiteX1" fmla="*/ 2315213 w 3367613"/>
              <a:gd name="connsiteY1" fmla="*/ 0 h 5933725"/>
              <a:gd name="connsiteX2" fmla="*/ 2449205 w 3367613"/>
              <a:gd name="connsiteY2" fmla="*/ 147428 h 5933725"/>
              <a:gd name="connsiteX3" fmla="*/ 3367613 w 3367613"/>
              <a:gd name="connsiteY3" fmla="*/ 2705736 h 5933725"/>
              <a:gd name="connsiteX4" fmla="*/ 1752076 w 3367613"/>
              <a:gd name="connsiteY4" fmla="*/ 5928634 h 5933725"/>
              <a:gd name="connsiteX5" fmla="*/ 1744917 w 3367613"/>
              <a:gd name="connsiteY5" fmla="*/ 5933725 h 5933725"/>
              <a:gd name="connsiteX6" fmla="*/ 679878 w 3367613"/>
              <a:gd name="connsiteY6" fmla="*/ 5933725 h 5933725"/>
              <a:gd name="connsiteX7" fmla="*/ 672719 w 3367613"/>
              <a:gd name="connsiteY7" fmla="*/ 5928634 h 5933725"/>
              <a:gd name="connsiteX8" fmla="*/ 6546 w 3367613"/>
              <a:gd name="connsiteY8" fmla="*/ 5301100 h 5933725"/>
              <a:gd name="connsiteX9" fmla="*/ 0 w 3367613"/>
              <a:gd name="connsiteY9" fmla="*/ 5292897 h 5933725"/>
              <a:gd name="connsiteX10" fmla="*/ 0 w 3367613"/>
              <a:gd name="connsiteY10" fmla="*/ 12057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67613" h="5933725">
                <a:moveTo>
                  <a:pt x="109582" y="0"/>
                </a:moveTo>
                <a:lnTo>
                  <a:pt x="2315213" y="0"/>
                </a:lnTo>
                <a:lnTo>
                  <a:pt x="2449205" y="147428"/>
                </a:lnTo>
                <a:cubicBezTo>
                  <a:pt x="3022954" y="842651"/>
                  <a:pt x="3367613" y="1733944"/>
                  <a:pt x="3367613" y="2705736"/>
                </a:cubicBezTo>
                <a:cubicBezTo>
                  <a:pt x="3367613" y="4024597"/>
                  <a:pt x="2732807" y="5195191"/>
                  <a:pt x="1752076" y="5928634"/>
                </a:cubicBezTo>
                <a:lnTo>
                  <a:pt x="1744917" y="5933725"/>
                </a:lnTo>
                <a:lnTo>
                  <a:pt x="679878" y="5933725"/>
                </a:lnTo>
                <a:lnTo>
                  <a:pt x="672719" y="5928634"/>
                </a:lnTo>
                <a:cubicBezTo>
                  <a:pt x="427537" y="5745274"/>
                  <a:pt x="203974" y="5534591"/>
                  <a:pt x="6546" y="5301100"/>
                </a:cubicBezTo>
                <a:lnTo>
                  <a:pt x="0" y="5292897"/>
                </a:lnTo>
                <a:lnTo>
                  <a:pt x="0" y="12057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4555781" y="723265"/>
            <a:ext cx="4433560" cy="5933725"/>
          </a:xfrm>
          <a:custGeom>
            <a:avLst/>
            <a:gdLst>
              <a:gd name="connsiteX0" fmla="*/ 570296 w 4433560"/>
              <a:gd name="connsiteY0" fmla="*/ 0 h 5933725"/>
              <a:gd name="connsiteX1" fmla="*/ 3381160 w 4433560"/>
              <a:gd name="connsiteY1" fmla="*/ 0 h 5933725"/>
              <a:gd name="connsiteX2" fmla="*/ 3515152 w 4433560"/>
              <a:gd name="connsiteY2" fmla="*/ 147428 h 5933725"/>
              <a:gd name="connsiteX3" fmla="*/ 4433560 w 4433560"/>
              <a:gd name="connsiteY3" fmla="*/ 2705736 h 5933725"/>
              <a:gd name="connsiteX4" fmla="*/ 2818023 w 4433560"/>
              <a:gd name="connsiteY4" fmla="*/ 5928634 h 5933725"/>
              <a:gd name="connsiteX5" fmla="*/ 2810864 w 4433560"/>
              <a:gd name="connsiteY5" fmla="*/ 5933725 h 5933725"/>
              <a:gd name="connsiteX6" fmla="*/ 0 w 4433560"/>
              <a:gd name="connsiteY6" fmla="*/ 5933725 h 5933725"/>
              <a:gd name="connsiteX7" fmla="*/ 7159 w 4433560"/>
              <a:gd name="connsiteY7" fmla="*/ 5928634 h 5933725"/>
              <a:gd name="connsiteX8" fmla="*/ 1622696 w 4433560"/>
              <a:gd name="connsiteY8" fmla="*/ 2705736 h 5933725"/>
              <a:gd name="connsiteX9" fmla="*/ 704288 w 4433560"/>
              <a:gd name="connsiteY9" fmla="*/ 147428 h 5933725"/>
              <a:gd name="connsiteX10" fmla="*/ 570296 w 4433560"/>
              <a:gd name="connsiteY10" fmla="*/ 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33560" h="5933725">
                <a:moveTo>
                  <a:pt x="570296" y="0"/>
                </a:moveTo>
                <a:lnTo>
                  <a:pt x="3381160" y="0"/>
                </a:lnTo>
                <a:lnTo>
                  <a:pt x="3515152" y="147428"/>
                </a:lnTo>
                <a:cubicBezTo>
                  <a:pt x="4088901" y="842651"/>
                  <a:pt x="4433560" y="1733944"/>
                  <a:pt x="4433560" y="2705736"/>
                </a:cubicBezTo>
                <a:cubicBezTo>
                  <a:pt x="4433560" y="4024597"/>
                  <a:pt x="3798754" y="5195191"/>
                  <a:pt x="2818023" y="5928634"/>
                </a:cubicBezTo>
                <a:lnTo>
                  <a:pt x="2810864" y="5933725"/>
                </a:lnTo>
                <a:lnTo>
                  <a:pt x="0" y="5933725"/>
                </a:lnTo>
                <a:lnTo>
                  <a:pt x="7159" y="5928634"/>
                </a:lnTo>
                <a:cubicBezTo>
                  <a:pt x="987890" y="5195191"/>
                  <a:pt x="1622696" y="4024597"/>
                  <a:pt x="1622696" y="2705736"/>
                </a:cubicBezTo>
                <a:cubicBezTo>
                  <a:pt x="1622696" y="1733944"/>
                  <a:pt x="1278037" y="842651"/>
                  <a:pt x="704288" y="147428"/>
                </a:cubicBezTo>
                <a:lnTo>
                  <a:pt x="570296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/>
          <p:cNvSpPr/>
          <p:nvPr/>
        </p:nvSpPr>
        <p:spPr>
          <a:xfrm>
            <a:off x="-635" y="1028700"/>
            <a:ext cx="2334260" cy="6381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2578651" y="1028699"/>
            <a:ext cx="2612474" cy="638174"/>
          </a:xfrm>
          <a:custGeom>
            <a:avLst/>
            <a:gdLst>
              <a:gd name="connsiteX0" fmla="*/ 85141 w 2612474"/>
              <a:gd name="connsiteY0" fmla="*/ 0 h 638174"/>
              <a:gd name="connsiteX1" fmla="*/ 2293387 w 2612474"/>
              <a:gd name="connsiteY1" fmla="*/ 0 h 638174"/>
              <a:gd name="connsiteX2" fmla="*/ 2612474 w 2612474"/>
              <a:gd name="connsiteY2" fmla="*/ 319087 h 638174"/>
              <a:gd name="connsiteX3" fmla="*/ 2612473 w 2612474"/>
              <a:gd name="connsiteY3" fmla="*/ 319087 h 638174"/>
              <a:gd name="connsiteX4" fmla="*/ 2293386 w 2612474"/>
              <a:gd name="connsiteY4" fmla="*/ 638174 h 638174"/>
              <a:gd name="connsiteX5" fmla="*/ 380757 w 2612474"/>
              <a:gd name="connsiteY5" fmla="*/ 638173 h 638174"/>
              <a:gd name="connsiteX6" fmla="*/ 256106 w 2612474"/>
              <a:gd name="connsiteY6" fmla="*/ 398368 h 638174"/>
              <a:gd name="connsiteX7" fmla="*/ 74746 w 2612474"/>
              <a:gd name="connsiteY7" fmla="*/ 111667 h 638174"/>
              <a:gd name="connsiteX8" fmla="*/ 0 w 2612474"/>
              <a:gd name="connsiteY8" fmla="*/ 12950 h 638174"/>
              <a:gd name="connsiteX9" fmla="*/ 20834 w 2612474"/>
              <a:gd name="connsiteY9" fmla="*/ 6483 h 638174"/>
              <a:gd name="connsiteX10" fmla="*/ 85141 w 2612474"/>
              <a:gd name="connsiteY10" fmla="*/ 0 h 63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12474" h="638174">
                <a:moveTo>
                  <a:pt x="85141" y="0"/>
                </a:moveTo>
                <a:lnTo>
                  <a:pt x="2293387" y="0"/>
                </a:lnTo>
                <a:cubicBezTo>
                  <a:pt x="2469614" y="0"/>
                  <a:pt x="2612474" y="142860"/>
                  <a:pt x="2612474" y="319087"/>
                </a:cubicBezTo>
                <a:lnTo>
                  <a:pt x="2612473" y="319087"/>
                </a:lnTo>
                <a:cubicBezTo>
                  <a:pt x="2612473" y="495314"/>
                  <a:pt x="2469613" y="638174"/>
                  <a:pt x="2293386" y="638174"/>
                </a:cubicBezTo>
                <a:lnTo>
                  <a:pt x="380757" y="638173"/>
                </a:lnTo>
                <a:lnTo>
                  <a:pt x="256106" y="398368"/>
                </a:lnTo>
                <a:cubicBezTo>
                  <a:pt x="199608" y="300113"/>
                  <a:pt x="139080" y="204471"/>
                  <a:pt x="74746" y="111667"/>
                </a:cubicBezTo>
                <a:lnTo>
                  <a:pt x="0" y="12950"/>
                </a:lnTo>
                <a:lnTo>
                  <a:pt x="20834" y="6483"/>
                </a:lnTo>
                <a:cubicBezTo>
                  <a:pt x="41606" y="2232"/>
                  <a:pt x="63113" y="0"/>
                  <a:pt x="851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0" name="任意多边形: 形状 59"/>
          <p:cNvSpPr/>
          <p:nvPr/>
        </p:nvSpPr>
        <p:spPr>
          <a:xfrm>
            <a:off x="5380802" y="1028699"/>
            <a:ext cx="2612474" cy="638174"/>
          </a:xfrm>
          <a:custGeom>
            <a:avLst/>
            <a:gdLst>
              <a:gd name="connsiteX0" fmla="*/ 85141 w 2612474"/>
              <a:gd name="connsiteY0" fmla="*/ 0 h 638174"/>
              <a:gd name="connsiteX1" fmla="*/ 2293387 w 2612474"/>
              <a:gd name="connsiteY1" fmla="*/ 0 h 638174"/>
              <a:gd name="connsiteX2" fmla="*/ 2612474 w 2612474"/>
              <a:gd name="connsiteY2" fmla="*/ 319087 h 638174"/>
              <a:gd name="connsiteX3" fmla="*/ 2612473 w 2612474"/>
              <a:gd name="connsiteY3" fmla="*/ 319087 h 638174"/>
              <a:gd name="connsiteX4" fmla="*/ 2293386 w 2612474"/>
              <a:gd name="connsiteY4" fmla="*/ 638174 h 638174"/>
              <a:gd name="connsiteX5" fmla="*/ 380757 w 2612474"/>
              <a:gd name="connsiteY5" fmla="*/ 638173 h 638174"/>
              <a:gd name="connsiteX6" fmla="*/ 256106 w 2612474"/>
              <a:gd name="connsiteY6" fmla="*/ 398368 h 638174"/>
              <a:gd name="connsiteX7" fmla="*/ 74746 w 2612474"/>
              <a:gd name="connsiteY7" fmla="*/ 111667 h 638174"/>
              <a:gd name="connsiteX8" fmla="*/ 0 w 2612474"/>
              <a:gd name="connsiteY8" fmla="*/ 12950 h 638174"/>
              <a:gd name="connsiteX9" fmla="*/ 20834 w 2612474"/>
              <a:gd name="connsiteY9" fmla="*/ 6483 h 638174"/>
              <a:gd name="connsiteX10" fmla="*/ 85141 w 2612474"/>
              <a:gd name="connsiteY10" fmla="*/ 0 h 63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12474" h="638174">
                <a:moveTo>
                  <a:pt x="85141" y="0"/>
                </a:moveTo>
                <a:lnTo>
                  <a:pt x="2293387" y="0"/>
                </a:lnTo>
                <a:cubicBezTo>
                  <a:pt x="2469614" y="0"/>
                  <a:pt x="2612474" y="142860"/>
                  <a:pt x="2612474" y="319087"/>
                </a:cubicBezTo>
                <a:lnTo>
                  <a:pt x="2612473" y="319087"/>
                </a:lnTo>
                <a:cubicBezTo>
                  <a:pt x="2612473" y="495314"/>
                  <a:pt x="2469613" y="638174"/>
                  <a:pt x="2293386" y="638174"/>
                </a:cubicBezTo>
                <a:lnTo>
                  <a:pt x="380757" y="638173"/>
                </a:lnTo>
                <a:lnTo>
                  <a:pt x="256106" y="398368"/>
                </a:lnTo>
                <a:cubicBezTo>
                  <a:pt x="199608" y="300113"/>
                  <a:pt x="139080" y="204471"/>
                  <a:pt x="74746" y="111667"/>
                </a:cubicBezTo>
                <a:lnTo>
                  <a:pt x="0" y="12950"/>
                </a:lnTo>
                <a:lnTo>
                  <a:pt x="20834" y="6483"/>
                </a:lnTo>
                <a:cubicBezTo>
                  <a:pt x="41606" y="2232"/>
                  <a:pt x="63113" y="0"/>
                  <a:pt x="8514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8182953" y="1028699"/>
            <a:ext cx="2612474" cy="638174"/>
          </a:xfrm>
          <a:custGeom>
            <a:avLst/>
            <a:gdLst>
              <a:gd name="connsiteX0" fmla="*/ 85141 w 2612474"/>
              <a:gd name="connsiteY0" fmla="*/ 0 h 638174"/>
              <a:gd name="connsiteX1" fmla="*/ 2293387 w 2612474"/>
              <a:gd name="connsiteY1" fmla="*/ 0 h 638174"/>
              <a:gd name="connsiteX2" fmla="*/ 2612474 w 2612474"/>
              <a:gd name="connsiteY2" fmla="*/ 319087 h 638174"/>
              <a:gd name="connsiteX3" fmla="*/ 2612473 w 2612474"/>
              <a:gd name="connsiteY3" fmla="*/ 319087 h 638174"/>
              <a:gd name="connsiteX4" fmla="*/ 2293386 w 2612474"/>
              <a:gd name="connsiteY4" fmla="*/ 638174 h 638174"/>
              <a:gd name="connsiteX5" fmla="*/ 380757 w 2612474"/>
              <a:gd name="connsiteY5" fmla="*/ 638173 h 638174"/>
              <a:gd name="connsiteX6" fmla="*/ 256106 w 2612474"/>
              <a:gd name="connsiteY6" fmla="*/ 398368 h 638174"/>
              <a:gd name="connsiteX7" fmla="*/ 74746 w 2612474"/>
              <a:gd name="connsiteY7" fmla="*/ 111667 h 638174"/>
              <a:gd name="connsiteX8" fmla="*/ 0 w 2612474"/>
              <a:gd name="connsiteY8" fmla="*/ 12950 h 638174"/>
              <a:gd name="connsiteX9" fmla="*/ 20834 w 2612474"/>
              <a:gd name="connsiteY9" fmla="*/ 6483 h 638174"/>
              <a:gd name="connsiteX10" fmla="*/ 85141 w 2612474"/>
              <a:gd name="connsiteY10" fmla="*/ 0 h 63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12474" h="638174">
                <a:moveTo>
                  <a:pt x="85141" y="0"/>
                </a:moveTo>
                <a:lnTo>
                  <a:pt x="2293387" y="0"/>
                </a:lnTo>
                <a:cubicBezTo>
                  <a:pt x="2469614" y="0"/>
                  <a:pt x="2612474" y="142860"/>
                  <a:pt x="2612474" y="319087"/>
                </a:cubicBezTo>
                <a:lnTo>
                  <a:pt x="2612473" y="319087"/>
                </a:lnTo>
                <a:cubicBezTo>
                  <a:pt x="2612473" y="495314"/>
                  <a:pt x="2469613" y="638174"/>
                  <a:pt x="2293386" y="638174"/>
                </a:cubicBezTo>
                <a:lnTo>
                  <a:pt x="380757" y="638173"/>
                </a:lnTo>
                <a:lnTo>
                  <a:pt x="256106" y="398368"/>
                </a:lnTo>
                <a:cubicBezTo>
                  <a:pt x="199608" y="300113"/>
                  <a:pt x="139080" y="204471"/>
                  <a:pt x="74746" y="111667"/>
                </a:cubicBezTo>
                <a:lnTo>
                  <a:pt x="0" y="12950"/>
                </a:lnTo>
                <a:lnTo>
                  <a:pt x="20834" y="6483"/>
                </a:lnTo>
                <a:cubicBezTo>
                  <a:pt x="41606" y="2232"/>
                  <a:pt x="63113" y="0"/>
                  <a:pt x="851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52026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策略创新</a:t>
            </a:r>
          </a:p>
        </p:txBody>
      </p:sp>
      <p:sp>
        <p:nvSpPr>
          <p:cNvPr id="63" name="椭圆 62"/>
          <p:cNvSpPr/>
          <p:nvPr/>
        </p:nvSpPr>
        <p:spPr>
          <a:xfrm>
            <a:off x="242454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64" name="Google Shape;8200;p82"/>
          <p:cNvGrpSpPr/>
          <p:nvPr/>
        </p:nvGrpSpPr>
        <p:grpSpPr>
          <a:xfrm>
            <a:off x="400099" y="1198919"/>
            <a:ext cx="295151" cy="315500"/>
            <a:chOff x="-2312225" y="3238300"/>
            <a:chExt cx="274125" cy="293025"/>
          </a:xfrm>
          <a:solidFill>
            <a:schemeClr val="accent1"/>
          </a:solidFill>
        </p:grpSpPr>
        <p:sp>
          <p:nvSpPr>
            <p:cNvPr id="65" name="Google Shape;8201;p82"/>
            <p:cNvSpPr/>
            <p:nvPr/>
          </p:nvSpPr>
          <p:spPr>
            <a:xfrm>
              <a:off x="-2241325" y="3289500"/>
              <a:ext cx="203225" cy="241825"/>
            </a:xfrm>
            <a:custGeom>
              <a:avLst/>
              <a:gdLst/>
              <a:ahLst/>
              <a:cxnLst/>
              <a:rect l="l" t="t" r="r" b="b"/>
              <a:pathLst>
                <a:path w="8129" h="9673" extrusionOk="0">
                  <a:moveTo>
                    <a:pt x="2458" y="0"/>
                  </a:moveTo>
                  <a:cubicBezTo>
                    <a:pt x="2174" y="0"/>
                    <a:pt x="1954" y="221"/>
                    <a:pt x="1954" y="504"/>
                  </a:cubicBezTo>
                  <a:lnTo>
                    <a:pt x="1954" y="2836"/>
                  </a:lnTo>
                  <a:lnTo>
                    <a:pt x="1954" y="5167"/>
                  </a:lnTo>
                  <a:lnTo>
                    <a:pt x="914" y="4128"/>
                  </a:lnTo>
                  <a:cubicBezTo>
                    <a:pt x="820" y="4033"/>
                    <a:pt x="693" y="3986"/>
                    <a:pt x="567" y="3986"/>
                  </a:cubicBezTo>
                  <a:cubicBezTo>
                    <a:pt x="441" y="3986"/>
                    <a:pt x="315" y="4033"/>
                    <a:pt x="221" y="4128"/>
                  </a:cubicBezTo>
                  <a:cubicBezTo>
                    <a:pt x="0" y="4317"/>
                    <a:pt x="0" y="4632"/>
                    <a:pt x="221" y="4852"/>
                  </a:cubicBezTo>
                  <a:lnTo>
                    <a:pt x="2678" y="7310"/>
                  </a:lnTo>
                  <a:lnTo>
                    <a:pt x="2678" y="8664"/>
                  </a:lnTo>
                  <a:cubicBezTo>
                    <a:pt x="2678" y="9200"/>
                    <a:pt x="3151" y="9672"/>
                    <a:pt x="3718" y="9672"/>
                  </a:cubicBezTo>
                  <a:lnTo>
                    <a:pt x="6459" y="9672"/>
                  </a:lnTo>
                  <a:cubicBezTo>
                    <a:pt x="7026" y="9672"/>
                    <a:pt x="7499" y="9200"/>
                    <a:pt x="7499" y="8664"/>
                  </a:cubicBezTo>
                  <a:lnTo>
                    <a:pt x="7499" y="8066"/>
                  </a:lnTo>
                  <a:cubicBezTo>
                    <a:pt x="7688" y="7656"/>
                    <a:pt x="7845" y="7278"/>
                    <a:pt x="7940" y="6837"/>
                  </a:cubicBezTo>
                  <a:cubicBezTo>
                    <a:pt x="8034" y="6396"/>
                    <a:pt x="8129" y="5986"/>
                    <a:pt x="8129" y="5514"/>
                  </a:cubicBezTo>
                  <a:lnTo>
                    <a:pt x="8129" y="3308"/>
                  </a:lnTo>
                  <a:cubicBezTo>
                    <a:pt x="8129" y="3025"/>
                    <a:pt x="7877" y="2773"/>
                    <a:pt x="7625" y="2773"/>
                  </a:cubicBezTo>
                  <a:cubicBezTo>
                    <a:pt x="7341" y="2773"/>
                    <a:pt x="7089" y="3025"/>
                    <a:pt x="7089" y="3308"/>
                  </a:cubicBezTo>
                  <a:lnTo>
                    <a:pt x="7089" y="3812"/>
                  </a:lnTo>
                  <a:cubicBezTo>
                    <a:pt x="7089" y="4002"/>
                    <a:pt x="6931" y="4159"/>
                    <a:pt x="6742" y="4159"/>
                  </a:cubicBezTo>
                  <a:cubicBezTo>
                    <a:pt x="6553" y="4159"/>
                    <a:pt x="6396" y="4002"/>
                    <a:pt x="6396" y="3812"/>
                  </a:cubicBezTo>
                  <a:lnTo>
                    <a:pt x="6396" y="2615"/>
                  </a:lnTo>
                  <a:cubicBezTo>
                    <a:pt x="6396" y="2363"/>
                    <a:pt x="6144" y="2111"/>
                    <a:pt x="5892" y="2111"/>
                  </a:cubicBezTo>
                  <a:cubicBezTo>
                    <a:pt x="5608" y="2111"/>
                    <a:pt x="5356" y="2363"/>
                    <a:pt x="5356" y="2615"/>
                  </a:cubicBezTo>
                  <a:cubicBezTo>
                    <a:pt x="5357" y="2615"/>
                    <a:pt x="5358" y="2615"/>
                    <a:pt x="5359" y="2615"/>
                  </a:cubicBezTo>
                  <a:cubicBezTo>
                    <a:pt x="5418" y="2615"/>
                    <a:pt x="5419" y="3769"/>
                    <a:pt x="5419" y="3781"/>
                  </a:cubicBezTo>
                  <a:lnTo>
                    <a:pt x="5419" y="3781"/>
                  </a:lnTo>
                  <a:cubicBezTo>
                    <a:pt x="5419" y="3970"/>
                    <a:pt x="5262" y="4128"/>
                    <a:pt x="5041" y="4128"/>
                  </a:cubicBezTo>
                  <a:cubicBezTo>
                    <a:pt x="4852" y="4128"/>
                    <a:pt x="4695" y="3970"/>
                    <a:pt x="4695" y="3781"/>
                  </a:cubicBezTo>
                  <a:lnTo>
                    <a:pt x="4695" y="2584"/>
                  </a:lnTo>
                  <a:cubicBezTo>
                    <a:pt x="4695" y="2332"/>
                    <a:pt x="4474" y="2080"/>
                    <a:pt x="4191" y="2080"/>
                  </a:cubicBezTo>
                  <a:cubicBezTo>
                    <a:pt x="3907" y="2080"/>
                    <a:pt x="3686" y="2332"/>
                    <a:pt x="3686" y="2584"/>
                  </a:cubicBezTo>
                  <a:lnTo>
                    <a:pt x="3686" y="3781"/>
                  </a:lnTo>
                  <a:cubicBezTo>
                    <a:pt x="3686" y="3970"/>
                    <a:pt x="3529" y="4128"/>
                    <a:pt x="3308" y="4128"/>
                  </a:cubicBezTo>
                  <a:cubicBezTo>
                    <a:pt x="3119" y="4128"/>
                    <a:pt x="2962" y="3970"/>
                    <a:pt x="2962" y="3781"/>
                  </a:cubicBezTo>
                  <a:lnTo>
                    <a:pt x="2962" y="504"/>
                  </a:lnTo>
                  <a:cubicBezTo>
                    <a:pt x="2962" y="221"/>
                    <a:pt x="2741" y="0"/>
                    <a:pt x="2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6" name="Google Shape;8202;p82"/>
            <p:cNvSpPr/>
            <p:nvPr/>
          </p:nvSpPr>
          <p:spPr>
            <a:xfrm>
              <a:off x="-2312225" y="3238300"/>
              <a:ext cx="241825" cy="241050"/>
            </a:xfrm>
            <a:custGeom>
              <a:avLst/>
              <a:gdLst/>
              <a:ahLst/>
              <a:cxnLst/>
              <a:rect l="l" t="t" r="r" b="b"/>
              <a:pathLst>
                <a:path w="9673" h="9642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3"/>
                  </a:lnTo>
                  <a:cubicBezTo>
                    <a:pt x="1" y="1922"/>
                    <a:pt x="158" y="2080"/>
                    <a:pt x="379" y="2080"/>
                  </a:cubicBezTo>
                  <a:lnTo>
                    <a:pt x="726" y="2080"/>
                  </a:lnTo>
                  <a:lnTo>
                    <a:pt x="726" y="7562"/>
                  </a:lnTo>
                  <a:lnTo>
                    <a:pt x="379" y="7562"/>
                  </a:lnTo>
                  <a:cubicBezTo>
                    <a:pt x="158" y="7562"/>
                    <a:pt x="1" y="7719"/>
                    <a:pt x="1" y="7908"/>
                  </a:cubicBezTo>
                  <a:lnTo>
                    <a:pt x="1" y="9294"/>
                  </a:lnTo>
                  <a:cubicBezTo>
                    <a:pt x="1" y="9484"/>
                    <a:pt x="158" y="9641"/>
                    <a:pt x="379" y="9641"/>
                  </a:cubicBezTo>
                  <a:lnTo>
                    <a:pt x="1734" y="9641"/>
                  </a:lnTo>
                  <a:cubicBezTo>
                    <a:pt x="1954" y="9641"/>
                    <a:pt x="2112" y="9484"/>
                    <a:pt x="2112" y="9294"/>
                  </a:cubicBezTo>
                  <a:lnTo>
                    <a:pt x="2112" y="8916"/>
                  </a:lnTo>
                  <a:lnTo>
                    <a:pt x="4160" y="8916"/>
                  </a:lnTo>
                  <a:lnTo>
                    <a:pt x="3435" y="8223"/>
                  </a:lnTo>
                  <a:lnTo>
                    <a:pt x="2112" y="8223"/>
                  </a:lnTo>
                  <a:lnTo>
                    <a:pt x="2112" y="7877"/>
                  </a:lnTo>
                  <a:cubicBezTo>
                    <a:pt x="2112" y="7688"/>
                    <a:pt x="1954" y="7530"/>
                    <a:pt x="1734" y="7530"/>
                  </a:cubicBezTo>
                  <a:lnTo>
                    <a:pt x="1387" y="7530"/>
                  </a:lnTo>
                  <a:lnTo>
                    <a:pt x="1387" y="2080"/>
                  </a:lnTo>
                  <a:lnTo>
                    <a:pt x="1734" y="2080"/>
                  </a:lnTo>
                  <a:cubicBezTo>
                    <a:pt x="1954" y="2080"/>
                    <a:pt x="2112" y="1922"/>
                    <a:pt x="2112" y="1733"/>
                  </a:cubicBezTo>
                  <a:lnTo>
                    <a:pt x="2112" y="1387"/>
                  </a:lnTo>
                  <a:lnTo>
                    <a:pt x="7562" y="1387"/>
                  </a:lnTo>
                  <a:lnTo>
                    <a:pt x="7562" y="1733"/>
                  </a:lnTo>
                  <a:cubicBezTo>
                    <a:pt x="7562" y="1922"/>
                    <a:pt x="7720" y="2080"/>
                    <a:pt x="7940" y="2080"/>
                  </a:cubicBezTo>
                  <a:lnTo>
                    <a:pt x="8287" y="2080"/>
                  </a:lnTo>
                  <a:lnTo>
                    <a:pt x="8287" y="3592"/>
                  </a:lnTo>
                  <a:cubicBezTo>
                    <a:pt x="8444" y="3498"/>
                    <a:pt x="8602" y="3466"/>
                    <a:pt x="8791" y="3466"/>
                  </a:cubicBezTo>
                  <a:cubicBezTo>
                    <a:pt x="8885" y="3466"/>
                    <a:pt x="8917" y="3466"/>
                    <a:pt x="8948" y="3498"/>
                  </a:cubicBezTo>
                  <a:lnTo>
                    <a:pt x="8948" y="2080"/>
                  </a:lnTo>
                  <a:lnTo>
                    <a:pt x="9326" y="2080"/>
                  </a:lnTo>
                  <a:cubicBezTo>
                    <a:pt x="9515" y="2080"/>
                    <a:pt x="9673" y="1922"/>
                    <a:pt x="9673" y="1733"/>
                  </a:cubicBezTo>
                  <a:lnTo>
                    <a:pt x="9673" y="347"/>
                  </a:lnTo>
                  <a:cubicBezTo>
                    <a:pt x="9673" y="158"/>
                    <a:pt x="9515" y="1"/>
                    <a:pt x="9326" y="1"/>
                  </a:cubicBezTo>
                  <a:lnTo>
                    <a:pt x="7940" y="1"/>
                  </a:lnTo>
                  <a:cubicBezTo>
                    <a:pt x="7751" y="1"/>
                    <a:pt x="7562" y="158"/>
                    <a:pt x="7562" y="347"/>
                  </a:cubicBezTo>
                  <a:lnTo>
                    <a:pt x="7562" y="694"/>
                  </a:lnTo>
                  <a:lnTo>
                    <a:pt x="2112" y="694"/>
                  </a:lnTo>
                  <a:lnTo>
                    <a:pt x="2112" y="347"/>
                  </a:lnTo>
                  <a:cubicBezTo>
                    <a:pt x="2112" y="158"/>
                    <a:pt x="1954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3536218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研发突破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6337854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客户服务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9139491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部门协作</a:t>
            </a:r>
          </a:p>
        </p:txBody>
      </p:sp>
      <p:sp>
        <p:nvSpPr>
          <p:cNvPr id="127" name="椭圆 126"/>
          <p:cNvSpPr/>
          <p:nvPr/>
        </p:nvSpPr>
        <p:spPr>
          <a:xfrm>
            <a:off x="8729919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31" name="Google Shape;8076;p82"/>
          <p:cNvGrpSpPr/>
          <p:nvPr/>
        </p:nvGrpSpPr>
        <p:grpSpPr>
          <a:xfrm>
            <a:off x="8858974" y="1193435"/>
            <a:ext cx="325414" cy="308703"/>
            <a:chOff x="-6696925" y="3272575"/>
            <a:chExt cx="307200" cy="291425"/>
          </a:xfrm>
        </p:grpSpPr>
        <p:sp>
          <p:nvSpPr>
            <p:cNvPr id="132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3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21" name="椭圆 120"/>
          <p:cNvSpPr/>
          <p:nvPr/>
        </p:nvSpPr>
        <p:spPr>
          <a:xfrm>
            <a:off x="5928282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34" name="Google Shape;8079;p82"/>
          <p:cNvGrpSpPr/>
          <p:nvPr/>
        </p:nvGrpSpPr>
        <p:grpSpPr>
          <a:xfrm>
            <a:off x="6103753" y="1212653"/>
            <a:ext cx="298580" cy="284001"/>
            <a:chOff x="-6690625" y="3631325"/>
            <a:chExt cx="307225" cy="292225"/>
          </a:xfrm>
          <a:solidFill>
            <a:schemeClr val="accent1"/>
          </a:solidFill>
        </p:grpSpPr>
        <p:sp>
          <p:nvSpPr>
            <p:cNvPr id="135" name="Google Shape;8080;p82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6" name="Google Shape;8081;p82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7" name="Google Shape;8082;p82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8" name="Google Shape;8083;p82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9" name="Google Shape;8084;p82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15" name="椭圆 114"/>
          <p:cNvSpPr/>
          <p:nvPr/>
        </p:nvSpPr>
        <p:spPr>
          <a:xfrm>
            <a:off x="3126646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66" name="Google Shape;8132;p82"/>
          <p:cNvGrpSpPr/>
          <p:nvPr/>
        </p:nvGrpSpPr>
        <p:grpSpPr>
          <a:xfrm>
            <a:off x="3264429" y="1200720"/>
            <a:ext cx="341092" cy="339258"/>
            <a:chOff x="-6329100" y="3632100"/>
            <a:chExt cx="293025" cy="291450"/>
          </a:xfrm>
        </p:grpSpPr>
        <p:sp>
          <p:nvSpPr>
            <p:cNvPr id="167" name="Google Shape;8133;p82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8" name="Google Shape;8134;p82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9" name="Google Shape;8135;p82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6" name="椭圆 5"/>
          <p:cNvSpPr/>
          <p:nvPr/>
        </p:nvSpPr>
        <p:spPr>
          <a:xfrm>
            <a:off x="371478" y="1995789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4781" y="1858964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数据收集与分析难题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390525" y="2203115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数据来源分散</a:t>
            </a:r>
          </a:p>
        </p:txBody>
      </p:sp>
      <p:sp>
        <p:nvSpPr>
          <p:cNvPr id="39" name="矩形: 圆角 38"/>
          <p:cNvSpPr/>
          <p:nvPr/>
        </p:nvSpPr>
        <p:spPr>
          <a:xfrm>
            <a:off x="1463291" y="2203115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数据质量参差不齐</a:t>
            </a:r>
          </a:p>
        </p:txBody>
      </p:sp>
      <p:sp>
        <p:nvSpPr>
          <p:cNvPr id="40" name="矩形: 圆角 39"/>
          <p:cNvSpPr/>
          <p:nvPr/>
        </p:nvSpPr>
        <p:spPr>
          <a:xfrm>
            <a:off x="390525" y="2522202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分析技术瓶颈</a:t>
            </a:r>
          </a:p>
        </p:txBody>
      </p:sp>
      <p:sp>
        <p:nvSpPr>
          <p:cNvPr id="43" name="椭圆 42"/>
          <p:cNvSpPr/>
          <p:nvPr/>
        </p:nvSpPr>
        <p:spPr>
          <a:xfrm>
            <a:off x="371478" y="3084981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54781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跨界合作协调困境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390525" y="3292307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合作方理念差异</a:t>
            </a:r>
          </a:p>
        </p:txBody>
      </p:sp>
      <p:sp>
        <p:nvSpPr>
          <p:cNvPr id="46" name="矩形: 圆角 45"/>
          <p:cNvSpPr/>
          <p:nvPr/>
        </p:nvSpPr>
        <p:spPr>
          <a:xfrm>
            <a:off x="1463291" y="3292307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沟通效率低下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390525" y="3611394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权益分配矛盾</a:t>
            </a:r>
          </a:p>
        </p:txBody>
      </p:sp>
      <p:sp>
        <p:nvSpPr>
          <p:cNvPr id="51" name="椭圆 50"/>
          <p:cNvSpPr/>
          <p:nvPr/>
        </p:nvSpPr>
        <p:spPr>
          <a:xfrm>
            <a:off x="371478" y="4174173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54781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个性化营销执行挑战</a:t>
            </a:r>
          </a:p>
        </p:txBody>
      </p:sp>
      <p:sp>
        <p:nvSpPr>
          <p:cNvPr id="55" name="矩形: 圆角 54"/>
          <p:cNvSpPr/>
          <p:nvPr/>
        </p:nvSpPr>
        <p:spPr>
          <a:xfrm>
            <a:off x="390525" y="4381499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内容创作压力</a:t>
            </a:r>
          </a:p>
        </p:txBody>
      </p:sp>
      <p:sp>
        <p:nvSpPr>
          <p:cNvPr id="56" name="矩形: 圆角 55"/>
          <p:cNvSpPr/>
          <p:nvPr/>
        </p:nvSpPr>
        <p:spPr>
          <a:xfrm>
            <a:off x="1463291" y="4381499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渠道精当投放难</a:t>
            </a:r>
          </a:p>
        </p:txBody>
      </p:sp>
      <p:sp>
        <p:nvSpPr>
          <p:cNvPr id="57" name="矩形: 圆角 56"/>
          <p:cNvSpPr/>
          <p:nvPr/>
        </p:nvSpPr>
        <p:spPr>
          <a:xfrm>
            <a:off x="390525" y="4700586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效果评估复杂</a:t>
            </a:r>
          </a:p>
        </p:txBody>
      </p:sp>
      <p:sp>
        <p:nvSpPr>
          <p:cNvPr id="67" name="椭圆 66"/>
          <p:cNvSpPr/>
          <p:nvPr/>
        </p:nvSpPr>
        <p:spPr>
          <a:xfrm>
            <a:off x="371478" y="5263365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54781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品牌形象塑造压力</a:t>
            </a:r>
          </a:p>
        </p:txBody>
      </p:sp>
      <p:sp>
        <p:nvSpPr>
          <p:cNvPr id="69" name="矩形: 圆角 68"/>
          <p:cNvSpPr/>
          <p:nvPr/>
        </p:nvSpPr>
        <p:spPr>
          <a:xfrm>
            <a:off x="390525" y="5470691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市场定位模糊</a:t>
            </a:r>
          </a:p>
        </p:txBody>
      </p:sp>
      <p:sp>
        <p:nvSpPr>
          <p:cNvPr id="70" name="矩形: 圆角 69"/>
          <p:cNvSpPr/>
          <p:nvPr/>
        </p:nvSpPr>
        <p:spPr>
          <a:xfrm>
            <a:off x="1463291" y="5470691"/>
            <a:ext cx="1079884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品牌形象维护难</a:t>
            </a:r>
          </a:p>
        </p:txBody>
      </p:sp>
      <p:sp>
        <p:nvSpPr>
          <p:cNvPr id="71" name="矩形: 圆角 70"/>
          <p:cNvSpPr/>
          <p:nvPr/>
        </p:nvSpPr>
        <p:spPr>
          <a:xfrm>
            <a:off x="390525" y="5789778"/>
            <a:ext cx="1212464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消费者观念转变快</a:t>
            </a:r>
          </a:p>
        </p:txBody>
      </p:sp>
      <p:sp>
        <p:nvSpPr>
          <p:cNvPr id="73" name="椭圆 72"/>
          <p:cNvSpPr/>
          <p:nvPr/>
        </p:nvSpPr>
        <p:spPr>
          <a:xfrm>
            <a:off x="3284310" y="1995789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367613" y="1858964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技术适配挑战</a:t>
            </a:r>
          </a:p>
        </p:txBody>
      </p:sp>
      <p:sp>
        <p:nvSpPr>
          <p:cNvPr id="75" name="矩形: 圆角 74"/>
          <p:cNvSpPr/>
          <p:nvPr/>
        </p:nvSpPr>
        <p:spPr>
          <a:xfrm>
            <a:off x="3329808" y="2203115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技术适配挑战</a:t>
            </a:r>
          </a:p>
        </p:txBody>
      </p:sp>
      <p:sp>
        <p:nvSpPr>
          <p:cNvPr id="76" name="矩形: 圆角 75"/>
          <p:cNvSpPr/>
          <p:nvPr/>
        </p:nvSpPr>
        <p:spPr>
          <a:xfrm>
            <a:off x="4395402" y="2203115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设备成本高昂</a:t>
            </a:r>
          </a:p>
        </p:txBody>
      </p:sp>
      <p:sp>
        <p:nvSpPr>
          <p:cNvPr id="77" name="矩形: 圆角 76"/>
          <p:cNvSpPr/>
          <p:nvPr/>
        </p:nvSpPr>
        <p:spPr>
          <a:xfrm>
            <a:off x="3397122" y="2522202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技术人才短缺</a:t>
            </a:r>
          </a:p>
        </p:txBody>
      </p:sp>
      <p:sp>
        <p:nvSpPr>
          <p:cNvPr id="78" name="椭圆 77"/>
          <p:cNvSpPr/>
          <p:nvPr/>
        </p:nvSpPr>
        <p:spPr>
          <a:xfrm>
            <a:off x="3484440" y="3084981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3567743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产品质量把控难点</a:t>
            </a:r>
          </a:p>
        </p:txBody>
      </p:sp>
      <p:sp>
        <p:nvSpPr>
          <p:cNvPr id="80" name="矩形: 圆角 79"/>
          <p:cNvSpPr/>
          <p:nvPr/>
        </p:nvSpPr>
        <p:spPr>
          <a:xfrm>
            <a:off x="3462048" y="3292307"/>
            <a:ext cx="121138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原材料供应不稳定</a:t>
            </a:r>
          </a:p>
        </p:txBody>
      </p:sp>
      <p:sp>
        <p:nvSpPr>
          <p:cNvPr id="81" name="矩形: 圆角 80"/>
          <p:cNvSpPr/>
          <p:nvPr/>
        </p:nvSpPr>
        <p:spPr>
          <a:xfrm>
            <a:off x="4747367" y="3292307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检测标准复杂</a:t>
            </a:r>
          </a:p>
        </p:txBody>
      </p:sp>
      <p:sp>
        <p:nvSpPr>
          <p:cNvPr id="82" name="矩形: 圆角 81"/>
          <p:cNvSpPr/>
          <p:nvPr/>
        </p:nvSpPr>
        <p:spPr>
          <a:xfrm>
            <a:off x="3462047" y="3611394"/>
            <a:ext cx="1468563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长期稳定性测试耗时长</a:t>
            </a:r>
          </a:p>
        </p:txBody>
      </p:sp>
      <p:sp>
        <p:nvSpPr>
          <p:cNvPr id="83" name="椭圆 82"/>
          <p:cNvSpPr/>
          <p:nvPr/>
        </p:nvSpPr>
        <p:spPr>
          <a:xfrm>
            <a:off x="3397122" y="4174173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480425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用户反馈处理困境</a:t>
            </a:r>
          </a:p>
        </p:txBody>
      </p:sp>
      <p:sp>
        <p:nvSpPr>
          <p:cNvPr id="85" name="矩形: 圆角 84"/>
          <p:cNvSpPr/>
          <p:nvPr/>
        </p:nvSpPr>
        <p:spPr>
          <a:xfrm>
            <a:off x="3314201" y="4381499"/>
            <a:ext cx="1227553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反馈信息海量繁杂</a:t>
            </a:r>
          </a:p>
        </p:txBody>
      </p:sp>
      <p:sp>
        <p:nvSpPr>
          <p:cNvPr id="86" name="矩形: 圆角 85"/>
          <p:cNvSpPr/>
          <p:nvPr/>
        </p:nvSpPr>
        <p:spPr>
          <a:xfrm>
            <a:off x="4602521" y="4381499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需求理解偏差</a:t>
            </a:r>
          </a:p>
        </p:txBody>
      </p:sp>
      <p:sp>
        <p:nvSpPr>
          <p:cNvPr id="87" name="矩形: 圆角 86"/>
          <p:cNvSpPr/>
          <p:nvPr/>
        </p:nvSpPr>
        <p:spPr>
          <a:xfrm>
            <a:off x="3212609" y="4700586"/>
            <a:ext cx="109105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优化实施周期长</a:t>
            </a:r>
          </a:p>
        </p:txBody>
      </p:sp>
      <p:sp>
        <p:nvSpPr>
          <p:cNvPr id="88" name="椭圆 87"/>
          <p:cNvSpPr/>
          <p:nvPr/>
        </p:nvSpPr>
        <p:spPr>
          <a:xfrm>
            <a:off x="3025994" y="5263365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109297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研发创新压力</a:t>
            </a:r>
          </a:p>
        </p:txBody>
      </p:sp>
      <p:sp>
        <p:nvSpPr>
          <p:cNvPr id="90" name="矩形: 圆角 89"/>
          <p:cNvSpPr/>
          <p:nvPr/>
        </p:nvSpPr>
        <p:spPr>
          <a:xfrm>
            <a:off x="2857130" y="5470691"/>
            <a:ext cx="1669834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竞争激烈导致创新难度大</a:t>
            </a:r>
          </a:p>
        </p:txBody>
      </p:sp>
      <p:sp>
        <p:nvSpPr>
          <p:cNvPr id="93" name="矩形: 圆角 92"/>
          <p:cNvSpPr/>
          <p:nvPr/>
        </p:nvSpPr>
        <p:spPr>
          <a:xfrm>
            <a:off x="2647170" y="5789778"/>
            <a:ext cx="1669834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资金投入与回报不确定性</a:t>
            </a:r>
          </a:p>
        </p:txBody>
      </p:sp>
      <p:sp>
        <p:nvSpPr>
          <p:cNvPr id="148" name="椭圆 147"/>
          <p:cNvSpPr/>
          <p:nvPr/>
        </p:nvSpPr>
        <p:spPr>
          <a:xfrm>
            <a:off x="6114272" y="1995789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6197575" y="1858964"/>
            <a:ext cx="2115518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智慧人工系统优化挑战</a:t>
            </a:r>
          </a:p>
        </p:txBody>
      </p:sp>
      <p:sp>
        <p:nvSpPr>
          <p:cNvPr id="150" name="矩形: 圆角 149"/>
          <p:cNvSpPr/>
          <p:nvPr/>
        </p:nvSpPr>
        <p:spPr>
          <a:xfrm>
            <a:off x="6159769" y="2203115"/>
            <a:ext cx="1168679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自然语言理解局限</a:t>
            </a:r>
          </a:p>
        </p:txBody>
      </p:sp>
      <p:sp>
        <p:nvSpPr>
          <p:cNvPr id="151" name="矩形: 圆角 150"/>
          <p:cNvSpPr/>
          <p:nvPr/>
        </p:nvSpPr>
        <p:spPr>
          <a:xfrm>
            <a:off x="7395762" y="2203115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知识库更新不及时</a:t>
            </a:r>
          </a:p>
        </p:txBody>
      </p:sp>
      <p:sp>
        <p:nvSpPr>
          <p:cNvPr id="152" name="矩形: 圆角 151"/>
          <p:cNvSpPr/>
          <p:nvPr/>
        </p:nvSpPr>
        <p:spPr>
          <a:xfrm>
            <a:off x="6227084" y="2522202"/>
            <a:ext cx="1331004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与人工服务衔接不畅</a:t>
            </a:r>
          </a:p>
        </p:txBody>
      </p:sp>
      <p:sp>
        <p:nvSpPr>
          <p:cNvPr id="153" name="椭圆 152"/>
          <p:cNvSpPr/>
          <p:nvPr/>
        </p:nvSpPr>
        <p:spPr>
          <a:xfrm>
            <a:off x="6314402" y="3084981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6397705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会员服务个性化难题</a:t>
            </a:r>
          </a:p>
        </p:txBody>
      </p:sp>
      <p:sp>
        <p:nvSpPr>
          <p:cNvPr id="155" name="矩形: 圆角 154"/>
          <p:cNvSpPr/>
          <p:nvPr/>
        </p:nvSpPr>
        <p:spPr>
          <a:xfrm>
            <a:off x="6292010" y="3292307"/>
            <a:ext cx="110375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会员需求多样化</a:t>
            </a:r>
          </a:p>
        </p:txBody>
      </p:sp>
      <p:sp>
        <p:nvSpPr>
          <p:cNvPr id="156" name="矩形: 圆角 155"/>
          <p:cNvSpPr/>
          <p:nvPr/>
        </p:nvSpPr>
        <p:spPr>
          <a:xfrm>
            <a:off x="7461081" y="3292307"/>
            <a:ext cx="1103751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资源分配平衡难</a:t>
            </a:r>
          </a:p>
        </p:txBody>
      </p:sp>
      <p:sp>
        <p:nvSpPr>
          <p:cNvPr id="157" name="矩形: 圆角 156"/>
          <p:cNvSpPr/>
          <p:nvPr/>
        </p:nvSpPr>
        <p:spPr>
          <a:xfrm>
            <a:off x="6292009" y="3611394"/>
            <a:ext cx="1103753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服务标准不一致</a:t>
            </a:r>
          </a:p>
        </p:txBody>
      </p:sp>
      <p:sp>
        <p:nvSpPr>
          <p:cNvPr id="158" name="椭圆 157"/>
          <p:cNvSpPr/>
          <p:nvPr/>
        </p:nvSpPr>
        <p:spPr>
          <a:xfrm>
            <a:off x="6227084" y="4174173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6310387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社裙运营管理困境</a:t>
            </a:r>
          </a:p>
        </p:txBody>
      </p:sp>
      <p:sp>
        <p:nvSpPr>
          <p:cNvPr id="160" name="矩形: 圆角 159"/>
          <p:cNvSpPr/>
          <p:nvPr/>
        </p:nvSpPr>
        <p:spPr>
          <a:xfrm>
            <a:off x="6144163" y="4381499"/>
            <a:ext cx="1108949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社裙活跃度维持</a:t>
            </a:r>
          </a:p>
        </p:txBody>
      </p:sp>
      <p:sp>
        <p:nvSpPr>
          <p:cNvPr id="161" name="矩形: 圆角 160"/>
          <p:cNvSpPr/>
          <p:nvPr/>
        </p:nvSpPr>
        <p:spPr>
          <a:xfrm>
            <a:off x="7432483" y="4381499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不好信息处理</a:t>
            </a:r>
          </a:p>
        </p:txBody>
      </p:sp>
      <p:sp>
        <p:nvSpPr>
          <p:cNvPr id="162" name="矩形: 圆角 161"/>
          <p:cNvSpPr/>
          <p:nvPr/>
        </p:nvSpPr>
        <p:spPr>
          <a:xfrm>
            <a:off x="6042571" y="4700586"/>
            <a:ext cx="1638389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社裙规模扩张与管理矛盾</a:t>
            </a:r>
          </a:p>
        </p:txBody>
      </p:sp>
      <p:sp>
        <p:nvSpPr>
          <p:cNvPr id="163" name="椭圆 162"/>
          <p:cNvSpPr/>
          <p:nvPr/>
        </p:nvSpPr>
        <p:spPr>
          <a:xfrm>
            <a:off x="5855956" y="5263365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5939259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服务质量提升压力</a:t>
            </a:r>
          </a:p>
        </p:txBody>
      </p:sp>
      <p:sp>
        <p:nvSpPr>
          <p:cNvPr id="165" name="矩形: 圆角 164"/>
          <p:cNvSpPr/>
          <p:nvPr/>
        </p:nvSpPr>
        <p:spPr>
          <a:xfrm>
            <a:off x="5687092" y="5470691"/>
            <a:ext cx="1166146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员工培训成本高</a:t>
            </a:r>
          </a:p>
        </p:txBody>
      </p:sp>
      <p:sp>
        <p:nvSpPr>
          <p:cNvPr id="170" name="矩形: 圆角 169"/>
          <p:cNvSpPr/>
          <p:nvPr/>
        </p:nvSpPr>
        <p:spPr>
          <a:xfrm>
            <a:off x="5477132" y="5789778"/>
            <a:ext cx="121475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绩效考核难精当</a:t>
            </a:r>
          </a:p>
        </p:txBody>
      </p:sp>
      <p:sp>
        <p:nvSpPr>
          <p:cNvPr id="171" name="椭圆 170"/>
          <p:cNvSpPr/>
          <p:nvPr/>
        </p:nvSpPr>
        <p:spPr>
          <a:xfrm>
            <a:off x="8944234" y="1995789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9027537" y="1858964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目标认知差异</a:t>
            </a:r>
          </a:p>
        </p:txBody>
      </p:sp>
      <p:sp>
        <p:nvSpPr>
          <p:cNvPr id="173" name="矩形: 圆角 172"/>
          <p:cNvSpPr/>
          <p:nvPr/>
        </p:nvSpPr>
        <p:spPr>
          <a:xfrm>
            <a:off x="8989732" y="2203115"/>
            <a:ext cx="115465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部门侧重点不同</a:t>
            </a:r>
          </a:p>
        </p:txBody>
      </p:sp>
      <p:sp>
        <p:nvSpPr>
          <p:cNvPr id="174" name="矩形: 圆角 173"/>
          <p:cNvSpPr/>
          <p:nvPr/>
        </p:nvSpPr>
        <p:spPr>
          <a:xfrm>
            <a:off x="10238183" y="2203115"/>
            <a:ext cx="1353741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短期与长期目标冲突</a:t>
            </a:r>
          </a:p>
        </p:txBody>
      </p:sp>
      <p:sp>
        <p:nvSpPr>
          <p:cNvPr id="175" name="矩形: 圆角 174"/>
          <p:cNvSpPr/>
          <p:nvPr/>
        </p:nvSpPr>
        <p:spPr>
          <a:xfrm>
            <a:off x="9057045" y="2522202"/>
            <a:ext cx="139003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对公司战略理解偏差</a:t>
            </a:r>
          </a:p>
        </p:txBody>
      </p:sp>
      <p:sp>
        <p:nvSpPr>
          <p:cNvPr id="176" name="椭圆 175"/>
          <p:cNvSpPr/>
          <p:nvPr/>
        </p:nvSpPr>
        <p:spPr>
          <a:xfrm>
            <a:off x="9144364" y="3084981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9227667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信息流通不畅</a:t>
            </a:r>
          </a:p>
        </p:txBody>
      </p:sp>
      <p:sp>
        <p:nvSpPr>
          <p:cNvPr id="178" name="矩形: 圆角 177"/>
          <p:cNvSpPr/>
          <p:nvPr/>
        </p:nvSpPr>
        <p:spPr>
          <a:xfrm>
            <a:off x="9121972" y="3292307"/>
            <a:ext cx="102241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沟通渠道繁琐</a:t>
            </a:r>
          </a:p>
        </p:txBody>
      </p:sp>
      <p:sp>
        <p:nvSpPr>
          <p:cNvPr id="179" name="矩形: 圆角 178"/>
          <p:cNvSpPr/>
          <p:nvPr/>
        </p:nvSpPr>
        <p:spPr>
          <a:xfrm>
            <a:off x="10235026" y="3292307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信息失真问题</a:t>
            </a:r>
          </a:p>
        </p:txBody>
      </p:sp>
      <p:sp>
        <p:nvSpPr>
          <p:cNvPr id="180" name="矩形: 圆角 179"/>
          <p:cNvSpPr/>
          <p:nvPr/>
        </p:nvSpPr>
        <p:spPr>
          <a:xfrm>
            <a:off x="9121971" y="3611394"/>
            <a:ext cx="139003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信息共享机制不完善</a:t>
            </a:r>
          </a:p>
        </p:txBody>
      </p:sp>
      <p:sp>
        <p:nvSpPr>
          <p:cNvPr id="181" name="椭圆 180"/>
          <p:cNvSpPr/>
          <p:nvPr/>
        </p:nvSpPr>
        <p:spPr>
          <a:xfrm>
            <a:off x="9057046" y="4174173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9140349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利益分配矛盾</a:t>
            </a:r>
          </a:p>
        </p:txBody>
      </p:sp>
      <p:sp>
        <p:nvSpPr>
          <p:cNvPr id="183" name="矩形: 圆角 182"/>
          <p:cNvSpPr/>
          <p:nvPr/>
        </p:nvSpPr>
        <p:spPr>
          <a:xfrm>
            <a:off x="8974125" y="4381499"/>
            <a:ext cx="1227553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项目成果归属争议</a:t>
            </a:r>
          </a:p>
        </p:txBody>
      </p:sp>
      <p:sp>
        <p:nvSpPr>
          <p:cNvPr id="184" name="矩形: 圆角 183"/>
          <p:cNvSpPr/>
          <p:nvPr/>
        </p:nvSpPr>
        <p:spPr>
          <a:xfrm>
            <a:off x="10262445" y="4381499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资源分配不均</a:t>
            </a:r>
          </a:p>
        </p:txBody>
      </p:sp>
      <p:sp>
        <p:nvSpPr>
          <p:cNvPr id="185" name="矩形: 圆角 184"/>
          <p:cNvSpPr/>
          <p:nvPr/>
        </p:nvSpPr>
        <p:spPr>
          <a:xfrm>
            <a:off x="8872533" y="4700586"/>
            <a:ext cx="109105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绩效奖励不平衡</a:t>
            </a:r>
          </a:p>
        </p:txBody>
      </p:sp>
      <p:sp>
        <p:nvSpPr>
          <p:cNvPr id="186" name="椭圆 185"/>
          <p:cNvSpPr/>
          <p:nvPr/>
        </p:nvSpPr>
        <p:spPr>
          <a:xfrm>
            <a:off x="8685918" y="5263365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8769221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协作流程混乱</a:t>
            </a:r>
          </a:p>
        </p:txBody>
      </p:sp>
      <p:sp>
        <p:nvSpPr>
          <p:cNvPr id="188" name="矩形: 圆角 187"/>
          <p:cNvSpPr/>
          <p:nvPr/>
        </p:nvSpPr>
        <p:spPr>
          <a:xfrm>
            <a:off x="8517054" y="5470691"/>
            <a:ext cx="102241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职责界定不清</a:t>
            </a:r>
          </a:p>
        </p:txBody>
      </p:sp>
      <p:sp>
        <p:nvSpPr>
          <p:cNvPr id="189" name="矩形: 圆角 188"/>
          <p:cNvSpPr/>
          <p:nvPr/>
        </p:nvSpPr>
        <p:spPr>
          <a:xfrm>
            <a:off x="8307094" y="5789778"/>
            <a:ext cx="1333454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流程繁琐且不合理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609;p70" descr="Timeline background shape"/>
          <p:cNvSpPr/>
          <p:nvPr/>
        </p:nvSpPr>
        <p:spPr>
          <a:xfrm rot="16200000">
            <a:off x="829524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下阶段工作计划</a:t>
            </a: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文本框 229"/>
          <p:cNvSpPr txBox="1"/>
          <p:nvPr/>
        </p:nvSpPr>
        <p:spPr>
          <a:xfrm>
            <a:off x="3862284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客户服务升级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31" name="矩形: 圆角 230"/>
          <p:cNvSpPr/>
          <p:nvPr/>
        </p:nvSpPr>
        <p:spPr>
          <a:xfrm>
            <a:off x="3538074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2" name="矩形: 圆角 231"/>
          <p:cNvSpPr/>
          <p:nvPr/>
        </p:nvSpPr>
        <p:spPr>
          <a:xfrm>
            <a:off x="3579746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3628887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4" name="矩形: 圆角 233"/>
          <p:cNvSpPr/>
          <p:nvPr/>
        </p:nvSpPr>
        <p:spPr>
          <a:xfrm>
            <a:off x="3526167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弧形 3"/>
          <p:cNvSpPr/>
          <p:nvPr/>
        </p:nvSpPr>
        <p:spPr>
          <a:xfrm>
            <a:off x="3526168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" name="弧形 4"/>
          <p:cNvSpPr/>
          <p:nvPr/>
        </p:nvSpPr>
        <p:spPr>
          <a:xfrm>
            <a:off x="6426581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6" name="弧形 5"/>
          <p:cNvSpPr/>
          <p:nvPr/>
        </p:nvSpPr>
        <p:spPr>
          <a:xfrm>
            <a:off x="9326994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" name="Google Shape;1609;p70" descr="Timeline background shape"/>
          <p:cNvSpPr/>
          <p:nvPr/>
        </p:nvSpPr>
        <p:spPr>
          <a:xfrm>
            <a:off x="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9" name="Google Shape;1609;p70" descr="Timeline background shape"/>
          <p:cNvSpPr/>
          <p:nvPr/>
        </p:nvSpPr>
        <p:spPr>
          <a:xfrm>
            <a:off x="293335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2" name="Google Shape;1609;p70" descr="Timeline background shape"/>
          <p:cNvSpPr/>
          <p:nvPr/>
        </p:nvSpPr>
        <p:spPr>
          <a:xfrm>
            <a:off x="586670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3" name="Google Shape;1609;p70" descr="Timeline background shape"/>
          <p:cNvSpPr/>
          <p:nvPr/>
        </p:nvSpPr>
        <p:spPr>
          <a:xfrm>
            <a:off x="880005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850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产品优化与创新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46185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用户体验提升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39520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市场拓展与推广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32855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团队协作与沟通</a:t>
            </a:r>
          </a:p>
        </p:txBody>
      </p:sp>
      <p:sp>
        <p:nvSpPr>
          <p:cNvPr id="19" name="弧形 18"/>
          <p:cNvSpPr/>
          <p:nvPr/>
        </p:nvSpPr>
        <p:spPr>
          <a:xfrm>
            <a:off x="625755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00728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核心功能强化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676518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718190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767331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664611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955973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创新功能开发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631763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673435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722576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619856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1" name="圆柱体 100"/>
          <p:cNvSpPr/>
          <p:nvPr/>
        </p:nvSpPr>
        <p:spPr>
          <a:xfrm>
            <a:off x="566998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3862284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界面优化设计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3538074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矩形: 圆角 236"/>
          <p:cNvSpPr/>
          <p:nvPr/>
        </p:nvSpPr>
        <p:spPr>
          <a:xfrm>
            <a:off x="3579746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8" name="椭圆 237"/>
          <p:cNvSpPr/>
          <p:nvPr/>
        </p:nvSpPr>
        <p:spPr>
          <a:xfrm>
            <a:off x="3628887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9" name="矩形: 圆角 238"/>
          <p:cNvSpPr/>
          <p:nvPr/>
        </p:nvSpPr>
        <p:spPr>
          <a:xfrm>
            <a:off x="3526167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9" name="圆柱体 228"/>
          <p:cNvSpPr/>
          <p:nvPr/>
        </p:nvSpPr>
        <p:spPr>
          <a:xfrm>
            <a:off x="3461680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6756966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目标市场深耕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52" name="矩形: 圆角 251"/>
          <p:cNvSpPr/>
          <p:nvPr/>
        </p:nvSpPr>
        <p:spPr>
          <a:xfrm>
            <a:off x="6432756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3" name="矩形: 圆角 252"/>
          <p:cNvSpPr/>
          <p:nvPr/>
        </p:nvSpPr>
        <p:spPr>
          <a:xfrm>
            <a:off x="6474428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4" name="椭圆 253"/>
          <p:cNvSpPr/>
          <p:nvPr/>
        </p:nvSpPr>
        <p:spPr>
          <a:xfrm>
            <a:off x="6523569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矩形: 圆角 254"/>
          <p:cNvSpPr/>
          <p:nvPr/>
        </p:nvSpPr>
        <p:spPr>
          <a:xfrm>
            <a:off x="6420849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6756966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新市场开拓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47" name="矩形: 圆角 246"/>
          <p:cNvSpPr/>
          <p:nvPr/>
        </p:nvSpPr>
        <p:spPr>
          <a:xfrm>
            <a:off x="6432756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8" name="矩形: 圆角 247"/>
          <p:cNvSpPr/>
          <p:nvPr/>
        </p:nvSpPr>
        <p:spPr>
          <a:xfrm>
            <a:off x="6474428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9" name="椭圆 248"/>
          <p:cNvSpPr/>
          <p:nvPr/>
        </p:nvSpPr>
        <p:spPr>
          <a:xfrm>
            <a:off x="6523569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0" name="矩形: 圆角 249"/>
          <p:cNvSpPr/>
          <p:nvPr/>
        </p:nvSpPr>
        <p:spPr>
          <a:xfrm>
            <a:off x="6420849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5" name="圆柱体 244"/>
          <p:cNvSpPr/>
          <p:nvPr/>
        </p:nvSpPr>
        <p:spPr>
          <a:xfrm>
            <a:off x="6356362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651648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跨部门协作优化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68" name="矩形: 圆角 267"/>
          <p:cNvSpPr/>
          <p:nvPr/>
        </p:nvSpPr>
        <p:spPr>
          <a:xfrm>
            <a:off x="9327438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9" name="矩形: 圆角 268"/>
          <p:cNvSpPr/>
          <p:nvPr/>
        </p:nvSpPr>
        <p:spPr>
          <a:xfrm>
            <a:off x="9369110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0" name="椭圆 269"/>
          <p:cNvSpPr/>
          <p:nvPr/>
        </p:nvSpPr>
        <p:spPr>
          <a:xfrm>
            <a:off x="9418251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1" name="矩形: 圆角 270"/>
          <p:cNvSpPr/>
          <p:nvPr/>
        </p:nvSpPr>
        <p:spPr>
          <a:xfrm>
            <a:off x="9315531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9651648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团队技能提升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63" name="矩形: 圆角 262"/>
          <p:cNvSpPr/>
          <p:nvPr/>
        </p:nvSpPr>
        <p:spPr>
          <a:xfrm>
            <a:off x="9327438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4" name="矩形: 圆角 263"/>
          <p:cNvSpPr/>
          <p:nvPr/>
        </p:nvSpPr>
        <p:spPr>
          <a:xfrm>
            <a:off x="9369110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5" name="椭圆 264"/>
          <p:cNvSpPr/>
          <p:nvPr/>
        </p:nvSpPr>
        <p:spPr>
          <a:xfrm>
            <a:off x="9418251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6" name="矩形: 圆角 265"/>
          <p:cNvSpPr/>
          <p:nvPr/>
        </p:nvSpPr>
        <p:spPr>
          <a:xfrm>
            <a:off x="9315531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1" name="圆柱体 260"/>
          <p:cNvSpPr/>
          <p:nvPr/>
        </p:nvSpPr>
        <p:spPr>
          <a:xfrm>
            <a:off x="9251044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Google Shape;1609;p70" descr="Timeline background shape"/>
          <p:cNvSpPr/>
          <p:nvPr/>
        </p:nvSpPr>
        <p:spPr>
          <a:xfrm rot="16200000">
            <a:off x="829524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11304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核心功能强化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01859" y="3581858"/>
            <a:ext cx="22604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针对现有软件用户反馈集中的问题，如操作响应速度慢、特定功能模块易用性差等，组建专项优化小组。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911304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创新功能开发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01859" y="5290433"/>
            <a:ext cx="2260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基于市场调研和行业趋势分析，确定至少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2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个创新功能方向，如结合人工智慧技术实现个性化内容推介、引入区块链技术保障数据稳妥等。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45" name="Google Shape;1609;p70" descr="Timeline background shape"/>
          <p:cNvSpPr/>
          <p:nvPr/>
        </p:nvSpPr>
        <p:spPr>
          <a:xfrm rot="16200000">
            <a:off x="3729937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46" name="Google Shape;1609;p70" descr="Timeline background shape"/>
          <p:cNvSpPr/>
          <p:nvPr/>
        </p:nvSpPr>
        <p:spPr>
          <a:xfrm rot="16200000">
            <a:off x="3729937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811717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界面优化设计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3502272" y="3581858"/>
            <a:ext cx="226040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与专业设计团队合作，开展快速的界面设计优化工作。从色彩搭配、图标设计、页面布局等方面入手，提升软件界面的美观度与易用性。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3811717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客户服务升级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3502272" y="5290433"/>
            <a:ext cx="2260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加强人工团队培训，提高技术水平和沟通能力，确保人工人员能在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90%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的了解中，为用户提供准确、有效的处理方案。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51" name="Google Shape;1609;p70" descr="Timeline background shape"/>
          <p:cNvSpPr/>
          <p:nvPr/>
        </p:nvSpPr>
        <p:spPr>
          <a:xfrm rot="16200000">
            <a:off x="6630350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2" name="Google Shape;1609;p70" descr="Timeline background shape"/>
          <p:cNvSpPr/>
          <p:nvPr/>
        </p:nvSpPr>
        <p:spPr>
          <a:xfrm rot="16200000">
            <a:off x="6630350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712130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目标市场深耕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402685" y="3581858"/>
            <a:ext cx="2260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计划在下个季度内，使重点细分市场的用户增长率达到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12130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新市场开拓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6402685" y="5290433"/>
            <a:ext cx="2260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研究潜在市场需求和竞争态势，选择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1 - 2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个有潜力的新市场进行开拓。开展市场调研，了解当地用户特点、政策法规等情况，制定本地化的产品策略和推广方案。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57" name="Google Shape;1609;p70" descr="Timeline background shape"/>
          <p:cNvSpPr/>
          <p:nvPr/>
        </p:nvSpPr>
        <p:spPr>
          <a:xfrm rot="16200000">
            <a:off x="9530763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8" name="Google Shape;1609;p70" descr="Timeline background shape"/>
          <p:cNvSpPr/>
          <p:nvPr/>
        </p:nvSpPr>
        <p:spPr>
          <a:xfrm rot="16200000">
            <a:off x="9530763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612543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跨部门协作优化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9303098" y="3581858"/>
            <a:ext cx="2260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建立跨部门项目沟通裙，确保产品、开发、市场、人工等相关部门在项目推进过程中信息实时共享。每周召开跨部门沟通会议，梳理项目进展，及时处理部门间的协作问题。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9612543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团队技能提升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9303098" y="5290433"/>
            <a:ext cx="2260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定期组织内部培训和分享活动，邀请行业专家或内部资深人员授课，内容涵盖新技术应用、产品管理方法、市场趋势分析等。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4338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重点工作安排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任意多边形: 形状 363"/>
          <p:cNvSpPr/>
          <p:nvPr/>
        </p:nvSpPr>
        <p:spPr>
          <a:xfrm rot="5400000">
            <a:off x="4563543" y="3352027"/>
            <a:ext cx="3208449" cy="3274623"/>
          </a:xfrm>
          <a:custGeom>
            <a:avLst/>
            <a:gdLst>
              <a:gd name="connsiteX0" fmla="*/ 0 w 3208449"/>
              <a:gd name="connsiteY0" fmla="*/ 1709077 h 3274623"/>
              <a:gd name="connsiteX1" fmla="*/ 359706 w 3208449"/>
              <a:gd name="connsiteY1" fmla="*/ 191895 h 3274623"/>
              <a:gd name="connsiteX2" fmla="*/ 467724 w 3208449"/>
              <a:gd name="connsiteY2" fmla="*/ 0 h 3274623"/>
              <a:gd name="connsiteX3" fmla="*/ 3208449 w 3208449"/>
              <a:gd name="connsiteY3" fmla="*/ 1613491 h 3274623"/>
              <a:gd name="connsiteX4" fmla="*/ 386802 w 3208449"/>
              <a:gd name="connsiteY4" fmla="*/ 3274623 h 3274623"/>
              <a:gd name="connsiteX5" fmla="*/ 265038 w 3208449"/>
              <a:gd name="connsiteY5" fmla="*/ 3021856 h 3274623"/>
              <a:gd name="connsiteX6" fmla="*/ 0 w 3208449"/>
              <a:gd name="connsiteY6" fmla="*/ 1709077 h 327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8449" h="3274623">
                <a:moveTo>
                  <a:pt x="0" y="1709077"/>
                </a:moveTo>
                <a:cubicBezTo>
                  <a:pt x="0" y="1163379"/>
                  <a:pt x="129602" y="647951"/>
                  <a:pt x="359706" y="191895"/>
                </a:cubicBezTo>
                <a:lnTo>
                  <a:pt x="467724" y="0"/>
                </a:lnTo>
                <a:lnTo>
                  <a:pt x="3208449" y="1613491"/>
                </a:lnTo>
                <a:lnTo>
                  <a:pt x="386802" y="3274623"/>
                </a:lnTo>
                <a:lnTo>
                  <a:pt x="265038" y="3021856"/>
                </a:lnTo>
                <a:cubicBezTo>
                  <a:pt x="94373" y="2618360"/>
                  <a:pt x="0" y="2174740"/>
                  <a:pt x="0" y="170907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61" name="任意多边形: 形状 360"/>
          <p:cNvSpPr/>
          <p:nvPr/>
        </p:nvSpPr>
        <p:spPr>
          <a:xfrm rot="5400000">
            <a:off x="2989203" y="3576543"/>
            <a:ext cx="2818273" cy="3343591"/>
          </a:xfrm>
          <a:custGeom>
            <a:avLst/>
            <a:gdLst>
              <a:gd name="connsiteX0" fmla="*/ 0 w 2818273"/>
              <a:gd name="connsiteY0" fmla="*/ 1659145 h 3343591"/>
              <a:gd name="connsiteX1" fmla="*/ 2818273 w 2818273"/>
              <a:gd name="connsiteY1" fmla="*/ 0 h 3343591"/>
              <a:gd name="connsiteX2" fmla="*/ 2818273 w 2818273"/>
              <a:gd name="connsiteY2" fmla="*/ 3343591 h 3343591"/>
              <a:gd name="connsiteX3" fmla="*/ 2701940 w 2818273"/>
              <a:gd name="connsiteY3" fmla="*/ 3339916 h 3343591"/>
              <a:gd name="connsiteX4" fmla="*/ 121901 w 2818273"/>
              <a:gd name="connsiteY4" fmla="*/ 1859801 h 3343591"/>
              <a:gd name="connsiteX5" fmla="*/ 0 w 2818273"/>
              <a:gd name="connsiteY5" fmla="*/ 1659145 h 334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8273" h="3343591">
                <a:moveTo>
                  <a:pt x="0" y="1659145"/>
                </a:moveTo>
                <a:lnTo>
                  <a:pt x="2818273" y="0"/>
                </a:lnTo>
                <a:lnTo>
                  <a:pt x="2818273" y="3343591"/>
                </a:lnTo>
                <a:lnTo>
                  <a:pt x="2701940" y="3339916"/>
                </a:lnTo>
                <a:cubicBezTo>
                  <a:pt x="1627720" y="3271830"/>
                  <a:pt x="690104" y="2700855"/>
                  <a:pt x="121901" y="1859801"/>
                </a:cubicBezTo>
                <a:lnTo>
                  <a:pt x="0" y="165914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8" name="任意多边形: 形状 357"/>
          <p:cNvSpPr/>
          <p:nvPr/>
        </p:nvSpPr>
        <p:spPr>
          <a:xfrm rot="5400000">
            <a:off x="6480132" y="3725275"/>
            <a:ext cx="2787300" cy="3185016"/>
          </a:xfrm>
          <a:custGeom>
            <a:avLst/>
            <a:gdLst>
              <a:gd name="connsiteX0" fmla="*/ 0 w 2787300"/>
              <a:gd name="connsiteY0" fmla="*/ 1544105 h 3185016"/>
              <a:gd name="connsiteX1" fmla="*/ 143189 w 2787300"/>
              <a:gd name="connsiteY1" fmla="*/ 1336199 h 3185016"/>
              <a:gd name="connsiteX2" fmla="*/ 2488774 w 2787300"/>
              <a:gd name="connsiteY2" fmla="*/ 15073 h 3185016"/>
              <a:gd name="connsiteX3" fmla="*/ 2787300 w 2787300"/>
              <a:gd name="connsiteY3" fmla="*/ 0 h 3185016"/>
              <a:gd name="connsiteX4" fmla="*/ 2787300 w 2787300"/>
              <a:gd name="connsiteY4" fmla="*/ 3185016 h 3185016"/>
              <a:gd name="connsiteX5" fmla="*/ 0 w 2787300"/>
              <a:gd name="connsiteY5" fmla="*/ 1544105 h 318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87300" h="3185016">
                <a:moveTo>
                  <a:pt x="0" y="1544105"/>
                </a:moveTo>
                <a:lnTo>
                  <a:pt x="143189" y="1336199"/>
                </a:lnTo>
                <a:cubicBezTo>
                  <a:pt x="693715" y="609172"/>
                  <a:pt x="1532150" y="112225"/>
                  <a:pt x="2488774" y="15073"/>
                </a:cubicBezTo>
                <a:lnTo>
                  <a:pt x="2787300" y="0"/>
                </a:lnTo>
                <a:lnTo>
                  <a:pt x="2787300" y="3185016"/>
                </a:lnTo>
                <a:lnTo>
                  <a:pt x="0" y="154410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9" name="任意多边形: 形状 348"/>
          <p:cNvSpPr/>
          <p:nvPr/>
        </p:nvSpPr>
        <p:spPr>
          <a:xfrm rot="5400000">
            <a:off x="4886591" y="-116122"/>
            <a:ext cx="2558193" cy="5379727"/>
          </a:xfrm>
          <a:custGeom>
            <a:avLst/>
            <a:gdLst>
              <a:gd name="connsiteX0" fmla="*/ 1 w 2558193"/>
              <a:gd name="connsiteY0" fmla="*/ 2759548 h 5379727"/>
              <a:gd name="connsiteX1" fmla="*/ 659368 w 2558193"/>
              <a:gd name="connsiteY1" fmla="*/ 155513 h 5379727"/>
              <a:gd name="connsiteX2" fmla="*/ 753843 w 2558193"/>
              <a:gd name="connsiteY2" fmla="*/ 0 h 5379727"/>
              <a:gd name="connsiteX3" fmla="*/ 1789879 w 2558193"/>
              <a:gd name="connsiteY3" fmla="*/ 598157 h 5379727"/>
              <a:gd name="connsiteX4" fmla="*/ 2558193 w 2558193"/>
              <a:gd name="connsiteY4" fmla="*/ 1050471 h 5379727"/>
              <a:gd name="connsiteX5" fmla="*/ 2450175 w 2558193"/>
              <a:gd name="connsiteY5" fmla="*/ 1242366 h 5379727"/>
              <a:gd name="connsiteX6" fmla="*/ 2090469 w 2558193"/>
              <a:gd name="connsiteY6" fmla="*/ 2759548 h 5379727"/>
              <a:gd name="connsiteX7" fmla="*/ 2355507 w 2558193"/>
              <a:gd name="connsiteY7" fmla="*/ 4072327 h 5379727"/>
              <a:gd name="connsiteX8" fmla="*/ 2477271 w 2558193"/>
              <a:gd name="connsiteY8" fmla="*/ 4325094 h 5379727"/>
              <a:gd name="connsiteX9" fmla="*/ 1532946 w 2558193"/>
              <a:gd name="connsiteY9" fmla="*/ 4881027 h 5379727"/>
              <a:gd name="connsiteX10" fmla="*/ 669174 w 2558193"/>
              <a:gd name="connsiteY10" fmla="*/ 5379727 h 5379727"/>
              <a:gd name="connsiteX11" fmla="*/ 659367 w 2558193"/>
              <a:gd name="connsiteY11" fmla="*/ 5363582 h 5379727"/>
              <a:gd name="connsiteX12" fmla="*/ 1 w 2558193"/>
              <a:gd name="connsiteY12" fmla="*/ 2759548 h 537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8193" h="5379727">
                <a:moveTo>
                  <a:pt x="1" y="2759548"/>
                </a:moveTo>
                <a:cubicBezTo>
                  <a:pt x="1" y="1816677"/>
                  <a:pt x="238859" y="929597"/>
                  <a:pt x="659368" y="155513"/>
                </a:cubicBezTo>
                <a:lnTo>
                  <a:pt x="753843" y="0"/>
                </a:lnTo>
                <a:lnTo>
                  <a:pt x="1789879" y="598157"/>
                </a:lnTo>
                <a:lnTo>
                  <a:pt x="2558193" y="1050471"/>
                </a:lnTo>
                <a:lnTo>
                  <a:pt x="2450175" y="1242366"/>
                </a:lnTo>
                <a:cubicBezTo>
                  <a:pt x="2220071" y="1698422"/>
                  <a:pt x="2090469" y="2213850"/>
                  <a:pt x="2090469" y="2759548"/>
                </a:cubicBezTo>
                <a:cubicBezTo>
                  <a:pt x="2090469" y="3225211"/>
                  <a:pt x="2184842" y="3668831"/>
                  <a:pt x="2355507" y="4072327"/>
                </a:cubicBezTo>
                <a:lnTo>
                  <a:pt x="2477271" y="4325094"/>
                </a:lnTo>
                <a:lnTo>
                  <a:pt x="1532946" y="4881027"/>
                </a:lnTo>
                <a:lnTo>
                  <a:pt x="669174" y="5379727"/>
                </a:lnTo>
                <a:lnTo>
                  <a:pt x="659367" y="5363582"/>
                </a:lnTo>
                <a:cubicBezTo>
                  <a:pt x="238858" y="4589499"/>
                  <a:pt x="0" y="3702418"/>
                  <a:pt x="1" y="2759548"/>
                </a:cubicBezTo>
                <a:close/>
              </a:path>
            </a:pathLst>
          </a:custGeom>
          <a:solidFill>
            <a:schemeClr val="accent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8" name="任意多边形: 形状 347"/>
          <p:cNvSpPr/>
          <p:nvPr/>
        </p:nvSpPr>
        <p:spPr>
          <a:xfrm rot="5400000">
            <a:off x="1032554" y="1642085"/>
            <a:ext cx="4672038" cy="5466655"/>
          </a:xfrm>
          <a:custGeom>
            <a:avLst/>
            <a:gdLst>
              <a:gd name="connsiteX0" fmla="*/ 0 w 4672038"/>
              <a:gd name="connsiteY0" fmla="*/ 2750476 h 5466655"/>
              <a:gd name="connsiteX1" fmla="*/ 1799809 w 4672038"/>
              <a:gd name="connsiteY1" fmla="*/ 1690910 h 5466655"/>
              <a:gd name="connsiteX2" fmla="*/ 1921710 w 4672038"/>
              <a:gd name="connsiteY2" fmla="*/ 1891566 h 5466655"/>
              <a:gd name="connsiteX3" fmla="*/ 4501749 w 4672038"/>
              <a:gd name="connsiteY3" fmla="*/ 3371681 h 5466655"/>
              <a:gd name="connsiteX4" fmla="*/ 4618082 w 4672038"/>
              <a:gd name="connsiteY4" fmla="*/ 3375356 h 5466655"/>
              <a:gd name="connsiteX5" fmla="*/ 4618082 w 4672038"/>
              <a:gd name="connsiteY5" fmla="*/ 31765 h 5466655"/>
              <a:gd name="connsiteX6" fmla="*/ 4672038 w 4672038"/>
              <a:gd name="connsiteY6" fmla="*/ 0 h 5466655"/>
              <a:gd name="connsiteX7" fmla="*/ 4672038 w 4672038"/>
              <a:gd name="connsiteY7" fmla="*/ 5466655 h 5466655"/>
              <a:gd name="connsiteX8" fmla="*/ 4159776 w 4672038"/>
              <a:gd name="connsiteY8" fmla="*/ 5440786 h 5466655"/>
              <a:gd name="connsiteX9" fmla="*/ 188260 w 4672038"/>
              <a:gd name="connsiteY9" fmla="*/ 3060366 h 5466655"/>
              <a:gd name="connsiteX10" fmla="*/ 0 w 4672038"/>
              <a:gd name="connsiteY10" fmla="*/ 2750476 h 5466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72038" h="5466655">
                <a:moveTo>
                  <a:pt x="0" y="2750476"/>
                </a:moveTo>
                <a:lnTo>
                  <a:pt x="1799809" y="1690910"/>
                </a:lnTo>
                <a:lnTo>
                  <a:pt x="1921710" y="1891566"/>
                </a:lnTo>
                <a:cubicBezTo>
                  <a:pt x="2489913" y="2732620"/>
                  <a:pt x="3427529" y="3303595"/>
                  <a:pt x="4501749" y="3371681"/>
                </a:cubicBezTo>
                <a:lnTo>
                  <a:pt x="4618082" y="3375356"/>
                </a:lnTo>
                <a:lnTo>
                  <a:pt x="4618082" y="31765"/>
                </a:lnTo>
                <a:lnTo>
                  <a:pt x="4672038" y="0"/>
                </a:lnTo>
                <a:lnTo>
                  <a:pt x="4672038" y="5466655"/>
                </a:lnTo>
                <a:lnTo>
                  <a:pt x="4159776" y="5440786"/>
                </a:lnTo>
                <a:cubicBezTo>
                  <a:pt x="2506896" y="5272928"/>
                  <a:pt x="1071842" y="4368239"/>
                  <a:pt x="188260" y="3060366"/>
                </a:cubicBezTo>
                <a:lnTo>
                  <a:pt x="0" y="2750476"/>
                </a:lnTo>
                <a:close/>
              </a:path>
            </a:pathLst>
          </a:custGeom>
          <a:solidFill>
            <a:schemeClr val="accent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347" name="任意多边形: 形状 346"/>
          <p:cNvSpPr/>
          <p:nvPr/>
        </p:nvSpPr>
        <p:spPr>
          <a:xfrm rot="5400000">
            <a:off x="7446222" y="2600900"/>
            <a:ext cx="4586496" cy="3634571"/>
          </a:xfrm>
          <a:custGeom>
            <a:avLst/>
            <a:gdLst>
              <a:gd name="connsiteX0" fmla="*/ 0 w 4586496"/>
              <a:gd name="connsiteY0" fmla="*/ 2575366 h 3634571"/>
              <a:gd name="connsiteX1" fmla="*/ 102716 w 4586496"/>
              <a:gd name="connsiteY1" fmla="*/ 2406287 h 3634571"/>
              <a:gd name="connsiteX2" fmla="*/ 4074231 w 4586496"/>
              <a:gd name="connsiteY2" fmla="*/ 25867 h 3634571"/>
              <a:gd name="connsiteX3" fmla="*/ 4586496 w 4586496"/>
              <a:gd name="connsiteY3" fmla="*/ 0 h 3634571"/>
              <a:gd name="connsiteX4" fmla="*/ 4586496 w 4586496"/>
              <a:gd name="connsiteY4" fmla="*/ 2090466 h 3634571"/>
              <a:gd name="connsiteX5" fmla="*/ 4287970 w 4586496"/>
              <a:gd name="connsiteY5" fmla="*/ 2105539 h 3634571"/>
              <a:gd name="connsiteX6" fmla="*/ 1942385 w 4586496"/>
              <a:gd name="connsiteY6" fmla="*/ 3426665 h 3634571"/>
              <a:gd name="connsiteX7" fmla="*/ 1799196 w 4586496"/>
              <a:gd name="connsiteY7" fmla="*/ 3634571 h 3634571"/>
              <a:gd name="connsiteX8" fmla="*/ 0 w 4586496"/>
              <a:gd name="connsiteY8" fmla="*/ 2575366 h 363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6496" h="3634571">
                <a:moveTo>
                  <a:pt x="0" y="2575366"/>
                </a:moveTo>
                <a:lnTo>
                  <a:pt x="102716" y="2406287"/>
                </a:lnTo>
                <a:cubicBezTo>
                  <a:pt x="986298" y="1098414"/>
                  <a:pt x="2421352" y="193725"/>
                  <a:pt x="4074231" y="25867"/>
                </a:cubicBezTo>
                <a:lnTo>
                  <a:pt x="4586496" y="0"/>
                </a:lnTo>
                <a:lnTo>
                  <a:pt x="4586496" y="2090466"/>
                </a:lnTo>
                <a:lnTo>
                  <a:pt x="4287970" y="2105539"/>
                </a:lnTo>
                <a:cubicBezTo>
                  <a:pt x="3331346" y="2202691"/>
                  <a:pt x="2492911" y="2699638"/>
                  <a:pt x="1942385" y="3426665"/>
                </a:cubicBezTo>
                <a:lnTo>
                  <a:pt x="1799196" y="3634571"/>
                </a:lnTo>
                <a:lnTo>
                  <a:pt x="0" y="2575366"/>
                </a:lnTo>
                <a:close/>
              </a:path>
            </a:pathLst>
          </a:custGeom>
          <a:solidFill>
            <a:schemeClr val="accent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4308044" y="5121480"/>
            <a:ext cx="3473042" cy="1736521"/>
          </a:xfrm>
          <a:custGeom>
            <a:avLst/>
            <a:gdLst>
              <a:gd name="connsiteX0" fmla="*/ 1736521 w 3473042"/>
              <a:gd name="connsiteY0" fmla="*/ 0 h 1736521"/>
              <a:gd name="connsiteX1" fmla="*/ 3473042 w 3473042"/>
              <a:gd name="connsiteY1" fmla="*/ 1736521 h 1736521"/>
              <a:gd name="connsiteX2" fmla="*/ 0 w 3473042"/>
              <a:gd name="connsiteY2" fmla="*/ 1736521 h 1736521"/>
              <a:gd name="connsiteX3" fmla="*/ 1736521 w 3473042"/>
              <a:gd name="connsiteY3" fmla="*/ 0 h 173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3042" h="1736521">
                <a:moveTo>
                  <a:pt x="1736521" y="0"/>
                </a:moveTo>
                <a:cubicBezTo>
                  <a:pt x="2695575" y="0"/>
                  <a:pt x="3473042" y="777467"/>
                  <a:pt x="3473042" y="1736521"/>
                </a:cubicBezTo>
                <a:lnTo>
                  <a:pt x="0" y="1736521"/>
                </a:lnTo>
                <a:cubicBezTo>
                  <a:pt x="0" y="777467"/>
                  <a:pt x="777467" y="0"/>
                  <a:pt x="17365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2060483" y="3260557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精选优质咖啡豆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685843" y="389026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研发特色饮品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298849" y="4519969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优化食品搭配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988192" y="514967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监控产品质量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4302946" y="192061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优化店面布局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6219006" y="192061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强化员工培训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4302946" y="252985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提升服务效率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6219006" y="252985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维护店铺环境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788110" y="5779381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···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 flipH="1">
            <a:off x="8296787" y="3260557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评估新店选址</a:t>
            </a:r>
          </a:p>
        </p:txBody>
      </p:sp>
      <p:sp>
        <p:nvSpPr>
          <p:cNvPr id="30" name="矩形: 圆角 29"/>
          <p:cNvSpPr/>
          <p:nvPr/>
        </p:nvSpPr>
        <p:spPr>
          <a:xfrm flipH="1">
            <a:off x="8671427" y="389026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策划营销活动</a:t>
            </a:r>
          </a:p>
        </p:txBody>
      </p:sp>
      <p:sp>
        <p:nvSpPr>
          <p:cNvPr id="31" name="矩形: 圆角 30"/>
          <p:cNvSpPr/>
          <p:nvPr/>
        </p:nvSpPr>
        <p:spPr>
          <a:xfrm flipH="1">
            <a:off x="9058421" y="4519969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加强品牌推广</a:t>
            </a:r>
          </a:p>
        </p:txBody>
      </p:sp>
      <p:sp>
        <p:nvSpPr>
          <p:cNvPr id="320" name="矩形: 圆角 319"/>
          <p:cNvSpPr/>
          <p:nvPr/>
        </p:nvSpPr>
        <p:spPr>
          <a:xfrm flipH="1">
            <a:off x="9369078" y="514967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分析市场反馈</a:t>
            </a:r>
          </a:p>
        </p:txBody>
      </p:sp>
      <p:sp>
        <p:nvSpPr>
          <p:cNvPr id="24" name="文本框 23"/>
          <p:cNvSpPr txBox="1"/>
          <p:nvPr/>
        </p:nvSpPr>
        <p:spPr>
          <a:xfrm rot="20512224">
            <a:off x="3606141" y="4623673"/>
            <a:ext cx="4680000" cy="4680000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9743836"/>
              </a:avLst>
            </a:prstTxWarp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  <a:buNone/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市场拓展方面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82722" y="4569904"/>
            <a:ext cx="4680000" cy="4680000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1414771"/>
              </a:avLst>
            </a:prstTxWarp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  <a:buNone/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产品管理方面</a:t>
            </a:r>
          </a:p>
        </p:txBody>
      </p:sp>
      <p:sp>
        <p:nvSpPr>
          <p:cNvPr id="23" name="文本框 22"/>
          <p:cNvSpPr txBox="1"/>
          <p:nvPr/>
        </p:nvSpPr>
        <p:spPr>
          <a:xfrm rot="20052111">
            <a:off x="3747930" y="4637990"/>
            <a:ext cx="4680000" cy="4680000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6705004"/>
              </a:avLst>
            </a:prstTxWarp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  <a:buNone/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店铺运营方面</a:t>
            </a:r>
          </a:p>
        </p:txBody>
      </p:sp>
      <p:sp>
        <p:nvSpPr>
          <p:cNvPr id="321" name="矩形: 圆角 320"/>
          <p:cNvSpPr/>
          <p:nvPr/>
        </p:nvSpPr>
        <p:spPr>
          <a:xfrm flipH="1">
            <a:off x="9569160" y="5779381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···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27" name="椭圆 326"/>
          <p:cNvSpPr/>
          <p:nvPr/>
        </p:nvSpPr>
        <p:spPr>
          <a:xfrm>
            <a:off x="3422628" y="5026025"/>
            <a:ext cx="520506" cy="5205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22" name="Google Shape;5659;p76"/>
          <p:cNvGrpSpPr/>
          <p:nvPr/>
        </p:nvGrpSpPr>
        <p:grpSpPr>
          <a:xfrm>
            <a:off x="3553618" y="5157853"/>
            <a:ext cx="258526" cy="256850"/>
            <a:chOff x="5049575" y="4993600"/>
            <a:chExt cx="482050" cy="478925"/>
          </a:xfrm>
          <a:solidFill>
            <a:schemeClr val="accent2"/>
          </a:solidFill>
        </p:grpSpPr>
        <p:sp>
          <p:nvSpPr>
            <p:cNvPr id="323" name="Google Shape;5660;p76"/>
            <p:cNvSpPr/>
            <p:nvPr/>
          </p:nvSpPr>
          <p:spPr>
            <a:xfrm>
              <a:off x="5063200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4" name="Google Shape;5661;p76"/>
            <p:cNvSpPr/>
            <p:nvPr/>
          </p:nvSpPr>
          <p:spPr>
            <a:xfrm>
              <a:off x="5299425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5" name="Google Shape;5662;p76"/>
            <p:cNvSpPr/>
            <p:nvPr/>
          </p:nvSpPr>
          <p:spPr>
            <a:xfrm>
              <a:off x="5184475" y="4993600"/>
              <a:ext cx="334125" cy="168525"/>
            </a:xfrm>
            <a:custGeom>
              <a:avLst/>
              <a:gdLst/>
              <a:ahLst/>
              <a:cxnLst/>
              <a:rect l="l" t="t" r="r" b="b"/>
              <a:pathLst>
                <a:path w="13365" h="6741" extrusionOk="0">
                  <a:moveTo>
                    <a:pt x="4040" y="0"/>
                  </a:moveTo>
                  <a:cubicBezTo>
                    <a:pt x="3830" y="0"/>
                    <a:pt x="3621" y="50"/>
                    <a:pt x="3430" y="149"/>
                  </a:cubicBezTo>
                  <a:lnTo>
                    <a:pt x="0" y="1971"/>
                  </a:lnTo>
                  <a:lnTo>
                    <a:pt x="9013" y="6741"/>
                  </a:lnTo>
                  <a:lnTo>
                    <a:pt x="13364" y="4588"/>
                  </a:lnTo>
                  <a:cubicBezTo>
                    <a:pt x="13298" y="4537"/>
                    <a:pt x="13226" y="4492"/>
                    <a:pt x="13151" y="4455"/>
                  </a:cubicBezTo>
                  <a:lnTo>
                    <a:pt x="4638" y="140"/>
                  </a:lnTo>
                  <a:lnTo>
                    <a:pt x="4635" y="140"/>
                  </a:lnTo>
                  <a:cubicBezTo>
                    <a:pt x="4446" y="47"/>
                    <a:pt x="4243" y="0"/>
                    <a:pt x="4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6" name="Google Shape;5663;p76"/>
            <p:cNvSpPr/>
            <p:nvPr/>
          </p:nvSpPr>
          <p:spPr>
            <a:xfrm>
              <a:off x="5049575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5803" y="5648"/>
                  </a:moveTo>
                  <a:cubicBezTo>
                    <a:pt x="5997" y="5648"/>
                    <a:pt x="6186" y="5748"/>
                    <a:pt x="6291" y="5927"/>
                  </a:cubicBezTo>
                  <a:cubicBezTo>
                    <a:pt x="6450" y="6195"/>
                    <a:pt x="6360" y="6541"/>
                    <a:pt x="6092" y="6701"/>
                  </a:cubicBezTo>
                  <a:lnTo>
                    <a:pt x="3843" y="8016"/>
                  </a:lnTo>
                  <a:lnTo>
                    <a:pt x="3834" y="8023"/>
                  </a:lnTo>
                  <a:lnTo>
                    <a:pt x="3831" y="8026"/>
                  </a:lnTo>
                  <a:lnTo>
                    <a:pt x="3818" y="8029"/>
                  </a:lnTo>
                  <a:cubicBezTo>
                    <a:pt x="3812" y="8032"/>
                    <a:pt x="3806" y="8035"/>
                    <a:pt x="3800" y="8038"/>
                  </a:cubicBezTo>
                  <a:lnTo>
                    <a:pt x="3785" y="8047"/>
                  </a:lnTo>
                  <a:lnTo>
                    <a:pt x="3767" y="8053"/>
                  </a:lnTo>
                  <a:lnTo>
                    <a:pt x="3752" y="8059"/>
                  </a:lnTo>
                  <a:lnTo>
                    <a:pt x="3734" y="8065"/>
                  </a:lnTo>
                  <a:lnTo>
                    <a:pt x="3716" y="8071"/>
                  </a:lnTo>
                  <a:lnTo>
                    <a:pt x="3698" y="8077"/>
                  </a:lnTo>
                  <a:cubicBezTo>
                    <a:pt x="3692" y="8077"/>
                    <a:pt x="3686" y="8080"/>
                    <a:pt x="3680" y="8080"/>
                  </a:cubicBezTo>
                  <a:cubicBezTo>
                    <a:pt x="3671" y="8083"/>
                    <a:pt x="3668" y="8083"/>
                    <a:pt x="3665" y="8083"/>
                  </a:cubicBezTo>
                  <a:lnTo>
                    <a:pt x="3641" y="8089"/>
                  </a:lnTo>
                  <a:lnTo>
                    <a:pt x="3629" y="8089"/>
                  </a:lnTo>
                  <a:cubicBezTo>
                    <a:pt x="3620" y="8089"/>
                    <a:pt x="3611" y="8092"/>
                    <a:pt x="3602" y="8092"/>
                  </a:cubicBezTo>
                  <a:lnTo>
                    <a:pt x="3484" y="8092"/>
                  </a:lnTo>
                  <a:lnTo>
                    <a:pt x="3466" y="8089"/>
                  </a:lnTo>
                  <a:cubicBezTo>
                    <a:pt x="3460" y="8089"/>
                    <a:pt x="3454" y="8086"/>
                    <a:pt x="3448" y="8086"/>
                  </a:cubicBezTo>
                  <a:cubicBezTo>
                    <a:pt x="3442" y="8083"/>
                    <a:pt x="3436" y="8083"/>
                    <a:pt x="3433" y="8080"/>
                  </a:cubicBezTo>
                  <a:lnTo>
                    <a:pt x="3412" y="8077"/>
                  </a:lnTo>
                  <a:cubicBezTo>
                    <a:pt x="3406" y="8077"/>
                    <a:pt x="3403" y="8074"/>
                    <a:pt x="3397" y="8071"/>
                  </a:cubicBezTo>
                  <a:lnTo>
                    <a:pt x="3376" y="8065"/>
                  </a:lnTo>
                  <a:lnTo>
                    <a:pt x="3361" y="8062"/>
                  </a:lnTo>
                  <a:lnTo>
                    <a:pt x="3343" y="8053"/>
                  </a:lnTo>
                  <a:lnTo>
                    <a:pt x="3328" y="8047"/>
                  </a:lnTo>
                  <a:lnTo>
                    <a:pt x="3310" y="8038"/>
                  </a:lnTo>
                  <a:lnTo>
                    <a:pt x="3295" y="8032"/>
                  </a:lnTo>
                  <a:cubicBezTo>
                    <a:pt x="3289" y="8029"/>
                    <a:pt x="3282" y="8026"/>
                    <a:pt x="3276" y="8019"/>
                  </a:cubicBezTo>
                  <a:lnTo>
                    <a:pt x="3261" y="8013"/>
                  </a:lnTo>
                  <a:lnTo>
                    <a:pt x="3246" y="8001"/>
                  </a:lnTo>
                  <a:cubicBezTo>
                    <a:pt x="3240" y="7998"/>
                    <a:pt x="3237" y="7995"/>
                    <a:pt x="3231" y="7992"/>
                  </a:cubicBezTo>
                  <a:lnTo>
                    <a:pt x="3216" y="7980"/>
                  </a:lnTo>
                  <a:cubicBezTo>
                    <a:pt x="3210" y="7977"/>
                    <a:pt x="3207" y="7974"/>
                    <a:pt x="3201" y="7968"/>
                  </a:cubicBezTo>
                  <a:cubicBezTo>
                    <a:pt x="3198" y="7965"/>
                    <a:pt x="3192" y="7962"/>
                    <a:pt x="3186" y="7956"/>
                  </a:cubicBezTo>
                  <a:lnTo>
                    <a:pt x="3174" y="7944"/>
                  </a:lnTo>
                  <a:lnTo>
                    <a:pt x="3159" y="7932"/>
                  </a:lnTo>
                  <a:lnTo>
                    <a:pt x="3147" y="7917"/>
                  </a:lnTo>
                  <a:cubicBezTo>
                    <a:pt x="3141" y="7914"/>
                    <a:pt x="3138" y="7908"/>
                    <a:pt x="3135" y="7905"/>
                  </a:cubicBezTo>
                  <a:lnTo>
                    <a:pt x="3120" y="7890"/>
                  </a:lnTo>
                  <a:lnTo>
                    <a:pt x="3111" y="7875"/>
                  </a:lnTo>
                  <a:cubicBezTo>
                    <a:pt x="3105" y="7869"/>
                    <a:pt x="3102" y="7863"/>
                    <a:pt x="3096" y="7857"/>
                  </a:cubicBezTo>
                  <a:lnTo>
                    <a:pt x="3087" y="7845"/>
                  </a:lnTo>
                  <a:lnTo>
                    <a:pt x="3075" y="7827"/>
                  </a:lnTo>
                  <a:lnTo>
                    <a:pt x="3069" y="7815"/>
                  </a:lnTo>
                  <a:lnTo>
                    <a:pt x="3069" y="7812"/>
                  </a:lnTo>
                  <a:lnTo>
                    <a:pt x="3063" y="7803"/>
                  </a:lnTo>
                  <a:lnTo>
                    <a:pt x="2415" y="6631"/>
                  </a:lnTo>
                  <a:cubicBezTo>
                    <a:pt x="2265" y="6357"/>
                    <a:pt x="2367" y="6014"/>
                    <a:pt x="2641" y="5863"/>
                  </a:cubicBezTo>
                  <a:lnTo>
                    <a:pt x="2635" y="5863"/>
                  </a:lnTo>
                  <a:cubicBezTo>
                    <a:pt x="2722" y="5816"/>
                    <a:pt x="2815" y="5793"/>
                    <a:pt x="2908" y="5793"/>
                  </a:cubicBezTo>
                  <a:cubicBezTo>
                    <a:pt x="3107" y="5793"/>
                    <a:pt x="3300" y="5899"/>
                    <a:pt x="3403" y="6086"/>
                  </a:cubicBezTo>
                  <a:lnTo>
                    <a:pt x="3770" y="6752"/>
                  </a:lnTo>
                  <a:lnTo>
                    <a:pt x="5520" y="5725"/>
                  </a:lnTo>
                  <a:cubicBezTo>
                    <a:pt x="5609" y="5673"/>
                    <a:pt x="5707" y="5648"/>
                    <a:pt x="5803" y="5648"/>
                  </a:cubicBezTo>
                  <a:close/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30" name="椭圆 329"/>
          <p:cNvSpPr/>
          <p:nvPr/>
        </p:nvSpPr>
        <p:spPr>
          <a:xfrm>
            <a:off x="5903031" y="3784921"/>
            <a:ext cx="520506" cy="5205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36" name="Google Shape;8773;p85"/>
          <p:cNvGrpSpPr/>
          <p:nvPr/>
        </p:nvGrpSpPr>
        <p:grpSpPr>
          <a:xfrm>
            <a:off x="6057011" y="3942302"/>
            <a:ext cx="206886" cy="219635"/>
            <a:chOff x="5694756" y="4076475"/>
            <a:chExt cx="253858" cy="268550"/>
          </a:xfrm>
          <a:solidFill>
            <a:schemeClr val="accent2"/>
          </a:solidFill>
        </p:grpSpPr>
        <p:sp>
          <p:nvSpPr>
            <p:cNvPr id="337" name="Google Shape;8774;p85"/>
            <p:cNvSpPr/>
            <p:nvPr/>
          </p:nvSpPr>
          <p:spPr>
            <a:xfrm>
              <a:off x="5694756" y="4170488"/>
              <a:ext cx="253858" cy="39754"/>
            </a:xfrm>
            <a:custGeom>
              <a:avLst/>
              <a:gdLst/>
              <a:ahLst/>
              <a:cxnLst/>
              <a:rect l="l" t="t" r="r" b="b"/>
              <a:pathLst>
                <a:path w="188043" h="29502" extrusionOk="0">
                  <a:moveTo>
                    <a:pt x="0" y="1"/>
                  </a:moveTo>
                  <a:lnTo>
                    <a:pt x="0" y="6229"/>
                  </a:lnTo>
                  <a:cubicBezTo>
                    <a:pt x="0" y="20269"/>
                    <a:pt x="11538" y="29502"/>
                    <a:pt x="23488" y="29502"/>
                  </a:cubicBezTo>
                  <a:cubicBezTo>
                    <a:pt x="29715" y="29502"/>
                    <a:pt x="36054" y="26995"/>
                    <a:pt x="40931" y="21356"/>
                  </a:cubicBezTo>
                  <a:cubicBezTo>
                    <a:pt x="45603" y="26695"/>
                    <a:pt x="52054" y="29365"/>
                    <a:pt x="58560" y="29365"/>
                  </a:cubicBezTo>
                  <a:cubicBezTo>
                    <a:pt x="65067" y="29365"/>
                    <a:pt x="71629" y="26695"/>
                    <a:pt x="76523" y="21356"/>
                  </a:cubicBezTo>
                  <a:cubicBezTo>
                    <a:pt x="80972" y="26695"/>
                    <a:pt x="87201" y="29365"/>
                    <a:pt x="93875" y="29365"/>
                  </a:cubicBezTo>
                  <a:cubicBezTo>
                    <a:pt x="100548" y="29365"/>
                    <a:pt x="107222" y="26250"/>
                    <a:pt x="111671" y="21356"/>
                  </a:cubicBezTo>
                  <a:cubicBezTo>
                    <a:pt x="116342" y="26695"/>
                    <a:pt x="122793" y="29365"/>
                    <a:pt x="129244" y="29365"/>
                  </a:cubicBezTo>
                  <a:cubicBezTo>
                    <a:pt x="135696" y="29365"/>
                    <a:pt x="142147" y="26695"/>
                    <a:pt x="146818" y="21356"/>
                  </a:cubicBezTo>
                  <a:cubicBezTo>
                    <a:pt x="151678" y="26975"/>
                    <a:pt x="158041" y="29484"/>
                    <a:pt x="164297" y="29484"/>
                  </a:cubicBezTo>
                  <a:cubicBezTo>
                    <a:pt x="176369" y="29484"/>
                    <a:pt x="188042" y="20143"/>
                    <a:pt x="187749" y="5785"/>
                  </a:cubicBezTo>
                  <a:lnTo>
                    <a:pt x="1877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8" name="Google Shape;8775;p85"/>
            <p:cNvSpPr/>
            <p:nvPr/>
          </p:nvSpPr>
          <p:spPr>
            <a:xfrm>
              <a:off x="5845510" y="4265810"/>
              <a:ext cx="39643" cy="79136"/>
            </a:xfrm>
            <a:custGeom>
              <a:avLst/>
              <a:gdLst/>
              <a:ahLst/>
              <a:cxnLst/>
              <a:rect l="l" t="t" r="r" b="b"/>
              <a:pathLst>
                <a:path w="29365" h="58728" extrusionOk="0">
                  <a:moveTo>
                    <a:pt x="1" y="1"/>
                  </a:moveTo>
                  <a:lnTo>
                    <a:pt x="1" y="58728"/>
                  </a:lnTo>
                  <a:lnTo>
                    <a:pt x="29364" y="58728"/>
                  </a:lnTo>
                  <a:lnTo>
                    <a:pt x="29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9" name="Google Shape;8776;p85"/>
            <p:cNvSpPr/>
            <p:nvPr/>
          </p:nvSpPr>
          <p:spPr>
            <a:xfrm>
              <a:off x="5758420" y="4265810"/>
              <a:ext cx="39643" cy="31176"/>
            </a:xfrm>
            <a:custGeom>
              <a:avLst/>
              <a:gdLst/>
              <a:ahLst/>
              <a:cxnLst/>
              <a:rect l="l" t="t" r="r" b="b"/>
              <a:pathLst>
                <a:path w="29365" h="23136" extrusionOk="0">
                  <a:moveTo>
                    <a:pt x="1" y="1"/>
                  </a:moveTo>
                  <a:lnTo>
                    <a:pt x="1" y="23136"/>
                  </a:lnTo>
                  <a:lnTo>
                    <a:pt x="29364" y="23136"/>
                  </a:lnTo>
                  <a:lnTo>
                    <a:pt x="29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0" name="Google Shape;8777;p85"/>
            <p:cNvSpPr/>
            <p:nvPr/>
          </p:nvSpPr>
          <p:spPr>
            <a:xfrm>
              <a:off x="5758300" y="4076475"/>
              <a:ext cx="126250" cy="31600"/>
            </a:xfrm>
            <a:custGeom>
              <a:avLst/>
              <a:gdLst/>
              <a:ahLst/>
              <a:cxnLst/>
              <a:rect l="l" t="t" r="r" b="b"/>
              <a:pathLst>
                <a:path w="5050" h="1264" extrusionOk="0">
                  <a:moveTo>
                    <a:pt x="334" y="1"/>
                  </a:moveTo>
                  <a:cubicBezTo>
                    <a:pt x="168" y="1"/>
                    <a:pt x="25" y="120"/>
                    <a:pt x="1" y="310"/>
                  </a:cubicBezTo>
                  <a:lnTo>
                    <a:pt x="1" y="1263"/>
                  </a:lnTo>
                  <a:lnTo>
                    <a:pt x="5050" y="1263"/>
                  </a:lnTo>
                  <a:lnTo>
                    <a:pt x="5050" y="310"/>
                  </a:lnTo>
                  <a:cubicBezTo>
                    <a:pt x="5026" y="120"/>
                    <a:pt x="4883" y="1"/>
                    <a:pt x="47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1" name="Google Shape;8778;p85"/>
            <p:cNvSpPr/>
            <p:nvPr/>
          </p:nvSpPr>
          <p:spPr>
            <a:xfrm>
              <a:off x="5699975" y="4124125"/>
              <a:ext cx="242925" cy="31575"/>
            </a:xfrm>
            <a:custGeom>
              <a:avLst/>
              <a:gdLst/>
              <a:ahLst/>
              <a:cxnLst/>
              <a:rect l="l" t="t" r="r" b="b"/>
              <a:pathLst>
                <a:path w="9717" h="1263" extrusionOk="0">
                  <a:moveTo>
                    <a:pt x="1405" y="0"/>
                  </a:moveTo>
                  <a:cubicBezTo>
                    <a:pt x="1310" y="0"/>
                    <a:pt x="1215" y="48"/>
                    <a:pt x="1167" y="119"/>
                  </a:cubicBezTo>
                  <a:lnTo>
                    <a:pt x="0" y="1262"/>
                  </a:lnTo>
                  <a:lnTo>
                    <a:pt x="9716" y="1262"/>
                  </a:lnTo>
                  <a:lnTo>
                    <a:pt x="8573" y="119"/>
                  </a:lnTo>
                  <a:cubicBezTo>
                    <a:pt x="8502" y="48"/>
                    <a:pt x="8407" y="0"/>
                    <a:pt x="8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2" name="Google Shape;8779;p85"/>
            <p:cNvSpPr/>
            <p:nvPr/>
          </p:nvSpPr>
          <p:spPr>
            <a:xfrm>
              <a:off x="5845225" y="4265225"/>
              <a:ext cx="39325" cy="79200"/>
            </a:xfrm>
            <a:custGeom>
              <a:avLst/>
              <a:gdLst/>
              <a:ahLst/>
              <a:cxnLst/>
              <a:rect l="l" t="t" r="r" b="b"/>
              <a:pathLst>
                <a:path w="1573" h="3168" extrusionOk="0">
                  <a:moveTo>
                    <a:pt x="1" y="0"/>
                  </a:moveTo>
                  <a:lnTo>
                    <a:pt x="1" y="3167"/>
                  </a:lnTo>
                  <a:lnTo>
                    <a:pt x="1573" y="3167"/>
                  </a:lnTo>
                  <a:lnTo>
                    <a:pt x="1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3" name="Google Shape;8780;p85"/>
            <p:cNvSpPr/>
            <p:nvPr/>
          </p:nvSpPr>
          <p:spPr>
            <a:xfrm>
              <a:off x="5758300" y="4265225"/>
              <a:ext cx="39325" cy="31575"/>
            </a:xfrm>
            <a:custGeom>
              <a:avLst/>
              <a:gdLst/>
              <a:ahLst/>
              <a:cxnLst/>
              <a:rect l="l" t="t" r="r" b="b"/>
              <a:pathLst>
                <a:path w="1573" h="1263" extrusionOk="0">
                  <a:moveTo>
                    <a:pt x="1" y="0"/>
                  </a:moveTo>
                  <a:lnTo>
                    <a:pt x="1" y="1262"/>
                  </a:lnTo>
                  <a:lnTo>
                    <a:pt x="1573" y="1262"/>
                  </a:lnTo>
                  <a:lnTo>
                    <a:pt x="1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4" name="Google Shape;8781;p85"/>
            <p:cNvSpPr/>
            <p:nvPr/>
          </p:nvSpPr>
          <p:spPr>
            <a:xfrm>
              <a:off x="5711275" y="4219975"/>
              <a:ext cx="220300" cy="125050"/>
            </a:xfrm>
            <a:custGeom>
              <a:avLst/>
              <a:gdLst/>
              <a:ahLst/>
              <a:cxnLst/>
              <a:rect l="l" t="t" r="r" b="b"/>
              <a:pathLst>
                <a:path w="8812" h="5002" extrusionOk="0">
                  <a:moveTo>
                    <a:pt x="3787" y="1191"/>
                  </a:moveTo>
                  <a:cubicBezTo>
                    <a:pt x="3954" y="1191"/>
                    <a:pt x="4097" y="1334"/>
                    <a:pt x="4097" y="1500"/>
                  </a:cubicBezTo>
                  <a:lnTo>
                    <a:pt x="4097" y="3382"/>
                  </a:lnTo>
                  <a:cubicBezTo>
                    <a:pt x="4097" y="3549"/>
                    <a:pt x="3954" y="3691"/>
                    <a:pt x="3787" y="3715"/>
                  </a:cubicBezTo>
                  <a:lnTo>
                    <a:pt x="1596" y="3715"/>
                  </a:lnTo>
                  <a:cubicBezTo>
                    <a:pt x="1429" y="3715"/>
                    <a:pt x="1287" y="3572"/>
                    <a:pt x="1287" y="3382"/>
                  </a:cubicBezTo>
                  <a:lnTo>
                    <a:pt x="1287" y="1500"/>
                  </a:lnTo>
                  <a:cubicBezTo>
                    <a:pt x="1287" y="1334"/>
                    <a:pt x="1429" y="1191"/>
                    <a:pt x="1596" y="1191"/>
                  </a:cubicBezTo>
                  <a:close/>
                  <a:moveTo>
                    <a:pt x="1572" y="0"/>
                  </a:moveTo>
                  <a:cubicBezTo>
                    <a:pt x="1287" y="172"/>
                    <a:pt x="966" y="257"/>
                    <a:pt x="643" y="257"/>
                  </a:cubicBezTo>
                  <a:cubicBezTo>
                    <a:pt x="427" y="257"/>
                    <a:pt x="210" y="219"/>
                    <a:pt x="1" y="143"/>
                  </a:cubicBezTo>
                  <a:lnTo>
                    <a:pt x="1" y="4692"/>
                  </a:lnTo>
                  <a:cubicBezTo>
                    <a:pt x="1" y="4858"/>
                    <a:pt x="143" y="5001"/>
                    <a:pt x="334" y="5001"/>
                  </a:cubicBezTo>
                  <a:lnTo>
                    <a:pt x="4716" y="5001"/>
                  </a:lnTo>
                  <a:lnTo>
                    <a:pt x="4716" y="1500"/>
                  </a:lnTo>
                  <a:cubicBezTo>
                    <a:pt x="4716" y="1334"/>
                    <a:pt x="4859" y="1191"/>
                    <a:pt x="5025" y="1191"/>
                  </a:cubicBezTo>
                  <a:lnTo>
                    <a:pt x="7240" y="1191"/>
                  </a:lnTo>
                  <a:cubicBezTo>
                    <a:pt x="7407" y="1191"/>
                    <a:pt x="7550" y="1334"/>
                    <a:pt x="7550" y="1500"/>
                  </a:cubicBezTo>
                  <a:lnTo>
                    <a:pt x="7550" y="4977"/>
                  </a:lnTo>
                  <a:lnTo>
                    <a:pt x="8502" y="4977"/>
                  </a:lnTo>
                  <a:cubicBezTo>
                    <a:pt x="8669" y="4977"/>
                    <a:pt x="8812" y="4834"/>
                    <a:pt x="8812" y="4668"/>
                  </a:cubicBezTo>
                  <a:lnTo>
                    <a:pt x="8812" y="143"/>
                  </a:lnTo>
                  <a:cubicBezTo>
                    <a:pt x="8598" y="214"/>
                    <a:pt x="8383" y="238"/>
                    <a:pt x="8169" y="238"/>
                  </a:cubicBezTo>
                  <a:cubicBezTo>
                    <a:pt x="7836" y="238"/>
                    <a:pt x="7526" y="167"/>
                    <a:pt x="7240" y="0"/>
                  </a:cubicBezTo>
                  <a:cubicBezTo>
                    <a:pt x="6942" y="167"/>
                    <a:pt x="6615" y="250"/>
                    <a:pt x="6291" y="250"/>
                  </a:cubicBezTo>
                  <a:cubicBezTo>
                    <a:pt x="5966" y="250"/>
                    <a:pt x="5645" y="167"/>
                    <a:pt x="5359" y="0"/>
                  </a:cubicBezTo>
                  <a:cubicBezTo>
                    <a:pt x="5073" y="167"/>
                    <a:pt x="4740" y="238"/>
                    <a:pt x="4406" y="238"/>
                  </a:cubicBezTo>
                  <a:cubicBezTo>
                    <a:pt x="4073" y="238"/>
                    <a:pt x="3739" y="167"/>
                    <a:pt x="3454" y="0"/>
                  </a:cubicBezTo>
                  <a:cubicBezTo>
                    <a:pt x="3168" y="167"/>
                    <a:pt x="2846" y="250"/>
                    <a:pt x="2522" y="250"/>
                  </a:cubicBezTo>
                  <a:cubicBezTo>
                    <a:pt x="2197" y="250"/>
                    <a:pt x="1870" y="167"/>
                    <a:pt x="15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345" name="椭圆 344"/>
          <p:cNvSpPr/>
          <p:nvPr/>
        </p:nvSpPr>
        <p:spPr>
          <a:xfrm>
            <a:off x="8234263" y="5123471"/>
            <a:ext cx="520506" cy="5205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9" name="Google Shape;8733;p85"/>
          <p:cNvSpPr/>
          <p:nvPr/>
        </p:nvSpPr>
        <p:spPr>
          <a:xfrm>
            <a:off x="8350450" y="5238690"/>
            <a:ext cx="290812" cy="290068"/>
          </a:xfrm>
          <a:custGeom>
            <a:avLst/>
            <a:gdLst/>
            <a:ahLst/>
            <a:cxnLst/>
            <a:rect l="l" t="t" r="r" b="b"/>
            <a:pathLst>
              <a:path w="10861" h="10795" extrusionOk="0">
                <a:moveTo>
                  <a:pt x="6693" y="3192"/>
                </a:moveTo>
                <a:cubicBezTo>
                  <a:pt x="6859" y="3192"/>
                  <a:pt x="7002" y="3335"/>
                  <a:pt x="7002" y="3525"/>
                </a:cubicBezTo>
                <a:lnTo>
                  <a:pt x="7002" y="3835"/>
                </a:lnTo>
                <a:lnTo>
                  <a:pt x="7336" y="3835"/>
                </a:lnTo>
                <a:cubicBezTo>
                  <a:pt x="7502" y="3835"/>
                  <a:pt x="7621" y="3978"/>
                  <a:pt x="7621" y="4144"/>
                </a:cubicBezTo>
                <a:lnTo>
                  <a:pt x="7621" y="6645"/>
                </a:lnTo>
                <a:cubicBezTo>
                  <a:pt x="7621" y="6811"/>
                  <a:pt x="7502" y="6954"/>
                  <a:pt x="7336" y="6978"/>
                </a:cubicBezTo>
                <a:lnTo>
                  <a:pt x="7002" y="6978"/>
                </a:lnTo>
                <a:lnTo>
                  <a:pt x="7002" y="7288"/>
                </a:lnTo>
                <a:cubicBezTo>
                  <a:pt x="7002" y="7454"/>
                  <a:pt x="6859" y="7597"/>
                  <a:pt x="6693" y="7597"/>
                </a:cubicBezTo>
                <a:lnTo>
                  <a:pt x="4192" y="7597"/>
                </a:lnTo>
                <a:cubicBezTo>
                  <a:pt x="4001" y="7597"/>
                  <a:pt x="3859" y="7454"/>
                  <a:pt x="3859" y="7288"/>
                </a:cubicBezTo>
                <a:lnTo>
                  <a:pt x="3859" y="6978"/>
                </a:lnTo>
                <a:lnTo>
                  <a:pt x="3549" y="6978"/>
                </a:lnTo>
                <a:cubicBezTo>
                  <a:pt x="3382" y="6978"/>
                  <a:pt x="3239" y="6835"/>
                  <a:pt x="3239" y="6645"/>
                </a:cubicBezTo>
                <a:lnTo>
                  <a:pt x="3239" y="4144"/>
                </a:lnTo>
                <a:cubicBezTo>
                  <a:pt x="3239" y="3978"/>
                  <a:pt x="3382" y="3835"/>
                  <a:pt x="3549" y="3835"/>
                </a:cubicBezTo>
                <a:lnTo>
                  <a:pt x="3859" y="3835"/>
                </a:lnTo>
                <a:lnTo>
                  <a:pt x="3859" y="3525"/>
                </a:lnTo>
                <a:cubicBezTo>
                  <a:pt x="3859" y="3335"/>
                  <a:pt x="4001" y="3192"/>
                  <a:pt x="4192" y="3192"/>
                </a:cubicBezTo>
                <a:close/>
                <a:moveTo>
                  <a:pt x="4811" y="1"/>
                </a:moveTo>
                <a:cubicBezTo>
                  <a:pt x="4644" y="1"/>
                  <a:pt x="4478" y="120"/>
                  <a:pt x="4502" y="358"/>
                </a:cubicBezTo>
                <a:lnTo>
                  <a:pt x="4502" y="1930"/>
                </a:lnTo>
                <a:lnTo>
                  <a:pt x="3859" y="1930"/>
                </a:lnTo>
                <a:lnTo>
                  <a:pt x="3859" y="358"/>
                </a:lnTo>
                <a:cubicBezTo>
                  <a:pt x="3859" y="143"/>
                  <a:pt x="3698" y="36"/>
                  <a:pt x="3537" y="36"/>
                </a:cubicBezTo>
                <a:cubicBezTo>
                  <a:pt x="3376" y="36"/>
                  <a:pt x="3216" y="143"/>
                  <a:pt x="3216" y="358"/>
                </a:cubicBezTo>
                <a:lnTo>
                  <a:pt x="3216" y="1930"/>
                </a:lnTo>
                <a:lnTo>
                  <a:pt x="2906" y="1930"/>
                </a:lnTo>
                <a:cubicBezTo>
                  <a:pt x="2382" y="1930"/>
                  <a:pt x="1977" y="2358"/>
                  <a:pt x="1953" y="2882"/>
                </a:cubicBezTo>
                <a:lnTo>
                  <a:pt x="1953" y="3192"/>
                </a:lnTo>
                <a:lnTo>
                  <a:pt x="382" y="3192"/>
                </a:lnTo>
                <a:cubicBezTo>
                  <a:pt x="1" y="3239"/>
                  <a:pt x="1" y="3787"/>
                  <a:pt x="382" y="3835"/>
                </a:cubicBezTo>
                <a:lnTo>
                  <a:pt x="1977" y="3835"/>
                </a:lnTo>
                <a:lnTo>
                  <a:pt x="1977" y="4454"/>
                </a:lnTo>
                <a:lnTo>
                  <a:pt x="382" y="4454"/>
                </a:lnTo>
                <a:cubicBezTo>
                  <a:pt x="1" y="4501"/>
                  <a:pt x="1" y="5049"/>
                  <a:pt x="382" y="5073"/>
                </a:cubicBezTo>
                <a:lnTo>
                  <a:pt x="1977" y="5073"/>
                </a:lnTo>
                <a:lnTo>
                  <a:pt x="1977" y="5716"/>
                </a:lnTo>
                <a:lnTo>
                  <a:pt x="382" y="5716"/>
                </a:lnTo>
                <a:cubicBezTo>
                  <a:pt x="1" y="5740"/>
                  <a:pt x="1" y="6311"/>
                  <a:pt x="382" y="6335"/>
                </a:cubicBezTo>
                <a:lnTo>
                  <a:pt x="1977" y="6335"/>
                </a:lnTo>
                <a:lnTo>
                  <a:pt x="1977" y="6978"/>
                </a:lnTo>
                <a:lnTo>
                  <a:pt x="382" y="6978"/>
                </a:lnTo>
                <a:cubicBezTo>
                  <a:pt x="1" y="7002"/>
                  <a:pt x="1" y="7550"/>
                  <a:pt x="382" y="7597"/>
                </a:cubicBezTo>
                <a:lnTo>
                  <a:pt x="1977" y="7597"/>
                </a:lnTo>
                <a:lnTo>
                  <a:pt x="1977" y="7931"/>
                </a:lnTo>
                <a:cubicBezTo>
                  <a:pt x="1977" y="8431"/>
                  <a:pt x="2406" y="8860"/>
                  <a:pt x="2930" y="8860"/>
                </a:cubicBezTo>
                <a:lnTo>
                  <a:pt x="3239" y="8860"/>
                </a:lnTo>
                <a:lnTo>
                  <a:pt x="3239" y="10455"/>
                </a:lnTo>
                <a:cubicBezTo>
                  <a:pt x="3239" y="10669"/>
                  <a:pt x="3394" y="10777"/>
                  <a:pt x="3549" y="10777"/>
                </a:cubicBezTo>
                <a:cubicBezTo>
                  <a:pt x="3704" y="10777"/>
                  <a:pt x="3859" y="10669"/>
                  <a:pt x="3859" y="10455"/>
                </a:cubicBezTo>
                <a:lnTo>
                  <a:pt x="3859" y="8860"/>
                </a:lnTo>
                <a:lnTo>
                  <a:pt x="4502" y="8860"/>
                </a:lnTo>
                <a:lnTo>
                  <a:pt x="4502" y="10455"/>
                </a:lnTo>
                <a:cubicBezTo>
                  <a:pt x="4478" y="10681"/>
                  <a:pt x="4644" y="10794"/>
                  <a:pt x="4811" y="10794"/>
                </a:cubicBezTo>
                <a:cubicBezTo>
                  <a:pt x="4978" y="10794"/>
                  <a:pt x="5145" y="10681"/>
                  <a:pt x="5121" y="10455"/>
                </a:cubicBezTo>
                <a:lnTo>
                  <a:pt x="5121" y="8860"/>
                </a:lnTo>
                <a:lnTo>
                  <a:pt x="5740" y="8860"/>
                </a:lnTo>
                <a:lnTo>
                  <a:pt x="5740" y="10455"/>
                </a:lnTo>
                <a:cubicBezTo>
                  <a:pt x="5716" y="10681"/>
                  <a:pt x="5889" y="10794"/>
                  <a:pt x="6061" y="10794"/>
                </a:cubicBezTo>
                <a:cubicBezTo>
                  <a:pt x="6234" y="10794"/>
                  <a:pt x="6407" y="10681"/>
                  <a:pt x="6383" y="10455"/>
                </a:cubicBezTo>
                <a:lnTo>
                  <a:pt x="6383" y="8860"/>
                </a:lnTo>
                <a:lnTo>
                  <a:pt x="7002" y="8860"/>
                </a:lnTo>
                <a:lnTo>
                  <a:pt x="7002" y="10455"/>
                </a:lnTo>
                <a:cubicBezTo>
                  <a:pt x="6978" y="10681"/>
                  <a:pt x="7145" y="10794"/>
                  <a:pt x="7315" y="10794"/>
                </a:cubicBezTo>
                <a:cubicBezTo>
                  <a:pt x="7484" y="10794"/>
                  <a:pt x="7657" y="10681"/>
                  <a:pt x="7645" y="10455"/>
                </a:cubicBezTo>
                <a:lnTo>
                  <a:pt x="7645" y="8860"/>
                </a:lnTo>
                <a:lnTo>
                  <a:pt x="7931" y="8860"/>
                </a:lnTo>
                <a:cubicBezTo>
                  <a:pt x="8455" y="8860"/>
                  <a:pt x="8883" y="8431"/>
                  <a:pt x="8883" y="7931"/>
                </a:cubicBezTo>
                <a:lnTo>
                  <a:pt x="8883" y="7597"/>
                </a:lnTo>
                <a:lnTo>
                  <a:pt x="10479" y="7597"/>
                </a:lnTo>
                <a:cubicBezTo>
                  <a:pt x="10836" y="7574"/>
                  <a:pt x="10836" y="7002"/>
                  <a:pt x="10479" y="6978"/>
                </a:cubicBezTo>
                <a:lnTo>
                  <a:pt x="8883" y="6978"/>
                </a:lnTo>
                <a:lnTo>
                  <a:pt x="8883" y="6335"/>
                </a:lnTo>
                <a:lnTo>
                  <a:pt x="10479" y="6335"/>
                </a:lnTo>
                <a:cubicBezTo>
                  <a:pt x="10836" y="6311"/>
                  <a:pt x="10836" y="5740"/>
                  <a:pt x="10479" y="5716"/>
                </a:cubicBezTo>
                <a:lnTo>
                  <a:pt x="8883" y="5716"/>
                </a:lnTo>
                <a:lnTo>
                  <a:pt x="8883" y="5073"/>
                </a:lnTo>
                <a:lnTo>
                  <a:pt x="10479" y="5073"/>
                </a:lnTo>
                <a:cubicBezTo>
                  <a:pt x="10836" y="5049"/>
                  <a:pt x="10836" y="4501"/>
                  <a:pt x="10479" y="4454"/>
                </a:cubicBezTo>
                <a:lnTo>
                  <a:pt x="8883" y="4454"/>
                </a:lnTo>
                <a:lnTo>
                  <a:pt x="8883" y="3835"/>
                </a:lnTo>
                <a:lnTo>
                  <a:pt x="10479" y="3835"/>
                </a:lnTo>
                <a:cubicBezTo>
                  <a:pt x="10860" y="3787"/>
                  <a:pt x="10860" y="3239"/>
                  <a:pt x="10479" y="3192"/>
                </a:cubicBezTo>
                <a:lnTo>
                  <a:pt x="8883" y="3192"/>
                </a:lnTo>
                <a:lnTo>
                  <a:pt x="8883" y="2882"/>
                </a:lnTo>
                <a:cubicBezTo>
                  <a:pt x="8883" y="2358"/>
                  <a:pt x="8455" y="1930"/>
                  <a:pt x="7931" y="1930"/>
                </a:cubicBezTo>
                <a:lnTo>
                  <a:pt x="7645" y="1930"/>
                </a:lnTo>
                <a:lnTo>
                  <a:pt x="7645" y="358"/>
                </a:lnTo>
                <a:cubicBezTo>
                  <a:pt x="7657" y="120"/>
                  <a:pt x="7484" y="1"/>
                  <a:pt x="7315" y="1"/>
                </a:cubicBezTo>
                <a:cubicBezTo>
                  <a:pt x="7145" y="1"/>
                  <a:pt x="6978" y="120"/>
                  <a:pt x="7002" y="358"/>
                </a:cubicBezTo>
                <a:lnTo>
                  <a:pt x="7002" y="1930"/>
                </a:lnTo>
                <a:lnTo>
                  <a:pt x="6383" y="1930"/>
                </a:lnTo>
                <a:lnTo>
                  <a:pt x="6383" y="358"/>
                </a:lnTo>
                <a:cubicBezTo>
                  <a:pt x="6407" y="120"/>
                  <a:pt x="6234" y="1"/>
                  <a:pt x="6061" y="1"/>
                </a:cubicBezTo>
                <a:cubicBezTo>
                  <a:pt x="5889" y="1"/>
                  <a:pt x="5716" y="120"/>
                  <a:pt x="5740" y="358"/>
                </a:cubicBezTo>
                <a:lnTo>
                  <a:pt x="5740" y="1930"/>
                </a:lnTo>
                <a:lnTo>
                  <a:pt x="5121" y="1930"/>
                </a:lnTo>
                <a:lnTo>
                  <a:pt x="5121" y="358"/>
                </a:lnTo>
                <a:cubicBezTo>
                  <a:pt x="5145" y="120"/>
                  <a:pt x="4978" y="1"/>
                  <a:pt x="481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362" name="文本框 361"/>
          <p:cNvSpPr txBox="1"/>
          <p:nvPr/>
        </p:nvSpPr>
        <p:spPr>
          <a:xfrm>
            <a:off x="3033576" y="5749992"/>
            <a:ext cx="6100762" cy="914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900"/>
              </a:spcAft>
              <a:buNone/>
            </a:pPr>
            <a:r>
              <a:rPr lang="zh-CN" altLang="en-US" sz="3200" b="1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重点工作</a:t>
            </a:r>
            <a:endParaRPr lang="en-US" altLang="zh-CN" sz="3200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  <a:p>
            <a:pPr algn="ctr">
              <a:lnSpc>
                <a:spcPts val="2700"/>
              </a:lnSpc>
              <a:spcAft>
                <a:spcPts val="900"/>
              </a:spcAft>
              <a:buNone/>
            </a:pPr>
            <a:r>
              <a:rPr lang="zh-CN" altLang="en-US" sz="3200" b="1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安排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12567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年度业务规划汇报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 rot="19876494">
            <a:off x="507325" y="1195253"/>
            <a:ext cx="1310952" cy="725714"/>
          </a:xfrm>
          <a:prstGeom prst="roundRect">
            <a:avLst>
              <a:gd name="adj" fmla="val 104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2086434" y="2882901"/>
            <a:ext cx="9723575" cy="57917"/>
          </a:xfrm>
          <a:custGeom>
            <a:avLst/>
            <a:gdLst>
              <a:gd name="connsiteX0" fmla="*/ 0 w 9723575"/>
              <a:gd name="connsiteY0" fmla="*/ 0 h 57917"/>
              <a:gd name="connsiteX1" fmla="*/ 9723575 w 9723575"/>
              <a:gd name="connsiteY1" fmla="*/ 0 h 57917"/>
              <a:gd name="connsiteX2" fmla="*/ 9723575 w 9723575"/>
              <a:gd name="connsiteY2" fmla="*/ 9387 h 57917"/>
              <a:gd name="connsiteX3" fmla="*/ 209504 w 9723575"/>
              <a:gd name="connsiteY3" fmla="*/ 9387 h 57917"/>
              <a:gd name="connsiteX4" fmla="*/ 209504 w 9723575"/>
              <a:gd name="connsiteY4" fmla="*/ 55106 h 57917"/>
              <a:gd name="connsiteX5" fmla="*/ 9723575 w 9723575"/>
              <a:gd name="connsiteY5" fmla="*/ 55106 h 57917"/>
              <a:gd name="connsiteX6" fmla="*/ 9723575 w 9723575"/>
              <a:gd name="connsiteY6" fmla="*/ 57917 h 57917"/>
              <a:gd name="connsiteX7" fmla="*/ 0 w 9723575"/>
              <a:gd name="connsiteY7" fmla="*/ 57917 h 57917"/>
              <a:gd name="connsiteX8" fmla="*/ 0 w 9723575"/>
              <a:gd name="connsiteY8" fmla="*/ 0 h 5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23575" h="57917">
                <a:moveTo>
                  <a:pt x="0" y="0"/>
                </a:moveTo>
                <a:lnTo>
                  <a:pt x="9723575" y="0"/>
                </a:lnTo>
                <a:lnTo>
                  <a:pt x="9723575" y="9387"/>
                </a:lnTo>
                <a:lnTo>
                  <a:pt x="209504" y="9387"/>
                </a:lnTo>
                <a:lnTo>
                  <a:pt x="209504" y="55106"/>
                </a:lnTo>
                <a:lnTo>
                  <a:pt x="9723575" y="55106"/>
                </a:lnTo>
                <a:lnTo>
                  <a:pt x="9723575" y="57917"/>
                </a:lnTo>
                <a:lnTo>
                  <a:pt x="0" y="579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4" name="任意多边形: 形状 223"/>
          <p:cNvSpPr/>
          <p:nvPr/>
        </p:nvSpPr>
        <p:spPr>
          <a:xfrm>
            <a:off x="2038350" y="1028701"/>
            <a:ext cx="9771659" cy="1852992"/>
          </a:xfrm>
          <a:custGeom>
            <a:avLst/>
            <a:gdLst>
              <a:gd name="connsiteX0" fmla="*/ 0 w 9771659"/>
              <a:gd name="connsiteY0" fmla="*/ 0 h 1852992"/>
              <a:gd name="connsiteX1" fmla="*/ 9170422 w 9771659"/>
              <a:gd name="connsiteY1" fmla="*/ 0 h 1852992"/>
              <a:gd name="connsiteX2" fmla="*/ 9177630 w 9771659"/>
              <a:gd name="connsiteY2" fmla="*/ 14075 h 1852992"/>
              <a:gd name="connsiteX3" fmla="*/ 9732704 w 9771659"/>
              <a:gd name="connsiteY3" fmla="*/ 1532452 h 1852992"/>
              <a:gd name="connsiteX4" fmla="*/ 9771659 w 9771659"/>
              <a:gd name="connsiteY4" fmla="*/ 1701234 h 1852992"/>
              <a:gd name="connsiteX5" fmla="*/ 9771659 w 9771659"/>
              <a:gd name="connsiteY5" fmla="*/ 1841556 h 1852992"/>
              <a:gd name="connsiteX6" fmla="*/ 9666543 w 9771659"/>
              <a:gd name="connsiteY6" fmla="*/ 1841556 h 1852992"/>
              <a:gd name="connsiteX7" fmla="*/ 9666543 w 9771659"/>
              <a:gd name="connsiteY7" fmla="*/ 1852992 h 1852992"/>
              <a:gd name="connsiteX8" fmla="*/ 0 w 9771659"/>
              <a:gd name="connsiteY8" fmla="*/ 1852992 h 1852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71659" h="1852992">
                <a:moveTo>
                  <a:pt x="0" y="0"/>
                </a:moveTo>
                <a:lnTo>
                  <a:pt x="9170422" y="0"/>
                </a:lnTo>
                <a:lnTo>
                  <a:pt x="9177630" y="14075"/>
                </a:lnTo>
                <a:cubicBezTo>
                  <a:pt x="9409878" y="496068"/>
                  <a:pt x="9596750" y="1004041"/>
                  <a:pt x="9732704" y="1532452"/>
                </a:cubicBezTo>
                <a:lnTo>
                  <a:pt x="9771659" y="1701234"/>
                </a:lnTo>
                <a:lnTo>
                  <a:pt x="9771659" y="1841556"/>
                </a:lnTo>
                <a:lnTo>
                  <a:pt x="9666543" y="1841556"/>
                </a:lnTo>
                <a:lnTo>
                  <a:pt x="9666543" y="1852992"/>
                </a:lnTo>
                <a:lnTo>
                  <a:pt x="0" y="185299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349624" y="1020558"/>
            <a:ext cx="2391480" cy="2669813"/>
          </a:xfrm>
          <a:custGeom>
            <a:avLst/>
            <a:gdLst>
              <a:gd name="connsiteX0" fmla="*/ 212334 w 2391480"/>
              <a:gd name="connsiteY0" fmla="*/ 1913142 h 2669813"/>
              <a:gd name="connsiteX1" fmla="*/ 2339674 w 2391480"/>
              <a:gd name="connsiteY1" fmla="*/ 1913142 h 2669813"/>
              <a:gd name="connsiteX2" fmla="*/ 2347858 w 2391480"/>
              <a:gd name="connsiteY2" fmla="*/ 1964562 h 2669813"/>
              <a:gd name="connsiteX3" fmla="*/ 2391480 w 2391480"/>
              <a:gd name="connsiteY3" fmla="*/ 2656082 h 2669813"/>
              <a:gd name="connsiteX4" fmla="*/ 2391046 w 2391480"/>
              <a:gd name="connsiteY4" fmla="*/ 2669813 h 2669813"/>
              <a:gd name="connsiteX5" fmla="*/ 263869 w 2391480"/>
              <a:gd name="connsiteY5" fmla="*/ 2669813 h 2669813"/>
              <a:gd name="connsiteX6" fmla="*/ 264140 w 2391480"/>
              <a:gd name="connsiteY6" fmla="*/ 2656082 h 2669813"/>
              <a:gd name="connsiteX7" fmla="*/ 220518 w 2391480"/>
              <a:gd name="connsiteY7" fmla="*/ 1964561 h 2669813"/>
              <a:gd name="connsiteX8" fmla="*/ 1694824 w 2391480"/>
              <a:gd name="connsiteY8" fmla="*/ 0 h 2669813"/>
              <a:gd name="connsiteX9" fmla="*/ 1736169 w 2391480"/>
              <a:gd name="connsiteY9" fmla="*/ 68056 h 2669813"/>
              <a:gd name="connsiteX10" fmla="*/ 2294330 w 2391480"/>
              <a:gd name="connsiteY10" fmla="*/ 1628264 h 2669813"/>
              <a:gd name="connsiteX11" fmla="*/ 2331588 w 2391480"/>
              <a:gd name="connsiteY11" fmla="*/ 1862342 h 2669813"/>
              <a:gd name="connsiteX12" fmla="*/ 204248 w 2391480"/>
              <a:gd name="connsiteY12" fmla="*/ 1862342 h 2669813"/>
              <a:gd name="connsiteX13" fmla="*/ 166990 w 2391480"/>
              <a:gd name="connsiteY13" fmla="*/ 1628264 h 2669813"/>
              <a:gd name="connsiteX14" fmla="*/ 93205 w 2391480"/>
              <a:gd name="connsiteY14" fmla="*/ 1299164 h 2669813"/>
              <a:gd name="connsiteX15" fmla="*/ 0 w 2391480"/>
              <a:gd name="connsiteY15" fmla="*/ 978509 h 2669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91480" h="2669813">
                <a:moveTo>
                  <a:pt x="212334" y="1913142"/>
                </a:moveTo>
                <a:lnTo>
                  <a:pt x="2339674" y="1913142"/>
                </a:lnTo>
                <a:lnTo>
                  <a:pt x="2347858" y="1964562"/>
                </a:lnTo>
                <a:cubicBezTo>
                  <a:pt x="2376643" y="2191011"/>
                  <a:pt x="2391480" y="2421814"/>
                  <a:pt x="2391480" y="2656082"/>
                </a:cubicBezTo>
                <a:lnTo>
                  <a:pt x="2391046" y="2669813"/>
                </a:lnTo>
                <a:lnTo>
                  <a:pt x="263869" y="2669813"/>
                </a:lnTo>
                <a:lnTo>
                  <a:pt x="264140" y="2656082"/>
                </a:lnTo>
                <a:cubicBezTo>
                  <a:pt x="264140" y="2421814"/>
                  <a:pt x="249303" y="2191011"/>
                  <a:pt x="220518" y="1964561"/>
                </a:cubicBezTo>
                <a:close/>
                <a:moveTo>
                  <a:pt x="1694824" y="0"/>
                </a:moveTo>
                <a:lnTo>
                  <a:pt x="1736169" y="68056"/>
                </a:lnTo>
                <a:cubicBezTo>
                  <a:pt x="1997370" y="548884"/>
                  <a:pt x="2188051" y="1073581"/>
                  <a:pt x="2294330" y="1628264"/>
                </a:cubicBezTo>
                <a:lnTo>
                  <a:pt x="2331588" y="1862342"/>
                </a:lnTo>
                <a:lnTo>
                  <a:pt x="204248" y="1862342"/>
                </a:lnTo>
                <a:lnTo>
                  <a:pt x="166990" y="1628264"/>
                </a:lnTo>
                <a:cubicBezTo>
                  <a:pt x="145734" y="1517328"/>
                  <a:pt x="121102" y="1407591"/>
                  <a:pt x="93205" y="1299164"/>
                </a:cubicBezTo>
                <a:lnTo>
                  <a:pt x="0" y="97850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962295" y="1253789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孵化蓄水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546021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洞察市场潜在需求，找准细分赛道痛点，制定策略实现精当切入</a:t>
            </a:r>
          </a:p>
        </p:txBody>
      </p:sp>
      <p:sp>
        <p:nvSpPr>
          <p:cNvPr id="31" name="椭圆 30"/>
          <p:cNvSpPr/>
          <p:nvPr/>
        </p:nvSpPr>
        <p:spPr>
          <a:xfrm>
            <a:off x="2763319" y="221236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市场</a:t>
            </a: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洞察</a:t>
            </a:r>
          </a:p>
        </p:txBody>
      </p:sp>
      <p:sp>
        <p:nvSpPr>
          <p:cNvPr id="32" name="椭圆 31"/>
          <p:cNvSpPr/>
          <p:nvPr/>
        </p:nvSpPr>
        <p:spPr>
          <a:xfrm>
            <a:off x="3389262" y="2215814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定位</a:t>
            </a: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选品</a:t>
            </a:r>
          </a:p>
        </p:txBody>
      </p:sp>
      <p:sp>
        <p:nvSpPr>
          <p:cNvPr id="33" name="椭圆 32"/>
          <p:cNvSpPr/>
          <p:nvPr/>
        </p:nvSpPr>
        <p:spPr>
          <a:xfrm>
            <a:off x="4020438" y="221236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细分</a:t>
            </a: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赛道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5201828" y="1253789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爆品打造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4785549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打造差异化爆品，以核心价值击穿市场，快速占用户心智阵地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7516923" y="1253789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品类卡位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7100646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聚焦核心赛道实现品类卡位，以技术与体验赋能，快速提升产品力破局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9755074" y="1253789"/>
            <a:ext cx="9541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多平类拓展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9415742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围绕核心优势稳步推进多品类拓展，实现品牌 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IP 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化破圈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965799" y="3123496"/>
            <a:ext cx="1486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600" dirty="0">
                <a:solidFill>
                  <a:schemeClr val="bg1"/>
                </a:solidFill>
                <a:cs typeface="Roboto" panose="02000000000000000000" charset="0"/>
              </a:rPr>
              <a:t>数据呈现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826859" y="2059532"/>
            <a:ext cx="148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发展路径</a:t>
            </a:r>
          </a:p>
        </p:txBody>
      </p:sp>
      <p:sp>
        <p:nvSpPr>
          <p:cNvPr id="15" name="弧形 14"/>
          <p:cNvSpPr/>
          <p:nvPr/>
        </p:nvSpPr>
        <p:spPr>
          <a:xfrm>
            <a:off x="-5749315" y="-1619888"/>
            <a:ext cx="10604230" cy="10604230"/>
          </a:xfrm>
          <a:prstGeom prst="arc">
            <a:avLst>
              <a:gd name="adj1" fmla="val 19812430"/>
              <a:gd name="adj2" fmla="val 21088016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弧形 15"/>
          <p:cNvSpPr/>
          <p:nvPr/>
        </p:nvSpPr>
        <p:spPr>
          <a:xfrm>
            <a:off x="-3409644" y="-1619888"/>
            <a:ext cx="10604230" cy="10604230"/>
          </a:xfrm>
          <a:prstGeom prst="arc">
            <a:avLst>
              <a:gd name="adj1" fmla="val 19812430"/>
              <a:gd name="adj2" fmla="val 21078271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" name="弧形 17"/>
          <p:cNvSpPr/>
          <p:nvPr/>
        </p:nvSpPr>
        <p:spPr>
          <a:xfrm>
            <a:off x="-1069973" y="-1619888"/>
            <a:ext cx="10604230" cy="10604230"/>
          </a:xfrm>
          <a:prstGeom prst="arc">
            <a:avLst>
              <a:gd name="adj1" fmla="val 19812430"/>
              <a:gd name="adj2" fmla="val 21082045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" name="弧形 18"/>
          <p:cNvSpPr/>
          <p:nvPr/>
        </p:nvSpPr>
        <p:spPr>
          <a:xfrm>
            <a:off x="1269699" y="-1619888"/>
            <a:ext cx="10604230" cy="10604230"/>
          </a:xfrm>
          <a:prstGeom prst="arc">
            <a:avLst>
              <a:gd name="adj1" fmla="val 19812430"/>
              <a:gd name="adj2" fmla="val 21085787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2675769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78096" y="3066419"/>
            <a:ext cx="8686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预计交易总值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4200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037240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8.4%</a:t>
            </a:r>
            <a:endParaRPr lang="zh-CN" altLang="en-US" sz="1200" b="1" dirty="0">
              <a:solidFill>
                <a:schemeClr val="accent1"/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弧形 57"/>
          <p:cNvSpPr/>
          <p:nvPr/>
        </p:nvSpPr>
        <p:spPr>
          <a:xfrm>
            <a:off x="-6350103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1" name="任意多边形: 形状 150"/>
          <p:cNvSpPr/>
          <p:nvPr/>
        </p:nvSpPr>
        <p:spPr>
          <a:xfrm>
            <a:off x="5019410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5337982" y="3066419"/>
            <a:ext cx="598805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预售额</a:t>
            </a: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523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6380881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120%</a:t>
            </a:r>
            <a:endParaRPr lang="zh-CN" altLang="en-US" sz="1200" b="1" dirty="0">
              <a:solidFill>
                <a:schemeClr val="accent1"/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弧形 153"/>
          <p:cNvSpPr/>
          <p:nvPr/>
        </p:nvSpPr>
        <p:spPr>
          <a:xfrm>
            <a:off x="-4006462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6" name="任意多边形: 形状 155"/>
          <p:cNvSpPr/>
          <p:nvPr/>
        </p:nvSpPr>
        <p:spPr>
          <a:xfrm>
            <a:off x="7363051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7648362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市场规模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675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8724522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10%</a:t>
            </a:r>
            <a:endParaRPr lang="zh-CN" altLang="en-US" sz="1200" b="1" dirty="0">
              <a:solidFill>
                <a:schemeClr val="accent1"/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弧形 158"/>
          <p:cNvSpPr/>
          <p:nvPr/>
        </p:nvSpPr>
        <p:spPr>
          <a:xfrm>
            <a:off x="-1662821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>
            <a:off x="9706692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1068163" y="3066419"/>
            <a:ext cx="665567" cy="464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11.3%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64" name="弧形 163"/>
          <p:cNvSpPr/>
          <p:nvPr/>
        </p:nvSpPr>
        <p:spPr>
          <a:xfrm>
            <a:off x="680820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7" name="矩形: 圆角 226"/>
          <p:cNvSpPr/>
          <p:nvPr/>
        </p:nvSpPr>
        <p:spPr>
          <a:xfrm rot="1723506" flipH="1">
            <a:off x="10385632" y="3955501"/>
            <a:ext cx="1310952" cy="725714"/>
          </a:xfrm>
          <a:prstGeom prst="roundRect">
            <a:avLst>
              <a:gd name="adj" fmla="val 104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8" name="任意多边形: 形状 227"/>
          <p:cNvSpPr/>
          <p:nvPr/>
        </p:nvSpPr>
        <p:spPr>
          <a:xfrm flipH="1">
            <a:off x="393900" y="5643149"/>
            <a:ext cx="9723575" cy="57917"/>
          </a:xfrm>
          <a:custGeom>
            <a:avLst/>
            <a:gdLst>
              <a:gd name="connsiteX0" fmla="*/ 0 w 9723575"/>
              <a:gd name="connsiteY0" fmla="*/ 0 h 57917"/>
              <a:gd name="connsiteX1" fmla="*/ 9723575 w 9723575"/>
              <a:gd name="connsiteY1" fmla="*/ 0 h 57917"/>
              <a:gd name="connsiteX2" fmla="*/ 9723575 w 9723575"/>
              <a:gd name="connsiteY2" fmla="*/ 9387 h 57917"/>
              <a:gd name="connsiteX3" fmla="*/ 209504 w 9723575"/>
              <a:gd name="connsiteY3" fmla="*/ 9387 h 57917"/>
              <a:gd name="connsiteX4" fmla="*/ 209504 w 9723575"/>
              <a:gd name="connsiteY4" fmla="*/ 55106 h 57917"/>
              <a:gd name="connsiteX5" fmla="*/ 9723575 w 9723575"/>
              <a:gd name="connsiteY5" fmla="*/ 55106 h 57917"/>
              <a:gd name="connsiteX6" fmla="*/ 9723575 w 9723575"/>
              <a:gd name="connsiteY6" fmla="*/ 57917 h 57917"/>
              <a:gd name="connsiteX7" fmla="*/ 0 w 9723575"/>
              <a:gd name="connsiteY7" fmla="*/ 57917 h 57917"/>
              <a:gd name="connsiteX8" fmla="*/ 0 w 9723575"/>
              <a:gd name="connsiteY8" fmla="*/ 0 h 5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23575" h="57917">
                <a:moveTo>
                  <a:pt x="0" y="0"/>
                </a:moveTo>
                <a:lnTo>
                  <a:pt x="9723575" y="0"/>
                </a:lnTo>
                <a:lnTo>
                  <a:pt x="9723575" y="9387"/>
                </a:lnTo>
                <a:lnTo>
                  <a:pt x="209504" y="9387"/>
                </a:lnTo>
                <a:lnTo>
                  <a:pt x="209504" y="55106"/>
                </a:lnTo>
                <a:lnTo>
                  <a:pt x="9723575" y="55106"/>
                </a:lnTo>
                <a:lnTo>
                  <a:pt x="9723575" y="57917"/>
                </a:lnTo>
                <a:lnTo>
                  <a:pt x="0" y="579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9" name="任意多边形: 形状 228"/>
          <p:cNvSpPr/>
          <p:nvPr/>
        </p:nvSpPr>
        <p:spPr>
          <a:xfrm flipH="1">
            <a:off x="393900" y="3788949"/>
            <a:ext cx="9771659" cy="1852992"/>
          </a:xfrm>
          <a:custGeom>
            <a:avLst/>
            <a:gdLst>
              <a:gd name="connsiteX0" fmla="*/ 0 w 9771659"/>
              <a:gd name="connsiteY0" fmla="*/ 0 h 1852992"/>
              <a:gd name="connsiteX1" fmla="*/ 9170422 w 9771659"/>
              <a:gd name="connsiteY1" fmla="*/ 0 h 1852992"/>
              <a:gd name="connsiteX2" fmla="*/ 9177630 w 9771659"/>
              <a:gd name="connsiteY2" fmla="*/ 14075 h 1852992"/>
              <a:gd name="connsiteX3" fmla="*/ 9732704 w 9771659"/>
              <a:gd name="connsiteY3" fmla="*/ 1532452 h 1852992"/>
              <a:gd name="connsiteX4" fmla="*/ 9771659 w 9771659"/>
              <a:gd name="connsiteY4" fmla="*/ 1701234 h 1852992"/>
              <a:gd name="connsiteX5" fmla="*/ 9771659 w 9771659"/>
              <a:gd name="connsiteY5" fmla="*/ 1841556 h 1852992"/>
              <a:gd name="connsiteX6" fmla="*/ 9666543 w 9771659"/>
              <a:gd name="connsiteY6" fmla="*/ 1841556 h 1852992"/>
              <a:gd name="connsiteX7" fmla="*/ 9666543 w 9771659"/>
              <a:gd name="connsiteY7" fmla="*/ 1852992 h 1852992"/>
              <a:gd name="connsiteX8" fmla="*/ 0 w 9771659"/>
              <a:gd name="connsiteY8" fmla="*/ 1852992 h 1852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71659" h="1852992">
                <a:moveTo>
                  <a:pt x="0" y="0"/>
                </a:moveTo>
                <a:lnTo>
                  <a:pt x="9170422" y="0"/>
                </a:lnTo>
                <a:lnTo>
                  <a:pt x="9177630" y="14075"/>
                </a:lnTo>
                <a:cubicBezTo>
                  <a:pt x="9409878" y="496068"/>
                  <a:pt x="9596750" y="1004041"/>
                  <a:pt x="9732704" y="1532452"/>
                </a:cubicBezTo>
                <a:lnTo>
                  <a:pt x="9771659" y="1701234"/>
                </a:lnTo>
                <a:lnTo>
                  <a:pt x="9771659" y="1841556"/>
                </a:lnTo>
                <a:lnTo>
                  <a:pt x="9666543" y="1841556"/>
                </a:lnTo>
                <a:lnTo>
                  <a:pt x="9666543" y="1852992"/>
                </a:lnTo>
                <a:lnTo>
                  <a:pt x="0" y="185299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任意多边形: 形状 6"/>
          <p:cNvSpPr/>
          <p:nvPr/>
        </p:nvSpPr>
        <p:spPr>
          <a:xfrm flipH="1">
            <a:off x="9462805" y="3780806"/>
            <a:ext cx="2391480" cy="2669813"/>
          </a:xfrm>
          <a:custGeom>
            <a:avLst/>
            <a:gdLst>
              <a:gd name="connsiteX0" fmla="*/ 2339674 w 2391480"/>
              <a:gd name="connsiteY0" fmla="*/ 1913142 h 2669813"/>
              <a:gd name="connsiteX1" fmla="*/ 212334 w 2391480"/>
              <a:gd name="connsiteY1" fmla="*/ 1913142 h 2669813"/>
              <a:gd name="connsiteX2" fmla="*/ 220518 w 2391480"/>
              <a:gd name="connsiteY2" fmla="*/ 1964561 h 2669813"/>
              <a:gd name="connsiteX3" fmla="*/ 264140 w 2391480"/>
              <a:gd name="connsiteY3" fmla="*/ 2656082 h 2669813"/>
              <a:gd name="connsiteX4" fmla="*/ 263869 w 2391480"/>
              <a:gd name="connsiteY4" fmla="*/ 2669813 h 2669813"/>
              <a:gd name="connsiteX5" fmla="*/ 2391046 w 2391480"/>
              <a:gd name="connsiteY5" fmla="*/ 2669813 h 2669813"/>
              <a:gd name="connsiteX6" fmla="*/ 2391480 w 2391480"/>
              <a:gd name="connsiteY6" fmla="*/ 2656082 h 2669813"/>
              <a:gd name="connsiteX7" fmla="*/ 2347858 w 2391480"/>
              <a:gd name="connsiteY7" fmla="*/ 1964562 h 2669813"/>
              <a:gd name="connsiteX8" fmla="*/ 1694824 w 2391480"/>
              <a:gd name="connsiteY8" fmla="*/ 0 h 2669813"/>
              <a:gd name="connsiteX9" fmla="*/ 0 w 2391480"/>
              <a:gd name="connsiteY9" fmla="*/ 978509 h 2669813"/>
              <a:gd name="connsiteX10" fmla="*/ 93205 w 2391480"/>
              <a:gd name="connsiteY10" fmla="*/ 1299164 h 2669813"/>
              <a:gd name="connsiteX11" fmla="*/ 166990 w 2391480"/>
              <a:gd name="connsiteY11" fmla="*/ 1628264 h 2669813"/>
              <a:gd name="connsiteX12" fmla="*/ 204248 w 2391480"/>
              <a:gd name="connsiteY12" fmla="*/ 1862342 h 2669813"/>
              <a:gd name="connsiteX13" fmla="*/ 2331588 w 2391480"/>
              <a:gd name="connsiteY13" fmla="*/ 1862342 h 2669813"/>
              <a:gd name="connsiteX14" fmla="*/ 2294330 w 2391480"/>
              <a:gd name="connsiteY14" fmla="*/ 1628264 h 2669813"/>
              <a:gd name="connsiteX15" fmla="*/ 1736169 w 2391480"/>
              <a:gd name="connsiteY15" fmla="*/ 68056 h 2669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91480" h="2669813">
                <a:moveTo>
                  <a:pt x="2339674" y="1913142"/>
                </a:moveTo>
                <a:lnTo>
                  <a:pt x="212334" y="1913142"/>
                </a:lnTo>
                <a:lnTo>
                  <a:pt x="220518" y="1964561"/>
                </a:lnTo>
                <a:cubicBezTo>
                  <a:pt x="249303" y="2191011"/>
                  <a:pt x="264140" y="2421814"/>
                  <a:pt x="264140" y="2656082"/>
                </a:cubicBezTo>
                <a:lnTo>
                  <a:pt x="263869" y="2669813"/>
                </a:lnTo>
                <a:lnTo>
                  <a:pt x="2391046" y="2669813"/>
                </a:lnTo>
                <a:lnTo>
                  <a:pt x="2391480" y="2656082"/>
                </a:lnTo>
                <a:cubicBezTo>
                  <a:pt x="2391480" y="2421814"/>
                  <a:pt x="2376643" y="2191011"/>
                  <a:pt x="2347858" y="1964562"/>
                </a:cubicBezTo>
                <a:close/>
                <a:moveTo>
                  <a:pt x="1694824" y="0"/>
                </a:moveTo>
                <a:lnTo>
                  <a:pt x="0" y="978509"/>
                </a:lnTo>
                <a:lnTo>
                  <a:pt x="93205" y="1299164"/>
                </a:lnTo>
                <a:cubicBezTo>
                  <a:pt x="121102" y="1407591"/>
                  <a:pt x="145734" y="1517328"/>
                  <a:pt x="166990" y="1628264"/>
                </a:cubicBezTo>
                <a:lnTo>
                  <a:pt x="204248" y="1862342"/>
                </a:lnTo>
                <a:lnTo>
                  <a:pt x="2331588" y="1862342"/>
                </a:lnTo>
                <a:lnTo>
                  <a:pt x="2294330" y="1628264"/>
                </a:lnTo>
                <a:cubicBezTo>
                  <a:pt x="2188051" y="1073581"/>
                  <a:pt x="1997370" y="548884"/>
                  <a:pt x="1736169" y="68056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32" name="文本框 231"/>
          <p:cNvSpPr txBox="1"/>
          <p:nvPr/>
        </p:nvSpPr>
        <p:spPr>
          <a:xfrm flipH="1">
            <a:off x="8441405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组织架构</a:t>
            </a:r>
          </a:p>
        </p:txBody>
      </p:sp>
      <p:sp>
        <p:nvSpPr>
          <p:cNvPr id="233" name="文本框 232"/>
          <p:cNvSpPr txBox="1"/>
          <p:nvPr/>
        </p:nvSpPr>
        <p:spPr>
          <a:xfrm flipH="1">
            <a:off x="7762413" y="4250111"/>
            <a:ext cx="1895475" cy="48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优化组织架构，明确各部门职责边界与协作流程。</a:t>
            </a:r>
          </a:p>
        </p:txBody>
      </p:sp>
      <p:sp>
        <p:nvSpPr>
          <p:cNvPr id="234" name="椭圆 233"/>
          <p:cNvSpPr/>
          <p:nvPr/>
        </p:nvSpPr>
        <p:spPr>
          <a:xfrm flipH="1">
            <a:off x="8908302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反馈</a:t>
            </a:r>
          </a:p>
        </p:txBody>
      </p:sp>
      <p:sp>
        <p:nvSpPr>
          <p:cNvPr id="235" name="椭圆 234"/>
          <p:cNvSpPr/>
          <p:nvPr/>
        </p:nvSpPr>
        <p:spPr>
          <a:xfrm flipH="1">
            <a:off x="8282359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执行</a:t>
            </a:r>
          </a:p>
        </p:txBody>
      </p:sp>
      <p:sp>
        <p:nvSpPr>
          <p:cNvPr id="236" name="椭圆 235"/>
          <p:cNvSpPr/>
          <p:nvPr/>
        </p:nvSpPr>
        <p:spPr>
          <a:xfrm flipH="1">
            <a:off x="7651183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需求</a:t>
            </a:r>
          </a:p>
        </p:txBody>
      </p:sp>
      <p:sp>
        <p:nvSpPr>
          <p:cNvPr id="237" name="文本框 236"/>
          <p:cNvSpPr txBox="1"/>
          <p:nvPr/>
        </p:nvSpPr>
        <p:spPr>
          <a:xfrm flipH="1">
            <a:off x="6201869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人才队伍</a:t>
            </a:r>
          </a:p>
        </p:txBody>
      </p:sp>
      <p:sp>
        <p:nvSpPr>
          <p:cNvPr id="238" name="文本框 237"/>
          <p:cNvSpPr txBox="1"/>
          <p:nvPr/>
        </p:nvSpPr>
        <p:spPr>
          <a:xfrm flipH="1">
            <a:off x="5522885" y="4250111"/>
            <a:ext cx="1895475" cy="688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加强人才招聘与培养，每季度开展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1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词技能比武与绩效复盘，打造专业人才梯队。</a:t>
            </a:r>
          </a:p>
        </p:txBody>
      </p:sp>
      <p:sp>
        <p:nvSpPr>
          <p:cNvPr id="239" name="椭圆 238"/>
          <p:cNvSpPr/>
          <p:nvPr/>
        </p:nvSpPr>
        <p:spPr>
          <a:xfrm flipH="1">
            <a:off x="6668774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管理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研修</a:t>
            </a:r>
          </a:p>
        </p:txBody>
      </p:sp>
      <p:sp>
        <p:nvSpPr>
          <p:cNvPr id="240" name="椭圆 239"/>
          <p:cNvSpPr/>
          <p:nvPr/>
        </p:nvSpPr>
        <p:spPr>
          <a:xfrm flipH="1">
            <a:off x="6042831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专项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培训</a:t>
            </a:r>
          </a:p>
        </p:txBody>
      </p:sp>
      <p:sp>
        <p:nvSpPr>
          <p:cNvPr id="241" name="椭圆 240"/>
          <p:cNvSpPr/>
          <p:nvPr/>
        </p:nvSpPr>
        <p:spPr>
          <a:xfrm flipH="1">
            <a:off x="5411655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新人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带教</a:t>
            </a:r>
          </a:p>
        </p:txBody>
      </p:sp>
      <p:sp>
        <p:nvSpPr>
          <p:cNvPr id="242" name="文本框 241"/>
          <p:cNvSpPr txBox="1"/>
          <p:nvPr/>
        </p:nvSpPr>
        <p:spPr>
          <a:xfrm flipH="1">
            <a:off x="3886774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资源调配</a:t>
            </a:r>
          </a:p>
        </p:txBody>
      </p:sp>
      <p:sp>
        <p:nvSpPr>
          <p:cNvPr id="243" name="文本框 242"/>
          <p:cNvSpPr txBox="1"/>
          <p:nvPr/>
        </p:nvSpPr>
        <p:spPr>
          <a:xfrm flipH="1">
            <a:off x="3207788" y="4250111"/>
            <a:ext cx="1895475" cy="688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科学调配资金、技术等资源，制定资源应急补充方案，确保各环节资源供给充足。</a:t>
            </a:r>
          </a:p>
        </p:txBody>
      </p:sp>
      <p:sp>
        <p:nvSpPr>
          <p:cNvPr id="244" name="椭圆 243"/>
          <p:cNvSpPr/>
          <p:nvPr/>
        </p:nvSpPr>
        <p:spPr>
          <a:xfrm flipH="1">
            <a:off x="4353677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供给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充足</a:t>
            </a:r>
          </a:p>
        </p:txBody>
      </p:sp>
      <p:sp>
        <p:nvSpPr>
          <p:cNvPr id="245" name="椭圆 244"/>
          <p:cNvSpPr/>
          <p:nvPr/>
        </p:nvSpPr>
        <p:spPr>
          <a:xfrm flipH="1">
            <a:off x="3727734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响应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周期</a:t>
            </a:r>
          </a:p>
        </p:txBody>
      </p:sp>
      <p:sp>
        <p:nvSpPr>
          <p:cNvPr id="246" name="椭圆 245"/>
          <p:cNvSpPr/>
          <p:nvPr/>
        </p:nvSpPr>
        <p:spPr>
          <a:xfrm flipH="1">
            <a:off x="3096558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应急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方案</a:t>
            </a:r>
          </a:p>
        </p:txBody>
      </p:sp>
      <p:sp>
        <p:nvSpPr>
          <p:cNvPr id="247" name="文本框 246"/>
          <p:cNvSpPr txBox="1"/>
          <p:nvPr/>
        </p:nvSpPr>
        <p:spPr>
          <a:xfrm flipH="1">
            <a:off x="1571676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制度规范</a:t>
            </a:r>
          </a:p>
        </p:txBody>
      </p:sp>
      <p:sp>
        <p:nvSpPr>
          <p:cNvPr id="248" name="文本框 247"/>
          <p:cNvSpPr txBox="1"/>
          <p:nvPr/>
        </p:nvSpPr>
        <p:spPr>
          <a:xfrm flipH="1">
            <a:off x="892692" y="4250111"/>
            <a:ext cx="1895475" cy="688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建立完善业务管理制度与流程规范，定期修订制度以适配业务变化。</a:t>
            </a:r>
          </a:p>
        </p:txBody>
      </p:sp>
      <p:sp>
        <p:nvSpPr>
          <p:cNvPr id="249" name="椭圆 248"/>
          <p:cNvSpPr/>
          <p:nvPr/>
        </p:nvSpPr>
        <p:spPr>
          <a:xfrm flipH="1">
            <a:off x="2038581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确保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合规</a:t>
            </a:r>
          </a:p>
        </p:txBody>
      </p:sp>
      <p:sp>
        <p:nvSpPr>
          <p:cNvPr id="250" name="椭圆 249"/>
          <p:cNvSpPr/>
          <p:nvPr/>
        </p:nvSpPr>
        <p:spPr>
          <a:xfrm flipH="1">
            <a:off x="1412638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奖惩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机制</a:t>
            </a:r>
          </a:p>
        </p:txBody>
      </p:sp>
      <p:sp>
        <p:nvSpPr>
          <p:cNvPr id="251" name="椭圆 250"/>
          <p:cNvSpPr/>
          <p:nvPr/>
        </p:nvSpPr>
        <p:spPr>
          <a:xfrm flipH="1">
            <a:off x="781462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每半年</a:t>
            </a:r>
          </a:p>
        </p:txBody>
      </p:sp>
      <p:sp>
        <p:nvSpPr>
          <p:cNvPr id="252" name="文本框 251"/>
          <p:cNvSpPr txBox="1"/>
          <p:nvPr/>
        </p:nvSpPr>
        <p:spPr>
          <a:xfrm flipH="1">
            <a:off x="9847497" y="5883744"/>
            <a:ext cx="1486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600" dirty="0">
                <a:solidFill>
                  <a:schemeClr val="bg1"/>
                </a:solidFill>
                <a:cs typeface="Roboto" panose="02000000000000000000" charset="0"/>
              </a:rPr>
              <a:t>数据呈现</a:t>
            </a:r>
          </a:p>
        </p:txBody>
      </p:sp>
      <p:sp>
        <p:nvSpPr>
          <p:cNvPr id="253" name="文本框 252"/>
          <p:cNvSpPr txBox="1"/>
          <p:nvPr/>
        </p:nvSpPr>
        <p:spPr>
          <a:xfrm flipH="1">
            <a:off x="9986437" y="4819780"/>
            <a:ext cx="148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实施保障</a:t>
            </a:r>
          </a:p>
        </p:txBody>
      </p:sp>
      <p:sp>
        <p:nvSpPr>
          <p:cNvPr id="254" name="弧形 253"/>
          <p:cNvSpPr/>
          <p:nvPr/>
        </p:nvSpPr>
        <p:spPr>
          <a:xfrm flipH="1">
            <a:off x="7348994" y="1140360"/>
            <a:ext cx="10604230" cy="10604230"/>
          </a:xfrm>
          <a:prstGeom prst="arc">
            <a:avLst>
              <a:gd name="adj1" fmla="val 19812430"/>
              <a:gd name="adj2" fmla="val 21088016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弧形 254"/>
          <p:cNvSpPr/>
          <p:nvPr/>
        </p:nvSpPr>
        <p:spPr>
          <a:xfrm flipH="1">
            <a:off x="5009323" y="1140360"/>
            <a:ext cx="10604230" cy="10604230"/>
          </a:xfrm>
          <a:prstGeom prst="arc">
            <a:avLst>
              <a:gd name="adj1" fmla="val 19812430"/>
              <a:gd name="adj2" fmla="val 21078271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6" name="弧形 255"/>
          <p:cNvSpPr/>
          <p:nvPr/>
        </p:nvSpPr>
        <p:spPr>
          <a:xfrm flipH="1">
            <a:off x="2669652" y="1140360"/>
            <a:ext cx="10604230" cy="10604230"/>
          </a:xfrm>
          <a:prstGeom prst="arc">
            <a:avLst>
              <a:gd name="adj1" fmla="val 19812430"/>
              <a:gd name="adj2" fmla="val 21082045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7" name="弧形 256"/>
          <p:cNvSpPr/>
          <p:nvPr/>
        </p:nvSpPr>
        <p:spPr>
          <a:xfrm flipH="1">
            <a:off x="329980" y="1140360"/>
            <a:ext cx="10604230" cy="10604230"/>
          </a:xfrm>
          <a:prstGeom prst="arc">
            <a:avLst>
              <a:gd name="adj1" fmla="val 19812430"/>
              <a:gd name="adj2" fmla="val 21085787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8" name="任意多边形: 形状 257"/>
          <p:cNvSpPr/>
          <p:nvPr/>
        </p:nvSpPr>
        <p:spPr>
          <a:xfrm flipH="1">
            <a:off x="7348994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59" name="文本框 258"/>
          <p:cNvSpPr txBox="1"/>
          <p:nvPr/>
        </p:nvSpPr>
        <p:spPr>
          <a:xfrm flipH="1">
            <a:off x="8712483" y="5898871"/>
            <a:ext cx="620683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20%</a:t>
            </a:r>
            <a:endParaRPr lang="zh-CN" altLang="en-US" sz="16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0" name="文本框 259"/>
          <p:cNvSpPr txBox="1"/>
          <p:nvPr/>
        </p:nvSpPr>
        <p:spPr>
          <a:xfrm flipH="1">
            <a:off x="7501101" y="5875243"/>
            <a:ext cx="940303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跨部门协作响应时间缩短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2" name="任意多边形: 形状 261"/>
          <p:cNvSpPr/>
          <p:nvPr/>
        </p:nvSpPr>
        <p:spPr>
          <a:xfrm flipH="1">
            <a:off x="5005353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3" name="文本框 262"/>
          <p:cNvSpPr txBox="1"/>
          <p:nvPr/>
        </p:nvSpPr>
        <p:spPr>
          <a:xfrm flipH="1">
            <a:off x="6497985" y="5898871"/>
            <a:ext cx="620683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90%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4" name="文本框 263"/>
          <p:cNvSpPr txBox="1"/>
          <p:nvPr/>
        </p:nvSpPr>
        <p:spPr>
          <a:xfrm flipH="1">
            <a:off x="5157459" y="5874281"/>
            <a:ext cx="938540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核心岗位人才留存率提升至 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6" name="任意多边形: 形状 265"/>
          <p:cNvSpPr/>
          <p:nvPr/>
        </p:nvSpPr>
        <p:spPr>
          <a:xfrm flipH="1">
            <a:off x="2661712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7" name="文本框 266"/>
          <p:cNvSpPr txBox="1"/>
          <p:nvPr/>
        </p:nvSpPr>
        <p:spPr>
          <a:xfrm flipH="1">
            <a:off x="4286582" y="5898871"/>
            <a:ext cx="494046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5%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 flipH="1">
            <a:off x="2813820" y="5874281"/>
            <a:ext cx="948694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项目延误率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降至 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0" name="任意多边形: 形状 269"/>
          <p:cNvSpPr/>
          <p:nvPr/>
        </p:nvSpPr>
        <p:spPr>
          <a:xfrm flipH="1">
            <a:off x="318071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71" name="文本框 270"/>
          <p:cNvSpPr txBox="1"/>
          <p:nvPr/>
        </p:nvSpPr>
        <p:spPr>
          <a:xfrm flipH="1">
            <a:off x="1897670" y="5898871"/>
            <a:ext cx="494046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8%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72" name="文本框 271"/>
          <p:cNvSpPr txBox="1"/>
          <p:nvPr/>
        </p:nvSpPr>
        <p:spPr>
          <a:xfrm flipH="1">
            <a:off x="577647" y="5874281"/>
            <a:ext cx="645112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制度合规执行率达 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9914144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市场规模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675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281" name="椭圆 280"/>
          <p:cNvSpPr/>
          <p:nvPr/>
        </p:nvSpPr>
        <p:spPr>
          <a:xfrm>
            <a:off x="4982317" y="2211243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推出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爆品</a:t>
            </a:r>
          </a:p>
        </p:txBody>
      </p:sp>
      <p:sp>
        <p:nvSpPr>
          <p:cNvPr id="282" name="椭圆 281"/>
          <p:cNvSpPr/>
          <p:nvPr/>
        </p:nvSpPr>
        <p:spPr>
          <a:xfrm>
            <a:off x="5625993" y="2211243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媒体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推广</a:t>
            </a:r>
          </a:p>
        </p:txBody>
      </p:sp>
      <p:sp>
        <p:nvSpPr>
          <p:cNvPr id="283" name="椭圆 282"/>
          <p:cNvSpPr/>
          <p:nvPr/>
        </p:nvSpPr>
        <p:spPr>
          <a:xfrm>
            <a:off x="6269668" y="2211243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代工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生产</a:t>
            </a:r>
          </a:p>
        </p:txBody>
      </p:sp>
      <p:sp>
        <p:nvSpPr>
          <p:cNvPr id="284" name="椭圆 283"/>
          <p:cNvSpPr/>
          <p:nvPr/>
        </p:nvSpPr>
        <p:spPr>
          <a:xfrm>
            <a:off x="7326832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品效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合一</a:t>
            </a:r>
          </a:p>
        </p:txBody>
      </p:sp>
      <p:sp>
        <p:nvSpPr>
          <p:cNvPr id="285" name="椭圆 284"/>
          <p:cNvSpPr/>
          <p:nvPr/>
        </p:nvSpPr>
        <p:spPr>
          <a:xfrm>
            <a:off x="7970508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扩充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选品</a:t>
            </a:r>
          </a:p>
        </p:txBody>
      </p:sp>
      <p:sp>
        <p:nvSpPr>
          <p:cNvPr id="286" name="椭圆 285"/>
          <p:cNvSpPr/>
          <p:nvPr/>
        </p:nvSpPr>
        <p:spPr>
          <a:xfrm>
            <a:off x="8614183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全链路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种草</a:t>
            </a:r>
          </a:p>
        </p:txBody>
      </p:sp>
      <p:sp>
        <p:nvSpPr>
          <p:cNvPr id="287" name="椭圆 286"/>
          <p:cNvSpPr/>
          <p:nvPr/>
        </p:nvSpPr>
        <p:spPr>
          <a:xfrm>
            <a:off x="9675030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新品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试验</a:t>
            </a:r>
          </a:p>
        </p:txBody>
      </p:sp>
      <p:sp>
        <p:nvSpPr>
          <p:cNvPr id="288" name="椭圆 287"/>
          <p:cNvSpPr/>
          <p:nvPr/>
        </p:nvSpPr>
        <p:spPr>
          <a:xfrm>
            <a:off x="10318706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品牌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IP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化</a:t>
            </a:r>
          </a:p>
        </p:txBody>
      </p:sp>
      <p:sp>
        <p:nvSpPr>
          <p:cNvPr id="289" name="椭圆 288"/>
          <p:cNvSpPr/>
          <p:nvPr/>
        </p:nvSpPr>
        <p:spPr>
          <a:xfrm>
            <a:off x="10962381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粉丝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运营</a:t>
            </a:r>
          </a:p>
        </p:txBody>
      </p:sp>
      <p:sp>
        <p:nvSpPr>
          <p:cNvPr id="8" name="等腰三角形 7"/>
          <p:cNvSpPr/>
          <p:nvPr/>
        </p:nvSpPr>
        <p:spPr>
          <a:xfrm rot="16200000" flipH="1" flipV="1">
            <a:off x="1405254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等腰三角形 8"/>
          <p:cNvSpPr/>
          <p:nvPr/>
        </p:nvSpPr>
        <p:spPr>
          <a:xfrm rot="16200000" flipH="1" flipV="1">
            <a:off x="1329215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等腰三角形 13"/>
          <p:cNvSpPr/>
          <p:nvPr/>
        </p:nvSpPr>
        <p:spPr>
          <a:xfrm rot="16200000" flipH="1" flipV="1">
            <a:off x="3778874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等腰三角形 22"/>
          <p:cNvSpPr/>
          <p:nvPr/>
        </p:nvSpPr>
        <p:spPr>
          <a:xfrm rot="16200000" flipH="1" flipV="1">
            <a:off x="3702835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6" name="等腰三角形 225"/>
          <p:cNvSpPr/>
          <p:nvPr/>
        </p:nvSpPr>
        <p:spPr>
          <a:xfrm rot="16200000" flipH="1" flipV="1">
            <a:off x="6152494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等腰三角形 33"/>
          <p:cNvSpPr/>
          <p:nvPr/>
        </p:nvSpPr>
        <p:spPr>
          <a:xfrm rot="16200000" flipH="1" flipV="1">
            <a:off x="6076455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6" name="等腰三角形 35"/>
          <p:cNvSpPr/>
          <p:nvPr/>
        </p:nvSpPr>
        <p:spPr>
          <a:xfrm rot="16200000" flipH="1" flipV="1">
            <a:off x="8424757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7" name="等腰三角形 36"/>
          <p:cNvSpPr/>
          <p:nvPr/>
        </p:nvSpPr>
        <p:spPr>
          <a:xfrm rot="16200000" flipH="1" flipV="1">
            <a:off x="8348718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形状 252"/>
          <p:cNvSpPr/>
          <p:nvPr/>
        </p:nvSpPr>
        <p:spPr>
          <a:xfrm rot="17556835" flipV="1">
            <a:off x="833457" y="1471213"/>
            <a:ext cx="6007174" cy="3888915"/>
          </a:xfrm>
          <a:prstGeom prst="swooshArrow">
            <a:avLst>
              <a:gd name="adj1" fmla="val 25000"/>
              <a:gd name="adj2" fmla="val 25000"/>
            </a:avLst>
          </a:prstGeom>
          <a:solidFill>
            <a:schemeClr val="accent1">
              <a:alpha val="1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225" name="直接连接符 224"/>
          <p:cNvCxnSpPr/>
          <p:nvPr/>
        </p:nvCxnSpPr>
        <p:spPr>
          <a:xfrm>
            <a:off x="3113270" y="4797083"/>
            <a:ext cx="0" cy="79907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/>
          <p:cNvCxnSpPr/>
          <p:nvPr/>
        </p:nvCxnSpPr>
        <p:spPr>
          <a:xfrm>
            <a:off x="5605932" y="4404811"/>
            <a:ext cx="0" cy="1191347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/>
          <p:nvPr/>
        </p:nvCxnSpPr>
        <p:spPr>
          <a:xfrm>
            <a:off x="6478129" y="4304674"/>
            <a:ext cx="0" cy="1291484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梯形 8"/>
          <p:cNvSpPr/>
          <p:nvPr/>
        </p:nvSpPr>
        <p:spPr>
          <a:xfrm rot="16200000">
            <a:off x="4229271" y="3151093"/>
            <a:ext cx="5960274" cy="1052487"/>
          </a:xfrm>
          <a:prstGeom prst="trapezoid">
            <a:avLst>
              <a:gd name="adj" fmla="val 25233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bg1">
                  <a:lumMod val="48000"/>
                  <a:lumOff val="52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4963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核心目标达成情况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任意多边形: 形状 15"/>
          <p:cNvSpPr/>
          <p:nvPr/>
        </p:nvSpPr>
        <p:spPr>
          <a:xfrm rot="16200000">
            <a:off x="6126387" y="3438629"/>
            <a:ext cx="1418056" cy="397836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 rot="16200000">
            <a:off x="5368429" y="3438629"/>
            <a:ext cx="1513299" cy="397836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0" name="任意多边形: 形状 169"/>
          <p:cNvSpPr/>
          <p:nvPr/>
        </p:nvSpPr>
        <p:spPr>
          <a:xfrm rot="16200000">
            <a:off x="5795215" y="3210763"/>
            <a:ext cx="1513299" cy="853569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8" name="任意多边形: 形状 167"/>
          <p:cNvSpPr/>
          <p:nvPr/>
        </p:nvSpPr>
        <p:spPr>
          <a:xfrm rot="16200000">
            <a:off x="4246970" y="3392272"/>
            <a:ext cx="1786883" cy="49054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 rot="16200000">
            <a:off x="4773215" y="3111304"/>
            <a:ext cx="1786883" cy="1052488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5" name="任意多边形: 形状 164"/>
          <p:cNvSpPr/>
          <p:nvPr/>
        </p:nvSpPr>
        <p:spPr>
          <a:xfrm rot="16200000">
            <a:off x="2850437" y="3335113"/>
            <a:ext cx="2148472" cy="60486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4" name="任意多边形: 形状 163"/>
          <p:cNvSpPr/>
          <p:nvPr/>
        </p:nvSpPr>
        <p:spPr>
          <a:xfrm rot="16200000">
            <a:off x="3499320" y="2988666"/>
            <a:ext cx="2148472" cy="129776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 rot="16200000">
            <a:off x="1142059" y="3264633"/>
            <a:ext cx="2548804" cy="745828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 rot="16200000">
            <a:off x="1942159" y="2837449"/>
            <a:ext cx="2548804" cy="1600197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8" name="任意多边形: 形状 157"/>
          <p:cNvSpPr/>
          <p:nvPr/>
        </p:nvSpPr>
        <p:spPr>
          <a:xfrm rot="16200000">
            <a:off x="105176" y="2693819"/>
            <a:ext cx="3048948" cy="1887455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8" name="任意多边形: 形状 147"/>
          <p:cNvSpPr/>
          <p:nvPr/>
        </p:nvSpPr>
        <p:spPr>
          <a:xfrm rot="16200000">
            <a:off x="-838555" y="3197690"/>
            <a:ext cx="3048948" cy="879716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" name="左中括号 25"/>
          <p:cNvSpPr/>
          <p:nvPr/>
        </p:nvSpPr>
        <p:spPr>
          <a:xfrm rot="16200000">
            <a:off x="1472625" y="5639128"/>
            <a:ext cx="45719" cy="1619133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30" name="左中括号 29"/>
          <p:cNvSpPr/>
          <p:nvPr/>
        </p:nvSpPr>
        <p:spPr>
          <a:xfrm rot="16200000">
            <a:off x="3105152" y="5797183"/>
            <a:ext cx="45719" cy="130302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1" name="左中括号 30"/>
          <p:cNvSpPr/>
          <p:nvPr/>
        </p:nvSpPr>
        <p:spPr>
          <a:xfrm rot="16200000">
            <a:off x="4455257" y="5889992"/>
            <a:ext cx="45719" cy="111740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8" name="左中括号 127"/>
          <p:cNvSpPr/>
          <p:nvPr/>
        </p:nvSpPr>
        <p:spPr>
          <a:xfrm rot="16200000">
            <a:off x="5562969" y="6014724"/>
            <a:ext cx="45719" cy="867942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9" name="左中括号 128"/>
          <p:cNvSpPr/>
          <p:nvPr/>
        </p:nvSpPr>
        <p:spPr>
          <a:xfrm rot="16200000">
            <a:off x="6454393" y="6096521"/>
            <a:ext cx="45719" cy="704347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018413" y="3160492"/>
            <a:ext cx="16001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业绩</a:t>
            </a:r>
            <a:endParaRPr lang="en-US" altLang="zh-CN" sz="28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增长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2602574" y="3160492"/>
            <a:ext cx="1600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项目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推进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3931084" y="3210662"/>
            <a:ext cx="1600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团队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建设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5323711" y="3239616"/>
            <a:ext cx="87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客户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服务</a:t>
            </a:r>
          </a:p>
        </p:txBody>
      </p:sp>
      <p:sp>
        <p:nvSpPr>
          <p:cNvPr id="135" name="文本框 134"/>
          <p:cNvSpPr txBox="1"/>
          <p:nvPr/>
        </p:nvSpPr>
        <p:spPr>
          <a:xfrm>
            <a:off x="6211299" y="3239616"/>
            <a:ext cx="87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控制</a:t>
            </a:r>
          </a:p>
        </p:txBody>
      </p:sp>
      <p:grpSp>
        <p:nvGrpSpPr>
          <p:cNvPr id="140" name="组合 139"/>
          <p:cNvGrpSpPr/>
          <p:nvPr/>
        </p:nvGrpSpPr>
        <p:grpSpPr>
          <a:xfrm flipV="1">
            <a:off x="685918" y="5596158"/>
            <a:ext cx="6143508" cy="45719"/>
            <a:chOff x="685918" y="6425835"/>
            <a:chExt cx="6143508" cy="45719"/>
          </a:xfrm>
        </p:grpSpPr>
        <p:sp>
          <p:nvSpPr>
            <p:cNvPr id="141" name="左中括号 140"/>
            <p:cNvSpPr/>
            <p:nvPr/>
          </p:nvSpPr>
          <p:spPr>
            <a:xfrm rot="16200000">
              <a:off x="1472625" y="5639128"/>
              <a:ext cx="45719" cy="1619133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42" name="左中括号 141"/>
            <p:cNvSpPr/>
            <p:nvPr/>
          </p:nvSpPr>
          <p:spPr>
            <a:xfrm rot="16200000">
              <a:off x="3105152" y="5797183"/>
              <a:ext cx="45719" cy="1303024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3" name="左中括号 142"/>
            <p:cNvSpPr/>
            <p:nvPr/>
          </p:nvSpPr>
          <p:spPr>
            <a:xfrm rot="16200000">
              <a:off x="4455257" y="5889992"/>
              <a:ext cx="45719" cy="1117406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4" name="左中括号 143"/>
            <p:cNvSpPr/>
            <p:nvPr/>
          </p:nvSpPr>
          <p:spPr>
            <a:xfrm rot="16200000">
              <a:off x="5562969" y="6014724"/>
              <a:ext cx="45719" cy="867942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5" name="左中括号 144"/>
            <p:cNvSpPr/>
            <p:nvPr/>
          </p:nvSpPr>
          <p:spPr>
            <a:xfrm rot="16200000">
              <a:off x="6454393" y="6096521"/>
              <a:ext cx="45719" cy="704347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6" name="文本框 145"/>
          <p:cNvSpPr txBox="1"/>
          <p:nvPr/>
        </p:nvSpPr>
        <p:spPr>
          <a:xfrm>
            <a:off x="6051503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165711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057999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50%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2707894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70%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1075367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80%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35638" y="1125538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15270" y="1493302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拓展裙体、优化策略，销售额较上一周期增长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，远超预期增长目标。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10100273" y="1493302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精细成本管控，合理优化定价，毛利润达到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万元，利润率提升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个百分点。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191" name="箭头: 五边形 190"/>
          <p:cNvSpPr/>
          <p:nvPr/>
        </p:nvSpPr>
        <p:spPr>
          <a:xfrm>
            <a:off x="9774744" y="1231692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利润提升</a:t>
            </a:r>
          </a:p>
        </p:txBody>
      </p:sp>
      <p:sp>
        <p:nvSpPr>
          <p:cNvPr id="190" name="箭头: 五边形 189"/>
          <p:cNvSpPr/>
          <p:nvPr/>
        </p:nvSpPr>
        <p:spPr>
          <a:xfrm>
            <a:off x="8559950" y="1231692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销售突破</a:t>
            </a:r>
          </a:p>
        </p:txBody>
      </p:sp>
      <p:sp>
        <p:nvSpPr>
          <p:cNvPr id="189" name="箭头: 五边形 188"/>
          <p:cNvSpPr/>
          <p:nvPr/>
        </p:nvSpPr>
        <p:spPr>
          <a:xfrm>
            <a:off x="7905975" y="1213993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05975" y="1213993"/>
            <a:ext cx="730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业绩增长</a:t>
            </a:r>
          </a:p>
        </p:txBody>
      </p:sp>
      <p:sp>
        <p:nvSpPr>
          <p:cNvPr id="192" name="箭头: V 形 191"/>
          <p:cNvSpPr/>
          <p:nvPr/>
        </p:nvSpPr>
        <p:spPr>
          <a:xfrm>
            <a:off x="10054769" y="1225675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194" name="直接连接符 193"/>
          <p:cNvCxnSpPr/>
          <p:nvPr/>
        </p:nvCxnSpPr>
        <p:spPr>
          <a:xfrm>
            <a:off x="10100273" y="1448236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9" name="组合 198"/>
          <p:cNvGrpSpPr/>
          <p:nvPr/>
        </p:nvGrpSpPr>
        <p:grpSpPr>
          <a:xfrm>
            <a:off x="8059306" y="1533705"/>
            <a:ext cx="432584" cy="432554"/>
            <a:chOff x="8059306" y="1533705"/>
            <a:chExt cx="432584" cy="432554"/>
          </a:xfrm>
        </p:grpSpPr>
        <p:sp>
          <p:nvSpPr>
            <p:cNvPr id="196" name="任意多边形: 形状 195"/>
            <p:cNvSpPr/>
            <p:nvPr/>
          </p:nvSpPr>
          <p:spPr>
            <a:xfrm>
              <a:off x="8276499" y="1533705"/>
              <a:ext cx="215391" cy="432554"/>
            </a:xfrm>
            <a:custGeom>
              <a:avLst/>
              <a:gdLst>
                <a:gd name="connsiteX0" fmla="*/ 2386392 w 2428243"/>
                <a:gd name="connsiteY0" fmla="*/ 1112747 h 4876455"/>
                <a:gd name="connsiteX1" fmla="*/ 1315144 w 2428243"/>
                <a:gd name="connsiteY1" fmla="*/ 41509 h 4876455"/>
                <a:gd name="connsiteX2" fmla="*/ 1113090 w 2428243"/>
                <a:gd name="connsiteY2" fmla="*/ 41509 h 4876455"/>
                <a:gd name="connsiteX3" fmla="*/ 41851 w 2428243"/>
                <a:gd name="connsiteY3" fmla="*/ 1112747 h 4876455"/>
                <a:gd name="connsiteX4" fmla="*/ 10876 w 2428243"/>
                <a:gd name="connsiteY4" fmla="*/ 1268453 h 4876455"/>
                <a:gd name="connsiteX5" fmla="*/ 142873 w 2428243"/>
                <a:gd name="connsiteY5" fmla="*/ 1356654 h 4876455"/>
                <a:gd name="connsiteX6" fmla="*/ 612142 w 2428243"/>
                <a:gd name="connsiteY6" fmla="*/ 1356654 h 4876455"/>
                <a:gd name="connsiteX7" fmla="*/ 612142 w 2428243"/>
                <a:gd name="connsiteY7" fmla="*/ 4733581 h 4876455"/>
                <a:gd name="connsiteX8" fmla="*/ 755017 w 2428243"/>
                <a:gd name="connsiteY8" fmla="*/ 4876456 h 4876455"/>
                <a:gd name="connsiteX9" fmla="*/ 1673227 w 2428243"/>
                <a:gd name="connsiteY9" fmla="*/ 4876456 h 4876455"/>
                <a:gd name="connsiteX10" fmla="*/ 1816102 w 2428243"/>
                <a:gd name="connsiteY10" fmla="*/ 4733581 h 4876455"/>
                <a:gd name="connsiteX11" fmla="*/ 1816102 w 2428243"/>
                <a:gd name="connsiteY11" fmla="*/ 1356654 h 4876455"/>
                <a:gd name="connsiteX12" fmla="*/ 2285370 w 2428243"/>
                <a:gd name="connsiteY12" fmla="*/ 1356654 h 4876455"/>
                <a:gd name="connsiteX13" fmla="*/ 2417367 w 2428243"/>
                <a:gd name="connsiteY13" fmla="*/ 1268453 h 4876455"/>
                <a:gd name="connsiteX14" fmla="*/ 2386392 w 2428243"/>
                <a:gd name="connsiteY14" fmla="*/ 1112747 h 4876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28243" h="4876455">
                  <a:moveTo>
                    <a:pt x="2386392" y="1112747"/>
                  </a:moveTo>
                  <a:lnTo>
                    <a:pt x="1315144" y="41509"/>
                  </a:lnTo>
                  <a:cubicBezTo>
                    <a:pt x="1261937" y="-13841"/>
                    <a:pt x="1166287" y="-13831"/>
                    <a:pt x="1113090" y="41509"/>
                  </a:cubicBezTo>
                  <a:lnTo>
                    <a:pt x="41851" y="1112747"/>
                  </a:lnTo>
                  <a:cubicBezTo>
                    <a:pt x="989" y="1153610"/>
                    <a:pt x="-11232" y="1215065"/>
                    <a:pt x="10876" y="1268453"/>
                  </a:cubicBezTo>
                  <a:cubicBezTo>
                    <a:pt x="32993" y="1321840"/>
                    <a:pt x="85095" y="1356654"/>
                    <a:pt x="142873" y="1356654"/>
                  </a:cubicBezTo>
                  <a:lnTo>
                    <a:pt x="612142" y="1356654"/>
                  </a:lnTo>
                  <a:lnTo>
                    <a:pt x="612142" y="4733581"/>
                  </a:lnTo>
                  <a:cubicBezTo>
                    <a:pt x="612142" y="4812486"/>
                    <a:pt x="676112" y="4876456"/>
                    <a:pt x="755017" y="4876456"/>
                  </a:cubicBezTo>
                  <a:lnTo>
                    <a:pt x="1673227" y="4876456"/>
                  </a:lnTo>
                  <a:cubicBezTo>
                    <a:pt x="1752132" y="4876456"/>
                    <a:pt x="1816102" y="4812486"/>
                    <a:pt x="1816102" y="4733581"/>
                  </a:cubicBezTo>
                  <a:lnTo>
                    <a:pt x="1816102" y="1356654"/>
                  </a:lnTo>
                  <a:lnTo>
                    <a:pt x="2285370" y="1356654"/>
                  </a:lnTo>
                  <a:cubicBezTo>
                    <a:pt x="2343158" y="1356654"/>
                    <a:pt x="2395260" y="1321840"/>
                    <a:pt x="2417367" y="1268453"/>
                  </a:cubicBezTo>
                  <a:cubicBezTo>
                    <a:pt x="2439475" y="1215065"/>
                    <a:pt x="2427254" y="1153619"/>
                    <a:pt x="2386392" y="111274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8195052" y="1710144"/>
              <a:ext cx="106794" cy="256115"/>
            </a:xfrm>
            <a:custGeom>
              <a:avLst/>
              <a:gdLst>
                <a:gd name="connsiteX0" fmla="*/ 1061085 w 1203959"/>
                <a:gd name="connsiteY0" fmla="*/ 0 h 2887341"/>
                <a:gd name="connsiteX1" fmla="*/ 142875 w 1203959"/>
                <a:gd name="connsiteY1" fmla="*/ 0 h 2887341"/>
                <a:gd name="connsiteX2" fmla="*/ 0 w 1203959"/>
                <a:gd name="connsiteY2" fmla="*/ 142875 h 2887341"/>
                <a:gd name="connsiteX3" fmla="*/ 0 w 1203959"/>
                <a:gd name="connsiteY3" fmla="*/ 2744467 h 2887341"/>
                <a:gd name="connsiteX4" fmla="*/ 142875 w 1203959"/>
                <a:gd name="connsiteY4" fmla="*/ 2887342 h 2887341"/>
                <a:gd name="connsiteX5" fmla="*/ 1061085 w 1203959"/>
                <a:gd name="connsiteY5" fmla="*/ 2887342 h 2887341"/>
                <a:gd name="connsiteX6" fmla="*/ 1203960 w 1203959"/>
                <a:gd name="connsiteY6" fmla="*/ 2744467 h 2887341"/>
                <a:gd name="connsiteX7" fmla="*/ 1203960 w 1203959"/>
                <a:gd name="connsiteY7" fmla="*/ 142875 h 2887341"/>
                <a:gd name="connsiteX8" fmla="*/ 1061085 w 1203959"/>
                <a:gd name="connsiteY8" fmla="*/ 0 h 288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3959" h="2887341">
                  <a:moveTo>
                    <a:pt x="1061085" y="0"/>
                  </a:moveTo>
                  <a:lnTo>
                    <a:pt x="142875" y="0"/>
                  </a:lnTo>
                  <a:cubicBezTo>
                    <a:pt x="63970" y="0"/>
                    <a:pt x="0" y="63970"/>
                    <a:pt x="0" y="142875"/>
                  </a:cubicBezTo>
                  <a:lnTo>
                    <a:pt x="0" y="2744467"/>
                  </a:lnTo>
                  <a:cubicBezTo>
                    <a:pt x="0" y="2823372"/>
                    <a:pt x="63970" y="2887342"/>
                    <a:pt x="142875" y="2887342"/>
                  </a:cubicBezTo>
                  <a:lnTo>
                    <a:pt x="1061085" y="2887342"/>
                  </a:lnTo>
                  <a:cubicBezTo>
                    <a:pt x="1139990" y="2887342"/>
                    <a:pt x="1203960" y="2823372"/>
                    <a:pt x="1203960" y="2744467"/>
                  </a:cubicBezTo>
                  <a:lnTo>
                    <a:pt x="1203960" y="142875"/>
                  </a:lnTo>
                  <a:cubicBezTo>
                    <a:pt x="1203960" y="63970"/>
                    <a:pt x="1139990" y="0"/>
                    <a:pt x="1061085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8059306" y="1818741"/>
              <a:ext cx="106794" cy="147518"/>
            </a:xfrm>
            <a:custGeom>
              <a:avLst/>
              <a:gdLst>
                <a:gd name="connsiteX0" fmla="*/ 1061085 w 1203960"/>
                <a:gd name="connsiteY0" fmla="*/ 0 h 1663065"/>
                <a:gd name="connsiteX1" fmla="*/ 142875 w 1203960"/>
                <a:gd name="connsiteY1" fmla="*/ 0 h 1663065"/>
                <a:gd name="connsiteX2" fmla="*/ 0 w 1203960"/>
                <a:gd name="connsiteY2" fmla="*/ 142875 h 1663065"/>
                <a:gd name="connsiteX3" fmla="*/ 0 w 1203960"/>
                <a:gd name="connsiteY3" fmla="*/ 1520190 h 1663065"/>
                <a:gd name="connsiteX4" fmla="*/ 142875 w 1203960"/>
                <a:gd name="connsiteY4" fmla="*/ 1663065 h 1663065"/>
                <a:gd name="connsiteX5" fmla="*/ 1061085 w 1203960"/>
                <a:gd name="connsiteY5" fmla="*/ 1663065 h 1663065"/>
                <a:gd name="connsiteX6" fmla="*/ 1203960 w 1203960"/>
                <a:gd name="connsiteY6" fmla="*/ 1520190 h 1663065"/>
                <a:gd name="connsiteX7" fmla="*/ 1203960 w 1203960"/>
                <a:gd name="connsiteY7" fmla="*/ 142875 h 1663065"/>
                <a:gd name="connsiteX8" fmla="*/ 1061085 w 1203960"/>
                <a:gd name="connsiteY8" fmla="*/ 0 h 16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3960" h="1663065">
                  <a:moveTo>
                    <a:pt x="1061085" y="0"/>
                  </a:moveTo>
                  <a:lnTo>
                    <a:pt x="142875" y="0"/>
                  </a:lnTo>
                  <a:cubicBezTo>
                    <a:pt x="63970" y="0"/>
                    <a:pt x="0" y="63970"/>
                    <a:pt x="0" y="142875"/>
                  </a:cubicBezTo>
                  <a:lnTo>
                    <a:pt x="0" y="1520190"/>
                  </a:lnTo>
                  <a:cubicBezTo>
                    <a:pt x="0" y="1599095"/>
                    <a:pt x="63970" y="1663065"/>
                    <a:pt x="142875" y="1663065"/>
                  </a:cubicBezTo>
                  <a:lnTo>
                    <a:pt x="1061085" y="1663065"/>
                  </a:lnTo>
                  <a:cubicBezTo>
                    <a:pt x="1139990" y="1663065"/>
                    <a:pt x="1203960" y="1599095"/>
                    <a:pt x="1203960" y="1520190"/>
                  </a:cubicBezTo>
                  <a:lnTo>
                    <a:pt x="1203960" y="142875"/>
                  </a:lnTo>
                  <a:cubicBezTo>
                    <a:pt x="1203960" y="63970"/>
                    <a:pt x="1139990" y="0"/>
                    <a:pt x="1061085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202" name="矩形 201"/>
          <p:cNvSpPr/>
          <p:nvPr/>
        </p:nvSpPr>
        <p:spPr>
          <a:xfrm>
            <a:off x="7735638" y="2185250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8615270" y="2553014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严格遵循项目时间表，各环节紧密衔接，提前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天完成交付。</a:t>
            </a:r>
          </a:p>
        </p:txBody>
      </p:sp>
      <p:sp>
        <p:nvSpPr>
          <p:cNvPr id="204" name="文本框 203"/>
          <p:cNvSpPr txBox="1"/>
          <p:nvPr/>
        </p:nvSpPr>
        <p:spPr>
          <a:xfrm>
            <a:off x="10100273" y="2553014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  <a:cs typeface="Roboto" panose="02000000000000000000" charset="0"/>
              </a:rPr>
              <a:t>执行高标准的质量监控体系，项目交付成果经检验，各项指标均符合要求。</a:t>
            </a:r>
          </a:p>
        </p:txBody>
      </p:sp>
      <p:sp>
        <p:nvSpPr>
          <p:cNvPr id="205" name="箭头: 五边形 204"/>
          <p:cNvSpPr/>
          <p:nvPr/>
        </p:nvSpPr>
        <p:spPr>
          <a:xfrm>
            <a:off x="9774744" y="2291404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质量达标</a:t>
            </a:r>
          </a:p>
        </p:txBody>
      </p:sp>
      <p:sp>
        <p:nvSpPr>
          <p:cNvPr id="206" name="箭头: 五边形 205"/>
          <p:cNvSpPr/>
          <p:nvPr/>
        </p:nvSpPr>
        <p:spPr>
          <a:xfrm>
            <a:off x="8559950" y="2291404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按时交付</a:t>
            </a:r>
          </a:p>
        </p:txBody>
      </p:sp>
      <p:sp>
        <p:nvSpPr>
          <p:cNvPr id="207" name="箭头: 五边形 206"/>
          <p:cNvSpPr/>
          <p:nvPr/>
        </p:nvSpPr>
        <p:spPr>
          <a:xfrm>
            <a:off x="7905975" y="2273705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7905975" y="2273705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项目推介</a:t>
            </a:r>
          </a:p>
        </p:txBody>
      </p:sp>
      <p:sp>
        <p:nvSpPr>
          <p:cNvPr id="209" name="箭头: V 形 208"/>
          <p:cNvSpPr/>
          <p:nvPr/>
        </p:nvSpPr>
        <p:spPr>
          <a:xfrm>
            <a:off x="10054769" y="2285387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10" name="直接连接符 209"/>
          <p:cNvCxnSpPr/>
          <p:nvPr/>
        </p:nvCxnSpPr>
        <p:spPr>
          <a:xfrm>
            <a:off x="10100273" y="2507948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7735638" y="3244962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8615270" y="3612726"/>
            <a:ext cx="1549868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定位岗位需求，通过多种渠道成功招募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位专业人才，充实团队力量。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10100273" y="3612726"/>
            <a:ext cx="1549868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开展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场内部培训与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次外部专家讲座，涵盖专业技能与行业前沿知识。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19" name="箭头: 五边形 218"/>
          <p:cNvSpPr/>
          <p:nvPr/>
        </p:nvSpPr>
        <p:spPr>
          <a:xfrm>
            <a:off x="9774744" y="3351116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培训赋能</a:t>
            </a:r>
          </a:p>
        </p:txBody>
      </p:sp>
      <p:sp>
        <p:nvSpPr>
          <p:cNvPr id="220" name="箭头: 五边形 219"/>
          <p:cNvSpPr/>
          <p:nvPr/>
        </p:nvSpPr>
        <p:spPr>
          <a:xfrm>
            <a:off x="8559950" y="3351116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人才招募</a:t>
            </a:r>
          </a:p>
        </p:txBody>
      </p:sp>
      <p:sp>
        <p:nvSpPr>
          <p:cNvPr id="221" name="箭头: 五边形 220"/>
          <p:cNvSpPr/>
          <p:nvPr/>
        </p:nvSpPr>
        <p:spPr>
          <a:xfrm>
            <a:off x="7905975" y="3333417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7905975" y="3333417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团队建设</a:t>
            </a:r>
          </a:p>
        </p:txBody>
      </p:sp>
      <p:sp>
        <p:nvSpPr>
          <p:cNvPr id="223" name="箭头: V 形 222"/>
          <p:cNvSpPr/>
          <p:nvPr/>
        </p:nvSpPr>
        <p:spPr>
          <a:xfrm>
            <a:off x="10054769" y="3345099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24" name="直接连接符 223"/>
          <p:cNvCxnSpPr/>
          <p:nvPr/>
        </p:nvCxnSpPr>
        <p:spPr>
          <a:xfrm>
            <a:off x="10100273" y="3567660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矩形 229"/>
          <p:cNvSpPr/>
          <p:nvPr/>
        </p:nvSpPr>
        <p:spPr>
          <a:xfrm>
            <a:off x="7735638" y="4304674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8615270" y="4672438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优化客户服务流程，加强服务人员培训，客户投诉率较前期下降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，有效提升客户体验。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10100273" y="4672438"/>
            <a:ext cx="1549868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凭借优质服务，成功与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家大客户续签长期合作协议，巩固客户关系。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33" name="箭头: 五边形 232"/>
          <p:cNvSpPr/>
          <p:nvPr/>
        </p:nvSpPr>
        <p:spPr>
          <a:xfrm>
            <a:off x="9774744" y="4410828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长期合作</a:t>
            </a:r>
          </a:p>
        </p:txBody>
      </p:sp>
      <p:sp>
        <p:nvSpPr>
          <p:cNvPr id="234" name="箭头: 五边形 233"/>
          <p:cNvSpPr/>
          <p:nvPr/>
        </p:nvSpPr>
        <p:spPr>
          <a:xfrm>
            <a:off x="8559950" y="4410828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投诉降低</a:t>
            </a:r>
          </a:p>
        </p:txBody>
      </p:sp>
      <p:sp>
        <p:nvSpPr>
          <p:cNvPr id="235" name="箭头: 五边形 234"/>
          <p:cNvSpPr/>
          <p:nvPr/>
        </p:nvSpPr>
        <p:spPr>
          <a:xfrm>
            <a:off x="7905975" y="4393129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7905975" y="4393129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客户服务</a:t>
            </a:r>
          </a:p>
        </p:txBody>
      </p:sp>
      <p:sp>
        <p:nvSpPr>
          <p:cNvPr id="237" name="箭头: V 形 236"/>
          <p:cNvSpPr/>
          <p:nvPr/>
        </p:nvSpPr>
        <p:spPr>
          <a:xfrm>
            <a:off x="10054769" y="4404811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38" name="直接连接符 237"/>
          <p:cNvCxnSpPr/>
          <p:nvPr/>
        </p:nvCxnSpPr>
        <p:spPr>
          <a:xfrm>
            <a:off x="10100273" y="4627372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矩形 243"/>
          <p:cNvSpPr/>
          <p:nvPr/>
        </p:nvSpPr>
        <p:spPr>
          <a:xfrm>
            <a:off x="7735638" y="5364386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8615270" y="5732150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严格执行预算管理制度，各项费用支出均控制在预算范围内，实际支出较预算节省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10100273" y="5732150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合理调配人力、物力资源，避免资源闲置与浪费，资源利用率提高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，降低运营成本。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47" name="箭头: 五边形 246"/>
          <p:cNvSpPr/>
          <p:nvPr/>
        </p:nvSpPr>
        <p:spPr>
          <a:xfrm>
            <a:off x="9774744" y="5470540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资源优化</a:t>
            </a:r>
          </a:p>
        </p:txBody>
      </p:sp>
      <p:sp>
        <p:nvSpPr>
          <p:cNvPr id="248" name="箭头: 五边形 247"/>
          <p:cNvSpPr/>
          <p:nvPr/>
        </p:nvSpPr>
        <p:spPr>
          <a:xfrm>
            <a:off x="8559950" y="5470540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预算把控</a:t>
            </a:r>
          </a:p>
        </p:txBody>
      </p:sp>
      <p:sp>
        <p:nvSpPr>
          <p:cNvPr id="249" name="箭头: 五边形 248"/>
          <p:cNvSpPr/>
          <p:nvPr/>
        </p:nvSpPr>
        <p:spPr>
          <a:xfrm>
            <a:off x="7905975" y="5452841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7905975" y="5452841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成本控制</a:t>
            </a:r>
          </a:p>
        </p:txBody>
      </p:sp>
      <p:sp>
        <p:nvSpPr>
          <p:cNvPr id="251" name="箭头: V 形 250"/>
          <p:cNvSpPr/>
          <p:nvPr/>
        </p:nvSpPr>
        <p:spPr>
          <a:xfrm>
            <a:off x="10054769" y="5464523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52" name="直接连接符 251"/>
          <p:cNvCxnSpPr/>
          <p:nvPr/>
        </p:nvCxnSpPr>
        <p:spPr>
          <a:xfrm>
            <a:off x="10100273" y="5687084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oogle Shape;6421;p78"/>
          <p:cNvGrpSpPr/>
          <p:nvPr/>
        </p:nvGrpSpPr>
        <p:grpSpPr>
          <a:xfrm>
            <a:off x="8090643" y="3693852"/>
            <a:ext cx="377730" cy="377730"/>
            <a:chOff x="3497300" y="3227275"/>
            <a:chExt cx="296175" cy="296175"/>
          </a:xfrm>
        </p:grpSpPr>
        <p:sp>
          <p:nvSpPr>
            <p:cNvPr id="15" name="Google Shape;6422;p78"/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18" name="Google Shape;6423;p78"/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19" name="Google Shape;6424;p78"/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3" name="Google Shape;6425;p78"/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4" name="Google Shape;6426;p78"/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5" name="Google Shape;6427;p78"/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57" name="Google Shape;6428;p78"/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58" name="Google Shape;6429;p78"/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grpSp>
        <p:nvGrpSpPr>
          <p:cNvPr id="259" name="Google Shape;6520;p78"/>
          <p:cNvGrpSpPr/>
          <p:nvPr/>
        </p:nvGrpSpPr>
        <p:grpSpPr>
          <a:xfrm>
            <a:off x="8109313" y="4733527"/>
            <a:ext cx="368848" cy="419152"/>
            <a:chOff x="5736525" y="3963700"/>
            <a:chExt cx="259925" cy="295375"/>
          </a:xfrm>
        </p:grpSpPr>
        <p:sp>
          <p:nvSpPr>
            <p:cNvPr id="260" name="Google Shape;6521;p78"/>
            <p:cNvSpPr/>
            <p:nvPr/>
          </p:nvSpPr>
          <p:spPr>
            <a:xfrm>
              <a:off x="5736525" y="4153525"/>
              <a:ext cx="121300" cy="105550"/>
            </a:xfrm>
            <a:custGeom>
              <a:avLst/>
              <a:gdLst/>
              <a:ahLst/>
              <a:cxnLst/>
              <a:rect l="l" t="t" r="r" b="b"/>
              <a:pathLst>
                <a:path w="4852" h="4222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1" name="Google Shape;6522;p78"/>
            <p:cNvSpPr/>
            <p:nvPr/>
          </p:nvSpPr>
          <p:spPr>
            <a:xfrm>
              <a:off x="5833400" y="41684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2" name="Google Shape;6523;p78"/>
            <p:cNvSpPr/>
            <p:nvPr/>
          </p:nvSpPr>
          <p:spPr>
            <a:xfrm>
              <a:off x="5875925" y="4153525"/>
              <a:ext cx="120525" cy="105550"/>
            </a:xfrm>
            <a:custGeom>
              <a:avLst/>
              <a:gdLst/>
              <a:ahLst/>
              <a:cxnLst/>
              <a:rect l="l" t="t" r="r" b="b"/>
              <a:pathLst>
                <a:path w="4821" h="4222" extrusionOk="0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3" name="Google Shape;6524;p78"/>
            <p:cNvSpPr/>
            <p:nvPr/>
          </p:nvSpPr>
          <p:spPr>
            <a:xfrm>
              <a:off x="5754625" y="3963700"/>
              <a:ext cx="224500" cy="154400"/>
            </a:xfrm>
            <a:custGeom>
              <a:avLst/>
              <a:gdLst/>
              <a:ahLst/>
              <a:cxnLst/>
              <a:rect l="l" t="t" r="r" b="b"/>
              <a:pathLst>
                <a:path w="8980" h="6176" extrusionOk="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4" name="Google Shape;6525;p78"/>
            <p:cNvSpPr/>
            <p:nvPr/>
          </p:nvSpPr>
          <p:spPr>
            <a:xfrm>
              <a:off x="5806625" y="3998350"/>
              <a:ext cx="69325" cy="52025"/>
            </a:xfrm>
            <a:custGeom>
              <a:avLst/>
              <a:gdLst/>
              <a:ahLst/>
              <a:cxnLst/>
              <a:rect l="l" t="t" r="r" b="b"/>
              <a:pathLst>
                <a:path w="2773" h="2081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5" name="Google Shape;6526;p78"/>
            <p:cNvSpPr/>
            <p:nvPr/>
          </p:nvSpPr>
          <p:spPr>
            <a:xfrm>
              <a:off x="5893250" y="3999150"/>
              <a:ext cx="34675" cy="51225"/>
            </a:xfrm>
            <a:custGeom>
              <a:avLst/>
              <a:gdLst/>
              <a:ahLst/>
              <a:cxnLst/>
              <a:rect l="l" t="t" r="r" b="b"/>
              <a:pathLst>
                <a:path w="1387" h="2049" extrusionOk="0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6" name="Google Shape;6527;p78"/>
            <p:cNvSpPr/>
            <p:nvPr/>
          </p:nvSpPr>
          <p:spPr>
            <a:xfrm>
              <a:off x="5806625" y="4049550"/>
              <a:ext cx="121300" cy="104000"/>
            </a:xfrm>
            <a:custGeom>
              <a:avLst/>
              <a:gdLst/>
              <a:ahLst/>
              <a:cxnLst/>
              <a:rect l="l" t="t" r="r" b="b"/>
              <a:pathLst>
                <a:path w="4852" h="4160" extrusionOk="0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grpSp>
        <p:nvGrpSpPr>
          <p:cNvPr id="267" name="Google Shape;6221;p78"/>
          <p:cNvGrpSpPr/>
          <p:nvPr/>
        </p:nvGrpSpPr>
        <p:grpSpPr>
          <a:xfrm>
            <a:off x="8076108" y="5793239"/>
            <a:ext cx="435258" cy="430002"/>
            <a:chOff x="-59869425" y="4102225"/>
            <a:chExt cx="319025" cy="315175"/>
          </a:xfrm>
        </p:grpSpPr>
        <p:sp>
          <p:nvSpPr>
            <p:cNvPr id="268" name="Google Shape;6222;p78"/>
            <p:cNvSpPr/>
            <p:nvPr/>
          </p:nvSpPr>
          <p:spPr>
            <a:xfrm>
              <a:off x="-59869425" y="4102225"/>
              <a:ext cx="149675" cy="256825"/>
            </a:xfrm>
            <a:custGeom>
              <a:avLst/>
              <a:gdLst/>
              <a:ahLst/>
              <a:cxnLst/>
              <a:rect l="l" t="t" r="r" b="b"/>
              <a:pathLst>
                <a:path w="5987" h="10273" extrusionOk="0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9" name="Google Shape;6223;p78"/>
            <p:cNvSpPr/>
            <p:nvPr/>
          </p:nvSpPr>
          <p:spPr>
            <a:xfrm>
              <a:off x="-59811125" y="4322075"/>
              <a:ext cx="201650" cy="95325"/>
            </a:xfrm>
            <a:custGeom>
              <a:avLst/>
              <a:gdLst/>
              <a:ahLst/>
              <a:cxnLst/>
              <a:rect l="l" t="t" r="r" b="b"/>
              <a:pathLst>
                <a:path w="8066" h="3813" extrusionOk="0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0" name="Google Shape;6224;p78"/>
            <p:cNvSpPr/>
            <p:nvPr/>
          </p:nvSpPr>
          <p:spPr>
            <a:xfrm>
              <a:off x="-59700075" y="4102225"/>
              <a:ext cx="149675" cy="256525"/>
            </a:xfrm>
            <a:custGeom>
              <a:avLst/>
              <a:gdLst/>
              <a:ahLst/>
              <a:cxnLst/>
              <a:rect l="l" t="t" r="r" b="b"/>
              <a:pathLst>
                <a:path w="5987" h="10261" extrusionOk="0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1" name="Google Shape;6225;p78"/>
            <p:cNvSpPr/>
            <p:nvPr/>
          </p:nvSpPr>
          <p:spPr>
            <a:xfrm>
              <a:off x="-59742600" y="4187375"/>
              <a:ext cx="63025" cy="144950"/>
            </a:xfrm>
            <a:custGeom>
              <a:avLst/>
              <a:gdLst/>
              <a:ahLst/>
              <a:cxnLst/>
              <a:rect l="l" t="t" r="r" b="b"/>
              <a:pathLst>
                <a:path w="2521" h="5798" extrusionOk="0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grpSp>
        <p:nvGrpSpPr>
          <p:cNvPr id="272" name="Google Shape;6109;p78"/>
          <p:cNvGrpSpPr/>
          <p:nvPr/>
        </p:nvGrpSpPr>
        <p:grpSpPr>
          <a:xfrm>
            <a:off x="8085578" y="2645403"/>
            <a:ext cx="379628" cy="378426"/>
            <a:chOff x="-60987850" y="4100950"/>
            <a:chExt cx="316650" cy="315650"/>
          </a:xfrm>
        </p:grpSpPr>
        <p:sp>
          <p:nvSpPr>
            <p:cNvPr id="273" name="Google Shape;6110;p78"/>
            <p:cNvSpPr/>
            <p:nvPr/>
          </p:nvSpPr>
          <p:spPr>
            <a:xfrm>
              <a:off x="-60987850" y="4355925"/>
              <a:ext cx="315875" cy="60675"/>
            </a:xfrm>
            <a:custGeom>
              <a:avLst/>
              <a:gdLst/>
              <a:ahLst/>
              <a:cxnLst/>
              <a:rect l="l" t="t" r="r" b="b"/>
              <a:pathLst>
                <a:path w="12635" h="2427" extrusionOk="0">
                  <a:moveTo>
                    <a:pt x="1230" y="1"/>
                  </a:moveTo>
                  <a:cubicBezTo>
                    <a:pt x="537" y="1"/>
                    <a:pt x="1" y="536"/>
                    <a:pt x="1" y="1198"/>
                  </a:cubicBezTo>
                  <a:lnTo>
                    <a:pt x="1" y="2049"/>
                  </a:lnTo>
                  <a:cubicBezTo>
                    <a:pt x="1" y="2269"/>
                    <a:pt x="190" y="2427"/>
                    <a:pt x="379" y="2427"/>
                  </a:cubicBezTo>
                  <a:lnTo>
                    <a:pt x="12256" y="2427"/>
                  </a:lnTo>
                  <a:cubicBezTo>
                    <a:pt x="12477" y="2427"/>
                    <a:pt x="12634" y="2238"/>
                    <a:pt x="12634" y="2049"/>
                  </a:cubicBezTo>
                  <a:lnTo>
                    <a:pt x="12634" y="1198"/>
                  </a:lnTo>
                  <a:cubicBezTo>
                    <a:pt x="12634" y="536"/>
                    <a:pt x="12099" y="1"/>
                    <a:pt x="11406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4" name="Google Shape;6111;p78"/>
            <p:cNvSpPr/>
            <p:nvPr/>
          </p:nvSpPr>
          <p:spPr>
            <a:xfrm>
              <a:off x="-60987050" y="4100950"/>
              <a:ext cx="315850" cy="123475"/>
            </a:xfrm>
            <a:custGeom>
              <a:avLst/>
              <a:gdLst/>
              <a:ahLst/>
              <a:cxnLst/>
              <a:rect l="l" t="t" r="r" b="b"/>
              <a:pathLst>
                <a:path w="12634" h="4939" extrusionOk="0">
                  <a:moveTo>
                    <a:pt x="6270" y="2355"/>
                  </a:moveTo>
                  <a:cubicBezTo>
                    <a:pt x="6490" y="2355"/>
                    <a:pt x="6711" y="2544"/>
                    <a:pt x="6711" y="2796"/>
                  </a:cubicBezTo>
                  <a:cubicBezTo>
                    <a:pt x="6711" y="2985"/>
                    <a:pt x="6490" y="3174"/>
                    <a:pt x="6270" y="3174"/>
                  </a:cubicBezTo>
                  <a:cubicBezTo>
                    <a:pt x="6018" y="3174"/>
                    <a:pt x="5860" y="2985"/>
                    <a:pt x="5860" y="2796"/>
                  </a:cubicBezTo>
                  <a:cubicBezTo>
                    <a:pt x="5860" y="2544"/>
                    <a:pt x="6081" y="2355"/>
                    <a:pt x="6270" y="2355"/>
                  </a:cubicBezTo>
                  <a:close/>
                  <a:moveTo>
                    <a:pt x="6290" y="0"/>
                  </a:moveTo>
                  <a:cubicBezTo>
                    <a:pt x="6238" y="0"/>
                    <a:pt x="6191" y="8"/>
                    <a:pt x="6144" y="24"/>
                  </a:cubicBezTo>
                  <a:lnTo>
                    <a:pt x="252" y="2513"/>
                  </a:lnTo>
                  <a:cubicBezTo>
                    <a:pt x="95" y="2576"/>
                    <a:pt x="0" y="2702"/>
                    <a:pt x="0" y="2891"/>
                  </a:cubicBezTo>
                  <a:lnTo>
                    <a:pt x="0" y="4561"/>
                  </a:lnTo>
                  <a:cubicBezTo>
                    <a:pt x="0" y="4781"/>
                    <a:pt x="189" y="4939"/>
                    <a:pt x="410" y="4939"/>
                  </a:cubicBezTo>
                  <a:lnTo>
                    <a:pt x="12256" y="4939"/>
                  </a:lnTo>
                  <a:cubicBezTo>
                    <a:pt x="12476" y="4939"/>
                    <a:pt x="12634" y="4750"/>
                    <a:pt x="12634" y="4561"/>
                  </a:cubicBezTo>
                  <a:lnTo>
                    <a:pt x="12634" y="2891"/>
                  </a:lnTo>
                  <a:cubicBezTo>
                    <a:pt x="12602" y="2702"/>
                    <a:pt x="12539" y="2544"/>
                    <a:pt x="12382" y="2513"/>
                  </a:cubicBezTo>
                  <a:lnTo>
                    <a:pt x="6459" y="24"/>
                  </a:lnTo>
                  <a:cubicBezTo>
                    <a:pt x="6396" y="8"/>
                    <a:pt x="6341" y="0"/>
                    <a:pt x="6290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dirty="0">
                <a:cs typeface="Roboto" panose="02000000000000000000" charset="0"/>
              </a:endParaRPr>
            </a:p>
          </p:txBody>
        </p:sp>
        <p:sp>
          <p:nvSpPr>
            <p:cNvPr id="275" name="Google Shape;6112;p78"/>
            <p:cNvSpPr/>
            <p:nvPr/>
          </p:nvSpPr>
          <p:spPr>
            <a:xfrm>
              <a:off x="-60757075" y="4245675"/>
              <a:ext cx="61475" cy="89025"/>
            </a:xfrm>
            <a:custGeom>
              <a:avLst/>
              <a:gdLst/>
              <a:ahLst/>
              <a:cxnLst/>
              <a:rect l="l" t="t" r="r" b="b"/>
              <a:pathLst>
                <a:path w="2459" h="3561" extrusionOk="0">
                  <a:moveTo>
                    <a:pt x="1" y="0"/>
                  </a:moveTo>
                  <a:lnTo>
                    <a:pt x="1" y="3560"/>
                  </a:lnTo>
                  <a:lnTo>
                    <a:pt x="2458" y="3560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6" name="Google Shape;6113;p78"/>
            <p:cNvSpPr/>
            <p:nvPr/>
          </p:nvSpPr>
          <p:spPr>
            <a:xfrm>
              <a:off x="-60861025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7" name="Google Shape;6114;p78"/>
            <p:cNvSpPr/>
            <p:nvPr/>
          </p:nvSpPr>
          <p:spPr>
            <a:xfrm>
              <a:off x="-60964200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cxnSp>
        <p:nvCxnSpPr>
          <p:cNvPr id="279" name="直接连接符 278"/>
          <p:cNvCxnSpPr>
            <a:endCxn id="141" idx="1"/>
          </p:cNvCxnSpPr>
          <p:nvPr/>
        </p:nvCxnSpPr>
        <p:spPr>
          <a:xfrm>
            <a:off x="1495485" y="5041900"/>
            <a:ext cx="0" cy="554258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>
            <a:off x="4491904" y="4627372"/>
            <a:ext cx="0" cy="968786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>
          <a:xfrm>
            <a:off x="0" y="749300"/>
            <a:ext cx="12192000" cy="6146395"/>
          </a:xfrm>
          <a:custGeom>
            <a:avLst/>
            <a:gdLst>
              <a:gd name="connsiteX0" fmla="*/ 6900613 w 12192000"/>
              <a:gd name="connsiteY0" fmla="*/ 454997 h 6146395"/>
              <a:gd name="connsiteX1" fmla="*/ 8688183 w 12192000"/>
              <a:gd name="connsiteY1" fmla="*/ 1260088 h 6146395"/>
              <a:gd name="connsiteX2" fmla="*/ 7588169 w 12192000"/>
              <a:gd name="connsiteY2" fmla="*/ 1260088 h 6146395"/>
              <a:gd name="connsiteX3" fmla="*/ 12192000 w 12192000"/>
              <a:gd name="connsiteY3" fmla="*/ 4971988 h 6146395"/>
              <a:gd name="connsiteX4" fmla="*/ 12192000 w 12192000"/>
              <a:gd name="connsiteY4" fmla="*/ 6146395 h 6146395"/>
              <a:gd name="connsiteX5" fmla="*/ 7935874 w 12192000"/>
              <a:gd name="connsiteY5" fmla="*/ 6146395 h 6146395"/>
              <a:gd name="connsiteX6" fmla="*/ 5254939 w 12192000"/>
              <a:gd name="connsiteY6" fmla="*/ 454997 h 6146395"/>
              <a:gd name="connsiteX7" fmla="*/ 4219679 w 12192000"/>
              <a:gd name="connsiteY7" fmla="*/ 6146395 h 6146395"/>
              <a:gd name="connsiteX8" fmla="*/ 0 w 12192000"/>
              <a:gd name="connsiteY8" fmla="*/ 6146395 h 6146395"/>
              <a:gd name="connsiteX9" fmla="*/ 0 w 12192000"/>
              <a:gd name="connsiteY9" fmla="*/ 4942601 h 6146395"/>
              <a:gd name="connsiteX10" fmla="*/ 4567383 w 12192000"/>
              <a:gd name="connsiteY10" fmla="*/ 1260088 h 6146395"/>
              <a:gd name="connsiteX11" fmla="*/ 3467369 w 12192000"/>
              <a:gd name="connsiteY11" fmla="*/ 1260088 h 6146395"/>
              <a:gd name="connsiteX12" fmla="*/ 6075611 w 12192000"/>
              <a:gd name="connsiteY12" fmla="*/ 0 h 6146395"/>
              <a:gd name="connsiteX13" fmla="*/ 6827568 w 12192000"/>
              <a:gd name="connsiteY13" fmla="*/ 416899 h 6146395"/>
              <a:gd name="connsiteX14" fmla="*/ 7674195 w 12192000"/>
              <a:gd name="connsiteY14" fmla="*/ 6146395 h 6146395"/>
              <a:gd name="connsiteX15" fmla="*/ 4478542 w 12192000"/>
              <a:gd name="connsiteY15" fmla="*/ 6146395 h 6146395"/>
              <a:gd name="connsiteX16" fmla="*/ 5325300 w 12192000"/>
              <a:gd name="connsiteY16" fmla="*/ 415986 h 61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146395">
                <a:moveTo>
                  <a:pt x="6900613" y="454997"/>
                </a:moveTo>
                <a:lnTo>
                  <a:pt x="8688183" y="1260088"/>
                </a:lnTo>
                <a:lnTo>
                  <a:pt x="7588169" y="1260088"/>
                </a:lnTo>
                <a:lnTo>
                  <a:pt x="12192000" y="4971988"/>
                </a:lnTo>
                <a:lnTo>
                  <a:pt x="12192000" y="6146395"/>
                </a:lnTo>
                <a:lnTo>
                  <a:pt x="7935874" y="6146395"/>
                </a:lnTo>
                <a:close/>
                <a:moveTo>
                  <a:pt x="5254939" y="454997"/>
                </a:moveTo>
                <a:lnTo>
                  <a:pt x="4219679" y="6146395"/>
                </a:lnTo>
                <a:lnTo>
                  <a:pt x="0" y="6146395"/>
                </a:lnTo>
                <a:lnTo>
                  <a:pt x="0" y="4942601"/>
                </a:lnTo>
                <a:lnTo>
                  <a:pt x="4567383" y="1260088"/>
                </a:lnTo>
                <a:lnTo>
                  <a:pt x="3467369" y="1260088"/>
                </a:lnTo>
                <a:close/>
                <a:moveTo>
                  <a:pt x="6075611" y="0"/>
                </a:moveTo>
                <a:lnTo>
                  <a:pt x="6827568" y="416899"/>
                </a:lnTo>
                <a:lnTo>
                  <a:pt x="7674195" y="6146395"/>
                </a:lnTo>
                <a:lnTo>
                  <a:pt x="4478542" y="6146395"/>
                </a:lnTo>
                <a:lnTo>
                  <a:pt x="5325300" y="415986"/>
                </a:lnTo>
                <a:close/>
              </a:path>
            </a:pathLst>
          </a:custGeom>
          <a:solidFill>
            <a:schemeClr val="tx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6" name="椭圆 255"/>
          <p:cNvSpPr/>
          <p:nvPr/>
        </p:nvSpPr>
        <p:spPr>
          <a:xfrm>
            <a:off x="5204859" y="871599"/>
            <a:ext cx="1745660" cy="17456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椭圆 254"/>
          <p:cNvSpPr/>
          <p:nvPr/>
        </p:nvSpPr>
        <p:spPr>
          <a:xfrm>
            <a:off x="5455209" y="1121949"/>
            <a:ext cx="1244959" cy="12449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4" name="椭圆 253"/>
          <p:cNvSpPr/>
          <p:nvPr/>
        </p:nvSpPr>
        <p:spPr>
          <a:xfrm>
            <a:off x="5700935" y="1367675"/>
            <a:ext cx="753508" cy="753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3" name="椭圆 252"/>
          <p:cNvSpPr/>
          <p:nvPr/>
        </p:nvSpPr>
        <p:spPr>
          <a:xfrm>
            <a:off x="5905335" y="1572075"/>
            <a:ext cx="344708" cy="3447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6212" y="200526"/>
            <a:ext cx="5388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过程中遇到的主要障碍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4865912" y="1744909"/>
            <a:ext cx="2421715" cy="4912563"/>
          </a:xfrm>
          <a:custGeom>
            <a:avLst/>
            <a:gdLst>
              <a:gd name="connsiteX0" fmla="*/ 1210317 w 2421715"/>
              <a:gd name="connsiteY0" fmla="*/ 0 h 5312209"/>
              <a:gd name="connsiteX1" fmla="*/ 1747362 w 2421715"/>
              <a:gd name="connsiteY1" fmla="*/ 325359 h 5312209"/>
              <a:gd name="connsiteX2" fmla="*/ 2421715 w 2421715"/>
              <a:gd name="connsiteY2" fmla="*/ 5312209 h 5312209"/>
              <a:gd name="connsiteX3" fmla="*/ 0 w 2421715"/>
              <a:gd name="connsiteY3" fmla="*/ 5312209 h 5312209"/>
              <a:gd name="connsiteX4" fmla="*/ 674448 w 2421715"/>
              <a:gd name="connsiteY4" fmla="*/ 324647 h 5312209"/>
              <a:gd name="connsiteX5" fmla="*/ 1210317 w 2421715"/>
              <a:gd name="connsiteY5" fmla="*/ 0 h 5312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715" h="5312209">
                <a:moveTo>
                  <a:pt x="1210317" y="0"/>
                </a:moveTo>
                <a:lnTo>
                  <a:pt x="1747362" y="325359"/>
                </a:lnTo>
                <a:lnTo>
                  <a:pt x="2421715" y="5312209"/>
                </a:lnTo>
                <a:lnTo>
                  <a:pt x="0" y="5312209"/>
                </a:lnTo>
                <a:lnTo>
                  <a:pt x="674448" y="324647"/>
                </a:lnTo>
                <a:lnTo>
                  <a:pt x="121031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6074828" y="1781175"/>
            <a:ext cx="114814" cy="4875785"/>
            <a:chOff x="6081179" y="1027830"/>
            <a:chExt cx="0" cy="5411070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6081179" y="633650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6081179" y="619680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081179" y="605710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6081179" y="591740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6081179" y="577769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6081179" y="563799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6081179" y="549829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6081179" y="535859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6081179" y="521889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6081179" y="507918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6081179" y="493948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6081179" y="479978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6081179" y="466008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6081179" y="452038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6081179" y="438067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6081179" y="424097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6081179" y="410127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6081179" y="396157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6081179" y="382187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6081179" y="368216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6081179" y="354246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6081179" y="340276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6081179" y="326306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6081179" y="312336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6081179" y="298365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6081179" y="284395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6081179" y="270425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6081179" y="256455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6081179" y="242485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6081179" y="228514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6081179" y="214544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>
              <a:off x="6081179" y="200574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6081179" y="186604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>
              <a:off x="6081179" y="172634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>
              <a:off x="6081179" y="158663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>
              <a:off x="6081179" y="144693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6081179" y="130723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>
              <a:off x="6081179" y="116753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>
              <a:off x="6081179" y="102783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/>
          <p:cNvSpPr/>
          <p:nvPr/>
        </p:nvSpPr>
        <p:spPr>
          <a:xfrm>
            <a:off x="85726" y="2073287"/>
            <a:ext cx="5404382" cy="4584186"/>
          </a:xfrm>
          <a:custGeom>
            <a:avLst/>
            <a:gdLst>
              <a:gd name="connsiteX0" fmla="*/ 4390268 w 4390268"/>
              <a:gd name="connsiteY0" fmla="*/ 0 h 4957118"/>
              <a:gd name="connsiteX1" fmla="*/ 3719936 w 4390268"/>
              <a:gd name="connsiteY1" fmla="*/ 4957118 h 4957118"/>
              <a:gd name="connsiteX2" fmla="*/ 0 w 4390268"/>
              <a:gd name="connsiteY2" fmla="*/ 4957118 h 4957118"/>
              <a:gd name="connsiteX3" fmla="*/ 3991362 w 4390268"/>
              <a:gd name="connsiteY3" fmla="*/ 628315 h 4957118"/>
              <a:gd name="connsiteX4" fmla="*/ 3353156 w 4390268"/>
              <a:gd name="connsiteY4" fmla="*/ 628315 h 4957118"/>
              <a:gd name="connsiteX5" fmla="*/ 4390268 w 4390268"/>
              <a:gd name="connsiteY5" fmla="*/ 0 h 495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0268" h="4957118">
                <a:moveTo>
                  <a:pt x="4390268" y="0"/>
                </a:moveTo>
                <a:lnTo>
                  <a:pt x="3719936" y="4957118"/>
                </a:lnTo>
                <a:lnTo>
                  <a:pt x="0" y="4957118"/>
                </a:lnTo>
                <a:lnTo>
                  <a:pt x="3991362" y="628315"/>
                </a:lnTo>
                <a:lnTo>
                  <a:pt x="3353156" y="628315"/>
                </a:lnTo>
                <a:lnTo>
                  <a:pt x="439026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矩形: 圆角 193"/>
          <p:cNvSpPr/>
          <p:nvPr/>
        </p:nvSpPr>
        <p:spPr>
          <a:xfrm>
            <a:off x="2645517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市场竞争加剧</a:t>
            </a:r>
          </a:p>
        </p:txBody>
      </p:sp>
      <p:sp>
        <p:nvSpPr>
          <p:cNvPr id="200" name="矩形: 圆角 199"/>
          <p:cNvSpPr/>
          <p:nvPr/>
        </p:nvSpPr>
        <p:spPr>
          <a:xfrm>
            <a:off x="3765791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客户需求突变</a:t>
            </a:r>
          </a:p>
        </p:txBody>
      </p:sp>
      <p:sp>
        <p:nvSpPr>
          <p:cNvPr id="201" name="矩形: 圆角 200"/>
          <p:cNvSpPr/>
          <p:nvPr/>
        </p:nvSpPr>
        <p:spPr>
          <a:xfrm>
            <a:off x="2440451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技术瓶颈制约</a:t>
            </a:r>
          </a:p>
        </p:txBody>
      </p:sp>
      <p:sp>
        <p:nvSpPr>
          <p:cNvPr id="202" name="矩形: 圆角 201"/>
          <p:cNvSpPr/>
          <p:nvPr/>
        </p:nvSpPr>
        <p:spPr>
          <a:xfrm>
            <a:off x="3560725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外部依赖受阻</a:t>
            </a:r>
          </a:p>
        </p:txBody>
      </p:sp>
      <p:sp>
        <p:nvSpPr>
          <p:cNvPr id="203" name="矩形: 圆角 202"/>
          <p:cNvSpPr/>
          <p:nvPr/>
        </p:nvSpPr>
        <p:spPr>
          <a:xfrm>
            <a:off x="2248045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法规政策变更</a:t>
            </a:r>
          </a:p>
        </p:txBody>
      </p:sp>
      <p:sp>
        <p:nvSpPr>
          <p:cNvPr id="204" name="矩形: 圆角 203"/>
          <p:cNvSpPr/>
          <p:nvPr/>
        </p:nvSpPr>
        <p:spPr>
          <a:xfrm>
            <a:off x="3368319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人才流失严重</a:t>
            </a:r>
          </a:p>
        </p:txBody>
      </p:sp>
      <p:sp>
        <p:nvSpPr>
          <p:cNvPr id="205" name="矩形: 圆角 204"/>
          <p:cNvSpPr/>
          <p:nvPr/>
        </p:nvSpPr>
        <p:spPr>
          <a:xfrm>
            <a:off x="2009127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培训效果欠佳</a:t>
            </a:r>
          </a:p>
        </p:txBody>
      </p:sp>
      <p:sp>
        <p:nvSpPr>
          <p:cNvPr id="206" name="矩形: 圆角 205"/>
          <p:cNvSpPr/>
          <p:nvPr/>
        </p:nvSpPr>
        <p:spPr>
          <a:xfrm>
            <a:off x="3129401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团队协作低效</a:t>
            </a:r>
          </a:p>
        </p:txBody>
      </p:sp>
      <p:sp>
        <p:nvSpPr>
          <p:cNvPr id="208" name="矩形: 圆角 207"/>
          <p:cNvSpPr/>
          <p:nvPr/>
        </p:nvSpPr>
        <p:spPr>
          <a:xfrm>
            <a:off x="2826670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服务响应迟缓</a:t>
            </a:r>
          </a:p>
        </p:txBody>
      </p:sp>
      <p:sp>
        <p:nvSpPr>
          <p:cNvPr id="209" name="矩形: 圆角 208"/>
          <p:cNvSpPr/>
          <p:nvPr/>
        </p:nvSpPr>
        <p:spPr>
          <a:xfrm>
            <a:off x="3946944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服务理解偏差</a:t>
            </a:r>
          </a:p>
        </p:txBody>
      </p:sp>
      <p:sp>
        <p:nvSpPr>
          <p:cNvPr id="215" name="平行四边形 214"/>
          <p:cNvSpPr/>
          <p:nvPr/>
        </p:nvSpPr>
        <p:spPr>
          <a:xfrm>
            <a:off x="1942164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0" name="平行四边形 209"/>
          <p:cNvSpPr/>
          <p:nvPr/>
        </p:nvSpPr>
        <p:spPr>
          <a:xfrm>
            <a:off x="533834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4" name="平行四边形 213"/>
          <p:cNvSpPr/>
          <p:nvPr/>
        </p:nvSpPr>
        <p:spPr>
          <a:xfrm>
            <a:off x="1237999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6" name="平行四边形 215"/>
          <p:cNvSpPr/>
          <p:nvPr/>
        </p:nvSpPr>
        <p:spPr>
          <a:xfrm>
            <a:off x="2646329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7" name="平行四边形 216"/>
          <p:cNvSpPr/>
          <p:nvPr/>
        </p:nvSpPr>
        <p:spPr>
          <a:xfrm>
            <a:off x="3350494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867929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成本增加</a:t>
            </a:r>
          </a:p>
        </p:txBody>
      </p:sp>
      <p:sp>
        <p:nvSpPr>
          <p:cNvPr id="238" name="文本框 237"/>
          <p:cNvSpPr txBox="1"/>
          <p:nvPr/>
        </p:nvSpPr>
        <p:spPr>
          <a:xfrm>
            <a:off x="589280" y="6223678"/>
            <a:ext cx="857250" cy="39878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pPr algn="ctr"/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20%</a:t>
            </a:r>
          </a:p>
        </p:txBody>
      </p:sp>
      <p:sp>
        <p:nvSpPr>
          <p:cNvPr id="241" name="文本框 240"/>
          <p:cNvSpPr txBox="1"/>
          <p:nvPr/>
        </p:nvSpPr>
        <p:spPr>
          <a:xfrm>
            <a:off x="1575888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进度延误</a:t>
            </a:r>
          </a:p>
        </p:txBody>
      </p:sp>
      <p:sp>
        <p:nvSpPr>
          <p:cNvPr id="242" name="文本框 241"/>
          <p:cNvSpPr txBox="1"/>
          <p:nvPr/>
        </p:nvSpPr>
        <p:spPr>
          <a:xfrm>
            <a:off x="1250782" y="6222348"/>
            <a:ext cx="973418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20</a:t>
            </a:r>
            <a:r>
              <a:rPr lang="zh-CN" altLang="en-US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天</a:t>
            </a:r>
          </a:p>
        </p:txBody>
      </p:sp>
      <p:sp>
        <p:nvSpPr>
          <p:cNvPr id="244" name="文本框 243"/>
          <p:cNvSpPr txBox="1"/>
          <p:nvPr/>
        </p:nvSpPr>
        <p:spPr>
          <a:xfrm>
            <a:off x="2283847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成员流失</a:t>
            </a:r>
          </a:p>
        </p:txBody>
      </p:sp>
      <p:sp>
        <p:nvSpPr>
          <p:cNvPr id="245" name="文本框 244"/>
          <p:cNvSpPr txBox="1"/>
          <p:nvPr/>
        </p:nvSpPr>
        <p:spPr>
          <a:xfrm>
            <a:off x="2071396" y="6222348"/>
            <a:ext cx="737172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15%</a:t>
            </a:r>
          </a:p>
        </p:txBody>
      </p:sp>
      <p:sp>
        <p:nvSpPr>
          <p:cNvPr id="247" name="文本框 246"/>
          <p:cNvSpPr txBox="1"/>
          <p:nvPr/>
        </p:nvSpPr>
        <p:spPr>
          <a:xfrm>
            <a:off x="2991806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投诉上升</a:t>
            </a:r>
          </a:p>
        </p:txBody>
      </p:sp>
      <p:sp>
        <p:nvSpPr>
          <p:cNvPr id="248" name="文本框 247"/>
          <p:cNvSpPr txBox="1"/>
          <p:nvPr/>
        </p:nvSpPr>
        <p:spPr>
          <a:xfrm>
            <a:off x="2743350" y="6222348"/>
            <a:ext cx="818732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30%</a:t>
            </a:r>
          </a:p>
        </p:txBody>
      </p:sp>
      <p:sp>
        <p:nvSpPr>
          <p:cNvPr id="250" name="文本框 249"/>
          <p:cNvSpPr txBox="1"/>
          <p:nvPr/>
        </p:nvSpPr>
        <p:spPr>
          <a:xfrm>
            <a:off x="3661153" y="6042739"/>
            <a:ext cx="840766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zh-CN" altLang="en-US" sz="1050" dirty="0">
                <a:ln>
                  <a:noFill/>
                </a:ln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cs typeface="Roboto" panose="02000000000000000000" charset="0"/>
              </a:rPr>
              <a:t>预算超支</a:t>
            </a:r>
          </a:p>
        </p:txBody>
      </p:sp>
      <p:sp>
        <p:nvSpPr>
          <p:cNvPr id="251" name="文本框 250"/>
          <p:cNvSpPr txBox="1"/>
          <p:nvPr/>
        </p:nvSpPr>
        <p:spPr>
          <a:xfrm>
            <a:off x="3412985" y="6222348"/>
            <a:ext cx="859382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n>
                  <a:noFill/>
                </a:ln>
                <a:solidFill>
                  <a:schemeClr val="bg1"/>
                </a:solidFill>
                <a:latin typeface="+mn-ea"/>
                <a:cs typeface="Roboto" panose="02000000000000000000" charset="0"/>
              </a:rPr>
              <a:t>18%</a:t>
            </a:r>
          </a:p>
        </p:txBody>
      </p:sp>
      <p:sp>
        <p:nvSpPr>
          <p:cNvPr id="264" name="任意多边形: 形状 263"/>
          <p:cNvSpPr/>
          <p:nvPr/>
        </p:nvSpPr>
        <p:spPr>
          <a:xfrm flipH="1">
            <a:off x="6665443" y="2073287"/>
            <a:ext cx="5404382" cy="4584186"/>
          </a:xfrm>
          <a:custGeom>
            <a:avLst/>
            <a:gdLst>
              <a:gd name="connsiteX0" fmla="*/ 4390268 w 4390268"/>
              <a:gd name="connsiteY0" fmla="*/ 0 h 4957118"/>
              <a:gd name="connsiteX1" fmla="*/ 3719936 w 4390268"/>
              <a:gd name="connsiteY1" fmla="*/ 4957118 h 4957118"/>
              <a:gd name="connsiteX2" fmla="*/ 0 w 4390268"/>
              <a:gd name="connsiteY2" fmla="*/ 4957118 h 4957118"/>
              <a:gd name="connsiteX3" fmla="*/ 3991362 w 4390268"/>
              <a:gd name="connsiteY3" fmla="*/ 628315 h 4957118"/>
              <a:gd name="connsiteX4" fmla="*/ 3353156 w 4390268"/>
              <a:gd name="connsiteY4" fmla="*/ 628315 h 4957118"/>
              <a:gd name="connsiteX5" fmla="*/ 4390268 w 4390268"/>
              <a:gd name="connsiteY5" fmla="*/ 0 h 495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0268" h="4957118">
                <a:moveTo>
                  <a:pt x="4390268" y="0"/>
                </a:moveTo>
                <a:lnTo>
                  <a:pt x="3719936" y="4957118"/>
                </a:lnTo>
                <a:lnTo>
                  <a:pt x="0" y="4957118"/>
                </a:lnTo>
                <a:lnTo>
                  <a:pt x="3991362" y="628315"/>
                </a:lnTo>
                <a:lnTo>
                  <a:pt x="3353156" y="628315"/>
                </a:lnTo>
                <a:lnTo>
                  <a:pt x="439026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6" name="矩形: 圆角 265"/>
          <p:cNvSpPr/>
          <p:nvPr/>
        </p:nvSpPr>
        <p:spPr>
          <a:xfrm flipH="1">
            <a:off x="8451385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市场竞争加剧</a:t>
            </a:r>
          </a:p>
        </p:txBody>
      </p:sp>
      <p:sp>
        <p:nvSpPr>
          <p:cNvPr id="267" name="矩形: 圆角 266"/>
          <p:cNvSpPr/>
          <p:nvPr/>
        </p:nvSpPr>
        <p:spPr>
          <a:xfrm flipH="1">
            <a:off x="7331111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客户需求突变</a:t>
            </a:r>
          </a:p>
        </p:txBody>
      </p:sp>
      <p:sp>
        <p:nvSpPr>
          <p:cNvPr id="268" name="矩形: 圆角 267"/>
          <p:cNvSpPr/>
          <p:nvPr/>
        </p:nvSpPr>
        <p:spPr>
          <a:xfrm flipH="1">
            <a:off x="8656451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技术瓶颈制约</a:t>
            </a:r>
          </a:p>
        </p:txBody>
      </p:sp>
      <p:sp>
        <p:nvSpPr>
          <p:cNvPr id="269" name="矩形: 圆角 268"/>
          <p:cNvSpPr/>
          <p:nvPr/>
        </p:nvSpPr>
        <p:spPr>
          <a:xfrm flipH="1">
            <a:off x="7536177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外部依赖受阻</a:t>
            </a:r>
          </a:p>
        </p:txBody>
      </p:sp>
      <p:sp>
        <p:nvSpPr>
          <p:cNvPr id="270" name="矩形: 圆角 269"/>
          <p:cNvSpPr/>
          <p:nvPr/>
        </p:nvSpPr>
        <p:spPr>
          <a:xfrm flipH="1">
            <a:off x="8848857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法规政策变更</a:t>
            </a:r>
          </a:p>
        </p:txBody>
      </p:sp>
      <p:sp>
        <p:nvSpPr>
          <p:cNvPr id="271" name="矩形: 圆角 270"/>
          <p:cNvSpPr/>
          <p:nvPr/>
        </p:nvSpPr>
        <p:spPr>
          <a:xfrm flipH="1">
            <a:off x="7728583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人才流失严重</a:t>
            </a:r>
          </a:p>
        </p:txBody>
      </p:sp>
      <p:sp>
        <p:nvSpPr>
          <p:cNvPr id="272" name="矩形: 圆角 271"/>
          <p:cNvSpPr/>
          <p:nvPr/>
        </p:nvSpPr>
        <p:spPr>
          <a:xfrm flipH="1">
            <a:off x="9087775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培训效果欠佳</a:t>
            </a:r>
          </a:p>
        </p:txBody>
      </p:sp>
      <p:sp>
        <p:nvSpPr>
          <p:cNvPr id="273" name="矩形: 圆角 272"/>
          <p:cNvSpPr/>
          <p:nvPr/>
        </p:nvSpPr>
        <p:spPr>
          <a:xfrm flipH="1">
            <a:off x="7967501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团队协作低效</a:t>
            </a:r>
          </a:p>
        </p:txBody>
      </p:sp>
      <p:sp>
        <p:nvSpPr>
          <p:cNvPr id="274" name="矩形: 圆角 273"/>
          <p:cNvSpPr/>
          <p:nvPr/>
        </p:nvSpPr>
        <p:spPr>
          <a:xfrm flipH="1">
            <a:off x="8270232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服务响应迟缓</a:t>
            </a:r>
          </a:p>
        </p:txBody>
      </p:sp>
      <p:sp>
        <p:nvSpPr>
          <p:cNvPr id="275" name="矩形: 圆角 274"/>
          <p:cNvSpPr/>
          <p:nvPr/>
        </p:nvSpPr>
        <p:spPr>
          <a:xfrm flipH="1">
            <a:off x="7149958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服务理解偏差</a:t>
            </a:r>
          </a:p>
        </p:txBody>
      </p:sp>
      <p:sp>
        <p:nvSpPr>
          <p:cNvPr id="277" name="平行四边形 276"/>
          <p:cNvSpPr/>
          <p:nvPr/>
        </p:nvSpPr>
        <p:spPr>
          <a:xfrm flipH="1">
            <a:off x="8944507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8" name="平行四边形 277"/>
          <p:cNvSpPr/>
          <p:nvPr/>
        </p:nvSpPr>
        <p:spPr>
          <a:xfrm flipH="1">
            <a:off x="10352837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9" name="平行四边形 278"/>
          <p:cNvSpPr/>
          <p:nvPr/>
        </p:nvSpPr>
        <p:spPr>
          <a:xfrm flipH="1">
            <a:off x="9648672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0" name="平行四边形 279"/>
          <p:cNvSpPr/>
          <p:nvPr/>
        </p:nvSpPr>
        <p:spPr>
          <a:xfrm flipH="1">
            <a:off x="8240342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1" name="平行四边形 280"/>
          <p:cNvSpPr/>
          <p:nvPr/>
        </p:nvSpPr>
        <p:spPr>
          <a:xfrm flipH="1">
            <a:off x="7536177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2" name="文本框 281"/>
          <p:cNvSpPr txBox="1"/>
          <p:nvPr/>
        </p:nvSpPr>
        <p:spPr>
          <a:xfrm flipH="1">
            <a:off x="10497942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经济损失</a:t>
            </a:r>
          </a:p>
        </p:txBody>
      </p:sp>
      <p:sp>
        <p:nvSpPr>
          <p:cNvPr id="283" name="文本框 282"/>
          <p:cNvSpPr txBox="1"/>
          <p:nvPr/>
        </p:nvSpPr>
        <p:spPr>
          <a:xfrm flipH="1">
            <a:off x="10732135" y="6222365"/>
            <a:ext cx="841375" cy="39878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20%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4" name="文本框 283"/>
          <p:cNvSpPr txBox="1"/>
          <p:nvPr/>
        </p:nvSpPr>
        <p:spPr>
          <a:xfrm flipH="1">
            <a:off x="9789983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传达失真</a:t>
            </a:r>
          </a:p>
        </p:txBody>
      </p:sp>
      <p:sp>
        <p:nvSpPr>
          <p:cNvPr id="285" name="文本框 284"/>
          <p:cNvSpPr txBox="1"/>
          <p:nvPr/>
        </p:nvSpPr>
        <p:spPr>
          <a:xfrm flipH="1">
            <a:off x="9931351" y="6222348"/>
            <a:ext cx="973418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10%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6" name="文本框 285"/>
          <p:cNvSpPr txBox="1"/>
          <p:nvPr/>
        </p:nvSpPr>
        <p:spPr>
          <a:xfrm flipH="1">
            <a:off x="9082024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不合格率</a:t>
            </a:r>
          </a:p>
        </p:txBody>
      </p:sp>
      <p:sp>
        <p:nvSpPr>
          <p:cNvPr id="287" name="文本框 286"/>
          <p:cNvSpPr txBox="1"/>
          <p:nvPr/>
        </p:nvSpPr>
        <p:spPr>
          <a:xfrm flipH="1">
            <a:off x="9346983" y="6222348"/>
            <a:ext cx="737172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10%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8" name="文本框 287"/>
          <p:cNvSpPr txBox="1"/>
          <p:nvPr/>
        </p:nvSpPr>
        <p:spPr>
          <a:xfrm flipH="1">
            <a:off x="8374065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创新速度</a:t>
            </a:r>
          </a:p>
        </p:txBody>
      </p:sp>
      <p:sp>
        <p:nvSpPr>
          <p:cNvPr id="289" name="文本框 288"/>
          <p:cNvSpPr txBox="1"/>
          <p:nvPr/>
        </p:nvSpPr>
        <p:spPr>
          <a:xfrm flipH="1">
            <a:off x="8593469" y="6222348"/>
            <a:ext cx="818732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30%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90" name="文本框 289"/>
          <p:cNvSpPr txBox="1"/>
          <p:nvPr/>
        </p:nvSpPr>
        <p:spPr>
          <a:xfrm flipH="1">
            <a:off x="7653632" y="6042739"/>
            <a:ext cx="840766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zh-CN" altLang="en-US" sz="1050" dirty="0">
                <a:ln>
                  <a:noFill/>
                </a:ln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cs typeface="Roboto" panose="02000000000000000000" charset="0"/>
              </a:rPr>
              <a:t>错误营销</a:t>
            </a:r>
          </a:p>
        </p:txBody>
      </p:sp>
      <p:sp>
        <p:nvSpPr>
          <p:cNvPr id="291" name="文本框 290"/>
          <p:cNvSpPr txBox="1"/>
          <p:nvPr/>
        </p:nvSpPr>
        <p:spPr>
          <a:xfrm flipH="1">
            <a:off x="7883184" y="6222348"/>
            <a:ext cx="859382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18%</a:t>
            </a:r>
            <a:endParaRPr lang="zh-CN" altLang="en-US" sz="200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266336" y="1588840"/>
            <a:ext cx="11622706" cy="3101990"/>
            <a:chOff x="266336" y="1588840"/>
            <a:chExt cx="11622706" cy="3101990"/>
          </a:xfrm>
        </p:grpSpPr>
        <p:sp>
          <p:nvSpPr>
            <p:cNvPr id="170" name="任意多边形: 形状 169"/>
            <p:cNvSpPr/>
            <p:nvPr/>
          </p:nvSpPr>
          <p:spPr>
            <a:xfrm rot="16200000">
              <a:off x="4045962" y="2697510"/>
              <a:ext cx="1539626" cy="884650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7" name="任意多边形: 形状 166"/>
            <p:cNvSpPr/>
            <p:nvPr/>
          </p:nvSpPr>
          <p:spPr>
            <a:xfrm rot="16200000">
              <a:off x="3089622" y="2667319"/>
              <a:ext cx="1817969" cy="94502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4" name="任意多边形: 形状 163"/>
            <p:cNvSpPr/>
            <p:nvPr/>
          </p:nvSpPr>
          <p:spPr>
            <a:xfrm rot="16200000">
              <a:off x="2017463" y="2610511"/>
              <a:ext cx="2185849" cy="1058648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1" name="任意多边形: 形状 160"/>
            <p:cNvSpPr/>
            <p:nvPr/>
          </p:nvSpPr>
          <p:spPr>
            <a:xfrm rot="16200000">
              <a:off x="824500" y="2566226"/>
              <a:ext cx="2593145" cy="114721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 rot="16200000">
              <a:off x="-617592" y="2472768"/>
              <a:ext cx="3101990" cy="1334134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467128" y="2793492"/>
              <a:ext cx="12477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业绩</a:t>
              </a:r>
              <a:endParaRPr lang="en-US" altLang="zh-CN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增长</a:t>
              </a: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1647953" y="2793492"/>
              <a:ext cx="12477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项目</a:t>
              </a:r>
              <a:endParaRPr lang="en-US" altLang="zh-CN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推进</a:t>
              </a: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2613336" y="2793492"/>
              <a:ext cx="1247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团队</a:t>
              </a:r>
              <a:endParaRPr lang="en-US" altLang="zh-CN" sz="14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建设</a:t>
              </a: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3478076" y="2793492"/>
              <a:ext cx="12477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客户</a:t>
              </a:r>
              <a:endParaRPr lang="en-US" altLang="zh-CN" sz="12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服务</a:t>
              </a: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4299358" y="2793492"/>
              <a:ext cx="12477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成本</a:t>
              </a:r>
              <a:endParaRPr lang="en-US" altLang="zh-CN" sz="11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控制</a:t>
              </a:r>
            </a:p>
          </p:txBody>
        </p:sp>
        <p:sp>
          <p:nvSpPr>
            <p:cNvPr id="171" name="任意多边形: 形状 170"/>
            <p:cNvSpPr/>
            <p:nvPr/>
          </p:nvSpPr>
          <p:spPr>
            <a:xfrm rot="5400000" flipH="1">
              <a:off x="6569790" y="2697510"/>
              <a:ext cx="1539626" cy="884650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3" name="任意多边形: 形状 172"/>
            <p:cNvSpPr/>
            <p:nvPr/>
          </p:nvSpPr>
          <p:spPr>
            <a:xfrm rot="5400000" flipH="1">
              <a:off x="7247787" y="2667319"/>
              <a:ext cx="1817969" cy="94502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87" name="任意多边形: 形状 186"/>
            <p:cNvSpPr/>
            <p:nvPr/>
          </p:nvSpPr>
          <p:spPr>
            <a:xfrm rot="5400000" flipH="1">
              <a:off x="7952066" y="2610511"/>
              <a:ext cx="2185849" cy="1058648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89" name="任意多边形: 形状 188"/>
            <p:cNvSpPr/>
            <p:nvPr/>
          </p:nvSpPr>
          <p:spPr>
            <a:xfrm rot="5400000" flipH="1">
              <a:off x="8737733" y="2566226"/>
              <a:ext cx="2593145" cy="114721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90" name="任意多边形: 形状 189"/>
            <p:cNvSpPr/>
            <p:nvPr/>
          </p:nvSpPr>
          <p:spPr>
            <a:xfrm rot="5400000" flipH="1">
              <a:off x="9670980" y="2472768"/>
              <a:ext cx="3101990" cy="1334134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 flipH="1">
              <a:off x="10440475" y="2793492"/>
              <a:ext cx="12477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内部</a:t>
              </a:r>
              <a:endParaRPr lang="en-US" altLang="zh-CN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沟通</a:t>
              </a:r>
            </a:p>
          </p:txBody>
        </p:sp>
        <p:sp>
          <p:nvSpPr>
            <p:cNvPr id="148" name="文本框 147"/>
            <p:cNvSpPr txBox="1"/>
            <p:nvPr/>
          </p:nvSpPr>
          <p:spPr>
            <a:xfrm flipH="1">
              <a:off x="9259650" y="2793492"/>
              <a:ext cx="12477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内部</a:t>
              </a:r>
              <a:endParaRPr lang="en-US" altLang="zh-CN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沟通</a:t>
              </a:r>
            </a:p>
          </p:txBody>
        </p:sp>
        <p:sp>
          <p:nvSpPr>
            <p:cNvPr id="162" name="文本框 161"/>
            <p:cNvSpPr txBox="1"/>
            <p:nvPr/>
          </p:nvSpPr>
          <p:spPr>
            <a:xfrm flipH="1">
              <a:off x="8294267" y="2793492"/>
              <a:ext cx="1247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供应</a:t>
              </a:r>
              <a:endParaRPr lang="en-US" altLang="zh-CN" sz="14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管理</a:t>
              </a:r>
            </a:p>
          </p:txBody>
        </p:sp>
        <p:sp>
          <p:nvSpPr>
            <p:cNvPr id="165" name="文本框 164"/>
            <p:cNvSpPr txBox="1"/>
            <p:nvPr/>
          </p:nvSpPr>
          <p:spPr>
            <a:xfrm flipH="1">
              <a:off x="7429527" y="2793492"/>
              <a:ext cx="12477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产品</a:t>
              </a:r>
              <a:endParaRPr lang="en-US" altLang="zh-CN" sz="12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研发</a:t>
              </a:r>
            </a:p>
          </p:txBody>
        </p:sp>
        <p:sp>
          <p:nvSpPr>
            <p:cNvPr id="168" name="文本框 167"/>
            <p:cNvSpPr txBox="1"/>
            <p:nvPr/>
          </p:nvSpPr>
          <p:spPr>
            <a:xfrm flipH="1">
              <a:off x="6608245" y="2793492"/>
              <a:ext cx="12477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营销</a:t>
              </a:r>
              <a:endParaRPr lang="en-US" altLang="zh-CN" sz="11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策略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任意多边形: 形状 218"/>
          <p:cNvSpPr/>
          <p:nvPr/>
        </p:nvSpPr>
        <p:spPr>
          <a:xfrm>
            <a:off x="3984599" y="1694105"/>
            <a:ext cx="7831561" cy="761877"/>
          </a:xfrm>
          <a:custGeom>
            <a:avLst/>
            <a:gdLst>
              <a:gd name="connsiteX0" fmla="*/ 232186 w 7615583"/>
              <a:gd name="connsiteY0" fmla="*/ 0 h 761877"/>
              <a:gd name="connsiteX1" fmla="*/ 7615583 w 7615583"/>
              <a:gd name="connsiteY1" fmla="*/ 0 h 761877"/>
              <a:gd name="connsiteX2" fmla="*/ 7615583 w 7615583"/>
              <a:gd name="connsiteY2" fmla="*/ 761877 h 761877"/>
              <a:gd name="connsiteX3" fmla="*/ 0 w 7615583"/>
              <a:gd name="connsiteY3" fmla="*/ 761877 h 761877"/>
              <a:gd name="connsiteX4" fmla="*/ 232186 w 7615583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583" h="761877">
                <a:moveTo>
                  <a:pt x="232186" y="0"/>
                </a:moveTo>
                <a:lnTo>
                  <a:pt x="7615583" y="0"/>
                </a:lnTo>
                <a:lnTo>
                  <a:pt x="7615583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8" name="任意多边形: 形状 217"/>
          <p:cNvSpPr/>
          <p:nvPr/>
        </p:nvSpPr>
        <p:spPr>
          <a:xfrm>
            <a:off x="3718706" y="2566578"/>
            <a:ext cx="8104993" cy="761877"/>
          </a:xfrm>
          <a:custGeom>
            <a:avLst/>
            <a:gdLst>
              <a:gd name="connsiteX0" fmla="*/ 232186 w 7881474"/>
              <a:gd name="connsiteY0" fmla="*/ 0 h 761877"/>
              <a:gd name="connsiteX1" fmla="*/ 7881474 w 7881474"/>
              <a:gd name="connsiteY1" fmla="*/ 0 h 761877"/>
              <a:gd name="connsiteX2" fmla="*/ 7881474 w 7881474"/>
              <a:gd name="connsiteY2" fmla="*/ 761877 h 761877"/>
              <a:gd name="connsiteX3" fmla="*/ 0 w 7881474"/>
              <a:gd name="connsiteY3" fmla="*/ 761877 h 761877"/>
              <a:gd name="connsiteX4" fmla="*/ 232186 w 7881474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81474" h="761877">
                <a:moveTo>
                  <a:pt x="232186" y="0"/>
                </a:moveTo>
                <a:lnTo>
                  <a:pt x="7881474" y="0"/>
                </a:lnTo>
                <a:lnTo>
                  <a:pt x="7881474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7" name="任意多边形: 形状 216"/>
          <p:cNvSpPr/>
          <p:nvPr/>
        </p:nvSpPr>
        <p:spPr>
          <a:xfrm>
            <a:off x="3452817" y="3439051"/>
            <a:ext cx="8378424" cy="761877"/>
          </a:xfrm>
          <a:custGeom>
            <a:avLst/>
            <a:gdLst>
              <a:gd name="connsiteX0" fmla="*/ 232186 w 8147364"/>
              <a:gd name="connsiteY0" fmla="*/ 0 h 761877"/>
              <a:gd name="connsiteX1" fmla="*/ 8147364 w 8147364"/>
              <a:gd name="connsiteY1" fmla="*/ 0 h 761877"/>
              <a:gd name="connsiteX2" fmla="*/ 8147364 w 8147364"/>
              <a:gd name="connsiteY2" fmla="*/ 761877 h 761877"/>
              <a:gd name="connsiteX3" fmla="*/ 0 w 8147364"/>
              <a:gd name="connsiteY3" fmla="*/ 761877 h 761877"/>
              <a:gd name="connsiteX4" fmla="*/ 232186 w 8147364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47364" h="761877">
                <a:moveTo>
                  <a:pt x="232186" y="0"/>
                </a:moveTo>
                <a:lnTo>
                  <a:pt x="8147364" y="0"/>
                </a:lnTo>
                <a:lnTo>
                  <a:pt x="8147364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6" name="任意多边形: 形状 215"/>
          <p:cNvSpPr/>
          <p:nvPr/>
        </p:nvSpPr>
        <p:spPr>
          <a:xfrm>
            <a:off x="3186926" y="4311524"/>
            <a:ext cx="8651855" cy="761877"/>
          </a:xfrm>
          <a:custGeom>
            <a:avLst/>
            <a:gdLst>
              <a:gd name="connsiteX0" fmla="*/ 232186 w 8413255"/>
              <a:gd name="connsiteY0" fmla="*/ 0 h 761877"/>
              <a:gd name="connsiteX1" fmla="*/ 8413255 w 8413255"/>
              <a:gd name="connsiteY1" fmla="*/ 0 h 761877"/>
              <a:gd name="connsiteX2" fmla="*/ 8413255 w 8413255"/>
              <a:gd name="connsiteY2" fmla="*/ 761877 h 761877"/>
              <a:gd name="connsiteX3" fmla="*/ 0 w 8413255"/>
              <a:gd name="connsiteY3" fmla="*/ 761877 h 761877"/>
              <a:gd name="connsiteX4" fmla="*/ 232186 w 8413255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3255" h="761877">
                <a:moveTo>
                  <a:pt x="232186" y="0"/>
                </a:moveTo>
                <a:lnTo>
                  <a:pt x="8413255" y="0"/>
                </a:lnTo>
                <a:lnTo>
                  <a:pt x="8413255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5" name="任意多边形: 形状 214"/>
          <p:cNvSpPr/>
          <p:nvPr/>
        </p:nvSpPr>
        <p:spPr>
          <a:xfrm>
            <a:off x="2921036" y="5183997"/>
            <a:ext cx="8925286" cy="761877"/>
          </a:xfrm>
          <a:custGeom>
            <a:avLst/>
            <a:gdLst>
              <a:gd name="connsiteX0" fmla="*/ 232186 w 8679145"/>
              <a:gd name="connsiteY0" fmla="*/ 0 h 761877"/>
              <a:gd name="connsiteX1" fmla="*/ 8679145 w 8679145"/>
              <a:gd name="connsiteY1" fmla="*/ 0 h 761877"/>
              <a:gd name="connsiteX2" fmla="*/ 8679145 w 8679145"/>
              <a:gd name="connsiteY2" fmla="*/ 761877 h 761877"/>
              <a:gd name="connsiteX3" fmla="*/ 0 w 8679145"/>
              <a:gd name="connsiteY3" fmla="*/ 761877 h 761877"/>
              <a:gd name="connsiteX4" fmla="*/ 232186 w 8679145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79145" h="761877">
                <a:moveTo>
                  <a:pt x="232186" y="0"/>
                </a:moveTo>
                <a:lnTo>
                  <a:pt x="8679145" y="0"/>
                </a:lnTo>
                <a:lnTo>
                  <a:pt x="8679145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漏斗模型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项目进度与任务筛选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1388203" y="4885211"/>
            <a:ext cx="2009114" cy="432260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8" name="任意多边形: 形状 167"/>
          <p:cNvSpPr/>
          <p:nvPr/>
        </p:nvSpPr>
        <p:spPr>
          <a:xfrm>
            <a:off x="1206593" y="4057321"/>
            <a:ext cx="2372334" cy="432260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5" name="任意多边形: 形状 164"/>
          <p:cNvSpPr/>
          <p:nvPr/>
        </p:nvSpPr>
        <p:spPr>
          <a:xfrm>
            <a:off x="966563" y="3229431"/>
            <a:ext cx="2852394" cy="432260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>
            <a:off x="700815" y="2305867"/>
            <a:ext cx="3383890" cy="468424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0" name="任意多边形: 形状 169"/>
          <p:cNvSpPr/>
          <p:nvPr/>
        </p:nvSpPr>
        <p:spPr>
          <a:xfrm>
            <a:off x="1388203" y="5101342"/>
            <a:ext cx="2009114" cy="927426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>
            <a:off x="1206593" y="4273452"/>
            <a:ext cx="2372334" cy="927426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>
            <a:off x="700815" y="2540080"/>
            <a:ext cx="3383890" cy="1005018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51002" y="5447006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初期概览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51002" y="4660563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漏斗筛选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51002" y="2962123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进度把控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051783" y="5302201"/>
            <a:ext cx="1449933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Roboto" panose="02000000000000000000" charset="0"/>
                <a:cs typeface="Roboto" panose="02000000000000000000" charset="0"/>
              </a:rPr>
              <a:t>团队积极展开头脑风暴，与各方相关者深入沟通，收集想法与待办事项。</a:t>
            </a:r>
            <a:endParaRPr lang="zh-CN" altLang="en-US" sz="800" dirty="0">
              <a:cs typeface="Roboto" panose="02000000000000000000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3688904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启动初期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5648451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初期分析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803826" y="5302201"/>
            <a:ext cx="1449933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Roboto" panose="02000000000000000000" charset="0"/>
                <a:cs typeface="Roboto" panose="02000000000000000000" charset="0"/>
              </a:rPr>
              <a:t>从项目框架搭建到细节功能雕琢，初步勾勒出项目的宏大蓝图。</a:t>
            </a:r>
            <a:endParaRPr lang="zh-CN" altLang="en-US" sz="800" dirty="0"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7440947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系统规划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829740" y="5302201"/>
            <a:ext cx="1449933" cy="525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Roboto" panose="02000000000000000000" charset="0"/>
                <a:cs typeface="Roboto" panose="02000000000000000000" charset="0"/>
              </a:rPr>
              <a:t>这些任务繁杂，若全部推进，资源与时间将难以承受，因此筛选工作迫在眉睫。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9466861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价值权衡</a:t>
            </a:r>
          </a:p>
        </p:txBody>
      </p:sp>
      <p:sp>
        <p:nvSpPr>
          <p:cNvPr id="30" name="矩形: 圆角 29"/>
          <p:cNvSpPr/>
          <p:nvPr/>
        </p:nvSpPr>
        <p:spPr>
          <a:xfrm>
            <a:off x="6134912" y="5274651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市场调研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6134912" y="5479453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用户反馈</a:t>
            </a:r>
          </a:p>
        </p:txBody>
      </p:sp>
      <p:sp>
        <p:nvSpPr>
          <p:cNvPr id="128" name="矩形: 圆角 127"/>
          <p:cNvSpPr/>
          <p:nvPr/>
        </p:nvSpPr>
        <p:spPr>
          <a:xfrm>
            <a:off x="6134912" y="5684255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行业趋势</a:t>
            </a:r>
          </a:p>
        </p:txBody>
      </p:sp>
      <p:sp>
        <p:nvSpPr>
          <p:cNvPr id="130" name="矩形: 圆角 129"/>
          <p:cNvSpPr/>
          <p:nvPr/>
        </p:nvSpPr>
        <p:spPr>
          <a:xfrm>
            <a:off x="3835639" y="4388667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技术评估</a:t>
            </a:r>
          </a:p>
        </p:txBody>
      </p:sp>
      <p:sp>
        <p:nvSpPr>
          <p:cNvPr id="136" name="矩形: 圆角 135"/>
          <p:cNvSpPr/>
          <p:nvPr/>
        </p:nvSpPr>
        <p:spPr>
          <a:xfrm>
            <a:off x="6423240" y="4388667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资源考量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9373720" y="4429729"/>
            <a:ext cx="237233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cs typeface="Roboto" panose="02000000000000000000" charset="0"/>
              </a:rPr>
              <a:t>经过技术与资源筛选后，对剩余任务进行价值评估。依据项目战略目标、客户核心需求以及市场竞争态势，衡量每项任务对项目整体价值的贡献。</a:t>
            </a:r>
          </a:p>
        </p:txBody>
      </p:sp>
      <p:sp>
        <p:nvSpPr>
          <p:cNvPr id="138" name="矩形: 圆角 137"/>
          <p:cNvSpPr/>
          <p:nvPr/>
        </p:nvSpPr>
        <p:spPr>
          <a:xfrm>
            <a:off x="9010841" y="4388667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价值权衡</a:t>
            </a:r>
          </a:p>
        </p:txBody>
      </p:sp>
      <p:sp>
        <p:nvSpPr>
          <p:cNvPr id="139" name="矩形: 圆角 138"/>
          <p:cNvSpPr/>
          <p:nvPr/>
        </p:nvSpPr>
        <p:spPr>
          <a:xfrm>
            <a:off x="4305526" y="4524013"/>
            <a:ext cx="1933349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组建技术团队对初始功能技术评估</a:t>
            </a:r>
          </a:p>
        </p:txBody>
      </p:sp>
      <p:sp>
        <p:nvSpPr>
          <p:cNvPr id="140" name="矩形: 圆角 139"/>
          <p:cNvSpPr/>
          <p:nvPr/>
        </p:nvSpPr>
        <p:spPr>
          <a:xfrm>
            <a:off x="4305526" y="4734173"/>
            <a:ext cx="1933349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分析相关数据判断任务实现可能性</a:t>
            </a:r>
          </a:p>
        </p:txBody>
      </p:sp>
      <p:sp>
        <p:nvSpPr>
          <p:cNvPr id="141" name="矩形: 圆角 140"/>
          <p:cNvSpPr/>
          <p:nvPr/>
        </p:nvSpPr>
        <p:spPr>
          <a:xfrm>
            <a:off x="6873353" y="4493990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人力资源</a:t>
            </a:r>
          </a:p>
        </p:txBody>
      </p:sp>
      <p:sp>
        <p:nvSpPr>
          <p:cNvPr id="142" name="矩形: 圆角 141"/>
          <p:cNvSpPr/>
          <p:nvPr/>
        </p:nvSpPr>
        <p:spPr>
          <a:xfrm>
            <a:off x="7888853" y="4493990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财力资源</a:t>
            </a:r>
          </a:p>
        </p:txBody>
      </p:sp>
      <p:sp>
        <p:nvSpPr>
          <p:cNvPr id="143" name="矩形: 圆角 142"/>
          <p:cNvSpPr/>
          <p:nvPr/>
        </p:nvSpPr>
        <p:spPr>
          <a:xfrm>
            <a:off x="6873353" y="4735765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物力资源</a:t>
            </a:r>
          </a:p>
        </p:txBody>
      </p:sp>
      <p:sp>
        <p:nvSpPr>
          <p:cNvPr id="144" name="矩形: 圆角 143"/>
          <p:cNvSpPr/>
          <p:nvPr/>
        </p:nvSpPr>
        <p:spPr>
          <a:xfrm>
            <a:off x="7888853" y="4735765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时间资源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5077411" y="350945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用户注册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5493343" y="3704377"/>
            <a:ext cx="1603090" cy="217474"/>
          </a:xfrm>
          <a:prstGeom prst="roundRect">
            <a:avLst>
              <a:gd name="adj" fmla="val 1084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确保用户身份验证真实有效</a:t>
            </a:r>
          </a:p>
        </p:txBody>
      </p:sp>
      <p:sp>
        <p:nvSpPr>
          <p:cNvPr id="129" name="矩形: 圆角 128"/>
          <p:cNvSpPr/>
          <p:nvPr/>
        </p:nvSpPr>
        <p:spPr>
          <a:xfrm>
            <a:off x="7315507" y="350945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订单处理</a:t>
            </a:r>
          </a:p>
        </p:txBody>
      </p:sp>
      <p:sp>
        <p:nvSpPr>
          <p:cNvPr id="131" name="矩形: 圆角 130"/>
          <p:cNvSpPr/>
          <p:nvPr/>
        </p:nvSpPr>
        <p:spPr>
          <a:xfrm>
            <a:off x="7723786" y="3704377"/>
            <a:ext cx="1603090" cy="217474"/>
          </a:xfrm>
          <a:prstGeom prst="roundRect">
            <a:avLst>
              <a:gd name="adj" fmla="val 1084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保障业务交易流程顺畅</a:t>
            </a:r>
          </a:p>
        </p:txBody>
      </p:sp>
      <p:sp>
        <p:nvSpPr>
          <p:cNvPr id="132" name="矩形: 圆角 131"/>
          <p:cNvSpPr/>
          <p:nvPr/>
        </p:nvSpPr>
        <p:spPr>
          <a:xfrm>
            <a:off x="9553603" y="350945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数据分析</a:t>
            </a:r>
          </a:p>
        </p:txBody>
      </p:sp>
      <p:sp>
        <p:nvSpPr>
          <p:cNvPr id="133" name="矩形: 圆角 132"/>
          <p:cNvSpPr/>
          <p:nvPr/>
        </p:nvSpPr>
        <p:spPr>
          <a:xfrm>
            <a:off x="9961882" y="3704377"/>
            <a:ext cx="1603090" cy="217474"/>
          </a:xfrm>
          <a:prstGeom prst="roundRect">
            <a:avLst>
              <a:gd name="adj" fmla="val 1084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为决策提供有力数据支持</a:t>
            </a:r>
          </a:p>
        </p:txBody>
      </p:sp>
      <p:sp>
        <p:nvSpPr>
          <p:cNvPr id="145" name="矩形: 圆角 144"/>
          <p:cNvSpPr/>
          <p:nvPr/>
        </p:nvSpPr>
        <p:spPr>
          <a:xfrm>
            <a:off x="4217579" y="2645654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核心功能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4558769" y="2672223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cs typeface="Roboto" panose="02000000000000000000" charset="0"/>
              </a:rPr>
              <a:t>用户注册登录模块已完成功能编码与初步测试，城工率达到 </a:t>
            </a:r>
            <a:r>
              <a:rPr lang="en-US" altLang="zh-CN" dirty="0">
                <a:cs typeface="Roboto" panose="02000000000000000000" charset="0"/>
              </a:rPr>
              <a:t>90%</a:t>
            </a:r>
            <a:r>
              <a:rPr lang="zh-CN" altLang="en-US" dirty="0">
                <a:cs typeface="Roboto" panose="02000000000000000000" charset="0"/>
              </a:rPr>
              <a:t>，正在进行稳妥性优化与兼容性测试；</a:t>
            </a:r>
          </a:p>
        </p:txBody>
      </p:sp>
      <p:sp>
        <p:nvSpPr>
          <p:cNvPr id="149" name="矩形: 圆角 148"/>
          <p:cNvSpPr/>
          <p:nvPr/>
        </p:nvSpPr>
        <p:spPr>
          <a:xfrm>
            <a:off x="6647154" y="2645654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订单处理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6988344" y="2672223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订单处理模块完成业务逻辑设计与开发，进入联调阶段，已处理模拟订单 </a:t>
            </a:r>
            <a:r>
              <a:rPr lang="en-US" altLang="zh-CN" dirty="0">
                <a:latin typeface="Roboto" panose="02000000000000000000" charset="0"/>
                <a:cs typeface="Roboto" panose="02000000000000000000" charset="0"/>
              </a:rPr>
              <a:t>42 </a:t>
            </a:r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笔，交易城工率为 </a:t>
            </a:r>
            <a:r>
              <a:rPr lang="en-US" altLang="zh-CN" dirty="0">
                <a:latin typeface="Roboto" panose="02000000000000000000" charset="0"/>
                <a:cs typeface="Roboto" panose="02000000000000000000" charset="0"/>
              </a:rPr>
              <a:t>95%</a:t>
            </a:r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；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1" name="矩形: 圆角 150"/>
          <p:cNvSpPr/>
          <p:nvPr/>
        </p:nvSpPr>
        <p:spPr>
          <a:xfrm>
            <a:off x="9076729" y="2645654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数据统计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9417919" y="2672223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数据统计分析模块完成数据采集接口开发，开始搭建数据分析模型，已实现基础数据统计功能。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3" name="矩形: 圆角 152"/>
          <p:cNvSpPr/>
          <p:nvPr/>
        </p:nvSpPr>
        <p:spPr>
          <a:xfrm>
            <a:off x="4558769" y="176852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模块深化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4892880" y="1809632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继续深化核心功能模块开发与优化，完成剩余功能模块的开发与测试工作，确保系统整体功能完整性与稳定性。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6" name="矩形: 圆角 165"/>
          <p:cNvSpPr/>
          <p:nvPr/>
        </p:nvSpPr>
        <p:spPr>
          <a:xfrm>
            <a:off x="7047482" y="176852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系统测试</a:t>
            </a:r>
          </a:p>
        </p:txBody>
      </p:sp>
      <p:sp>
        <p:nvSpPr>
          <p:cNvPr id="169" name="文本框 168"/>
          <p:cNvSpPr txBox="1"/>
          <p:nvPr/>
        </p:nvSpPr>
        <p:spPr>
          <a:xfrm>
            <a:off x="7381593" y="1809632"/>
            <a:ext cx="1945854" cy="525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加强质量控制，开展多方面系统测试，包括功能测试、性能测试、稳妥测试等，及时修复发现的问题与漏洞。</a:t>
            </a:r>
            <a:endParaRPr lang="en-US" altLang="zh-CN" dirty="0"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72" name="矩形: 圆角 171"/>
          <p:cNvSpPr/>
          <p:nvPr/>
        </p:nvSpPr>
        <p:spPr>
          <a:xfrm>
            <a:off x="9536195" y="176852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持续跟进</a:t>
            </a:r>
          </a:p>
        </p:txBody>
      </p:sp>
      <p:sp>
        <p:nvSpPr>
          <p:cNvPr id="173" name="文本框 172"/>
          <p:cNvSpPr txBox="1"/>
          <p:nvPr/>
        </p:nvSpPr>
        <p:spPr>
          <a:xfrm>
            <a:off x="9870306" y="1809632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持续跟进市场动态与客户反馈，如有必要，灵活调整任务优先级与项目计划，以更好地满足市场需求与项目目标。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4" name="椭圆 173"/>
          <p:cNvSpPr/>
          <p:nvPr/>
        </p:nvSpPr>
        <p:spPr>
          <a:xfrm>
            <a:off x="2140888" y="1634595"/>
            <a:ext cx="415487" cy="415487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8" name="任意多边形: 形状 147"/>
          <p:cNvSpPr/>
          <p:nvPr/>
        </p:nvSpPr>
        <p:spPr>
          <a:xfrm>
            <a:off x="368810" y="1452770"/>
            <a:ext cx="4047900" cy="441788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8" name="任意多边形: 形状 157"/>
          <p:cNvSpPr/>
          <p:nvPr/>
        </p:nvSpPr>
        <p:spPr>
          <a:xfrm>
            <a:off x="368810" y="1673665"/>
            <a:ext cx="4047900" cy="947869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51002" y="2057137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后续规划</a:t>
            </a:r>
          </a:p>
        </p:txBody>
      </p:sp>
      <p:sp>
        <p:nvSpPr>
          <p:cNvPr id="175" name="椭圆 174"/>
          <p:cNvSpPr/>
          <p:nvPr/>
        </p:nvSpPr>
        <p:spPr>
          <a:xfrm>
            <a:off x="2864789" y="916122"/>
            <a:ext cx="322138" cy="322138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椭圆 175"/>
          <p:cNvSpPr/>
          <p:nvPr/>
        </p:nvSpPr>
        <p:spPr>
          <a:xfrm>
            <a:off x="3294966" y="1390610"/>
            <a:ext cx="383153" cy="383153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206593" y="1135532"/>
            <a:ext cx="476602" cy="476602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8" name="Google Shape;1462;p70"/>
          <p:cNvGrpSpPr/>
          <p:nvPr/>
        </p:nvGrpSpPr>
        <p:grpSpPr>
          <a:xfrm>
            <a:off x="4217579" y="3559936"/>
            <a:ext cx="132416" cy="214396"/>
            <a:chOff x="5059700" y="2334775"/>
            <a:chExt cx="40775" cy="66025"/>
          </a:xfrm>
          <a:solidFill>
            <a:schemeClr val="accent1"/>
          </a:solidFill>
        </p:grpSpPr>
        <p:sp>
          <p:nvSpPr>
            <p:cNvPr id="9" name="Google Shape;1463;p70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" name="Google Shape;1464;p70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" name="Google Shape;1465;p70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4" name="Google Shape;1466;p70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5" name="Google Shape;1467;p70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6" name="Google Shape;1468;p70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4" name="Google Shape;1469;p70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5" name="Google Shape;1470;p70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7" name="Google Shape;1471;p70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59" name="Google Shape;1462;p70"/>
          <p:cNvGrpSpPr/>
          <p:nvPr/>
        </p:nvGrpSpPr>
        <p:grpSpPr>
          <a:xfrm>
            <a:off x="4217579" y="3863083"/>
            <a:ext cx="132416" cy="214396"/>
            <a:chOff x="5059700" y="2334775"/>
            <a:chExt cx="40775" cy="66025"/>
          </a:xfrm>
          <a:solidFill>
            <a:schemeClr val="accent1"/>
          </a:solidFill>
        </p:grpSpPr>
        <p:sp>
          <p:nvSpPr>
            <p:cNvPr id="160" name="Google Shape;1463;p70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3" name="Google Shape;1464;p70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77" name="Google Shape;1465;p70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78" name="Google Shape;1466;p70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79" name="Google Shape;1467;p70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0" name="Google Shape;1468;p70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1" name="Google Shape;1469;p70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2" name="Google Shape;1470;p70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3" name="Google Shape;1471;p70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84" name="Google Shape;1462;p70"/>
          <p:cNvGrpSpPr/>
          <p:nvPr/>
        </p:nvGrpSpPr>
        <p:grpSpPr>
          <a:xfrm>
            <a:off x="4374753" y="3698132"/>
            <a:ext cx="132416" cy="214396"/>
            <a:chOff x="5059700" y="2334775"/>
            <a:chExt cx="40775" cy="66025"/>
          </a:xfrm>
          <a:solidFill>
            <a:schemeClr val="accent1"/>
          </a:solidFill>
        </p:grpSpPr>
        <p:sp>
          <p:nvSpPr>
            <p:cNvPr id="185" name="Google Shape;1463;p70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6" name="Google Shape;1464;p70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7" name="Google Shape;1465;p70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8" name="Google Shape;1466;p70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9" name="Google Shape;1467;p70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0" name="Google Shape;1468;p70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1" name="Google Shape;1469;p70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2" name="Google Shape;1470;p70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3" name="Google Shape;1471;p70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231" name="矩形 230"/>
          <p:cNvSpPr/>
          <p:nvPr/>
        </p:nvSpPr>
        <p:spPr>
          <a:xfrm>
            <a:off x="3209319" y="3662985"/>
            <a:ext cx="1008259" cy="311442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矩形 193"/>
          <p:cNvSpPr/>
          <p:nvPr/>
        </p:nvSpPr>
        <p:spPr>
          <a:xfrm>
            <a:off x="3014001" y="3716473"/>
            <a:ext cx="1124611" cy="204466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任意多边形: 形状 163"/>
          <p:cNvSpPr/>
          <p:nvPr/>
        </p:nvSpPr>
        <p:spPr>
          <a:xfrm>
            <a:off x="966563" y="3445562"/>
            <a:ext cx="2852394" cy="927426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51002" y="3808390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关键任务</a:t>
            </a:r>
          </a:p>
        </p:txBody>
      </p:sp>
      <p:grpSp>
        <p:nvGrpSpPr>
          <p:cNvPr id="230" name="组合 229"/>
          <p:cNvGrpSpPr/>
          <p:nvPr/>
        </p:nvGrpSpPr>
        <p:grpSpPr>
          <a:xfrm>
            <a:off x="4497976" y="3428299"/>
            <a:ext cx="436904" cy="780818"/>
            <a:chOff x="4571633" y="3559936"/>
            <a:chExt cx="289590" cy="517543"/>
          </a:xfrm>
        </p:grpSpPr>
        <p:grpSp>
          <p:nvGrpSpPr>
            <p:cNvPr id="195" name="Google Shape;1462;p70"/>
            <p:cNvGrpSpPr/>
            <p:nvPr/>
          </p:nvGrpSpPr>
          <p:grpSpPr>
            <a:xfrm>
              <a:off x="4571633" y="3559936"/>
              <a:ext cx="132416" cy="214396"/>
              <a:chOff x="5059700" y="2334775"/>
              <a:chExt cx="40775" cy="66025"/>
            </a:xfrm>
            <a:solidFill>
              <a:schemeClr val="accent1"/>
            </a:solidFill>
          </p:grpSpPr>
          <p:sp>
            <p:nvSpPr>
              <p:cNvPr id="196" name="Google Shape;1463;p70"/>
              <p:cNvSpPr/>
              <p:nvPr/>
            </p:nvSpPr>
            <p:spPr>
              <a:xfrm>
                <a:off x="5059700" y="2334775"/>
                <a:ext cx="12475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1" extrusionOk="0">
                    <a:moveTo>
                      <a:pt x="282" y="0"/>
                    </a:moveTo>
                    <a:cubicBezTo>
                      <a:pt x="94" y="0"/>
                      <a:pt x="1" y="224"/>
                      <a:pt x="138" y="361"/>
                    </a:cubicBezTo>
                    <a:cubicBezTo>
                      <a:pt x="179" y="402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09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7" name="Google Shape;1464;p70"/>
              <p:cNvSpPr/>
              <p:nvPr/>
            </p:nvSpPr>
            <p:spPr>
              <a:xfrm>
                <a:off x="5059700" y="2348650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10"/>
                    </a:cubicBezTo>
                    <a:cubicBezTo>
                      <a:pt x="498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8" name="Google Shape;1465;p70"/>
              <p:cNvSpPr/>
              <p:nvPr/>
            </p:nvSpPr>
            <p:spPr>
              <a:xfrm>
                <a:off x="50597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2"/>
                      <a:pt x="281" y="422"/>
                    </a:cubicBezTo>
                    <a:cubicBezTo>
                      <a:pt x="388" y="422"/>
                      <a:pt x="491" y="338"/>
                      <a:pt x="491" y="210"/>
                    </a:cubicBezTo>
                    <a:cubicBezTo>
                      <a:pt x="498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9" name="Google Shape;1466;p70"/>
              <p:cNvSpPr/>
              <p:nvPr/>
            </p:nvSpPr>
            <p:spPr>
              <a:xfrm>
                <a:off x="5059700" y="2376400"/>
                <a:ext cx="1247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0" extrusionOk="0">
                    <a:moveTo>
                      <a:pt x="294" y="1"/>
                    </a:moveTo>
                    <a:cubicBezTo>
                      <a:pt x="290" y="1"/>
                      <a:pt x="286" y="1"/>
                      <a:pt x="282" y="1"/>
                    </a:cubicBezTo>
                    <a:cubicBezTo>
                      <a:pt x="94" y="1"/>
                      <a:pt x="1" y="225"/>
                      <a:pt x="138" y="355"/>
                    </a:cubicBezTo>
                    <a:cubicBezTo>
                      <a:pt x="180" y="400"/>
                      <a:pt x="233" y="420"/>
                      <a:pt x="285" y="420"/>
                    </a:cubicBezTo>
                    <a:cubicBezTo>
                      <a:pt x="390" y="420"/>
                      <a:pt x="491" y="336"/>
                      <a:pt x="491" y="210"/>
                    </a:cubicBezTo>
                    <a:cubicBezTo>
                      <a:pt x="498" y="99"/>
                      <a:pt x="404" y="1"/>
                      <a:pt x="2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0" name="Google Shape;1467;p70"/>
              <p:cNvSpPr/>
              <p:nvPr/>
            </p:nvSpPr>
            <p:spPr>
              <a:xfrm>
                <a:off x="5059700" y="2390125"/>
                <a:ext cx="12475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7" extrusionOk="0">
                    <a:moveTo>
                      <a:pt x="282" y="0"/>
                    </a:moveTo>
                    <a:cubicBezTo>
                      <a:pt x="94" y="0"/>
                      <a:pt x="1" y="231"/>
                      <a:pt x="138" y="361"/>
                    </a:cubicBezTo>
                    <a:cubicBezTo>
                      <a:pt x="180" y="406"/>
                      <a:pt x="233" y="426"/>
                      <a:pt x="285" y="426"/>
                    </a:cubicBezTo>
                    <a:cubicBezTo>
                      <a:pt x="390" y="426"/>
                      <a:pt x="491" y="343"/>
                      <a:pt x="491" y="217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1" name="Google Shape;1468;p70"/>
              <p:cNvSpPr/>
              <p:nvPr/>
            </p:nvSpPr>
            <p:spPr>
              <a:xfrm>
                <a:off x="5073950" y="2348650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1"/>
                      <a:pt x="278" y="421"/>
                    </a:cubicBezTo>
                    <a:cubicBezTo>
                      <a:pt x="387" y="421"/>
                      <a:pt x="491" y="337"/>
                      <a:pt x="491" y="210"/>
                    </a:cubicBezTo>
                    <a:cubicBezTo>
                      <a:pt x="491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2" name="Google Shape;1469;p70"/>
              <p:cNvSpPr/>
              <p:nvPr/>
            </p:nvSpPr>
            <p:spPr>
              <a:xfrm>
                <a:off x="5073950" y="2362525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2"/>
                      <a:pt x="278" y="422"/>
                    </a:cubicBezTo>
                    <a:cubicBezTo>
                      <a:pt x="387" y="422"/>
                      <a:pt x="491" y="338"/>
                      <a:pt x="491" y="210"/>
                    </a:cubicBezTo>
                    <a:cubicBezTo>
                      <a:pt x="491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3" name="Google Shape;1470;p70"/>
              <p:cNvSpPr/>
              <p:nvPr/>
            </p:nvSpPr>
            <p:spPr>
              <a:xfrm>
                <a:off x="5074000" y="2376400"/>
                <a:ext cx="1222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20" extrusionOk="0">
                    <a:moveTo>
                      <a:pt x="291" y="1"/>
                    </a:moveTo>
                    <a:cubicBezTo>
                      <a:pt x="287" y="1"/>
                      <a:pt x="284" y="1"/>
                      <a:pt x="280" y="1"/>
                    </a:cubicBezTo>
                    <a:cubicBezTo>
                      <a:pt x="277" y="1"/>
                      <a:pt x="274" y="1"/>
                      <a:pt x="271" y="1"/>
                    </a:cubicBezTo>
                    <a:cubicBezTo>
                      <a:pt x="89" y="1"/>
                      <a:pt x="0" y="227"/>
                      <a:pt x="128" y="355"/>
                    </a:cubicBezTo>
                    <a:cubicBezTo>
                      <a:pt x="173" y="400"/>
                      <a:pt x="228" y="420"/>
                      <a:pt x="281" y="420"/>
                    </a:cubicBezTo>
                    <a:cubicBezTo>
                      <a:pt x="388" y="420"/>
                      <a:pt x="489" y="336"/>
                      <a:pt x="489" y="210"/>
                    </a:cubicBezTo>
                    <a:cubicBezTo>
                      <a:pt x="489" y="99"/>
                      <a:pt x="401" y="1"/>
                      <a:pt x="2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4" name="Google Shape;1471;p70"/>
              <p:cNvSpPr/>
              <p:nvPr/>
            </p:nvSpPr>
            <p:spPr>
              <a:xfrm>
                <a:off x="50880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9" y="1"/>
                    </a:moveTo>
                    <a:cubicBezTo>
                      <a:pt x="102" y="1"/>
                      <a:pt x="1" y="224"/>
                      <a:pt x="138" y="361"/>
                    </a:cubicBezTo>
                    <a:cubicBezTo>
                      <a:pt x="180" y="403"/>
                      <a:pt x="231" y="422"/>
                      <a:pt x="283" y="422"/>
                    </a:cubicBezTo>
                    <a:cubicBezTo>
                      <a:pt x="392" y="422"/>
                      <a:pt x="499" y="338"/>
                      <a:pt x="499" y="210"/>
                    </a:cubicBezTo>
                    <a:cubicBezTo>
                      <a:pt x="499" y="95"/>
                      <a:pt x="405" y="1"/>
                      <a:pt x="2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205" name="Google Shape;1462;p70"/>
            <p:cNvGrpSpPr/>
            <p:nvPr/>
          </p:nvGrpSpPr>
          <p:grpSpPr>
            <a:xfrm>
              <a:off x="4571633" y="3863083"/>
              <a:ext cx="132416" cy="214396"/>
              <a:chOff x="5059700" y="2334775"/>
              <a:chExt cx="40775" cy="66025"/>
            </a:xfrm>
            <a:solidFill>
              <a:schemeClr val="accent1"/>
            </a:solidFill>
          </p:grpSpPr>
          <p:sp>
            <p:nvSpPr>
              <p:cNvPr id="206" name="Google Shape;1463;p70"/>
              <p:cNvSpPr/>
              <p:nvPr/>
            </p:nvSpPr>
            <p:spPr>
              <a:xfrm>
                <a:off x="5059700" y="2334775"/>
                <a:ext cx="12475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1" extrusionOk="0">
                    <a:moveTo>
                      <a:pt x="282" y="0"/>
                    </a:moveTo>
                    <a:cubicBezTo>
                      <a:pt x="94" y="0"/>
                      <a:pt x="1" y="224"/>
                      <a:pt x="138" y="361"/>
                    </a:cubicBezTo>
                    <a:cubicBezTo>
                      <a:pt x="179" y="402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09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7" name="Google Shape;1464;p70"/>
              <p:cNvSpPr/>
              <p:nvPr/>
            </p:nvSpPr>
            <p:spPr>
              <a:xfrm>
                <a:off x="5059700" y="2348650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10"/>
                    </a:cubicBezTo>
                    <a:cubicBezTo>
                      <a:pt x="498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8" name="Google Shape;1465;p70"/>
              <p:cNvSpPr/>
              <p:nvPr/>
            </p:nvSpPr>
            <p:spPr>
              <a:xfrm>
                <a:off x="50597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2"/>
                      <a:pt x="281" y="422"/>
                    </a:cubicBezTo>
                    <a:cubicBezTo>
                      <a:pt x="388" y="422"/>
                      <a:pt x="491" y="338"/>
                      <a:pt x="491" y="210"/>
                    </a:cubicBezTo>
                    <a:cubicBezTo>
                      <a:pt x="498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9" name="Google Shape;1466;p70"/>
              <p:cNvSpPr/>
              <p:nvPr/>
            </p:nvSpPr>
            <p:spPr>
              <a:xfrm>
                <a:off x="5059700" y="2376400"/>
                <a:ext cx="1247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0" extrusionOk="0">
                    <a:moveTo>
                      <a:pt x="294" y="1"/>
                    </a:moveTo>
                    <a:cubicBezTo>
                      <a:pt x="290" y="1"/>
                      <a:pt x="286" y="1"/>
                      <a:pt x="282" y="1"/>
                    </a:cubicBezTo>
                    <a:cubicBezTo>
                      <a:pt x="94" y="1"/>
                      <a:pt x="1" y="225"/>
                      <a:pt x="138" y="355"/>
                    </a:cubicBezTo>
                    <a:cubicBezTo>
                      <a:pt x="180" y="400"/>
                      <a:pt x="233" y="420"/>
                      <a:pt x="285" y="420"/>
                    </a:cubicBezTo>
                    <a:cubicBezTo>
                      <a:pt x="390" y="420"/>
                      <a:pt x="491" y="336"/>
                      <a:pt x="491" y="210"/>
                    </a:cubicBezTo>
                    <a:cubicBezTo>
                      <a:pt x="498" y="99"/>
                      <a:pt x="404" y="1"/>
                      <a:pt x="2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0" name="Google Shape;1467;p70"/>
              <p:cNvSpPr/>
              <p:nvPr/>
            </p:nvSpPr>
            <p:spPr>
              <a:xfrm>
                <a:off x="5059700" y="2390125"/>
                <a:ext cx="12475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7" extrusionOk="0">
                    <a:moveTo>
                      <a:pt x="282" y="0"/>
                    </a:moveTo>
                    <a:cubicBezTo>
                      <a:pt x="94" y="0"/>
                      <a:pt x="1" y="231"/>
                      <a:pt x="138" y="361"/>
                    </a:cubicBezTo>
                    <a:cubicBezTo>
                      <a:pt x="180" y="406"/>
                      <a:pt x="233" y="426"/>
                      <a:pt x="285" y="426"/>
                    </a:cubicBezTo>
                    <a:cubicBezTo>
                      <a:pt x="390" y="426"/>
                      <a:pt x="491" y="343"/>
                      <a:pt x="491" y="217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1" name="Google Shape;1468;p70"/>
              <p:cNvSpPr/>
              <p:nvPr/>
            </p:nvSpPr>
            <p:spPr>
              <a:xfrm>
                <a:off x="5073950" y="2348650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1"/>
                      <a:pt x="278" y="421"/>
                    </a:cubicBezTo>
                    <a:cubicBezTo>
                      <a:pt x="387" y="421"/>
                      <a:pt x="491" y="337"/>
                      <a:pt x="491" y="210"/>
                    </a:cubicBezTo>
                    <a:cubicBezTo>
                      <a:pt x="491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2" name="Google Shape;1469;p70"/>
              <p:cNvSpPr/>
              <p:nvPr/>
            </p:nvSpPr>
            <p:spPr>
              <a:xfrm>
                <a:off x="5073950" y="2362525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2"/>
                      <a:pt x="278" y="422"/>
                    </a:cubicBezTo>
                    <a:cubicBezTo>
                      <a:pt x="387" y="422"/>
                      <a:pt x="491" y="338"/>
                      <a:pt x="491" y="210"/>
                    </a:cubicBezTo>
                    <a:cubicBezTo>
                      <a:pt x="491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3" name="Google Shape;1470;p70"/>
              <p:cNvSpPr/>
              <p:nvPr/>
            </p:nvSpPr>
            <p:spPr>
              <a:xfrm>
                <a:off x="5074000" y="2376400"/>
                <a:ext cx="1222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20" extrusionOk="0">
                    <a:moveTo>
                      <a:pt x="291" y="1"/>
                    </a:moveTo>
                    <a:cubicBezTo>
                      <a:pt x="287" y="1"/>
                      <a:pt x="284" y="1"/>
                      <a:pt x="280" y="1"/>
                    </a:cubicBezTo>
                    <a:cubicBezTo>
                      <a:pt x="277" y="1"/>
                      <a:pt x="274" y="1"/>
                      <a:pt x="271" y="1"/>
                    </a:cubicBezTo>
                    <a:cubicBezTo>
                      <a:pt x="89" y="1"/>
                      <a:pt x="0" y="227"/>
                      <a:pt x="128" y="355"/>
                    </a:cubicBezTo>
                    <a:cubicBezTo>
                      <a:pt x="173" y="400"/>
                      <a:pt x="228" y="420"/>
                      <a:pt x="281" y="420"/>
                    </a:cubicBezTo>
                    <a:cubicBezTo>
                      <a:pt x="388" y="420"/>
                      <a:pt x="489" y="336"/>
                      <a:pt x="489" y="210"/>
                    </a:cubicBezTo>
                    <a:cubicBezTo>
                      <a:pt x="489" y="99"/>
                      <a:pt x="401" y="1"/>
                      <a:pt x="2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4" name="Google Shape;1471;p70"/>
              <p:cNvSpPr/>
              <p:nvPr/>
            </p:nvSpPr>
            <p:spPr>
              <a:xfrm>
                <a:off x="50880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9" y="1"/>
                    </a:moveTo>
                    <a:cubicBezTo>
                      <a:pt x="102" y="1"/>
                      <a:pt x="1" y="224"/>
                      <a:pt x="138" y="361"/>
                    </a:cubicBezTo>
                    <a:cubicBezTo>
                      <a:pt x="180" y="403"/>
                      <a:pt x="231" y="422"/>
                      <a:pt x="283" y="422"/>
                    </a:cubicBezTo>
                    <a:cubicBezTo>
                      <a:pt x="392" y="422"/>
                      <a:pt x="499" y="338"/>
                      <a:pt x="499" y="210"/>
                    </a:cubicBezTo>
                    <a:cubicBezTo>
                      <a:pt x="499" y="95"/>
                      <a:pt x="405" y="1"/>
                      <a:pt x="2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220" name="Google Shape;1462;p70"/>
            <p:cNvGrpSpPr/>
            <p:nvPr/>
          </p:nvGrpSpPr>
          <p:grpSpPr>
            <a:xfrm>
              <a:off x="4728807" y="3698132"/>
              <a:ext cx="132416" cy="214396"/>
              <a:chOff x="5059700" y="2334775"/>
              <a:chExt cx="40775" cy="66025"/>
            </a:xfrm>
            <a:solidFill>
              <a:schemeClr val="accent1"/>
            </a:solidFill>
          </p:grpSpPr>
          <p:sp>
            <p:nvSpPr>
              <p:cNvPr id="221" name="Google Shape;1463;p70"/>
              <p:cNvSpPr/>
              <p:nvPr/>
            </p:nvSpPr>
            <p:spPr>
              <a:xfrm>
                <a:off x="5059700" y="2334775"/>
                <a:ext cx="12475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1" extrusionOk="0">
                    <a:moveTo>
                      <a:pt x="282" y="0"/>
                    </a:moveTo>
                    <a:cubicBezTo>
                      <a:pt x="94" y="0"/>
                      <a:pt x="1" y="224"/>
                      <a:pt x="138" y="361"/>
                    </a:cubicBezTo>
                    <a:cubicBezTo>
                      <a:pt x="179" y="402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09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2" name="Google Shape;1464;p70"/>
              <p:cNvSpPr/>
              <p:nvPr/>
            </p:nvSpPr>
            <p:spPr>
              <a:xfrm>
                <a:off x="5059700" y="2348650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10"/>
                    </a:cubicBezTo>
                    <a:cubicBezTo>
                      <a:pt x="498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3" name="Google Shape;1465;p70"/>
              <p:cNvSpPr/>
              <p:nvPr/>
            </p:nvSpPr>
            <p:spPr>
              <a:xfrm>
                <a:off x="50597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2"/>
                      <a:pt x="281" y="422"/>
                    </a:cubicBezTo>
                    <a:cubicBezTo>
                      <a:pt x="388" y="422"/>
                      <a:pt x="491" y="338"/>
                      <a:pt x="491" y="210"/>
                    </a:cubicBezTo>
                    <a:cubicBezTo>
                      <a:pt x="498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4" name="Google Shape;1466;p70"/>
              <p:cNvSpPr/>
              <p:nvPr/>
            </p:nvSpPr>
            <p:spPr>
              <a:xfrm>
                <a:off x="5059700" y="2376400"/>
                <a:ext cx="1247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0" extrusionOk="0">
                    <a:moveTo>
                      <a:pt x="294" y="1"/>
                    </a:moveTo>
                    <a:cubicBezTo>
                      <a:pt x="290" y="1"/>
                      <a:pt x="286" y="1"/>
                      <a:pt x="282" y="1"/>
                    </a:cubicBezTo>
                    <a:cubicBezTo>
                      <a:pt x="94" y="1"/>
                      <a:pt x="1" y="225"/>
                      <a:pt x="138" y="355"/>
                    </a:cubicBezTo>
                    <a:cubicBezTo>
                      <a:pt x="180" y="400"/>
                      <a:pt x="233" y="420"/>
                      <a:pt x="285" y="420"/>
                    </a:cubicBezTo>
                    <a:cubicBezTo>
                      <a:pt x="390" y="420"/>
                      <a:pt x="491" y="336"/>
                      <a:pt x="491" y="210"/>
                    </a:cubicBezTo>
                    <a:cubicBezTo>
                      <a:pt x="498" y="99"/>
                      <a:pt x="404" y="1"/>
                      <a:pt x="2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5" name="Google Shape;1467;p70"/>
              <p:cNvSpPr/>
              <p:nvPr/>
            </p:nvSpPr>
            <p:spPr>
              <a:xfrm>
                <a:off x="5059700" y="2390125"/>
                <a:ext cx="12475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7" extrusionOk="0">
                    <a:moveTo>
                      <a:pt x="282" y="0"/>
                    </a:moveTo>
                    <a:cubicBezTo>
                      <a:pt x="94" y="0"/>
                      <a:pt x="1" y="231"/>
                      <a:pt x="138" y="361"/>
                    </a:cubicBezTo>
                    <a:cubicBezTo>
                      <a:pt x="180" y="406"/>
                      <a:pt x="233" y="426"/>
                      <a:pt x="285" y="426"/>
                    </a:cubicBezTo>
                    <a:cubicBezTo>
                      <a:pt x="390" y="426"/>
                      <a:pt x="491" y="343"/>
                      <a:pt x="491" y="217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6" name="Google Shape;1468;p70"/>
              <p:cNvSpPr/>
              <p:nvPr/>
            </p:nvSpPr>
            <p:spPr>
              <a:xfrm>
                <a:off x="5073950" y="2348650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1"/>
                      <a:pt x="278" y="421"/>
                    </a:cubicBezTo>
                    <a:cubicBezTo>
                      <a:pt x="387" y="421"/>
                      <a:pt x="491" y="337"/>
                      <a:pt x="491" y="210"/>
                    </a:cubicBezTo>
                    <a:cubicBezTo>
                      <a:pt x="491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7" name="Google Shape;1469;p70"/>
              <p:cNvSpPr/>
              <p:nvPr/>
            </p:nvSpPr>
            <p:spPr>
              <a:xfrm>
                <a:off x="5073950" y="2362525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2"/>
                      <a:pt x="278" y="422"/>
                    </a:cubicBezTo>
                    <a:cubicBezTo>
                      <a:pt x="387" y="422"/>
                      <a:pt x="491" y="338"/>
                      <a:pt x="491" y="210"/>
                    </a:cubicBezTo>
                    <a:cubicBezTo>
                      <a:pt x="491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8" name="Google Shape;1470;p70"/>
              <p:cNvSpPr/>
              <p:nvPr/>
            </p:nvSpPr>
            <p:spPr>
              <a:xfrm>
                <a:off x="5074000" y="2376400"/>
                <a:ext cx="1222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20" extrusionOk="0">
                    <a:moveTo>
                      <a:pt x="291" y="1"/>
                    </a:moveTo>
                    <a:cubicBezTo>
                      <a:pt x="287" y="1"/>
                      <a:pt x="284" y="1"/>
                      <a:pt x="280" y="1"/>
                    </a:cubicBezTo>
                    <a:cubicBezTo>
                      <a:pt x="277" y="1"/>
                      <a:pt x="274" y="1"/>
                      <a:pt x="271" y="1"/>
                    </a:cubicBezTo>
                    <a:cubicBezTo>
                      <a:pt x="89" y="1"/>
                      <a:pt x="0" y="227"/>
                      <a:pt x="128" y="355"/>
                    </a:cubicBezTo>
                    <a:cubicBezTo>
                      <a:pt x="173" y="400"/>
                      <a:pt x="228" y="420"/>
                      <a:pt x="281" y="420"/>
                    </a:cubicBezTo>
                    <a:cubicBezTo>
                      <a:pt x="388" y="420"/>
                      <a:pt x="489" y="336"/>
                      <a:pt x="489" y="210"/>
                    </a:cubicBezTo>
                    <a:cubicBezTo>
                      <a:pt x="489" y="99"/>
                      <a:pt x="401" y="1"/>
                      <a:pt x="2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9" name="Google Shape;1471;p70"/>
              <p:cNvSpPr/>
              <p:nvPr/>
            </p:nvSpPr>
            <p:spPr>
              <a:xfrm>
                <a:off x="50880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9" y="1"/>
                    </a:moveTo>
                    <a:cubicBezTo>
                      <a:pt x="102" y="1"/>
                      <a:pt x="1" y="224"/>
                      <a:pt x="138" y="361"/>
                    </a:cubicBezTo>
                    <a:cubicBezTo>
                      <a:pt x="180" y="403"/>
                      <a:pt x="231" y="422"/>
                      <a:pt x="283" y="422"/>
                    </a:cubicBezTo>
                    <a:cubicBezTo>
                      <a:pt x="392" y="422"/>
                      <a:pt x="499" y="338"/>
                      <a:pt x="499" y="210"/>
                    </a:cubicBezTo>
                    <a:cubicBezTo>
                      <a:pt x="499" y="95"/>
                      <a:pt x="405" y="1"/>
                      <a:pt x="2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232" name="椭圆 231"/>
          <p:cNvSpPr/>
          <p:nvPr/>
        </p:nvSpPr>
        <p:spPr>
          <a:xfrm>
            <a:off x="1559652" y="6233642"/>
            <a:ext cx="1652758" cy="179762"/>
          </a:xfrm>
          <a:prstGeom prst="ellipse">
            <a:avLst/>
          </a:prstGeom>
          <a:solidFill>
            <a:schemeClr val="accent1">
              <a:alpha val="46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 183"/>
          <p:cNvSpPr/>
          <p:nvPr/>
        </p:nvSpPr>
        <p:spPr>
          <a:xfrm>
            <a:off x="306308" y="749300"/>
            <a:ext cx="3829513" cy="4085569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4176255" y="749300"/>
            <a:ext cx="3829513" cy="4085569"/>
          </a:xfrm>
          <a:prstGeom prst="rect">
            <a:avLst/>
          </a:prstGeom>
          <a:solidFill>
            <a:schemeClr val="tx2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8046201" y="749300"/>
            <a:ext cx="3829513" cy="4085569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漏斗模型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核心目标达成概览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1265034" y="3785543"/>
            <a:ext cx="1904483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8" name="任意多边形: 形状 167"/>
          <p:cNvSpPr/>
          <p:nvPr/>
        </p:nvSpPr>
        <p:spPr>
          <a:xfrm>
            <a:off x="1092882" y="3120604"/>
            <a:ext cx="224878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5" name="任意多边形: 形状 164"/>
          <p:cNvSpPr/>
          <p:nvPr/>
        </p:nvSpPr>
        <p:spPr>
          <a:xfrm>
            <a:off x="865352" y="2455666"/>
            <a:ext cx="270384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>
            <a:off x="613444" y="1713885"/>
            <a:ext cx="3207663" cy="376225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298729" y="1206118"/>
            <a:ext cx="3837093" cy="3497898"/>
            <a:chOff x="334963" y="1673665"/>
            <a:chExt cx="4047900" cy="4355103"/>
          </a:xfr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</p:grpSpPr>
        <p:sp>
          <p:nvSpPr>
            <p:cNvPr id="170" name="任意多边形: 形状 169"/>
            <p:cNvSpPr/>
            <p:nvPr/>
          </p:nvSpPr>
          <p:spPr>
            <a:xfrm>
              <a:off x="1354356" y="5101342"/>
              <a:ext cx="200911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1172746" y="4273452"/>
              <a:ext cx="237233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932716" y="3445562"/>
              <a:ext cx="285239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1" name="任意多边形: 形状 160"/>
            <p:cNvSpPr/>
            <p:nvPr/>
          </p:nvSpPr>
          <p:spPr>
            <a:xfrm>
              <a:off x="666968" y="2540080"/>
              <a:ext cx="3383890" cy="1005018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>
              <a:off x="334963" y="1673665"/>
              <a:ext cx="4047900" cy="94786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8" name="任意多边形: 形状 147"/>
          <p:cNvSpPr/>
          <p:nvPr/>
        </p:nvSpPr>
        <p:spPr>
          <a:xfrm>
            <a:off x="298729" y="1028701"/>
            <a:ext cx="3837093" cy="354832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5140227" y="3785543"/>
            <a:ext cx="1904483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4968075" y="3120604"/>
            <a:ext cx="224878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4740545" y="2455666"/>
            <a:ext cx="270384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4488637" y="1713885"/>
            <a:ext cx="3207663" cy="376225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2" name="任意多边形: 形状 11"/>
          <p:cNvSpPr/>
          <p:nvPr/>
        </p:nvSpPr>
        <p:spPr>
          <a:xfrm>
            <a:off x="5140227" y="3959133"/>
            <a:ext cx="1904483" cy="74488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4968075" y="3294195"/>
            <a:ext cx="2248787" cy="74488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4740545" y="2629257"/>
            <a:ext cx="2703847" cy="74488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4488637" y="1901999"/>
            <a:ext cx="3207663" cy="80720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任意多边形: 形状 15"/>
          <p:cNvSpPr/>
          <p:nvPr/>
        </p:nvSpPr>
        <p:spPr>
          <a:xfrm>
            <a:off x="4173922" y="1206118"/>
            <a:ext cx="3837093" cy="761302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4173922" y="1028701"/>
            <a:ext cx="3837093" cy="354832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9016865" y="3785543"/>
            <a:ext cx="1904483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844713" y="3120604"/>
            <a:ext cx="224878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7183" y="2455666"/>
            <a:ext cx="270384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>
            <a:off x="8365275" y="1713885"/>
            <a:ext cx="3207663" cy="376225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050560" y="1206118"/>
            <a:ext cx="3837093" cy="3497898"/>
            <a:chOff x="334963" y="1673665"/>
            <a:chExt cx="4047900" cy="4355101"/>
          </a:xfr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</p:grpSpPr>
        <p:sp>
          <p:nvSpPr>
            <p:cNvPr id="31" name="任意多边形: 形状 30"/>
            <p:cNvSpPr/>
            <p:nvPr/>
          </p:nvSpPr>
          <p:spPr>
            <a:xfrm>
              <a:off x="1354356" y="5101340"/>
              <a:ext cx="200911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172746" y="4273451"/>
              <a:ext cx="237233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932716" y="3445562"/>
              <a:ext cx="285239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666968" y="2540081"/>
              <a:ext cx="3383890" cy="100501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334963" y="1673665"/>
              <a:ext cx="4047900" cy="94786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30" name="任意多边形: 形状 29"/>
          <p:cNvSpPr/>
          <p:nvPr/>
        </p:nvSpPr>
        <p:spPr>
          <a:xfrm>
            <a:off x="8050560" y="1028701"/>
            <a:ext cx="3837093" cy="354832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2" name="形状 131"/>
          <p:cNvSpPr/>
          <p:nvPr/>
        </p:nvSpPr>
        <p:spPr>
          <a:xfrm rot="4014567" flipH="1">
            <a:off x="-552701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06308" y="4819091"/>
            <a:ext cx="3829513" cy="16960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176254" y="4819091"/>
            <a:ext cx="3829513" cy="16960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8046201" y="4819091"/>
            <a:ext cx="3829513" cy="16960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1499848" y="4247797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营收达标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1499848" y="355893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利润提升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1499848" y="2870069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新业拓展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1499848" y="218120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渠道拓新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1499848" y="1492341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效率优化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5403863" y="4247797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人才储备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5403863" y="355893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技能培训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5403863" y="2870069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协作提效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5403863" y="218120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绩效优化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5403863" y="1492341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文化凝聚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9309322" y="4247797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客诉压降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9309322" y="355893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复狗提升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9309322" y="2870069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需求响应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9309322" y="218120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服务升级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9309322" y="1492341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口碑建设</a:t>
            </a:r>
          </a:p>
        </p:txBody>
      </p:sp>
      <p:sp>
        <p:nvSpPr>
          <p:cNvPr id="163" name="形状 162"/>
          <p:cNvSpPr/>
          <p:nvPr/>
        </p:nvSpPr>
        <p:spPr>
          <a:xfrm rot="17585433">
            <a:off x="2061946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66" name="形状 165"/>
          <p:cNvSpPr/>
          <p:nvPr/>
        </p:nvSpPr>
        <p:spPr>
          <a:xfrm rot="4014567" flipH="1">
            <a:off x="3332495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69" name="形状 168"/>
          <p:cNvSpPr/>
          <p:nvPr/>
        </p:nvSpPr>
        <p:spPr>
          <a:xfrm rot="17585433">
            <a:off x="5947142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形状 171"/>
          <p:cNvSpPr/>
          <p:nvPr/>
        </p:nvSpPr>
        <p:spPr>
          <a:xfrm rot="4014567" flipH="1">
            <a:off x="7201857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74" name="形状 173"/>
          <p:cNvSpPr/>
          <p:nvPr/>
        </p:nvSpPr>
        <p:spPr>
          <a:xfrm rot="17585433">
            <a:off x="9816504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1220951" y="4991909"/>
            <a:ext cx="1948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业绩突破增长</a:t>
            </a:r>
          </a:p>
        </p:txBody>
      </p:sp>
      <p:sp>
        <p:nvSpPr>
          <p:cNvPr id="176" name="文本框 175"/>
          <p:cNvSpPr txBox="1"/>
          <p:nvPr/>
        </p:nvSpPr>
        <p:spPr>
          <a:xfrm>
            <a:off x="569361" y="5254455"/>
            <a:ext cx="3251746" cy="46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solidFill>
                  <a:schemeClr val="bg1"/>
                </a:solidFill>
                <a:cs typeface="Roboto" panose="02000000000000000000" charset="0"/>
              </a:rPr>
              <a:t>本周期通过营收冲刺、新业拓展与效率优化，实现业务规模与质量双增长，为后续市场扩张奠定坚实基础。</a:t>
            </a:r>
            <a:endParaRPr lang="zh-CN" altLang="en-US" sz="8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5159817" y="4991909"/>
            <a:ext cx="1948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团队能力升级</a:t>
            </a:r>
          </a:p>
        </p:txBody>
      </p:sp>
      <p:sp>
        <p:nvSpPr>
          <p:cNvPr id="178" name="文本框 177"/>
          <p:cNvSpPr txBox="1"/>
          <p:nvPr/>
        </p:nvSpPr>
        <p:spPr>
          <a:xfrm>
            <a:off x="4508227" y="5254455"/>
            <a:ext cx="3251746" cy="448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以人才储备为基础、技能提升为核心，打造高能力、高凝聚力团队，为业务发展提供核心人力支撑。</a:t>
            </a:r>
          </a:p>
        </p:txBody>
      </p:sp>
      <p:sp>
        <p:nvSpPr>
          <p:cNvPr id="179" name="文本框 178"/>
          <p:cNvSpPr txBox="1"/>
          <p:nvPr/>
        </p:nvSpPr>
        <p:spPr>
          <a:xfrm>
            <a:off x="9022483" y="4991909"/>
            <a:ext cx="1948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客户价值深化</a:t>
            </a:r>
          </a:p>
        </p:txBody>
      </p:sp>
      <p:sp>
        <p:nvSpPr>
          <p:cNvPr id="180" name="文本框 179"/>
          <p:cNvSpPr txBox="1"/>
          <p:nvPr/>
        </p:nvSpPr>
        <p:spPr>
          <a:xfrm>
            <a:off x="8370893" y="5254455"/>
            <a:ext cx="3251746" cy="741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通过服务优化、需求响应与口碑建设，实现客户满意度与忠诚度双提升，构建长期稳定的客户合作关系。</a:t>
            </a:r>
          </a:p>
        </p:txBody>
      </p:sp>
      <p:sp>
        <p:nvSpPr>
          <p:cNvPr id="138" name="矩形: 圆角 137"/>
          <p:cNvSpPr/>
          <p:nvPr/>
        </p:nvSpPr>
        <p:spPr>
          <a:xfrm>
            <a:off x="8330459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9" name="矩形: 圆角 138"/>
          <p:cNvSpPr/>
          <p:nvPr/>
        </p:nvSpPr>
        <p:spPr>
          <a:xfrm>
            <a:off x="9442267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2" name="矩形: 圆角 141"/>
          <p:cNvSpPr/>
          <p:nvPr/>
        </p:nvSpPr>
        <p:spPr>
          <a:xfrm>
            <a:off x="10554075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90" name="组合 189"/>
          <p:cNvGrpSpPr/>
          <p:nvPr/>
        </p:nvGrpSpPr>
        <p:grpSpPr>
          <a:xfrm>
            <a:off x="8674741" y="5836033"/>
            <a:ext cx="736258" cy="480788"/>
            <a:chOff x="8674741" y="5734932"/>
            <a:chExt cx="807336" cy="480788"/>
          </a:xfrm>
        </p:grpSpPr>
        <p:sp>
          <p:nvSpPr>
            <p:cNvPr id="143" name="文本框 142"/>
            <p:cNvSpPr txBox="1"/>
            <p:nvPr/>
          </p:nvSpPr>
          <p:spPr>
            <a:xfrm>
              <a:off x="8674741" y="5734932"/>
              <a:ext cx="807336" cy="274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客诉处理</a:t>
              </a: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96%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82" name="Google Shape;5352;p76"/>
          <p:cNvGrpSpPr/>
          <p:nvPr/>
        </p:nvGrpSpPr>
        <p:grpSpPr>
          <a:xfrm>
            <a:off x="8448666" y="5970961"/>
            <a:ext cx="212400" cy="204537"/>
            <a:chOff x="2071000" y="1435025"/>
            <a:chExt cx="500400" cy="481875"/>
          </a:xfrm>
        </p:grpSpPr>
        <p:sp>
          <p:nvSpPr>
            <p:cNvPr id="183" name="Google Shape;5353;p76"/>
            <p:cNvSpPr/>
            <p:nvPr/>
          </p:nvSpPr>
          <p:spPr>
            <a:xfrm>
              <a:off x="2425125" y="1718700"/>
              <a:ext cx="146275" cy="141750"/>
            </a:xfrm>
            <a:custGeom>
              <a:avLst/>
              <a:gdLst/>
              <a:ahLst/>
              <a:cxnLst/>
              <a:rect l="l" t="t" r="r" b="b"/>
              <a:pathLst>
                <a:path w="5851" h="5670" extrusionOk="0">
                  <a:moveTo>
                    <a:pt x="1598" y="0"/>
                  </a:moveTo>
                  <a:cubicBezTo>
                    <a:pt x="1159" y="0"/>
                    <a:pt x="720" y="160"/>
                    <a:pt x="401" y="481"/>
                  </a:cubicBezTo>
                  <a:lnTo>
                    <a:pt x="0" y="879"/>
                  </a:lnTo>
                  <a:lnTo>
                    <a:pt x="4791" y="5669"/>
                  </a:lnTo>
                  <a:lnTo>
                    <a:pt x="5191" y="5272"/>
                  </a:lnTo>
                  <a:cubicBezTo>
                    <a:pt x="5851" y="4610"/>
                    <a:pt x="5851" y="3538"/>
                    <a:pt x="5191" y="2875"/>
                  </a:cubicBezTo>
                  <a:lnTo>
                    <a:pt x="2795" y="481"/>
                  </a:lnTo>
                  <a:cubicBezTo>
                    <a:pt x="2475" y="160"/>
                    <a:pt x="2036" y="0"/>
                    <a:pt x="15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88" name="Google Shape;5354;p76"/>
            <p:cNvSpPr/>
            <p:nvPr/>
          </p:nvSpPr>
          <p:spPr>
            <a:xfrm>
              <a:off x="2071000" y="1477850"/>
              <a:ext cx="453125" cy="439050"/>
            </a:xfrm>
            <a:custGeom>
              <a:avLst/>
              <a:gdLst/>
              <a:ahLst/>
              <a:cxnLst/>
              <a:rect l="l" t="t" r="r" b="b"/>
              <a:pathLst>
                <a:path w="18125" h="17562" extrusionOk="0">
                  <a:moveTo>
                    <a:pt x="2057" y="0"/>
                  </a:moveTo>
                  <a:cubicBezTo>
                    <a:pt x="0" y="2397"/>
                    <a:pt x="81" y="6008"/>
                    <a:pt x="2352" y="8278"/>
                  </a:cubicBezTo>
                  <a:lnTo>
                    <a:pt x="9847" y="15776"/>
                  </a:lnTo>
                  <a:cubicBezTo>
                    <a:pt x="11008" y="16937"/>
                    <a:pt x="12564" y="17561"/>
                    <a:pt x="14149" y="17561"/>
                  </a:cubicBezTo>
                  <a:cubicBezTo>
                    <a:pt x="15535" y="17561"/>
                    <a:pt x="16943" y="17083"/>
                    <a:pt x="18125" y="16068"/>
                  </a:cubicBezTo>
                  <a:lnTo>
                    <a:pt x="13346" y="11289"/>
                  </a:lnTo>
                  <a:cubicBezTo>
                    <a:pt x="13108" y="11473"/>
                    <a:pt x="12823" y="11568"/>
                    <a:pt x="12540" y="11568"/>
                  </a:cubicBezTo>
                  <a:cubicBezTo>
                    <a:pt x="12221" y="11568"/>
                    <a:pt x="11904" y="11448"/>
                    <a:pt x="11660" y="11202"/>
                  </a:cubicBezTo>
                  <a:lnTo>
                    <a:pt x="6926" y="6465"/>
                  </a:lnTo>
                  <a:cubicBezTo>
                    <a:pt x="6462" y="6002"/>
                    <a:pt x="6447" y="5282"/>
                    <a:pt x="6839" y="4779"/>
                  </a:cubicBezTo>
                  <a:lnTo>
                    <a:pt x="20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89" name="Google Shape;5355;p76"/>
            <p:cNvSpPr/>
            <p:nvPr/>
          </p:nvSpPr>
          <p:spPr>
            <a:xfrm>
              <a:off x="2141600" y="1435025"/>
              <a:ext cx="146300" cy="141850"/>
            </a:xfrm>
            <a:custGeom>
              <a:avLst/>
              <a:gdLst/>
              <a:ahLst/>
              <a:cxnLst/>
              <a:rect l="l" t="t" r="r" b="b"/>
              <a:pathLst>
                <a:path w="5852" h="5674" extrusionOk="0">
                  <a:moveTo>
                    <a:pt x="1597" y="1"/>
                  </a:moveTo>
                  <a:cubicBezTo>
                    <a:pt x="1158" y="1"/>
                    <a:pt x="719" y="161"/>
                    <a:pt x="398" y="482"/>
                  </a:cubicBezTo>
                  <a:lnTo>
                    <a:pt x="1" y="882"/>
                  </a:lnTo>
                  <a:lnTo>
                    <a:pt x="4792" y="5673"/>
                  </a:lnTo>
                  <a:lnTo>
                    <a:pt x="5189" y="5273"/>
                  </a:lnTo>
                  <a:cubicBezTo>
                    <a:pt x="5852" y="4610"/>
                    <a:pt x="5852" y="3538"/>
                    <a:pt x="5189" y="2879"/>
                  </a:cubicBezTo>
                  <a:lnTo>
                    <a:pt x="2795" y="482"/>
                  </a:lnTo>
                  <a:cubicBezTo>
                    <a:pt x="2474" y="161"/>
                    <a:pt x="2036" y="1"/>
                    <a:pt x="15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9786919" y="5836033"/>
            <a:ext cx="736258" cy="480788"/>
            <a:chOff x="8674741" y="5734932"/>
            <a:chExt cx="807336" cy="480788"/>
          </a:xfrm>
        </p:grpSpPr>
        <p:sp>
          <p:nvSpPr>
            <p:cNvPr id="192" name="文本框 191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需求落地</a:t>
              </a:r>
            </a:p>
          </p:txBody>
        </p:sp>
        <p:sp>
          <p:nvSpPr>
            <p:cNvPr id="193" name="文本框 192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92%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10897865" y="5836033"/>
            <a:ext cx="736258" cy="480788"/>
            <a:chOff x="8674741" y="5734932"/>
            <a:chExt cx="807336" cy="480788"/>
          </a:xfrm>
        </p:grpSpPr>
        <p:sp>
          <p:nvSpPr>
            <p:cNvPr id="195" name="文本框 194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查满意度</a:t>
              </a:r>
            </a:p>
          </p:txBody>
        </p:sp>
        <p:sp>
          <p:nvSpPr>
            <p:cNvPr id="196" name="文本框 195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97" name="Google Shape;5272;p76"/>
          <p:cNvGrpSpPr/>
          <p:nvPr/>
        </p:nvGrpSpPr>
        <p:grpSpPr>
          <a:xfrm>
            <a:off x="10678140" y="5945315"/>
            <a:ext cx="219726" cy="243624"/>
            <a:chOff x="3300325" y="249875"/>
            <a:chExt cx="433725" cy="480900"/>
          </a:xfrm>
        </p:grpSpPr>
        <p:sp>
          <p:nvSpPr>
            <p:cNvPr id="198" name="Google Shape;5273;p76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99" name="Google Shape;5274;p76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0" name="Google Shape;5275;p76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1" name="Google Shape;5276;p76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2" name="Google Shape;5277;p76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3" name="Google Shape;5278;p76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204" name="Google Shape;5435;p76"/>
          <p:cNvGrpSpPr/>
          <p:nvPr/>
        </p:nvGrpSpPr>
        <p:grpSpPr>
          <a:xfrm>
            <a:off x="9585568" y="5956899"/>
            <a:ext cx="159444" cy="245878"/>
            <a:chOff x="5726350" y="2028150"/>
            <a:chExt cx="312300" cy="481600"/>
          </a:xfrm>
        </p:grpSpPr>
        <p:sp>
          <p:nvSpPr>
            <p:cNvPr id="205" name="Google Shape;5436;p76"/>
            <p:cNvSpPr/>
            <p:nvPr/>
          </p:nvSpPr>
          <p:spPr>
            <a:xfrm>
              <a:off x="5756075" y="2028150"/>
              <a:ext cx="252825" cy="83275"/>
            </a:xfrm>
            <a:custGeom>
              <a:avLst/>
              <a:gdLst/>
              <a:ahLst/>
              <a:cxnLst/>
              <a:rect l="l" t="t" r="r" b="b"/>
              <a:pathLst>
                <a:path w="10113" h="3331" extrusionOk="0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6" name="Google Shape;5437;p76"/>
            <p:cNvSpPr/>
            <p:nvPr/>
          </p:nvSpPr>
          <p:spPr>
            <a:xfrm>
              <a:off x="5726350" y="2139650"/>
              <a:ext cx="312300" cy="224425"/>
            </a:xfrm>
            <a:custGeom>
              <a:avLst/>
              <a:gdLst/>
              <a:ahLst/>
              <a:cxnLst/>
              <a:rect l="l" t="t" r="r" b="b"/>
              <a:pathLst>
                <a:path w="12492" h="8977" extrusionOk="0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7" name="Google Shape;5438;p76"/>
            <p:cNvSpPr/>
            <p:nvPr/>
          </p:nvSpPr>
          <p:spPr>
            <a:xfrm>
              <a:off x="5842500" y="2392350"/>
              <a:ext cx="79975" cy="117400"/>
            </a:xfrm>
            <a:custGeom>
              <a:avLst/>
              <a:gdLst/>
              <a:ahLst/>
              <a:cxnLst/>
              <a:rect l="l" t="t" r="r" b="b"/>
              <a:pathLst>
                <a:path w="3199" h="4696" extrusionOk="0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208" name="矩形: 圆角 207"/>
          <p:cNvSpPr/>
          <p:nvPr/>
        </p:nvSpPr>
        <p:spPr>
          <a:xfrm>
            <a:off x="4462534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5574342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0" name="矩形: 圆角 209"/>
          <p:cNvSpPr/>
          <p:nvPr/>
        </p:nvSpPr>
        <p:spPr>
          <a:xfrm>
            <a:off x="6686150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11" name="组合 210"/>
          <p:cNvGrpSpPr/>
          <p:nvPr/>
        </p:nvGrpSpPr>
        <p:grpSpPr>
          <a:xfrm>
            <a:off x="4806816" y="5836033"/>
            <a:ext cx="736258" cy="480788"/>
            <a:chOff x="8674741" y="5734932"/>
            <a:chExt cx="807336" cy="480788"/>
          </a:xfrm>
        </p:grpSpPr>
        <p:sp>
          <p:nvSpPr>
            <p:cNvPr id="212" name="文本框 211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管理晋升</a:t>
              </a:r>
            </a:p>
          </p:txBody>
        </p:sp>
        <p:sp>
          <p:nvSpPr>
            <p:cNvPr id="213" name="文本框 212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60%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5918994" y="5836033"/>
            <a:ext cx="736258" cy="480788"/>
            <a:chOff x="8674741" y="5734932"/>
            <a:chExt cx="807336" cy="480788"/>
          </a:xfrm>
        </p:grpSpPr>
        <p:sp>
          <p:nvSpPr>
            <p:cNvPr id="219" name="文本框 218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外部培训</a:t>
              </a: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40%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21" name="组合 220"/>
          <p:cNvGrpSpPr/>
          <p:nvPr/>
        </p:nvGrpSpPr>
        <p:grpSpPr>
          <a:xfrm>
            <a:off x="7029940" y="5836033"/>
            <a:ext cx="736258" cy="480788"/>
            <a:chOff x="8674741" y="5734932"/>
            <a:chExt cx="807336" cy="480788"/>
          </a:xfrm>
        </p:grpSpPr>
        <p:sp>
          <p:nvSpPr>
            <p:cNvPr id="222" name="文本框 221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部门协作</a:t>
              </a:r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50%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sp>
        <p:nvSpPr>
          <p:cNvPr id="235" name="矩形: 圆角 234"/>
          <p:cNvSpPr/>
          <p:nvPr/>
        </p:nvSpPr>
        <p:spPr>
          <a:xfrm>
            <a:off x="594609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1706417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矩形: 圆角 236"/>
          <p:cNvSpPr/>
          <p:nvPr/>
        </p:nvSpPr>
        <p:spPr>
          <a:xfrm>
            <a:off x="2818225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38" name="组合 237"/>
          <p:cNvGrpSpPr/>
          <p:nvPr/>
        </p:nvGrpSpPr>
        <p:grpSpPr>
          <a:xfrm>
            <a:off x="938891" y="5836033"/>
            <a:ext cx="736258" cy="480788"/>
            <a:chOff x="8674741" y="5734932"/>
            <a:chExt cx="807336" cy="480788"/>
          </a:xfrm>
        </p:grpSpPr>
        <p:sp>
          <p:nvSpPr>
            <p:cNvPr id="239" name="文本框 238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营收占比</a:t>
              </a: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65%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2051069" y="5836033"/>
            <a:ext cx="736258" cy="480788"/>
            <a:chOff x="8674741" y="5734932"/>
            <a:chExt cx="807336" cy="480788"/>
          </a:xfrm>
        </p:grpSpPr>
        <p:sp>
          <p:nvSpPr>
            <p:cNvPr id="246" name="文本框 245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新品利率</a:t>
              </a: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48%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48" name="组合 247"/>
          <p:cNvGrpSpPr/>
          <p:nvPr/>
        </p:nvGrpSpPr>
        <p:grpSpPr>
          <a:xfrm>
            <a:off x="3162015" y="5836033"/>
            <a:ext cx="736258" cy="480788"/>
            <a:chOff x="8674741" y="5734932"/>
            <a:chExt cx="807336" cy="480788"/>
          </a:xfrm>
        </p:grpSpPr>
        <p:sp>
          <p:nvSpPr>
            <p:cNvPr id="249" name="文本框 248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合作续约</a:t>
              </a:r>
            </a:p>
          </p:txBody>
        </p:sp>
        <p:sp>
          <p:nvSpPr>
            <p:cNvPr id="250" name="文本框 249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62" name="Google Shape;6054;p78"/>
          <p:cNvGrpSpPr/>
          <p:nvPr/>
        </p:nvGrpSpPr>
        <p:grpSpPr>
          <a:xfrm>
            <a:off x="2903479" y="5942080"/>
            <a:ext cx="275538" cy="275364"/>
            <a:chOff x="-61351725" y="3372400"/>
            <a:chExt cx="310350" cy="310150"/>
          </a:xfrm>
        </p:grpSpPr>
        <p:sp>
          <p:nvSpPr>
            <p:cNvPr id="263" name="Google Shape;6055;p78"/>
            <p:cNvSpPr/>
            <p:nvPr/>
          </p:nvSpPr>
          <p:spPr>
            <a:xfrm>
              <a:off x="-61165050" y="35588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4" name="Google Shape;6056;p78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5" name="Google Shape;6057;p78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66" name="Google Shape;6207;p78"/>
          <p:cNvGrpSpPr/>
          <p:nvPr/>
        </p:nvGrpSpPr>
        <p:grpSpPr>
          <a:xfrm>
            <a:off x="4553074" y="5957460"/>
            <a:ext cx="242764" cy="243376"/>
            <a:chOff x="-61784125" y="3377700"/>
            <a:chExt cx="316650" cy="317450"/>
          </a:xfrm>
        </p:grpSpPr>
        <p:sp>
          <p:nvSpPr>
            <p:cNvPr id="267" name="Google Shape;6208;p78"/>
            <p:cNvSpPr/>
            <p:nvPr/>
          </p:nvSpPr>
          <p:spPr>
            <a:xfrm>
              <a:off x="-61688025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8" name="Google Shape;6209;p78"/>
            <p:cNvSpPr/>
            <p:nvPr/>
          </p:nvSpPr>
          <p:spPr>
            <a:xfrm>
              <a:off x="-61677800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9" name="Google Shape;6210;p78"/>
            <p:cNvSpPr/>
            <p:nvPr/>
          </p:nvSpPr>
          <p:spPr>
            <a:xfrm>
              <a:off x="-61667550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8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0" name="Google Shape;6211;p78"/>
            <p:cNvSpPr/>
            <p:nvPr/>
          </p:nvSpPr>
          <p:spPr>
            <a:xfrm>
              <a:off x="-61591150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1" name="Google Shape;6212;p78"/>
            <p:cNvSpPr/>
            <p:nvPr/>
          </p:nvSpPr>
          <p:spPr>
            <a:xfrm>
              <a:off x="-61570675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2" name="Google Shape;6213;p78"/>
            <p:cNvSpPr/>
            <p:nvPr/>
          </p:nvSpPr>
          <p:spPr>
            <a:xfrm>
              <a:off x="-61784125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3" name="Google Shape;6214;p78"/>
            <p:cNvSpPr/>
            <p:nvPr/>
          </p:nvSpPr>
          <p:spPr>
            <a:xfrm>
              <a:off x="-61763650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74" name="Google Shape;6156;p78"/>
          <p:cNvGrpSpPr/>
          <p:nvPr/>
        </p:nvGrpSpPr>
        <p:grpSpPr>
          <a:xfrm>
            <a:off x="5665417" y="5962819"/>
            <a:ext cx="263896" cy="264562"/>
            <a:chOff x="-64044600" y="3360375"/>
            <a:chExt cx="315850" cy="316650"/>
          </a:xfrm>
        </p:grpSpPr>
        <p:sp>
          <p:nvSpPr>
            <p:cNvPr id="275" name="Google Shape;6157;p78"/>
            <p:cNvSpPr/>
            <p:nvPr/>
          </p:nvSpPr>
          <p:spPr>
            <a:xfrm>
              <a:off x="-63980025" y="3532875"/>
              <a:ext cx="185900" cy="144150"/>
            </a:xfrm>
            <a:custGeom>
              <a:avLst/>
              <a:gdLst/>
              <a:ahLst/>
              <a:cxnLst/>
              <a:rect l="l" t="t" r="r" b="b"/>
              <a:pathLst>
                <a:path w="7436" h="5766" extrusionOk="0"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20"/>
                    <a:pt x="410" y="820"/>
                  </a:cubicBezTo>
                  <a:lnTo>
                    <a:pt x="883" y="820"/>
                  </a:lnTo>
                  <a:lnTo>
                    <a:pt x="1670" y="5419"/>
                  </a:lnTo>
                  <a:cubicBezTo>
                    <a:pt x="1702" y="5608"/>
                    <a:pt x="1859" y="5766"/>
                    <a:pt x="2048" y="5766"/>
                  </a:cubicBezTo>
                  <a:lnTo>
                    <a:pt x="5356" y="5766"/>
                  </a:lnTo>
                  <a:cubicBezTo>
                    <a:pt x="5545" y="5766"/>
                    <a:pt x="5766" y="5608"/>
                    <a:pt x="5766" y="5419"/>
                  </a:cubicBezTo>
                  <a:lnTo>
                    <a:pt x="6554" y="820"/>
                  </a:lnTo>
                  <a:lnTo>
                    <a:pt x="7026" y="820"/>
                  </a:lnTo>
                  <a:cubicBezTo>
                    <a:pt x="7247" y="820"/>
                    <a:pt x="7404" y="630"/>
                    <a:pt x="7404" y="410"/>
                  </a:cubicBezTo>
                  <a:cubicBezTo>
                    <a:pt x="7436" y="189"/>
                    <a:pt x="7247" y="0"/>
                    <a:pt x="70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6" name="Google Shape;6158;p78"/>
            <p:cNvSpPr/>
            <p:nvPr/>
          </p:nvSpPr>
          <p:spPr>
            <a:xfrm>
              <a:off x="-64044600" y="3360375"/>
              <a:ext cx="315850" cy="152825"/>
            </a:xfrm>
            <a:custGeom>
              <a:avLst/>
              <a:gdLst/>
              <a:ahLst/>
              <a:cxnLst/>
              <a:rect l="l" t="t" r="r" b="b"/>
              <a:pathLst>
                <a:path w="12634" h="6113" extrusionOk="0">
                  <a:moveTo>
                    <a:pt x="378" y="1"/>
                  </a:moveTo>
                  <a:cubicBezTo>
                    <a:pt x="158" y="1"/>
                    <a:pt x="0" y="190"/>
                    <a:pt x="0" y="442"/>
                  </a:cubicBezTo>
                  <a:lnTo>
                    <a:pt x="0" y="5672"/>
                  </a:lnTo>
                  <a:cubicBezTo>
                    <a:pt x="0" y="5892"/>
                    <a:pt x="189" y="6113"/>
                    <a:pt x="378" y="6113"/>
                  </a:cubicBezTo>
                  <a:lnTo>
                    <a:pt x="3088" y="6113"/>
                  </a:lnTo>
                  <a:cubicBezTo>
                    <a:pt x="3245" y="5514"/>
                    <a:pt x="3560" y="4947"/>
                    <a:pt x="4001" y="4569"/>
                  </a:cubicBezTo>
                  <a:cubicBezTo>
                    <a:pt x="3875" y="4285"/>
                    <a:pt x="3812" y="3970"/>
                    <a:pt x="3812" y="3624"/>
                  </a:cubicBezTo>
                  <a:cubicBezTo>
                    <a:pt x="3812" y="2238"/>
                    <a:pt x="4915" y="1135"/>
                    <a:pt x="6301" y="1135"/>
                  </a:cubicBezTo>
                  <a:cubicBezTo>
                    <a:pt x="7656" y="1135"/>
                    <a:pt x="8759" y="2238"/>
                    <a:pt x="8759" y="3624"/>
                  </a:cubicBezTo>
                  <a:cubicBezTo>
                    <a:pt x="8759" y="3939"/>
                    <a:pt x="8696" y="4254"/>
                    <a:pt x="8570" y="4569"/>
                  </a:cubicBezTo>
                  <a:cubicBezTo>
                    <a:pt x="9011" y="5010"/>
                    <a:pt x="9326" y="5514"/>
                    <a:pt x="9483" y="6113"/>
                  </a:cubicBezTo>
                  <a:lnTo>
                    <a:pt x="12193" y="6113"/>
                  </a:lnTo>
                  <a:cubicBezTo>
                    <a:pt x="12445" y="6113"/>
                    <a:pt x="12602" y="5892"/>
                    <a:pt x="12602" y="5672"/>
                  </a:cubicBezTo>
                  <a:lnTo>
                    <a:pt x="12602" y="442"/>
                  </a:lnTo>
                  <a:cubicBezTo>
                    <a:pt x="12634" y="190"/>
                    <a:pt x="12445" y="1"/>
                    <a:pt x="122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7" name="Google Shape;6159;p78"/>
            <p:cNvSpPr/>
            <p:nvPr/>
          </p:nvSpPr>
          <p:spPr>
            <a:xfrm>
              <a:off x="-63945375" y="3408425"/>
              <a:ext cx="117375" cy="103200"/>
            </a:xfrm>
            <a:custGeom>
              <a:avLst/>
              <a:gdLst/>
              <a:ahLst/>
              <a:cxnLst/>
              <a:rect l="l" t="t" r="r" b="b"/>
              <a:pathLst>
                <a:path w="4695" h="4128" extrusionOk="0">
                  <a:moveTo>
                    <a:pt x="2364" y="1"/>
                  </a:moveTo>
                  <a:cubicBezTo>
                    <a:pt x="1450" y="1"/>
                    <a:pt x="694" y="757"/>
                    <a:pt x="694" y="1670"/>
                  </a:cubicBezTo>
                  <a:cubicBezTo>
                    <a:pt x="694" y="2080"/>
                    <a:pt x="851" y="2489"/>
                    <a:pt x="1167" y="2805"/>
                  </a:cubicBezTo>
                  <a:cubicBezTo>
                    <a:pt x="599" y="3120"/>
                    <a:pt x="190" y="3592"/>
                    <a:pt x="1" y="4128"/>
                  </a:cubicBezTo>
                  <a:lnTo>
                    <a:pt x="4695" y="4128"/>
                  </a:lnTo>
                  <a:cubicBezTo>
                    <a:pt x="4475" y="3561"/>
                    <a:pt x="4065" y="3088"/>
                    <a:pt x="3529" y="2805"/>
                  </a:cubicBezTo>
                  <a:cubicBezTo>
                    <a:pt x="3813" y="2489"/>
                    <a:pt x="4002" y="2080"/>
                    <a:pt x="4002" y="1670"/>
                  </a:cubicBezTo>
                  <a:cubicBezTo>
                    <a:pt x="4002" y="757"/>
                    <a:pt x="3277" y="1"/>
                    <a:pt x="23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78" name="Google Shape;6238;p78"/>
          <p:cNvGrpSpPr/>
          <p:nvPr/>
        </p:nvGrpSpPr>
        <p:grpSpPr>
          <a:xfrm>
            <a:off x="6773636" y="5944495"/>
            <a:ext cx="271074" cy="269306"/>
            <a:chOff x="580725" y="3617925"/>
            <a:chExt cx="299325" cy="297375"/>
          </a:xfrm>
        </p:grpSpPr>
        <p:sp>
          <p:nvSpPr>
            <p:cNvPr id="279" name="Google Shape;6239;p78"/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0" name="Google Shape;6240;p78"/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1" name="Google Shape;6241;p78"/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2" name="Google Shape;6242;p78"/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3" name="Google Shape;6243;p78"/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84" name="Google Shape;6256;p78"/>
          <p:cNvGrpSpPr/>
          <p:nvPr/>
        </p:nvGrpSpPr>
        <p:grpSpPr>
          <a:xfrm>
            <a:off x="1798579" y="5933941"/>
            <a:ext cx="295060" cy="290414"/>
            <a:chOff x="2404875" y="3592725"/>
            <a:chExt cx="298525" cy="293825"/>
          </a:xfrm>
        </p:grpSpPr>
        <p:sp>
          <p:nvSpPr>
            <p:cNvPr id="285" name="Google Shape;6257;p78"/>
            <p:cNvSpPr/>
            <p:nvPr/>
          </p:nvSpPr>
          <p:spPr>
            <a:xfrm>
              <a:off x="2404875" y="3747900"/>
              <a:ext cx="52775" cy="138650"/>
            </a:xfrm>
            <a:custGeom>
              <a:avLst/>
              <a:gdLst/>
              <a:ahLst/>
              <a:cxnLst/>
              <a:rect l="l" t="t" r="r" b="b"/>
              <a:pathLst>
                <a:path w="2111" h="554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6" name="Google Shape;6258;p78"/>
            <p:cNvSpPr/>
            <p:nvPr/>
          </p:nvSpPr>
          <p:spPr>
            <a:xfrm>
              <a:off x="2458425" y="3592725"/>
              <a:ext cx="190625" cy="160700"/>
            </a:xfrm>
            <a:custGeom>
              <a:avLst/>
              <a:gdLst/>
              <a:ahLst/>
              <a:cxnLst/>
              <a:rect l="l" t="t" r="r" b="b"/>
              <a:pathLst>
                <a:path w="7625" h="6428" extrusionOk="0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7" name="Google Shape;6259;p78"/>
            <p:cNvSpPr/>
            <p:nvPr/>
          </p:nvSpPr>
          <p:spPr>
            <a:xfrm>
              <a:off x="2474975" y="3742775"/>
              <a:ext cx="228425" cy="125650"/>
            </a:xfrm>
            <a:custGeom>
              <a:avLst/>
              <a:gdLst/>
              <a:ahLst/>
              <a:cxnLst/>
              <a:rect l="l" t="t" r="r" b="b"/>
              <a:pathLst>
                <a:path w="9137" h="5026" extrusionOk="0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88" name="Google Shape;6271;p78"/>
          <p:cNvGrpSpPr/>
          <p:nvPr/>
        </p:nvGrpSpPr>
        <p:grpSpPr>
          <a:xfrm>
            <a:off x="672472" y="5950381"/>
            <a:ext cx="280028" cy="259398"/>
            <a:chOff x="4266025" y="3609275"/>
            <a:chExt cx="299325" cy="277275"/>
          </a:xfrm>
        </p:grpSpPr>
        <p:sp>
          <p:nvSpPr>
            <p:cNvPr id="289" name="Google Shape;6272;p78"/>
            <p:cNvSpPr/>
            <p:nvPr/>
          </p:nvSpPr>
          <p:spPr>
            <a:xfrm>
              <a:off x="4266025" y="3609275"/>
              <a:ext cx="299325" cy="224500"/>
            </a:xfrm>
            <a:custGeom>
              <a:avLst/>
              <a:gdLst/>
              <a:ahLst/>
              <a:cxnLst/>
              <a:rect l="l" t="t" r="r" b="b"/>
              <a:pathLst>
                <a:path w="11973" h="8980" extrusionOk="0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90" name="Google Shape;6273;p78"/>
            <p:cNvSpPr/>
            <p:nvPr/>
          </p:nvSpPr>
          <p:spPr>
            <a:xfrm>
              <a:off x="4332975" y="3851850"/>
              <a:ext cx="157550" cy="34700"/>
            </a:xfrm>
            <a:custGeom>
              <a:avLst/>
              <a:gdLst/>
              <a:ahLst/>
              <a:cxnLst/>
              <a:rect l="l" t="t" r="r" b="b"/>
              <a:pathLst>
                <a:path w="6302" h="1388" extrusionOk="0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箭头: 五边形 191"/>
          <p:cNvSpPr/>
          <p:nvPr/>
        </p:nvSpPr>
        <p:spPr>
          <a:xfrm flipH="1">
            <a:off x="6690839" y="1115543"/>
            <a:ext cx="5177603" cy="4697259"/>
          </a:xfrm>
          <a:prstGeom prst="homePlate">
            <a:avLst>
              <a:gd name="adj" fmla="val 2002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1" name="箭头: 五边形 190"/>
          <p:cNvSpPr/>
          <p:nvPr/>
        </p:nvSpPr>
        <p:spPr>
          <a:xfrm>
            <a:off x="323553" y="1115543"/>
            <a:ext cx="5177609" cy="4697259"/>
          </a:xfrm>
          <a:prstGeom prst="homePlate">
            <a:avLst>
              <a:gd name="adj" fmla="val 2002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3997" y="200526"/>
            <a:ext cx="4483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漏斗模型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-XX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工作核心结论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任意多边形: 形状 193"/>
          <p:cNvSpPr/>
          <p:nvPr/>
        </p:nvSpPr>
        <p:spPr>
          <a:xfrm>
            <a:off x="323557" y="1666435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5" name="任意多边形: 形状 194"/>
          <p:cNvSpPr/>
          <p:nvPr/>
        </p:nvSpPr>
        <p:spPr>
          <a:xfrm>
            <a:off x="323557" y="2466773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6" name="任意多边形: 形状 195"/>
          <p:cNvSpPr/>
          <p:nvPr/>
        </p:nvSpPr>
        <p:spPr>
          <a:xfrm>
            <a:off x="323557" y="3267111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7" name="任意多边形: 形状 196"/>
          <p:cNvSpPr/>
          <p:nvPr/>
        </p:nvSpPr>
        <p:spPr>
          <a:xfrm>
            <a:off x="323557" y="4067449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8" name="任意多边形: 形状 197"/>
          <p:cNvSpPr/>
          <p:nvPr/>
        </p:nvSpPr>
        <p:spPr>
          <a:xfrm>
            <a:off x="323557" y="4867787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04" name="组合 203"/>
          <p:cNvGrpSpPr/>
          <p:nvPr/>
        </p:nvGrpSpPr>
        <p:grpSpPr>
          <a:xfrm flipH="1">
            <a:off x="6393903" y="1666435"/>
            <a:ext cx="5486400" cy="3426435"/>
            <a:chOff x="5506317" y="1856935"/>
            <a:chExt cx="5486400" cy="3426435"/>
          </a:xfrm>
        </p:grpSpPr>
        <p:sp>
          <p:nvSpPr>
            <p:cNvPr id="199" name="任意多边形: 形状 198"/>
            <p:cNvSpPr/>
            <p:nvPr/>
          </p:nvSpPr>
          <p:spPr>
            <a:xfrm>
              <a:off x="5506317" y="1856935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5506317" y="2657273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5506317" y="3457611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5506317" y="4257949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5506317" y="5058287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9" name="任意多边形: 形状 148"/>
          <p:cNvSpPr/>
          <p:nvPr/>
        </p:nvSpPr>
        <p:spPr>
          <a:xfrm>
            <a:off x="4733925" y="1081291"/>
            <a:ext cx="2724150" cy="687713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业绩表现</a:t>
            </a:r>
          </a:p>
        </p:txBody>
      </p:sp>
      <p:sp>
        <p:nvSpPr>
          <p:cNvPr id="146" name="椭圆 145"/>
          <p:cNvSpPr/>
          <p:nvPr/>
        </p:nvSpPr>
        <p:spPr>
          <a:xfrm>
            <a:off x="4733925" y="1019916"/>
            <a:ext cx="2724150" cy="12274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1" name="任意多边形: 形状 150"/>
          <p:cNvSpPr/>
          <p:nvPr/>
        </p:nvSpPr>
        <p:spPr>
          <a:xfrm>
            <a:off x="5132161" y="1991164"/>
            <a:ext cx="1927678" cy="63136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项目进展</a:t>
            </a:r>
          </a:p>
        </p:txBody>
      </p:sp>
      <p:sp>
        <p:nvSpPr>
          <p:cNvPr id="152" name="椭圆 151"/>
          <p:cNvSpPr/>
          <p:nvPr/>
        </p:nvSpPr>
        <p:spPr>
          <a:xfrm>
            <a:off x="5132161" y="1934818"/>
            <a:ext cx="1927678" cy="112692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5436961" y="2798085"/>
            <a:ext cx="1318078" cy="57963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团队建设</a:t>
            </a:r>
          </a:p>
        </p:txBody>
      </p:sp>
      <p:sp>
        <p:nvSpPr>
          <p:cNvPr id="156" name="椭圆 155"/>
          <p:cNvSpPr/>
          <p:nvPr/>
        </p:nvSpPr>
        <p:spPr>
          <a:xfrm>
            <a:off x="5436961" y="2746355"/>
            <a:ext cx="1318078" cy="10345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0" name="任意多边形: 形状 179"/>
          <p:cNvSpPr/>
          <p:nvPr/>
        </p:nvSpPr>
        <p:spPr>
          <a:xfrm flipV="1">
            <a:off x="4733925" y="5125091"/>
            <a:ext cx="2724150" cy="687713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1" name="椭圆 180"/>
          <p:cNvSpPr/>
          <p:nvPr/>
        </p:nvSpPr>
        <p:spPr>
          <a:xfrm flipV="1">
            <a:off x="4733925" y="5751430"/>
            <a:ext cx="2724150" cy="12274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任意多边形: 形状 185"/>
          <p:cNvSpPr/>
          <p:nvPr/>
        </p:nvSpPr>
        <p:spPr>
          <a:xfrm flipV="1">
            <a:off x="5132161" y="4271564"/>
            <a:ext cx="1927678" cy="63136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7" name="椭圆 186"/>
          <p:cNvSpPr/>
          <p:nvPr/>
        </p:nvSpPr>
        <p:spPr>
          <a:xfrm flipV="1">
            <a:off x="5132161" y="4846585"/>
            <a:ext cx="1927678" cy="112692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4" name="任意多边形: 形状 183"/>
          <p:cNvSpPr/>
          <p:nvPr/>
        </p:nvSpPr>
        <p:spPr>
          <a:xfrm flipV="1">
            <a:off x="5436961" y="3516373"/>
            <a:ext cx="1318078" cy="57963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85" name="椭圆 184"/>
          <p:cNvSpPr/>
          <p:nvPr/>
        </p:nvSpPr>
        <p:spPr>
          <a:xfrm flipV="1">
            <a:off x="5436961" y="4044281"/>
            <a:ext cx="1318078" cy="10345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00614" y="362191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客户服务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400614" y="440426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成本控制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400614" y="5268170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市场洞察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98903" y="1546603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增长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30%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8904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因新产品推出，销售额变化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04688" y="1546603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区域市场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个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204690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与伙伴合作，</a:t>
            </a:r>
            <a:endParaRPr lang="en-US" altLang="zh-CN" sz="1000" b="0" i="0" dirty="0">
              <a:solidFill>
                <a:srgbClr val="000000"/>
              </a:solidFill>
              <a:effectLst/>
              <a:latin typeface="+mn-ea"/>
              <a:cs typeface="Roboto" panose="02000000000000000000" charset="0"/>
            </a:endParaRPr>
          </a:p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建立销售网络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10474" y="1546603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新增客户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12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家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410476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销售团队积极开拓客户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98903" y="2317052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进度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98%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98904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关键里程碑均按时达成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204688" y="2317052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攻克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XX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难题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204690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通过团队技术攻关，采用新方案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410474" y="2317052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周期缩短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天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410476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通过优化流程，提高工作效率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98902" y="3109390"/>
            <a:ext cx="10040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新招员工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5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人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98904" y="278273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充实团队力量，扩充整体素质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204688" y="3109390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内部培训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场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204690" y="278273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专业技能提升、行业趋势分析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410474" y="3109390"/>
            <a:ext cx="15651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员工满意度提升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410476" y="278273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开展团队建设集体活动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998903" y="3914473"/>
            <a:ext cx="11295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投诉下降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998904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优化了客户服务流程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2204688" y="3914473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提高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30%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2204690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对客户进行满意度调查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3410474" y="3914473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规定时间答复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3410476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建立了客户快速响应机制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998903" y="4714811"/>
            <a:ext cx="11295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成本降低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998904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与供应商谈判，控制了生产成本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2204688" y="4714811"/>
            <a:ext cx="1034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运营成本降低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2204690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优化内部流程，减少审批环节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3410474" y="4714811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预算偏差下降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3410476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加强预算管理，按预算执行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998904" y="5158705"/>
            <a:ext cx="35949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本季度市场规模整体增长 </a:t>
            </a:r>
            <a:r>
              <a:rPr lang="en-US" altLang="zh-CN" sz="1000" dirty="0">
                <a:solidFill>
                  <a:srgbClr val="000000"/>
                </a:solidFill>
                <a:latin typeface="+mn-ea"/>
                <a:cs typeface="Roboto" panose="02000000000000000000" charset="0"/>
              </a:rPr>
              <a:t>20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%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，行业发展态势良好，为公司业务拓展提供了机遇。消费者狗买行为发生变化，更加注重产品的环保和可持续性，我们将在产品设计中融入相关理念。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7726158" y="1546603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7726159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线上渠道销售额增长迅速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8931943" y="1546603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增长达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万元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8931945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从产品类别来看，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XX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增长显著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10137729" y="1546603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0137731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通过优化定价，产品毛利率提升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7726157" y="2317052"/>
            <a:ext cx="9993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合格率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95%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7726159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项目建立严格质量监控体系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8931943" y="2317052"/>
            <a:ext cx="12057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推动了项目创新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8931945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参加行业研讨会，模仿先进经验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10137729" y="2317052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提升团队协作</a:t>
            </a:r>
          </a:p>
        </p:txBody>
      </p:sp>
      <p:sp>
        <p:nvSpPr>
          <p:cNvPr id="169" name="文本框 168"/>
          <p:cNvSpPr txBox="1"/>
          <p:nvPr/>
        </p:nvSpPr>
        <p:spPr>
          <a:xfrm>
            <a:off x="10137731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引入了新的管理方法</a:t>
            </a:r>
          </a:p>
        </p:txBody>
      </p:sp>
      <p:sp>
        <p:nvSpPr>
          <p:cNvPr id="170" name="文本框 169"/>
          <p:cNvSpPr txBox="1"/>
          <p:nvPr/>
        </p:nvSpPr>
        <p:spPr>
          <a:xfrm>
            <a:off x="7726157" y="3138020"/>
            <a:ext cx="14002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工衔更紧密</a:t>
            </a:r>
          </a:p>
        </p:txBody>
      </p:sp>
      <p:sp>
        <p:nvSpPr>
          <p:cNvPr id="171" name="文本框 170"/>
          <p:cNvSpPr txBox="1"/>
          <p:nvPr/>
        </p:nvSpPr>
        <p:spPr>
          <a:xfrm>
            <a:off x="7726159" y="281136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跨部门团队协作增加凝聚力</a:t>
            </a:r>
          </a:p>
        </p:txBody>
      </p:sp>
      <p:sp>
        <p:nvSpPr>
          <p:cNvPr id="172" name="文本框 171"/>
          <p:cNvSpPr txBox="1"/>
          <p:nvPr/>
        </p:nvSpPr>
        <p:spPr>
          <a:xfrm>
            <a:off x="8931943" y="3138020"/>
            <a:ext cx="1067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定期员工考核</a:t>
            </a:r>
          </a:p>
        </p:txBody>
      </p:sp>
      <p:sp>
        <p:nvSpPr>
          <p:cNvPr id="173" name="文本框 172"/>
          <p:cNvSpPr txBox="1"/>
          <p:nvPr/>
        </p:nvSpPr>
        <p:spPr>
          <a:xfrm>
            <a:off x="8931945" y="281136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建立了员工绩效评估体系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10137729" y="3138020"/>
            <a:ext cx="13328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激发团队积极性</a:t>
            </a:r>
          </a:p>
        </p:txBody>
      </p:sp>
      <p:sp>
        <p:nvSpPr>
          <p:cNvPr id="175" name="文本框 174"/>
          <p:cNvSpPr txBox="1"/>
          <p:nvPr/>
        </p:nvSpPr>
        <p:spPr>
          <a:xfrm>
            <a:off x="10137731" y="281136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部分员工表现突出，获得表彰</a:t>
            </a:r>
          </a:p>
        </p:txBody>
      </p:sp>
      <p:sp>
        <p:nvSpPr>
          <p:cNvPr id="176" name="文本框 175"/>
          <p:cNvSpPr txBox="1"/>
          <p:nvPr/>
        </p:nvSpPr>
        <p:spPr>
          <a:xfrm>
            <a:off x="7726157" y="3914473"/>
            <a:ext cx="1029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定期回访客户</a:t>
            </a:r>
          </a:p>
        </p:txBody>
      </p:sp>
      <p:sp>
        <p:nvSpPr>
          <p:cNvPr id="177" name="文本框 176"/>
          <p:cNvSpPr txBox="1"/>
          <p:nvPr/>
        </p:nvSpPr>
        <p:spPr>
          <a:xfrm>
            <a:off x="7726159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服务团队加了与客户的沟通</a:t>
            </a:r>
          </a:p>
        </p:txBody>
      </p:sp>
      <p:sp>
        <p:nvSpPr>
          <p:cNvPr id="178" name="文本框 177"/>
          <p:cNvSpPr txBox="1"/>
          <p:nvPr/>
        </p:nvSpPr>
        <p:spPr>
          <a:xfrm>
            <a:off x="8931943" y="3914473"/>
            <a:ext cx="1381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提高处理速度</a:t>
            </a:r>
          </a:p>
        </p:txBody>
      </p:sp>
      <p:sp>
        <p:nvSpPr>
          <p:cNvPr id="179" name="文本框 178"/>
          <p:cNvSpPr txBox="1"/>
          <p:nvPr/>
        </p:nvSpPr>
        <p:spPr>
          <a:xfrm>
            <a:off x="8931945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总结常见问题处理方案库</a:t>
            </a:r>
          </a:p>
        </p:txBody>
      </p:sp>
      <p:sp>
        <p:nvSpPr>
          <p:cNvPr id="182" name="文本框 181"/>
          <p:cNvSpPr txBox="1"/>
          <p:nvPr/>
        </p:nvSpPr>
        <p:spPr>
          <a:xfrm>
            <a:off x="10137729" y="3914473"/>
            <a:ext cx="13038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复勾率增加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10137731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为重要客户提供个性化服务方案</a:t>
            </a:r>
          </a:p>
        </p:txBody>
      </p:sp>
      <p:sp>
        <p:nvSpPr>
          <p:cNvPr id="188" name="文本框 187"/>
          <p:cNvSpPr txBox="1"/>
          <p:nvPr/>
        </p:nvSpPr>
        <p:spPr>
          <a:xfrm>
            <a:off x="7726158" y="4714811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节约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10%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7726159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合理安排资源，成本有所节约</a:t>
            </a:r>
          </a:p>
        </p:txBody>
      </p:sp>
      <p:sp>
        <p:nvSpPr>
          <p:cNvPr id="205" name="文本框 204"/>
          <p:cNvSpPr txBox="1"/>
          <p:nvPr/>
        </p:nvSpPr>
        <p:spPr>
          <a:xfrm>
            <a:off x="8931943" y="4714811"/>
            <a:ext cx="1067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确定优化方向</a:t>
            </a:r>
          </a:p>
        </p:txBody>
      </p:sp>
      <p:sp>
        <p:nvSpPr>
          <p:cNvPr id="206" name="文本框 205"/>
          <p:cNvSpPr txBox="1"/>
          <p:nvPr/>
        </p:nvSpPr>
        <p:spPr>
          <a:xfrm>
            <a:off x="8931945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引入成本分析工具，定期分析</a:t>
            </a:r>
          </a:p>
        </p:txBody>
      </p:sp>
      <p:sp>
        <p:nvSpPr>
          <p:cNvPr id="207" name="文本框 206"/>
          <p:cNvSpPr txBox="1"/>
          <p:nvPr/>
        </p:nvSpPr>
        <p:spPr>
          <a:xfrm>
            <a:off x="10137729" y="4714811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办公成本降低</a:t>
            </a:r>
          </a:p>
        </p:txBody>
      </p:sp>
      <p:sp>
        <p:nvSpPr>
          <p:cNvPr id="208" name="文本框 207"/>
          <p:cNvSpPr txBox="1"/>
          <p:nvPr/>
        </p:nvSpPr>
        <p:spPr>
          <a:xfrm>
            <a:off x="10137731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员工通过节约办公用品等措施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7737374" y="5158705"/>
            <a:ext cx="35949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市场渠道方面，线上渠道的重要性日益凸显，我们将加大在线营销投入，拓展线上销售渠道。政策环境对行业发展有利，征服出台了 相关政策，为公司业务发展提供了政策支持。</a:t>
            </a:r>
          </a:p>
        </p:txBody>
      </p:sp>
      <p:sp>
        <p:nvSpPr>
          <p:cNvPr id="142" name="椭圆 141"/>
          <p:cNvSpPr/>
          <p:nvPr/>
        </p:nvSpPr>
        <p:spPr>
          <a:xfrm>
            <a:off x="509208" y="1303621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3" name="Google Shape;6443;p78"/>
          <p:cNvGrpSpPr/>
          <p:nvPr/>
        </p:nvGrpSpPr>
        <p:grpSpPr>
          <a:xfrm>
            <a:off x="608719" y="1384130"/>
            <a:ext cx="244198" cy="259764"/>
            <a:chOff x="5364750" y="3235150"/>
            <a:chExt cx="277275" cy="294950"/>
          </a:xfrm>
          <a:solidFill>
            <a:schemeClr val="bg1"/>
          </a:solidFill>
        </p:grpSpPr>
        <p:sp>
          <p:nvSpPr>
            <p:cNvPr id="144" name="Google Shape;6444;p78"/>
            <p:cNvSpPr/>
            <p:nvPr/>
          </p:nvSpPr>
          <p:spPr>
            <a:xfrm>
              <a:off x="5502600" y="32351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5" name="Google Shape;6445;p78"/>
            <p:cNvSpPr/>
            <p:nvPr/>
          </p:nvSpPr>
          <p:spPr>
            <a:xfrm>
              <a:off x="5555375" y="3253850"/>
              <a:ext cx="35450" cy="34100"/>
            </a:xfrm>
            <a:custGeom>
              <a:avLst/>
              <a:gdLst/>
              <a:ahLst/>
              <a:cxnLst/>
              <a:rect l="l" t="t" r="r" b="b"/>
              <a:pathLst>
                <a:path w="1418" h="1364" extrusionOk="0">
                  <a:moveTo>
                    <a:pt x="1071" y="1"/>
                  </a:moveTo>
                  <a:cubicBezTo>
                    <a:pt x="977" y="1"/>
                    <a:pt x="882" y="24"/>
                    <a:pt x="819" y="72"/>
                  </a:cubicBezTo>
                  <a:lnTo>
                    <a:pt x="126" y="796"/>
                  </a:lnTo>
                  <a:cubicBezTo>
                    <a:pt x="0" y="922"/>
                    <a:pt x="0" y="1143"/>
                    <a:pt x="126" y="1269"/>
                  </a:cubicBezTo>
                  <a:cubicBezTo>
                    <a:pt x="189" y="1332"/>
                    <a:pt x="268" y="1363"/>
                    <a:pt x="350" y="1363"/>
                  </a:cubicBezTo>
                  <a:cubicBezTo>
                    <a:pt x="433" y="1363"/>
                    <a:pt x="520" y="1332"/>
                    <a:pt x="599" y="1269"/>
                  </a:cubicBezTo>
                  <a:lnTo>
                    <a:pt x="1323" y="544"/>
                  </a:lnTo>
                  <a:cubicBezTo>
                    <a:pt x="1418" y="418"/>
                    <a:pt x="1418" y="198"/>
                    <a:pt x="1323" y="72"/>
                  </a:cubicBezTo>
                  <a:cubicBezTo>
                    <a:pt x="1260" y="24"/>
                    <a:pt x="1166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7" name="Google Shape;6446;p78"/>
            <p:cNvSpPr/>
            <p:nvPr/>
          </p:nvSpPr>
          <p:spPr>
            <a:xfrm>
              <a:off x="5606550" y="335722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725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8" name="Google Shape;6447;p78"/>
            <p:cNvSpPr/>
            <p:nvPr/>
          </p:nvSpPr>
          <p:spPr>
            <a:xfrm>
              <a:off x="5364750" y="335722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0" name="Google Shape;6448;p78"/>
            <p:cNvSpPr/>
            <p:nvPr/>
          </p:nvSpPr>
          <p:spPr>
            <a:xfrm>
              <a:off x="5433275" y="3253850"/>
              <a:ext cx="35475" cy="34100"/>
            </a:xfrm>
            <a:custGeom>
              <a:avLst/>
              <a:gdLst/>
              <a:ahLst/>
              <a:cxnLst/>
              <a:rect l="l" t="t" r="r" b="b"/>
              <a:pathLst>
                <a:path w="1419" h="1364" extrusionOk="0">
                  <a:moveTo>
                    <a:pt x="363" y="1"/>
                  </a:moveTo>
                  <a:cubicBezTo>
                    <a:pt x="276" y="1"/>
                    <a:pt x="190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820" y="1269"/>
                  </a:lnTo>
                  <a:cubicBezTo>
                    <a:pt x="883" y="1332"/>
                    <a:pt x="977" y="1363"/>
                    <a:pt x="1072" y="1363"/>
                  </a:cubicBezTo>
                  <a:cubicBezTo>
                    <a:pt x="1166" y="1363"/>
                    <a:pt x="1261" y="1332"/>
                    <a:pt x="1324" y="1269"/>
                  </a:cubicBezTo>
                  <a:cubicBezTo>
                    <a:pt x="1418" y="1143"/>
                    <a:pt x="1418" y="922"/>
                    <a:pt x="1324" y="796"/>
                  </a:cubicBezTo>
                  <a:lnTo>
                    <a:pt x="599" y="72"/>
                  </a:lnTo>
                  <a:cubicBezTo>
                    <a:pt x="536" y="24"/>
                    <a:pt x="450" y="1"/>
                    <a:pt x="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3" name="Google Shape;6449;p78"/>
            <p:cNvSpPr/>
            <p:nvPr/>
          </p:nvSpPr>
          <p:spPr>
            <a:xfrm>
              <a:off x="5380500" y="3287775"/>
              <a:ext cx="37050" cy="25975"/>
            </a:xfrm>
            <a:custGeom>
              <a:avLst/>
              <a:gdLst/>
              <a:ahLst/>
              <a:cxnLst/>
              <a:rect l="l" t="t" r="r" b="b"/>
              <a:pathLst>
                <a:path w="1482" h="1039" extrusionOk="0">
                  <a:moveTo>
                    <a:pt x="396" y="0"/>
                  </a:moveTo>
                  <a:cubicBezTo>
                    <a:pt x="267" y="0"/>
                    <a:pt x="132" y="81"/>
                    <a:pt x="64" y="195"/>
                  </a:cubicBezTo>
                  <a:cubicBezTo>
                    <a:pt x="1" y="353"/>
                    <a:pt x="64" y="573"/>
                    <a:pt x="221" y="668"/>
                  </a:cubicBezTo>
                  <a:lnTo>
                    <a:pt x="946" y="1015"/>
                  </a:lnTo>
                  <a:cubicBezTo>
                    <a:pt x="987" y="1031"/>
                    <a:pt x="1032" y="1039"/>
                    <a:pt x="1077" y="1039"/>
                  </a:cubicBezTo>
                  <a:cubicBezTo>
                    <a:pt x="1209" y="1039"/>
                    <a:pt x="1349" y="974"/>
                    <a:pt x="1419" y="857"/>
                  </a:cubicBezTo>
                  <a:cubicBezTo>
                    <a:pt x="1482" y="699"/>
                    <a:pt x="1419" y="447"/>
                    <a:pt x="1261" y="384"/>
                  </a:cubicBezTo>
                  <a:lnTo>
                    <a:pt x="536" y="38"/>
                  </a:lnTo>
                  <a:cubicBezTo>
                    <a:pt x="493" y="12"/>
                    <a:pt x="445" y="0"/>
                    <a:pt x="3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4" name="Google Shape;6450;p78"/>
            <p:cNvSpPr/>
            <p:nvPr/>
          </p:nvSpPr>
          <p:spPr>
            <a:xfrm>
              <a:off x="5588450" y="3288075"/>
              <a:ext cx="37025" cy="26800"/>
            </a:xfrm>
            <a:custGeom>
              <a:avLst/>
              <a:gdLst/>
              <a:ahLst/>
              <a:cxnLst/>
              <a:rect l="l" t="t" r="r" b="b"/>
              <a:pathLst>
                <a:path w="1481" h="1072" extrusionOk="0">
                  <a:moveTo>
                    <a:pt x="1110" y="0"/>
                  </a:moveTo>
                  <a:cubicBezTo>
                    <a:pt x="1049" y="0"/>
                    <a:pt x="983" y="18"/>
                    <a:pt x="914" y="57"/>
                  </a:cubicBezTo>
                  <a:lnTo>
                    <a:pt x="221" y="404"/>
                  </a:lnTo>
                  <a:cubicBezTo>
                    <a:pt x="63" y="498"/>
                    <a:pt x="0" y="687"/>
                    <a:pt x="63" y="877"/>
                  </a:cubicBezTo>
                  <a:cubicBezTo>
                    <a:pt x="132" y="991"/>
                    <a:pt x="250" y="1072"/>
                    <a:pt x="382" y="1072"/>
                  </a:cubicBezTo>
                  <a:cubicBezTo>
                    <a:pt x="432" y="1072"/>
                    <a:pt x="484" y="1060"/>
                    <a:pt x="536" y="1034"/>
                  </a:cubicBezTo>
                  <a:lnTo>
                    <a:pt x="1260" y="687"/>
                  </a:lnTo>
                  <a:cubicBezTo>
                    <a:pt x="1418" y="593"/>
                    <a:pt x="1481" y="404"/>
                    <a:pt x="1418" y="215"/>
                  </a:cubicBezTo>
                  <a:cubicBezTo>
                    <a:pt x="1353" y="85"/>
                    <a:pt x="1244" y="0"/>
                    <a:pt x="11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7" name="Google Shape;6451;p78"/>
            <p:cNvSpPr/>
            <p:nvPr/>
          </p:nvSpPr>
          <p:spPr>
            <a:xfrm>
              <a:off x="5412025" y="3286350"/>
              <a:ext cx="177225" cy="243750"/>
            </a:xfrm>
            <a:custGeom>
              <a:avLst/>
              <a:gdLst/>
              <a:ahLst/>
              <a:cxnLst/>
              <a:rect l="l" t="t" r="r" b="b"/>
              <a:pathLst>
                <a:path w="7089" h="9750" extrusionOk="0">
                  <a:moveTo>
                    <a:pt x="3529" y="0"/>
                  </a:moveTo>
                  <a:cubicBezTo>
                    <a:pt x="3151" y="0"/>
                    <a:pt x="2836" y="315"/>
                    <a:pt x="2836" y="725"/>
                  </a:cubicBezTo>
                  <a:lnTo>
                    <a:pt x="2836" y="1418"/>
                  </a:lnTo>
                  <a:cubicBezTo>
                    <a:pt x="2836" y="1040"/>
                    <a:pt x="2520" y="725"/>
                    <a:pt x="2111" y="725"/>
                  </a:cubicBezTo>
                  <a:cubicBezTo>
                    <a:pt x="1733" y="725"/>
                    <a:pt x="1418" y="1040"/>
                    <a:pt x="1418" y="1418"/>
                  </a:cubicBezTo>
                  <a:lnTo>
                    <a:pt x="1418" y="2143"/>
                  </a:lnTo>
                  <a:cubicBezTo>
                    <a:pt x="1544" y="2143"/>
                    <a:pt x="1638" y="2080"/>
                    <a:pt x="1764" y="2080"/>
                  </a:cubicBezTo>
                  <a:lnTo>
                    <a:pt x="3497" y="2080"/>
                  </a:lnTo>
                  <a:cubicBezTo>
                    <a:pt x="4253" y="2080"/>
                    <a:pt x="4883" y="2710"/>
                    <a:pt x="4883" y="3466"/>
                  </a:cubicBezTo>
                  <a:cubicBezTo>
                    <a:pt x="4883" y="4096"/>
                    <a:pt x="4474" y="4600"/>
                    <a:pt x="3907" y="4758"/>
                  </a:cubicBezTo>
                  <a:cubicBezTo>
                    <a:pt x="4064" y="5073"/>
                    <a:pt x="4159" y="5482"/>
                    <a:pt x="4159" y="5860"/>
                  </a:cubicBezTo>
                  <a:cubicBezTo>
                    <a:pt x="4159" y="6081"/>
                    <a:pt x="4001" y="6238"/>
                    <a:pt x="3812" y="6238"/>
                  </a:cubicBezTo>
                  <a:cubicBezTo>
                    <a:pt x="3623" y="6238"/>
                    <a:pt x="3466" y="6081"/>
                    <a:pt x="3466" y="5860"/>
                  </a:cubicBezTo>
                  <a:cubicBezTo>
                    <a:pt x="3466" y="4915"/>
                    <a:pt x="2678" y="4128"/>
                    <a:pt x="1733" y="4128"/>
                  </a:cubicBezTo>
                  <a:lnTo>
                    <a:pt x="3466" y="4128"/>
                  </a:lnTo>
                  <a:cubicBezTo>
                    <a:pt x="3844" y="4128"/>
                    <a:pt x="4159" y="3812"/>
                    <a:pt x="4159" y="3434"/>
                  </a:cubicBezTo>
                  <a:cubicBezTo>
                    <a:pt x="4159" y="3025"/>
                    <a:pt x="3844" y="2710"/>
                    <a:pt x="3466" y="2710"/>
                  </a:cubicBezTo>
                  <a:lnTo>
                    <a:pt x="1733" y="2710"/>
                  </a:lnTo>
                  <a:cubicBezTo>
                    <a:pt x="788" y="2710"/>
                    <a:pt x="0" y="3497"/>
                    <a:pt x="0" y="4443"/>
                  </a:cubicBezTo>
                  <a:lnTo>
                    <a:pt x="0" y="5167"/>
                  </a:lnTo>
                  <a:cubicBezTo>
                    <a:pt x="0" y="6112"/>
                    <a:pt x="536" y="6963"/>
                    <a:pt x="1386" y="7372"/>
                  </a:cubicBezTo>
                  <a:lnTo>
                    <a:pt x="1386" y="8318"/>
                  </a:lnTo>
                  <a:cubicBezTo>
                    <a:pt x="977" y="8318"/>
                    <a:pt x="662" y="8633"/>
                    <a:pt x="662" y="9011"/>
                  </a:cubicBezTo>
                  <a:lnTo>
                    <a:pt x="662" y="9389"/>
                  </a:lnTo>
                  <a:cubicBezTo>
                    <a:pt x="662" y="9578"/>
                    <a:pt x="819" y="9735"/>
                    <a:pt x="1008" y="9735"/>
                  </a:cubicBezTo>
                  <a:lnTo>
                    <a:pt x="5860" y="9735"/>
                  </a:lnTo>
                  <a:cubicBezTo>
                    <a:pt x="5923" y="9745"/>
                    <a:pt x="5979" y="9749"/>
                    <a:pt x="6029" y="9749"/>
                  </a:cubicBezTo>
                  <a:cubicBezTo>
                    <a:pt x="6305" y="9749"/>
                    <a:pt x="6396" y="9612"/>
                    <a:pt x="6396" y="9452"/>
                  </a:cubicBezTo>
                  <a:lnTo>
                    <a:pt x="6396" y="9105"/>
                  </a:lnTo>
                  <a:cubicBezTo>
                    <a:pt x="6396" y="8696"/>
                    <a:pt x="6112" y="8381"/>
                    <a:pt x="5702" y="8381"/>
                  </a:cubicBezTo>
                  <a:lnTo>
                    <a:pt x="5702" y="7436"/>
                  </a:lnTo>
                  <a:cubicBezTo>
                    <a:pt x="6522" y="7057"/>
                    <a:pt x="7089" y="6175"/>
                    <a:pt x="7089" y="5230"/>
                  </a:cubicBezTo>
                  <a:lnTo>
                    <a:pt x="7089" y="2143"/>
                  </a:lnTo>
                  <a:cubicBezTo>
                    <a:pt x="7089" y="1733"/>
                    <a:pt x="6774" y="1418"/>
                    <a:pt x="6364" y="1418"/>
                  </a:cubicBezTo>
                  <a:cubicBezTo>
                    <a:pt x="5986" y="1418"/>
                    <a:pt x="5671" y="1733"/>
                    <a:pt x="5671" y="2143"/>
                  </a:cubicBezTo>
                  <a:lnTo>
                    <a:pt x="5671" y="1418"/>
                  </a:lnTo>
                  <a:cubicBezTo>
                    <a:pt x="5671" y="1040"/>
                    <a:pt x="5356" y="725"/>
                    <a:pt x="4946" y="725"/>
                  </a:cubicBezTo>
                  <a:cubicBezTo>
                    <a:pt x="4568" y="725"/>
                    <a:pt x="4253" y="1040"/>
                    <a:pt x="4253" y="1418"/>
                  </a:cubicBezTo>
                  <a:lnTo>
                    <a:pt x="4253" y="725"/>
                  </a:lnTo>
                  <a:cubicBezTo>
                    <a:pt x="4253" y="315"/>
                    <a:pt x="3938" y="0"/>
                    <a:pt x="35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261" name="椭圆 260"/>
          <p:cNvSpPr/>
          <p:nvPr/>
        </p:nvSpPr>
        <p:spPr>
          <a:xfrm>
            <a:off x="509208" y="2086380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2" name="椭圆 271"/>
          <p:cNvSpPr/>
          <p:nvPr/>
        </p:nvSpPr>
        <p:spPr>
          <a:xfrm>
            <a:off x="509208" y="2869139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3" name="椭圆 282"/>
          <p:cNvSpPr/>
          <p:nvPr/>
        </p:nvSpPr>
        <p:spPr>
          <a:xfrm>
            <a:off x="509208" y="3651898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94" name="椭圆 293"/>
          <p:cNvSpPr/>
          <p:nvPr/>
        </p:nvSpPr>
        <p:spPr>
          <a:xfrm>
            <a:off x="509208" y="4434657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5" name="椭圆 304"/>
          <p:cNvSpPr/>
          <p:nvPr/>
        </p:nvSpPr>
        <p:spPr>
          <a:xfrm>
            <a:off x="509208" y="5217416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15" name="Google Shape;6215;p78"/>
          <p:cNvGrpSpPr/>
          <p:nvPr/>
        </p:nvGrpSpPr>
        <p:grpSpPr>
          <a:xfrm>
            <a:off x="633959" y="2203340"/>
            <a:ext cx="193525" cy="194014"/>
            <a:chOff x="-61783350" y="3743950"/>
            <a:chExt cx="316650" cy="317450"/>
          </a:xfrm>
          <a:solidFill>
            <a:schemeClr val="bg1"/>
          </a:solidFill>
        </p:grpSpPr>
        <p:sp>
          <p:nvSpPr>
            <p:cNvPr id="316" name="Google Shape;6216;p78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17" name="Google Shape;6217;p78"/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18" name="Google Shape;6421;p78"/>
          <p:cNvGrpSpPr/>
          <p:nvPr/>
        </p:nvGrpSpPr>
        <p:grpSpPr>
          <a:xfrm>
            <a:off x="623369" y="2974530"/>
            <a:ext cx="226746" cy="226746"/>
            <a:chOff x="3497300" y="3227275"/>
            <a:chExt cx="296175" cy="296175"/>
          </a:xfrm>
          <a:solidFill>
            <a:schemeClr val="bg1"/>
          </a:solidFill>
        </p:grpSpPr>
        <p:sp>
          <p:nvSpPr>
            <p:cNvPr id="319" name="Google Shape;6422;p78"/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0" name="Google Shape;6423;p78"/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1" name="Google Shape;6424;p78"/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2" name="Google Shape;6425;p78"/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3" name="Google Shape;6426;p78"/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4" name="Google Shape;6427;p78"/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5" name="Google Shape;6428;p78"/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6" name="Google Shape;6429;p78"/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27" name="Google Shape;6520;p78"/>
          <p:cNvGrpSpPr/>
          <p:nvPr/>
        </p:nvGrpSpPr>
        <p:grpSpPr>
          <a:xfrm>
            <a:off x="626185" y="3748650"/>
            <a:ext cx="210820" cy="239574"/>
            <a:chOff x="5736525" y="3963700"/>
            <a:chExt cx="259925" cy="295375"/>
          </a:xfrm>
          <a:solidFill>
            <a:schemeClr val="bg1"/>
          </a:solidFill>
        </p:grpSpPr>
        <p:sp>
          <p:nvSpPr>
            <p:cNvPr id="328" name="Google Shape;6521;p78"/>
            <p:cNvSpPr/>
            <p:nvPr/>
          </p:nvSpPr>
          <p:spPr>
            <a:xfrm>
              <a:off x="5736525" y="4153525"/>
              <a:ext cx="121300" cy="105550"/>
            </a:xfrm>
            <a:custGeom>
              <a:avLst/>
              <a:gdLst/>
              <a:ahLst/>
              <a:cxnLst/>
              <a:rect l="l" t="t" r="r" b="b"/>
              <a:pathLst>
                <a:path w="4852" h="4222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9" name="Google Shape;6522;p78"/>
            <p:cNvSpPr/>
            <p:nvPr/>
          </p:nvSpPr>
          <p:spPr>
            <a:xfrm>
              <a:off x="5833400" y="41684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0" name="Google Shape;6523;p78"/>
            <p:cNvSpPr/>
            <p:nvPr/>
          </p:nvSpPr>
          <p:spPr>
            <a:xfrm>
              <a:off x="5875925" y="4153525"/>
              <a:ext cx="120525" cy="105550"/>
            </a:xfrm>
            <a:custGeom>
              <a:avLst/>
              <a:gdLst/>
              <a:ahLst/>
              <a:cxnLst/>
              <a:rect l="l" t="t" r="r" b="b"/>
              <a:pathLst>
                <a:path w="4821" h="4222" extrusionOk="0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1" name="Google Shape;6524;p78"/>
            <p:cNvSpPr/>
            <p:nvPr/>
          </p:nvSpPr>
          <p:spPr>
            <a:xfrm>
              <a:off x="5754625" y="3963700"/>
              <a:ext cx="224500" cy="154400"/>
            </a:xfrm>
            <a:custGeom>
              <a:avLst/>
              <a:gdLst/>
              <a:ahLst/>
              <a:cxnLst/>
              <a:rect l="l" t="t" r="r" b="b"/>
              <a:pathLst>
                <a:path w="8980" h="6176" extrusionOk="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2" name="Google Shape;6525;p78"/>
            <p:cNvSpPr/>
            <p:nvPr/>
          </p:nvSpPr>
          <p:spPr>
            <a:xfrm>
              <a:off x="5806625" y="3998350"/>
              <a:ext cx="69325" cy="52025"/>
            </a:xfrm>
            <a:custGeom>
              <a:avLst/>
              <a:gdLst/>
              <a:ahLst/>
              <a:cxnLst/>
              <a:rect l="l" t="t" r="r" b="b"/>
              <a:pathLst>
                <a:path w="2773" h="2081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3" name="Google Shape;6526;p78"/>
            <p:cNvSpPr/>
            <p:nvPr/>
          </p:nvSpPr>
          <p:spPr>
            <a:xfrm>
              <a:off x="5893250" y="3999150"/>
              <a:ext cx="34675" cy="51225"/>
            </a:xfrm>
            <a:custGeom>
              <a:avLst/>
              <a:gdLst/>
              <a:ahLst/>
              <a:cxnLst/>
              <a:rect l="l" t="t" r="r" b="b"/>
              <a:pathLst>
                <a:path w="1387" h="2049" extrusionOk="0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4" name="Google Shape;6527;p78"/>
            <p:cNvSpPr/>
            <p:nvPr/>
          </p:nvSpPr>
          <p:spPr>
            <a:xfrm>
              <a:off x="5806625" y="4049550"/>
              <a:ext cx="121300" cy="104000"/>
            </a:xfrm>
            <a:custGeom>
              <a:avLst/>
              <a:gdLst/>
              <a:ahLst/>
              <a:cxnLst/>
              <a:rect l="l" t="t" r="r" b="b"/>
              <a:pathLst>
                <a:path w="4852" h="4160" extrusionOk="0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35" name="Google Shape;6193;p78"/>
          <p:cNvGrpSpPr/>
          <p:nvPr/>
        </p:nvGrpSpPr>
        <p:grpSpPr>
          <a:xfrm>
            <a:off x="633548" y="4538541"/>
            <a:ext cx="193804" cy="227914"/>
            <a:chOff x="-60232500" y="4101525"/>
            <a:chExt cx="268600" cy="315875"/>
          </a:xfrm>
          <a:solidFill>
            <a:schemeClr val="bg1"/>
          </a:solidFill>
        </p:grpSpPr>
        <p:sp>
          <p:nvSpPr>
            <p:cNvPr id="336" name="Google Shape;6194;p78"/>
            <p:cNvSpPr/>
            <p:nvPr/>
          </p:nvSpPr>
          <p:spPr>
            <a:xfrm>
              <a:off x="-60222275" y="4273225"/>
              <a:ext cx="63025" cy="144175"/>
            </a:xfrm>
            <a:custGeom>
              <a:avLst/>
              <a:gdLst/>
              <a:ahLst/>
              <a:cxnLst/>
              <a:rect l="l" t="t" r="r" b="b"/>
              <a:pathLst>
                <a:path w="2521" h="5767" extrusionOk="0">
                  <a:moveTo>
                    <a:pt x="1261" y="1"/>
                  </a:moveTo>
                  <a:cubicBezTo>
                    <a:pt x="1072" y="1"/>
                    <a:pt x="851" y="190"/>
                    <a:pt x="851" y="379"/>
                  </a:cubicBezTo>
                  <a:lnTo>
                    <a:pt x="851" y="662"/>
                  </a:lnTo>
                  <a:cubicBezTo>
                    <a:pt x="379" y="820"/>
                    <a:pt x="1" y="1293"/>
                    <a:pt x="1" y="1828"/>
                  </a:cubicBezTo>
                  <a:cubicBezTo>
                    <a:pt x="1" y="2521"/>
                    <a:pt x="568" y="2899"/>
                    <a:pt x="1009" y="3214"/>
                  </a:cubicBezTo>
                  <a:cubicBezTo>
                    <a:pt x="1324" y="3466"/>
                    <a:pt x="1671" y="3687"/>
                    <a:pt x="1671" y="3939"/>
                  </a:cubicBezTo>
                  <a:cubicBezTo>
                    <a:pt x="1671" y="4160"/>
                    <a:pt x="1482" y="4349"/>
                    <a:pt x="1261" y="4349"/>
                  </a:cubicBezTo>
                  <a:cubicBezTo>
                    <a:pt x="1072" y="4349"/>
                    <a:pt x="851" y="4160"/>
                    <a:pt x="851" y="3939"/>
                  </a:cubicBezTo>
                  <a:cubicBezTo>
                    <a:pt x="851" y="3687"/>
                    <a:pt x="631" y="3529"/>
                    <a:pt x="442" y="3529"/>
                  </a:cubicBezTo>
                  <a:cubicBezTo>
                    <a:pt x="253" y="3529"/>
                    <a:pt x="64" y="3718"/>
                    <a:pt x="64" y="3939"/>
                  </a:cubicBezTo>
                  <a:cubicBezTo>
                    <a:pt x="64" y="4475"/>
                    <a:pt x="410" y="4916"/>
                    <a:pt x="883" y="5105"/>
                  </a:cubicBezTo>
                  <a:lnTo>
                    <a:pt x="883" y="5388"/>
                  </a:lnTo>
                  <a:cubicBezTo>
                    <a:pt x="883" y="5609"/>
                    <a:pt x="1072" y="5766"/>
                    <a:pt x="1324" y="5766"/>
                  </a:cubicBezTo>
                  <a:cubicBezTo>
                    <a:pt x="1545" y="5766"/>
                    <a:pt x="1702" y="5577"/>
                    <a:pt x="1702" y="5388"/>
                  </a:cubicBezTo>
                  <a:lnTo>
                    <a:pt x="1702" y="5105"/>
                  </a:lnTo>
                  <a:cubicBezTo>
                    <a:pt x="2175" y="4947"/>
                    <a:pt x="2521" y="4475"/>
                    <a:pt x="2521" y="3939"/>
                  </a:cubicBezTo>
                  <a:cubicBezTo>
                    <a:pt x="2521" y="3246"/>
                    <a:pt x="1986" y="2868"/>
                    <a:pt x="1545" y="2553"/>
                  </a:cubicBezTo>
                  <a:cubicBezTo>
                    <a:pt x="1229" y="2301"/>
                    <a:pt x="883" y="2080"/>
                    <a:pt x="883" y="1828"/>
                  </a:cubicBezTo>
                  <a:cubicBezTo>
                    <a:pt x="883" y="1608"/>
                    <a:pt x="1072" y="1450"/>
                    <a:pt x="1261" y="1450"/>
                  </a:cubicBezTo>
                  <a:cubicBezTo>
                    <a:pt x="1513" y="1450"/>
                    <a:pt x="1671" y="1639"/>
                    <a:pt x="1671" y="1828"/>
                  </a:cubicBezTo>
                  <a:cubicBezTo>
                    <a:pt x="1671" y="2080"/>
                    <a:pt x="1860" y="2269"/>
                    <a:pt x="2112" y="2269"/>
                  </a:cubicBezTo>
                  <a:cubicBezTo>
                    <a:pt x="2332" y="2269"/>
                    <a:pt x="2490" y="2080"/>
                    <a:pt x="2490" y="1828"/>
                  </a:cubicBezTo>
                  <a:cubicBezTo>
                    <a:pt x="2490" y="1293"/>
                    <a:pt x="2143" y="852"/>
                    <a:pt x="1671" y="662"/>
                  </a:cubicBezTo>
                  <a:lnTo>
                    <a:pt x="1671" y="379"/>
                  </a:lnTo>
                  <a:cubicBezTo>
                    <a:pt x="1671" y="158"/>
                    <a:pt x="1482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7" name="Google Shape;6195;p78"/>
            <p:cNvSpPr/>
            <p:nvPr/>
          </p:nvSpPr>
          <p:spPr>
            <a:xfrm>
              <a:off x="-60232500" y="4101525"/>
              <a:ext cx="268600" cy="315875"/>
            </a:xfrm>
            <a:custGeom>
              <a:avLst/>
              <a:gdLst/>
              <a:ahLst/>
              <a:cxnLst/>
              <a:rect l="l" t="t" r="r" b="b"/>
              <a:pathLst>
                <a:path w="10744" h="12635" extrusionOk="0">
                  <a:moveTo>
                    <a:pt x="5356" y="1"/>
                  </a:moveTo>
                  <a:cubicBezTo>
                    <a:pt x="5104" y="1"/>
                    <a:pt x="4946" y="190"/>
                    <a:pt x="4946" y="410"/>
                  </a:cubicBezTo>
                  <a:lnTo>
                    <a:pt x="4946" y="820"/>
                  </a:lnTo>
                  <a:cubicBezTo>
                    <a:pt x="2206" y="1041"/>
                    <a:pt x="0" y="3340"/>
                    <a:pt x="0" y="6176"/>
                  </a:cubicBezTo>
                  <a:lnTo>
                    <a:pt x="0" y="6585"/>
                  </a:lnTo>
                  <a:lnTo>
                    <a:pt x="32" y="6585"/>
                  </a:lnTo>
                  <a:cubicBezTo>
                    <a:pt x="32" y="6806"/>
                    <a:pt x="221" y="6963"/>
                    <a:pt x="473" y="6963"/>
                  </a:cubicBezTo>
                  <a:cubicBezTo>
                    <a:pt x="693" y="6963"/>
                    <a:pt x="851" y="6774"/>
                    <a:pt x="851" y="6585"/>
                  </a:cubicBezTo>
                  <a:cubicBezTo>
                    <a:pt x="851" y="6113"/>
                    <a:pt x="1197" y="5766"/>
                    <a:pt x="1701" y="5766"/>
                  </a:cubicBezTo>
                  <a:cubicBezTo>
                    <a:pt x="2174" y="5766"/>
                    <a:pt x="2521" y="6113"/>
                    <a:pt x="2521" y="6585"/>
                  </a:cubicBezTo>
                  <a:cubicBezTo>
                    <a:pt x="2521" y="6806"/>
                    <a:pt x="2710" y="6963"/>
                    <a:pt x="2899" y="6963"/>
                  </a:cubicBezTo>
                  <a:cubicBezTo>
                    <a:pt x="3119" y="6963"/>
                    <a:pt x="3308" y="6774"/>
                    <a:pt x="3308" y="6585"/>
                  </a:cubicBezTo>
                  <a:cubicBezTo>
                    <a:pt x="3308" y="6113"/>
                    <a:pt x="3655" y="5766"/>
                    <a:pt x="4127" y="5766"/>
                  </a:cubicBezTo>
                  <a:cubicBezTo>
                    <a:pt x="4600" y="5766"/>
                    <a:pt x="4946" y="6113"/>
                    <a:pt x="4946" y="6585"/>
                  </a:cubicBezTo>
                  <a:lnTo>
                    <a:pt x="4946" y="11437"/>
                  </a:lnTo>
                  <a:cubicBezTo>
                    <a:pt x="4946" y="12099"/>
                    <a:pt x="5514" y="12634"/>
                    <a:pt x="6175" y="12634"/>
                  </a:cubicBezTo>
                  <a:cubicBezTo>
                    <a:pt x="6837" y="12634"/>
                    <a:pt x="7404" y="12099"/>
                    <a:pt x="7404" y="11437"/>
                  </a:cubicBezTo>
                  <a:lnTo>
                    <a:pt x="7404" y="10586"/>
                  </a:lnTo>
                  <a:cubicBezTo>
                    <a:pt x="7404" y="10366"/>
                    <a:pt x="7215" y="10208"/>
                    <a:pt x="6994" y="10208"/>
                  </a:cubicBezTo>
                  <a:cubicBezTo>
                    <a:pt x="6805" y="10208"/>
                    <a:pt x="6616" y="10397"/>
                    <a:pt x="6616" y="10586"/>
                  </a:cubicBezTo>
                  <a:lnTo>
                    <a:pt x="6616" y="11437"/>
                  </a:lnTo>
                  <a:cubicBezTo>
                    <a:pt x="6616" y="11658"/>
                    <a:pt x="6427" y="11815"/>
                    <a:pt x="6175" y="11815"/>
                  </a:cubicBezTo>
                  <a:cubicBezTo>
                    <a:pt x="5955" y="11815"/>
                    <a:pt x="5797" y="11626"/>
                    <a:pt x="5797" y="11437"/>
                  </a:cubicBezTo>
                  <a:lnTo>
                    <a:pt x="5797" y="6585"/>
                  </a:lnTo>
                  <a:cubicBezTo>
                    <a:pt x="5797" y="6113"/>
                    <a:pt x="6144" y="5766"/>
                    <a:pt x="6616" y="5766"/>
                  </a:cubicBezTo>
                  <a:cubicBezTo>
                    <a:pt x="7089" y="5766"/>
                    <a:pt x="7435" y="6113"/>
                    <a:pt x="7435" y="6585"/>
                  </a:cubicBezTo>
                  <a:cubicBezTo>
                    <a:pt x="7435" y="6806"/>
                    <a:pt x="7624" y="6963"/>
                    <a:pt x="7876" y="6963"/>
                  </a:cubicBezTo>
                  <a:cubicBezTo>
                    <a:pt x="8097" y="6963"/>
                    <a:pt x="8255" y="6774"/>
                    <a:pt x="8255" y="6585"/>
                  </a:cubicBezTo>
                  <a:cubicBezTo>
                    <a:pt x="8255" y="6113"/>
                    <a:pt x="8633" y="5766"/>
                    <a:pt x="9105" y="5766"/>
                  </a:cubicBezTo>
                  <a:cubicBezTo>
                    <a:pt x="9578" y="5766"/>
                    <a:pt x="9924" y="6113"/>
                    <a:pt x="9924" y="6585"/>
                  </a:cubicBezTo>
                  <a:cubicBezTo>
                    <a:pt x="9924" y="6806"/>
                    <a:pt x="10113" y="6963"/>
                    <a:pt x="10302" y="6963"/>
                  </a:cubicBezTo>
                  <a:cubicBezTo>
                    <a:pt x="10523" y="6963"/>
                    <a:pt x="10743" y="6774"/>
                    <a:pt x="10743" y="6585"/>
                  </a:cubicBezTo>
                  <a:lnTo>
                    <a:pt x="10743" y="6176"/>
                  </a:lnTo>
                  <a:cubicBezTo>
                    <a:pt x="10743" y="3340"/>
                    <a:pt x="8538" y="1041"/>
                    <a:pt x="5797" y="820"/>
                  </a:cubicBezTo>
                  <a:lnTo>
                    <a:pt x="5797" y="410"/>
                  </a:lnTo>
                  <a:cubicBezTo>
                    <a:pt x="5797" y="158"/>
                    <a:pt x="5577" y="1"/>
                    <a:pt x="5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38" name="Google Shape;6461;p78"/>
          <p:cNvGrpSpPr/>
          <p:nvPr/>
        </p:nvGrpSpPr>
        <p:grpSpPr>
          <a:xfrm>
            <a:off x="608635" y="5361457"/>
            <a:ext cx="244005" cy="161133"/>
            <a:chOff x="5358450" y="4015675"/>
            <a:chExt cx="289875" cy="191425"/>
          </a:xfrm>
          <a:solidFill>
            <a:schemeClr val="bg1"/>
          </a:solidFill>
        </p:grpSpPr>
        <p:sp>
          <p:nvSpPr>
            <p:cNvPr id="339" name="Google Shape;6462;p78"/>
            <p:cNvSpPr/>
            <p:nvPr/>
          </p:nvSpPr>
          <p:spPr>
            <a:xfrm>
              <a:off x="5358450" y="4015675"/>
              <a:ext cx="289875" cy="89025"/>
            </a:xfrm>
            <a:custGeom>
              <a:avLst/>
              <a:gdLst/>
              <a:ahLst/>
              <a:cxnLst/>
              <a:rect l="l" t="t" r="r" b="b"/>
              <a:pathLst>
                <a:path w="11595" h="3561" extrusionOk="0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0" name="Google Shape;6463;p78"/>
            <p:cNvSpPr/>
            <p:nvPr/>
          </p:nvSpPr>
          <p:spPr>
            <a:xfrm>
              <a:off x="5494725" y="41015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1" name="Google Shape;6464;p78"/>
            <p:cNvSpPr/>
            <p:nvPr/>
          </p:nvSpPr>
          <p:spPr>
            <a:xfrm>
              <a:off x="5460050" y="4077125"/>
              <a:ext cx="86675" cy="78000"/>
            </a:xfrm>
            <a:custGeom>
              <a:avLst/>
              <a:gdLst/>
              <a:ahLst/>
              <a:cxnLst/>
              <a:rect l="l" t="t" r="r" b="b"/>
              <a:pathLst>
                <a:path w="3467" h="3120" extrusionOk="0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2" name="Google Shape;6465;p78"/>
            <p:cNvSpPr/>
            <p:nvPr/>
          </p:nvSpPr>
          <p:spPr>
            <a:xfrm>
              <a:off x="5362400" y="4084200"/>
              <a:ext cx="282000" cy="122900"/>
            </a:xfrm>
            <a:custGeom>
              <a:avLst/>
              <a:gdLst/>
              <a:ahLst/>
              <a:cxnLst/>
              <a:rect l="l" t="t" r="r" b="b"/>
              <a:pathLst>
                <a:path w="11280" h="4916" extrusionOk="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45" name="组合 344"/>
          <p:cNvGrpSpPr/>
          <p:nvPr/>
        </p:nvGrpSpPr>
        <p:grpSpPr>
          <a:xfrm>
            <a:off x="11574367" y="1232537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44" name="斜纹 343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43" name="斜纹 342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11574367" y="2021452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47" name="斜纹 346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48" name="斜纹 347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11574367" y="2824681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0" name="斜纹 349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51" name="斜纹 350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11574367" y="3630278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3" name="斜纹 352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54" name="斜纹 353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55" name="组合 354"/>
          <p:cNvGrpSpPr/>
          <p:nvPr/>
        </p:nvGrpSpPr>
        <p:grpSpPr>
          <a:xfrm>
            <a:off x="11574367" y="4428255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6" name="斜纹 355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57" name="斜纹 356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58" name="组合 357"/>
          <p:cNvGrpSpPr/>
          <p:nvPr/>
        </p:nvGrpSpPr>
        <p:grpSpPr>
          <a:xfrm>
            <a:off x="11574367" y="5210902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9" name="斜纹 358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60" name="斜纹 359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8575" y="6126480"/>
            <a:ext cx="12163425" cy="351155"/>
            <a:chOff x="28575" y="6018132"/>
            <a:chExt cx="4705350" cy="350861"/>
          </a:xfrm>
        </p:grpSpPr>
        <p:sp>
          <p:nvSpPr>
            <p:cNvPr id="361" name="任意多边形: 形状 360"/>
            <p:cNvSpPr/>
            <p:nvPr/>
          </p:nvSpPr>
          <p:spPr>
            <a:xfrm>
              <a:off x="28575" y="6098714"/>
              <a:ext cx="4705350" cy="270279"/>
            </a:xfrm>
            <a:custGeom>
              <a:avLst/>
              <a:gdLst>
                <a:gd name="connsiteX0" fmla="*/ 0 w 4705350"/>
                <a:gd name="connsiteY0" fmla="*/ 270279 h 270279"/>
                <a:gd name="connsiteX1" fmla="*/ 933450 w 4705350"/>
                <a:gd name="connsiteY1" fmla="*/ 41679 h 270279"/>
                <a:gd name="connsiteX2" fmla="*/ 2352675 w 4705350"/>
                <a:gd name="connsiteY2" fmla="*/ 251229 h 270279"/>
                <a:gd name="connsiteX3" fmla="*/ 3895725 w 4705350"/>
                <a:gd name="connsiteY3" fmla="*/ 3579 h 270279"/>
                <a:gd name="connsiteX4" fmla="*/ 4705350 w 4705350"/>
                <a:gd name="connsiteY4" fmla="*/ 127404 h 27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5350" h="270279">
                  <a:moveTo>
                    <a:pt x="0" y="270279"/>
                  </a:moveTo>
                  <a:cubicBezTo>
                    <a:pt x="270669" y="157566"/>
                    <a:pt x="541338" y="44854"/>
                    <a:pt x="933450" y="41679"/>
                  </a:cubicBezTo>
                  <a:cubicBezTo>
                    <a:pt x="1325562" y="38504"/>
                    <a:pt x="1858963" y="257579"/>
                    <a:pt x="2352675" y="251229"/>
                  </a:cubicBezTo>
                  <a:cubicBezTo>
                    <a:pt x="2846387" y="244879"/>
                    <a:pt x="3503613" y="24216"/>
                    <a:pt x="3895725" y="3579"/>
                  </a:cubicBezTo>
                  <a:cubicBezTo>
                    <a:pt x="4287838" y="-17059"/>
                    <a:pt x="4496594" y="55172"/>
                    <a:pt x="4705350" y="127404"/>
                  </a:cubicBezTo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tx2">
                      <a:lumMod val="20000"/>
                      <a:lumOff val="80000"/>
                    </a:schemeClr>
                  </a:gs>
                  <a:gs pos="25000">
                    <a:schemeClr val="tx2">
                      <a:lumMod val="40000"/>
                      <a:lumOff val="60000"/>
                    </a:schemeClr>
                  </a:gs>
                  <a:gs pos="57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75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62" name="任意多边形: 形状 361"/>
            <p:cNvSpPr/>
            <p:nvPr/>
          </p:nvSpPr>
          <p:spPr>
            <a:xfrm flipV="1">
              <a:off x="28575" y="6018132"/>
              <a:ext cx="4705350" cy="270279"/>
            </a:xfrm>
            <a:custGeom>
              <a:avLst/>
              <a:gdLst>
                <a:gd name="connsiteX0" fmla="*/ 0 w 4705350"/>
                <a:gd name="connsiteY0" fmla="*/ 270279 h 270279"/>
                <a:gd name="connsiteX1" fmla="*/ 933450 w 4705350"/>
                <a:gd name="connsiteY1" fmla="*/ 41679 h 270279"/>
                <a:gd name="connsiteX2" fmla="*/ 2352675 w 4705350"/>
                <a:gd name="connsiteY2" fmla="*/ 251229 h 270279"/>
                <a:gd name="connsiteX3" fmla="*/ 3895725 w 4705350"/>
                <a:gd name="connsiteY3" fmla="*/ 3579 h 270279"/>
                <a:gd name="connsiteX4" fmla="*/ 4705350 w 4705350"/>
                <a:gd name="connsiteY4" fmla="*/ 127404 h 27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5350" h="270279">
                  <a:moveTo>
                    <a:pt x="0" y="270279"/>
                  </a:moveTo>
                  <a:cubicBezTo>
                    <a:pt x="270669" y="157566"/>
                    <a:pt x="541338" y="44854"/>
                    <a:pt x="933450" y="41679"/>
                  </a:cubicBezTo>
                  <a:cubicBezTo>
                    <a:pt x="1325562" y="38504"/>
                    <a:pt x="1858963" y="257579"/>
                    <a:pt x="2352675" y="251229"/>
                  </a:cubicBezTo>
                  <a:cubicBezTo>
                    <a:pt x="2846387" y="244879"/>
                    <a:pt x="3503613" y="24216"/>
                    <a:pt x="3895725" y="3579"/>
                  </a:cubicBezTo>
                  <a:cubicBezTo>
                    <a:pt x="4287838" y="-17059"/>
                    <a:pt x="4496594" y="55172"/>
                    <a:pt x="4705350" y="127404"/>
                  </a:cubicBezTo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25000">
                    <a:schemeClr val="accent1">
                      <a:lumMod val="45000"/>
                      <a:lumOff val="55000"/>
                    </a:schemeClr>
                  </a:gs>
                  <a:gs pos="57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4830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对比结构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/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产品对比分析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42925" y="1117601"/>
            <a:ext cx="4778602" cy="53975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8598" y="1117601"/>
            <a:ext cx="4778602" cy="53975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梯形 23"/>
          <p:cNvSpPr/>
          <p:nvPr/>
        </p:nvSpPr>
        <p:spPr>
          <a:xfrm rot="5400000">
            <a:off x="5077703" y="252808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梯形 29"/>
          <p:cNvSpPr/>
          <p:nvPr/>
        </p:nvSpPr>
        <p:spPr>
          <a:xfrm rot="16200000" flipH="1">
            <a:off x="2445856" y="62830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梯形 31"/>
          <p:cNvSpPr/>
          <p:nvPr/>
        </p:nvSpPr>
        <p:spPr>
          <a:xfrm rot="16200000" flipH="1">
            <a:off x="2445856" y="140307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3" name="梯形 32"/>
          <p:cNvSpPr/>
          <p:nvPr/>
        </p:nvSpPr>
        <p:spPr>
          <a:xfrm rot="16200000" flipH="1">
            <a:off x="2445856" y="217784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梯形 33"/>
          <p:cNvSpPr/>
          <p:nvPr/>
        </p:nvSpPr>
        <p:spPr>
          <a:xfrm rot="16200000" flipH="1">
            <a:off x="2445856" y="295261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" name="梯形 34"/>
          <p:cNvSpPr/>
          <p:nvPr/>
        </p:nvSpPr>
        <p:spPr>
          <a:xfrm rot="16200000" flipH="1">
            <a:off x="2445856" y="372738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6" name="梯形 35"/>
          <p:cNvSpPr/>
          <p:nvPr/>
        </p:nvSpPr>
        <p:spPr>
          <a:xfrm rot="16200000" flipH="1">
            <a:off x="2445857" y="-146463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8" name="梯形 37"/>
          <p:cNvSpPr/>
          <p:nvPr/>
        </p:nvSpPr>
        <p:spPr>
          <a:xfrm rot="5400000">
            <a:off x="5077703" y="175331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1" name="梯形 40"/>
          <p:cNvSpPr/>
          <p:nvPr/>
        </p:nvSpPr>
        <p:spPr>
          <a:xfrm rot="5400000">
            <a:off x="5077703" y="330285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梯形 41"/>
          <p:cNvSpPr/>
          <p:nvPr/>
        </p:nvSpPr>
        <p:spPr>
          <a:xfrm rot="5400000">
            <a:off x="5077703" y="407762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3" name="梯形 42"/>
          <p:cNvSpPr/>
          <p:nvPr/>
        </p:nvSpPr>
        <p:spPr>
          <a:xfrm rot="5400000">
            <a:off x="5077703" y="485239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4" name="梯形 43"/>
          <p:cNvSpPr/>
          <p:nvPr/>
        </p:nvSpPr>
        <p:spPr>
          <a:xfrm rot="5400000">
            <a:off x="5077702" y="5627170"/>
            <a:ext cx="725773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3" name="梯形 52"/>
          <p:cNvSpPr/>
          <p:nvPr/>
        </p:nvSpPr>
        <p:spPr>
          <a:xfrm rot="16200000" flipH="1">
            <a:off x="9258498" y="62830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5" name="梯形 54"/>
          <p:cNvSpPr/>
          <p:nvPr/>
        </p:nvSpPr>
        <p:spPr>
          <a:xfrm rot="16200000" flipH="1">
            <a:off x="9258498" y="140307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7" name="梯形 56"/>
          <p:cNvSpPr/>
          <p:nvPr/>
        </p:nvSpPr>
        <p:spPr>
          <a:xfrm rot="16200000" flipH="1">
            <a:off x="9258498" y="217784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8" name="梯形 57"/>
          <p:cNvSpPr/>
          <p:nvPr/>
        </p:nvSpPr>
        <p:spPr>
          <a:xfrm rot="16200000" flipH="1">
            <a:off x="9258498" y="295261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9" name="梯形 58"/>
          <p:cNvSpPr/>
          <p:nvPr/>
        </p:nvSpPr>
        <p:spPr>
          <a:xfrm rot="16200000" flipH="1">
            <a:off x="9258498" y="372738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0" name="梯形 59"/>
          <p:cNvSpPr/>
          <p:nvPr/>
        </p:nvSpPr>
        <p:spPr>
          <a:xfrm rot="16200000" flipH="1">
            <a:off x="9258499" y="-146462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5" name="梯形 44"/>
          <p:cNvSpPr/>
          <p:nvPr/>
        </p:nvSpPr>
        <p:spPr>
          <a:xfrm rot="16200000" flipH="1">
            <a:off x="6626650" y="252808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6" name="梯形 45"/>
          <p:cNvSpPr/>
          <p:nvPr/>
        </p:nvSpPr>
        <p:spPr>
          <a:xfrm rot="16200000" flipH="1">
            <a:off x="6626650" y="175331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7" name="梯形 46"/>
          <p:cNvSpPr/>
          <p:nvPr/>
        </p:nvSpPr>
        <p:spPr>
          <a:xfrm rot="16200000" flipH="1">
            <a:off x="6626650" y="330285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0" name="梯形 49"/>
          <p:cNvSpPr/>
          <p:nvPr/>
        </p:nvSpPr>
        <p:spPr>
          <a:xfrm rot="16200000" flipH="1">
            <a:off x="6626650" y="407762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1" name="梯形 50"/>
          <p:cNvSpPr/>
          <p:nvPr/>
        </p:nvSpPr>
        <p:spPr>
          <a:xfrm rot="16200000" flipH="1">
            <a:off x="6626650" y="485239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2" name="梯形 51"/>
          <p:cNvSpPr/>
          <p:nvPr/>
        </p:nvSpPr>
        <p:spPr>
          <a:xfrm rot="16200000" flipH="1">
            <a:off x="6626649" y="5627170"/>
            <a:ext cx="725773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559650" y="2678649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成本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5559650" y="3451328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耗时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5559650" y="4224007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风险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5559650" y="4996686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难度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5559650" y="5769364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收益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5559650" y="1905970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效果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784052" y="1829153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试点推广效果好，知名度升，转化高但留存降。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784052" y="2606571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广告与线下投入大，新客获取成本偏高。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784052" y="3383989"/>
            <a:ext cx="2503434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筹备久，推广快，项目周期约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6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784052" y="4161407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多渠道协同，跨部门协调与创意挑战大。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784052" y="4938825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多渠道协同，跨部门协调与创意挑战大。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784052" y="5716243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短期收益高，长期增长放缓，品牌增值。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3292808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推广效果好</a:t>
            </a:r>
          </a:p>
        </p:txBody>
      </p:sp>
      <p:sp>
        <p:nvSpPr>
          <p:cNvPr id="148" name="矩形: 圆角 147"/>
          <p:cNvSpPr/>
          <p:nvPr/>
        </p:nvSpPr>
        <p:spPr>
          <a:xfrm>
            <a:off x="4166727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转化数据好</a:t>
            </a:r>
          </a:p>
        </p:txBody>
      </p:sp>
      <p:sp>
        <p:nvSpPr>
          <p:cNvPr id="149" name="矩形: 圆角 148"/>
          <p:cNvSpPr/>
          <p:nvPr/>
        </p:nvSpPr>
        <p:spPr>
          <a:xfrm>
            <a:off x="3292808" y="215716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留存后劲弱</a:t>
            </a:r>
          </a:p>
        </p:txBody>
      </p:sp>
      <p:sp>
        <p:nvSpPr>
          <p:cNvPr id="150" name="矩形: 圆角 149"/>
          <p:cNvSpPr/>
          <p:nvPr/>
        </p:nvSpPr>
        <p:spPr>
          <a:xfrm>
            <a:off x="3292808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广告投入高</a:t>
            </a:r>
          </a:p>
        </p:txBody>
      </p:sp>
      <p:sp>
        <p:nvSpPr>
          <p:cNvPr id="151" name="矩形: 圆角 150"/>
          <p:cNvSpPr/>
          <p:nvPr/>
        </p:nvSpPr>
        <p:spPr>
          <a:xfrm>
            <a:off x="4166727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带盐费用贵</a:t>
            </a:r>
          </a:p>
        </p:txBody>
      </p:sp>
      <p:sp>
        <p:nvSpPr>
          <p:cNvPr id="152" name="矩形: 圆角 151"/>
          <p:cNvSpPr/>
          <p:nvPr/>
        </p:nvSpPr>
        <p:spPr>
          <a:xfrm>
            <a:off x="3292808" y="292644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获客成本大</a:t>
            </a:r>
          </a:p>
        </p:txBody>
      </p:sp>
      <p:sp>
        <p:nvSpPr>
          <p:cNvPr id="153" name="矩形: 圆角 152"/>
          <p:cNvSpPr/>
          <p:nvPr/>
        </p:nvSpPr>
        <p:spPr>
          <a:xfrm>
            <a:off x="3292808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筹备时间长</a:t>
            </a:r>
          </a:p>
        </p:txBody>
      </p:sp>
      <p:sp>
        <p:nvSpPr>
          <p:cNvPr id="154" name="矩形: 圆角 153"/>
          <p:cNvSpPr/>
          <p:nvPr/>
        </p:nvSpPr>
        <p:spPr>
          <a:xfrm>
            <a:off x="4166727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推广爆发力</a:t>
            </a:r>
          </a:p>
        </p:txBody>
      </p:sp>
      <p:sp>
        <p:nvSpPr>
          <p:cNvPr id="155" name="矩形: 圆角 154"/>
          <p:cNvSpPr/>
          <p:nvPr/>
        </p:nvSpPr>
        <p:spPr>
          <a:xfrm>
            <a:off x="3292808" y="369571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周期约半年</a:t>
            </a:r>
          </a:p>
        </p:txBody>
      </p:sp>
      <p:sp>
        <p:nvSpPr>
          <p:cNvPr id="156" name="矩形: 圆角 155"/>
          <p:cNvSpPr/>
          <p:nvPr/>
        </p:nvSpPr>
        <p:spPr>
          <a:xfrm>
            <a:off x="3292808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竞争模仿快</a:t>
            </a:r>
          </a:p>
        </p:txBody>
      </p:sp>
      <p:sp>
        <p:nvSpPr>
          <p:cNvPr id="157" name="矩形: 圆角 156"/>
          <p:cNvSpPr/>
          <p:nvPr/>
        </p:nvSpPr>
        <p:spPr>
          <a:xfrm>
            <a:off x="4166727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带盐风险高</a:t>
            </a:r>
          </a:p>
        </p:txBody>
      </p:sp>
      <p:sp>
        <p:nvSpPr>
          <p:cNvPr id="158" name="矩形: 圆角 157"/>
          <p:cNvSpPr/>
          <p:nvPr/>
        </p:nvSpPr>
        <p:spPr>
          <a:xfrm>
            <a:off x="3292808" y="446499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策略来应对</a:t>
            </a:r>
          </a:p>
        </p:txBody>
      </p:sp>
      <p:sp>
        <p:nvSpPr>
          <p:cNvPr id="159" name="矩形: 圆角 158"/>
          <p:cNvSpPr/>
          <p:nvPr/>
        </p:nvSpPr>
        <p:spPr>
          <a:xfrm>
            <a:off x="3292808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协同难度大</a:t>
            </a:r>
          </a:p>
        </p:txBody>
      </p:sp>
      <p:sp>
        <p:nvSpPr>
          <p:cNvPr id="160" name="矩形: 圆角 159"/>
          <p:cNvSpPr/>
          <p:nvPr/>
        </p:nvSpPr>
        <p:spPr>
          <a:xfrm>
            <a:off x="4166727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协调要求高</a:t>
            </a:r>
          </a:p>
        </p:txBody>
      </p:sp>
      <p:sp>
        <p:nvSpPr>
          <p:cNvPr id="161" name="矩形: 圆角 160"/>
          <p:cNvSpPr/>
          <p:nvPr/>
        </p:nvSpPr>
        <p:spPr>
          <a:xfrm>
            <a:off x="3292808" y="523426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创意执行难</a:t>
            </a:r>
          </a:p>
        </p:txBody>
      </p:sp>
      <p:sp>
        <p:nvSpPr>
          <p:cNvPr id="162" name="矩形: 圆角 161"/>
          <p:cNvSpPr/>
          <p:nvPr/>
        </p:nvSpPr>
        <p:spPr>
          <a:xfrm>
            <a:off x="3292808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长期增长缓</a:t>
            </a:r>
          </a:p>
        </p:txBody>
      </p:sp>
      <p:sp>
        <p:nvSpPr>
          <p:cNvPr id="163" name="矩形: 圆角 162"/>
          <p:cNvSpPr/>
          <p:nvPr/>
        </p:nvSpPr>
        <p:spPr>
          <a:xfrm>
            <a:off x="4166727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短期收益高</a:t>
            </a:r>
          </a:p>
        </p:txBody>
      </p:sp>
      <p:sp>
        <p:nvSpPr>
          <p:cNvPr id="164" name="矩形: 圆角 163"/>
          <p:cNvSpPr/>
          <p:nvPr/>
        </p:nvSpPr>
        <p:spPr>
          <a:xfrm>
            <a:off x="3292808" y="600354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品牌有增值</a:t>
            </a:r>
          </a:p>
        </p:txBody>
      </p:sp>
      <p:sp>
        <p:nvSpPr>
          <p:cNvPr id="225" name="文本框 224"/>
          <p:cNvSpPr txBox="1"/>
          <p:nvPr/>
        </p:nvSpPr>
        <p:spPr>
          <a:xfrm>
            <a:off x="7355567" y="1829153"/>
            <a:ext cx="2503434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小规模测试稳，留存高，长期转化后劲足。</a:t>
            </a:r>
          </a:p>
        </p:txBody>
      </p:sp>
      <p:sp>
        <p:nvSpPr>
          <p:cNvPr id="226" name="文本框 225"/>
          <p:cNvSpPr txBox="1"/>
          <p:nvPr/>
        </p:nvSpPr>
        <p:spPr>
          <a:xfrm>
            <a:off x="7355567" y="2606571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定向营销控成本，数字化运营降费用。</a:t>
            </a:r>
          </a:p>
        </p:txBody>
      </p:sp>
      <p:sp>
        <p:nvSpPr>
          <p:cNvPr id="227" name="文本框 226"/>
          <p:cNvSpPr txBox="1"/>
          <p:nvPr/>
        </p:nvSpPr>
        <p:spPr>
          <a:xfrm>
            <a:off x="7355567" y="3383989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筹备简，推进慢，整体耗时约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9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7355567" y="4161407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技术与拓展风险高，借调研监控降低。</a:t>
            </a:r>
          </a:p>
        </p:txBody>
      </p:sp>
      <p:sp>
        <p:nvSpPr>
          <p:cNvPr id="229" name="文本框 228"/>
          <p:cNvSpPr txBox="1"/>
          <p:nvPr/>
        </p:nvSpPr>
        <p:spPr>
          <a:xfrm>
            <a:off x="7355567" y="4938825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技术实现难，定向定位需专业能力强。</a:t>
            </a:r>
          </a:p>
        </p:txBody>
      </p:sp>
      <p:sp>
        <p:nvSpPr>
          <p:cNvPr id="230" name="文本框 229"/>
          <p:cNvSpPr txBox="1"/>
          <p:nvPr/>
        </p:nvSpPr>
        <p:spPr>
          <a:xfrm>
            <a:off x="7355567" y="5716243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前期增长缓，后期稳定，潜在价值大。</a:t>
            </a:r>
          </a:p>
        </p:txBody>
      </p:sp>
      <p:sp>
        <p:nvSpPr>
          <p:cNvPr id="231" name="矩形: 圆角 230"/>
          <p:cNvSpPr/>
          <p:nvPr/>
        </p:nvSpPr>
        <p:spPr>
          <a:xfrm>
            <a:off x="9864323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增长较平稳</a:t>
            </a:r>
          </a:p>
        </p:txBody>
      </p:sp>
      <p:sp>
        <p:nvSpPr>
          <p:cNvPr id="232" name="矩形: 圆角 231"/>
          <p:cNvSpPr/>
          <p:nvPr/>
        </p:nvSpPr>
        <p:spPr>
          <a:xfrm>
            <a:off x="10738242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留存效果优</a:t>
            </a:r>
          </a:p>
        </p:txBody>
      </p:sp>
      <p:sp>
        <p:nvSpPr>
          <p:cNvPr id="233" name="矩形: 圆角 232"/>
          <p:cNvSpPr/>
          <p:nvPr/>
        </p:nvSpPr>
        <p:spPr>
          <a:xfrm>
            <a:off x="9864323" y="215716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长期转化高</a:t>
            </a:r>
          </a:p>
        </p:txBody>
      </p:sp>
      <p:sp>
        <p:nvSpPr>
          <p:cNvPr id="234" name="矩形: 圆角 233"/>
          <p:cNvSpPr/>
          <p:nvPr/>
        </p:nvSpPr>
        <p:spPr>
          <a:xfrm>
            <a:off x="9864323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定向控营销</a:t>
            </a:r>
          </a:p>
        </p:txBody>
      </p:sp>
      <p:sp>
        <p:nvSpPr>
          <p:cNvPr id="235" name="矩形: 圆角 234"/>
          <p:cNvSpPr/>
          <p:nvPr/>
        </p:nvSpPr>
        <p:spPr>
          <a:xfrm>
            <a:off x="10738242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数字降人力</a:t>
            </a:r>
          </a:p>
        </p:txBody>
      </p:sp>
      <p:sp>
        <p:nvSpPr>
          <p:cNvPr id="236" name="矩形: 圆角 235"/>
          <p:cNvSpPr/>
          <p:nvPr/>
        </p:nvSpPr>
        <p:spPr>
          <a:xfrm>
            <a:off x="9864323" y="292644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获客成本低</a:t>
            </a:r>
          </a:p>
        </p:txBody>
      </p:sp>
      <p:sp>
        <p:nvSpPr>
          <p:cNvPr id="237" name="矩形: 圆角 236"/>
          <p:cNvSpPr/>
          <p:nvPr/>
        </p:nvSpPr>
        <p:spPr>
          <a:xfrm>
            <a:off x="9864323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筹备较简便</a:t>
            </a:r>
          </a:p>
        </p:txBody>
      </p:sp>
      <p:sp>
        <p:nvSpPr>
          <p:cNvPr id="238" name="矩形: 圆角 237"/>
          <p:cNvSpPr/>
          <p:nvPr/>
        </p:nvSpPr>
        <p:spPr>
          <a:xfrm>
            <a:off x="10738242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推广推进缓</a:t>
            </a:r>
          </a:p>
        </p:txBody>
      </p:sp>
      <p:sp>
        <p:nvSpPr>
          <p:cNvPr id="239" name="矩形: 圆角 238"/>
          <p:cNvSpPr/>
          <p:nvPr/>
        </p:nvSpPr>
        <p:spPr>
          <a:xfrm>
            <a:off x="9864323" y="369571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周期约九月</a:t>
            </a:r>
          </a:p>
        </p:txBody>
      </p:sp>
      <p:sp>
        <p:nvSpPr>
          <p:cNvPr id="240" name="矩形: 圆角 239"/>
          <p:cNvSpPr/>
          <p:nvPr/>
        </p:nvSpPr>
        <p:spPr>
          <a:xfrm>
            <a:off x="9864323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技术更新难</a:t>
            </a:r>
          </a:p>
        </p:txBody>
      </p:sp>
      <p:sp>
        <p:nvSpPr>
          <p:cNvPr id="241" name="矩形: 圆角 240"/>
          <p:cNvSpPr/>
          <p:nvPr/>
        </p:nvSpPr>
        <p:spPr>
          <a:xfrm>
            <a:off x="10738242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拓展判断难</a:t>
            </a:r>
          </a:p>
        </p:txBody>
      </p:sp>
      <p:sp>
        <p:nvSpPr>
          <p:cNvPr id="242" name="矩形: 圆角 241"/>
          <p:cNvSpPr/>
          <p:nvPr/>
        </p:nvSpPr>
        <p:spPr>
          <a:xfrm>
            <a:off x="9864323" y="446499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调研降风险</a:t>
            </a:r>
          </a:p>
        </p:txBody>
      </p:sp>
      <p:sp>
        <p:nvSpPr>
          <p:cNvPr id="243" name="矩形: 圆角 242"/>
          <p:cNvSpPr/>
          <p:nvPr/>
        </p:nvSpPr>
        <p:spPr>
          <a:xfrm>
            <a:off x="9864323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技术实现难</a:t>
            </a:r>
          </a:p>
        </p:txBody>
      </p:sp>
      <p:sp>
        <p:nvSpPr>
          <p:cNvPr id="244" name="矩形: 圆角 243"/>
          <p:cNvSpPr/>
          <p:nvPr/>
        </p:nvSpPr>
        <p:spPr>
          <a:xfrm>
            <a:off x="10738242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营销要求高</a:t>
            </a:r>
          </a:p>
        </p:txBody>
      </p:sp>
      <p:sp>
        <p:nvSpPr>
          <p:cNvPr id="245" name="矩形: 圆角 244"/>
          <p:cNvSpPr/>
          <p:nvPr/>
        </p:nvSpPr>
        <p:spPr>
          <a:xfrm>
            <a:off x="9864323" y="523426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定位难度大</a:t>
            </a:r>
          </a:p>
        </p:txBody>
      </p:sp>
      <p:sp>
        <p:nvSpPr>
          <p:cNvPr id="246" name="矩形: 圆角 245"/>
          <p:cNvSpPr/>
          <p:nvPr/>
        </p:nvSpPr>
        <p:spPr>
          <a:xfrm>
            <a:off x="9864323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前期增长慢</a:t>
            </a:r>
          </a:p>
        </p:txBody>
      </p:sp>
      <p:sp>
        <p:nvSpPr>
          <p:cNvPr id="247" name="矩形: 圆角 246"/>
          <p:cNvSpPr/>
          <p:nvPr/>
        </p:nvSpPr>
        <p:spPr>
          <a:xfrm>
            <a:off x="10738242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后期增长稳</a:t>
            </a:r>
          </a:p>
        </p:txBody>
      </p:sp>
      <p:sp>
        <p:nvSpPr>
          <p:cNvPr id="248" name="矩形: 圆角 247"/>
          <p:cNvSpPr/>
          <p:nvPr/>
        </p:nvSpPr>
        <p:spPr>
          <a:xfrm>
            <a:off x="9864323" y="600354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潜在价值高</a:t>
            </a:r>
          </a:p>
        </p:txBody>
      </p:sp>
      <p:sp>
        <p:nvSpPr>
          <p:cNvPr id="249" name="文本框 248"/>
          <p:cNvSpPr txBox="1"/>
          <p:nvPr/>
        </p:nvSpPr>
        <p:spPr>
          <a:xfrm>
            <a:off x="784052" y="1185142"/>
            <a:ext cx="133213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产品</a:t>
            </a:r>
            <a:r>
              <a:rPr lang="en-US" altLang="zh-CN" sz="2400" b="0" i="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A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7355567" y="1185142"/>
            <a:ext cx="133213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accent2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产品</a:t>
            </a:r>
            <a:r>
              <a:rPr lang="en-US" altLang="zh-CN" sz="2400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B</a:t>
            </a:r>
            <a:endParaRPr lang="zh-CN" altLang="en-US" sz="2400" dirty="0">
              <a:solidFill>
                <a:schemeClr val="accent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04947" y="200526"/>
            <a:ext cx="4830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对比结构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/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产品对比分析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泪滴形 2"/>
          <p:cNvSpPr/>
          <p:nvPr/>
        </p:nvSpPr>
        <p:spPr>
          <a:xfrm rot="4129015">
            <a:off x="933404" y="961380"/>
            <a:ext cx="1348100" cy="1348100"/>
          </a:xfrm>
          <a:prstGeom prst="teardrop">
            <a:avLst>
              <a:gd name="adj" fmla="val 127731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4" name="任意多边形: 形状 53"/>
          <p:cNvSpPr/>
          <p:nvPr/>
        </p:nvSpPr>
        <p:spPr>
          <a:xfrm rot="4129015">
            <a:off x="2485066" y="1629278"/>
            <a:ext cx="1530544" cy="1530544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317061 w 1637700"/>
              <a:gd name="connsiteY5" fmla="*/ 1514882 h 1637700"/>
              <a:gd name="connsiteX6" fmla="*/ 314650 w 1637700"/>
              <a:gd name="connsiteY6" fmla="*/ 1512893 h 1637700"/>
              <a:gd name="connsiteX7" fmla="*/ 348680 w 1637700"/>
              <a:gd name="connsiteY7" fmla="*/ 1387496 h 1637700"/>
              <a:gd name="connsiteX8" fmla="*/ 435928 w 1637700"/>
              <a:gd name="connsiteY8" fmla="*/ 1157855 h 1637700"/>
              <a:gd name="connsiteX9" fmla="*/ 206288 w 1637700"/>
              <a:gd name="connsiteY9" fmla="*/ 1245103 h 1637700"/>
              <a:gd name="connsiteX10" fmla="*/ 97798 w 1637700"/>
              <a:gd name="connsiteY10" fmla="*/ 1274545 h 1637700"/>
              <a:gd name="connsiteX11" fmla="*/ 56513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5" y="380531"/>
                  <a:pt x="421262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570200" y="1637700"/>
                  <a:pt x="431836" y="1592423"/>
                  <a:pt x="317061" y="1514882"/>
                </a:cubicBezTo>
                <a:lnTo>
                  <a:pt x="314650" y="1512893"/>
                </a:lnTo>
                <a:lnTo>
                  <a:pt x="348680" y="1387496"/>
                </a:lnTo>
                <a:cubicBezTo>
                  <a:pt x="373608" y="1310949"/>
                  <a:pt x="402690" y="1234402"/>
                  <a:pt x="435928" y="1157855"/>
                </a:cubicBezTo>
                <a:cubicBezTo>
                  <a:pt x="359381" y="1191092"/>
                  <a:pt x="282834" y="1220175"/>
                  <a:pt x="206288" y="1245103"/>
                </a:cubicBezTo>
                <a:lnTo>
                  <a:pt x="97798" y="1274545"/>
                </a:lnTo>
                <a:lnTo>
                  <a:pt x="56513" y="1198483"/>
                </a:lnTo>
                <a:cubicBezTo>
                  <a:pt x="20123" y="1112446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7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6" name="任意多边形: 形状 55"/>
          <p:cNvSpPr/>
          <p:nvPr/>
        </p:nvSpPr>
        <p:spPr>
          <a:xfrm rot="4129015">
            <a:off x="3998655" y="2313425"/>
            <a:ext cx="1531122" cy="1531122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439217 w 1637700"/>
              <a:gd name="connsiteY5" fmla="*/ 1581186 h 1637700"/>
              <a:gd name="connsiteX6" fmla="*/ 330424 w 1637700"/>
              <a:gd name="connsiteY6" fmla="*/ 1522135 h 1637700"/>
              <a:gd name="connsiteX7" fmla="*/ 365223 w 1637700"/>
              <a:gd name="connsiteY7" fmla="*/ 1393905 h 1637700"/>
              <a:gd name="connsiteX8" fmla="*/ 452470 w 1637700"/>
              <a:gd name="connsiteY8" fmla="*/ 1164265 h 1637700"/>
              <a:gd name="connsiteX9" fmla="*/ 222830 w 1637700"/>
              <a:gd name="connsiteY9" fmla="*/ 1251513 h 1637700"/>
              <a:gd name="connsiteX10" fmla="*/ 102955 w 1637700"/>
              <a:gd name="connsiteY10" fmla="*/ 1284045 h 1637700"/>
              <a:gd name="connsiteX11" fmla="*/ 56514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5" y="380532"/>
                  <a:pt x="421263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619846" y="1637700"/>
                  <a:pt x="525254" y="1617577"/>
                  <a:pt x="439217" y="1581186"/>
                </a:cubicBezTo>
                <a:lnTo>
                  <a:pt x="330424" y="1522135"/>
                </a:lnTo>
                <a:lnTo>
                  <a:pt x="365223" y="1393905"/>
                </a:lnTo>
                <a:cubicBezTo>
                  <a:pt x="390151" y="1317359"/>
                  <a:pt x="419233" y="1240812"/>
                  <a:pt x="452470" y="1164265"/>
                </a:cubicBezTo>
                <a:cubicBezTo>
                  <a:pt x="375924" y="1197503"/>
                  <a:pt x="299377" y="1226585"/>
                  <a:pt x="222830" y="1251513"/>
                </a:cubicBezTo>
                <a:lnTo>
                  <a:pt x="102955" y="1284045"/>
                </a:lnTo>
                <a:lnTo>
                  <a:pt x="56514" y="1198483"/>
                </a:lnTo>
                <a:cubicBezTo>
                  <a:pt x="20123" y="1112447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7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泪滴形 9"/>
          <p:cNvSpPr/>
          <p:nvPr/>
        </p:nvSpPr>
        <p:spPr>
          <a:xfrm rot="4129015">
            <a:off x="6964951" y="3678916"/>
            <a:ext cx="1415402" cy="1415402"/>
          </a:xfrm>
          <a:prstGeom prst="teardrop">
            <a:avLst>
              <a:gd name="adj" fmla="val 127731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 rot="4129015">
            <a:off x="8517751" y="4355086"/>
            <a:ext cx="1576206" cy="1576206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317061 w 1637700"/>
              <a:gd name="connsiteY5" fmla="*/ 1514882 h 1637700"/>
              <a:gd name="connsiteX6" fmla="*/ 316479 w 1637700"/>
              <a:gd name="connsiteY6" fmla="*/ 1514403 h 1637700"/>
              <a:gd name="connsiteX7" fmla="*/ 350706 w 1637700"/>
              <a:gd name="connsiteY7" fmla="*/ 1388281 h 1637700"/>
              <a:gd name="connsiteX8" fmla="*/ 437954 w 1637700"/>
              <a:gd name="connsiteY8" fmla="*/ 1158641 h 1637700"/>
              <a:gd name="connsiteX9" fmla="*/ 208314 w 1637700"/>
              <a:gd name="connsiteY9" fmla="*/ 1245889 h 1637700"/>
              <a:gd name="connsiteX10" fmla="*/ 98430 w 1637700"/>
              <a:gd name="connsiteY10" fmla="*/ 1275709 h 1637700"/>
              <a:gd name="connsiteX11" fmla="*/ 56513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6" y="380532"/>
                  <a:pt x="421262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570200" y="1637700"/>
                  <a:pt x="431836" y="1592423"/>
                  <a:pt x="317061" y="1514882"/>
                </a:cubicBezTo>
                <a:lnTo>
                  <a:pt x="316479" y="1514403"/>
                </a:lnTo>
                <a:lnTo>
                  <a:pt x="350706" y="1388281"/>
                </a:lnTo>
                <a:cubicBezTo>
                  <a:pt x="375634" y="1311734"/>
                  <a:pt x="404717" y="1235187"/>
                  <a:pt x="437954" y="1158641"/>
                </a:cubicBezTo>
                <a:cubicBezTo>
                  <a:pt x="361408" y="1191878"/>
                  <a:pt x="284860" y="1220960"/>
                  <a:pt x="208314" y="1245889"/>
                </a:cubicBezTo>
                <a:lnTo>
                  <a:pt x="98430" y="1275709"/>
                </a:lnTo>
                <a:lnTo>
                  <a:pt x="56513" y="1198483"/>
                </a:lnTo>
                <a:cubicBezTo>
                  <a:pt x="20123" y="1112447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8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4129015">
            <a:off x="10000883" y="5017071"/>
            <a:ext cx="1637700" cy="1637700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439217 w 1637700"/>
              <a:gd name="connsiteY5" fmla="*/ 1581187 h 1637700"/>
              <a:gd name="connsiteX6" fmla="*/ 322972 w 1637700"/>
              <a:gd name="connsiteY6" fmla="*/ 1518090 h 1637700"/>
              <a:gd name="connsiteX7" fmla="*/ 357487 w 1637700"/>
              <a:gd name="connsiteY7" fmla="*/ 1390909 h 1637700"/>
              <a:gd name="connsiteX8" fmla="*/ 444735 w 1637700"/>
              <a:gd name="connsiteY8" fmla="*/ 1161268 h 1637700"/>
              <a:gd name="connsiteX9" fmla="*/ 215095 w 1637700"/>
              <a:gd name="connsiteY9" fmla="*/ 1248516 h 1637700"/>
              <a:gd name="connsiteX10" fmla="*/ 100544 w 1637700"/>
              <a:gd name="connsiteY10" fmla="*/ 1279603 h 1637700"/>
              <a:gd name="connsiteX11" fmla="*/ 56513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5" y="380532"/>
                  <a:pt x="421262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619846" y="1637699"/>
                  <a:pt x="525253" y="1617577"/>
                  <a:pt x="439217" y="1581187"/>
                </a:cubicBezTo>
                <a:lnTo>
                  <a:pt x="322972" y="1518090"/>
                </a:lnTo>
                <a:lnTo>
                  <a:pt x="357487" y="1390909"/>
                </a:lnTo>
                <a:cubicBezTo>
                  <a:pt x="382414" y="1314362"/>
                  <a:pt x="411497" y="1237815"/>
                  <a:pt x="444735" y="1161268"/>
                </a:cubicBezTo>
                <a:cubicBezTo>
                  <a:pt x="368188" y="1194506"/>
                  <a:pt x="291641" y="1223588"/>
                  <a:pt x="215095" y="1248516"/>
                </a:cubicBezTo>
                <a:lnTo>
                  <a:pt x="100544" y="1279603"/>
                </a:lnTo>
                <a:lnTo>
                  <a:pt x="56513" y="1198483"/>
                </a:lnTo>
                <a:cubicBezTo>
                  <a:pt x="20123" y="1112447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8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8" name="等腰三角形 45"/>
          <p:cNvSpPr/>
          <p:nvPr/>
        </p:nvSpPr>
        <p:spPr>
          <a:xfrm>
            <a:off x="304800" y="2519519"/>
            <a:ext cx="8525668" cy="3995582"/>
          </a:xfrm>
          <a:custGeom>
            <a:avLst/>
            <a:gdLst>
              <a:gd name="connsiteX0" fmla="*/ 0 w 8525668"/>
              <a:gd name="connsiteY0" fmla="*/ 3779582 h 3995582"/>
              <a:gd name="connsiteX1" fmla="*/ 0 w 8525668"/>
              <a:gd name="connsiteY1" fmla="*/ 216233 h 3995582"/>
              <a:gd name="connsiteX2" fmla="*/ 303040 w 8525668"/>
              <a:gd name="connsiteY2" fmla="*/ 18546 h 3995582"/>
              <a:gd name="connsiteX3" fmla="*/ 8396176 w 8525668"/>
              <a:gd name="connsiteY3" fmla="*/ 3581895 h 3995582"/>
              <a:gd name="connsiteX4" fmla="*/ 8309136 w 8525668"/>
              <a:gd name="connsiteY4" fmla="*/ 3995582 h 3995582"/>
              <a:gd name="connsiteX5" fmla="*/ 216000 w 8525668"/>
              <a:gd name="connsiteY5" fmla="*/ 3995582 h 3995582"/>
              <a:gd name="connsiteX6" fmla="*/ 0 w 8525668"/>
              <a:gd name="connsiteY6" fmla="*/ 3779582 h 399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5668" h="3995582">
                <a:moveTo>
                  <a:pt x="0" y="3779582"/>
                </a:moveTo>
                <a:lnTo>
                  <a:pt x="0" y="216233"/>
                </a:lnTo>
                <a:cubicBezTo>
                  <a:pt x="0" y="60279"/>
                  <a:pt x="160308" y="-44297"/>
                  <a:pt x="303040" y="18546"/>
                </a:cubicBezTo>
                <a:lnTo>
                  <a:pt x="8396176" y="3581895"/>
                </a:lnTo>
                <a:cubicBezTo>
                  <a:pt x="8610398" y="3676216"/>
                  <a:pt x="8543203" y="3995582"/>
                  <a:pt x="8309136" y="3995582"/>
                </a:cubicBezTo>
                <a:lnTo>
                  <a:pt x="216000" y="3995582"/>
                </a:lnTo>
                <a:cubicBezTo>
                  <a:pt x="96768" y="3995582"/>
                  <a:pt x="0" y="3898814"/>
                  <a:pt x="0" y="3779582"/>
                </a:cubicBezTo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49" name="等腰三角形 45"/>
          <p:cNvSpPr/>
          <p:nvPr/>
        </p:nvSpPr>
        <p:spPr>
          <a:xfrm flipH="1" flipV="1">
            <a:off x="3386076" y="961380"/>
            <a:ext cx="8525668" cy="3995582"/>
          </a:xfrm>
          <a:custGeom>
            <a:avLst/>
            <a:gdLst>
              <a:gd name="connsiteX0" fmla="*/ 0 w 8525668"/>
              <a:gd name="connsiteY0" fmla="*/ 3779582 h 3995582"/>
              <a:gd name="connsiteX1" fmla="*/ 0 w 8525668"/>
              <a:gd name="connsiteY1" fmla="*/ 216233 h 3995582"/>
              <a:gd name="connsiteX2" fmla="*/ 303040 w 8525668"/>
              <a:gd name="connsiteY2" fmla="*/ 18546 h 3995582"/>
              <a:gd name="connsiteX3" fmla="*/ 8396176 w 8525668"/>
              <a:gd name="connsiteY3" fmla="*/ 3581895 h 3995582"/>
              <a:gd name="connsiteX4" fmla="*/ 8309136 w 8525668"/>
              <a:gd name="connsiteY4" fmla="*/ 3995582 h 3995582"/>
              <a:gd name="connsiteX5" fmla="*/ 216000 w 8525668"/>
              <a:gd name="connsiteY5" fmla="*/ 3995582 h 3995582"/>
              <a:gd name="connsiteX6" fmla="*/ 0 w 8525668"/>
              <a:gd name="connsiteY6" fmla="*/ 3779582 h 399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5668" h="3995582">
                <a:moveTo>
                  <a:pt x="0" y="3779582"/>
                </a:moveTo>
                <a:lnTo>
                  <a:pt x="0" y="216233"/>
                </a:lnTo>
                <a:cubicBezTo>
                  <a:pt x="0" y="60279"/>
                  <a:pt x="160308" y="-44297"/>
                  <a:pt x="303040" y="18546"/>
                </a:cubicBezTo>
                <a:lnTo>
                  <a:pt x="8396176" y="3581895"/>
                </a:lnTo>
                <a:cubicBezTo>
                  <a:pt x="8610398" y="3676216"/>
                  <a:pt x="8543203" y="3995582"/>
                  <a:pt x="8309136" y="3995582"/>
                </a:cubicBezTo>
                <a:lnTo>
                  <a:pt x="216000" y="3995582"/>
                </a:lnTo>
                <a:cubicBezTo>
                  <a:pt x="96768" y="3995582"/>
                  <a:pt x="0" y="3898814"/>
                  <a:pt x="0" y="3779582"/>
                </a:cubicBezTo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5262" y="3355133"/>
            <a:ext cx="1323703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gradFill>
                  <a:gsLst>
                    <a:gs pos="16000">
                      <a:schemeClr val="accent1">
                        <a:lumMod val="75000"/>
                      </a:schemeClr>
                    </a:gs>
                    <a:gs pos="50000">
                      <a:schemeClr val="accent1">
                        <a:lumMod val="20000"/>
                        <a:lumOff val="80000"/>
                      </a:schemeClr>
                    </a:gs>
                    <a:gs pos="87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latin typeface="+mj-ea"/>
                <a:ea typeface="+mj-ea"/>
                <a:cs typeface="Roboto" panose="02000000000000000000" charset="0"/>
              </a:rPr>
              <a:t>VS</a:t>
            </a:r>
            <a:endParaRPr lang="zh-CN" altLang="en-US" sz="4800" dirty="0">
              <a:gradFill>
                <a:gsLst>
                  <a:gs pos="1600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20000"/>
                      <a:lumOff val="80000"/>
                    </a:schemeClr>
                  </a:gs>
                  <a:gs pos="87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3113" y="1438488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效果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45842" y="2177091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成本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71018" y="2834057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耗时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17540" y="4186130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风险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668335" y="4891961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难度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190937" y="5581036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收益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7818" y="5313691"/>
            <a:ext cx="6293386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试点推广效果好，知名度升，转化高但留存降。广告与线下投入大，新客获取成本偏高。筹备久，推广快，项目周期约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6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个月。竞争与带盐风险大，靠策略调整应对。多渠道协同，跨部门协调与创意挑战大。短期收益高，长期增长放缓，品牌增值。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441569" y="1110746"/>
            <a:ext cx="62933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小规模测试稳，留存高，长期转化后劲足。定向营销控成本，数字化运营降费用。筹备简，推进慢，整体耗时约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9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个月。技术与拓展风险高，借调研监控降低。技术实现难，定向定位需专业能力强。前期增长缓，后期稳定，潜在价值大。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04800" y="2519519"/>
            <a:ext cx="6165002" cy="2599525"/>
          </a:xfrm>
          <a:custGeom>
            <a:avLst/>
            <a:gdLst>
              <a:gd name="connsiteX0" fmla="*/ 195475 w 6165002"/>
              <a:gd name="connsiteY0" fmla="*/ 992 h 2599525"/>
              <a:gd name="connsiteX1" fmla="*/ 303040 w 6165002"/>
              <a:gd name="connsiteY1" fmla="*/ 18546 h 2599525"/>
              <a:gd name="connsiteX2" fmla="*/ 6165002 w 6165002"/>
              <a:gd name="connsiteY2" fmla="*/ 2599525 h 2599525"/>
              <a:gd name="connsiteX3" fmla="*/ 0 w 6165002"/>
              <a:gd name="connsiteY3" fmla="*/ 2599525 h 2599525"/>
              <a:gd name="connsiteX4" fmla="*/ 0 w 6165002"/>
              <a:gd name="connsiteY4" fmla="*/ 216233 h 2599525"/>
              <a:gd name="connsiteX5" fmla="*/ 195475 w 6165002"/>
              <a:gd name="connsiteY5" fmla="*/ 992 h 259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65002" h="2599525">
                <a:moveTo>
                  <a:pt x="195475" y="992"/>
                </a:moveTo>
                <a:cubicBezTo>
                  <a:pt x="230576" y="-2412"/>
                  <a:pt x="267357" y="2835"/>
                  <a:pt x="303040" y="18546"/>
                </a:cubicBezTo>
                <a:lnTo>
                  <a:pt x="6165002" y="2599525"/>
                </a:lnTo>
                <a:lnTo>
                  <a:pt x="0" y="2599525"/>
                </a:lnTo>
                <a:lnTo>
                  <a:pt x="0" y="216233"/>
                </a:lnTo>
                <a:cubicBezTo>
                  <a:pt x="0" y="99268"/>
                  <a:pt x="90173" y="11202"/>
                  <a:pt x="195475" y="992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54681" y="3668513"/>
            <a:ext cx="9352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A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540648" y="3966320"/>
            <a:ext cx="20392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产品</a:t>
            </a:r>
          </a:p>
        </p:txBody>
      </p:sp>
      <p:sp>
        <p:nvSpPr>
          <p:cNvPr id="36" name="任意多边形: 形状 35"/>
          <p:cNvSpPr/>
          <p:nvPr/>
        </p:nvSpPr>
        <p:spPr>
          <a:xfrm flipH="1" flipV="1">
            <a:off x="5751452" y="2366146"/>
            <a:ext cx="6165002" cy="2599525"/>
          </a:xfrm>
          <a:custGeom>
            <a:avLst/>
            <a:gdLst>
              <a:gd name="connsiteX0" fmla="*/ 195475 w 6165002"/>
              <a:gd name="connsiteY0" fmla="*/ 992 h 2599525"/>
              <a:gd name="connsiteX1" fmla="*/ 303040 w 6165002"/>
              <a:gd name="connsiteY1" fmla="*/ 18546 h 2599525"/>
              <a:gd name="connsiteX2" fmla="*/ 6165002 w 6165002"/>
              <a:gd name="connsiteY2" fmla="*/ 2599525 h 2599525"/>
              <a:gd name="connsiteX3" fmla="*/ 0 w 6165002"/>
              <a:gd name="connsiteY3" fmla="*/ 2599525 h 2599525"/>
              <a:gd name="connsiteX4" fmla="*/ 0 w 6165002"/>
              <a:gd name="connsiteY4" fmla="*/ 216233 h 2599525"/>
              <a:gd name="connsiteX5" fmla="*/ 195475 w 6165002"/>
              <a:gd name="connsiteY5" fmla="*/ 992 h 259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65002" h="2599525">
                <a:moveTo>
                  <a:pt x="195475" y="992"/>
                </a:moveTo>
                <a:cubicBezTo>
                  <a:pt x="230576" y="-2412"/>
                  <a:pt x="267357" y="2835"/>
                  <a:pt x="303040" y="18546"/>
                </a:cubicBezTo>
                <a:lnTo>
                  <a:pt x="6165002" y="2599525"/>
                </a:lnTo>
                <a:lnTo>
                  <a:pt x="0" y="2599525"/>
                </a:lnTo>
                <a:lnTo>
                  <a:pt x="0" y="216233"/>
                </a:lnTo>
                <a:cubicBezTo>
                  <a:pt x="0" y="99268"/>
                  <a:pt x="90173" y="11202"/>
                  <a:pt x="195475" y="992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534865" y="3064970"/>
            <a:ext cx="20392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产品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9520535" y="2802429"/>
            <a:ext cx="9352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66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B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任意多边形: 形状 140"/>
          <p:cNvSpPr/>
          <p:nvPr/>
        </p:nvSpPr>
        <p:spPr>
          <a:xfrm>
            <a:off x="4446106" y="1243121"/>
            <a:ext cx="3299788" cy="3370998"/>
          </a:xfrm>
          <a:custGeom>
            <a:avLst/>
            <a:gdLst>
              <a:gd name="connsiteX0" fmla="*/ 1752082 w 3741425"/>
              <a:gd name="connsiteY0" fmla="*/ 3541381 h 3822166"/>
              <a:gd name="connsiteX1" fmla="*/ 1870712 w 3741425"/>
              <a:gd name="connsiteY1" fmla="*/ 3547371 h 3822166"/>
              <a:gd name="connsiteX2" fmla="*/ 1943379 w 3741425"/>
              <a:gd name="connsiteY2" fmla="*/ 3543702 h 3822166"/>
              <a:gd name="connsiteX3" fmla="*/ 1954633 w 3741425"/>
              <a:gd name="connsiteY3" fmla="*/ 3820706 h 3822166"/>
              <a:gd name="connsiteX4" fmla="*/ 1889019 w 3741425"/>
              <a:gd name="connsiteY4" fmla="*/ 3822166 h 3822166"/>
              <a:gd name="connsiteX5" fmla="*/ 1732117 w 3741425"/>
              <a:gd name="connsiteY5" fmla="*/ 3817297 h 3822166"/>
              <a:gd name="connsiteX6" fmla="*/ 2413282 w 3741425"/>
              <a:gd name="connsiteY6" fmla="*/ 3453929 h 3822166"/>
              <a:gd name="connsiteX7" fmla="*/ 2503316 w 3741425"/>
              <a:gd name="connsiteY7" fmla="*/ 3712127 h 3822166"/>
              <a:gd name="connsiteX8" fmla="*/ 2287454 w 3741425"/>
              <a:gd name="connsiteY8" fmla="*/ 3774937 h 3822166"/>
              <a:gd name="connsiteX9" fmla="*/ 2227802 w 3741425"/>
              <a:gd name="connsiteY9" fmla="*/ 3507405 h 3822166"/>
              <a:gd name="connsiteX10" fmla="*/ 2360152 w 3741425"/>
              <a:gd name="connsiteY10" fmla="*/ 3473375 h 3822166"/>
              <a:gd name="connsiteX11" fmla="*/ 1284915 w 3741425"/>
              <a:gd name="connsiteY11" fmla="*/ 3438107 h 3822166"/>
              <a:gd name="connsiteX12" fmla="*/ 1381272 w 3741425"/>
              <a:gd name="connsiteY12" fmla="*/ 3473375 h 3822166"/>
              <a:gd name="connsiteX13" fmla="*/ 1467323 w 3741425"/>
              <a:gd name="connsiteY13" fmla="*/ 3495500 h 3822166"/>
              <a:gd name="connsiteX14" fmla="*/ 1399287 w 3741425"/>
              <a:gd name="connsiteY14" fmla="*/ 3761301 h 3822166"/>
              <a:gd name="connsiteX15" fmla="*/ 1186757 w 3741425"/>
              <a:gd name="connsiteY15" fmla="*/ 3690701 h 3822166"/>
              <a:gd name="connsiteX16" fmla="*/ 2839146 w 3741425"/>
              <a:gd name="connsiteY16" fmla="*/ 3230237 h 3822166"/>
              <a:gd name="connsiteX17" fmla="*/ 2993992 w 3741425"/>
              <a:gd name="connsiteY17" fmla="*/ 3441410 h 3822166"/>
              <a:gd name="connsiteX18" fmla="*/ 2901277 w 3741425"/>
              <a:gd name="connsiteY18" fmla="*/ 3508115 h 3822166"/>
              <a:gd name="connsiteX19" fmla="*/ 2808562 w 3741425"/>
              <a:gd name="connsiteY19" fmla="*/ 3568004 h 3822166"/>
              <a:gd name="connsiteX20" fmla="*/ 2677073 w 3741425"/>
              <a:gd name="connsiteY20" fmla="*/ 3335459 h 3822166"/>
              <a:gd name="connsiteX21" fmla="*/ 2790950 w 3741425"/>
              <a:gd name="connsiteY21" fmla="*/ 3266277 h 3822166"/>
              <a:gd name="connsiteX22" fmla="*/ 863986 w 3741425"/>
              <a:gd name="connsiteY22" fmla="*/ 3201603 h 3822166"/>
              <a:gd name="connsiteX23" fmla="*/ 950474 w 3741425"/>
              <a:gd name="connsiteY23" fmla="*/ 3266277 h 3822166"/>
              <a:gd name="connsiteX24" fmla="*/ 1025673 w 3741425"/>
              <a:gd name="connsiteY24" fmla="*/ 3311961 h 3822166"/>
              <a:gd name="connsiteX25" fmla="*/ 888165 w 3741425"/>
              <a:gd name="connsiteY25" fmla="*/ 3539764 h 3822166"/>
              <a:gd name="connsiteX26" fmla="*/ 703210 w 3741425"/>
              <a:gd name="connsiteY26" fmla="*/ 3406353 h 3822166"/>
              <a:gd name="connsiteX27" fmla="*/ 3186622 w 3741425"/>
              <a:gd name="connsiteY27" fmla="*/ 2887097 h 3822166"/>
              <a:gd name="connsiteX28" fmla="*/ 3384823 w 3741425"/>
              <a:gd name="connsiteY28" fmla="*/ 3034360 h 3822166"/>
              <a:gd name="connsiteX29" fmla="*/ 3316357 w 3741425"/>
              <a:gd name="connsiteY29" fmla="*/ 3125410 h 3822166"/>
              <a:gd name="connsiteX30" fmla="*/ 3244087 w 3741425"/>
              <a:gd name="connsiteY30" fmla="*/ 3213052 h 3822166"/>
              <a:gd name="connsiteX31" fmla="*/ 3059611 w 3741425"/>
              <a:gd name="connsiteY31" fmla="*/ 3037712 h 3822166"/>
              <a:gd name="connsiteX32" fmla="*/ 3140769 w 3741425"/>
              <a:gd name="connsiteY32" fmla="*/ 2948416 h 3822166"/>
              <a:gd name="connsiteX33" fmla="*/ 525693 w 3741425"/>
              <a:gd name="connsiteY33" fmla="*/ 2848169 h 3822166"/>
              <a:gd name="connsiteX34" fmla="*/ 600656 w 3741425"/>
              <a:gd name="connsiteY34" fmla="*/ 2948416 h 3822166"/>
              <a:gd name="connsiteX35" fmla="*/ 650513 w 3741425"/>
              <a:gd name="connsiteY35" fmla="*/ 3003273 h 3822166"/>
              <a:gd name="connsiteX36" fmla="*/ 463104 w 3741425"/>
              <a:gd name="connsiteY36" fmla="*/ 3171177 h 3822166"/>
              <a:gd name="connsiteX37" fmla="*/ 425542 w 3741425"/>
              <a:gd name="connsiteY37" fmla="*/ 3125408 h 3822166"/>
              <a:gd name="connsiteX38" fmla="*/ 390834 w 3741425"/>
              <a:gd name="connsiteY38" fmla="*/ 3079640 h 3822166"/>
              <a:gd name="connsiteX39" fmla="*/ 325695 w 3741425"/>
              <a:gd name="connsiteY39" fmla="*/ 2988589 h 3822166"/>
              <a:gd name="connsiteX40" fmla="*/ 3420562 w 3741425"/>
              <a:gd name="connsiteY40" fmla="*/ 2451168 h 3822166"/>
              <a:gd name="connsiteX41" fmla="*/ 3642050 w 3741425"/>
              <a:gd name="connsiteY41" fmla="*/ 2528472 h 3822166"/>
              <a:gd name="connsiteX42" fmla="*/ 3604489 w 3741425"/>
              <a:gd name="connsiteY42" fmla="*/ 2637538 h 3822166"/>
              <a:gd name="connsiteX43" fmla="*/ 3556467 w 3741425"/>
              <a:gd name="connsiteY43" fmla="*/ 2739301 h 3822166"/>
              <a:gd name="connsiteX44" fmla="*/ 3342843 w 3741425"/>
              <a:gd name="connsiteY44" fmla="*/ 2634352 h 3822166"/>
              <a:gd name="connsiteX45" fmla="*/ 3387269 w 3741425"/>
              <a:gd name="connsiteY45" fmla="*/ 2542129 h 3822166"/>
              <a:gd name="connsiteX46" fmla="*/ 304178 w 3741425"/>
              <a:gd name="connsiteY46" fmla="*/ 2405582 h 3822166"/>
              <a:gd name="connsiteX47" fmla="*/ 354155 w 3741425"/>
              <a:gd name="connsiteY47" fmla="*/ 2542129 h 3822166"/>
              <a:gd name="connsiteX48" fmla="*/ 377341 w 3741425"/>
              <a:gd name="connsiteY48" fmla="*/ 2590260 h 3822166"/>
              <a:gd name="connsiteX49" fmla="*/ 161183 w 3741425"/>
              <a:gd name="connsiteY49" fmla="*/ 2690119 h 3822166"/>
              <a:gd name="connsiteX50" fmla="*/ 82256 w 3741425"/>
              <a:gd name="connsiteY50" fmla="*/ 2475883 h 3822166"/>
              <a:gd name="connsiteX51" fmla="*/ 3513694 w 3741425"/>
              <a:gd name="connsiteY51" fmla="*/ 1959265 h 3822166"/>
              <a:gd name="connsiteX52" fmla="*/ 3741425 w 3741425"/>
              <a:gd name="connsiteY52" fmla="*/ 1966585 h 3822166"/>
              <a:gd name="connsiteX53" fmla="*/ 3720980 w 3741425"/>
              <a:gd name="connsiteY53" fmla="*/ 2194942 h 3822166"/>
              <a:gd name="connsiteX54" fmla="*/ 3494287 w 3741425"/>
              <a:gd name="connsiteY54" fmla="*/ 2160360 h 3822166"/>
              <a:gd name="connsiteX55" fmla="*/ 3508115 w 3741425"/>
              <a:gd name="connsiteY55" fmla="*/ 2069755 h 3822166"/>
              <a:gd name="connsiteX56" fmla="*/ 0 w 3741425"/>
              <a:gd name="connsiteY56" fmla="*/ 1910593 h 3822166"/>
              <a:gd name="connsiteX57" fmla="*/ 225273 w 3741425"/>
              <a:gd name="connsiteY57" fmla="*/ 1910593 h 3822166"/>
              <a:gd name="connsiteX58" fmla="*/ 233310 w 3741425"/>
              <a:gd name="connsiteY58" fmla="*/ 2069755 h 3822166"/>
              <a:gd name="connsiteX59" fmla="*/ 239503 w 3741425"/>
              <a:gd name="connsiteY59" fmla="*/ 2110337 h 3822166"/>
              <a:gd name="connsiteX60" fmla="*/ 13788 w 3741425"/>
              <a:gd name="connsiteY60" fmla="*/ 2138463 h 3822166"/>
              <a:gd name="connsiteX61" fmla="*/ 0 w 3741425"/>
              <a:gd name="connsiteY61" fmla="*/ 1910593 h 3822166"/>
              <a:gd name="connsiteX62" fmla="*/ 3672953 w 3741425"/>
              <a:gd name="connsiteY62" fmla="*/ 1401296 h 3822166"/>
              <a:gd name="connsiteX63" fmla="*/ 3700054 w 3741425"/>
              <a:gd name="connsiteY63" fmla="*/ 1513769 h 3822166"/>
              <a:gd name="connsiteX64" fmla="*/ 3720974 w 3741425"/>
              <a:gd name="connsiteY64" fmla="*/ 1625756 h 3822166"/>
              <a:gd name="connsiteX65" fmla="*/ 3496935 w 3741425"/>
              <a:gd name="connsiteY65" fmla="*/ 1659933 h 3822166"/>
              <a:gd name="connsiteX66" fmla="*/ 3483173 w 3741425"/>
              <a:gd name="connsiteY66" fmla="*/ 1569765 h 3822166"/>
              <a:gd name="connsiteX67" fmla="*/ 3455473 w 3741425"/>
              <a:gd name="connsiteY67" fmla="*/ 1462035 h 3822166"/>
              <a:gd name="connsiteX68" fmla="*/ 82257 w 3741425"/>
              <a:gd name="connsiteY68" fmla="*/ 1344816 h 3822166"/>
              <a:gd name="connsiteX69" fmla="*/ 298762 w 3741425"/>
              <a:gd name="connsiteY69" fmla="*/ 1412212 h 3822166"/>
              <a:gd name="connsiteX70" fmla="*/ 258251 w 3741425"/>
              <a:gd name="connsiteY70" fmla="*/ 1569765 h 3822166"/>
              <a:gd name="connsiteX71" fmla="*/ 252451 w 3741425"/>
              <a:gd name="connsiteY71" fmla="*/ 1607772 h 3822166"/>
              <a:gd name="connsiteX72" fmla="*/ 30907 w 3741425"/>
              <a:gd name="connsiteY72" fmla="*/ 1566354 h 3822166"/>
              <a:gd name="connsiteX73" fmla="*/ 55156 w 3741425"/>
              <a:gd name="connsiteY73" fmla="*/ 1453881 h 3822166"/>
              <a:gd name="connsiteX74" fmla="*/ 3449963 w 3741425"/>
              <a:gd name="connsiteY74" fmla="*/ 877879 h 3822166"/>
              <a:gd name="connsiteX75" fmla="*/ 3508445 w 3741425"/>
              <a:gd name="connsiteY75" fmla="*/ 976233 h 3822166"/>
              <a:gd name="connsiteX76" fmla="*/ 3556467 w 3741425"/>
              <a:gd name="connsiteY76" fmla="*/ 1077995 h 3822166"/>
              <a:gd name="connsiteX77" fmla="*/ 3348435 w 3741425"/>
              <a:gd name="connsiteY77" fmla="*/ 1180197 h 3822166"/>
              <a:gd name="connsiteX78" fmla="*/ 3317961 w 3741425"/>
              <a:gd name="connsiteY78" fmla="*/ 1116938 h 3822166"/>
              <a:gd name="connsiteX79" fmla="*/ 3251483 w 3741425"/>
              <a:gd name="connsiteY79" fmla="*/ 1007511 h 3822166"/>
              <a:gd name="connsiteX80" fmla="*/ 325694 w 3741425"/>
              <a:gd name="connsiteY80" fmla="*/ 828702 h 3822166"/>
              <a:gd name="connsiteX81" fmla="*/ 518657 w 3741425"/>
              <a:gd name="connsiteY81" fmla="*/ 964182 h 3822166"/>
              <a:gd name="connsiteX82" fmla="*/ 505906 w 3741425"/>
              <a:gd name="connsiteY82" fmla="*/ 981233 h 3822166"/>
              <a:gd name="connsiteX83" fmla="*/ 423464 w 3741425"/>
              <a:gd name="connsiteY83" fmla="*/ 1116938 h 3822166"/>
              <a:gd name="connsiteX84" fmla="*/ 414738 w 3741425"/>
              <a:gd name="connsiteY84" fmla="*/ 1135051 h 3822166"/>
              <a:gd name="connsiteX85" fmla="*/ 209205 w 3741425"/>
              <a:gd name="connsiteY85" fmla="*/ 1025410 h 3822166"/>
              <a:gd name="connsiteX86" fmla="*/ 325694 w 3741425"/>
              <a:gd name="connsiteY86" fmla="*/ 828702 h 3822166"/>
              <a:gd name="connsiteX87" fmla="*/ 3082907 w 3741425"/>
              <a:gd name="connsiteY87" fmla="*/ 445998 h 3822166"/>
              <a:gd name="connsiteX88" fmla="*/ 3244090 w 3741425"/>
              <a:gd name="connsiteY88" fmla="*/ 607649 h 3822166"/>
              <a:gd name="connsiteX89" fmla="*/ 3068271 w 3741425"/>
              <a:gd name="connsiteY89" fmla="*/ 774759 h 3822166"/>
              <a:gd name="connsiteX90" fmla="*/ 3034539 w 3741425"/>
              <a:gd name="connsiteY90" fmla="*/ 737644 h 3822166"/>
              <a:gd name="connsiteX91" fmla="*/ 2924339 w 3741425"/>
              <a:gd name="connsiteY91" fmla="*/ 637487 h 3822166"/>
              <a:gd name="connsiteX92" fmla="*/ 703214 w 3741425"/>
              <a:gd name="connsiteY92" fmla="*/ 410939 h 3822166"/>
              <a:gd name="connsiteX93" fmla="*/ 856890 w 3741425"/>
              <a:gd name="connsiteY93" fmla="*/ 606646 h 3822166"/>
              <a:gd name="connsiteX94" fmla="*/ 823767 w 3741425"/>
              <a:gd name="connsiteY94" fmla="*/ 631415 h 3822166"/>
              <a:gd name="connsiteX95" fmla="*/ 708152 w 3741425"/>
              <a:gd name="connsiteY95" fmla="*/ 736493 h 3822166"/>
              <a:gd name="connsiteX96" fmla="*/ 538704 w 3741425"/>
              <a:gd name="connsiteY96" fmla="*/ 565287 h 3822166"/>
              <a:gd name="connsiteX97" fmla="*/ 703214 w 3741425"/>
              <a:gd name="connsiteY97" fmla="*/ 410939 h 3822166"/>
              <a:gd name="connsiteX98" fmla="*/ 2609820 w 3741425"/>
              <a:gd name="connsiteY98" fmla="*/ 147526 h 3822166"/>
              <a:gd name="connsiteX99" fmla="*/ 2709192 w 3741425"/>
              <a:gd name="connsiteY99" fmla="*/ 196703 h 3822166"/>
              <a:gd name="connsiteX100" fmla="*/ 2808564 w 3741425"/>
              <a:gd name="connsiteY100" fmla="*/ 249289 h 3822166"/>
              <a:gd name="connsiteX101" fmla="*/ 2683665 w 3741425"/>
              <a:gd name="connsiteY101" fmla="*/ 471488 h 3822166"/>
              <a:gd name="connsiteX102" fmla="*/ 2655246 w 3741425"/>
              <a:gd name="connsiteY102" fmla="*/ 454222 h 3822166"/>
              <a:gd name="connsiteX103" fmla="*/ 2511371 w 3741425"/>
              <a:gd name="connsiteY103" fmla="*/ 384914 h 3822166"/>
              <a:gd name="connsiteX104" fmla="*/ 2510090 w 3741425"/>
              <a:gd name="connsiteY104" fmla="*/ 384445 h 3822166"/>
              <a:gd name="connsiteX105" fmla="*/ 1186757 w 3741425"/>
              <a:gd name="connsiteY105" fmla="*/ 126594 h 3822166"/>
              <a:gd name="connsiteX106" fmla="*/ 1280033 w 3741425"/>
              <a:gd name="connsiteY106" fmla="*/ 366622 h 3822166"/>
              <a:gd name="connsiteX107" fmla="*/ 1230054 w 3741425"/>
              <a:gd name="connsiteY107" fmla="*/ 384914 h 3822166"/>
              <a:gd name="connsiteX108" fmla="*/ 1102665 w 3741425"/>
              <a:gd name="connsiteY108" fmla="*/ 446281 h 3822166"/>
              <a:gd name="connsiteX109" fmla="*/ 984208 w 3741425"/>
              <a:gd name="connsiteY109" fmla="*/ 221053 h 3822166"/>
              <a:gd name="connsiteX110" fmla="*/ 1083581 w 3741425"/>
              <a:gd name="connsiteY110" fmla="*/ 171876 h 3822166"/>
              <a:gd name="connsiteX111" fmla="*/ 1186757 w 3741425"/>
              <a:gd name="connsiteY111" fmla="*/ 126594 h 3822166"/>
              <a:gd name="connsiteX112" fmla="*/ 2067790 w 3741425"/>
              <a:gd name="connsiteY112" fmla="*/ 3405 h 3822166"/>
              <a:gd name="connsiteX113" fmla="*/ 2287452 w 3741425"/>
              <a:gd name="connsiteY113" fmla="*/ 42356 h 3822166"/>
              <a:gd name="connsiteX114" fmla="*/ 2231109 w 3741425"/>
              <a:gd name="connsiteY114" fmla="*/ 296387 h 3822166"/>
              <a:gd name="connsiteX115" fmla="*/ 2202418 w 3741425"/>
              <a:gd name="connsiteY115" fmla="*/ 289010 h 3822166"/>
              <a:gd name="connsiteX116" fmla="*/ 2040732 w 3741425"/>
              <a:gd name="connsiteY116" fmla="*/ 264334 h 3822166"/>
              <a:gd name="connsiteX117" fmla="*/ 1732116 w 3741425"/>
              <a:gd name="connsiteY117" fmla="*/ 0 h 3822166"/>
              <a:gd name="connsiteX118" fmla="*/ 1751047 w 3741425"/>
              <a:gd name="connsiteY118" fmla="*/ 261614 h 3822166"/>
              <a:gd name="connsiteX119" fmla="*/ 1702429 w 3741425"/>
              <a:gd name="connsiteY119" fmla="*/ 264069 h 3822166"/>
              <a:gd name="connsiteX120" fmla="*/ 1559226 w 3741425"/>
              <a:gd name="connsiteY120" fmla="*/ 285924 h 3822166"/>
              <a:gd name="connsiteX121" fmla="*/ 1509125 w 3741425"/>
              <a:gd name="connsiteY121" fmla="*/ 28240 h 3822166"/>
              <a:gd name="connsiteX122" fmla="*/ 1622284 w 3741425"/>
              <a:gd name="connsiteY122" fmla="*/ 10711 h 3822166"/>
              <a:gd name="connsiteX123" fmla="*/ 1732116 w 3741425"/>
              <a:gd name="connsiteY123" fmla="*/ 0 h 382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741425" h="3822166">
                <a:moveTo>
                  <a:pt x="1752082" y="3541381"/>
                </a:moveTo>
                <a:lnTo>
                  <a:pt x="1870712" y="3547371"/>
                </a:lnTo>
                <a:lnTo>
                  <a:pt x="1943379" y="3543702"/>
                </a:lnTo>
                <a:lnTo>
                  <a:pt x="1954633" y="3820706"/>
                </a:lnTo>
                <a:cubicBezTo>
                  <a:pt x="1932762" y="3821679"/>
                  <a:pt x="1910890" y="3822166"/>
                  <a:pt x="1889019" y="3822166"/>
                </a:cubicBezTo>
                <a:cubicBezTo>
                  <a:pt x="1836718" y="3822166"/>
                  <a:pt x="1785368" y="3819732"/>
                  <a:pt x="1732117" y="3817297"/>
                </a:cubicBezTo>
                <a:close/>
                <a:moveTo>
                  <a:pt x="2413282" y="3453929"/>
                </a:moveTo>
                <a:lnTo>
                  <a:pt x="2503316" y="3712127"/>
                </a:lnTo>
                <a:cubicBezTo>
                  <a:pt x="2431520" y="3736472"/>
                  <a:pt x="2359250" y="3761304"/>
                  <a:pt x="2287454" y="3774937"/>
                </a:cubicBezTo>
                <a:lnTo>
                  <a:pt x="2227802" y="3507405"/>
                </a:lnTo>
                <a:lnTo>
                  <a:pt x="2360152" y="3473375"/>
                </a:lnTo>
                <a:close/>
                <a:moveTo>
                  <a:pt x="1284915" y="3438107"/>
                </a:moveTo>
                <a:lnTo>
                  <a:pt x="1381272" y="3473375"/>
                </a:lnTo>
                <a:lnTo>
                  <a:pt x="1467323" y="3495500"/>
                </a:lnTo>
                <a:lnTo>
                  <a:pt x="1399287" y="3761301"/>
                </a:lnTo>
                <a:cubicBezTo>
                  <a:pt x="1327018" y="3743773"/>
                  <a:pt x="1255223" y="3718941"/>
                  <a:pt x="1186757" y="3690701"/>
                </a:cubicBezTo>
                <a:close/>
                <a:moveTo>
                  <a:pt x="2839146" y="3230237"/>
                </a:moveTo>
                <a:lnTo>
                  <a:pt x="2993992" y="3441410"/>
                </a:lnTo>
                <a:cubicBezTo>
                  <a:pt x="2963087" y="3462834"/>
                  <a:pt x="2935510" y="3487179"/>
                  <a:pt x="2901277" y="3508115"/>
                </a:cubicBezTo>
                <a:lnTo>
                  <a:pt x="2808562" y="3568004"/>
                </a:lnTo>
                <a:lnTo>
                  <a:pt x="2677073" y="3335459"/>
                </a:lnTo>
                <a:lnTo>
                  <a:pt x="2790950" y="3266277"/>
                </a:lnTo>
                <a:close/>
                <a:moveTo>
                  <a:pt x="863986" y="3201603"/>
                </a:moveTo>
                <a:lnTo>
                  <a:pt x="950474" y="3266277"/>
                </a:lnTo>
                <a:lnTo>
                  <a:pt x="1025673" y="3311961"/>
                </a:lnTo>
                <a:lnTo>
                  <a:pt x="888165" y="3539764"/>
                </a:lnTo>
                <a:cubicBezTo>
                  <a:pt x="823026" y="3497891"/>
                  <a:pt x="761216" y="3455530"/>
                  <a:pt x="703210" y="3406353"/>
                </a:cubicBezTo>
                <a:close/>
                <a:moveTo>
                  <a:pt x="3186622" y="2887097"/>
                </a:moveTo>
                <a:lnTo>
                  <a:pt x="3384823" y="3034360"/>
                </a:lnTo>
                <a:lnTo>
                  <a:pt x="3316357" y="3125410"/>
                </a:lnTo>
                <a:lnTo>
                  <a:pt x="3244087" y="3213052"/>
                </a:lnTo>
                <a:lnTo>
                  <a:pt x="3059611" y="3037712"/>
                </a:lnTo>
                <a:lnTo>
                  <a:pt x="3140769" y="2948416"/>
                </a:lnTo>
                <a:close/>
                <a:moveTo>
                  <a:pt x="525693" y="2848169"/>
                </a:moveTo>
                <a:lnTo>
                  <a:pt x="600656" y="2948416"/>
                </a:lnTo>
                <a:lnTo>
                  <a:pt x="650513" y="3003273"/>
                </a:lnTo>
                <a:lnTo>
                  <a:pt x="463104" y="3171177"/>
                </a:lnTo>
                <a:lnTo>
                  <a:pt x="425542" y="3125408"/>
                </a:lnTo>
                <a:lnTo>
                  <a:pt x="390834" y="3079640"/>
                </a:lnTo>
                <a:lnTo>
                  <a:pt x="325695" y="2988589"/>
                </a:lnTo>
                <a:close/>
                <a:moveTo>
                  <a:pt x="3420562" y="2451168"/>
                </a:moveTo>
                <a:lnTo>
                  <a:pt x="3642050" y="2528472"/>
                </a:lnTo>
                <a:lnTo>
                  <a:pt x="3604489" y="2637538"/>
                </a:lnTo>
                <a:cubicBezTo>
                  <a:pt x="3590700" y="2672595"/>
                  <a:pt x="3573583" y="2704244"/>
                  <a:pt x="3556467" y="2739301"/>
                </a:cubicBezTo>
                <a:lnTo>
                  <a:pt x="3342843" y="2634352"/>
                </a:lnTo>
                <a:lnTo>
                  <a:pt x="3387269" y="2542129"/>
                </a:lnTo>
                <a:close/>
                <a:moveTo>
                  <a:pt x="304178" y="2405582"/>
                </a:moveTo>
                <a:lnTo>
                  <a:pt x="354155" y="2542129"/>
                </a:lnTo>
                <a:lnTo>
                  <a:pt x="377341" y="2590260"/>
                </a:lnTo>
                <a:lnTo>
                  <a:pt x="161183" y="2690119"/>
                </a:lnTo>
                <a:cubicBezTo>
                  <a:pt x="130278" y="2620006"/>
                  <a:pt x="106505" y="2545997"/>
                  <a:pt x="82256" y="2475883"/>
                </a:cubicBezTo>
                <a:close/>
                <a:moveTo>
                  <a:pt x="3513694" y="1959265"/>
                </a:moveTo>
                <a:lnTo>
                  <a:pt x="3741425" y="1966585"/>
                </a:lnTo>
                <a:cubicBezTo>
                  <a:pt x="3738097" y="2044002"/>
                  <a:pt x="3730965" y="2117525"/>
                  <a:pt x="3720980" y="2194942"/>
                </a:cubicBezTo>
                <a:lnTo>
                  <a:pt x="3494287" y="2160360"/>
                </a:lnTo>
                <a:lnTo>
                  <a:pt x="3508115" y="2069755"/>
                </a:lnTo>
                <a:close/>
                <a:moveTo>
                  <a:pt x="0" y="1910593"/>
                </a:moveTo>
                <a:lnTo>
                  <a:pt x="225273" y="1910593"/>
                </a:lnTo>
                <a:lnTo>
                  <a:pt x="233310" y="2069755"/>
                </a:lnTo>
                <a:lnTo>
                  <a:pt x="239503" y="2110337"/>
                </a:lnTo>
                <a:lnTo>
                  <a:pt x="13788" y="2138463"/>
                </a:lnTo>
                <a:cubicBezTo>
                  <a:pt x="3328" y="2061533"/>
                  <a:pt x="3328" y="1984115"/>
                  <a:pt x="0" y="1910593"/>
                </a:cubicBezTo>
                <a:close/>
                <a:moveTo>
                  <a:pt x="3672953" y="1401296"/>
                </a:moveTo>
                <a:lnTo>
                  <a:pt x="3700054" y="1513769"/>
                </a:lnTo>
                <a:cubicBezTo>
                  <a:pt x="3710514" y="1548826"/>
                  <a:pt x="3713842" y="1587291"/>
                  <a:pt x="3720974" y="1625756"/>
                </a:cubicBezTo>
                <a:lnTo>
                  <a:pt x="3496935" y="1659933"/>
                </a:lnTo>
                <a:lnTo>
                  <a:pt x="3483173" y="1569765"/>
                </a:lnTo>
                <a:lnTo>
                  <a:pt x="3455473" y="1462035"/>
                </a:lnTo>
                <a:close/>
                <a:moveTo>
                  <a:pt x="82257" y="1344816"/>
                </a:moveTo>
                <a:lnTo>
                  <a:pt x="298762" y="1412212"/>
                </a:lnTo>
                <a:lnTo>
                  <a:pt x="258251" y="1569765"/>
                </a:lnTo>
                <a:lnTo>
                  <a:pt x="252451" y="1607772"/>
                </a:lnTo>
                <a:lnTo>
                  <a:pt x="30907" y="1566354"/>
                </a:lnTo>
                <a:cubicBezTo>
                  <a:pt x="34235" y="1527403"/>
                  <a:pt x="44696" y="1492346"/>
                  <a:pt x="55156" y="1453881"/>
                </a:cubicBezTo>
                <a:close/>
                <a:moveTo>
                  <a:pt x="3449963" y="877879"/>
                </a:moveTo>
                <a:lnTo>
                  <a:pt x="3508445" y="976233"/>
                </a:lnTo>
                <a:cubicBezTo>
                  <a:pt x="3525562" y="1007881"/>
                  <a:pt x="3538875" y="1042938"/>
                  <a:pt x="3556467" y="1077995"/>
                </a:cubicBezTo>
                <a:lnTo>
                  <a:pt x="3348435" y="1180197"/>
                </a:lnTo>
                <a:lnTo>
                  <a:pt x="3317961" y="1116938"/>
                </a:lnTo>
                <a:lnTo>
                  <a:pt x="3251483" y="1007511"/>
                </a:lnTo>
                <a:close/>
                <a:moveTo>
                  <a:pt x="325694" y="828702"/>
                </a:moveTo>
                <a:lnTo>
                  <a:pt x="518657" y="964182"/>
                </a:lnTo>
                <a:lnTo>
                  <a:pt x="505906" y="981233"/>
                </a:lnTo>
                <a:cubicBezTo>
                  <a:pt x="476328" y="1025014"/>
                  <a:pt x="448801" y="1070295"/>
                  <a:pt x="423464" y="1116938"/>
                </a:cubicBezTo>
                <a:lnTo>
                  <a:pt x="414738" y="1135051"/>
                </a:lnTo>
                <a:lnTo>
                  <a:pt x="209205" y="1025410"/>
                </a:lnTo>
                <a:cubicBezTo>
                  <a:pt x="243439" y="958705"/>
                  <a:pt x="284804" y="895408"/>
                  <a:pt x="325694" y="828702"/>
                </a:cubicBezTo>
                <a:close/>
                <a:moveTo>
                  <a:pt x="3082907" y="445998"/>
                </a:moveTo>
                <a:cubicBezTo>
                  <a:pt x="3138061" y="495175"/>
                  <a:pt x="3192739" y="547760"/>
                  <a:pt x="3244090" y="607649"/>
                </a:cubicBezTo>
                <a:lnTo>
                  <a:pt x="3068271" y="774759"/>
                </a:lnTo>
                <a:lnTo>
                  <a:pt x="3034539" y="737644"/>
                </a:lnTo>
                <a:lnTo>
                  <a:pt x="2924339" y="637487"/>
                </a:lnTo>
                <a:close/>
                <a:moveTo>
                  <a:pt x="703214" y="410939"/>
                </a:moveTo>
                <a:lnTo>
                  <a:pt x="856890" y="606646"/>
                </a:lnTo>
                <a:lnTo>
                  <a:pt x="823767" y="631415"/>
                </a:lnTo>
                <a:lnTo>
                  <a:pt x="708152" y="736493"/>
                </a:lnTo>
                <a:lnTo>
                  <a:pt x="538704" y="565287"/>
                </a:lnTo>
                <a:cubicBezTo>
                  <a:pt x="593382" y="512702"/>
                  <a:pt x="644732" y="456708"/>
                  <a:pt x="703214" y="410939"/>
                </a:cubicBezTo>
                <a:close/>
                <a:moveTo>
                  <a:pt x="2609820" y="147526"/>
                </a:moveTo>
                <a:lnTo>
                  <a:pt x="2709192" y="196703"/>
                </a:lnTo>
                <a:cubicBezTo>
                  <a:pt x="2743425" y="210824"/>
                  <a:pt x="2777659" y="231760"/>
                  <a:pt x="2808564" y="249289"/>
                </a:cubicBezTo>
                <a:lnTo>
                  <a:pt x="2683665" y="471488"/>
                </a:lnTo>
                <a:lnTo>
                  <a:pt x="2655246" y="454222"/>
                </a:lnTo>
                <a:cubicBezTo>
                  <a:pt x="2608603" y="428885"/>
                  <a:pt x="2560599" y="405736"/>
                  <a:pt x="2511371" y="384914"/>
                </a:cubicBezTo>
                <a:lnTo>
                  <a:pt x="2510090" y="384445"/>
                </a:lnTo>
                <a:close/>
                <a:moveTo>
                  <a:pt x="1186757" y="126594"/>
                </a:moveTo>
                <a:lnTo>
                  <a:pt x="1280033" y="366622"/>
                </a:lnTo>
                <a:lnTo>
                  <a:pt x="1230054" y="384914"/>
                </a:lnTo>
                <a:lnTo>
                  <a:pt x="1102665" y="446281"/>
                </a:lnTo>
                <a:lnTo>
                  <a:pt x="984208" y="221053"/>
                </a:lnTo>
                <a:lnTo>
                  <a:pt x="1083581" y="171876"/>
                </a:lnTo>
                <a:cubicBezTo>
                  <a:pt x="1118290" y="154348"/>
                  <a:pt x="1152523" y="136819"/>
                  <a:pt x="1186757" y="126594"/>
                </a:cubicBezTo>
                <a:close/>
                <a:moveTo>
                  <a:pt x="2067790" y="3405"/>
                </a:moveTo>
                <a:cubicBezTo>
                  <a:pt x="2140060" y="14116"/>
                  <a:pt x="2215182" y="20933"/>
                  <a:pt x="2287452" y="42356"/>
                </a:cubicBezTo>
                <a:lnTo>
                  <a:pt x="2231109" y="296387"/>
                </a:lnTo>
                <a:lnTo>
                  <a:pt x="2202418" y="289010"/>
                </a:lnTo>
                <a:lnTo>
                  <a:pt x="2040732" y="264334"/>
                </a:lnTo>
                <a:close/>
                <a:moveTo>
                  <a:pt x="1732116" y="0"/>
                </a:moveTo>
                <a:lnTo>
                  <a:pt x="1751047" y="261614"/>
                </a:lnTo>
                <a:lnTo>
                  <a:pt x="1702429" y="264069"/>
                </a:lnTo>
                <a:lnTo>
                  <a:pt x="1559226" y="285924"/>
                </a:lnTo>
                <a:lnTo>
                  <a:pt x="1509125" y="28240"/>
                </a:lnTo>
                <a:lnTo>
                  <a:pt x="1622284" y="10711"/>
                </a:lnTo>
                <a:cubicBezTo>
                  <a:pt x="1656517" y="3408"/>
                  <a:pt x="1694079" y="0"/>
                  <a:pt x="1732116" y="0"/>
                </a:cubicBezTo>
                <a:close/>
              </a:path>
            </a:pathLst>
          </a:custGeom>
          <a:solidFill>
            <a:schemeClr val="accent2">
              <a:alpha val="28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 flipH="1">
            <a:off x="7492134" y="857941"/>
            <a:ext cx="4395066" cy="4144058"/>
            <a:chOff x="6300220" y="857941"/>
            <a:chExt cx="4395066" cy="4144058"/>
          </a:xfrm>
          <a:effectLst>
            <a:outerShdw blurRad="127000" sx="102000" sy="102000" algn="ctr" rotWithShape="0">
              <a:schemeClr val="accent1">
                <a:lumMod val="75000"/>
                <a:alpha val="10000"/>
              </a:schemeClr>
            </a:outerShdw>
          </a:effectLst>
        </p:grpSpPr>
        <p:sp>
          <p:nvSpPr>
            <p:cNvPr id="30" name="泪滴形 29"/>
            <p:cNvSpPr/>
            <p:nvPr/>
          </p:nvSpPr>
          <p:spPr>
            <a:xfrm rot="2750959">
              <a:off x="6300220" y="857941"/>
              <a:ext cx="4144058" cy="4144058"/>
            </a:xfrm>
            <a:prstGeom prst="teardrop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31" name="Google Shape;1410;p70"/>
            <p:cNvGrpSpPr/>
            <p:nvPr/>
          </p:nvGrpSpPr>
          <p:grpSpPr>
            <a:xfrm flipH="1">
              <a:off x="10079852" y="2798876"/>
              <a:ext cx="615434" cy="382252"/>
              <a:chOff x="4923925" y="1877500"/>
              <a:chExt cx="59525" cy="36975"/>
            </a:xfrm>
            <a:solidFill>
              <a:schemeClr val="accent1"/>
            </a:solidFill>
          </p:grpSpPr>
          <p:sp>
            <p:nvSpPr>
              <p:cNvPr id="32" name="Google Shape;1411;p70"/>
              <p:cNvSpPr/>
              <p:nvPr/>
            </p:nvSpPr>
            <p:spPr>
              <a:xfrm>
                <a:off x="4923925" y="1877500"/>
                <a:ext cx="288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1479" extrusionOk="0">
                    <a:moveTo>
                      <a:pt x="332" y="0"/>
                    </a:moveTo>
                    <a:cubicBezTo>
                      <a:pt x="116" y="0"/>
                      <a:pt x="1" y="260"/>
                      <a:pt x="159" y="419"/>
                    </a:cubicBezTo>
                    <a:lnTo>
                      <a:pt x="433" y="700"/>
                    </a:lnTo>
                    <a:cubicBezTo>
                      <a:pt x="455" y="722"/>
                      <a:pt x="455" y="758"/>
                      <a:pt x="433" y="779"/>
                    </a:cubicBezTo>
                    <a:lnTo>
                      <a:pt x="159" y="1053"/>
                    </a:lnTo>
                    <a:cubicBezTo>
                      <a:pt x="1" y="1212"/>
                      <a:pt x="116" y="1479"/>
                      <a:pt x="332" y="1479"/>
                    </a:cubicBezTo>
                    <a:cubicBezTo>
                      <a:pt x="397" y="1479"/>
                      <a:pt x="462" y="1450"/>
                      <a:pt x="506" y="1407"/>
                    </a:cubicBezTo>
                    <a:lnTo>
                      <a:pt x="1133" y="779"/>
                    </a:lnTo>
                    <a:cubicBezTo>
                      <a:pt x="1155" y="758"/>
                      <a:pt x="1155" y="722"/>
                      <a:pt x="1133" y="700"/>
                    </a:cubicBezTo>
                    <a:lnTo>
                      <a:pt x="506" y="73"/>
                    </a:lnTo>
                    <a:cubicBezTo>
                      <a:pt x="462" y="22"/>
                      <a:pt x="397" y="0"/>
                      <a:pt x="332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9" name="Google Shape;1412;p70"/>
              <p:cNvSpPr/>
              <p:nvPr/>
            </p:nvSpPr>
            <p:spPr>
              <a:xfrm>
                <a:off x="4954575" y="1877500"/>
                <a:ext cx="288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1479" extrusionOk="0">
                    <a:moveTo>
                      <a:pt x="333" y="0"/>
                    </a:moveTo>
                    <a:cubicBezTo>
                      <a:pt x="116" y="0"/>
                      <a:pt x="1" y="260"/>
                      <a:pt x="159" y="419"/>
                    </a:cubicBezTo>
                    <a:lnTo>
                      <a:pt x="434" y="700"/>
                    </a:lnTo>
                    <a:cubicBezTo>
                      <a:pt x="455" y="722"/>
                      <a:pt x="455" y="758"/>
                      <a:pt x="434" y="779"/>
                    </a:cubicBezTo>
                    <a:lnTo>
                      <a:pt x="159" y="1053"/>
                    </a:lnTo>
                    <a:cubicBezTo>
                      <a:pt x="1" y="1212"/>
                      <a:pt x="116" y="1479"/>
                      <a:pt x="333" y="1479"/>
                    </a:cubicBezTo>
                    <a:cubicBezTo>
                      <a:pt x="397" y="1479"/>
                      <a:pt x="462" y="1450"/>
                      <a:pt x="506" y="1407"/>
                    </a:cubicBezTo>
                    <a:lnTo>
                      <a:pt x="1133" y="779"/>
                    </a:lnTo>
                    <a:cubicBezTo>
                      <a:pt x="1155" y="758"/>
                      <a:pt x="1155" y="722"/>
                      <a:pt x="1133" y="700"/>
                    </a:cubicBezTo>
                    <a:lnTo>
                      <a:pt x="506" y="73"/>
                    </a:lnTo>
                    <a:cubicBezTo>
                      <a:pt x="462" y="22"/>
                      <a:pt x="397" y="0"/>
                      <a:pt x="333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sp>
          <p:nvSpPr>
            <p:cNvPr id="40" name="矩形: 圆角 39"/>
            <p:cNvSpPr/>
            <p:nvPr/>
          </p:nvSpPr>
          <p:spPr>
            <a:xfrm>
              <a:off x="7207024" y="1400534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市场反馈</a:t>
              </a: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7207024" y="2232699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竞争态势</a:t>
              </a:r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7207024" y="3064864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技术难题</a:t>
              </a:r>
            </a:p>
          </p:txBody>
        </p:sp>
        <p:sp>
          <p:nvSpPr>
            <p:cNvPr id="43" name="矩形: 圆角 42"/>
            <p:cNvSpPr/>
            <p:nvPr/>
          </p:nvSpPr>
          <p:spPr>
            <a:xfrm>
              <a:off x="7207024" y="3897029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后续计划</a:t>
              </a:r>
            </a:p>
          </p:txBody>
        </p:sp>
      </p:grpSp>
      <p:sp>
        <p:nvSpPr>
          <p:cNvPr id="14" name="泪滴形 13"/>
          <p:cNvSpPr/>
          <p:nvPr/>
        </p:nvSpPr>
        <p:spPr>
          <a:xfrm rot="2750959">
            <a:off x="335288" y="857941"/>
            <a:ext cx="4144058" cy="4144058"/>
          </a:xfrm>
          <a:prstGeom prst="teardrop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/>
            </a:solidFill>
          </a:ln>
          <a:effectLst>
            <a:outerShdw blurRad="127000" sx="102000" sy="102000" algn="c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947" y="192271"/>
            <a:ext cx="3951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总分结构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工作进展汇报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804907" y="1638876"/>
            <a:ext cx="2582186" cy="25821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5" name="Google Shape;1410;p70"/>
          <p:cNvGrpSpPr/>
          <p:nvPr/>
        </p:nvGrpSpPr>
        <p:grpSpPr>
          <a:xfrm flipH="1">
            <a:off x="4114920" y="2798876"/>
            <a:ext cx="615434" cy="382252"/>
            <a:chOff x="4923925" y="1877500"/>
            <a:chExt cx="59525" cy="36975"/>
          </a:xfrm>
          <a:solidFill>
            <a:schemeClr val="accent1"/>
          </a:solidFill>
        </p:grpSpPr>
        <p:sp>
          <p:nvSpPr>
            <p:cNvPr id="16" name="Google Shape;1411;p70"/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" name="Google Shape;1412;p70"/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1242092" y="1400534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任务完成度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1242092" y="2232699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阶段性成果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1242092" y="3064864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团队协作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1242092" y="3897029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预算执行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304800" y="5133975"/>
            <a:ext cx="11582400" cy="1381125"/>
          </a:xfrm>
          <a:prstGeom prst="roundRect">
            <a:avLst>
              <a:gd name="adj" fmla="val 10460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198174" y="2478962"/>
            <a:ext cx="18261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项目进展</a:t>
            </a:r>
            <a:endParaRPr lang="en-US" altLang="zh-CN" sz="32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汇报</a:t>
            </a:r>
          </a:p>
        </p:txBody>
      </p:sp>
      <p:sp>
        <p:nvSpPr>
          <p:cNvPr id="147" name="矩形: 圆角 146"/>
          <p:cNvSpPr/>
          <p:nvPr/>
        </p:nvSpPr>
        <p:spPr>
          <a:xfrm>
            <a:off x="485776" y="5264606"/>
            <a:ext cx="5541484" cy="1163120"/>
          </a:xfrm>
          <a:prstGeom prst="roundRect">
            <a:avLst>
              <a:gd name="adj" fmla="val 1046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9" name="矩形: 圆角 148"/>
          <p:cNvSpPr/>
          <p:nvPr/>
        </p:nvSpPr>
        <p:spPr>
          <a:xfrm>
            <a:off x="6164740" y="5264606"/>
            <a:ext cx="5541484" cy="1163120"/>
          </a:xfrm>
          <a:prstGeom prst="roundRect">
            <a:avLst>
              <a:gd name="adj" fmla="val 1046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776655" y="5405334"/>
            <a:ext cx="5024070" cy="85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目前，项目整体正严格依照预定计划有条不紊地稳步推进。在多个重要方面已初见成效，部分关键指标更是取得了令人瞩目的显著进展，例如在产品性能提升与用户体验优化上成果突出。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6381025" y="5405334"/>
            <a:ext cx="5024070" cy="85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然而，前进的道路并非一帆风顺，项目同时也面临着诸如资源调配紧张、技术难题待解等一些挑战，亟待协同各方优势资源，共同研讨并加以妥善处理。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>
            <p:custDataLst>
              <p:tags r:id="rId2"/>
            </p:custDataLst>
          </p:nvPr>
        </p:nvSpPr>
        <p:spPr>
          <a:xfrm>
            <a:off x="7291309" y="1686440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>
            <p:custDataLst>
              <p:tags r:id="rId3"/>
            </p:custDataLst>
          </p:nvPr>
        </p:nvSpPr>
        <p:spPr>
          <a:xfrm>
            <a:off x="7291309" y="2809897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>
            <p:custDataLst>
              <p:tags r:id="rId4"/>
            </p:custDataLst>
          </p:nvPr>
        </p:nvSpPr>
        <p:spPr>
          <a:xfrm>
            <a:off x="7291309" y="3933354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>
            <p:custDataLst>
              <p:tags r:id="rId5"/>
            </p:custDataLst>
          </p:nvPr>
        </p:nvSpPr>
        <p:spPr>
          <a:xfrm>
            <a:off x="7291309" y="5056811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306309" y="1686440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306309" y="2809897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306309" y="3933354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306309" y="5056811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6217" y="200526"/>
            <a:ext cx="5051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产品洞察与未来展望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0"/>
            </p:custDataLst>
          </p:nvPr>
        </p:nvSpPr>
        <p:spPr>
          <a:xfrm flipV="1">
            <a:off x="2745715" y="5056809"/>
            <a:ext cx="4249638" cy="1077926"/>
          </a:xfrm>
          <a:custGeom>
            <a:avLst/>
            <a:gdLst>
              <a:gd name="connsiteX0" fmla="*/ 0 w 3575050"/>
              <a:gd name="connsiteY0" fmla="*/ 0 h 1077926"/>
              <a:gd name="connsiteX1" fmla="*/ 3575050 w 3575050"/>
              <a:gd name="connsiteY1" fmla="*/ 0 h 1077926"/>
              <a:gd name="connsiteX2" fmla="*/ 3154229 w 3575050"/>
              <a:gd name="connsiteY2" fmla="*/ 1077926 h 1077926"/>
              <a:gd name="connsiteX3" fmla="*/ 420821 w 3575050"/>
              <a:gd name="connsiteY3" fmla="*/ 1077926 h 1077926"/>
              <a:gd name="connsiteX4" fmla="*/ 0 w 3575050"/>
              <a:gd name="connsiteY4" fmla="*/ 0 h 107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050" h="1077926">
                <a:moveTo>
                  <a:pt x="0" y="0"/>
                </a:moveTo>
                <a:lnTo>
                  <a:pt x="3575050" y="0"/>
                </a:lnTo>
                <a:lnTo>
                  <a:pt x="3154229" y="1077926"/>
                </a:lnTo>
                <a:lnTo>
                  <a:pt x="420821" y="1077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>
            <p:custDataLst>
              <p:tags r:id="rId11"/>
            </p:custDataLst>
          </p:nvPr>
        </p:nvSpPr>
        <p:spPr>
          <a:xfrm flipV="1">
            <a:off x="3267159" y="3934690"/>
            <a:ext cx="3206750" cy="1076400"/>
          </a:xfrm>
          <a:custGeom>
            <a:avLst/>
            <a:gdLst>
              <a:gd name="connsiteX0" fmla="*/ 0 w 2697710"/>
              <a:gd name="connsiteY0" fmla="*/ 0 h 1078406"/>
              <a:gd name="connsiteX1" fmla="*/ 2697710 w 2697710"/>
              <a:gd name="connsiteY1" fmla="*/ 0 h 1078406"/>
              <a:gd name="connsiteX2" fmla="*/ 2276702 w 2697710"/>
              <a:gd name="connsiteY2" fmla="*/ 1078406 h 1078406"/>
              <a:gd name="connsiteX3" fmla="*/ 421008 w 2697710"/>
              <a:gd name="connsiteY3" fmla="*/ 1078406 h 1078406"/>
              <a:gd name="connsiteX4" fmla="*/ 0 w 2697710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7710" h="1078406">
                <a:moveTo>
                  <a:pt x="0" y="0"/>
                </a:moveTo>
                <a:lnTo>
                  <a:pt x="2697710" y="0"/>
                </a:lnTo>
                <a:lnTo>
                  <a:pt x="2276702" y="1078406"/>
                </a:lnTo>
                <a:lnTo>
                  <a:pt x="421008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>
            <p:custDataLst>
              <p:tags r:id="rId12"/>
            </p:custDataLst>
          </p:nvPr>
        </p:nvSpPr>
        <p:spPr>
          <a:xfrm flipV="1">
            <a:off x="3788825" y="2810565"/>
            <a:ext cx="2163418" cy="1076400"/>
          </a:xfrm>
          <a:custGeom>
            <a:avLst/>
            <a:gdLst>
              <a:gd name="connsiteX0" fmla="*/ 0 w 1819996"/>
              <a:gd name="connsiteY0" fmla="*/ 0 h 1078406"/>
              <a:gd name="connsiteX1" fmla="*/ 1819996 w 1819996"/>
              <a:gd name="connsiteY1" fmla="*/ 0 h 1078406"/>
              <a:gd name="connsiteX2" fmla="*/ 1398988 w 1819996"/>
              <a:gd name="connsiteY2" fmla="*/ 1078406 h 1078406"/>
              <a:gd name="connsiteX3" fmla="*/ 421009 w 1819996"/>
              <a:gd name="connsiteY3" fmla="*/ 1078406 h 1078406"/>
              <a:gd name="connsiteX4" fmla="*/ 0 w 1819996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9996" h="1078406">
                <a:moveTo>
                  <a:pt x="0" y="0"/>
                </a:moveTo>
                <a:lnTo>
                  <a:pt x="1819996" y="0"/>
                </a:lnTo>
                <a:lnTo>
                  <a:pt x="1398988" y="1078406"/>
                </a:lnTo>
                <a:lnTo>
                  <a:pt x="421009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3"/>
            </p:custDataLst>
          </p:nvPr>
        </p:nvSpPr>
        <p:spPr>
          <a:xfrm flipV="1">
            <a:off x="4311734" y="1686439"/>
            <a:ext cx="1117600" cy="1076400"/>
          </a:xfrm>
          <a:custGeom>
            <a:avLst/>
            <a:gdLst>
              <a:gd name="connsiteX0" fmla="*/ 0 w 942282"/>
              <a:gd name="connsiteY0" fmla="*/ 0 h 1206819"/>
              <a:gd name="connsiteX1" fmla="*/ 942282 w 942282"/>
              <a:gd name="connsiteY1" fmla="*/ 0 h 1206819"/>
              <a:gd name="connsiteX2" fmla="*/ 471141 w 942282"/>
              <a:gd name="connsiteY2" fmla="*/ 1206819 h 1206819"/>
              <a:gd name="connsiteX3" fmla="*/ 0 w 942282"/>
              <a:gd name="connsiteY3" fmla="*/ 0 h 120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2282" h="1206819">
                <a:moveTo>
                  <a:pt x="0" y="0"/>
                </a:moveTo>
                <a:lnTo>
                  <a:pt x="942282" y="0"/>
                </a:lnTo>
                <a:lnTo>
                  <a:pt x="471141" y="12068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14"/>
            </p:custDataLst>
          </p:nvPr>
        </p:nvSpPr>
        <p:spPr>
          <a:xfrm>
            <a:off x="5198156" y="1686439"/>
            <a:ext cx="4249638" cy="1077926"/>
          </a:xfrm>
          <a:custGeom>
            <a:avLst/>
            <a:gdLst>
              <a:gd name="connsiteX0" fmla="*/ 0 w 3575050"/>
              <a:gd name="connsiteY0" fmla="*/ 0 h 1077926"/>
              <a:gd name="connsiteX1" fmla="*/ 3575050 w 3575050"/>
              <a:gd name="connsiteY1" fmla="*/ 0 h 1077926"/>
              <a:gd name="connsiteX2" fmla="*/ 3154229 w 3575050"/>
              <a:gd name="connsiteY2" fmla="*/ 1077926 h 1077926"/>
              <a:gd name="connsiteX3" fmla="*/ 420821 w 3575050"/>
              <a:gd name="connsiteY3" fmla="*/ 1077926 h 1077926"/>
              <a:gd name="connsiteX4" fmla="*/ 0 w 3575050"/>
              <a:gd name="connsiteY4" fmla="*/ 0 h 107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050" h="1077926">
                <a:moveTo>
                  <a:pt x="0" y="0"/>
                </a:moveTo>
                <a:lnTo>
                  <a:pt x="3575050" y="0"/>
                </a:lnTo>
                <a:lnTo>
                  <a:pt x="3154229" y="1077926"/>
                </a:lnTo>
                <a:lnTo>
                  <a:pt x="420821" y="1077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>
            <p:custDataLst>
              <p:tags r:id="rId15"/>
            </p:custDataLst>
          </p:nvPr>
        </p:nvSpPr>
        <p:spPr>
          <a:xfrm>
            <a:off x="5719600" y="2810084"/>
            <a:ext cx="3206750" cy="1076400"/>
          </a:xfrm>
          <a:custGeom>
            <a:avLst/>
            <a:gdLst>
              <a:gd name="connsiteX0" fmla="*/ 0 w 2697710"/>
              <a:gd name="connsiteY0" fmla="*/ 0 h 1078406"/>
              <a:gd name="connsiteX1" fmla="*/ 2697710 w 2697710"/>
              <a:gd name="connsiteY1" fmla="*/ 0 h 1078406"/>
              <a:gd name="connsiteX2" fmla="*/ 2276702 w 2697710"/>
              <a:gd name="connsiteY2" fmla="*/ 1078406 h 1078406"/>
              <a:gd name="connsiteX3" fmla="*/ 421008 w 2697710"/>
              <a:gd name="connsiteY3" fmla="*/ 1078406 h 1078406"/>
              <a:gd name="connsiteX4" fmla="*/ 0 w 2697710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7710" h="1078406">
                <a:moveTo>
                  <a:pt x="0" y="0"/>
                </a:moveTo>
                <a:lnTo>
                  <a:pt x="2697710" y="0"/>
                </a:lnTo>
                <a:lnTo>
                  <a:pt x="2276702" y="1078406"/>
                </a:lnTo>
                <a:lnTo>
                  <a:pt x="421008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任意多边形: 形状 11"/>
          <p:cNvSpPr/>
          <p:nvPr>
            <p:custDataLst>
              <p:tags r:id="rId16"/>
            </p:custDataLst>
          </p:nvPr>
        </p:nvSpPr>
        <p:spPr>
          <a:xfrm>
            <a:off x="6241266" y="3934209"/>
            <a:ext cx="2163418" cy="1076400"/>
          </a:xfrm>
          <a:custGeom>
            <a:avLst/>
            <a:gdLst>
              <a:gd name="connsiteX0" fmla="*/ 0 w 1819996"/>
              <a:gd name="connsiteY0" fmla="*/ 0 h 1078406"/>
              <a:gd name="connsiteX1" fmla="*/ 1819996 w 1819996"/>
              <a:gd name="connsiteY1" fmla="*/ 0 h 1078406"/>
              <a:gd name="connsiteX2" fmla="*/ 1398988 w 1819996"/>
              <a:gd name="connsiteY2" fmla="*/ 1078406 h 1078406"/>
              <a:gd name="connsiteX3" fmla="*/ 421009 w 1819996"/>
              <a:gd name="connsiteY3" fmla="*/ 1078406 h 1078406"/>
              <a:gd name="connsiteX4" fmla="*/ 0 w 1819996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9996" h="1078406">
                <a:moveTo>
                  <a:pt x="0" y="0"/>
                </a:moveTo>
                <a:lnTo>
                  <a:pt x="1819996" y="0"/>
                </a:lnTo>
                <a:lnTo>
                  <a:pt x="1398988" y="1078406"/>
                </a:lnTo>
                <a:lnTo>
                  <a:pt x="421009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任意多边形: 形状 6"/>
          <p:cNvSpPr/>
          <p:nvPr>
            <p:custDataLst>
              <p:tags r:id="rId17"/>
            </p:custDataLst>
          </p:nvPr>
        </p:nvSpPr>
        <p:spPr>
          <a:xfrm>
            <a:off x="6764175" y="5058335"/>
            <a:ext cx="1117600" cy="1076400"/>
          </a:xfrm>
          <a:custGeom>
            <a:avLst/>
            <a:gdLst>
              <a:gd name="connsiteX0" fmla="*/ 0 w 942282"/>
              <a:gd name="connsiteY0" fmla="*/ 0 h 1206819"/>
              <a:gd name="connsiteX1" fmla="*/ 942282 w 942282"/>
              <a:gd name="connsiteY1" fmla="*/ 0 h 1206819"/>
              <a:gd name="connsiteX2" fmla="*/ 471141 w 942282"/>
              <a:gd name="connsiteY2" fmla="*/ 1206819 h 1206819"/>
              <a:gd name="connsiteX3" fmla="*/ 0 w 942282"/>
              <a:gd name="connsiteY3" fmla="*/ 0 h 120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2282" h="1206819">
                <a:moveTo>
                  <a:pt x="0" y="0"/>
                </a:moveTo>
                <a:lnTo>
                  <a:pt x="942282" y="0"/>
                </a:lnTo>
                <a:lnTo>
                  <a:pt x="471141" y="12068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18"/>
            </p:custDataLst>
          </p:nvPr>
        </p:nvSpPr>
        <p:spPr>
          <a:xfrm>
            <a:off x="4523748" y="2155167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综合概述</a:t>
            </a:r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4523748" y="3102229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销售业绩</a:t>
            </a:r>
          </a:p>
        </p:txBody>
      </p:sp>
      <p:sp>
        <p:nvSpPr>
          <p:cNvPr id="39" name="文本框 38"/>
          <p:cNvSpPr txBox="1"/>
          <p:nvPr>
            <p:custDataLst>
              <p:tags r:id="rId20"/>
            </p:custDataLst>
          </p:nvPr>
        </p:nvSpPr>
        <p:spPr>
          <a:xfrm>
            <a:off x="4523748" y="4226354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市场份额</a:t>
            </a:r>
          </a:p>
        </p:txBody>
      </p:sp>
      <p:sp>
        <p:nvSpPr>
          <p:cNvPr id="40" name="文本框 39"/>
          <p:cNvSpPr txBox="1"/>
          <p:nvPr>
            <p:custDataLst>
              <p:tags r:id="rId21"/>
            </p:custDataLst>
          </p:nvPr>
        </p:nvSpPr>
        <p:spPr>
          <a:xfrm>
            <a:off x="4523748" y="5334162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客户反馈</a:t>
            </a:r>
          </a:p>
        </p:txBody>
      </p:sp>
      <p:sp>
        <p:nvSpPr>
          <p:cNvPr id="41" name="文本框 40"/>
          <p:cNvSpPr txBox="1"/>
          <p:nvPr>
            <p:custDataLst>
              <p:tags r:id="rId22"/>
            </p:custDataLst>
          </p:nvPr>
        </p:nvSpPr>
        <p:spPr>
          <a:xfrm>
            <a:off x="6976189" y="2011810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营销推广</a:t>
            </a:r>
          </a:p>
        </p:txBody>
      </p:sp>
      <p:sp>
        <p:nvSpPr>
          <p:cNvPr id="42" name="文本框 41"/>
          <p:cNvSpPr txBox="1"/>
          <p:nvPr>
            <p:custDataLst>
              <p:tags r:id="rId23"/>
            </p:custDataLst>
          </p:nvPr>
        </p:nvSpPr>
        <p:spPr>
          <a:xfrm>
            <a:off x="6976189" y="3100492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生产供应</a:t>
            </a:r>
          </a:p>
        </p:txBody>
      </p:sp>
      <p:sp>
        <p:nvSpPr>
          <p:cNvPr id="43" name="文本框 42"/>
          <p:cNvSpPr txBox="1"/>
          <p:nvPr>
            <p:custDataLst>
              <p:tags r:id="rId24"/>
            </p:custDataLst>
          </p:nvPr>
        </p:nvSpPr>
        <p:spPr>
          <a:xfrm>
            <a:off x="6976189" y="4226020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团队协作</a:t>
            </a:r>
          </a:p>
        </p:txBody>
      </p:sp>
      <p:sp>
        <p:nvSpPr>
          <p:cNvPr id="44" name="文本框 43"/>
          <p:cNvSpPr txBox="1"/>
          <p:nvPr>
            <p:custDataLst>
              <p:tags r:id="rId25"/>
            </p:custDataLst>
          </p:nvPr>
        </p:nvSpPr>
        <p:spPr>
          <a:xfrm>
            <a:off x="6976189" y="5190805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未来规划</a:t>
            </a:r>
          </a:p>
        </p:txBody>
      </p:sp>
      <p:sp>
        <p:nvSpPr>
          <p:cNvPr id="46" name="文本框 45"/>
          <p:cNvSpPr txBox="1"/>
          <p:nvPr>
            <p:custDataLst>
              <p:tags r:id="rId26"/>
            </p:custDataLst>
          </p:nvPr>
        </p:nvSpPr>
        <p:spPr>
          <a:xfrm>
            <a:off x="446696" y="2023581"/>
            <a:ext cx="4069399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本阶段新产品成功上市，市场反响总体积极。销售额远超预期，品牌知名度迅速提升。然而，在部分细节与特定领域，仍存在可优化之处，需准确施策，为产品长期发展筑牢根基。</a:t>
            </a:r>
            <a:endParaRPr lang="zh-CN" altLang="en-US" sz="1000" dirty="0">
              <a:cs typeface="Roboto" panose="02000000000000000000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27"/>
            </p:custDataLst>
          </p:nvPr>
        </p:nvSpPr>
        <p:spPr>
          <a:xfrm>
            <a:off x="446696" y="1769143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成果短板兼具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28"/>
            </p:custDataLst>
          </p:nvPr>
        </p:nvSpPr>
        <p:spPr>
          <a:xfrm>
            <a:off x="446696" y="3151880"/>
            <a:ext cx="175040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新产品上市，销售额达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1200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万元，达成率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120%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，远超计划目标。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29"/>
            </p:custDataLst>
          </p:nvPr>
        </p:nvSpPr>
        <p:spPr>
          <a:xfrm>
            <a:off x="446696" y="2897442"/>
            <a:ext cx="1317710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销售额超预期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30"/>
            </p:custDataLst>
          </p:nvPr>
        </p:nvSpPr>
        <p:spPr>
          <a:xfrm>
            <a:off x="446697" y="4280179"/>
            <a:ext cx="175040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在整体产品市场中，新产品凭借独特卖点与有效推广，快速呛占 8% 的份额。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49" name="文本框 48"/>
          <p:cNvSpPr txBox="1"/>
          <p:nvPr>
            <p:custDataLst>
              <p:tags r:id="rId31"/>
            </p:custDataLst>
          </p:nvPr>
        </p:nvSpPr>
        <p:spPr>
          <a:xfrm>
            <a:off x="446696" y="4025741"/>
            <a:ext cx="1248754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份额占比可观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>
            <p:custDataLst>
              <p:tags r:id="rId32"/>
            </p:custDataLst>
          </p:nvPr>
        </p:nvSpPr>
        <p:spPr>
          <a:xfrm>
            <a:off x="446405" y="5408295"/>
            <a:ext cx="23818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通过多渠道调研，客户满意度达 85%，多数客户对产品功能、质量给予好评。但在产品草作界面有缺陷需优化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33"/>
            </p:custDataLst>
          </p:nvPr>
        </p:nvSpPr>
        <p:spPr>
          <a:xfrm>
            <a:off x="446696" y="5154039"/>
            <a:ext cx="1248754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满意但需优化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34"/>
            </p:custDataLst>
          </p:nvPr>
        </p:nvSpPr>
        <p:spPr>
          <a:xfrm>
            <a:off x="9368155" y="2023745"/>
            <a:ext cx="23774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线上社交广告曝光 1 万次（转化率 5%），直播带 80 万销售额；线下 3 展吸客、5 场发布会，强品牌促产品渗透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35"/>
            </p:custDataLst>
          </p:nvPr>
        </p:nvSpPr>
        <p:spPr>
          <a:xfrm>
            <a:off x="10388036" y="1769143"/>
            <a:ext cx="1357268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营销持续发力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36"/>
            </p:custDataLst>
          </p:nvPr>
        </p:nvSpPr>
        <p:spPr>
          <a:xfrm>
            <a:off x="8775700" y="3130932"/>
            <a:ext cx="296960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生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产环节运行稳定，产量较计划提升 10%，有力保障市场供应。供应链方面，原材料供应及时，库存周转率提高 20%。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37"/>
            </p:custDataLst>
          </p:nvPr>
        </p:nvSpPr>
        <p:spPr>
          <a:xfrm>
            <a:off x="8176222" y="2876494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产供高能有序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38"/>
            </p:custDataLst>
          </p:nvPr>
        </p:nvSpPr>
        <p:spPr>
          <a:xfrm>
            <a:off x="8404684" y="4248301"/>
            <a:ext cx="33406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市场、研发、生产等多部门协作，快速响应产品上市问题，处理 20 余个难题；组织 5 次培训，员工满意度 90%，提升团队素养与协作力。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8" name="文本框 57"/>
          <p:cNvSpPr txBox="1"/>
          <p:nvPr>
            <p:custDataLst>
              <p:tags r:id="rId39"/>
            </p:custDataLst>
          </p:nvPr>
        </p:nvSpPr>
        <p:spPr>
          <a:xfrm>
            <a:off x="8176222" y="3993863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协作培训俱佳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40"/>
            </p:custDataLst>
          </p:nvPr>
        </p:nvSpPr>
        <p:spPr>
          <a:xfrm>
            <a:off x="7675905" y="5370149"/>
            <a:ext cx="406939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将依客户反馈简化草作界面、完善功能引导；未来半年加大新兴区域 C 投入，目标占 5% 市场份额；并创新线上线下营销活动，提升客户参与度与转化率。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60" name="文本框 59"/>
          <p:cNvSpPr txBox="1"/>
          <p:nvPr>
            <p:custDataLst>
              <p:tags r:id="rId41"/>
            </p:custDataLst>
          </p:nvPr>
        </p:nvSpPr>
        <p:spPr>
          <a:xfrm>
            <a:off x="8176222" y="5115711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聚焦三方面升级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304801" y="1066800"/>
            <a:ext cx="4506763" cy="496321"/>
          </a:xfrm>
          <a:custGeom>
            <a:avLst/>
            <a:gdLst>
              <a:gd name="connsiteX0" fmla="*/ 0 w 4506763"/>
              <a:gd name="connsiteY0" fmla="*/ 0 h 496321"/>
              <a:gd name="connsiteX1" fmla="*/ 4266317 w 4506763"/>
              <a:gd name="connsiteY1" fmla="*/ 0 h 496321"/>
              <a:gd name="connsiteX2" fmla="*/ 4506763 w 4506763"/>
              <a:gd name="connsiteY2" fmla="*/ 496321 h 496321"/>
              <a:gd name="connsiteX3" fmla="*/ 0 w 4506763"/>
              <a:gd name="connsiteY3" fmla="*/ 496321 h 496321"/>
              <a:gd name="connsiteX4" fmla="*/ 0 w 4506763"/>
              <a:gd name="connsiteY4" fmla="*/ 0 h 496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06763" h="496321">
                <a:moveTo>
                  <a:pt x="0" y="0"/>
                </a:moveTo>
                <a:lnTo>
                  <a:pt x="4266317" y="0"/>
                </a:lnTo>
                <a:lnTo>
                  <a:pt x="4506763" y="496321"/>
                </a:lnTo>
                <a:lnTo>
                  <a:pt x="0" y="496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4934184" y="1066800"/>
            <a:ext cx="6953017" cy="496321"/>
          </a:xfrm>
          <a:custGeom>
            <a:avLst/>
            <a:gdLst>
              <a:gd name="connsiteX0" fmla="*/ 0 w 6953017"/>
              <a:gd name="connsiteY0" fmla="*/ 0 h 496321"/>
              <a:gd name="connsiteX1" fmla="*/ 6953017 w 6953017"/>
              <a:gd name="connsiteY1" fmla="*/ 0 h 496321"/>
              <a:gd name="connsiteX2" fmla="*/ 6953017 w 6953017"/>
              <a:gd name="connsiteY2" fmla="*/ 496321 h 496321"/>
              <a:gd name="connsiteX3" fmla="*/ 240446 w 6953017"/>
              <a:gd name="connsiteY3" fmla="*/ 496321 h 496321"/>
              <a:gd name="connsiteX4" fmla="*/ 0 w 6953017"/>
              <a:gd name="connsiteY4" fmla="*/ 0 h 496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3017" h="496321">
                <a:moveTo>
                  <a:pt x="0" y="0"/>
                </a:moveTo>
                <a:lnTo>
                  <a:pt x="6953017" y="0"/>
                </a:lnTo>
                <a:lnTo>
                  <a:pt x="6953017" y="496321"/>
                </a:lnTo>
                <a:lnTo>
                  <a:pt x="240446" y="496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6696" y="1131510"/>
            <a:ext cx="3717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新产品上市成绩佳，仍有优化空间</a:t>
            </a:r>
            <a:endParaRPr lang="zh-CN" altLang="en-US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30753" y="1131510"/>
            <a:ext cx="6210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产品销售、份额等表现好，客户提建议，未来多方面升级</a:t>
            </a:r>
            <a:endParaRPr lang="zh-CN" altLang="en-US" dirty="0">
              <a:solidFill>
                <a:schemeClr val="bg1"/>
              </a:solidFill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>
          <a:xfrm>
            <a:off x="304800" y="2782316"/>
            <a:ext cx="4748146" cy="2666254"/>
          </a:xfrm>
          <a:custGeom>
            <a:avLst/>
            <a:gdLst>
              <a:gd name="connsiteX0" fmla="*/ 0 w 4748146"/>
              <a:gd name="connsiteY0" fmla="*/ 0 h 2666254"/>
              <a:gd name="connsiteX1" fmla="*/ 4748146 w 4748146"/>
              <a:gd name="connsiteY1" fmla="*/ 0 h 2666254"/>
              <a:gd name="connsiteX2" fmla="*/ 2830077 w 4748146"/>
              <a:gd name="connsiteY2" fmla="*/ 2666254 h 2666254"/>
              <a:gd name="connsiteX3" fmla="*/ 0 w 4748146"/>
              <a:gd name="connsiteY3" fmla="*/ 2666254 h 266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146" h="2666254">
                <a:moveTo>
                  <a:pt x="0" y="0"/>
                </a:moveTo>
                <a:lnTo>
                  <a:pt x="4748146" y="0"/>
                </a:lnTo>
                <a:lnTo>
                  <a:pt x="2830077" y="2666254"/>
                </a:lnTo>
                <a:lnTo>
                  <a:pt x="0" y="2666254"/>
                </a:lnTo>
                <a:close/>
              </a:path>
            </a:pathLst>
          </a:custGeom>
          <a:solidFill>
            <a:schemeClr val="bg1">
              <a:lumMod val="50000"/>
              <a:alpha val="10000"/>
            </a:schemeClr>
          </a:solidFill>
          <a:ln w="6350">
            <a:gradFill flip="none" rotWithShape="1">
              <a:gsLst>
                <a:gs pos="51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7" name="任意多边形: 形状 186"/>
          <p:cNvSpPr/>
          <p:nvPr/>
        </p:nvSpPr>
        <p:spPr>
          <a:xfrm>
            <a:off x="306309" y="1409428"/>
            <a:ext cx="5797354" cy="1210490"/>
          </a:xfrm>
          <a:custGeom>
            <a:avLst/>
            <a:gdLst>
              <a:gd name="connsiteX0" fmla="*/ 0 w 5757344"/>
              <a:gd name="connsiteY0" fmla="*/ 0 h 1348895"/>
              <a:gd name="connsiteX1" fmla="*/ 5757344 w 5757344"/>
              <a:gd name="connsiteY1" fmla="*/ 0 h 1348895"/>
              <a:gd name="connsiteX2" fmla="*/ 4805239 w 5757344"/>
              <a:gd name="connsiteY2" fmla="*/ 1348895 h 1348895"/>
              <a:gd name="connsiteX3" fmla="*/ 0 w 5757344"/>
              <a:gd name="connsiteY3" fmla="*/ 1348895 h 1348895"/>
              <a:gd name="connsiteX4" fmla="*/ 0 w 5757344"/>
              <a:gd name="connsiteY4" fmla="*/ 0 h 134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7344" h="1348895">
                <a:moveTo>
                  <a:pt x="0" y="0"/>
                </a:moveTo>
                <a:lnTo>
                  <a:pt x="5757344" y="0"/>
                </a:lnTo>
                <a:lnTo>
                  <a:pt x="4805239" y="1348895"/>
                </a:lnTo>
                <a:lnTo>
                  <a:pt x="0" y="134889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0" name="菱形 169"/>
          <p:cNvSpPr/>
          <p:nvPr/>
        </p:nvSpPr>
        <p:spPr>
          <a:xfrm>
            <a:off x="2170112" y="4049702"/>
            <a:ext cx="7837488" cy="2827334"/>
          </a:xfrm>
          <a:prstGeom prst="diamond">
            <a:avLst/>
          </a:prstGeom>
          <a:noFill/>
          <a:ln w="6350">
            <a:gradFill>
              <a:gsLst>
                <a:gs pos="21000">
                  <a:schemeClr val="accent1">
                    <a:lumMod val="45000"/>
                    <a:lumOff val="55000"/>
                    <a:alpha val="0"/>
                  </a:schemeClr>
                </a:gs>
                <a:gs pos="67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菱形 170"/>
          <p:cNvSpPr/>
          <p:nvPr/>
        </p:nvSpPr>
        <p:spPr>
          <a:xfrm>
            <a:off x="1115191" y="3669145"/>
            <a:ext cx="9947330" cy="3588448"/>
          </a:xfrm>
          <a:prstGeom prst="diamond">
            <a:avLst/>
          </a:prstGeom>
          <a:noFill/>
          <a:ln w="6350">
            <a:gradFill>
              <a:gsLst>
                <a:gs pos="21000">
                  <a:schemeClr val="accent1">
                    <a:lumMod val="45000"/>
                    <a:lumOff val="55000"/>
                    <a:alpha val="0"/>
                  </a:schemeClr>
                </a:gs>
                <a:gs pos="67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200660"/>
            <a:ext cx="5769610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营销成果与品牌建设汇报</a:t>
            </a:r>
          </a:p>
        </p:txBody>
      </p: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3" name="任意多边形: 形状 192"/>
          <p:cNvSpPr/>
          <p:nvPr/>
        </p:nvSpPr>
        <p:spPr>
          <a:xfrm flipH="1">
            <a:off x="6105625" y="1409428"/>
            <a:ext cx="5797354" cy="1210490"/>
          </a:xfrm>
          <a:custGeom>
            <a:avLst/>
            <a:gdLst>
              <a:gd name="connsiteX0" fmla="*/ 0 w 5757344"/>
              <a:gd name="connsiteY0" fmla="*/ 0 h 1348895"/>
              <a:gd name="connsiteX1" fmla="*/ 5757344 w 5757344"/>
              <a:gd name="connsiteY1" fmla="*/ 0 h 1348895"/>
              <a:gd name="connsiteX2" fmla="*/ 4805239 w 5757344"/>
              <a:gd name="connsiteY2" fmla="*/ 1348895 h 1348895"/>
              <a:gd name="connsiteX3" fmla="*/ 0 w 5757344"/>
              <a:gd name="connsiteY3" fmla="*/ 1348895 h 1348895"/>
              <a:gd name="connsiteX4" fmla="*/ 0 w 5757344"/>
              <a:gd name="connsiteY4" fmla="*/ 0 h 134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7344" h="1348895">
                <a:moveTo>
                  <a:pt x="0" y="0"/>
                </a:moveTo>
                <a:lnTo>
                  <a:pt x="5757344" y="0"/>
                </a:lnTo>
                <a:lnTo>
                  <a:pt x="4805239" y="1348895"/>
                </a:lnTo>
                <a:lnTo>
                  <a:pt x="0" y="134889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173410" y="1404424"/>
            <a:ext cx="5830892" cy="5110677"/>
            <a:chOff x="3173410" y="1404424"/>
            <a:chExt cx="5830892" cy="5110677"/>
          </a:xfrm>
        </p:grpSpPr>
        <p:sp>
          <p:nvSpPr>
            <p:cNvPr id="163" name="菱形 162"/>
            <p:cNvSpPr/>
            <p:nvPr/>
          </p:nvSpPr>
          <p:spPr>
            <a:xfrm>
              <a:off x="3173410" y="4411637"/>
              <a:ext cx="5830892" cy="2103464"/>
            </a:xfrm>
            <a:prstGeom prst="diamond">
              <a:avLst/>
            </a:prstGeom>
            <a:noFill/>
            <a:ln w="6350">
              <a:gradFill>
                <a:gsLst>
                  <a:gs pos="21000">
                    <a:schemeClr val="accent1">
                      <a:lumMod val="45000"/>
                      <a:lumOff val="55000"/>
                      <a:alpha val="0"/>
                    </a:schemeClr>
                  </a:gs>
                  <a:gs pos="67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5" name="任意多边形: 形状 144"/>
            <p:cNvSpPr/>
            <p:nvPr/>
          </p:nvSpPr>
          <p:spPr>
            <a:xfrm rot="5400000">
              <a:off x="6632752" y="4142065"/>
              <a:ext cx="1838950" cy="2904149"/>
            </a:xfrm>
            <a:custGeom>
              <a:avLst/>
              <a:gdLst>
                <a:gd name="connsiteX0" fmla="*/ 0 w 1838950"/>
                <a:gd name="connsiteY0" fmla="*/ 585832 h 2781193"/>
                <a:gd name="connsiteX1" fmla="*/ 798994 w 1838950"/>
                <a:gd name="connsiteY1" fmla="*/ 0 h 2781193"/>
                <a:gd name="connsiteX2" fmla="*/ 1838950 w 1838950"/>
                <a:gd name="connsiteY2" fmla="*/ 2781193 h 2781193"/>
                <a:gd name="connsiteX3" fmla="*/ 820900 w 1838950"/>
                <a:gd name="connsiteY3" fmla="*/ 2781193 h 2781193"/>
                <a:gd name="connsiteX4" fmla="*/ 0 w 1838950"/>
                <a:gd name="connsiteY4" fmla="*/ 585832 h 278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8950" h="2781193">
                  <a:moveTo>
                    <a:pt x="0" y="585832"/>
                  </a:moveTo>
                  <a:lnTo>
                    <a:pt x="798994" y="0"/>
                  </a:lnTo>
                  <a:lnTo>
                    <a:pt x="1838950" y="2781193"/>
                  </a:lnTo>
                  <a:lnTo>
                    <a:pt x="820900" y="2781193"/>
                  </a:lnTo>
                  <a:lnTo>
                    <a:pt x="0" y="585832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 rot="5400000">
              <a:off x="3723708" y="4138654"/>
              <a:ext cx="1840437" cy="2912455"/>
            </a:xfrm>
            <a:custGeom>
              <a:avLst/>
              <a:gdLst>
                <a:gd name="connsiteX0" fmla="*/ 0 w 1840437"/>
                <a:gd name="connsiteY0" fmla="*/ 2203316 h 2789148"/>
                <a:gd name="connsiteX1" fmla="*/ 822387 w 1840437"/>
                <a:gd name="connsiteY1" fmla="*/ 3977 h 2789148"/>
                <a:gd name="connsiteX2" fmla="*/ 820900 w 1840437"/>
                <a:gd name="connsiteY2" fmla="*/ 0 h 2789148"/>
                <a:gd name="connsiteX3" fmla="*/ 1838950 w 1840437"/>
                <a:gd name="connsiteY3" fmla="*/ 0 h 2789148"/>
                <a:gd name="connsiteX4" fmla="*/ 1840437 w 1840437"/>
                <a:gd name="connsiteY4" fmla="*/ 3977 h 2789148"/>
                <a:gd name="connsiteX5" fmla="*/ 798993 w 1840437"/>
                <a:gd name="connsiteY5" fmla="*/ 2789148 h 2789148"/>
                <a:gd name="connsiteX6" fmla="*/ 0 w 1840437"/>
                <a:gd name="connsiteY6" fmla="*/ 2203316 h 2789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0437" h="2789148">
                  <a:moveTo>
                    <a:pt x="0" y="2203316"/>
                  </a:moveTo>
                  <a:lnTo>
                    <a:pt x="822387" y="3977"/>
                  </a:lnTo>
                  <a:lnTo>
                    <a:pt x="820900" y="0"/>
                  </a:lnTo>
                  <a:lnTo>
                    <a:pt x="1838950" y="0"/>
                  </a:lnTo>
                  <a:lnTo>
                    <a:pt x="1840437" y="3977"/>
                  </a:lnTo>
                  <a:lnTo>
                    <a:pt x="798993" y="2789148"/>
                  </a:lnTo>
                  <a:lnTo>
                    <a:pt x="0" y="220331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52300">
                  <a:srgbClr val="F2B0B4">
                    <a:lumMod val="0"/>
                    <a:lumOff val="10000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59" name="菱形 158"/>
            <p:cNvSpPr/>
            <p:nvPr/>
          </p:nvSpPr>
          <p:spPr>
            <a:xfrm>
              <a:off x="3802726" y="3811069"/>
              <a:ext cx="4594159" cy="1698630"/>
            </a:xfrm>
            <a:prstGeom prst="diamond">
              <a:avLst/>
            </a:prstGeom>
            <a:solidFill>
              <a:schemeClr val="accent1">
                <a:lumMod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8" name="任意多边形: 形状 147"/>
            <p:cNvSpPr/>
            <p:nvPr/>
          </p:nvSpPr>
          <p:spPr>
            <a:xfrm rot="5400000">
              <a:off x="6408031" y="3416477"/>
              <a:ext cx="1615739" cy="2245909"/>
            </a:xfrm>
            <a:custGeom>
              <a:avLst/>
              <a:gdLst>
                <a:gd name="connsiteX0" fmla="*/ 0 w 1615739"/>
                <a:gd name="connsiteY0" fmla="*/ 585831 h 2184252"/>
                <a:gd name="connsiteX1" fmla="*/ 798993 w 1615739"/>
                <a:gd name="connsiteY1" fmla="*/ 0 h 2184252"/>
                <a:gd name="connsiteX2" fmla="*/ 1615739 w 1615739"/>
                <a:gd name="connsiteY2" fmla="*/ 2184252 h 2184252"/>
                <a:gd name="connsiteX3" fmla="*/ 597689 w 1615739"/>
                <a:gd name="connsiteY3" fmla="*/ 2184252 h 2184252"/>
                <a:gd name="connsiteX4" fmla="*/ 0 w 1615739"/>
                <a:gd name="connsiteY4" fmla="*/ 585831 h 2184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739" h="2184252">
                  <a:moveTo>
                    <a:pt x="0" y="585831"/>
                  </a:moveTo>
                  <a:lnTo>
                    <a:pt x="798993" y="0"/>
                  </a:lnTo>
                  <a:lnTo>
                    <a:pt x="1615739" y="2184252"/>
                  </a:lnTo>
                  <a:lnTo>
                    <a:pt x="597689" y="2184252"/>
                  </a:lnTo>
                  <a:lnTo>
                    <a:pt x="0" y="585831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34" name="任意多边形: 形状 133"/>
            <p:cNvSpPr/>
            <p:nvPr/>
          </p:nvSpPr>
          <p:spPr>
            <a:xfrm rot="5400000">
              <a:off x="4157288" y="3413132"/>
              <a:ext cx="1617226" cy="2254089"/>
            </a:xfrm>
            <a:custGeom>
              <a:avLst/>
              <a:gdLst>
                <a:gd name="connsiteX0" fmla="*/ 0 w 1617226"/>
                <a:gd name="connsiteY0" fmla="*/ 1606375 h 2192207"/>
                <a:gd name="connsiteX1" fmla="*/ 599176 w 1617226"/>
                <a:gd name="connsiteY1" fmla="*/ 3977 h 2192207"/>
                <a:gd name="connsiteX2" fmla="*/ 597689 w 1617226"/>
                <a:gd name="connsiteY2" fmla="*/ 0 h 2192207"/>
                <a:gd name="connsiteX3" fmla="*/ 1615739 w 1617226"/>
                <a:gd name="connsiteY3" fmla="*/ 0 h 2192207"/>
                <a:gd name="connsiteX4" fmla="*/ 1617226 w 1617226"/>
                <a:gd name="connsiteY4" fmla="*/ 3977 h 2192207"/>
                <a:gd name="connsiteX5" fmla="*/ 798993 w 1617226"/>
                <a:gd name="connsiteY5" fmla="*/ 2192207 h 2192207"/>
                <a:gd name="connsiteX6" fmla="*/ 0 w 1617226"/>
                <a:gd name="connsiteY6" fmla="*/ 1606375 h 219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226" h="2192207">
                  <a:moveTo>
                    <a:pt x="0" y="1606375"/>
                  </a:moveTo>
                  <a:lnTo>
                    <a:pt x="599176" y="3977"/>
                  </a:lnTo>
                  <a:lnTo>
                    <a:pt x="597689" y="0"/>
                  </a:lnTo>
                  <a:lnTo>
                    <a:pt x="1615739" y="0"/>
                  </a:lnTo>
                  <a:lnTo>
                    <a:pt x="1617226" y="3977"/>
                  </a:lnTo>
                  <a:lnTo>
                    <a:pt x="798993" y="2192207"/>
                  </a:lnTo>
                  <a:lnTo>
                    <a:pt x="0" y="160637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52300">
                  <a:srgbClr val="F2B0B4">
                    <a:lumMod val="0"/>
                    <a:lumOff val="10000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60" name="菱形 159"/>
            <p:cNvSpPr/>
            <p:nvPr/>
          </p:nvSpPr>
          <p:spPr>
            <a:xfrm>
              <a:off x="4452647" y="3139873"/>
              <a:ext cx="3272417" cy="1183986"/>
            </a:xfrm>
            <a:prstGeom prst="diamond">
              <a:avLst/>
            </a:prstGeom>
            <a:solidFill>
              <a:schemeClr val="accent1">
                <a:lumMod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1" name="任意多边形: 形状 150"/>
            <p:cNvSpPr/>
            <p:nvPr/>
          </p:nvSpPr>
          <p:spPr>
            <a:xfrm rot="5400000">
              <a:off x="6197369" y="2684925"/>
              <a:ext cx="1392528" cy="1587312"/>
            </a:xfrm>
            <a:custGeom>
              <a:avLst/>
              <a:gdLst>
                <a:gd name="connsiteX0" fmla="*/ 0 w 1392528"/>
                <a:gd name="connsiteY0" fmla="*/ 585832 h 1587312"/>
                <a:gd name="connsiteX1" fmla="*/ 798993 w 1392528"/>
                <a:gd name="connsiteY1" fmla="*/ 0 h 1587312"/>
                <a:gd name="connsiteX2" fmla="*/ 1392528 w 1392528"/>
                <a:gd name="connsiteY2" fmla="*/ 1587312 h 1587312"/>
                <a:gd name="connsiteX3" fmla="*/ 374478 w 1392528"/>
                <a:gd name="connsiteY3" fmla="*/ 1587312 h 1587312"/>
                <a:gd name="connsiteX4" fmla="*/ 0 w 1392528"/>
                <a:gd name="connsiteY4" fmla="*/ 585832 h 158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528" h="1587312">
                  <a:moveTo>
                    <a:pt x="0" y="585832"/>
                  </a:moveTo>
                  <a:lnTo>
                    <a:pt x="798993" y="0"/>
                  </a:lnTo>
                  <a:lnTo>
                    <a:pt x="1392528" y="1587312"/>
                  </a:lnTo>
                  <a:lnTo>
                    <a:pt x="374478" y="1587312"/>
                  </a:lnTo>
                  <a:lnTo>
                    <a:pt x="0" y="585832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37" name="任意多边形: 形状 136"/>
            <p:cNvSpPr/>
            <p:nvPr/>
          </p:nvSpPr>
          <p:spPr>
            <a:xfrm rot="5400000">
              <a:off x="4605337" y="2681691"/>
              <a:ext cx="1394015" cy="1595266"/>
            </a:xfrm>
            <a:custGeom>
              <a:avLst/>
              <a:gdLst>
                <a:gd name="connsiteX0" fmla="*/ 0 w 1394015"/>
                <a:gd name="connsiteY0" fmla="*/ 1009434 h 1595266"/>
                <a:gd name="connsiteX1" fmla="*/ 375965 w 1394015"/>
                <a:gd name="connsiteY1" fmla="*/ 3977 h 1595266"/>
                <a:gd name="connsiteX2" fmla="*/ 374478 w 1394015"/>
                <a:gd name="connsiteY2" fmla="*/ 0 h 1595266"/>
                <a:gd name="connsiteX3" fmla="*/ 1392528 w 1394015"/>
                <a:gd name="connsiteY3" fmla="*/ 0 h 1595266"/>
                <a:gd name="connsiteX4" fmla="*/ 1394015 w 1394015"/>
                <a:gd name="connsiteY4" fmla="*/ 3977 h 1595266"/>
                <a:gd name="connsiteX5" fmla="*/ 798993 w 1394015"/>
                <a:gd name="connsiteY5" fmla="*/ 1595266 h 1595266"/>
                <a:gd name="connsiteX6" fmla="*/ 0 w 1394015"/>
                <a:gd name="connsiteY6" fmla="*/ 1009434 h 159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4015" h="1595266">
                  <a:moveTo>
                    <a:pt x="0" y="1009434"/>
                  </a:moveTo>
                  <a:lnTo>
                    <a:pt x="375965" y="3977"/>
                  </a:lnTo>
                  <a:lnTo>
                    <a:pt x="374478" y="0"/>
                  </a:lnTo>
                  <a:lnTo>
                    <a:pt x="1392528" y="0"/>
                  </a:lnTo>
                  <a:lnTo>
                    <a:pt x="1394015" y="3977"/>
                  </a:lnTo>
                  <a:lnTo>
                    <a:pt x="798993" y="1595266"/>
                  </a:lnTo>
                  <a:lnTo>
                    <a:pt x="0" y="100943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52300">
                  <a:srgbClr val="F2B0B4">
                    <a:lumMod val="0"/>
                    <a:lumOff val="10000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61" name="菱形 160"/>
            <p:cNvSpPr/>
            <p:nvPr/>
          </p:nvSpPr>
          <p:spPr>
            <a:xfrm>
              <a:off x="5101652" y="2409825"/>
              <a:ext cx="1988696" cy="751609"/>
            </a:xfrm>
            <a:prstGeom prst="diamond">
              <a:avLst/>
            </a:prstGeom>
            <a:solidFill>
              <a:schemeClr val="accent1">
                <a:lumMod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192" name="组合 191"/>
            <p:cNvGrpSpPr/>
            <p:nvPr/>
          </p:nvGrpSpPr>
          <p:grpSpPr>
            <a:xfrm>
              <a:off x="5179229" y="1404424"/>
              <a:ext cx="1841500" cy="1594564"/>
              <a:chOff x="5101651" y="1271024"/>
              <a:chExt cx="1988697" cy="1727964"/>
            </a:xfrm>
          </p:grpSpPr>
          <p:sp>
            <p:nvSpPr>
              <p:cNvPr id="154" name="任意多边形: 形状 153"/>
              <p:cNvSpPr/>
              <p:nvPr/>
            </p:nvSpPr>
            <p:spPr>
              <a:xfrm rot="5400000">
                <a:off x="5734636" y="1641788"/>
                <a:ext cx="1721053" cy="990371"/>
              </a:xfrm>
              <a:custGeom>
                <a:avLst/>
                <a:gdLst>
                  <a:gd name="connsiteX0" fmla="*/ 0 w 1721053"/>
                  <a:gd name="connsiteY0" fmla="*/ 990371 h 990371"/>
                  <a:gd name="connsiteX1" fmla="*/ 1350729 w 1721053"/>
                  <a:gd name="connsiteY1" fmla="*/ 0 h 990371"/>
                  <a:gd name="connsiteX2" fmla="*/ 1721053 w 1721053"/>
                  <a:gd name="connsiteY2" fmla="*/ 990371 h 990371"/>
                  <a:gd name="connsiteX3" fmla="*/ 0 w 1721053"/>
                  <a:gd name="connsiteY3" fmla="*/ 990371 h 990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1053" h="990371">
                    <a:moveTo>
                      <a:pt x="0" y="990371"/>
                    </a:moveTo>
                    <a:lnTo>
                      <a:pt x="1350729" y="0"/>
                    </a:lnTo>
                    <a:lnTo>
                      <a:pt x="1721053" y="990371"/>
                    </a:lnTo>
                    <a:lnTo>
                      <a:pt x="0" y="990371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 rot="5400000">
                <a:off x="4736832" y="1635843"/>
                <a:ext cx="1727964" cy="998325"/>
              </a:xfrm>
              <a:custGeom>
                <a:avLst/>
                <a:gdLst>
                  <a:gd name="connsiteX0" fmla="*/ 0 w 1727964"/>
                  <a:gd name="connsiteY0" fmla="*/ 3977 h 998325"/>
                  <a:gd name="connsiteX1" fmla="*/ 5424 w 1727964"/>
                  <a:gd name="connsiteY1" fmla="*/ 0 h 998325"/>
                  <a:gd name="connsiteX2" fmla="*/ 1726477 w 1727964"/>
                  <a:gd name="connsiteY2" fmla="*/ 0 h 998325"/>
                  <a:gd name="connsiteX3" fmla="*/ 1727964 w 1727964"/>
                  <a:gd name="connsiteY3" fmla="*/ 3977 h 998325"/>
                  <a:gd name="connsiteX4" fmla="*/ 1356153 w 1727964"/>
                  <a:gd name="connsiteY4" fmla="*/ 998325 h 998325"/>
                  <a:gd name="connsiteX5" fmla="*/ 0 w 1727964"/>
                  <a:gd name="connsiteY5" fmla="*/ 3977 h 99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27964" h="998325">
                    <a:moveTo>
                      <a:pt x="0" y="3977"/>
                    </a:moveTo>
                    <a:lnTo>
                      <a:pt x="5424" y="0"/>
                    </a:lnTo>
                    <a:lnTo>
                      <a:pt x="1726477" y="0"/>
                    </a:lnTo>
                    <a:lnTo>
                      <a:pt x="1727964" y="3977"/>
                    </a:lnTo>
                    <a:lnTo>
                      <a:pt x="1356153" y="998325"/>
                    </a:lnTo>
                    <a:lnTo>
                      <a:pt x="0" y="397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52300">
                    <a:srgbClr val="F2B0B4">
                      <a:lumMod val="0"/>
                      <a:lumOff val="100000"/>
                    </a:srgbClr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196" name="文本框 195"/>
            <p:cNvSpPr txBox="1"/>
            <p:nvPr/>
          </p:nvSpPr>
          <p:spPr>
            <a:xfrm>
              <a:off x="5427899" y="2072220"/>
              <a:ext cx="735536" cy="59112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核心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结论</a:t>
              </a: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4944696" y="3149190"/>
              <a:ext cx="974785" cy="58746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关键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支撑</a:t>
              </a:r>
            </a:p>
          </p:txBody>
        </p:sp>
        <p:sp>
          <p:nvSpPr>
            <p:cNvPr id="198" name="文本框 197"/>
            <p:cNvSpPr txBox="1"/>
            <p:nvPr/>
          </p:nvSpPr>
          <p:spPr>
            <a:xfrm>
              <a:off x="4597906" y="4197833"/>
              <a:ext cx="974785" cy="58746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具体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措施</a:t>
              </a:r>
            </a:p>
          </p:txBody>
        </p:sp>
        <p:sp>
          <p:nvSpPr>
            <p:cNvPr id="199" name="文本框 198"/>
            <p:cNvSpPr txBox="1"/>
            <p:nvPr/>
          </p:nvSpPr>
          <p:spPr>
            <a:xfrm>
              <a:off x="4231115" y="5225483"/>
              <a:ext cx="974785" cy="58746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数据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佐证</a:t>
              </a:r>
            </a:p>
          </p:txBody>
        </p:sp>
        <p:sp>
          <p:nvSpPr>
            <p:cNvPr id="200" name="文本框 199"/>
            <p:cNvSpPr txBox="1"/>
            <p:nvPr/>
          </p:nvSpPr>
          <p:spPr>
            <a:xfrm>
              <a:off x="6086376" y="2125984"/>
              <a:ext cx="735536" cy="43037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0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en-US" altLang="zh-CN" sz="2000" b="1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8%</a:t>
              </a:r>
              <a:endParaRPr lang="zh-CN" altLang="en-US" sz="20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6409985" y="3200102"/>
              <a:ext cx="735536" cy="43037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0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60</a:t>
              </a:r>
              <a:r>
                <a:rPr lang="en-US" altLang="zh-CN" sz="2000" b="1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%</a:t>
              </a:r>
              <a:endParaRPr lang="zh-CN" altLang="en-US" sz="20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2" name="文本框 201"/>
            <p:cNvSpPr txBox="1"/>
            <p:nvPr/>
          </p:nvSpPr>
          <p:spPr>
            <a:xfrm>
              <a:off x="6682788" y="4053425"/>
              <a:ext cx="925466" cy="79970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3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优化</a:t>
              </a:r>
              <a:endParaRPr lang="en-US" altLang="zh-CN" sz="20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2000" b="1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调整</a:t>
              </a:r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6486602" y="5233688"/>
              <a:ext cx="2083748" cy="43037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3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5000000</a:t>
              </a:r>
              <a:endParaRPr lang="zh-CN" altLang="en-US" sz="20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</p:grpSp>
      <p:sp>
        <p:nvSpPr>
          <p:cNvPr id="8" name="任意多边形: 形状 7"/>
          <p:cNvSpPr/>
          <p:nvPr/>
        </p:nvSpPr>
        <p:spPr>
          <a:xfrm flipH="1">
            <a:off x="7144325" y="2782316"/>
            <a:ext cx="4748146" cy="2666254"/>
          </a:xfrm>
          <a:custGeom>
            <a:avLst/>
            <a:gdLst>
              <a:gd name="connsiteX0" fmla="*/ 0 w 4748146"/>
              <a:gd name="connsiteY0" fmla="*/ 0 h 2666254"/>
              <a:gd name="connsiteX1" fmla="*/ 4748146 w 4748146"/>
              <a:gd name="connsiteY1" fmla="*/ 0 h 2666254"/>
              <a:gd name="connsiteX2" fmla="*/ 2830077 w 4748146"/>
              <a:gd name="connsiteY2" fmla="*/ 2666254 h 2666254"/>
              <a:gd name="connsiteX3" fmla="*/ 0 w 4748146"/>
              <a:gd name="connsiteY3" fmla="*/ 2666254 h 266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146" h="2666254">
                <a:moveTo>
                  <a:pt x="0" y="0"/>
                </a:moveTo>
                <a:lnTo>
                  <a:pt x="4748146" y="0"/>
                </a:lnTo>
                <a:lnTo>
                  <a:pt x="2830077" y="2666254"/>
                </a:lnTo>
                <a:lnTo>
                  <a:pt x="0" y="2666254"/>
                </a:lnTo>
                <a:close/>
              </a:path>
            </a:pathLst>
          </a:custGeom>
          <a:solidFill>
            <a:schemeClr val="bg1">
              <a:lumMod val="50000"/>
              <a:alpha val="10000"/>
            </a:schemeClr>
          </a:solidFill>
          <a:ln w="6350">
            <a:gradFill flip="none" rotWithShape="1">
              <a:gsLst>
                <a:gs pos="51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631459" y="3023546"/>
            <a:ext cx="685178" cy="274937"/>
          </a:xfrm>
          <a:prstGeom prst="roundRect">
            <a:avLst>
              <a:gd name="adj" fmla="val 50000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cs typeface="Roboto" panose="02000000000000000000" charset="0"/>
              </a:rPr>
              <a:t>线上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9324" y="3399903"/>
            <a:ext cx="3443620" cy="141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20000"/>
              </a:lnSpc>
            </a:pP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短视频广告转化量环比增长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35%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，带动线上销售额占比达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60%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；优化广告投放策略，聚焦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25-35 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岁目标人流，调整投放时段至晚间黄金档；​短视频平台总曝光量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500 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万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+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，转化率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4.2%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，高于行业平均水平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1.8 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个百分点；</a:t>
            </a:r>
          </a:p>
          <a:p>
            <a:pPr algn="l" fontAlgn="auto">
              <a:lnSpc>
                <a:spcPct val="120000"/>
              </a:lnSpc>
            </a:pP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​</a:t>
            </a:r>
          </a:p>
        </p:txBody>
      </p:sp>
      <p:sp>
        <p:nvSpPr>
          <p:cNvPr id="16" name="矩形: 圆角 15"/>
          <p:cNvSpPr/>
          <p:nvPr/>
        </p:nvSpPr>
        <p:spPr>
          <a:xfrm flipH="1">
            <a:off x="10946385" y="3023546"/>
            <a:ext cx="685178" cy="274937"/>
          </a:xfrm>
          <a:prstGeom prst="roundRect">
            <a:avLst>
              <a:gd name="adj" fmla="val 50000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cs typeface="Roboto" panose="02000000000000000000" charset="0"/>
              </a:rPr>
              <a:t>线下</a:t>
            </a:r>
          </a:p>
        </p:txBody>
      </p:sp>
      <p:sp>
        <p:nvSpPr>
          <p:cNvPr id="18" name="文本框 17"/>
          <p:cNvSpPr txBox="1"/>
          <p:nvPr/>
        </p:nvSpPr>
        <p:spPr>
          <a:xfrm flipH="1">
            <a:off x="8300078" y="3399903"/>
            <a:ext cx="3443620" cy="1196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 lang="zh-CN" altLang="en-US" sz="1200" dirty="0">
                <a:solidFill>
                  <a:srgbClr val="1F2329"/>
                </a:solidFill>
                <a:effectLst/>
                <a:latin typeface="+mn-ea"/>
                <a:cs typeface="+mn-ea"/>
                <a:sym typeface="+mn-ea"/>
              </a:rPr>
              <a:t>3 场行业展会累计获客 2000+，合作意向达成率较 Q2 提高 15%。提前 30 天调研参展需求，定制专项洽谈方案，配备专业产品顾问全程对接。展会期间客户询问时长平均达 15 分钟，后续跟进 1 周内签约率为 30%，较往期提升 10%。 ​​</a:t>
            </a:r>
          </a:p>
        </p:txBody>
      </p:sp>
      <p:sp>
        <p:nvSpPr>
          <p:cNvPr id="23" name="椭圆 22"/>
          <p:cNvSpPr/>
          <p:nvPr/>
        </p:nvSpPr>
        <p:spPr>
          <a:xfrm>
            <a:off x="647695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1302899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958103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613306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96" name="Google Shape;5279;p76"/>
          <p:cNvGrpSpPr/>
          <p:nvPr/>
        </p:nvGrpSpPr>
        <p:grpSpPr>
          <a:xfrm>
            <a:off x="1411577" y="4874534"/>
            <a:ext cx="246198" cy="236702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97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98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99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0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1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2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3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4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05" name="Google Shape;5313;p76"/>
          <p:cNvGrpSpPr/>
          <p:nvPr/>
        </p:nvGrpSpPr>
        <p:grpSpPr>
          <a:xfrm>
            <a:off x="743449" y="4850402"/>
            <a:ext cx="285010" cy="284966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106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7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08" name="Google Shape;5389;p76"/>
          <p:cNvGrpSpPr/>
          <p:nvPr/>
        </p:nvGrpSpPr>
        <p:grpSpPr>
          <a:xfrm>
            <a:off x="2049794" y="4850402"/>
            <a:ext cx="287744" cy="284966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109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0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1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2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13" name="Google Shape;5534;p76"/>
          <p:cNvGrpSpPr/>
          <p:nvPr/>
        </p:nvGrpSpPr>
        <p:grpSpPr>
          <a:xfrm>
            <a:off x="2716777" y="4865357"/>
            <a:ext cx="255544" cy="250582"/>
            <a:chOff x="1490050" y="3805975"/>
            <a:chExt cx="491900" cy="482350"/>
          </a:xfrm>
          <a:solidFill>
            <a:schemeClr val="bg1"/>
          </a:solidFill>
        </p:grpSpPr>
        <p:sp>
          <p:nvSpPr>
            <p:cNvPr id="114" name="Google Shape;5535;p76"/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5" name="Google Shape;5536;p76"/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6" name="Google Shape;5537;p76"/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7" name="Google Shape;5538;p76"/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18" name="椭圆 117"/>
          <p:cNvSpPr/>
          <p:nvPr/>
        </p:nvSpPr>
        <p:spPr>
          <a:xfrm>
            <a:off x="9199432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9854636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0" name="椭圆 119"/>
          <p:cNvSpPr/>
          <p:nvPr/>
        </p:nvSpPr>
        <p:spPr>
          <a:xfrm>
            <a:off x="10509840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1" name="椭圆 120"/>
          <p:cNvSpPr/>
          <p:nvPr/>
        </p:nvSpPr>
        <p:spPr>
          <a:xfrm>
            <a:off x="11165043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22" name="Google Shape;5279;p76"/>
          <p:cNvGrpSpPr/>
          <p:nvPr/>
        </p:nvGrpSpPr>
        <p:grpSpPr>
          <a:xfrm>
            <a:off x="9963314" y="4874534"/>
            <a:ext cx="246198" cy="236702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123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4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5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6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8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9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0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2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33" name="Google Shape;5313;p76"/>
          <p:cNvGrpSpPr/>
          <p:nvPr/>
        </p:nvGrpSpPr>
        <p:grpSpPr>
          <a:xfrm>
            <a:off x="9295186" y="4850402"/>
            <a:ext cx="285010" cy="284966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135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6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38" name="Google Shape;5389;p76"/>
          <p:cNvGrpSpPr/>
          <p:nvPr/>
        </p:nvGrpSpPr>
        <p:grpSpPr>
          <a:xfrm>
            <a:off x="10601531" y="4850402"/>
            <a:ext cx="287744" cy="284966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139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1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2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3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4" name="Google Shape;5534;p76"/>
          <p:cNvGrpSpPr/>
          <p:nvPr/>
        </p:nvGrpSpPr>
        <p:grpSpPr>
          <a:xfrm>
            <a:off x="11268514" y="4865357"/>
            <a:ext cx="255544" cy="250582"/>
            <a:chOff x="1490050" y="3805975"/>
            <a:chExt cx="491900" cy="482350"/>
          </a:xfrm>
          <a:solidFill>
            <a:schemeClr val="bg1"/>
          </a:solidFill>
        </p:grpSpPr>
        <p:sp>
          <p:nvSpPr>
            <p:cNvPr id="146" name="Google Shape;5535;p76"/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7" name="Google Shape;5536;p76"/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9" name="Google Shape;5537;p76"/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50" name="Google Shape;5538;p76"/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52" name="文本框 151"/>
          <p:cNvSpPr txBox="1"/>
          <p:nvPr/>
        </p:nvSpPr>
        <p:spPr>
          <a:xfrm>
            <a:off x="6941579" y="1602309"/>
            <a:ext cx="4802119" cy="73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Q3 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市场部通过准确营销，超额 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12% 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完成季度业绩目标，品牌好感度提升 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8%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。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9324" y="1530187"/>
            <a:ext cx="3443620" cy="94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Q3 </a:t>
            </a:r>
            <a:r>
              <a:rPr lang="zh-CN" altLang="en-US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市场部营销成果</a:t>
            </a:r>
            <a:endParaRPr lang="en-US" altLang="zh-CN" sz="2400" b="0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与品牌建设汇报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cxnSp>
        <p:nvCxnSpPr>
          <p:cNvPr id="2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矩形 162"/>
          <p:cNvSpPr/>
          <p:nvPr/>
        </p:nvSpPr>
        <p:spPr>
          <a:xfrm>
            <a:off x="2591554" y="2916468"/>
            <a:ext cx="9295646" cy="1656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2591554" y="4701851"/>
            <a:ext cx="9295646" cy="1656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2591554" y="1161065"/>
            <a:ext cx="9295646" cy="1656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200660"/>
            <a:ext cx="3951605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项目管理汇报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1" name="任意多边形: 形状 120"/>
          <p:cNvSpPr/>
          <p:nvPr/>
        </p:nvSpPr>
        <p:spPr>
          <a:xfrm>
            <a:off x="312920" y="4687304"/>
            <a:ext cx="4557269" cy="1751596"/>
          </a:xfrm>
          <a:custGeom>
            <a:avLst/>
            <a:gdLst>
              <a:gd name="connsiteX0" fmla="*/ 723454 w 4557269"/>
              <a:gd name="connsiteY0" fmla="*/ 0 h 1751596"/>
              <a:gd name="connsiteX1" fmla="*/ 3833816 w 4557269"/>
              <a:gd name="connsiteY1" fmla="*/ 0 h 1751596"/>
              <a:gd name="connsiteX2" fmla="*/ 4557269 w 4557269"/>
              <a:gd name="connsiteY2" fmla="*/ 1640369 h 1751596"/>
              <a:gd name="connsiteX3" fmla="*/ 2278635 w 4557269"/>
              <a:gd name="connsiteY3" fmla="*/ 1751596 h 1751596"/>
              <a:gd name="connsiteX4" fmla="*/ 1 w 4557269"/>
              <a:gd name="connsiteY4" fmla="*/ 1640369 h 1751596"/>
              <a:gd name="connsiteX5" fmla="*/ 0 w 4557269"/>
              <a:gd name="connsiteY5" fmla="*/ 1640369 h 175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7269" h="1751596">
                <a:moveTo>
                  <a:pt x="723454" y="0"/>
                </a:moveTo>
                <a:lnTo>
                  <a:pt x="3833816" y="0"/>
                </a:lnTo>
                <a:lnTo>
                  <a:pt x="4557269" y="1640369"/>
                </a:lnTo>
                <a:cubicBezTo>
                  <a:pt x="4557269" y="1701798"/>
                  <a:pt x="3537090" y="1751596"/>
                  <a:pt x="2278635" y="1751596"/>
                </a:cubicBezTo>
                <a:cubicBezTo>
                  <a:pt x="1020180" y="1751596"/>
                  <a:pt x="1" y="1701798"/>
                  <a:pt x="1" y="1640369"/>
                </a:cubicBezTo>
                <a:lnTo>
                  <a:pt x="0" y="16403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4000"/>
                </a:schemeClr>
              </a:gs>
              <a:gs pos="100000">
                <a:schemeClr val="accent1">
                  <a:lumMod val="68000"/>
                  <a:lumOff val="3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1036560" y="4579324"/>
            <a:ext cx="3109990" cy="215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任意多边形: 形状 118"/>
          <p:cNvSpPr/>
          <p:nvPr/>
        </p:nvSpPr>
        <p:spPr>
          <a:xfrm>
            <a:off x="1084005" y="2923945"/>
            <a:ext cx="3015099" cy="1731624"/>
          </a:xfrm>
          <a:custGeom>
            <a:avLst/>
            <a:gdLst>
              <a:gd name="connsiteX0" fmla="*/ 730065 w 3015099"/>
              <a:gd name="connsiteY0" fmla="*/ 0 h 1731624"/>
              <a:gd name="connsiteX1" fmla="*/ 2285035 w 3015099"/>
              <a:gd name="connsiteY1" fmla="*/ 0 h 1731624"/>
              <a:gd name="connsiteX2" fmla="*/ 3015099 w 3015099"/>
              <a:gd name="connsiteY2" fmla="*/ 1655360 h 1731624"/>
              <a:gd name="connsiteX3" fmla="*/ 1507550 w 3015099"/>
              <a:gd name="connsiteY3" fmla="*/ 1731624 h 1731624"/>
              <a:gd name="connsiteX4" fmla="*/ 1 w 3015099"/>
              <a:gd name="connsiteY4" fmla="*/ 1655360 h 1731624"/>
              <a:gd name="connsiteX5" fmla="*/ 0 w 3015099"/>
              <a:gd name="connsiteY5" fmla="*/ 1655360 h 1731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5099" h="1731624">
                <a:moveTo>
                  <a:pt x="730065" y="0"/>
                </a:moveTo>
                <a:lnTo>
                  <a:pt x="2285035" y="0"/>
                </a:lnTo>
                <a:lnTo>
                  <a:pt x="3015099" y="1655360"/>
                </a:lnTo>
                <a:cubicBezTo>
                  <a:pt x="3015099" y="1697479"/>
                  <a:pt x="2340146" y="1731624"/>
                  <a:pt x="1507550" y="1731624"/>
                </a:cubicBezTo>
                <a:cubicBezTo>
                  <a:pt x="674954" y="1731624"/>
                  <a:pt x="1" y="1697479"/>
                  <a:pt x="1" y="1655360"/>
                </a:cubicBezTo>
                <a:lnTo>
                  <a:pt x="0" y="16553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4000"/>
                </a:schemeClr>
              </a:gs>
              <a:gs pos="100000">
                <a:schemeClr val="accent1">
                  <a:lumMod val="68000"/>
                  <a:lumOff val="3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1811260" y="2858940"/>
            <a:ext cx="1560590" cy="12953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4" name="任意多边形: 形状 113"/>
          <p:cNvSpPr/>
          <p:nvPr/>
        </p:nvSpPr>
        <p:spPr>
          <a:xfrm>
            <a:off x="1861702" y="1161065"/>
            <a:ext cx="1459706" cy="1708640"/>
          </a:xfrm>
          <a:custGeom>
            <a:avLst/>
            <a:gdLst>
              <a:gd name="connsiteX0" fmla="*/ 729853 w 1459706"/>
              <a:gd name="connsiteY0" fmla="*/ 0 h 1708640"/>
              <a:gd name="connsiteX1" fmla="*/ 1459706 w 1459706"/>
              <a:gd name="connsiteY1" fmla="*/ 1654880 h 1708640"/>
              <a:gd name="connsiteX2" fmla="*/ 729853 w 1459706"/>
              <a:gd name="connsiteY2" fmla="*/ 1708640 h 1708640"/>
              <a:gd name="connsiteX3" fmla="*/ 0 w 1459706"/>
              <a:gd name="connsiteY3" fmla="*/ 1654880 h 170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9706" h="1708640">
                <a:moveTo>
                  <a:pt x="729853" y="0"/>
                </a:moveTo>
                <a:lnTo>
                  <a:pt x="1459706" y="1654880"/>
                </a:lnTo>
                <a:cubicBezTo>
                  <a:pt x="1459706" y="1684571"/>
                  <a:pt x="1132940" y="1708640"/>
                  <a:pt x="729853" y="1708640"/>
                </a:cubicBezTo>
                <a:cubicBezTo>
                  <a:pt x="326766" y="1708640"/>
                  <a:pt x="0" y="1684571"/>
                  <a:pt x="0" y="165488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4000"/>
                </a:schemeClr>
              </a:gs>
              <a:gs pos="100000">
                <a:schemeClr val="accent1">
                  <a:lumMod val="68000"/>
                  <a:lumOff val="3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936144" y="1978526"/>
            <a:ext cx="131082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启动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规划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1936144" y="3502700"/>
            <a:ext cx="131082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管控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1936144" y="5276503"/>
            <a:ext cx="131082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收尾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复盘</a:t>
            </a:r>
          </a:p>
        </p:txBody>
      </p:sp>
      <p:cxnSp>
        <p:nvCxnSpPr>
          <p:cNvPr id="168" name="直接连接符 167"/>
          <p:cNvCxnSpPr/>
          <p:nvPr/>
        </p:nvCxnSpPr>
        <p:spPr>
          <a:xfrm flipH="1">
            <a:off x="208992" y="1161065"/>
            <a:ext cx="2260475" cy="5125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>
            <a:off x="208992" y="6169825"/>
            <a:ext cx="0" cy="11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/>
          <p:cNvSpPr txBox="1"/>
          <p:nvPr/>
        </p:nvSpPr>
        <p:spPr>
          <a:xfrm>
            <a:off x="3074243" y="1286123"/>
            <a:ext cx="2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明确方向，搭建框架</a:t>
            </a:r>
            <a:endParaRPr lang="zh-CN" altLang="en-US" sz="1400" b="1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174" name="矩形: 圆角 173"/>
          <p:cNvSpPr/>
          <p:nvPr/>
        </p:nvSpPr>
        <p:spPr>
          <a:xfrm>
            <a:off x="3443495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5" name="矩形: 圆角 174"/>
          <p:cNvSpPr/>
          <p:nvPr/>
        </p:nvSpPr>
        <p:spPr>
          <a:xfrm>
            <a:off x="5525265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矩形: 圆角 175"/>
          <p:cNvSpPr/>
          <p:nvPr/>
        </p:nvSpPr>
        <p:spPr>
          <a:xfrm>
            <a:off x="7606240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7" name="矩形: 圆角 176"/>
          <p:cNvSpPr/>
          <p:nvPr/>
        </p:nvSpPr>
        <p:spPr>
          <a:xfrm>
            <a:off x="9687612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0" name="矩形: 圆角 179"/>
          <p:cNvSpPr/>
          <p:nvPr/>
        </p:nvSpPr>
        <p:spPr>
          <a:xfrm>
            <a:off x="4221191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1" name="矩形: 圆角 180"/>
          <p:cNvSpPr/>
          <p:nvPr/>
        </p:nvSpPr>
        <p:spPr>
          <a:xfrm>
            <a:off x="6105617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2" name="矩形: 圆角 181"/>
          <p:cNvSpPr/>
          <p:nvPr/>
        </p:nvSpPr>
        <p:spPr>
          <a:xfrm>
            <a:off x="7990043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3" name="矩形: 圆角 182"/>
          <p:cNvSpPr/>
          <p:nvPr/>
        </p:nvSpPr>
        <p:spPr>
          <a:xfrm>
            <a:off x="9874469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8" name="矩形: 圆角 187"/>
          <p:cNvSpPr/>
          <p:nvPr/>
        </p:nvSpPr>
        <p:spPr>
          <a:xfrm>
            <a:off x="4992276" y="5200438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9" name="矩形: 圆角 188"/>
          <p:cNvSpPr/>
          <p:nvPr/>
        </p:nvSpPr>
        <p:spPr>
          <a:xfrm>
            <a:off x="6876702" y="5200438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0" name="矩形: 圆角 189"/>
          <p:cNvSpPr/>
          <p:nvPr/>
        </p:nvSpPr>
        <p:spPr>
          <a:xfrm>
            <a:off x="8761128" y="5200438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3585077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需求调研与目标拆解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512054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调研需求，转量化目标并拆解</a:t>
            </a:r>
          </a:p>
        </p:txBody>
      </p:sp>
      <p:sp>
        <p:nvSpPr>
          <p:cNvPr id="194" name="文本框 193"/>
          <p:cNvSpPr txBox="1"/>
          <p:nvPr/>
        </p:nvSpPr>
        <p:spPr>
          <a:xfrm>
            <a:off x="5666847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团队组建与职责分配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5593824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组跨职能团队，</a:t>
            </a:r>
            <a:r>
              <a:rPr lang="en-US" altLang="zh-CN" sz="1400" b="1" dirty="0">
                <a:cs typeface="Roboto" panose="02000000000000000000" charset="0"/>
              </a:rPr>
              <a:t>RACI </a:t>
            </a:r>
            <a:r>
              <a:rPr lang="zh-CN" altLang="en-US" sz="1400" b="1" dirty="0">
                <a:cs typeface="Roboto" panose="02000000000000000000" charset="0"/>
              </a:rPr>
              <a:t>定责防重叠</a:t>
            </a:r>
          </a:p>
        </p:txBody>
      </p:sp>
      <p:sp>
        <p:nvSpPr>
          <p:cNvPr id="197" name="文本框 196"/>
          <p:cNvSpPr txBox="1"/>
          <p:nvPr/>
        </p:nvSpPr>
        <p:spPr>
          <a:xfrm>
            <a:off x="7747822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方案制定与风险预判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7674799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组团队制方案，甘特图 </a:t>
            </a:r>
            <a:r>
              <a:rPr lang="en-US" altLang="zh-CN" sz="1400" b="1" dirty="0">
                <a:cs typeface="Roboto" panose="02000000000000000000" charset="0"/>
              </a:rPr>
              <a:t>+ </a:t>
            </a:r>
            <a:r>
              <a:rPr lang="zh-CN" altLang="en-US" sz="1400" b="1" dirty="0">
                <a:cs typeface="Roboto" panose="02000000000000000000" charset="0"/>
              </a:rPr>
              <a:t>风险预案</a:t>
            </a:r>
          </a:p>
        </p:txBody>
      </p:sp>
      <p:sp>
        <p:nvSpPr>
          <p:cNvPr id="199" name="文本框 198"/>
          <p:cNvSpPr txBox="1"/>
          <p:nvPr/>
        </p:nvSpPr>
        <p:spPr>
          <a:xfrm>
            <a:off x="9829194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方案评审与启动宣贯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9756171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评方案优可行性，开启动会明要求</a:t>
            </a:r>
          </a:p>
        </p:txBody>
      </p:sp>
      <p:sp>
        <p:nvSpPr>
          <p:cNvPr id="201" name="文本框 200"/>
          <p:cNvSpPr txBox="1"/>
          <p:nvPr/>
        </p:nvSpPr>
        <p:spPr>
          <a:xfrm>
            <a:off x="3580612" y="3038492"/>
            <a:ext cx="2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动态跟踪，确保落地</a:t>
            </a:r>
            <a:endParaRPr lang="zh-CN" altLang="en-US" sz="1400" b="1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4261231" y="4819634"/>
            <a:ext cx="2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总结经验，沉淀成果</a:t>
            </a:r>
            <a:endParaRPr lang="zh-CN" altLang="en-US" sz="1400" b="1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4269344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进度跟踪与同步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4356918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调研需求，转量化目标并拆解</a:t>
            </a:r>
          </a:p>
        </p:txBody>
      </p:sp>
      <p:sp>
        <p:nvSpPr>
          <p:cNvPr id="31" name="任意多边形: 形状 30"/>
          <p:cNvSpPr/>
          <p:nvPr/>
        </p:nvSpPr>
        <p:spPr>
          <a:xfrm rot="1324119">
            <a:off x="815224" y="4663017"/>
            <a:ext cx="370593" cy="1843839"/>
          </a:xfrm>
          <a:custGeom>
            <a:avLst/>
            <a:gdLst>
              <a:gd name="connsiteX0" fmla="*/ 0 w 370593"/>
              <a:gd name="connsiteY0" fmla="*/ 70647 h 1843839"/>
              <a:gd name="connsiteX1" fmla="*/ 10227 w 370593"/>
              <a:gd name="connsiteY1" fmla="*/ 68933 h 1843839"/>
              <a:gd name="connsiteX2" fmla="*/ 149953 w 370593"/>
              <a:gd name="connsiteY2" fmla="*/ 31990 h 1843839"/>
              <a:gd name="connsiteX3" fmla="*/ 252793 w 370593"/>
              <a:gd name="connsiteY3" fmla="*/ 0 h 1843839"/>
              <a:gd name="connsiteX4" fmla="*/ 370593 w 370593"/>
              <a:gd name="connsiteY4" fmla="*/ 1726719 h 1843839"/>
              <a:gd name="connsiteX5" fmla="*/ 335922 w 370593"/>
              <a:gd name="connsiteY5" fmla="*/ 1738653 h 1843839"/>
              <a:gd name="connsiteX6" fmla="*/ 9347 w 370593"/>
              <a:gd name="connsiteY6" fmla="*/ 1841427 h 1843839"/>
              <a:gd name="connsiteX7" fmla="*/ 0 w 370593"/>
              <a:gd name="connsiteY7" fmla="*/ 1843839 h 184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593" h="1843839">
                <a:moveTo>
                  <a:pt x="0" y="70647"/>
                </a:moveTo>
                <a:lnTo>
                  <a:pt x="10227" y="68933"/>
                </a:lnTo>
                <a:cubicBezTo>
                  <a:pt x="49104" y="60111"/>
                  <a:pt x="96011" y="47688"/>
                  <a:pt x="149953" y="31990"/>
                </a:cubicBezTo>
                <a:lnTo>
                  <a:pt x="252793" y="0"/>
                </a:lnTo>
                <a:lnTo>
                  <a:pt x="370593" y="1726719"/>
                </a:lnTo>
                <a:lnTo>
                  <a:pt x="335922" y="1738653"/>
                </a:lnTo>
                <a:cubicBezTo>
                  <a:pt x="203722" y="1783359"/>
                  <a:pt x="93239" y="1818185"/>
                  <a:pt x="9347" y="1841427"/>
                </a:cubicBezTo>
                <a:lnTo>
                  <a:pt x="0" y="1843839"/>
                </a:lnTo>
                <a:close/>
              </a:path>
            </a:pathLst>
          </a:cu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 rot="1324119">
            <a:off x="1530177" y="2897403"/>
            <a:ext cx="243707" cy="1823349"/>
          </a:xfrm>
          <a:custGeom>
            <a:avLst/>
            <a:gdLst>
              <a:gd name="connsiteX0" fmla="*/ 0 w 243707"/>
              <a:gd name="connsiteY0" fmla="*/ 32050 h 1823349"/>
              <a:gd name="connsiteX1" fmla="*/ 3065 w 243707"/>
              <a:gd name="connsiteY1" fmla="*/ 31668 h 1823349"/>
              <a:gd name="connsiteX2" fmla="*/ 73870 w 243707"/>
              <a:gd name="connsiteY2" fmla="*/ 14833 h 1823349"/>
              <a:gd name="connsiteX3" fmla="*/ 124516 w 243707"/>
              <a:gd name="connsiteY3" fmla="*/ 0 h 1823349"/>
              <a:gd name="connsiteX4" fmla="*/ 243707 w 243707"/>
              <a:gd name="connsiteY4" fmla="*/ 1747109 h 1823349"/>
              <a:gd name="connsiteX5" fmla="*/ 222088 w 243707"/>
              <a:gd name="connsiteY5" fmla="*/ 1754504 h 1823349"/>
              <a:gd name="connsiteX6" fmla="*/ 5776 w 243707"/>
              <a:gd name="connsiteY6" fmla="*/ 1821887 h 1823349"/>
              <a:gd name="connsiteX7" fmla="*/ 0 w 243707"/>
              <a:gd name="connsiteY7" fmla="*/ 1823349 h 1823349"/>
              <a:gd name="connsiteX8" fmla="*/ 0 w 243707"/>
              <a:gd name="connsiteY8" fmla="*/ 32050 h 18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707" h="1823349">
                <a:moveTo>
                  <a:pt x="0" y="32050"/>
                </a:moveTo>
                <a:lnTo>
                  <a:pt x="3065" y="31668"/>
                </a:lnTo>
                <a:cubicBezTo>
                  <a:pt x="22817" y="27841"/>
                  <a:pt x="46585" y="22177"/>
                  <a:pt x="73870" y="14833"/>
                </a:cubicBezTo>
                <a:lnTo>
                  <a:pt x="124516" y="0"/>
                </a:lnTo>
                <a:lnTo>
                  <a:pt x="243707" y="1747109"/>
                </a:lnTo>
                <a:lnTo>
                  <a:pt x="222088" y="1754504"/>
                </a:lnTo>
                <a:cubicBezTo>
                  <a:pt x="134549" y="1783897"/>
                  <a:pt x="61370" y="1806732"/>
                  <a:pt x="5776" y="1821887"/>
                </a:cubicBezTo>
                <a:lnTo>
                  <a:pt x="0" y="1823349"/>
                </a:lnTo>
                <a:lnTo>
                  <a:pt x="0" y="32050"/>
                </a:ln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 rot="1324119">
            <a:off x="2236971" y="1185223"/>
            <a:ext cx="116287" cy="1736151"/>
          </a:xfrm>
          <a:custGeom>
            <a:avLst/>
            <a:gdLst>
              <a:gd name="connsiteX0" fmla="*/ 0 w 116287"/>
              <a:gd name="connsiteY0" fmla="*/ 0 h 1736151"/>
              <a:gd name="connsiteX1" fmla="*/ 116287 w 116287"/>
              <a:gd name="connsiteY1" fmla="*/ 1704538 h 1736151"/>
              <a:gd name="connsiteX2" fmla="*/ 69833 w 116287"/>
              <a:gd name="connsiteY2" fmla="*/ 1718712 h 1736151"/>
              <a:gd name="connsiteX3" fmla="*/ 4041 w 116287"/>
              <a:gd name="connsiteY3" fmla="*/ 1735532 h 1736151"/>
              <a:gd name="connsiteX4" fmla="*/ 0 w 116287"/>
              <a:gd name="connsiteY4" fmla="*/ 1736151 h 173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287" h="1736151">
                <a:moveTo>
                  <a:pt x="0" y="0"/>
                </a:moveTo>
                <a:lnTo>
                  <a:pt x="116287" y="1704538"/>
                </a:lnTo>
                <a:lnTo>
                  <a:pt x="69833" y="1718712"/>
                </a:lnTo>
                <a:cubicBezTo>
                  <a:pt x="44449" y="1725917"/>
                  <a:pt x="22362" y="1731574"/>
                  <a:pt x="4041" y="1735532"/>
                </a:cubicBezTo>
                <a:lnTo>
                  <a:pt x="0" y="1736151"/>
                </a:lnTo>
                <a:close/>
              </a:path>
            </a:pathLst>
          </a:cu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153770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质量管控与问题处理</a:t>
            </a:r>
          </a:p>
        </p:txBody>
      </p:sp>
      <p:sp>
        <p:nvSpPr>
          <p:cNvPr id="97" name="文本框 96"/>
          <p:cNvSpPr txBox="1"/>
          <p:nvPr/>
        </p:nvSpPr>
        <p:spPr>
          <a:xfrm>
            <a:off x="6230710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设节点质检，促问题上报闭环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8038196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资源协调与沟通协作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115136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协资源跨部门，评变更并同步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9881087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成本监控与优化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9968661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月核成本析因，控超支保效益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5040429" y="535307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进度跟踪与同步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5117369" y="557187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依标验成果，交文档定维护流程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22616" y="535307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项目复盘与经验总结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999556" y="557187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开复盘会讨论，整报告入知识库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8804803" y="535307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团队激励与资料归档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881743" y="557187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奖杰出成员，归档资料供参考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直接连接符 202"/>
          <p:cNvCxnSpPr>
            <a:endCxn id="222" idx="1"/>
          </p:cNvCxnSpPr>
          <p:nvPr/>
        </p:nvCxnSpPr>
        <p:spPr>
          <a:xfrm>
            <a:off x="304800" y="4398391"/>
            <a:ext cx="1288256" cy="1746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任意多边形: 形状 238"/>
          <p:cNvSpPr/>
          <p:nvPr/>
        </p:nvSpPr>
        <p:spPr>
          <a:xfrm>
            <a:off x="284483" y="5942576"/>
            <a:ext cx="11602717" cy="584159"/>
          </a:xfrm>
          <a:custGeom>
            <a:avLst/>
            <a:gdLst>
              <a:gd name="connsiteX0" fmla="*/ 0 w 11602717"/>
              <a:gd name="connsiteY0" fmla="*/ 0 h 584159"/>
              <a:gd name="connsiteX1" fmla="*/ 1807060 w 11602717"/>
              <a:gd name="connsiteY1" fmla="*/ 0 h 584159"/>
              <a:gd name="connsiteX2" fmla="*/ 2849528 w 11602717"/>
              <a:gd name="connsiteY2" fmla="*/ 376568 h 584159"/>
              <a:gd name="connsiteX3" fmla="*/ 3891997 w 11602717"/>
              <a:gd name="connsiteY3" fmla="*/ 0 h 584159"/>
              <a:gd name="connsiteX4" fmla="*/ 11602717 w 11602717"/>
              <a:gd name="connsiteY4" fmla="*/ 0 h 584159"/>
              <a:gd name="connsiteX5" fmla="*/ 11602717 w 11602717"/>
              <a:gd name="connsiteY5" fmla="*/ 584159 h 584159"/>
              <a:gd name="connsiteX6" fmla="*/ 0 w 11602717"/>
              <a:gd name="connsiteY6" fmla="*/ 584159 h 58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02717" h="584159">
                <a:moveTo>
                  <a:pt x="0" y="0"/>
                </a:moveTo>
                <a:lnTo>
                  <a:pt x="1807060" y="0"/>
                </a:lnTo>
                <a:lnTo>
                  <a:pt x="2849528" y="376568"/>
                </a:lnTo>
                <a:lnTo>
                  <a:pt x="3891997" y="0"/>
                </a:lnTo>
                <a:lnTo>
                  <a:pt x="11602717" y="0"/>
                </a:lnTo>
                <a:lnTo>
                  <a:pt x="11602717" y="584159"/>
                </a:lnTo>
                <a:lnTo>
                  <a:pt x="0" y="584159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137049" y="4635900"/>
            <a:ext cx="8750151" cy="11086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137049" y="3272295"/>
            <a:ext cx="8750151" cy="11901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37049" y="1914753"/>
            <a:ext cx="8750151" cy="11901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284483" y="1071155"/>
            <a:ext cx="11602717" cy="596472"/>
          </a:xfrm>
          <a:custGeom>
            <a:avLst/>
            <a:gdLst>
              <a:gd name="connsiteX0" fmla="*/ 0 w 11602717"/>
              <a:gd name="connsiteY0" fmla="*/ 0 h 596472"/>
              <a:gd name="connsiteX1" fmla="*/ 11602717 w 11602717"/>
              <a:gd name="connsiteY1" fmla="*/ 0 h 596472"/>
              <a:gd name="connsiteX2" fmla="*/ 11602717 w 11602717"/>
              <a:gd name="connsiteY2" fmla="*/ 596472 h 596472"/>
              <a:gd name="connsiteX3" fmla="*/ 3077577 w 11602717"/>
              <a:gd name="connsiteY3" fmla="*/ 596472 h 596472"/>
              <a:gd name="connsiteX4" fmla="*/ 2851959 w 11602717"/>
              <a:gd name="connsiteY4" fmla="*/ 166322 h 596472"/>
              <a:gd name="connsiteX5" fmla="*/ 2626342 w 11602717"/>
              <a:gd name="connsiteY5" fmla="*/ 596472 h 596472"/>
              <a:gd name="connsiteX6" fmla="*/ 0 w 11602717"/>
              <a:gd name="connsiteY6" fmla="*/ 596472 h 59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02717" h="596472">
                <a:moveTo>
                  <a:pt x="0" y="0"/>
                </a:moveTo>
                <a:lnTo>
                  <a:pt x="11602717" y="0"/>
                </a:lnTo>
                <a:lnTo>
                  <a:pt x="11602717" y="596472"/>
                </a:lnTo>
                <a:lnTo>
                  <a:pt x="3077577" y="596472"/>
                </a:lnTo>
                <a:lnTo>
                  <a:pt x="2851959" y="166322"/>
                </a:lnTo>
                <a:lnTo>
                  <a:pt x="2626342" y="596472"/>
                </a:lnTo>
                <a:lnTo>
                  <a:pt x="0" y="5964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947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关键成果与进展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6" name="任意多边形: 形状 195"/>
          <p:cNvSpPr/>
          <p:nvPr/>
        </p:nvSpPr>
        <p:spPr>
          <a:xfrm rot="5400000">
            <a:off x="3299503" y="4235937"/>
            <a:ext cx="1830341" cy="2155249"/>
          </a:xfrm>
          <a:custGeom>
            <a:avLst/>
            <a:gdLst>
              <a:gd name="connsiteX0" fmla="*/ 0 w 1698253"/>
              <a:gd name="connsiteY0" fmla="*/ 627420 h 2193507"/>
              <a:gd name="connsiteX1" fmla="*/ 1002636 w 1698253"/>
              <a:gd name="connsiteY1" fmla="*/ 0 h 2193507"/>
              <a:gd name="connsiteX2" fmla="*/ 1698253 w 1698253"/>
              <a:gd name="connsiteY2" fmla="*/ 2193507 h 2193507"/>
              <a:gd name="connsiteX3" fmla="*/ 496646 w 1698253"/>
              <a:gd name="connsiteY3" fmla="*/ 2193507 h 2193507"/>
              <a:gd name="connsiteX4" fmla="*/ 0 w 1698253"/>
              <a:gd name="connsiteY4" fmla="*/ 627420 h 219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8253" h="2193507">
                <a:moveTo>
                  <a:pt x="0" y="627420"/>
                </a:moveTo>
                <a:lnTo>
                  <a:pt x="1002636" y="0"/>
                </a:lnTo>
                <a:lnTo>
                  <a:pt x="1698253" y="2193507"/>
                </a:lnTo>
                <a:lnTo>
                  <a:pt x="496646" y="2193507"/>
                </a:lnTo>
                <a:lnTo>
                  <a:pt x="0" y="627420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95" name="任意多边形: 形状 194"/>
          <p:cNvSpPr/>
          <p:nvPr/>
        </p:nvSpPr>
        <p:spPr>
          <a:xfrm rot="5400000">
            <a:off x="1146046" y="4235777"/>
            <a:ext cx="1830798" cy="2159886"/>
          </a:xfrm>
          <a:custGeom>
            <a:avLst/>
            <a:gdLst>
              <a:gd name="connsiteX0" fmla="*/ 0 w 1698677"/>
              <a:gd name="connsiteY0" fmla="*/ 1570807 h 2198227"/>
              <a:gd name="connsiteX1" fmla="*/ 497070 w 1698677"/>
              <a:gd name="connsiteY1" fmla="*/ 3384 h 2198227"/>
              <a:gd name="connsiteX2" fmla="*/ 495996 w 1698677"/>
              <a:gd name="connsiteY2" fmla="*/ 0 h 2198227"/>
              <a:gd name="connsiteX3" fmla="*/ 1697604 w 1698677"/>
              <a:gd name="connsiteY3" fmla="*/ 0 h 2198227"/>
              <a:gd name="connsiteX4" fmla="*/ 1698677 w 1698677"/>
              <a:gd name="connsiteY4" fmla="*/ 3384 h 2198227"/>
              <a:gd name="connsiteX5" fmla="*/ 1002636 w 1698677"/>
              <a:gd name="connsiteY5" fmla="*/ 2198227 h 2198227"/>
              <a:gd name="connsiteX6" fmla="*/ 0 w 1698677"/>
              <a:gd name="connsiteY6" fmla="*/ 1570807 h 2198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8677" h="2198227">
                <a:moveTo>
                  <a:pt x="0" y="1570807"/>
                </a:moveTo>
                <a:lnTo>
                  <a:pt x="497070" y="3384"/>
                </a:lnTo>
                <a:lnTo>
                  <a:pt x="495996" y="0"/>
                </a:lnTo>
                <a:lnTo>
                  <a:pt x="1697604" y="0"/>
                </a:lnTo>
                <a:lnTo>
                  <a:pt x="1698677" y="3384"/>
                </a:lnTo>
                <a:lnTo>
                  <a:pt x="1002636" y="2198227"/>
                </a:lnTo>
                <a:lnTo>
                  <a:pt x="0" y="157080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16000"/>
                  <a:lumOff val="84000"/>
                </a:schemeClr>
              </a:gs>
              <a:gs pos="100000">
                <a:schemeClr val="accent1">
                  <a:lumMod val="14000"/>
                  <a:lumOff val="86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22" name="菱形 221"/>
          <p:cNvSpPr/>
          <p:nvPr/>
        </p:nvSpPr>
        <p:spPr>
          <a:xfrm>
            <a:off x="1593056" y="3867364"/>
            <a:ext cx="3088482" cy="1065545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1" name="任意多边形: 形状 200"/>
          <p:cNvSpPr/>
          <p:nvPr/>
        </p:nvSpPr>
        <p:spPr>
          <a:xfrm rot="5400000">
            <a:off x="3093731" y="3164993"/>
            <a:ext cx="1610820" cy="1524183"/>
          </a:xfrm>
          <a:custGeom>
            <a:avLst/>
            <a:gdLst>
              <a:gd name="connsiteX0" fmla="*/ 0 w 1494573"/>
              <a:gd name="connsiteY0" fmla="*/ 627421 h 1551239"/>
              <a:gd name="connsiteX1" fmla="*/ 1002636 w 1494573"/>
              <a:gd name="connsiteY1" fmla="*/ 0 h 1551239"/>
              <a:gd name="connsiteX2" fmla="*/ 1494573 w 1494573"/>
              <a:gd name="connsiteY2" fmla="*/ 1551239 h 1551239"/>
              <a:gd name="connsiteX3" fmla="*/ 292966 w 1494573"/>
              <a:gd name="connsiteY3" fmla="*/ 1551239 h 1551239"/>
              <a:gd name="connsiteX4" fmla="*/ 0 w 1494573"/>
              <a:gd name="connsiteY4" fmla="*/ 627421 h 1551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4573" h="1551239">
                <a:moveTo>
                  <a:pt x="0" y="627421"/>
                </a:moveTo>
                <a:lnTo>
                  <a:pt x="1002636" y="0"/>
                </a:lnTo>
                <a:lnTo>
                  <a:pt x="1494573" y="1551239"/>
                </a:lnTo>
                <a:lnTo>
                  <a:pt x="292966" y="1551239"/>
                </a:lnTo>
                <a:lnTo>
                  <a:pt x="0" y="627421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0" name="任意多边形: 形状 199"/>
          <p:cNvSpPr/>
          <p:nvPr/>
        </p:nvSpPr>
        <p:spPr>
          <a:xfrm rot="5400000">
            <a:off x="1571339" y="3164832"/>
            <a:ext cx="1611277" cy="1528821"/>
          </a:xfrm>
          <a:custGeom>
            <a:avLst/>
            <a:gdLst>
              <a:gd name="connsiteX0" fmla="*/ 0 w 1494998"/>
              <a:gd name="connsiteY0" fmla="*/ 928539 h 1555959"/>
              <a:gd name="connsiteX1" fmla="*/ 293390 w 1494998"/>
              <a:gd name="connsiteY1" fmla="*/ 3384 h 1555959"/>
              <a:gd name="connsiteX2" fmla="*/ 292317 w 1494998"/>
              <a:gd name="connsiteY2" fmla="*/ 0 h 1555959"/>
              <a:gd name="connsiteX3" fmla="*/ 1493924 w 1494998"/>
              <a:gd name="connsiteY3" fmla="*/ 0 h 1555959"/>
              <a:gd name="connsiteX4" fmla="*/ 1494998 w 1494998"/>
              <a:gd name="connsiteY4" fmla="*/ 3384 h 1555959"/>
              <a:gd name="connsiteX5" fmla="*/ 1002636 w 1494998"/>
              <a:gd name="connsiteY5" fmla="*/ 1555959 h 1555959"/>
              <a:gd name="connsiteX6" fmla="*/ 0 w 1494998"/>
              <a:gd name="connsiteY6" fmla="*/ 928539 h 155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4998" h="1555959">
                <a:moveTo>
                  <a:pt x="0" y="928539"/>
                </a:moveTo>
                <a:lnTo>
                  <a:pt x="293390" y="3384"/>
                </a:lnTo>
                <a:lnTo>
                  <a:pt x="292317" y="0"/>
                </a:lnTo>
                <a:lnTo>
                  <a:pt x="1493924" y="0"/>
                </a:lnTo>
                <a:lnTo>
                  <a:pt x="1494998" y="3384"/>
                </a:lnTo>
                <a:lnTo>
                  <a:pt x="1002636" y="1555959"/>
                </a:lnTo>
                <a:lnTo>
                  <a:pt x="0" y="92853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16000"/>
                  <a:lumOff val="84000"/>
                </a:schemeClr>
              </a:gs>
              <a:gs pos="100000">
                <a:schemeClr val="accent1">
                  <a:lumMod val="14000"/>
                  <a:lumOff val="86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23" name="菱形 222"/>
          <p:cNvSpPr/>
          <p:nvPr/>
        </p:nvSpPr>
        <p:spPr>
          <a:xfrm>
            <a:off x="2226370" y="2809128"/>
            <a:ext cx="1830039" cy="631713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5" name="任意多边形: 形状 204"/>
          <p:cNvSpPr/>
          <p:nvPr/>
        </p:nvSpPr>
        <p:spPr>
          <a:xfrm rot="5400000">
            <a:off x="1750108" y="1878188"/>
            <a:ext cx="1884805" cy="897755"/>
          </a:xfrm>
          <a:custGeom>
            <a:avLst/>
            <a:gdLst>
              <a:gd name="connsiteX0" fmla="*/ 0 w 1748786"/>
              <a:gd name="connsiteY0" fmla="*/ 0 h 913691"/>
              <a:gd name="connsiteX1" fmla="*/ 1747713 w 1748786"/>
              <a:gd name="connsiteY1" fmla="*/ 0 h 913691"/>
              <a:gd name="connsiteX2" fmla="*/ 1748786 w 1748786"/>
              <a:gd name="connsiteY2" fmla="*/ 3384 h 913691"/>
              <a:gd name="connsiteX3" fmla="*/ 1460105 w 1748786"/>
              <a:gd name="connsiteY3" fmla="*/ 913691 h 913691"/>
              <a:gd name="connsiteX4" fmla="*/ 0 w 1748786"/>
              <a:gd name="connsiteY4" fmla="*/ 0 h 91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8786" h="913691">
                <a:moveTo>
                  <a:pt x="0" y="0"/>
                </a:moveTo>
                <a:lnTo>
                  <a:pt x="1747713" y="0"/>
                </a:lnTo>
                <a:lnTo>
                  <a:pt x="1748786" y="3384"/>
                </a:lnTo>
                <a:lnTo>
                  <a:pt x="1460105" y="913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16000"/>
                  <a:lumOff val="84000"/>
                </a:schemeClr>
              </a:gs>
              <a:gs pos="100000">
                <a:schemeClr val="accent1">
                  <a:lumMod val="14000"/>
                  <a:lumOff val="86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4" name="任意多边形: 形状 203"/>
          <p:cNvSpPr/>
          <p:nvPr/>
        </p:nvSpPr>
        <p:spPr>
          <a:xfrm rot="5400000">
            <a:off x="2645499" y="1882415"/>
            <a:ext cx="1876218" cy="893117"/>
          </a:xfrm>
          <a:custGeom>
            <a:avLst/>
            <a:gdLst>
              <a:gd name="connsiteX0" fmla="*/ 0 w 1740819"/>
              <a:gd name="connsiteY0" fmla="*/ 908971 h 908971"/>
              <a:gd name="connsiteX1" fmla="*/ 1452561 w 1740819"/>
              <a:gd name="connsiteY1" fmla="*/ 0 h 908971"/>
              <a:gd name="connsiteX2" fmla="*/ 1740819 w 1740819"/>
              <a:gd name="connsiteY2" fmla="*/ 908971 h 908971"/>
              <a:gd name="connsiteX3" fmla="*/ 0 w 1740819"/>
              <a:gd name="connsiteY3" fmla="*/ 908971 h 908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0819" h="908971">
                <a:moveTo>
                  <a:pt x="0" y="908971"/>
                </a:moveTo>
                <a:lnTo>
                  <a:pt x="1452561" y="0"/>
                </a:lnTo>
                <a:lnTo>
                  <a:pt x="1740819" y="908971"/>
                </a:lnTo>
                <a:lnTo>
                  <a:pt x="0" y="908971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2433209" y="2256377"/>
            <a:ext cx="793878" cy="59182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20571159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latin typeface="+mj-ea"/>
                <a:ea typeface="+mj-ea"/>
                <a:cs typeface="Roboto" panose="02000000000000000000" charset="0"/>
              </a:rPr>
              <a:t>产品</a:t>
            </a:r>
            <a:endParaRPr lang="en-US" altLang="zh-CN" sz="1400" b="1" dirty="0"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latin typeface="+mj-ea"/>
                <a:ea typeface="+mj-ea"/>
                <a:cs typeface="Roboto" panose="02000000000000000000" charset="0"/>
              </a:rPr>
              <a:t>研发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71968" y="3591966"/>
            <a:ext cx="793878" cy="58875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20571159"/>
              </a:camera>
              <a:lightRig rig="threePt" dir="t"/>
            </a:scene3d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市场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推广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32411" y="4932909"/>
            <a:ext cx="793878" cy="58875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20571159"/>
              </a:camera>
              <a:lightRig rig="threePt" dir="t"/>
            </a:scene3d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团队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协作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956761" y="2308991"/>
            <a:ext cx="1027864" cy="50013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1071160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80%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75344" y="3600250"/>
            <a:ext cx="1027864" cy="50013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1071160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60%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3035" y="4958238"/>
            <a:ext cx="1027864" cy="50013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1371160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75%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55087" y="2076105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核心功能开发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:</a:t>
            </a:r>
            <a:endParaRPr lang="zh-CN" altLang="en-US" sz="12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186275" y="2054650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rgbClr val="000000"/>
                </a:solidFill>
                <a:effectLst/>
                <a:latin typeface="+mn-ea"/>
              </a:defRPr>
            </a:lvl1pPr>
          </a:lstStyle>
          <a:p>
            <a:r>
              <a:rPr lang="zh-CN" altLang="en-US" sz="1200" dirty="0">
                <a:cs typeface="Roboto" panose="02000000000000000000" charset="0"/>
              </a:rPr>
              <a:t>界面设计优化</a:t>
            </a:r>
            <a:r>
              <a:rPr lang="en-US" altLang="zh-CN" sz="1200" dirty="0">
                <a:cs typeface="Roboto" panose="02000000000000000000" charset="0"/>
              </a:rPr>
              <a:t>: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00403" y="2324000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核心功能模块已基本开发完成，完成度达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90%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。经过多次内部测试，各项功能运行稳定，性能指标达到预期标准。</a:t>
            </a:r>
          </a:p>
        </p:txBody>
      </p:sp>
      <p:sp>
        <p:nvSpPr>
          <p:cNvPr id="224" name="文本框 223"/>
          <p:cNvSpPr txBox="1"/>
          <p:nvPr/>
        </p:nvSpPr>
        <p:spPr>
          <a:xfrm>
            <a:off x="8922183" y="2324000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用户界面（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UI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）和用户体验（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UX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）设计优化工作已完成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70%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236" name="文本框 235"/>
          <p:cNvSpPr txBox="1"/>
          <p:nvPr/>
        </p:nvSpPr>
        <p:spPr>
          <a:xfrm>
            <a:off x="830964" y="1196662"/>
            <a:ext cx="1524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前言</a:t>
            </a:r>
          </a:p>
        </p:txBody>
      </p:sp>
      <p:sp>
        <p:nvSpPr>
          <p:cNvPr id="240" name="文本框 239"/>
          <p:cNvSpPr txBox="1"/>
          <p:nvPr/>
        </p:nvSpPr>
        <p:spPr>
          <a:xfrm>
            <a:off x="830964" y="6040373"/>
            <a:ext cx="1524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结论</a:t>
            </a:r>
          </a:p>
        </p:txBody>
      </p:sp>
      <p:sp>
        <p:nvSpPr>
          <p:cNvPr id="241" name="文本框 240"/>
          <p:cNvSpPr txBox="1"/>
          <p:nvPr/>
        </p:nvSpPr>
        <p:spPr>
          <a:xfrm>
            <a:off x="5855087" y="3422543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+mn-ea"/>
                <a:cs typeface="Roboto" panose="02000000000000000000" charset="0"/>
              </a:rPr>
              <a:t>品牌宣传：</a:t>
            </a:r>
          </a:p>
        </p:txBody>
      </p:sp>
      <p:sp>
        <p:nvSpPr>
          <p:cNvPr id="242" name="文本框 241"/>
          <p:cNvSpPr txBox="1"/>
          <p:nvPr/>
        </p:nvSpPr>
        <p:spPr>
          <a:xfrm>
            <a:off x="9186275" y="3401088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rgbClr val="000000"/>
                </a:solidFill>
                <a:effectLst/>
                <a:latin typeface="+mn-ea"/>
              </a:defRPr>
            </a:lvl1pPr>
          </a:lstStyle>
          <a:p>
            <a:r>
              <a:rPr lang="zh-CN" altLang="en-US" sz="1200" dirty="0">
                <a:cs typeface="Roboto" panose="02000000000000000000" charset="0"/>
              </a:rPr>
              <a:t>市场调研：</a:t>
            </a:r>
          </a:p>
        </p:txBody>
      </p:sp>
      <p:sp>
        <p:nvSpPr>
          <p:cNvPr id="243" name="文本框 242"/>
          <p:cNvSpPr txBox="1"/>
          <p:nvPr/>
        </p:nvSpPr>
        <p:spPr>
          <a:xfrm>
            <a:off x="5600403" y="3670438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品牌宣传活动全力铺开，完成度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65%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。通过社交媒体平台、行业展会以及线下广告投放等多种渠道，提升了品牌知名度。</a:t>
            </a:r>
          </a:p>
        </p:txBody>
      </p:sp>
      <p:sp>
        <p:nvSpPr>
          <p:cNvPr id="244" name="文本框 243"/>
          <p:cNvSpPr txBox="1"/>
          <p:nvPr/>
        </p:nvSpPr>
        <p:spPr>
          <a:xfrm>
            <a:off x="8922183" y="3670438"/>
            <a:ext cx="271741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深入的市场调研工作完成度为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55%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。已收集大量市场数据和竞争对手信息，对目标客户体的需求和偏好有了更清晰的了解。</a:t>
            </a:r>
          </a:p>
        </p:txBody>
      </p:sp>
      <p:sp>
        <p:nvSpPr>
          <p:cNvPr id="245" name="文本框 244"/>
          <p:cNvSpPr txBox="1"/>
          <p:nvPr/>
        </p:nvSpPr>
        <p:spPr>
          <a:xfrm>
            <a:off x="5855087" y="4768981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沟通协作机制：</a:t>
            </a:r>
            <a:endParaRPr lang="zh-CN" altLang="en-US" sz="12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9186275" y="4747526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rgbClr val="000000"/>
                </a:solidFill>
                <a:effectLst/>
                <a:latin typeface="+mn-ea"/>
              </a:defRPr>
            </a:lvl1pPr>
          </a:lstStyle>
          <a:p>
            <a:r>
              <a:rPr lang="zh-CN" altLang="en-US" sz="1200" dirty="0">
                <a:cs typeface="Roboto" panose="02000000000000000000" charset="0"/>
              </a:rPr>
              <a:t>人员技能提升：</a:t>
            </a:r>
          </a:p>
        </p:txBody>
      </p:sp>
      <p:sp>
        <p:nvSpPr>
          <p:cNvPr id="247" name="文本框 246"/>
          <p:cNvSpPr txBox="1"/>
          <p:nvPr/>
        </p:nvSpPr>
        <p:spPr>
          <a:xfrm>
            <a:off x="5600403" y="5016876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建立了有效的沟通协作机制，完成度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80%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。目前，沟通渠道畅通，信息传递及时准确，有效减少了因沟通不畅导致的工作延误。</a:t>
            </a:r>
          </a:p>
        </p:txBody>
      </p:sp>
      <p:sp>
        <p:nvSpPr>
          <p:cNvPr id="248" name="文本框 247"/>
          <p:cNvSpPr txBox="1"/>
          <p:nvPr/>
        </p:nvSpPr>
        <p:spPr>
          <a:xfrm>
            <a:off x="8922183" y="5016876"/>
            <a:ext cx="271741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针对项目需求，组织了一系列内部培训和技能提升活动，完成度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70%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。团队成员在专业技能和项目相关知识方面得到了显著提升。</a:t>
            </a:r>
          </a:p>
        </p:txBody>
      </p:sp>
      <p:sp>
        <p:nvSpPr>
          <p:cNvPr id="249" name="矩形: 圆角 248"/>
          <p:cNvSpPr/>
          <p:nvPr/>
        </p:nvSpPr>
        <p:spPr>
          <a:xfrm>
            <a:off x="5600403" y="1222556"/>
            <a:ext cx="1176636" cy="3126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Roboto" panose="02000000000000000000" charset="0"/>
              </a:rPr>
              <a:t>工作进展</a:t>
            </a:r>
          </a:p>
        </p:txBody>
      </p:sp>
      <p:sp>
        <p:nvSpPr>
          <p:cNvPr id="250" name="矩形: 圆角 249"/>
          <p:cNvSpPr/>
          <p:nvPr/>
        </p:nvSpPr>
        <p:spPr>
          <a:xfrm>
            <a:off x="8979227" y="1222556"/>
            <a:ext cx="1176636" cy="3126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Roboto" panose="02000000000000000000" charset="0"/>
              </a:rPr>
              <a:t>工作概况</a:t>
            </a:r>
          </a:p>
        </p:txBody>
      </p:sp>
      <p:sp>
        <p:nvSpPr>
          <p:cNvPr id="251" name="文本框 250"/>
          <p:cNvSpPr txBox="1"/>
          <p:nvPr/>
        </p:nvSpPr>
        <p:spPr>
          <a:xfrm>
            <a:off x="6188721" y="6040373"/>
            <a:ext cx="3860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spc="6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多领域工作稳步推进</a:t>
            </a:r>
          </a:p>
        </p:txBody>
      </p:sp>
      <p:sp>
        <p:nvSpPr>
          <p:cNvPr id="3" name="Google Shape;6039;p78"/>
          <p:cNvSpPr/>
          <p:nvPr/>
        </p:nvSpPr>
        <p:spPr>
          <a:xfrm>
            <a:off x="5664806" y="3416163"/>
            <a:ext cx="210532" cy="210548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6" name="Google Shape;6081;p78"/>
          <p:cNvSpPr/>
          <p:nvPr/>
        </p:nvSpPr>
        <p:spPr>
          <a:xfrm>
            <a:off x="5662701" y="2067805"/>
            <a:ext cx="192386" cy="226032"/>
          </a:xfrm>
          <a:custGeom>
            <a:avLst/>
            <a:gdLst/>
            <a:ahLst/>
            <a:cxnLst/>
            <a:rect l="l" t="t" r="r" b="b"/>
            <a:pathLst>
              <a:path w="10807" h="12697" extrusionOk="0">
                <a:moveTo>
                  <a:pt x="6617" y="9924"/>
                </a:moveTo>
                <a:lnTo>
                  <a:pt x="6617" y="10775"/>
                </a:lnTo>
                <a:lnTo>
                  <a:pt x="4159" y="10775"/>
                </a:lnTo>
                <a:lnTo>
                  <a:pt x="4159" y="9924"/>
                </a:lnTo>
                <a:close/>
                <a:moveTo>
                  <a:pt x="4159" y="0"/>
                </a:moveTo>
                <a:cubicBezTo>
                  <a:pt x="3561" y="0"/>
                  <a:pt x="2994" y="315"/>
                  <a:pt x="2742" y="851"/>
                </a:cubicBezTo>
                <a:lnTo>
                  <a:pt x="2490" y="851"/>
                </a:lnTo>
                <a:cubicBezTo>
                  <a:pt x="1797" y="851"/>
                  <a:pt x="1166" y="1324"/>
                  <a:pt x="914" y="1954"/>
                </a:cubicBezTo>
                <a:cubicBezTo>
                  <a:pt x="1324" y="1985"/>
                  <a:pt x="1702" y="2143"/>
                  <a:pt x="1986" y="2426"/>
                </a:cubicBezTo>
                <a:cubicBezTo>
                  <a:pt x="2143" y="2584"/>
                  <a:pt x="2143" y="2836"/>
                  <a:pt x="1986" y="2993"/>
                </a:cubicBezTo>
                <a:cubicBezTo>
                  <a:pt x="1907" y="3072"/>
                  <a:pt x="1797" y="3111"/>
                  <a:pt x="1686" y="3111"/>
                </a:cubicBezTo>
                <a:cubicBezTo>
                  <a:pt x="1576" y="3111"/>
                  <a:pt x="1466" y="3072"/>
                  <a:pt x="1387" y="2993"/>
                </a:cubicBezTo>
                <a:cubicBezTo>
                  <a:pt x="1198" y="2804"/>
                  <a:pt x="946" y="2773"/>
                  <a:pt x="725" y="2773"/>
                </a:cubicBezTo>
                <a:cubicBezTo>
                  <a:pt x="284" y="3088"/>
                  <a:pt x="1" y="3560"/>
                  <a:pt x="1" y="4159"/>
                </a:cubicBezTo>
                <a:cubicBezTo>
                  <a:pt x="1" y="4411"/>
                  <a:pt x="95" y="4726"/>
                  <a:pt x="253" y="4978"/>
                </a:cubicBezTo>
                <a:cubicBezTo>
                  <a:pt x="95" y="5199"/>
                  <a:pt x="1" y="5514"/>
                  <a:pt x="1" y="5797"/>
                </a:cubicBezTo>
                <a:cubicBezTo>
                  <a:pt x="1" y="6144"/>
                  <a:pt x="127" y="6459"/>
                  <a:pt x="316" y="6742"/>
                </a:cubicBezTo>
                <a:cubicBezTo>
                  <a:pt x="599" y="6522"/>
                  <a:pt x="1009" y="6364"/>
                  <a:pt x="1387" y="6364"/>
                </a:cubicBezTo>
                <a:cubicBezTo>
                  <a:pt x="1639" y="6364"/>
                  <a:pt x="1797" y="6553"/>
                  <a:pt x="1797" y="6742"/>
                </a:cubicBezTo>
                <a:cubicBezTo>
                  <a:pt x="1797" y="6994"/>
                  <a:pt x="1576" y="7152"/>
                  <a:pt x="1387" y="7152"/>
                </a:cubicBezTo>
                <a:cubicBezTo>
                  <a:pt x="1198" y="7152"/>
                  <a:pt x="1009" y="7215"/>
                  <a:pt x="851" y="7341"/>
                </a:cubicBezTo>
                <a:lnTo>
                  <a:pt x="851" y="7404"/>
                </a:lnTo>
                <a:cubicBezTo>
                  <a:pt x="851" y="8318"/>
                  <a:pt x="1576" y="9074"/>
                  <a:pt x="2490" y="9074"/>
                </a:cubicBezTo>
                <a:lnTo>
                  <a:pt x="2742" y="9074"/>
                </a:lnTo>
                <a:cubicBezTo>
                  <a:pt x="2899" y="9357"/>
                  <a:pt x="3088" y="9546"/>
                  <a:pt x="3309" y="9704"/>
                </a:cubicBezTo>
                <a:lnTo>
                  <a:pt x="3309" y="10617"/>
                </a:lnTo>
                <a:cubicBezTo>
                  <a:pt x="3309" y="11752"/>
                  <a:pt x="4254" y="12697"/>
                  <a:pt x="5420" y="12697"/>
                </a:cubicBezTo>
                <a:cubicBezTo>
                  <a:pt x="6554" y="12697"/>
                  <a:pt x="7499" y="11752"/>
                  <a:pt x="7499" y="10617"/>
                </a:cubicBezTo>
                <a:lnTo>
                  <a:pt x="7499" y="9704"/>
                </a:lnTo>
                <a:cubicBezTo>
                  <a:pt x="7719" y="9546"/>
                  <a:pt x="7971" y="9357"/>
                  <a:pt x="8097" y="9074"/>
                </a:cubicBezTo>
                <a:lnTo>
                  <a:pt x="8318" y="9074"/>
                </a:lnTo>
                <a:cubicBezTo>
                  <a:pt x="9232" y="9074"/>
                  <a:pt x="9988" y="8318"/>
                  <a:pt x="9988" y="7404"/>
                </a:cubicBezTo>
                <a:lnTo>
                  <a:pt x="9988" y="7341"/>
                </a:lnTo>
                <a:cubicBezTo>
                  <a:pt x="9830" y="7215"/>
                  <a:pt x="9610" y="7152"/>
                  <a:pt x="9421" y="7152"/>
                </a:cubicBezTo>
                <a:cubicBezTo>
                  <a:pt x="9200" y="7152"/>
                  <a:pt x="9043" y="6931"/>
                  <a:pt x="9043" y="6742"/>
                </a:cubicBezTo>
                <a:cubicBezTo>
                  <a:pt x="9043" y="6522"/>
                  <a:pt x="9232" y="6364"/>
                  <a:pt x="9421" y="6364"/>
                </a:cubicBezTo>
                <a:cubicBezTo>
                  <a:pt x="9830" y="6364"/>
                  <a:pt x="10208" y="6522"/>
                  <a:pt x="10492" y="6742"/>
                </a:cubicBezTo>
                <a:cubicBezTo>
                  <a:pt x="10681" y="6459"/>
                  <a:pt x="10807" y="6144"/>
                  <a:pt x="10807" y="5797"/>
                </a:cubicBezTo>
                <a:cubicBezTo>
                  <a:pt x="10807" y="5514"/>
                  <a:pt x="10712" y="5199"/>
                  <a:pt x="10555" y="4978"/>
                </a:cubicBezTo>
                <a:cubicBezTo>
                  <a:pt x="10681" y="4726"/>
                  <a:pt x="10775" y="4411"/>
                  <a:pt x="10775" y="4159"/>
                </a:cubicBezTo>
                <a:cubicBezTo>
                  <a:pt x="10775" y="3592"/>
                  <a:pt x="10492" y="3088"/>
                  <a:pt x="10051" y="2773"/>
                </a:cubicBezTo>
                <a:cubicBezTo>
                  <a:pt x="10015" y="2768"/>
                  <a:pt x="9978" y="2765"/>
                  <a:pt x="9939" y="2765"/>
                </a:cubicBezTo>
                <a:cubicBezTo>
                  <a:pt x="9742" y="2765"/>
                  <a:pt x="9521" y="2835"/>
                  <a:pt x="9389" y="2993"/>
                </a:cubicBezTo>
                <a:cubicBezTo>
                  <a:pt x="9310" y="3072"/>
                  <a:pt x="9200" y="3111"/>
                  <a:pt x="9090" y="3111"/>
                </a:cubicBezTo>
                <a:cubicBezTo>
                  <a:pt x="8980" y="3111"/>
                  <a:pt x="8869" y="3072"/>
                  <a:pt x="8791" y="2993"/>
                </a:cubicBezTo>
                <a:cubicBezTo>
                  <a:pt x="8633" y="2836"/>
                  <a:pt x="8633" y="2584"/>
                  <a:pt x="8791" y="2426"/>
                </a:cubicBezTo>
                <a:cubicBezTo>
                  <a:pt x="9074" y="2143"/>
                  <a:pt x="9452" y="1954"/>
                  <a:pt x="9862" y="1954"/>
                </a:cubicBezTo>
                <a:cubicBezTo>
                  <a:pt x="9610" y="1324"/>
                  <a:pt x="9043" y="851"/>
                  <a:pt x="8287" y="851"/>
                </a:cubicBezTo>
                <a:lnTo>
                  <a:pt x="8034" y="851"/>
                </a:lnTo>
                <a:cubicBezTo>
                  <a:pt x="7782" y="315"/>
                  <a:pt x="7215" y="0"/>
                  <a:pt x="6617" y="0"/>
                </a:cubicBezTo>
                <a:cubicBezTo>
                  <a:pt x="6302" y="0"/>
                  <a:pt x="6050" y="95"/>
                  <a:pt x="5798" y="252"/>
                </a:cubicBezTo>
                <a:lnTo>
                  <a:pt x="5798" y="4190"/>
                </a:lnTo>
                <a:cubicBezTo>
                  <a:pt x="6743" y="4379"/>
                  <a:pt x="7467" y="5199"/>
                  <a:pt x="7467" y="6207"/>
                </a:cubicBezTo>
                <a:cubicBezTo>
                  <a:pt x="7467" y="6427"/>
                  <a:pt x="7247" y="6585"/>
                  <a:pt x="7058" y="6585"/>
                </a:cubicBezTo>
                <a:cubicBezTo>
                  <a:pt x="6869" y="6585"/>
                  <a:pt x="6617" y="6396"/>
                  <a:pt x="6617" y="6207"/>
                </a:cubicBezTo>
                <a:cubicBezTo>
                  <a:pt x="6617" y="5640"/>
                  <a:pt x="6270" y="5199"/>
                  <a:pt x="5798" y="5010"/>
                </a:cubicBezTo>
                <a:lnTo>
                  <a:pt x="5798" y="9074"/>
                </a:lnTo>
                <a:lnTo>
                  <a:pt x="4979" y="9074"/>
                </a:lnTo>
                <a:lnTo>
                  <a:pt x="4979" y="5010"/>
                </a:lnTo>
                <a:cubicBezTo>
                  <a:pt x="4506" y="5167"/>
                  <a:pt x="4159" y="5640"/>
                  <a:pt x="4159" y="6207"/>
                </a:cubicBezTo>
                <a:cubicBezTo>
                  <a:pt x="4159" y="6427"/>
                  <a:pt x="3939" y="6585"/>
                  <a:pt x="3718" y="6585"/>
                </a:cubicBezTo>
                <a:cubicBezTo>
                  <a:pt x="3466" y="6585"/>
                  <a:pt x="3309" y="6396"/>
                  <a:pt x="3309" y="6207"/>
                </a:cubicBezTo>
                <a:cubicBezTo>
                  <a:pt x="3309" y="5199"/>
                  <a:pt x="4033" y="4348"/>
                  <a:pt x="4979" y="4190"/>
                </a:cubicBezTo>
                <a:lnTo>
                  <a:pt x="4979" y="252"/>
                </a:lnTo>
                <a:cubicBezTo>
                  <a:pt x="4726" y="95"/>
                  <a:pt x="4474" y="0"/>
                  <a:pt x="41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grpSp>
        <p:nvGrpSpPr>
          <p:cNvPr id="18" name="Google Shape;6303;p78"/>
          <p:cNvGrpSpPr/>
          <p:nvPr/>
        </p:nvGrpSpPr>
        <p:grpSpPr>
          <a:xfrm>
            <a:off x="8978224" y="4758551"/>
            <a:ext cx="250268" cy="249596"/>
            <a:chOff x="944600" y="3981825"/>
            <a:chExt cx="297750" cy="296950"/>
          </a:xfrm>
          <a:solidFill>
            <a:schemeClr val="accent2"/>
          </a:solidFill>
        </p:grpSpPr>
        <p:sp>
          <p:nvSpPr>
            <p:cNvPr id="19" name="Google Shape;6304;p78"/>
            <p:cNvSpPr/>
            <p:nvPr/>
          </p:nvSpPr>
          <p:spPr>
            <a:xfrm>
              <a:off x="944600" y="3981825"/>
              <a:ext cx="297750" cy="296950"/>
            </a:xfrm>
            <a:custGeom>
              <a:avLst/>
              <a:gdLst/>
              <a:ahLst/>
              <a:cxnLst/>
              <a:rect l="l" t="t" r="r" b="b"/>
              <a:pathLst>
                <a:path w="11910" h="11878" extrusionOk="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25" name="Google Shape;6305;p78"/>
            <p:cNvSpPr/>
            <p:nvPr/>
          </p:nvSpPr>
          <p:spPr>
            <a:xfrm>
              <a:off x="1058025" y="4155875"/>
              <a:ext cx="72500" cy="52000"/>
            </a:xfrm>
            <a:custGeom>
              <a:avLst/>
              <a:gdLst/>
              <a:ahLst/>
              <a:cxnLst/>
              <a:rect l="l" t="t" r="r" b="b"/>
              <a:pathLst>
                <a:path w="2900" h="2080" extrusionOk="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26" name="Google Shape;6306;p78"/>
            <p:cNvSpPr/>
            <p:nvPr/>
          </p:nvSpPr>
          <p:spPr>
            <a:xfrm>
              <a:off x="1076150" y="4103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27" name="Google Shape;6307;p78"/>
            <p:cNvSpPr/>
            <p:nvPr/>
          </p:nvSpPr>
          <p:spPr>
            <a:xfrm>
              <a:off x="1016275" y="4051125"/>
              <a:ext cx="155975" cy="137075"/>
            </a:xfrm>
            <a:custGeom>
              <a:avLst/>
              <a:gdLst/>
              <a:ahLst/>
              <a:cxnLst/>
              <a:rect l="l" t="t" r="r" b="b"/>
              <a:pathLst>
                <a:path w="6239" h="5483" extrusionOk="0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28" name="Google Shape;6439;p78"/>
          <p:cNvGrpSpPr/>
          <p:nvPr/>
        </p:nvGrpSpPr>
        <p:grpSpPr>
          <a:xfrm>
            <a:off x="9006195" y="3411538"/>
            <a:ext cx="197336" cy="197352"/>
            <a:chOff x="3497300" y="3955025"/>
            <a:chExt cx="295375" cy="295400"/>
          </a:xfrm>
          <a:solidFill>
            <a:schemeClr val="accent2"/>
          </a:solidFill>
        </p:grpSpPr>
        <p:sp>
          <p:nvSpPr>
            <p:cNvPr id="229" name="Google Shape;6440;p78"/>
            <p:cNvSpPr/>
            <p:nvPr/>
          </p:nvSpPr>
          <p:spPr>
            <a:xfrm>
              <a:off x="3660350" y="4035375"/>
              <a:ext cx="132325" cy="155175"/>
            </a:xfrm>
            <a:custGeom>
              <a:avLst/>
              <a:gdLst/>
              <a:ahLst/>
              <a:cxnLst/>
              <a:rect l="l" t="t" r="r" b="b"/>
              <a:pathLst>
                <a:path w="5293" h="6207" extrusionOk="0">
                  <a:moveTo>
                    <a:pt x="4663" y="0"/>
                  </a:moveTo>
                  <a:lnTo>
                    <a:pt x="0" y="2773"/>
                  </a:lnTo>
                  <a:lnTo>
                    <a:pt x="4127" y="6207"/>
                  </a:lnTo>
                  <a:cubicBezTo>
                    <a:pt x="4852" y="5199"/>
                    <a:pt x="5293" y="4033"/>
                    <a:pt x="5293" y="2678"/>
                  </a:cubicBezTo>
                  <a:cubicBezTo>
                    <a:pt x="5293" y="1733"/>
                    <a:pt x="5041" y="851"/>
                    <a:pt x="4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0" name="Google Shape;6441;p78"/>
            <p:cNvSpPr/>
            <p:nvPr/>
          </p:nvSpPr>
          <p:spPr>
            <a:xfrm>
              <a:off x="3653250" y="3955025"/>
              <a:ext cx="114225" cy="133150"/>
            </a:xfrm>
            <a:custGeom>
              <a:avLst/>
              <a:gdLst/>
              <a:ahLst/>
              <a:cxnLst/>
              <a:rect l="l" t="t" r="r" b="b"/>
              <a:pathLst>
                <a:path w="4569" h="5326" extrusionOk="0">
                  <a:moveTo>
                    <a:pt x="1" y="1"/>
                  </a:moveTo>
                  <a:lnTo>
                    <a:pt x="1" y="5325"/>
                  </a:lnTo>
                  <a:lnTo>
                    <a:pt x="4569" y="2679"/>
                  </a:lnTo>
                  <a:cubicBezTo>
                    <a:pt x="3561" y="1167"/>
                    <a:pt x="1891" y="12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1" name="Google Shape;6442;p78"/>
            <p:cNvSpPr/>
            <p:nvPr/>
          </p:nvSpPr>
          <p:spPr>
            <a:xfrm>
              <a:off x="3497300" y="3955025"/>
              <a:ext cx="256000" cy="295400"/>
            </a:xfrm>
            <a:custGeom>
              <a:avLst/>
              <a:gdLst/>
              <a:ahLst/>
              <a:cxnLst/>
              <a:rect l="l" t="t" r="r" b="b"/>
              <a:pathLst>
                <a:path w="10240" h="11816" extrusionOk="0">
                  <a:moveTo>
                    <a:pt x="5577" y="1"/>
                  </a:moveTo>
                  <a:cubicBezTo>
                    <a:pt x="2521" y="190"/>
                    <a:pt x="1" y="2805"/>
                    <a:pt x="1" y="5892"/>
                  </a:cubicBezTo>
                  <a:cubicBezTo>
                    <a:pt x="1" y="9137"/>
                    <a:pt x="2678" y="11815"/>
                    <a:pt x="5923" y="11815"/>
                  </a:cubicBezTo>
                  <a:cubicBezTo>
                    <a:pt x="7625" y="11815"/>
                    <a:pt x="9168" y="11059"/>
                    <a:pt x="10240" y="9925"/>
                  </a:cubicBezTo>
                  <a:lnTo>
                    <a:pt x="5703" y="6176"/>
                  </a:lnTo>
                  <a:cubicBezTo>
                    <a:pt x="5608" y="6144"/>
                    <a:pt x="5577" y="5987"/>
                    <a:pt x="5577" y="5892"/>
                  </a:cubicBezTo>
                  <a:lnTo>
                    <a:pt x="55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33" name="Google Shape;6466;p78"/>
          <p:cNvGrpSpPr/>
          <p:nvPr/>
        </p:nvGrpSpPr>
        <p:grpSpPr>
          <a:xfrm>
            <a:off x="5669559" y="4777968"/>
            <a:ext cx="219351" cy="203379"/>
            <a:chOff x="6543825" y="3202075"/>
            <a:chExt cx="296975" cy="275350"/>
          </a:xfrm>
          <a:solidFill>
            <a:schemeClr val="accent2"/>
          </a:solidFill>
        </p:grpSpPr>
        <p:sp>
          <p:nvSpPr>
            <p:cNvPr id="234" name="Google Shape;6467;p78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5" name="Google Shape;6468;p78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7" name="Google Shape;6469;p78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8" name="Google Shape;6470;p78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52" name="Google Shape;6471;p78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53" name="Google Shape;6472;p78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54" name="Google Shape;6473;p78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55" name="Google Shape;6509;p78"/>
          <p:cNvGrpSpPr/>
          <p:nvPr/>
        </p:nvGrpSpPr>
        <p:grpSpPr>
          <a:xfrm>
            <a:off x="8970914" y="2050489"/>
            <a:ext cx="250436" cy="245838"/>
            <a:chOff x="5716825" y="3235950"/>
            <a:chExt cx="300900" cy="295375"/>
          </a:xfrm>
          <a:solidFill>
            <a:schemeClr val="accent2"/>
          </a:solidFill>
        </p:grpSpPr>
        <p:sp>
          <p:nvSpPr>
            <p:cNvPr id="192" name="Google Shape;6510;p78"/>
            <p:cNvSpPr/>
            <p:nvPr/>
          </p:nvSpPr>
          <p:spPr>
            <a:xfrm>
              <a:off x="5716825" y="3309975"/>
              <a:ext cx="137075" cy="146525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3" name="Google Shape;6511;p78"/>
            <p:cNvSpPr/>
            <p:nvPr/>
          </p:nvSpPr>
          <p:spPr>
            <a:xfrm>
              <a:off x="5794025" y="3235950"/>
              <a:ext cx="145725" cy="133900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4" name="Google Shape;6512;p78"/>
            <p:cNvSpPr/>
            <p:nvPr/>
          </p:nvSpPr>
          <p:spPr>
            <a:xfrm>
              <a:off x="5880650" y="3309975"/>
              <a:ext cx="137075" cy="145725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7" name="Google Shape;6513;p78"/>
            <p:cNvSpPr/>
            <p:nvPr/>
          </p:nvSpPr>
          <p:spPr>
            <a:xfrm>
              <a:off x="5794025" y="3396625"/>
              <a:ext cx="147300" cy="134700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cxnSp>
        <p:nvCxnSpPr>
          <p:cNvPr id="199" name="直接连接符 198"/>
          <p:cNvCxnSpPr/>
          <p:nvPr/>
        </p:nvCxnSpPr>
        <p:spPr>
          <a:xfrm>
            <a:off x="304800" y="1940880"/>
            <a:ext cx="2221489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>
            <a:endCxn id="223" idx="1"/>
          </p:cNvCxnSpPr>
          <p:nvPr/>
        </p:nvCxnSpPr>
        <p:spPr>
          <a:xfrm>
            <a:off x="304800" y="3121674"/>
            <a:ext cx="1921570" cy="3311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矩形: 圆角 207"/>
          <p:cNvSpPr/>
          <p:nvPr/>
        </p:nvSpPr>
        <p:spPr>
          <a:xfrm>
            <a:off x="304799" y="2165638"/>
            <a:ext cx="870348" cy="240037"/>
          </a:xfrm>
          <a:prstGeom prst="roundRect">
            <a:avLst>
              <a:gd name="adj" fmla="val 73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技术支撑</a:t>
            </a:r>
          </a:p>
        </p:txBody>
      </p:sp>
      <p:sp>
        <p:nvSpPr>
          <p:cNvPr id="209" name="矩形: 圆角 208"/>
          <p:cNvSpPr/>
          <p:nvPr/>
        </p:nvSpPr>
        <p:spPr>
          <a:xfrm>
            <a:off x="304799" y="3353607"/>
            <a:ext cx="870348" cy="240037"/>
          </a:xfrm>
          <a:prstGeom prst="roundRect">
            <a:avLst>
              <a:gd name="adj" fmla="val 73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核心支撑</a:t>
            </a:r>
          </a:p>
        </p:txBody>
      </p:sp>
      <p:sp>
        <p:nvSpPr>
          <p:cNvPr id="273" name="文本框 272"/>
          <p:cNvSpPr txBox="1"/>
          <p:nvPr/>
        </p:nvSpPr>
        <p:spPr>
          <a:xfrm>
            <a:off x="284483" y="2450295"/>
            <a:ext cx="1932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精研创新，迭代优化</a:t>
            </a:r>
            <a:endParaRPr lang="zh-CN" altLang="en-US" sz="1400" b="1" dirty="0">
              <a:cs typeface="Roboto" panose="02000000000000000000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284483" y="3631852"/>
            <a:ext cx="1447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准确触达，引爆需求</a:t>
            </a:r>
            <a:endParaRPr lang="zh-CN" altLang="en-US" sz="1400" b="1" dirty="0">
              <a:cs typeface="Roboto" panose="02000000000000000000" charset="0"/>
            </a:endParaRPr>
          </a:p>
        </p:txBody>
      </p:sp>
      <p:sp>
        <p:nvSpPr>
          <p:cNvPr id="275" name="矩形: 圆角 274"/>
          <p:cNvSpPr/>
          <p:nvPr/>
        </p:nvSpPr>
        <p:spPr>
          <a:xfrm>
            <a:off x="304799" y="4564149"/>
            <a:ext cx="870348" cy="240037"/>
          </a:xfrm>
          <a:prstGeom prst="roundRect">
            <a:avLst>
              <a:gd name="adj" fmla="val 73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合作支撑</a:t>
            </a:r>
          </a:p>
        </p:txBody>
      </p:sp>
      <p:sp>
        <p:nvSpPr>
          <p:cNvPr id="276" name="文本框 275"/>
          <p:cNvSpPr txBox="1"/>
          <p:nvPr/>
        </p:nvSpPr>
        <p:spPr>
          <a:xfrm>
            <a:off x="284483" y="4842394"/>
            <a:ext cx="1060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凝心聚力，合作攻坚</a:t>
            </a:r>
            <a:endParaRPr lang="zh-CN" altLang="en-US" sz="1400" b="1" dirty="0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657350" y="1919485"/>
            <a:ext cx="3277873" cy="86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矩形: 圆顶角 118"/>
          <p:cNvSpPr/>
          <p:nvPr/>
        </p:nvSpPr>
        <p:spPr>
          <a:xfrm rot="16200000">
            <a:off x="554192" y="1682695"/>
            <a:ext cx="866369" cy="1339949"/>
          </a:xfrm>
          <a:prstGeom prst="round2SameRect">
            <a:avLst>
              <a:gd name="adj1" fmla="val 6772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5046791" y="1919485"/>
            <a:ext cx="3277873" cy="86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9" name="矩形 208"/>
          <p:cNvSpPr/>
          <p:nvPr/>
        </p:nvSpPr>
        <p:spPr>
          <a:xfrm>
            <a:off x="8436232" y="1919485"/>
            <a:ext cx="3277873" cy="86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7500" y="200660"/>
            <a:ext cx="4604385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总分关系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业务目标达成情况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428281" y="1990983"/>
            <a:ext cx="111819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rPr>
              <a:t>年初</a:t>
            </a:r>
            <a:endParaRPr lang="en-US" altLang="zh-CN" b="1" dirty="0">
              <a:solidFill>
                <a:schemeClr val="bg1"/>
              </a:solidFill>
              <a:latin typeface="Roboto" panose="02000000000000000000" charset="0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rPr>
              <a:t>目标</a:t>
            </a:r>
            <a:endParaRPr lang="zh-CN" altLang="en-US" sz="1800" b="1" i="0" dirty="0">
              <a:solidFill>
                <a:schemeClr val="bg1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887222" y="2025340"/>
            <a:ext cx="2837178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实现年度销售额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3000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万元，拓展至少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15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个新客户。</a:t>
            </a:r>
          </a:p>
        </p:txBody>
      </p:sp>
      <p:sp>
        <p:nvSpPr>
          <p:cNvPr id="130" name="矩形 129"/>
          <p:cNvSpPr/>
          <p:nvPr/>
        </p:nvSpPr>
        <p:spPr>
          <a:xfrm>
            <a:off x="1657350" y="3200424"/>
            <a:ext cx="3277873" cy="2926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rot="16200000">
            <a:off x="-475997" y="3993822"/>
            <a:ext cx="2926746" cy="1339949"/>
          </a:xfrm>
          <a:prstGeom prst="round2SameRect">
            <a:avLst>
              <a:gd name="adj1" fmla="val 5293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428281" y="4107349"/>
            <a:ext cx="1118190" cy="106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实际</a:t>
            </a:r>
            <a:endParaRPr lang="en-US" altLang="zh-CN" sz="1800" b="1" i="0" dirty="0">
              <a:solidFill>
                <a:schemeClr val="bg1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800" b="1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完成</a:t>
            </a:r>
            <a:endParaRPr lang="en-US" altLang="zh-CN" sz="1800" b="1" i="0" dirty="0">
              <a:solidFill>
                <a:schemeClr val="bg1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800" b="1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情况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1887223" y="3354223"/>
            <a:ext cx="207517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实际完成销售额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4200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万元，完成率为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[120]%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1887222" y="3994431"/>
            <a:ext cx="2196573" cy="496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新客户拓展数量达到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20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个，完成年初目标的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133%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1877696" y="4819402"/>
            <a:ext cx="2958271" cy="11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主要得益于市场推广策略的有效执行，通过参加行业展会、线上营销活动等方式，成功吸引大量潜在客户。</a:t>
            </a:r>
          </a:p>
        </p:txBody>
      </p:sp>
      <p:cxnSp>
        <p:nvCxnSpPr>
          <p:cNvPr id="142" name="直接连接符 141"/>
          <p:cNvCxnSpPr/>
          <p:nvPr/>
        </p:nvCxnSpPr>
        <p:spPr>
          <a:xfrm>
            <a:off x="1657350" y="3919638"/>
            <a:ext cx="3277873" cy="0"/>
          </a:xfrm>
          <a:prstGeom prst="line">
            <a:avLst/>
          </a:prstGeom>
          <a:ln w="63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1657350" y="4576863"/>
            <a:ext cx="3277873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椭圆 143"/>
          <p:cNvSpPr/>
          <p:nvPr/>
        </p:nvSpPr>
        <p:spPr>
          <a:xfrm>
            <a:off x="4338955" y="3429000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46" name="tick-mark_18442"/>
          <p:cNvSpPr/>
          <p:nvPr/>
        </p:nvSpPr>
        <p:spPr>
          <a:xfrm>
            <a:off x="4396710" y="3513084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47" name="椭圆 146"/>
          <p:cNvSpPr/>
          <p:nvPr/>
        </p:nvSpPr>
        <p:spPr>
          <a:xfrm>
            <a:off x="4338955" y="4075246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48" name="tick-mark_18442"/>
          <p:cNvSpPr/>
          <p:nvPr/>
        </p:nvSpPr>
        <p:spPr>
          <a:xfrm>
            <a:off x="4396710" y="4159330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5276663" y="2025340"/>
            <a:ext cx="2837178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负责完成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个重要项目，且客户满意度达到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90%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以上。</a:t>
            </a:r>
          </a:p>
        </p:txBody>
      </p:sp>
      <p:sp>
        <p:nvSpPr>
          <p:cNvPr id="199" name="矩形 198"/>
          <p:cNvSpPr/>
          <p:nvPr/>
        </p:nvSpPr>
        <p:spPr>
          <a:xfrm>
            <a:off x="5046791" y="3200424"/>
            <a:ext cx="3277873" cy="2926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5276664" y="3354223"/>
            <a:ext cx="207517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cs typeface="+mn-ea"/>
              </a:rPr>
              <a:t>顺利完成全部</a:t>
            </a:r>
            <a:r>
              <a:rPr lang="en-US" altLang="zh-CN" sz="1100" dirty="0">
                <a:solidFill>
                  <a:srgbClr val="000000"/>
                </a:solidFill>
                <a:latin typeface="+mn-ea"/>
                <a:cs typeface="+mn-ea"/>
              </a:rPr>
              <a:t>3 </a:t>
            </a:r>
            <a:r>
              <a:rPr lang="zh-CN" altLang="en-US" sz="1100" dirty="0">
                <a:solidFill>
                  <a:srgbClr val="000000"/>
                </a:solidFill>
                <a:latin typeface="+mn-ea"/>
                <a:cs typeface="+mn-ea"/>
              </a:rPr>
              <a:t>个月</a:t>
            </a:r>
            <a:endParaRPr lang="en-US" altLang="zh-CN" sz="1100" dirty="0">
              <a:solidFill>
                <a:srgbClr val="000000"/>
              </a:solidFill>
              <a:latin typeface="+mn-ea"/>
              <a:cs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cs typeface="+mn-ea"/>
              </a:rPr>
              <a:t>项目交付。</a:t>
            </a:r>
            <a:endParaRPr lang="zh-CN" altLang="en-US" sz="1100" b="0" i="0" dirty="0">
              <a:solidFill>
                <a:srgbClr val="000000"/>
              </a:solidFill>
              <a:effectLst/>
              <a:latin typeface="+mn-ea"/>
              <a:cs typeface="+mn-ea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5276663" y="3994431"/>
            <a:ext cx="2196573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客户满意度调查结果显示，平均满意度达到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92%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，达成目标。</a:t>
            </a:r>
          </a:p>
        </p:txBody>
      </p:sp>
      <p:sp>
        <p:nvSpPr>
          <p:cNvPr id="202" name="文本框 201"/>
          <p:cNvSpPr txBox="1"/>
          <p:nvPr/>
        </p:nvSpPr>
        <p:spPr>
          <a:xfrm>
            <a:off x="5276663" y="4819402"/>
            <a:ext cx="2958271" cy="11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在项目执行过程中，加强项目管理与沟通协调，制定详细项目计划并严格按照计划推进，及时处理项目中出现的问题。</a:t>
            </a:r>
          </a:p>
        </p:txBody>
      </p:sp>
      <p:cxnSp>
        <p:nvCxnSpPr>
          <p:cNvPr id="203" name="直接连接符 202"/>
          <p:cNvCxnSpPr/>
          <p:nvPr/>
        </p:nvCxnSpPr>
        <p:spPr>
          <a:xfrm>
            <a:off x="5046791" y="3919638"/>
            <a:ext cx="3277873" cy="0"/>
          </a:xfrm>
          <a:prstGeom prst="line">
            <a:avLst/>
          </a:prstGeom>
          <a:ln w="63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5046791" y="4576863"/>
            <a:ext cx="3277873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椭圆 204"/>
          <p:cNvSpPr/>
          <p:nvPr/>
        </p:nvSpPr>
        <p:spPr>
          <a:xfrm>
            <a:off x="7728396" y="3429000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06" name="tick-mark_18442"/>
          <p:cNvSpPr/>
          <p:nvPr/>
        </p:nvSpPr>
        <p:spPr>
          <a:xfrm>
            <a:off x="7786151" y="3513084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07" name="椭圆 206"/>
          <p:cNvSpPr/>
          <p:nvPr/>
        </p:nvSpPr>
        <p:spPr>
          <a:xfrm>
            <a:off x="7728396" y="4075246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08" name="tick-mark_18442"/>
          <p:cNvSpPr/>
          <p:nvPr/>
        </p:nvSpPr>
        <p:spPr>
          <a:xfrm>
            <a:off x="7786151" y="4159330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8666104" y="2025340"/>
            <a:ext cx="2837178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将公司产品在所在区域市场份额提升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个百分点。</a:t>
            </a:r>
          </a:p>
        </p:txBody>
      </p:sp>
      <p:sp>
        <p:nvSpPr>
          <p:cNvPr id="211" name="矩形 210"/>
          <p:cNvSpPr/>
          <p:nvPr/>
        </p:nvSpPr>
        <p:spPr>
          <a:xfrm>
            <a:off x="8436232" y="3200424"/>
            <a:ext cx="3277873" cy="2926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8666105" y="3354223"/>
            <a:ext cx="2186746" cy="890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公司产品在该区域市场份额从年初的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[X3]%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提升至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[X4]%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，实际提升了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[X4 - X3]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个百分点，完成目标的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（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X4 - X3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）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/ 5 * 100]%</a:t>
            </a:r>
            <a:endParaRPr lang="zh-CN" altLang="en-US" sz="1100" b="0" i="0" dirty="0">
              <a:solidFill>
                <a:srgbClr val="000000"/>
              </a:solidFill>
              <a:effectLst/>
              <a:latin typeface="+mn-ea"/>
              <a:cs typeface="+mn-ea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8666104" y="4819402"/>
            <a:ext cx="2958271" cy="11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通过深入市场调研，了解竞争对手优势与劣势，结合公司产品特点，制定针对性市场策略，加大市场推广力度，成功提升市场份额。</a:t>
            </a:r>
          </a:p>
        </p:txBody>
      </p:sp>
      <p:cxnSp>
        <p:nvCxnSpPr>
          <p:cNvPr id="216" name="直接连接符 215"/>
          <p:cNvCxnSpPr/>
          <p:nvPr/>
        </p:nvCxnSpPr>
        <p:spPr>
          <a:xfrm>
            <a:off x="8436232" y="4576863"/>
            <a:ext cx="3277873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椭圆 216"/>
          <p:cNvSpPr/>
          <p:nvPr/>
        </p:nvSpPr>
        <p:spPr>
          <a:xfrm>
            <a:off x="11117837" y="3429000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18" name="tick-mark_18442"/>
          <p:cNvSpPr/>
          <p:nvPr/>
        </p:nvSpPr>
        <p:spPr>
          <a:xfrm>
            <a:off x="11175592" y="3513084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27" name="梯形 226"/>
          <p:cNvSpPr/>
          <p:nvPr/>
        </p:nvSpPr>
        <p:spPr>
          <a:xfrm>
            <a:off x="1657350" y="1133264"/>
            <a:ext cx="3277873" cy="785742"/>
          </a:xfrm>
          <a:custGeom>
            <a:avLst/>
            <a:gdLst>
              <a:gd name="connsiteX0" fmla="*/ 0 w 3277873"/>
              <a:gd name="connsiteY0" fmla="*/ 538516 h 538516"/>
              <a:gd name="connsiteX1" fmla="*/ 374145 w 3277873"/>
              <a:gd name="connsiteY1" fmla="*/ 0 h 538516"/>
              <a:gd name="connsiteX2" fmla="*/ 2903728 w 3277873"/>
              <a:gd name="connsiteY2" fmla="*/ 0 h 538516"/>
              <a:gd name="connsiteX3" fmla="*/ 3277873 w 3277873"/>
              <a:gd name="connsiteY3" fmla="*/ 538516 h 538516"/>
              <a:gd name="connsiteX4" fmla="*/ 0 w 3277873"/>
              <a:gd name="connsiteY4" fmla="*/ 538516 h 538516"/>
              <a:gd name="connsiteX0-1" fmla="*/ 0 w 3277873"/>
              <a:gd name="connsiteY0-2" fmla="*/ 538516 h 538516"/>
              <a:gd name="connsiteX1-3" fmla="*/ 374145 w 3277873"/>
              <a:gd name="connsiteY1-4" fmla="*/ 0 h 538516"/>
              <a:gd name="connsiteX2-5" fmla="*/ 2903728 w 3277873"/>
              <a:gd name="connsiteY2-6" fmla="*/ 0 h 538516"/>
              <a:gd name="connsiteX3-7" fmla="*/ 3277873 w 3277873"/>
              <a:gd name="connsiteY3-8" fmla="*/ 538516 h 538516"/>
              <a:gd name="connsiteX4-9" fmla="*/ 0 w 3277873"/>
              <a:gd name="connsiteY4-10" fmla="*/ 538516 h 538516"/>
              <a:gd name="connsiteX0-11" fmla="*/ 0 w 3277873"/>
              <a:gd name="connsiteY0-12" fmla="*/ 641505 h 641505"/>
              <a:gd name="connsiteX1-13" fmla="*/ 374145 w 3277873"/>
              <a:gd name="connsiteY1-14" fmla="*/ 102989 h 641505"/>
              <a:gd name="connsiteX2-15" fmla="*/ 2903728 w 3277873"/>
              <a:gd name="connsiteY2-16" fmla="*/ 102989 h 641505"/>
              <a:gd name="connsiteX3-17" fmla="*/ 3277873 w 3277873"/>
              <a:gd name="connsiteY3-18" fmla="*/ 641505 h 641505"/>
              <a:gd name="connsiteX4-19" fmla="*/ 0 w 3277873"/>
              <a:gd name="connsiteY4-20" fmla="*/ 641505 h 641505"/>
              <a:gd name="connsiteX0-21" fmla="*/ 0 w 3277873"/>
              <a:gd name="connsiteY0-22" fmla="*/ 635407 h 635407"/>
              <a:gd name="connsiteX1-23" fmla="*/ 374145 w 3277873"/>
              <a:gd name="connsiteY1-24" fmla="*/ 96891 h 635407"/>
              <a:gd name="connsiteX2-25" fmla="*/ 2903728 w 3277873"/>
              <a:gd name="connsiteY2-26" fmla="*/ 96891 h 635407"/>
              <a:gd name="connsiteX3-27" fmla="*/ 3277873 w 3277873"/>
              <a:gd name="connsiteY3-28" fmla="*/ 635407 h 635407"/>
              <a:gd name="connsiteX4-29" fmla="*/ 0 w 3277873"/>
              <a:gd name="connsiteY4-30" fmla="*/ 635407 h 635407"/>
              <a:gd name="connsiteX0-31" fmla="*/ 0 w 3277873"/>
              <a:gd name="connsiteY0-32" fmla="*/ 595080 h 595080"/>
              <a:gd name="connsiteX1-33" fmla="*/ 374145 w 3277873"/>
              <a:gd name="connsiteY1-34" fmla="*/ 56564 h 595080"/>
              <a:gd name="connsiteX2-35" fmla="*/ 2903728 w 3277873"/>
              <a:gd name="connsiteY2-36" fmla="*/ 56564 h 595080"/>
              <a:gd name="connsiteX3-37" fmla="*/ 3277873 w 3277873"/>
              <a:gd name="connsiteY3-38" fmla="*/ 595080 h 595080"/>
              <a:gd name="connsiteX4-39" fmla="*/ 0 w 3277873"/>
              <a:gd name="connsiteY4-40" fmla="*/ 595080 h 595080"/>
              <a:gd name="connsiteX0-41" fmla="*/ 0 w 3277873"/>
              <a:gd name="connsiteY0-42" fmla="*/ 591982 h 591982"/>
              <a:gd name="connsiteX1-43" fmla="*/ 374145 w 3277873"/>
              <a:gd name="connsiteY1-44" fmla="*/ 53466 h 591982"/>
              <a:gd name="connsiteX2-45" fmla="*/ 2903728 w 3277873"/>
              <a:gd name="connsiteY2-46" fmla="*/ 53466 h 591982"/>
              <a:gd name="connsiteX3-47" fmla="*/ 3277873 w 3277873"/>
              <a:gd name="connsiteY3-48" fmla="*/ 591982 h 591982"/>
              <a:gd name="connsiteX4-49" fmla="*/ 0 w 3277873"/>
              <a:gd name="connsiteY4-50" fmla="*/ 591982 h 591982"/>
              <a:gd name="connsiteX0-51" fmla="*/ 0 w 3277873"/>
              <a:gd name="connsiteY0-52" fmla="*/ 591982 h 591982"/>
              <a:gd name="connsiteX1-53" fmla="*/ 374145 w 3277873"/>
              <a:gd name="connsiteY1-54" fmla="*/ 53466 h 591982"/>
              <a:gd name="connsiteX2-55" fmla="*/ 2903728 w 3277873"/>
              <a:gd name="connsiteY2-56" fmla="*/ 53466 h 591982"/>
              <a:gd name="connsiteX3-57" fmla="*/ 3277873 w 3277873"/>
              <a:gd name="connsiteY3-58" fmla="*/ 591982 h 591982"/>
              <a:gd name="connsiteX4-59" fmla="*/ 0 w 3277873"/>
              <a:gd name="connsiteY4-60" fmla="*/ 591982 h 591982"/>
              <a:gd name="connsiteX0-61" fmla="*/ 0 w 3277873"/>
              <a:gd name="connsiteY0-62" fmla="*/ 591982 h 591982"/>
              <a:gd name="connsiteX1-63" fmla="*/ 374145 w 3277873"/>
              <a:gd name="connsiteY1-64" fmla="*/ 53466 h 591982"/>
              <a:gd name="connsiteX2-65" fmla="*/ 2903728 w 3277873"/>
              <a:gd name="connsiteY2-66" fmla="*/ 53466 h 591982"/>
              <a:gd name="connsiteX3-67" fmla="*/ 3277873 w 3277873"/>
              <a:gd name="connsiteY3-68" fmla="*/ 591982 h 591982"/>
              <a:gd name="connsiteX4-69" fmla="*/ 0 w 3277873"/>
              <a:gd name="connsiteY4-70" fmla="*/ 591982 h 591982"/>
              <a:gd name="connsiteX0-71" fmla="*/ 0 w 3277873"/>
              <a:gd name="connsiteY0-72" fmla="*/ 775582 h 775582"/>
              <a:gd name="connsiteX1-73" fmla="*/ 374145 w 3277873"/>
              <a:gd name="connsiteY1-74" fmla="*/ 237066 h 775582"/>
              <a:gd name="connsiteX2-75" fmla="*/ 2903728 w 3277873"/>
              <a:gd name="connsiteY2-76" fmla="*/ 237066 h 775582"/>
              <a:gd name="connsiteX3-77" fmla="*/ 3277873 w 3277873"/>
              <a:gd name="connsiteY3-78" fmla="*/ 775582 h 775582"/>
              <a:gd name="connsiteX4-79" fmla="*/ 0 w 3277873"/>
              <a:gd name="connsiteY4-80" fmla="*/ 775582 h 775582"/>
              <a:gd name="connsiteX0-81" fmla="*/ 0 w 3277873"/>
              <a:gd name="connsiteY0-82" fmla="*/ 785742 h 785742"/>
              <a:gd name="connsiteX1-83" fmla="*/ 374145 w 3277873"/>
              <a:gd name="connsiteY1-84" fmla="*/ 247226 h 785742"/>
              <a:gd name="connsiteX2-85" fmla="*/ 2903728 w 3277873"/>
              <a:gd name="connsiteY2-86" fmla="*/ 247226 h 785742"/>
              <a:gd name="connsiteX3-87" fmla="*/ 3277873 w 3277873"/>
              <a:gd name="connsiteY3-88" fmla="*/ 785742 h 785742"/>
              <a:gd name="connsiteX4-89" fmla="*/ 0 w 3277873"/>
              <a:gd name="connsiteY4-90" fmla="*/ 785742 h 7857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77873" h="785742">
                <a:moveTo>
                  <a:pt x="0" y="785742"/>
                </a:moveTo>
                <a:lnTo>
                  <a:pt x="374145" y="247226"/>
                </a:lnTo>
                <a:cubicBezTo>
                  <a:pt x="1217339" y="247226"/>
                  <a:pt x="2037674" y="-309034"/>
                  <a:pt x="2903728" y="247226"/>
                </a:cubicBezTo>
                <a:cubicBezTo>
                  <a:pt x="3394203" y="-7609"/>
                  <a:pt x="2916938" y="728157"/>
                  <a:pt x="3277873" y="785742"/>
                </a:cubicBezTo>
                <a:lnTo>
                  <a:pt x="0" y="78574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2253617" y="1505108"/>
            <a:ext cx="2085338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销售业绩目标</a:t>
            </a:r>
          </a:p>
        </p:txBody>
      </p:sp>
      <p:sp>
        <p:nvSpPr>
          <p:cNvPr id="228" name="梯形 226"/>
          <p:cNvSpPr/>
          <p:nvPr/>
        </p:nvSpPr>
        <p:spPr>
          <a:xfrm>
            <a:off x="5044148" y="1133264"/>
            <a:ext cx="3277873" cy="785742"/>
          </a:xfrm>
          <a:custGeom>
            <a:avLst/>
            <a:gdLst>
              <a:gd name="connsiteX0" fmla="*/ 0 w 3277873"/>
              <a:gd name="connsiteY0" fmla="*/ 538516 h 538516"/>
              <a:gd name="connsiteX1" fmla="*/ 374145 w 3277873"/>
              <a:gd name="connsiteY1" fmla="*/ 0 h 538516"/>
              <a:gd name="connsiteX2" fmla="*/ 2903728 w 3277873"/>
              <a:gd name="connsiteY2" fmla="*/ 0 h 538516"/>
              <a:gd name="connsiteX3" fmla="*/ 3277873 w 3277873"/>
              <a:gd name="connsiteY3" fmla="*/ 538516 h 538516"/>
              <a:gd name="connsiteX4" fmla="*/ 0 w 3277873"/>
              <a:gd name="connsiteY4" fmla="*/ 538516 h 538516"/>
              <a:gd name="connsiteX0-1" fmla="*/ 0 w 3277873"/>
              <a:gd name="connsiteY0-2" fmla="*/ 538516 h 538516"/>
              <a:gd name="connsiteX1-3" fmla="*/ 374145 w 3277873"/>
              <a:gd name="connsiteY1-4" fmla="*/ 0 h 538516"/>
              <a:gd name="connsiteX2-5" fmla="*/ 2903728 w 3277873"/>
              <a:gd name="connsiteY2-6" fmla="*/ 0 h 538516"/>
              <a:gd name="connsiteX3-7" fmla="*/ 3277873 w 3277873"/>
              <a:gd name="connsiteY3-8" fmla="*/ 538516 h 538516"/>
              <a:gd name="connsiteX4-9" fmla="*/ 0 w 3277873"/>
              <a:gd name="connsiteY4-10" fmla="*/ 538516 h 538516"/>
              <a:gd name="connsiteX0-11" fmla="*/ 0 w 3277873"/>
              <a:gd name="connsiteY0-12" fmla="*/ 641505 h 641505"/>
              <a:gd name="connsiteX1-13" fmla="*/ 374145 w 3277873"/>
              <a:gd name="connsiteY1-14" fmla="*/ 102989 h 641505"/>
              <a:gd name="connsiteX2-15" fmla="*/ 2903728 w 3277873"/>
              <a:gd name="connsiteY2-16" fmla="*/ 102989 h 641505"/>
              <a:gd name="connsiteX3-17" fmla="*/ 3277873 w 3277873"/>
              <a:gd name="connsiteY3-18" fmla="*/ 641505 h 641505"/>
              <a:gd name="connsiteX4-19" fmla="*/ 0 w 3277873"/>
              <a:gd name="connsiteY4-20" fmla="*/ 641505 h 641505"/>
              <a:gd name="connsiteX0-21" fmla="*/ 0 w 3277873"/>
              <a:gd name="connsiteY0-22" fmla="*/ 635407 h 635407"/>
              <a:gd name="connsiteX1-23" fmla="*/ 374145 w 3277873"/>
              <a:gd name="connsiteY1-24" fmla="*/ 96891 h 635407"/>
              <a:gd name="connsiteX2-25" fmla="*/ 2903728 w 3277873"/>
              <a:gd name="connsiteY2-26" fmla="*/ 96891 h 635407"/>
              <a:gd name="connsiteX3-27" fmla="*/ 3277873 w 3277873"/>
              <a:gd name="connsiteY3-28" fmla="*/ 635407 h 635407"/>
              <a:gd name="connsiteX4-29" fmla="*/ 0 w 3277873"/>
              <a:gd name="connsiteY4-30" fmla="*/ 635407 h 635407"/>
              <a:gd name="connsiteX0-31" fmla="*/ 0 w 3277873"/>
              <a:gd name="connsiteY0-32" fmla="*/ 595080 h 595080"/>
              <a:gd name="connsiteX1-33" fmla="*/ 374145 w 3277873"/>
              <a:gd name="connsiteY1-34" fmla="*/ 56564 h 595080"/>
              <a:gd name="connsiteX2-35" fmla="*/ 2903728 w 3277873"/>
              <a:gd name="connsiteY2-36" fmla="*/ 56564 h 595080"/>
              <a:gd name="connsiteX3-37" fmla="*/ 3277873 w 3277873"/>
              <a:gd name="connsiteY3-38" fmla="*/ 595080 h 595080"/>
              <a:gd name="connsiteX4-39" fmla="*/ 0 w 3277873"/>
              <a:gd name="connsiteY4-40" fmla="*/ 595080 h 595080"/>
              <a:gd name="connsiteX0-41" fmla="*/ 0 w 3277873"/>
              <a:gd name="connsiteY0-42" fmla="*/ 591982 h 591982"/>
              <a:gd name="connsiteX1-43" fmla="*/ 374145 w 3277873"/>
              <a:gd name="connsiteY1-44" fmla="*/ 53466 h 591982"/>
              <a:gd name="connsiteX2-45" fmla="*/ 2903728 w 3277873"/>
              <a:gd name="connsiteY2-46" fmla="*/ 53466 h 591982"/>
              <a:gd name="connsiteX3-47" fmla="*/ 3277873 w 3277873"/>
              <a:gd name="connsiteY3-48" fmla="*/ 591982 h 591982"/>
              <a:gd name="connsiteX4-49" fmla="*/ 0 w 3277873"/>
              <a:gd name="connsiteY4-50" fmla="*/ 591982 h 591982"/>
              <a:gd name="connsiteX0-51" fmla="*/ 0 w 3277873"/>
              <a:gd name="connsiteY0-52" fmla="*/ 591982 h 591982"/>
              <a:gd name="connsiteX1-53" fmla="*/ 374145 w 3277873"/>
              <a:gd name="connsiteY1-54" fmla="*/ 53466 h 591982"/>
              <a:gd name="connsiteX2-55" fmla="*/ 2903728 w 3277873"/>
              <a:gd name="connsiteY2-56" fmla="*/ 53466 h 591982"/>
              <a:gd name="connsiteX3-57" fmla="*/ 3277873 w 3277873"/>
              <a:gd name="connsiteY3-58" fmla="*/ 591982 h 591982"/>
              <a:gd name="connsiteX4-59" fmla="*/ 0 w 3277873"/>
              <a:gd name="connsiteY4-60" fmla="*/ 591982 h 591982"/>
              <a:gd name="connsiteX0-61" fmla="*/ 0 w 3277873"/>
              <a:gd name="connsiteY0-62" fmla="*/ 591982 h 591982"/>
              <a:gd name="connsiteX1-63" fmla="*/ 374145 w 3277873"/>
              <a:gd name="connsiteY1-64" fmla="*/ 53466 h 591982"/>
              <a:gd name="connsiteX2-65" fmla="*/ 2903728 w 3277873"/>
              <a:gd name="connsiteY2-66" fmla="*/ 53466 h 591982"/>
              <a:gd name="connsiteX3-67" fmla="*/ 3277873 w 3277873"/>
              <a:gd name="connsiteY3-68" fmla="*/ 591982 h 591982"/>
              <a:gd name="connsiteX4-69" fmla="*/ 0 w 3277873"/>
              <a:gd name="connsiteY4-70" fmla="*/ 591982 h 591982"/>
              <a:gd name="connsiteX0-71" fmla="*/ 0 w 3277873"/>
              <a:gd name="connsiteY0-72" fmla="*/ 775582 h 775582"/>
              <a:gd name="connsiteX1-73" fmla="*/ 374145 w 3277873"/>
              <a:gd name="connsiteY1-74" fmla="*/ 237066 h 775582"/>
              <a:gd name="connsiteX2-75" fmla="*/ 2903728 w 3277873"/>
              <a:gd name="connsiteY2-76" fmla="*/ 237066 h 775582"/>
              <a:gd name="connsiteX3-77" fmla="*/ 3277873 w 3277873"/>
              <a:gd name="connsiteY3-78" fmla="*/ 775582 h 775582"/>
              <a:gd name="connsiteX4-79" fmla="*/ 0 w 3277873"/>
              <a:gd name="connsiteY4-80" fmla="*/ 775582 h 775582"/>
              <a:gd name="connsiteX0-81" fmla="*/ 0 w 3277873"/>
              <a:gd name="connsiteY0-82" fmla="*/ 785742 h 785742"/>
              <a:gd name="connsiteX1-83" fmla="*/ 374145 w 3277873"/>
              <a:gd name="connsiteY1-84" fmla="*/ 247226 h 785742"/>
              <a:gd name="connsiteX2-85" fmla="*/ 2903728 w 3277873"/>
              <a:gd name="connsiteY2-86" fmla="*/ 247226 h 785742"/>
              <a:gd name="connsiteX3-87" fmla="*/ 3277873 w 3277873"/>
              <a:gd name="connsiteY3-88" fmla="*/ 785742 h 785742"/>
              <a:gd name="connsiteX4-89" fmla="*/ 0 w 3277873"/>
              <a:gd name="connsiteY4-90" fmla="*/ 785742 h 7857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77873" h="785742">
                <a:moveTo>
                  <a:pt x="0" y="785742"/>
                </a:moveTo>
                <a:lnTo>
                  <a:pt x="374145" y="247226"/>
                </a:lnTo>
                <a:cubicBezTo>
                  <a:pt x="1217339" y="247226"/>
                  <a:pt x="2037674" y="-309034"/>
                  <a:pt x="2903728" y="247226"/>
                </a:cubicBezTo>
                <a:cubicBezTo>
                  <a:pt x="3394203" y="-7609"/>
                  <a:pt x="2916938" y="728157"/>
                  <a:pt x="3277873" y="785742"/>
                </a:cubicBezTo>
                <a:lnTo>
                  <a:pt x="0" y="7857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5640415" y="1505108"/>
            <a:ext cx="2085338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项目交付目标</a:t>
            </a:r>
          </a:p>
        </p:txBody>
      </p:sp>
      <p:sp>
        <p:nvSpPr>
          <p:cNvPr id="230" name="梯形 226"/>
          <p:cNvSpPr/>
          <p:nvPr/>
        </p:nvSpPr>
        <p:spPr>
          <a:xfrm>
            <a:off x="8430946" y="1133264"/>
            <a:ext cx="3277873" cy="785742"/>
          </a:xfrm>
          <a:custGeom>
            <a:avLst/>
            <a:gdLst>
              <a:gd name="connsiteX0" fmla="*/ 0 w 3277873"/>
              <a:gd name="connsiteY0" fmla="*/ 538516 h 538516"/>
              <a:gd name="connsiteX1" fmla="*/ 374145 w 3277873"/>
              <a:gd name="connsiteY1" fmla="*/ 0 h 538516"/>
              <a:gd name="connsiteX2" fmla="*/ 2903728 w 3277873"/>
              <a:gd name="connsiteY2" fmla="*/ 0 h 538516"/>
              <a:gd name="connsiteX3" fmla="*/ 3277873 w 3277873"/>
              <a:gd name="connsiteY3" fmla="*/ 538516 h 538516"/>
              <a:gd name="connsiteX4" fmla="*/ 0 w 3277873"/>
              <a:gd name="connsiteY4" fmla="*/ 538516 h 538516"/>
              <a:gd name="connsiteX0-1" fmla="*/ 0 w 3277873"/>
              <a:gd name="connsiteY0-2" fmla="*/ 538516 h 538516"/>
              <a:gd name="connsiteX1-3" fmla="*/ 374145 w 3277873"/>
              <a:gd name="connsiteY1-4" fmla="*/ 0 h 538516"/>
              <a:gd name="connsiteX2-5" fmla="*/ 2903728 w 3277873"/>
              <a:gd name="connsiteY2-6" fmla="*/ 0 h 538516"/>
              <a:gd name="connsiteX3-7" fmla="*/ 3277873 w 3277873"/>
              <a:gd name="connsiteY3-8" fmla="*/ 538516 h 538516"/>
              <a:gd name="connsiteX4-9" fmla="*/ 0 w 3277873"/>
              <a:gd name="connsiteY4-10" fmla="*/ 538516 h 538516"/>
              <a:gd name="connsiteX0-11" fmla="*/ 0 w 3277873"/>
              <a:gd name="connsiteY0-12" fmla="*/ 641505 h 641505"/>
              <a:gd name="connsiteX1-13" fmla="*/ 374145 w 3277873"/>
              <a:gd name="connsiteY1-14" fmla="*/ 102989 h 641505"/>
              <a:gd name="connsiteX2-15" fmla="*/ 2903728 w 3277873"/>
              <a:gd name="connsiteY2-16" fmla="*/ 102989 h 641505"/>
              <a:gd name="connsiteX3-17" fmla="*/ 3277873 w 3277873"/>
              <a:gd name="connsiteY3-18" fmla="*/ 641505 h 641505"/>
              <a:gd name="connsiteX4-19" fmla="*/ 0 w 3277873"/>
              <a:gd name="connsiteY4-20" fmla="*/ 641505 h 641505"/>
              <a:gd name="connsiteX0-21" fmla="*/ 0 w 3277873"/>
              <a:gd name="connsiteY0-22" fmla="*/ 635407 h 635407"/>
              <a:gd name="connsiteX1-23" fmla="*/ 374145 w 3277873"/>
              <a:gd name="connsiteY1-24" fmla="*/ 96891 h 635407"/>
              <a:gd name="connsiteX2-25" fmla="*/ 2903728 w 3277873"/>
              <a:gd name="connsiteY2-26" fmla="*/ 96891 h 635407"/>
              <a:gd name="connsiteX3-27" fmla="*/ 3277873 w 3277873"/>
              <a:gd name="connsiteY3-28" fmla="*/ 635407 h 635407"/>
              <a:gd name="connsiteX4-29" fmla="*/ 0 w 3277873"/>
              <a:gd name="connsiteY4-30" fmla="*/ 635407 h 635407"/>
              <a:gd name="connsiteX0-31" fmla="*/ 0 w 3277873"/>
              <a:gd name="connsiteY0-32" fmla="*/ 595080 h 595080"/>
              <a:gd name="connsiteX1-33" fmla="*/ 374145 w 3277873"/>
              <a:gd name="connsiteY1-34" fmla="*/ 56564 h 595080"/>
              <a:gd name="connsiteX2-35" fmla="*/ 2903728 w 3277873"/>
              <a:gd name="connsiteY2-36" fmla="*/ 56564 h 595080"/>
              <a:gd name="connsiteX3-37" fmla="*/ 3277873 w 3277873"/>
              <a:gd name="connsiteY3-38" fmla="*/ 595080 h 595080"/>
              <a:gd name="connsiteX4-39" fmla="*/ 0 w 3277873"/>
              <a:gd name="connsiteY4-40" fmla="*/ 595080 h 595080"/>
              <a:gd name="connsiteX0-41" fmla="*/ 0 w 3277873"/>
              <a:gd name="connsiteY0-42" fmla="*/ 591982 h 591982"/>
              <a:gd name="connsiteX1-43" fmla="*/ 374145 w 3277873"/>
              <a:gd name="connsiteY1-44" fmla="*/ 53466 h 591982"/>
              <a:gd name="connsiteX2-45" fmla="*/ 2903728 w 3277873"/>
              <a:gd name="connsiteY2-46" fmla="*/ 53466 h 591982"/>
              <a:gd name="connsiteX3-47" fmla="*/ 3277873 w 3277873"/>
              <a:gd name="connsiteY3-48" fmla="*/ 591982 h 591982"/>
              <a:gd name="connsiteX4-49" fmla="*/ 0 w 3277873"/>
              <a:gd name="connsiteY4-50" fmla="*/ 591982 h 591982"/>
              <a:gd name="connsiteX0-51" fmla="*/ 0 w 3277873"/>
              <a:gd name="connsiteY0-52" fmla="*/ 591982 h 591982"/>
              <a:gd name="connsiteX1-53" fmla="*/ 374145 w 3277873"/>
              <a:gd name="connsiteY1-54" fmla="*/ 53466 h 591982"/>
              <a:gd name="connsiteX2-55" fmla="*/ 2903728 w 3277873"/>
              <a:gd name="connsiteY2-56" fmla="*/ 53466 h 591982"/>
              <a:gd name="connsiteX3-57" fmla="*/ 3277873 w 3277873"/>
              <a:gd name="connsiteY3-58" fmla="*/ 591982 h 591982"/>
              <a:gd name="connsiteX4-59" fmla="*/ 0 w 3277873"/>
              <a:gd name="connsiteY4-60" fmla="*/ 591982 h 591982"/>
              <a:gd name="connsiteX0-61" fmla="*/ 0 w 3277873"/>
              <a:gd name="connsiteY0-62" fmla="*/ 591982 h 591982"/>
              <a:gd name="connsiteX1-63" fmla="*/ 374145 w 3277873"/>
              <a:gd name="connsiteY1-64" fmla="*/ 53466 h 591982"/>
              <a:gd name="connsiteX2-65" fmla="*/ 2903728 w 3277873"/>
              <a:gd name="connsiteY2-66" fmla="*/ 53466 h 591982"/>
              <a:gd name="connsiteX3-67" fmla="*/ 3277873 w 3277873"/>
              <a:gd name="connsiteY3-68" fmla="*/ 591982 h 591982"/>
              <a:gd name="connsiteX4-69" fmla="*/ 0 w 3277873"/>
              <a:gd name="connsiteY4-70" fmla="*/ 591982 h 591982"/>
              <a:gd name="connsiteX0-71" fmla="*/ 0 w 3277873"/>
              <a:gd name="connsiteY0-72" fmla="*/ 775582 h 775582"/>
              <a:gd name="connsiteX1-73" fmla="*/ 374145 w 3277873"/>
              <a:gd name="connsiteY1-74" fmla="*/ 237066 h 775582"/>
              <a:gd name="connsiteX2-75" fmla="*/ 2903728 w 3277873"/>
              <a:gd name="connsiteY2-76" fmla="*/ 237066 h 775582"/>
              <a:gd name="connsiteX3-77" fmla="*/ 3277873 w 3277873"/>
              <a:gd name="connsiteY3-78" fmla="*/ 775582 h 775582"/>
              <a:gd name="connsiteX4-79" fmla="*/ 0 w 3277873"/>
              <a:gd name="connsiteY4-80" fmla="*/ 775582 h 775582"/>
              <a:gd name="connsiteX0-81" fmla="*/ 0 w 3277873"/>
              <a:gd name="connsiteY0-82" fmla="*/ 785742 h 785742"/>
              <a:gd name="connsiteX1-83" fmla="*/ 374145 w 3277873"/>
              <a:gd name="connsiteY1-84" fmla="*/ 247226 h 785742"/>
              <a:gd name="connsiteX2-85" fmla="*/ 2903728 w 3277873"/>
              <a:gd name="connsiteY2-86" fmla="*/ 247226 h 785742"/>
              <a:gd name="connsiteX3-87" fmla="*/ 3277873 w 3277873"/>
              <a:gd name="connsiteY3-88" fmla="*/ 785742 h 785742"/>
              <a:gd name="connsiteX4-89" fmla="*/ 0 w 3277873"/>
              <a:gd name="connsiteY4-90" fmla="*/ 785742 h 7857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77873" h="785742">
                <a:moveTo>
                  <a:pt x="0" y="785742"/>
                </a:moveTo>
                <a:lnTo>
                  <a:pt x="374145" y="247226"/>
                </a:lnTo>
                <a:cubicBezTo>
                  <a:pt x="1217339" y="247226"/>
                  <a:pt x="2037674" y="-309034"/>
                  <a:pt x="2903728" y="247226"/>
                </a:cubicBezTo>
                <a:cubicBezTo>
                  <a:pt x="3394203" y="-7609"/>
                  <a:pt x="2916938" y="728157"/>
                  <a:pt x="3277873" y="785742"/>
                </a:cubicBezTo>
                <a:lnTo>
                  <a:pt x="0" y="7857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8690645" y="1505108"/>
            <a:ext cx="2758474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市场份额提升目标</a:t>
            </a:r>
          </a:p>
        </p:txBody>
      </p:sp>
      <p:sp>
        <p:nvSpPr>
          <p:cNvPr id="232" name="椭圆 231"/>
          <p:cNvSpPr/>
          <p:nvPr/>
        </p:nvSpPr>
        <p:spPr>
          <a:xfrm>
            <a:off x="4607196" y="1411927"/>
            <a:ext cx="145010" cy="145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7985452" y="1411927"/>
            <a:ext cx="145010" cy="145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4" name="椭圆 233"/>
          <p:cNvSpPr/>
          <p:nvPr/>
        </p:nvSpPr>
        <p:spPr>
          <a:xfrm>
            <a:off x="11363708" y="1411927"/>
            <a:ext cx="145010" cy="145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237" name="直接连接符 236"/>
          <p:cNvCxnSpPr/>
          <p:nvPr/>
        </p:nvCxnSpPr>
        <p:spPr>
          <a:xfrm>
            <a:off x="1771650" y="3081173"/>
            <a:ext cx="3116473" cy="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>
            <a:off x="4326269" y="2905103"/>
            <a:ext cx="561854" cy="17607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/>
          <p:cNvCxnSpPr/>
          <p:nvPr/>
        </p:nvCxnSpPr>
        <p:spPr>
          <a:xfrm>
            <a:off x="5118461" y="3081173"/>
            <a:ext cx="3116473" cy="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连接符 248"/>
          <p:cNvCxnSpPr/>
          <p:nvPr/>
        </p:nvCxnSpPr>
        <p:spPr>
          <a:xfrm>
            <a:off x="7673080" y="2905103"/>
            <a:ext cx="561854" cy="17607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>
            <a:off x="8465272" y="3081173"/>
            <a:ext cx="3116473" cy="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/>
          <p:cNvCxnSpPr/>
          <p:nvPr/>
        </p:nvCxnSpPr>
        <p:spPr>
          <a:xfrm>
            <a:off x="11019891" y="2905103"/>
            <a:ext cx="561854" cy="17607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5539;p76"/>
          <p:cNvGrpSpPr/>
          <p:nvPr/>
        </p:nvGrpSpPr>
        <p:grpSpPr>
          <a:xfrm>
            <a:off x="3990427" y="2078992"/>
            <a:ext cx="4211144" cy="4580466"/>
            <a:chOff x="2104275" y="3806450"/>
            <a:chExt cx="442975" cy="481825"/>
          </a:xfrm>
          <a:solidFill>
            <a:schemeClr val="tx2">
              <a:lumMod val="20000"/>
              <a:lumOff val="80000"/>
              <a:alpha val="20000"/>
            </a:schemeClr>
          </a:solidFill>
        </p:grpSpPr>
        <p:sp>
          <p:nvSpPr>
            <p:cNvPr id="190" name="Google Shape;5540;p76"/>
            <p:cNvSpPr/>
            <p:nvPr/>
          </p:nvSpPr>
          <p:spPr>
            <a:xfrm>
              <a:off x="2104275" y="3806450"/>
              <a:ext cx="442975" cy="481825"/>
            </a:xfrm>
            <a:custGeom>
              <a:avLst/>
              <a:gdLst/>
              <a:ahLst/>
              <a:cxnLst/>
              <a:rect l="l" t="t" r="r" b="b"/>
              <a:pathLst>
                <a:path w="17719" h="19273" extrusionOk="0">
                  <a:moveTo>
                    <a:pt x="8889" y="1130"/>
                  </a:moveTo>
                  <a:cubicBezTo>
                    <a:pt x="9660" y="1130"/>
                    <a:pt x="10482" y="2382"/>
                    <a:pt x="11039" y="4343"/>
                  </a:cubicBezTo>
                  <a:cubicBezTo>
                    <a:pt x="10308" y="4586"/>
                    <a:pt x="9594" y="4870"/>
                    <a:pt x="8895" y="5192"/>
                  </a:cubicBezTo>
                  <a:cubicBezTo>
                    <a:pt x="8194" y="4864"/>
                    <a:pt x="7474" y="4577"/>
                    <a:pt x="6742" y="4331"/>
                  </a:cubicBezTo>
                  <a:cubicBezTo>
                    <a:pt x="7302" y="2379"/>
                    <a:pt x="8121" y="1130"/>
                    <a:pt x="8889" y="1130"/>
                  </a:cubicBezTo>
                  <a:close/>
                  <a:moveTo>
                    <a:pt x="6471" y="5445"/>
                  </a:moveTo>
                  <a:cubicBezTo>
                    <a:pt x="6830" y="5565"/>
                    <a:pt x="7200" y="5704"/>
                    <a:pt x="7570" y="5854"/>
                  </a:cubicBezTo>
                  <a:cubicBezTo>
                    <a:pt x="6571" y="6393"/>
                    <a:pt x="6878" y="6243"/>
                    <a:pt x="6273" y="6616"/>
                  </a:cubicBezTo>
                  <a:cubicBezTo>
                    <a:pt x="6330" y="6210"/>
                    <a:pt x="6396" y="5815"/>
                    <a:pt x="6471" y="5445"/>
                  </a:cubicBezTo>
                  <a:close/>
                  <a:moveTo>
                    <a:pt x="11307" y="5445"/>
                  </a:moveTo>
                  <a:cubicBezTo>
                    <a:pt x="11386" y="5815"/>
                    <a:pt x="11449" y="6210"/>
                    <a:pt x="11506" y="6616"/>
                  </a:cubicBezTo>
                  <a:cubicBezTo>
                    <a:pt x="10895" y="6240"/>
                    <a:pt x="11220" y="6399"/>
                    <a:pt x="10208" y="5854"/>
                  </a:cubicBezTo>
                  <a:cubicBezTo>
                    <a:pt x="10582" y="5704"/>
                    <a:pt x="10949" y="5565"/>
                    <a:pt x="11307" y="5445"/>
                  </a:cubicBezTo>
                  <a:close/>
                  <a:moveTo>
                    <a:pt x="13999" y="4845"/>
                  </a:moveTo>
                  <a:cubicBezTo>
                    <a:pt x="14142" y="5686"/>
                    <a:pt x="14870" y="6249"/>
                    <a:pt x="15661" y="6249"/>
                  </a:cubicBezTo>
                  <a:cubicBezTo>
                    <a:pt x="15873" y="6249"/>
                    <a:pt x="16089" y="6209"/>
                    <a:pt x="16300" y="6122"/>
                  </a:cubicBezTo>
                  <a:lnTo>
                    <a:pt x="16300" y="6122"/>
                  </a:lnTo>
                  <a:cubicBezTo>
                    <a:pt x="16201" y="6676"/>
                    <a:pt x="15821" y="7384"/>
                    <a:pt x="15183" y="8158"/>
                  </a:cubicBezTo>
                  <a:cubicBezTo>
                    <a:pt x="14993" y="8390"/>
                    <a:pt x="14761" y="8625"/>
                    <a:pt x="14535" y="8856"/>
                  </a:cubicBezTo>
                  <a:cubicBezTo>
                    <a:pt x="13963" y="8345"/>
                    <a:pt x="13361" y="7866"/>
                    <a:pt x="12735" y="7423"/>
                  </a:cubicBezTo>
                  <a:cubicBezTo>
                    <a:pt x="12662" y="6652"/>
                    <a:pt x="12551" y="5884"/>
                    <a:pt x="12394" y="5125"/>
                  </a:cubicBezTo>
                  <a:cubicBezTo>
                    <a:pt x="12921" y="4990"/>
                    <a:pt x="13457" y="4897"/>
                    <a:pt x="13999" y="4845"/>
                  </a:cubicBezTo>
                  <a:close/>
                  <a:moveTo>
                    <a:pt x="3779" y="4845"/>
                  </a:moveTo>
                  <a:cubicBezTo>
                    <a:pt x="4321" y="4897"/>
                    <a:pt x="4857" y="4990"/>
                    <a:pt x="5384" y="5129"/>
                  </a:cubicBezTo>
                  <a:cubicBezTo>
                    <a:pt x="5231" y="5887"/>
                    <a:pt x="5116" y="6652"/>
                    <a:pt x="5047" y="7423"/>
                  </a:cubicBezTo>
                  <a:cubicBezTo>
                    <a:pt x="4421" y="7869"/>
                    <a:pt x="3818" y="8348"/>
                    <a:pt x="3246" y="8859"/>
                  </a:cubicBezTo>
                  <a:cubicBezTo>
                    <a:pt x="3020" y="8625"/>
                    <a:pt x="2789" y="8393"/>
                    <a:pt x="2599" y="8161"/>
                  </a:cubicBezTo>
                  <a:cubicBezTo>
                    <a:pt x="1963" y="7387"/>
                    <a:pt x="1584" y="6685"/>
                    <a:pt x="1485" y="6125"/>
                  </a:cubicBezTo>
                  <a:lnTo>
                    <a:pt x="1485" y="6125"/>
                  </a:lnTo>
                  <a:cubicBezTo>
                    <a:pt x="1683" y="6207"/>
                    <a:pt x="1897" y="6249"/>
                    <a:pt x="2114" y="6249"/>
                  </a:cubicBezTo>
                  <a:cubicBezTo>
                    <a:pt x="2936" y="6246"/>
                    <a:pt x="3638" y="5655"/>
                    <a:pt x="3779" y="4845"/>
                  </a:cubicBezTo>
                  <a:close/>
                  <a:moveTo>
                    <a:pt x="4951" y="8893"/>
                  </a:moveTo>
                  <a:lnTo>
                    <a:pt x="4951" y="8893"/>
                  </a:lnTo>
                  <a:cubicBezTo>
                    <a:pt x="4945" y="9143"/>
                    <a:pt x="4939" y="9389"/>
                    <a:pt x="4939" y="9636"/>
                  </a:cubicBezTo>
                  <a:cubicBezTo>
                    <a:pt x="4939" y="9882"/>
                    <a:pt x="4945" y="10128"/>
                    <a:pt x="4951" y="10377"/>
                  </a:cubicBezTo>
                  <a:lnTo>
                    <a:pt x="4951" y="10377"/>
                  </a:lnTo>
                  <a:cubicBezTo>
                    <a:pt x="4637" y="10133"/>
                    <a:pt x="4348" y="9886"/>
                    <a:pt x="4065" y="9636"/>
                  </a:cubicBezTo>
                  <a:cubicBezTo>
                    <a:pt x="4348" y="9386"/>
                    <a:pt x="4637" y="9139"/>
                    <a:pt x="4951" y="8893"/>
                  </a:cubicBezTo>
                  <a:close/>
                  <a:moveTo>
                    <a:pt x="12828" y="8896"/>
                  </a:moveTo>
                  <a:lnTo>
                    <a:pt x="12828" y="8896"/>
                  </a:lnTo>
                  <a:cubicBezTo>
                    <a:pt x="13144" y="9139"/>
                    <a:pt x="13430" y="9386"/>
                    <a:pt x="13713" y="9636"/>
                  </a:cubicBezTo>
                  <a:cubicBezTo>
                    <a:pt x="13433" y="9886"/>
                    <a:pt x="13144" y="10133"/>
                    <a:pt x="12828" y="10380"/>
                  </a:cubicBezTo>
                  <a:cubicBezTo>
                    <a:pt x="12837" y="10130"/>
                    <a:pt x="12843" y="9883"/>
                    <a:pt x="12843" y="9636"/>
                  </a:cubicBezTo>
                  <a:cubicBezTo>
                    <a:pt x="12843" y="9389"/>
                    <a:pt x="12837" y="9143"/>
                    <a:pt x="12828" y="8896"/>
                  </a:cubicBezTo>
                  <a:close/>
                  <a:moveTo>
                    <a:pt x="8889" y="6447"/>
                  </a:moveTo>
                  <a:cubicBezTo>
                    <a:pt x="9850" y="6908"/>
                    <a:pt x="10774" y="7441"/>
                    <a:pt x="11657" y="8040"/>
                  </a:cubicBezTo>
                  <a:cubicBezTo>
                    <a:pt x="11693" y="8555"/>
                    <a:pt x="11714" y="9088"/>
                    <a:pt x="11714" y="9636"/>
                  </a:cubicBezTo>
                  <a:cubicBezTo>
                    <a:pt x="11714" y="10187"/>
                    <a:pt x="11693" y="10717"/>
                    <a:pt x="11657" y="11232"/>
                  </a:cubicBezTo>
                  <a:cubicBezTo>
                    <a:pt x="10774" y="11832"/>
                    <a:pt x="9853" y="12365"/>
                    <a:pt x="8895" y="12828"/>
                  </a:cubicBezTo>
                  <a:cubicBezTo>
                    <a:pt x="7932" y="12368"/>
                    <a:pt x="7007" y="11832"/>
                    <a:pt x="6125" y="11232"/>
                  </a:cubicBezTo>
                  <a:cubicBezTo>
                    <a:pt x="6086" y="10717"/>
                    <a:pt x="6068" y="10187"/>
                    <a:pt x="6068" y="9636"/>
                  </a:cubicBezTo>
                  <a:cubicBezTo>
                    <a:pt x="6068" y="9088"/>
                    <a:pt x="6089" y="8555"/>
                    <a:pt x="6125" y="8040"/>
                  </a:cubicBezTo>
                  <a:cubicBezTo>
                    <a:pt x="7004" y="7441"/>
                    <a:pt x="7929" y="6908"/>
                    <a:pt x="8889" y="6447"/>
                  </a:cubicBezTo>
                  <a:close/>
                  <a:moveTo>
                    <a:pt x="6273" y="12657"/>
                  </a:moveTo>
                  <a:lnTo>
                    <a:pt x="6273" y="12657"/>
                  </a:lnTo>
                  <a:cubicBezTo>
                    <a:pt x="6878" y="13033"/>
                    <a:pt x="6571" y="12879"/>
                    <a:pt x="7570" y="13418"/>
                  </a:cubicBezTo>
                  <a:cubicBezTo>
                    <a:pt x="7194" y="13569"/>
                    <a:pt x="6827" y="13708"/>
                    <a:pt x="6471" y="13828"/>
                  </a:cubicBezTo>
                  <a:cubicBezTo>
                    <a:pt x="6393" y="13455"/>
                    <a:pt x="6330" y="13063"/>
                    <a:pt x="6273" y="12657"/>
                  </a:cubicBezTo>
                  <a:close/>
                  <a:moveTo>
                    <a:pt x="11506" y="12657"/>
                  </a:moveTo>
                  <a:cubicBezTo>
                    <a:pt x="11449" y="13063"/>
                    <a:pt x="11386" y="13458"/>
                    <a:pt x="11307" y="13828"/>
                  </a:cubicBezTo>
                  <a:cubicBezTo>
                    <a:pt x="10949" y="13711"/>
                    <a:pt x="10582" y="13569"/>
                    <a:pt x="10208" y="13418"/>
                  </a:cubicBezTo>
                  <a:cubicBezTo>
                    <a:pt x="11181" y="12898"/>
                    <a:pt x="10937" y="13009"/>
                    <a:pt x="11506" y="12657"/>
                  </a:cubicBezTo>
                  <a:close/>
                  <a:moveTo>
                    <a:pt x="14535" y="10416"/>
                  </a:moveTo>
                  <a:cubicBezTo>
                    <a:pt x="14761" y="10648"/>
                    <a:pt x="14993" y="10883"/>
                    <a:pt x="15183" y="11115"/>
                  </a:cubicBezTo>
                  <a:cubicBezTo>
                    <a:pt x="15818" y="11886"/>
                    <a:pt x="16198" y="12590"/>
                    <a:pt x="16294" y="13147"/>
                  </a:cubicBezTo>
                  <a:cubicBezTo>
                    <a:pt x="16095" y="13066"/>
                    <a:pt x="15881" y="13024"/>
                    <a:pt x="15665" y="13024"/>
                  </a:cubicBezTo>
                  <a:cubicBezTo>
                    <a:pt x="14843" y="13024"/>
                    <a:pt x="14141" y="13617"/>
                    <a:pt x="13999" y="14424"/>
                  </a:cubicBezTo>
                  <a:cubicBezTo>
                    <a:pt x="13457" y="14376"/>
                    <a:pt x="12921" y="14280"/>
                    <a:pt x="12394" y="14144"/>
                  </a:cubicBezTo>
                  <a:cubicBezTo>
                    <a:pt x="12551" y="13385"/>
                    <a:pt x="12662" y="12620"/>
                    <a:pt x="12735" y="11850"/>
                  </a:cubicBezTo>
                  <a:cubicBezTo>
                    <a:pt x="13361" y="11407"/>
                    <a:pt x="13963" y="10928"/>
                    <a:pt x="14535" y="10416"/>
                  </a:cubicBezTo>
                  <a:close/>
                  <a:moveTo>
                    <a:pt x="3243" y="10416"/>
                  </a:moveTo>
                  <a:cubicBezTo>
                    <a:pt x="3815" y="10928"/>
                    <a:pt x="4418" y="11407"/>
                    <a:pt x="5044" y="11850"/>
                  </a:cubicBezTo>
                  <a:cubicBezTo>
                    <a:pt x="5116" y="12620"/>
                    <a:pt x="5228" y="13385"/>
                    <a:pt x="5384" y="14144"/>
                  </a:cubicBezTo>
                  <a:cubicBezTo>
                    <a:pt x="4554" y="14353"/>
                    <a:pt x="3815" y="14456"/>
                    <a:pt x="3207" y="14456"/>
                  </a:cubicBezTo>
                  <a:cubicBezTo>
                    <a:pt x="2366" y="14456"/>
                    <a:pt x="1778" y="14258"/>
                    <a:pt x="1554" y="13870"/>
                  </a:cubicBezTo>
                  <a:cubicBezTo>
                    <a:pt x="1238" y="13322"/>
                    <a:pt x="1626" y="12292"/>
                    <a:pt x="2596" y="11115"/>
                  </a:cubicBezTo>
                  <a:cubicBezTo>
                    <a:pt x="2786" y="10883"/>
                    <a:pt x="3020" y="10648"/>
                    <a:pt x="3243" y="10416"/>
                  </a:cubicBezTo>
                  <a:close/>
                  <a:moveTo>
                    <a:pt x="8889" y="14081"/>
                  </a:moveTo>
                  <a:cubicBezTo>
                    <a:pt x="9588" y="14403"/>
                    <a:pt x="10308" y="14689"/>
                    <a:pt x="11039" y="14933"/>
                  </a:cubicBezTo>
                  <a:cubicBezTo>
                    <a:pt x="10482" y="16890"/>
                    <a:pt x="9660" y="18143"/>
                    <a:pt x="8889" y="18143"/>
                  </a:cubicBezTo>
                  <a:cubicBezTo>
                    <a:pt x="8118" y="18143"/>
                    <a:pt x="7296" y="16887"/>
                    <a:pt x="6739" y="14924"/>
                  </a:cubicBezTo>
                  <a:cubicBezTo>
                    <a:pt x="7471" y="14683"/>
                    <a:pt x="8188" y="14400"/>
                    <a:pt x="8889" y="14081"/>
                  </a:cubicBezTo>
                  <a:close/>
                  <a:moveTo>
                    <a:pt x="8889" y="0"/>
                  </a:moveTo>
                  <a:cubicBezTo>
                    <a:pt x="7396" y="0"/>
                    <a:pt x="6312" y="1708"/>
                    <a:pt x="5658" y="4014"/>
                  </a:cubicBezTo>
                  <a:cubicBezTo>
                    <a:pt x="4902" y="3825"/>
                    <a:pt x="4201" y="3719"/>
                    <a:pt x="3568" y="3698"/>
                  </a:cubicBezTo>
                  <a:cubicBezTo>
                    <a:pt x="3260" y="3171"/>
                    <a:pt x="2700" y="2861"/>
                    <a:pt x="2111" y="2861"/>
                  </a:cubicBezTo>
                  <a:cubicBezTo>
                    <a:pt x="1963" y="2861"/>
                    <a:pt x="1813" y="2881"/>
                    <a:pt x="1665" y="2921"/>
                  </a:cubicBezTo>
                  <a:cubicBezTo>
                    <a:pt x="928" y="3123"/>
                    <a:pt x="419" y="3792"/>
                    <a:pt x="422" y="4556"/>
                  </a:cubicBezTo>
                  <a:cubicBezTo>
                    <a:pt x="422" y="4716"/>
                    <a:pt x="449" y="4876"/>
                    <a:pt x="497" y="5026"/>
                  </a:cubicBezTo>
                  <a:cubicBezTo>
                    <a:pt x="63" y="6017"/>
                    <a:pt x="485" y="7372"/>
                    <a:pt x="1726" y="8878"/>
                  </a:cubicBezTo>
                  <a:cubicBezTo>
                    <a:pt x="1933" y="9130"/>
                    <a:pt x="2183" y="9383"/>
                    <a:pt x="2430" y="9636"/>
                  </a:cubicBezTo>
                  <a:cubicBezTo>
                    <a:pt x="2183" y="9892"/>
                    <a:pt x="1933" y="10145"/>
                    <a:pt x="1726" y="10398"/>
                  </a:cubicBezTo>
                  <a:cubicBezTo>
                    <a:pt x="407" y="12000"/>
                    <a:pt x="0" y="13434"/>
                    <a:pt x="578" y="14436"/>
                  </a:cubicBezTo>
                  <a:cubicBezTo>
                    <a:pt x="1045" y="15246"/>
                    <a:pt x="2003" y="15593"/>
                    <a:pt x="3225" y="15593"/>
                  </a:cubicBezTo>
                  <a:cubicBezTo>
                    <a:pt x="3954" y="15593"/>
                    <a:pt x="4782" y="15460"/>
                    <a:pt x="5652" y="15240"/>
                  </a:cubicBezTo>
                  <a:cubicBezTo>
                    <a:pt x="6306" y="17556"/>
                    <a:pt x="7396" y="19272"/>
                    <a:pt x="8889" y="19272"/>
                  </a:cubicBezTo>
                  <a:cubicBezTo>
                    <a:pt x="10383" y="19272"/>
                    <a:pt x="11473" y="17559"/>
                    <a:pt x="12126" y="15246"/>
                  </a:cubicBezTo>
                  <a:cubicBezTo>
                    <a:pt x="12810" y="15424"/>
                    <a:pt x="13509" y="15532"/>
                    <a:pt x="14210" y="15572"/>
                  </a:cubicBezTo>
                  <a:cubicBezTo>
                    <a:pt x="14519" y="16101"/>
                    <a:pt x="15083" y="16413"/>
                    <a:pt x="15674" y="16413"/>
                  </a:cubicBezTo>
                  <a:cubicBezTo>
                    <a:pt x="15820" y="16413"/>
                    <a:pt x="15968" y="16394"/>
                    <a:pt x="16113" y="16354"/>
                  </a:cubicBezTo>
                  <a:cubicBezTo>
                    <a:pt x="16851" y="16153"/>
                    <a:pt x="17363" y="15484"/>
                    <a:pt x="17360" y="14719"/>
                  </a:cubicBezTo>
                  <a:cubicBezTo>
                    <a:pt x="17357" y="14560"/>
                    <a:pt x="17333" y="14400"/>
                    <a:pt x="17285" y="14247"/>
                  </a:cubicBezTo>
                  <a:cubicBezTo>
                    <a:pt x="17718" y="13256"/>
                    <a:pt x="17297" y="11904"/>
                    <a:pt x="16056" y="10398"/>
                  </a:cubicBezTo>
                  <a:cubicBezTo>
                    <a:pt x="15848" y="10142"/>
                    <a:pt x="15595" y="9889"/>
                    <a:pt x="15351" y="9636"/>
                  </a:cubicBezTo>
                  <a:cubicBezTo>
                    <a:pt x="15595" y="9383"/>
                    <a:pt x="15848" y="9130"/>
                    <a:pt x="16056" y="8878"/>
                  </a:cubicBezTo>
                  <a:cubicBezTo>
                    <a:pt x="17261" y="7414"/>
                    <a:pt x="17694" y="6095"/>
                    <a:pt x="17279" y="5044"/>
                  </a:cubicBezTo>
                  <a:cubicBezTo>
                    <a:pt x="17330" y="4885"/>
                    <a:pt x="17357" y="4722"/>
                    <a:pt x="17360" y="4556"/>
                  </a:cubicBezTo>
                  <a:cubicBezTo>
                    <a:pt x="17363" y="3792"/>
                    <a:pt x="16851" y="3120"/>
                    <a:pt x="16113" y="2918"/>
                  </a:cubicBezTo>
                  <a:cubicBezTo>
                    <a:pt x="15967" y="2879"/>
                    <a:pt x="15819" y="2860"/>
                    <a:pt x="15673" y="2860"/>
                  </a:cubicBezTo>
                  <a:cubicBezTo>
                    <a:pt x="15080" y="2860"/>
                    <a:pt x="14517" y="3173"/>
                    <a:pt x="14210" y="3704"/>
                  </a:cubicBezTo>
                  <a:cubicBezTo>
                    <a:pt x="13506" y="3743"/>
                    <a:pt x="12810" y="3852"/>
                    <a:pt x="12126" y="4029"/>
                  </a:cubicBezTo>
                  <a:cubicBezTo>
                    <a:pt x="11473" y="1714"/>
                    <a:pt x="10383" y="0"/>
                    <a:pt x="88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91" name="Google Shape;5541;p76"/>
            <p:cNvSpPr/>
            <p:nvPr/>
          </p:nvSpPr>
          <p:spPr>
            <a:xfrm>
              <a:off x="2284200" y="4005050"/>
              <a:ext cx="84700" cy="84700"/>
            </a:xfrm>
            <a:custGeom>
              <a:avLst/>
              <a:gdLst/>
              <a:ahLst/>
              <a:cxnLst/>
              <a:rect l="l" t="t" r="r" b="b"/>
              <a:pathLst>
                <a:path w="3388" h="3388" extrusionOk="0">
                  <a:moveTo>
                    <a:pt x="1692" y="0"/>
                  </a:moveTo>
                  <a:cubicBezTo>
                    <a:pt x="756" y="0"/>
                    <a:pt x="0" y="756"/>
                    <a:pt x="0" y="1692"/>
                  </a:cubicBezTo>
                  <a:cubicBezTo>
                    <a:pt x="0" y="2629"/>
                    <a:pt x="756" y="3388"/>
                    <a:pt x="1692" y="3388"/>
                  </a:cubicBezTo>
                  <a:cubicBezTo>
                    <a:pt x="2629" y="3388"/>
                    <a:pt x="3388" y="2629"/>
                    <a:pt x="3388" y="1692"/>
                  </a:cubicBezTo>
                  <a:cubicBezTo>
                    <a:pt x="3388" y="756"/>
                    <a:pt x="2629" y="0"/>
                    <a:pt x="16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306070" y="200660"/>
            <a:ext cx="3930650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述职报告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个人能力分析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3875596" y="2740395"/>
          <a:ext cx="4440808" cy="2960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465057" y="240535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专业技能能力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342848" y="369211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沟通协作能力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740303" y="540198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问题处理能力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586278" y="369211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时间管理能力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189724" y="540351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学习创新能力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306309" y="2310244"/>
            <a:ext cx="3279969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306309" y="2743200"/>
            <a:ext cx="3279969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315351" y="235744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时间管理能力</a:t>
            </a:r>
          </a:p>
        </p:txBody>
      </p:sp>
      <p:sp>
        <p:nvSpPr>
          <p:cNvPr id="108" name="矩形: 圆角 107"/>
          <p:cNvSpPr/>
          <p:nvPr/>
        </p:nvSpPr>
        <p:spPr>
          <a:xfrm>
            <a:off x="306309" y="4247619"/>
            <a:ext cx="3279969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306309" y="4680575"/>
            <a:ext cx="3279969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1315351" y="42948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学习创新能力</a:t>
            </a:r>
          </a:p>
        </p:txBody>
      </p:sp>
      <p:sp>
        <p:nvSpPr>
          <p:cNvPr id="118" name="矩形: 圆角 117"/>
          <p:cNvSpPr/>
          <p:nvPr/>
        </p:nvSpPr>
        <p:spPr>
          <a:xfrm>
            <a:off x="8630533" y="2310244"/>
            <a:ext cx="3256668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8630533" y="2743200"/>
            <a:ext cx="3256668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9627925" y="235744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沟通协调能力</a:t>
            </a:r>
          </a:p>
        </p:txBody>
      </p:sp>
      <p:sp>
        <p:nvSpPr>
          <p:cNvPr id="128" name="矩形: 圆角 127"/>
          <p:cNvSpPr/>
          <p:nvPr/>
        </p:nvSpPr>
        <p:spPr>
          <a:xfrm>
            <a:off x="8630533" y="4247619"/>
            <a:ext cx="3256668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8630533" y="4680575"/>
            <a:ext cx="3256668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9627925" y="42948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问题处理能力</a:t>
            </a:r>
          </a:p>
        </p:txBody>
      </p:sp>
      <p:sp>
        <p:nvSpPr>
          <p:cNvPr id="134" name="矩形: 圆角 133"/>
          <p:cNvSpPr/>
          <p:nvPr/>
        </p:nvSpPr>
        <p:spPr>
          <a:xfrm>
            <a:off x="288925" y="873256"/>
            <a:ext cx="11598275" cy="1207719"/>
          </a:xfrm>
          <a:prstGeom prst="roundRect">
            <a:avLst>
              <a:gd name="adj" fmla="val 544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5388117" y="92798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专业技能能力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9066353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沟通表现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8734694" y="3055140"/>
            <a:ext cx="146354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具备良好的沟通能力，无论是与上级领导、同事还是客户，都能保持清晰、有效的沟通。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10678130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协作成果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10346470" y="3055140"/>
            <a:ext cx="1463540" cy="818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在跨部门合作的 </a:t>
            </a:r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[</a:t>
            </a: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项目名称</a:t>
            </a:r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] </a:t>
            </a: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中，担任协调角色，负责与市场部、设计部和研发部沟通协调。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49" name="直接连接符 148"/>
          <p:cNvCxnSpPr>
            <a:stCxn id="120" idx="0"/>
            <a:endCxn id="120" idx="2"/>
          </p:cNvCxnSpPr>
          <p:nvPr/>
        </p:nvCxnSpPr>
        <p:spPr>
          <a:xfrm>
            <a:off x="10258867" y="2743200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本框 154"/>
          <p:cNvSpPr txBox="1"/>
          <p:nvPr/>
        </p:nvSpPr>
        <p:spPr>
          <a:xfrm>
            <a:off x="9066354" y="474787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处理方式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8734694" y="4981841"/>
            <a:ext cx="1463540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面对工作中的各类问题，能够保持冷静，迅速分析问题的本质与根源。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10678130" y="474787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成功案例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10346470" y="4981841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在项目中，临近交付时出现兼容性问题，影响产品上线。最后发现是由于部分代码对新操作系统版本支持不足。</a:t>
            </a:r>
          </a:p>
        </p:txBody>
      </p:sp>
      <p:cxnSp>
        <p:nvCxnSpPr>
          <p:cNvPr id="159" name="直接连接符 158"/>
          <p:cNvCxnSpPr/>
          <p:nvPr/>
        </p:nvCxnSpPr>
        <p:spPr>
          <a:xfrm>
            <a:off x="10258867" y="4669901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文本框 159"/>
          <p:cNvSpPr txBox="1"/>
          <p:nvPr/>
        </p:nvSpPr>
        <p:spPr>
          <a:xfrm>
            <a:off x="709397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规划执行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377737" y="3055140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善于制定详细的工作计划，合理分配时间与资源。每天列清单，按照重要性与紧急程度优先处理重要紧急的事务。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2321174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灵活调整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1989513" y="3055140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当遇到紧急任务或临时会议时，能够迅速评估对原有计划的影响，及时调整任务优先级与时间分配。</a:t>
            </a:r>
          </a:p>
        </p:txBody>
      </p:sp>
      <p:cxnSp>
        <p:nvCxnSpPr>
          <p:cNvPr id="164" name="直接连接符 163"/>
          <p:cNvCxnSpPr/>
          <p:nvPr/>
        </p:nvCxnSpPr>
        <p:spPr>
          <a:xfrm>
            <a:off x="1901910" y="2743200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632455" y="474787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学习主动性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377737" y="4981841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具有强烈的学习意愿与主动性，始终了解行业动态与新技术发展趋势。主动订阅多种行业权威期刊与资讯平台。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2321174" y="474787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创新实践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1989513" y="4981841"/>
            <a:ext cx="1463540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在工作中敢于尝试新方法、新思路，积极推动创新实践。</a:t>
            </a:r>
          </a:p>
        </p:txBody>
      </p:sp>
      <p:cxnSp>
        <p:nvCxnSpPr>
          <p:cNvPr id="169" name="直接连接符 168"/>
          <p:cNvCxnSpPr/>
          <p:nvPr/>
        </p:nvCxnSpPr>
        <p:spPr>
          <a:xfrm>
            <a:off x="1901910" y="4669901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组合 179"/>
          <p:cNvGrpSpPr/>
          <p:nvPr/>
        </p:nvGrpSpPr>
        <p:grpSpPr>
          <a:xfrm>
            <a:off x="582005" y="1278299"/>
            <a:ext cx="11014909" cy="714374"/>
            <a:chOff x="582005" y="1278299"/>
            <a:chExt cx="8760291" cy="714374"/>
          </a:xfrm>
        </p:grpSpPr>
        <p:grpSp>
          <p:nvGrpSpPr>
            <p:cNvPr id="173" name="组合 172"/>
            <p:cNvGrpSpPr/>
            <p:nvPr/>
          </p:nvGrpSpPr>
          <p:grpSpPr>
            <a:xfrm>
              <a:off x="582005" y="1278299"/>
              <a:ext cx="2751745" cy="714374"/>
              <a:chOff x="582005" y="1278299"/>
              <a:chExt cx="2751745" cy="714374"/>
            </a:xfrm>
          </p:grpSpPr>
          <p:sp>
            <p:nvSpPr>
              <p:cNvPr id="170" name="矩形: 圆顶角 169"/>
              <p:cNvSpPr/>
              <p:nvPr/>
            </p:nvSpPr>
            <p:spPr>
              <a:xfrm rot="16200000">
                <a:off x="470392" y="1389912"/>
                <a:ext cx="714374" cy="491148"/>
              </a:xfrm>
              <a:prstGeom prst="round2SameRect">
                <a:avLst>
                  <a:gd name="adj1" fmla="val 19437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2" name="矩形: 圆顶角 171"/>
              <p:cNvSpPr/>
              <p:nvPr/>
            </p:nvSpPr>
            <p:spPr>
              <a:xfrm rot="5400000" flipH="1">
                <a:off x="1870018" y="528941"/>
                <a:ext cx="714374" cy="2213090"/>
              </a:xfrm>
              <a:prstGeom prst="round2SameRect">
                <a:avLst>
                  <a:gd name="adj1" fmla="val 14104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grpSp>
          <p:nvGrpSpPr>
            <p:cNvPr id="174" name="组合 173"/>
            <p:cNvGrpSpPr/>
            <p:nvPr/>
          </p:nvGrpSpPr>
          <p:grpSpPr>
            <a:xfrm>
              <a:off x="3586278" y="1278299"/>
              <a:ext cx="2751745" cy="714374"/>
              <a:chOff x="582005" y="1278299"/>
              <a:chExt cx="2751745" cy="714374"/>
            </a:xfrm>
          </p:grpSpPr>
          <p:sp>
            <p:nvSpPr>
              <p:cNvPr id="175" name="矩形: 圆顶角 174"/>
              <p:cNvSpPr/>
              <p:nvPr/>
            </p:nvSpPr>
            <p:spPr>
              <a:xfrm rot="16200000">
                <a:off x="470392" y="1389912"/>
                <a:ext cx="714374" cy="491148"/>
              </a:xfrm>
              <a:prstGeom prst="round2SameRect">
                <a:avLst>
                  <a:gd name="adj1" fmla="val 19437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6" name="矩形: 圆顶角 175"/>
              <p:cNvSpPr/>
              <p:nvPr/>
            </p:nvSpPr>
            <p:spPr>
              <a:xfrm rot="5400000" flipH="1">
                <a:off x="1870018" y="528941"/>
                <a:ext cx="714374" cy="2213090"/>
              </a:xfrm>
              <a:prstGeom prst="round2SameRect">
                <a:avLst>
                  <a:gd name="adj1" fmla="val 14104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grpSp>
          <p:nvGrpSpPr>
            <p:cNvPr id="177" name="组合 176"/>
            <p:cNvGrpSpPr/>
            <p:nvPr/>
          </p:nvGrpSpPr>
          <p:grpSpPr>
            <a:xfrm>
              <a:off x="6590551" y="1278299"/>
              <a:ext cx="2751745" cy="714374"/>
              <a:chOff x="582005" y="1278299"/>
              <a:chExt cx="2751745" cy="714374"/>
            </a:xfrm>
          </p:grpSpPr>
          <p:sp>
            <p:nvSpPr>
              <p:cNvPr id="178" name="矩形: 圆顶角 177"/>
              <p:cNvSpPr/>
              <p:nvPr/>
            </p:nvSpPr>
            <p:spPr>
              <a:xfrm rot="16200000">
                <a:off x="470392" y="1389912"/>
                <a:ext cx="714374" cy="491148"/>
              </a:xfrm>
              <a:prstGeom prst="round2SameRect">
                <a:avLst>
                  <a:gd name="adj1" fmla="val 19437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9" name="矩形: 圆顶角 178"/>
              <p:cNvSpPr/>
              <p:nvPr/>
            </p:nvSpPr>
            <p:spPr>
              <a:xfrm rot="5400000" flipH="1">
                <a:off x="1870018" y="528941"/>
                <a:ext cx="714374" cy="2213090"/>
              </a:xfrm>
              <a:prstGeom prst="round2SameRect">
                <a:avLst>
                  <a:gd name="adj1" fmla="val 14104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</p:grpSp>
      <p:sp>
        <p:nvSpPr>
          <p:cNvPr id="181" name="文本框 180"/>
          <p:cNvSpPr txBox="1"/>
          <p:nvPr/>
        </p:nvSpPr>
        <p:spPr>
          <a:xfrm>
            <a:off x="1349333" y="1409984"/>
            <a:ext cx="258449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Roboto" panose="02000000000000000000" charset="0"/>
              </a:rPr>
              <a:t>在本职工作领域，具备扎实的专业知识与技能。</a:t>
            </a:r>
            <a:endParaRPr lang="zh-CN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cs typeface="Roboto" panose="02000000000000000000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57043" y="140468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掌握</a:t>
            </a:r>
            <a:endParaRPr kumimoji="1" lang="en-US" altLang="zh-CN" sz="1200" b="1" dirty="0">
              <a:latin typeface="+mj-ea"/>
              <a:ea typeface="+mj-ea"/>
              <a:cs typeface="思源黑体 CN Normal" panose="020B0400000000000000" charset="-122"/>
            </a:endParaRPr>
          </a:p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程度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5114518" y="1334011"/>
            <a:ext cx="2584491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凭借专业技能，成功主导多个重要项目。运用专业知识优化算法，使系统性能提升了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22229" y="140468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应用</a:t>
            </a:r>
            <a:endParaRPr kumimoji="1" lang="en-US" altLang="zh-CN" sz="1200" b="1" dirty="0">
              <a:latin typeface="+mj-ea"/>
              <a:ea typeface="+mj-ea"/>
              <a:cs typeface="思源黑体 CN Normal" panose="020B0400000000000000" charset="-122"/>
            </a:endParaRPr>
          </a:p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成效</a:t>
            </a:r>
          </a:p>
        </p:txBody>
      </p:sp>
      <p:sp>
        <p:nvSpPr>
          <p:cNvPr id="187" name="文本框 186"/>
          <p:cNvSpPr txBox="1"/>
          <p:nvPr/>
        </p:nvSpPr>
        <p:spPr>
          <a:xfrm>
            <a:off x="8893858" y="1317650"/>
            <a:ext cx="2584491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Roboto" panose="02000000000000000000" charset="0"/>
              </a:rPr>
              <a:t>尽管专业技能较为扎实，但面对新兴技术如人工智慧、区块链等，仅处于初步了解阶段。</a:t>
            </a:r>
            <a:endParaRPr lang="zh-CN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cs typeface="Roboto" panose="02000000000000000000" charset="0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201570" y="140468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提升</a:t>
            </a:r>
            <a:endParaRPr kumimoji="1" lang="en-US" altLang="zh-CN" sz="1200" b="1" dirty="0">
              <a:latin typeface="+mj-ea"/>
              <a:ea typeface="+mj-ea"/>
              <a:cs typeface="思源黑体 CN Normal" panose="020B0400000000000000" charset="-122"/>
            </a:endParaRPr>
          </a:p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空间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7d200efd-690f-4b00-820c-b6d44edefcb1&quot;,&quot;Name&quot;:&quot;自定义·&quot;,&quot;Kind&quot;:1,&quot;OldGuidesSetting&quot;:{&quot;HeaderHeight&quot;:0.0,&quot;FooterHeight&quot;:0.0,&quot;SideMargin&quot;:0.0,&quot;TopMargin&quot;:0.0,&quot;BottomMargin&quot;:0.0,&quot;IntervalMargin&quot;:0.0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WPS">
  <a:themeElements>
    <a:clrScheme name="模板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51D25"/>
      </a:accent1>
      <a:accent2>
        <a:srgbClr val="0563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51D25"/>
      </a:accent1>
      <a:accent2>
        <a:srgbClr val="44546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Bold"/>
        <a:ea typeface="思源黑体 CN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游ゴシック"/>
        <a:font script="Hang" typeface="맑은 고딕"/>
        <a:font script="Hans" typeface="思源黑体 CN Normal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9395</Words>
  <Application>Microsoft Macintosh PowerPoint</Application>
  <PresentationFormat>宽屏</PresentationFormat>
  <Paragraphs>1406</Paragraphs>
  <Slides>42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Arial</vt:lpstr>
      <vt:lpstr>Roboto</vt:lpstr>
      <vt:lpstr>思源黑体 CN Normal</vt:lpstr>
      <vt:lpstr>思源黑体 CN Bold</vt:lpstr>
      <vt:lpstr>WPS</vt:lpstr>
      <vt:lpstr>1_WPS</vt:lpstr>
      <vt:lpstr>2_Office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Sun guang</cp:lastModifiedBy>
  <cp:revision>1079</cp:revision>
  <dcterms:created xsi:type="dcterms:W3CDTF">2023-08-09T12:44:00Z</dcterms:created>
  <dcterms:modified xsi:type="dcterms:W3CDTF">2026-05-27T07:12:41Z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2052-11.1.0.11176</vt:lpwstr>
  </property>
</Properties>
</file>